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558" r:id="rId3"/>
    <p:sldId id="560" r:id="rId4"/>
    <p:sldId id="620" r:id="rId6"/>
    <p:sldId id="621" r:id="rId7"/>
    <p:sldId id="622" r:id="rId8"/>
    <p:sldId id="623" r:id="rId9"/>
    <p:sldId id="624" r:id="rId10"/>
    <p:sldId id="625" r:id="rId11"/>
    <p:sldId id="626" r:id="rId12"/>
    <p:sldId id="627" r:id="rId13"/>
    <p:sldId id="628" r:id="rId14"/>
    <p:sldId id="629" r:id="rId15"/>
    <p:sldId id="630" r:id="rId16"/>
    <p:sldId id="579" r:id="rId17"/>
    <p:sldId id="631" r:id="rId18"/>
    <p:sldId id="632" r:id="rId19"/>
    <p:sldId id="633" r:id="rId20"/>
    <p:sldId id="634" r:id="rId21"/>
    <p:sldId id="635" r:id="rId22"/>
    <p:sldId id="636" r:id="rId23"/>
    <p:sldId id="637" r:id="rId24"/>
    <p:sldId id="638" r:id="rId25"/>
    <p:sldId id="639" r:id="rId26"/>
    <p:sldId id="656" r:id="rId27"/>
    <p:sldId id="643" r:id="rId28"/>
    <p:sldId id="640" r:id="rId29"/>
    <p:sldId id="641" r:id="rId30"/>
    <p:sldId id="644" r:id="rId31"/>
    <p:sldId id="645" r:id="rId32"/>
    <p:sldId id="651" r:id="rId33"/>
    <p:sldId id="652" r:id="rId34"/>
    <p:sldId id="653" r:id="rId35"/>
    <p:sldId id="654" r:id="rId36"/>
    <p:sldId id="655" r:id="rId37"/>
    <p:sldId id="657" r:id="rId38"/>
    <p:sldId id="658" r:id="rId39"/>
    <p:sldId id="659" r:id="rId40"/>
    <p:sldId id="660" r:id="rId41"/>
    <p:sldId id="646" r:id="rId42"/>
    <p:sldId id="647" r:id="rId43"/>
    <p:sldId id="648" r:id="rId44"/>
    <p:sldId id="649" r:id="rId45"/>
    <p:sldId id="650" r:id="rId46"/>
  </p:sldIdLst>
  <p:sldSz cx="12192000" cy="6858000"/>
  <p:notesSz cx="6858000" cy="9144000"/>
  <p:custDataLst>
    <p:tags r:id="rId51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指令格式" id="{4BD6919D-E38C-438C-951E-508A99E6AA97}">
          <p14:sldIdLst>
            <p14:sldId id="558"/>
            <p14:sldId id="560"/>
            <p14:sldId id="620"/>
            <p14:sldId id="621"/>
            <p14:sldId id="622"/>
            <p14:sldId id="623"/>
            <p14:sldId id="624"/>
            <p14:sldId id="625"/>
            <p14:sldId id="626"/>
            <p14:sldId id="627"/>
            <p14:sldId id="628"/>
            <p14:sldId id="629"/>
            <p14:sldId id="630"/>
          </p14:sldIdLst>
        </p14:section>
        <p14:section name="指令寻址" id="{29F95ACC-F566-41A3-BC85-85C4C12517D8}">
          <p14:sldIdLst>
            <p14:sldId id="579"/>
            <p14:sldId id="631"/>
          </p14:sldIdLst>
        </p14:section>
        <p14:section name="数据寻址" id="{B825EE76-C15A-445D-A23F-0CFBACE73A79}">
          <p14:sldIdLst>
            <p14:sldId id="632"/>
            <p14:sldId id="633"/>
            <p14:sldId id="634"/>
            <p14:sldId id="635"/>
            <p14:sldId id="636"/>
            <p14:sldId id="637"/>
            <p14:sldId id="638"/>
            <p14:sldId id="639"/>
            <p14:sldId id="656"/>
          </p14:sldIdLst>
        </p14:section>
        <p14:section name="偏移寻址" id="{3288418F-E44E-4291-8593-4E96BC44DF78}">
          <p14:sldIdLst>
            <p14:sldId id="643"/>
            <p14:sldId id="640"/>
            <p14:sldId id="641"/>
            <p14:sldId id="644"/>
            <p14:sldId id="645"/>
            <p14:sldId id="651"/>
            <p14:sldId id="652"/>
            <p14:sldId id="653"/>
            <p14:sldId id="654"/>
            <p14:sldId id="655"/>
            <p14:sldId id="657"/>
            <p14:sldId id="658"/>
            <p14:sldId id="659"/>
            <p14:sldId id="660"/>
            <p14:sldId id="646"/>
          </p14:sldIdLst>
        </p14:section>
        <p14:section name="堆栈寻址" id="{24B8AC25-C26D-4F90-A1E2-B531EA5603D3}">
          <p14:sldIdLst>
            <p14:sldId id="647"/>
          </p14:sldIdLst>
        </p14:section>
        <p14:section name="CISC和RISC" id="{79A6F3AF-87D6-46BA-8DCD-2A3F8B07B3A7}">
          <p14:sldIdLst>
            <p14:sldId id="648"/>
            <p14:sldId id="649"/>
            <p14:sldId id="650"/>
          </p14:sldIdLst>
        </p14:section>
      </p14:section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ihui han" initials="jh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50"/>
    <a:srgbClr val="A9D18E"/>
    <a:srgbClr val="000000"/>
    <a:srgbClr val="C55A11"/>
    <a:srgbClr val="F4B183"/>
    <a:srgbClr val="4472C4"/>
    <a:srgbClr val="FFD966"/>
    <a:srgbClr val="00B0F0"/>
    <a:srgbClr val="548235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87695" autoAdjust="0"/>
  </p:normalViewPr>
  <p:slideViewPr>
    <p:cSldViewPr snapToGrid="0">
      <p:cViewPr varScale="1">
        <p:scale>
          <a:sx n="69" d="100"/>
          <a:sy n="69" d="100"/>
        </p:scale>
        <p:origin x="524" y="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-1300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1" Type="http://schemas.openxmlformats.org/officeDocument/2006/relationships/tags" Target="tags/tag1.xml"/><Relationship Id="rId50" Type="http://schemas.openxmlformats.org/officeDocument/2006/relationships/commentAuthors" Target="commentAuthors.xml"/><Relationship Id="rId5" Type="http://schemas.openxmlformats.org/officeDocument/2006/relationships/notesMaster" Target="notesMasters/notesMaster1.xml"/><Relationship Id="rId49" Type="http://schemas.openxmlformats.org/officeDocument/2006/relationships/tableStyles" Target="tableStyles.xml"/><Relationship Id="rId48" Type="http://schemas.openxmlformats.org/officeDocument/2006/relationships/viewProps" Target="viewProps.xml"/><Relationship Id="rId47" Type="http://schemas.openxmlformats.org/officeDocument/2006/relationships/presProps" Target="presProps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slide" Target="slides/slide2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3B4F48-3EC3-4912-B201-9266129D6BE0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微指令：是微程序级的命令，它属于硬件；</a:t>
            </a:r>
            <a:endParaRPr lang="zh-CN" alt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宏指令：由若干条机器指令组成的软件指令，它属于软件（可理解为高级语言代码）；</a:t>
            </a:r>
            <a:endParaRPr lang="zh-CN" alt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机器指令：介于微指令与宏指令之间，通常简称为指令，每一条指令可完成一个独立的算术运算或逻辑运算操作。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指令系统是表征一台计算机性能的重要因素，它的格式与功能不仅直接影响到机器的硬件结构，而且也直接影响到系统软件，影响到机器的适用范围。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指令功能：要指明要进行的操作，以及操作的对象，并且要给出下一条指令的地址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定长操作码：在指令的最高位部分分配固定的若干位（定长）表示操作码。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marR="0" lvl="0" indent="-45720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一般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位操作码字段的指令系统最大能够表示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2n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条指令。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marR="0" lvl="0" indent="-45720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优：定长操作码对于简化计算机硬件设计，提高指令译码和识别速度很有利；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marR="0" lvl="0" indent="-45720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缺：指令数量增加时会占用更多固定位，留给表示操作数地址的位数受限。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扩展操作码（不定长操作码）：指令的操作码字段的位数不固定。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marR="0" lvl="0" indent="-45720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扩展操作码使操作码的长度随地址码的减少而增加，不同地址数的指令可以具有不同长度的操作码，从而在满足需要的前提下，有效缩短指令字长。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marR="0" lvl="0" indent="-45720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优：在指令字长有限的前提下仍保持比较丰富的指令种类；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marR="0" lvl="0" indent="-45720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缺：增加了指令译码和分析的难度，使控制器的设计复杂化。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三个字长一般是字节长度的整数倍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与立即寻址相比，速度还是稍慢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操作码字段指明隐含的操作数地址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偏移寻址：有效地址产生需要加法运算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基址寄存器是面向操作系统的，其内容由操作系统或管理程序确定。在程序执行过程中，基址寄存器内容不变（作为基地址），形式地址可变（作为偏移量）。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变址寄存器是面向用户的，在程序执行过程中，变址寄存器的内容可由用户改变（作为偏移量），形式地址</a:t>
            </a:r>
            <a:r>
              <a:rPr lang="en-US" altLang="zh-CN" dirty="0"/>
              <a:t>A</a:t>
            </a:r>
            <a:r>
              <a:rPr lang="zh-CN" altLang="en-US" dirty="0"/>
              <a:t>不变（作为基地址）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/>
              <a:t>（</a:t>
            </a:r>
            <a:r>
              <a:rPr lang="en-US" altLang="zh-CN" dirty="0"/>
              <a:t>1</a:t>
            </a:r>
            <a:r>
              <a:rPr lang="zh-CN" altLang="en-US" dirty="0"/>
              <a:t>）</a:t>
            </a:r>
            <a:r>
              <a:rPr lang="en-US" altLang="zh-CN" dirty="0"/>
              <a:t>2002H</a:t>
            </a:r>
            <a:r>
              <a:rPr lang="zh-CN" altLang="en-US" dirty="0"/>
              <a:t>和</a:t>
            </a:r>
            <a:r>
              <a:rPr lang="en-US" altLang="zh-CN" dirty="0"/>
              <a:t>2042H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（</a:t>
            </a:r>
            <a:r>
              <a:rPr lang="en-US" altLang="zh-CN" dirty="0"/>
              <a:t>2</a:t>
            </a:r>
            <a:r>
              <a:rPr lang="zh-CN" altLang="en-US" dirty="0"/>
              <a:t>）</a:t>
            </a:r>
            <a:r>
              <a:rPr lang="en-US" altLang="zh-CN" dirty="0"/>
              <a:t>FEFEH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Font typeface="+mj-lt"/>
              <a:buNone/>
            </a:pPr>
            <a:r>
              <a:rPr kumimoji="0" lang="en-US" altLang="zh-CN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1. </a:t>
            </a:r>
            <a:r>
              <a:rPr kumimoji="0" lang="zh-CN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第一种指令是单字长二地址指令，</a:t>
            </a:r>
            <a:r>
              <a:rPr kumimoji="0" lang="en-US" altLang="zh-CN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RR</a:t>
            </a:r>
            <a:r>
              <a:rPr kumimoji="0" lang="zh-CN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型；第二种指令是双字长二地址指令，</a:t>
            </a:r>
            <a:r>
              <a:rPr kumimoji="0" lang="en-US" altLang="zh-CN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RS</a:t>
            </a:r>
            <a:r>
              <a:rPr kumimoji="0" lang="zh-CN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型，其中</a:t>
            </a:r>
            <a:r>
              <a:rPr kumimoji="0" lang="en-US" altLang="zh-CN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</a:t>
            </a:r>
            <a:r>
              <a:rPr kumimoji="0" lang="zh-CN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采用基址寻址或变址寻址，</a:t>
            </a:r>
            <a:r>
              <a:rPr kumimoji="0" lang="en-US" altLang="zh-CN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</a:t>
            </a:r>
            <a:r>
              <a:rPr kumimoji="0" lang="zh-CN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由源寄存器决定；第三种也是双字长二地址指令，</a:t>
            </a:r>
            <a:r>
              <a:rPr kumimoji="0" lang="en-US" altLang="zh-CN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RS</a:t>
            </a:r>
            <a:r>
              <a:rPr kumimoji="0" lang="zh-CN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型，</a:t>
            </a:r>
            <a:r>
              <a:rPr kumimoji="0" lang="en-US" altLang="zh-CN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</a:t>
            </a:r>
            <a:r>
              <a:rPr kumimoji="0" lang="zh-CN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由目标寄存器决定，</a:t>
            </a:r>
            <a:r>
              <a:rPr kumimoji="0" lang="en-US" altLang="zh-CN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</a:t>
            </a:r>
            <a:r>
              <a:rPr kumimoji="0" lang="zh-CN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由</a:t>
            </a:r>
            <a:r>
              <a:rPr kumimoji="0" lang="en-US" altLang="zh-CN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20</a:t>
            </a:r>
            <a:r>
              <a:rPr kumimoji="0" lang="zh-CN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位地址（直接寻址）决定；</a:t>
            </a:r>
            <a:endParaRPr kumimoji="0" lang="en-US" altLang="zh-CN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indent="0">
              <a:lnSpc>
                <a:spcPct val="150000"/>
              </a:lnSpc>
              <a:buFont typeface="+mj-lt"/>
              <a:buNone/>
            </a:pPr>
            <a:r>
              <a:rPr kumimoji="0" lang="en-US" altLang="zh-CN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2. </a:t>
            </a:r>
            <a:r>
              <a:rPr kumimoji="0" lang="zh-CN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处理机完成第一种指令所花的时间最短，因为</a:t>
            </a:r>
            <a:r>
              <a:rPr kumimoji="0" lang="en-US" altLang="zh-CN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RR</a:t>
            </a:r>
            <a:r>
              <a:rPr kumimoji="0" lang="zh-CN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型指令，不需要访问存储器。第二种指令所花的时间最长，因为</a:t>
            </a:r>
            <a:r>
              <a:rPr kumimoji="0" lang="en-US" altLang="zh-CN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RS</a:t>
            </a:r>
            <a:r>
              <a:rPr kumimoji="0" lang="zh-CN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型指令，需要访问存储器。同时要进行寻址方式的变换运算（基址或变址），这也需要时间。第二种指令的执行时间不会等于第三种指令，因为第三种指令虽然也访问存储器，但节省了求有效地址运算的时间开销。</a:t>
            </a:r>
            <a:endParaRPr kumimoji="0" lang="en-US" altLang="zh-CN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indent="0">
              <a:lnSpc>
                <a:spcPct val="150000"/>
              </a:lnSpc>
              <a:buFont typeface="+mj-lt"/>
              <a:buNone/>
            </a:pPr>
            <a:r>
              <a:rPr kumimoji="0" lang="en-US" altLang="zh-CN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3.</a:t>
            </a:r>
            <a:r>
              <a:rPr lang="pt-BR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①</a:t>
            </a:r>
            <a:r>
              <a:rPr kumimoji="0" lang="zh-CN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把主存</a:t>
            </a:r>
            <a:r>
              <a:rPr kumimoji="0" lang="en-US" altLang="zh-CN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13CD2</a:t>
            </a:r>
            <a:r>
              <a:rPr kumimoji="0" lang="zh-CN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的存储单元内容装载到</a:t>
            </a:r>
            <a:r>
              <a:rPr kumimoji="0" lang="en-US" altLang="zh-CN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15</a:t>
            </a:r>
            <a:r>
              <a:rPr kumimoji="0" lang="zh-CN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号寄存器</a:t>
            </a:r>
            <a:endParaRPr kumimoji="0" lang="en-US" altLang="zh-CN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indent="0">
              <a:lnSpc>
                <a:spcPct val="150000"/>
              </a:lnSpc>
              <a:buFont typeface="+mj-lt"/>
              <a:buNone/>
            </a:pPr>
            <a:r>
              <a:rPr lang="pt-BR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②</a:t>
            </a:r>
            <a:r>
              <a:rPr kumimoji="0" lang="zh-CN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代表</a:t>
            </a:r>
            <a:r>
              <a:rPr kumimoji="0" lang="en-US" altLang="zh-CN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MOV</a:t>
            </a:r>
            <a:r>
              <a:rPr kumimoji="0" lang="zh-CN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指令，编码正确，含义是把</a:t>
            </a:r>
            <a:r>
              <a:rPr kumimoji="0" lang="en-US" altLang="zh-CN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5</a:t>
            </a:r>
            <a:r>
              <a:rPr kumimoji="0" lang="zh-CN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号源寄存器的内容传送至</a:t>
            </a:r>
            <a:r>
              <a:rPr kumimoji="0" lang="en-US" altLang="zh-CN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6</a:t>
            </a:r>
            <a:r>
              <a:rPr kumimoji="0" lang="zh-CN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号目标寄存器</a:t>
            </a:r>
            <a:endParaRPr kumimoji="0" lang="en-US" altLang="zh-CN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indent="0">
              <a:lnSpc>
                <a:spcPct val="150000"/>
              </a:lnSpc>
              <a:buFont typeface="+mj-lt"/>
              <a:buNone/>
            </a:pPr>
            <a:r>
              <a:rPr lang="pt-BR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③④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都是单字节指令，只能是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MOV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，但编码（操作码）不正确</a:t>
            </a:r>
            <a:endParaRPr lang="pt-BR" altLang="zh-CN" sz="12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Font typeface="+mj-lt"/>
              <a:buNone/>
            </a:pPr>
            <a:endParaRPr kumimoji="0" lang="en-US" altLang="zh-CN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kumimoji="0" lang="zh-CN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取指后</a:t>
            </a:r>
            <a:r>
              <a:rPr kumimoji="0" lang="en-US" altLang="zh-CN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PC=1235H</a:t>
            </a:r>
            <a:endParaRPr kumimoji="0" lang="en-US" altLang="zh-CN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Wingdings" panose="05000000000000000000" pitchFamily="2" charset="2"/>
            </a:endParaRPr>
          </a:p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1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）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X=00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，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D=20H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，有效地址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EA=20H</a:t>
            </a:r>
            <a:endParaRPr lang="en-US" altLang="zh-CN" sz="12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Wingdings" panose="05000000000000000000" pitchFamily="2" charset="2"/>
            </a:endParaRPr>
          </a:p>
          <a:p>
            <a:pPr>
              <a:lnSpc>
                <a:spcPct val="150000"/>
              </a:lnSpc>
            </a:pPr>
            <a:r>
              <a:rPr kumimoji="0" lang="zh-CN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（</a:t>
            </a:r>
            <a:r>
              <a:rPr kumimoji="0" lang="en-US" altLang="zh-CN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2</a:t>
            </a:r>
            <a:r>
              <a:rPr kumimoji="0" lang="zh-CN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）</a:t>
            </a:r>
            <a:r>
              <a:rPr kumimoji="0" lang="en-US" altLang="zh-CN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X=10</a:t>
            </a:r>
            <a:r>
              <a:rPr kumimoji="0" lang="zh-CN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，</a:t>
            </a:r>
            <a:r>
              <a:rPr kumimoji="0" lang="en-US" altLang="zh-CN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D=44H</a:t>
            </a:r>
            <a:r>
              <a:rPr kumimoji="0" lang="zh-CN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，有效地址</a:t>
            </a:r>
            <a:r>
              <a:rPr kumimoji="0" lang="en-US" altLang="zh-CN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EA=1122H+44H=1166H</a:t>
            </a:r>
            <a:endParaRPr kumimoji="0" lang="en-US" altLang="zh-CN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Wingdings" panose="05000000000000000000" pitchFamily="2" charset="2"/>
            </a:endParaRPr>
          </a:p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3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）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X=11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，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D=22H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，有效地址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EA=1235H+22H=1257H</a:t>
            </a:r>
            <a:endParaRPr lang="en-US" altLang="zh-CN" sz="12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Wingdings" panose="05000000000000000000" pitchFamily="2" charset="2"/>
            </a:endParaRPr>
          </a:p>
          <a:p>
            <a:pPr>
              <a:lnSpc>
                <a:spcPct val="150000"/>
              </a:lnSpc>
            </a:pPr>
            <a:r>
              <a:rPr kumimoji="0" lang="zh-CN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（</a:t>
            </a:r>
            <a:r>
              <a:rPr kumimoji="0" lang="en-US" altLang="zh-CN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4</a:t>
            </a:r>
            <a:r>
              <a:rPr kumimoji="0" lang="zh-CN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）</a:t>
            </a:r>
            <a:r>
              <a:rPr kumimoji="0" lang="en-US" altLang="zh-CN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X=01</a:t>
            </a:r>
            <a:r>
              <a:rPr kumimoji="0" lang="zh-CN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，</a:t>
            </a:r>
            <a:r>
              <a:rPr kumimoji="0" lang="en-US" altLang="zh-CN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D=21H</a:t>
            </a:r>
            <a:r>
              <a:rPr kumimoji="0" lang="zh-CN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，有效地址</a:t>
            </a:r>
            <a:r>
              <a:rPr kumimoji="0" lang="en-US" altLang="zh-CN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EA=0037H+21H=0058H</a:t>
            </a:r>
            <a:endParaRPr kumimoji="0" lang="en-US" altLang="zh-CN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Wingdings" panose="05000000000000000000" pitchFamily="2" charset="2"/>
            </a:endParaRPr>
          </a:p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5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）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X=11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，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D=23H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，有效地址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EA=1235H+23H=1258H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75D0D-748D-4731-9D35-F05D9AC06F3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21BD3-0100-4324-A97A-59EED3E161D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729737-DF5C-40F1-973C-ACDFB18D84F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21BD3-0100-4324-A97A-59EED3E161D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729737-DF5C-40F1-973C-ACDFB18D84F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21BD3-0100-4324-A97A-59EED3E161D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729737-DF5C-40F1-973C-ACDFB18D84F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21BD3-0100-4324-A97A-59EED3E161D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729737-DF5C-40F1-973C-ACDFB18D84F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21BD3-0100-4324-A97A-59EED3E161D7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729737-DF5C-40F1-973C-ACDFB18D84F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21BD3-0100-4324-A97A-59EED3E161D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729737-DF5C-40F1-973C-ACDFB18D84F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21BD3-0100-4324-A97A-59EED3E161D7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729737-DF5C-40F1-973C-ACDFB18D84F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21BD3-0100-4324-A97A-59EED3E161D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729737-DF5C-40F1-973C-ACDFB18D84F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21BD3-0100-4324-A97A-59EED3E161D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729737-DF5C-40F1-973C-ACDFB18D84F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21BD3-0100-4324-A97A-59EED3E161D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729737-DF5C-40F1-973C-ACDFB18D84F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21BD3-0100-4324-A97A-59EED3E161D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729737-DF5C-40F1-973C-ACDFB18D84F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A21BD3-0100-4324-A97A-59EED3E161D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729737-DF5C-40F1-973C-ACDFB18D84FB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5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4860429" y="262503"/>
            <a:ext cx="247114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本章总览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476628"/>
            <a:ext cx="12192000" cy="390474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3628870" y="282936"/>
            <a:ext cx="49342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指令的定义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585537" y="1140727"/>
            <a:ext cx="1102092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指令（机器指令）</a:t>
            </a: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是指计算机执行某种操作的命令。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585537" y="2175726"/>
            <a:ext cx="11020926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指令系统（指令集）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：一台计算机的所有指令的集合。一台计算机只能执行自己指令系统中的指令，不能执行其他系统的指令。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585537" y="3610834"/>
            <a:ext cx="11020926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系列计算机</a:t>
            </a: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：基本指令系统相同、基本体系结构相同的一系列计算机。解决了各机种的软件兼容问题。</a:t>
            </a:r>
            <a:endParaRPr lang="zh-CN" altLang="en-US" sz="2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28" grpId="0"/>
      <p:bldP spid="3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3628870" y="282936"/>
            <a:ext cx="49342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指令格式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585537" y="946822"/>
            <a:ext cx="1102092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一条指令就是机器语言的一个语句，是一组有意义的二进制代码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585537" y="1621836"/>
            <a:ext cx="1102092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一条指令通常要包括操作码字段和地址码字段两部分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2514599" y="2502572"/>
            <a:ext cx="3176337" cy="60157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操作码（</a:t>
            </a:r>
            <a:r>
              <a:rPr lang="en-US" altLang="zh-CN" sz="3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OP</a:t>
            </a:r>
            <a:r>
              <a:rPr lang="zh-CN" altLang="en-US" sz="3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zh-CN" altLang="en-US" sz="3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5747080" y="2502571"/>
            <a:ext cx="3176337" cy="60157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地址码（</a:t>
            </a:r>
            <a:r>
              <a:rPr lang="en-US" altLang="zh-CN" sz="3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OP</a:t>
            </a:r>
            <a:r>
              <a:rPr lang="zh-CN" altLang="en-US" sz="3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zh-CN" altLang="en-US" sz="3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461706" y="3105335"/>
            <a:ext cx="2570747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一条指令的结构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对话气泡: 圆角矩形 4"/>
          <p:cNvSpPr/>
          <p:nvPr/>
        </p:nvSpPr>
        <p:spPr>
          <a:xfrm>
            <a:off x="794084" y="3597778"/>
            <a:ext cx="4620126" cy="2652436"/>
          </a:xfrm>
          <a:prstGeom prst="wedgeRoundRectCallout">
            <a:avLst>
              <a:gd name="adj1" fmla="val 20887"/>
              <a:gd name="adj2" fmla="val -66318"/>
              <a:gd name="adj3" fmla="val 16667"/>
            </a:avLst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指明要进行的操作</a:t>
            </a:r>
            <a:endParaRPr lang="en-US" altLang="zh-CN" sz="2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endParaRPr lang="en-US" altLang="zh-CN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停机中断</a:t>
            </a:r>
            <a:endParaRPr lang="en-US" altLang="zh-CN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求反求补</a:t>
            </a:r>
            <a:endParaRPr lang="en-US" altLang="zh-CN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加减乘除</a:t>
            </a:r>
            <a:endParaRPr lang="en-US" altLang="zh-CN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…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对话气泡: 圆角矩形 11"/>
          <p:cNvSpPr/>
          <p:nvPr/>
        </p:nvSpPr>
        <p:spPr>
          <a:xfrm>
            <a:off x="6669497" y="3597778"/>
            <a:ext cx="4620126" cy="2652436"/>
          </a:xfrm>
          <a:prstGeom prst="wedgeRoundRectCallout">
            <a:avLst>
              <a:gd name="adj1" fmla="val -25208"/>
              <a:gd name="adj2" fmla="val -66309"/>
              <a:gd name="adj3" fmla="val 16667"/>
            </a:avLst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指明操作的对象</a:t>
            </a:r>
            <a:endParaRPr lang="en-US" altLang="zh-CN" sz="2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endParaRPr lang="en-US" altLang="zh-CN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不需要操作对象</a:t>
            </a:r>
            <a:endParaRPr lang="en-US" altLang="zh-CN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需要一个操作对象</a:t>
            </a:r>
            <a:endParaRPr lang="en-US" altLang="zh-CN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需要两个操作对象</a:t>
            </a:r>
            <a:endParaRPr lang="en-US" altLang="zh-CN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…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28" grpId="0"/>
      <p:bldP spid="2" grpId="0" animBg="1"/>
      <p:bldP spid="7" grpId="0" animBg="1"/>
      <p:bldP spid="9" grpId="0"/>
      <p:bldP spid="5" grpId="0" animBg="1"/>
      <p:bldP spid="1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3628870" y="282936"/>
            <a:ext cx="49342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指令格式</a:t>
            </a:r>
            <a:r>
              <a:rPr lang="en-US" altLang="zh-CN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地址码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3" name="表格 3"/>
          <p:cNvGraphicFramePr>
            <a:graphicFrameLocks noGrp="1"/>
          </p:cNvGraphicFramePr>
          <p:nvPr/>
        </p:nvGraphicFramePr>
        <p:xfrm>
          <a:off x="192499" y="1748937"/>
          <a:ext cx="8448937" cy="487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44581"/>
                <a:gridCol w="1491916"/>
                <a:gridCol w="1419726"/>
                <a:gridCol w="1925052"/>
                <a:gridCol w="1867662"/>
              </a:tblGrid>
              <a:tr h="25489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A1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A2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A3（</a:t>
                      </a:r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结果</a:t>
                      </a:r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A4（</a:t>
                      </a:r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下址</a:t>
                      </a:r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3" name="文本框 12"/>
          <p:cNvSpPr txBox="1"/>
          <p:nvPr/>
        </p:nvSpPr>
        <p:spPr>
          <a:xfrm>
            <a:off x="192497" y="607425"/>
            <a:ext cx="183782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四地址指令</a:t>
            </a:r>
            <a:endParaRPr lang="zh-CN" altLang="en-US" dirty="0"/>
          </a:p>
        </p:txBody>
      </p:sp>
      <p:sp>
        <p:nvSpPr>
          <p:cNvPr id="14" name="文本框 13"/>
          <p:cNvSpPr txBox="1"/>
          <p:nvPr/>
        </p:nvSpPr>
        <p:spPr>
          <a:xfrm>
            <a:off x="178207" y="2472602"/>
            <a:ext cx="8448937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指令含义：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(A1)OP(A2)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A3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，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A4=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下一条指令的地址</a:t>
            </a:r>
            <a:endParaRPr lang="zh-CN" altLang="en-US" dirty="0"/>
          </a:p>
        </p:txBody>
      </p:sp>
      <p:sp>
        <p:nvSpPr>
          <p:cNvPr id="15" name="文本框 14"/>
          <p:cNvSpPr txBox="1"/>
          <p:nvPr/>
        </p:nvSpPr>
        <p:spPr>
          <a:xfrm>
            <a:off x="178207" y="3025368"/>
            <a:ext cx="8448938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设指令字长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32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位，操作码占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8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位，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4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个地址码字段各占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6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位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设存储字长为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32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位，即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4B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2019900" y="1265150"/>
            <a:ext cx="1356561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000001</a:t>
            </a:r>
            <a:endParaRPr lang="zh-CN" altLang="en-US" dirty="0">
              <a:solidFill>
                <a:srgbClr val="00B0F0"/>
              </a:solidFill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443460" y="1265150"/>
            <a:ext cx="1356561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000010</a:t>
            </a:r>
            <a:endParaRPr lang="zh-CN" altLang="en-US" dirty="0">
              <a:solidFill>
                <a:srgbClr val="00B0F0"/>
              </a:solidFill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5057982" y="1265150"/>
            <a:ext cx="1356561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000011</a:t>
            </a:r>
            <a:endParaRPr lang="zh-CN" altLang="en-US" dirty="0">
              <a:solidFill>
                <a:srgbClr val="00B0F0"/>
              </a:solidFill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6917028" y="1265150"/>
            <a:ext cx="1356561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000100</a:t>
            </a:r>
            <a:endParaRPr lang="zh-CN" altLang="en-US" dirty="0">
              <a:solidFill>
                <a:srgbClr val="00B0F0"/>
              </a:solidFill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178207" y="1265150"/>
            <a:ext cx="185211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00000000</a:t>
            </a:r>
            <a:endParaRPr lang="zh-CN" altLang="en-US" dirty="0">
              <a:solidFill>
                <a:srgbClr val="00B0F0"/>
              </a:solidFill>
            </a:endParaRPr>
          </a:p>
        </p:txBody>
      </p:sp>
      <p:graphicFrame>
        <p:nvGraphicFramePr>
          <p:cNvPr id="10" name="表格 10"/>
          <p:cNvGraphicFramePr>
            <a:graphicFrameLocks noGrp="1"/>
          </p:cNvGraphicFramePr>
          <p:nvPr/>
        </p:nvGraphicFramePr>
        <p:xfrm>
          <a:off x="8797850" y="867711"/>
          <a:ext cx="3257792" cy="50768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08676"/>
                <a:gridCol w="1949116"/>
              </a:tblGrid>
              <a:tr h="46153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000000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rgbClr val="00B0F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000420C4H</a:t>
                      </a:r>
                      <a:endParaRPr lang="zh-CN" altLang="en-US" sz="2400" dirty="0">
                        <a:solidFill>
                          <a:srgbClr val="00B0F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</a:tr>
              <a:tr h="46153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000001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12344321H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</a:tr>
              <a:tr h="46153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000010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43211234H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</a:tr>
              <a:tr h="46153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000011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</a:tr>
              <a:tr h="46153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000100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rgbClr val="00B0F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22343234H</a:t>
                      </a:r>
                      <a:endParaRPr lang="zh-CN" altLang="en-US" sz="2400" dirty="0">
                        <a:solidFill>
                          <a:srgbClr val="00B0F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</a:tr>
              <a:tr h="46153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000101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</a:tr>
              <a:tr h="461532">
                <a:tc>
                  <a:txBody>
                    <a:bodyPr/>
                    <a:lstStyle/>
                    <a:p>
                      <a:pPr algn="ctr"/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</a:tr>
              <a:tr h="461532">
                <a:tc>
                  <a:txBody>
                    <a:bodyPr/>
                    <a:lstStyle/>
                    <a:p>
                      <a:pPr algn="ctr"/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noFill/>
                  </a:tcPr>
                </a:tc>
                <a:tc vMerge="1"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</a:tr>
              <a:tr h="46153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111101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</a:tr>
              <a:tr h="46153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111110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</a:tr>
              <a:tr h="46153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111111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23" name="文本框 22"/>
          <p:cNvSpPr txBox="1"/>
          <p:nvPr/>
        </p:nvSpPr>
        <p:spPr>
          <a:xfrm>
            <a:off x="10127456" y="2270894"/>
            <a:ext cx="19281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55555555H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178207" y="3978243"/>
            <a:ext cx="844893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</a:t>
            </a:r>
            <a:r>
              <a:rPr lang="zh-CN" altLang="en-US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可直接寻址</a:t>
            </a:r>
            <a:r>
              <a:rPr lang="en-US" altLang="zh-CN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2^6=64</a:t>
            </a:r>
            <a:r>
              <a:rPr lang="zh-CN" altLang="en-US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个不同的位置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178207" y="4531009"/>
            <a:ext cx="844893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一条指令的执行（假设地址都为主存地址）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178207" y="5083775"/>
            <a:ext cx="844893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取指令 访存</a:t>
            </a:r>
            <a:r>
              <a:rPr lang="en-US" altLang="zh-CN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次（假设指令字长</a:t>
            </a:r>
            <a:r>
              <a:rPr lang="en-US" altLang="zh-CN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=</a:t>
            </a:r>
            <a:r>
              <a:rPr lang="zh-CN" altLang="en-US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存储字长）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178207" y="5636541"/>
            <a:ext cx="844893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取两个操作数 访存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次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178207" y="6189305"/>
            <a:ext cx="345066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存回结果 访存</a:t>
            </a:r>
            <a:r>
              <a:rPr lang="en-US" altLang="zh-CN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次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402675" y="6190853"/>
            <a:ext cx="345066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600" noProof="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共访存</a:t>
            </a:r>
            <a:r>
              <a:rPr lang="en-US" altLang="zh-CN" sz="2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sz="2600" noProof="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次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3" grpId="0"/>
      <p:bldP spid="24" grpId="0"/>
      <p:bldP spid="25" grpId="0"/>
      <p:bldP spid="26" grpId="0"/>
      <p:bldP spid="27" grpId="0"/>
      <p:bldP spid="29" grpId="0"/>
      <p:bldP spid="3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3628870" y="282936"/>
            <a:ext cx="49342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指令格式</a:t>
            </a:r>
            <a:r>
              <a:rPr lang="en-US" altLang="zh-CN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地址码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3" name="表格 3"/>
          <p:cNvGraphicFramePr>
            <a:graphicFrameLocks noGrp="1"/>
          </p:cNvGraphicFramePr>
          <p:nvPr/>
        </p:nvGraphicFramePr>
        <p:xfrm>
          <a:off x="192499" y="1748937"/>
          <a:ext cx="8448937" cy="487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44581"/>
                <a:gridCol w="1491916"/>
                <a:gridCol w="1419726"/>
                <a:gridCol w="1925052"/>
                <a:gridCol w="1867662"/>
              </a:tblGrid>
              <a:tr h="25489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A1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A2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A3（</a:t>
                      </a:r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结果</a:t>
                      </a:r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A4（</a:t>
                      </a:r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下址</a:t>
                      </a:r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3" name="文本框 12"/>
          <p:cNvSpPr txBox="1"/>
          <p:nvPr/>
        </p:nvSpPr>
        <p:spPr>
          <a:xfrm>
            <a:off x="192497" y="607425"/>
            <a:ext cx="183782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四地址指令</a:t>
            </a:r>
            <a:endParaRPr lang="zh-CN" altLang="en-US" dirty="0"/>
          </a:p>
        </p:txBody>
      </p:sp>
      <p:sp>
        <p:nvSpPr>
          <p:cNvPr id="14" name="文本框 13"/>
          <p:cNvSpPr txBox="1"/>
          <p:nvPr/>
        </p:nvSpPr>
        <p:spPr>
          <a:xfrm>
            <a:off x="178207" y="2472602"/>
            <a:ext cx="8448937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指令含义：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(A1) OP (A2) 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 A3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，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A4=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下一条指令的地址</a:t>
            </a:r>
            <a:endParaRPr lang="zh-CN" altLang="en-US" dirty="0"/>
          </a:p>
        </p:txBody>
      </p:sp>
      <p:sp>
        <p:nvSpPr>
          <p:cNvPr id="15" name="文本框 14"/>
          <p:cNvSpPr txBox="1"/>
          <p:nvPr/>
        </p:nvSpPr>
        <p:spPr>
          <a:xfrm>
            <a:off x="178207" y="3025368"/>
            <a:ext cx="8448938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设指令字长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32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位，操作码占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8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位，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4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个地址码字段各占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6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位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设存储字长为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32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位，即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4B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2019900" y="1265150"/>
            <a:ext cx="1356561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000001</a:t>
            </a:r>
            <a:endParaRPr lang="zh-CN" altLang="en-US" dirty="0">
              <a:solidFill>
                <a:srgbClr val="00B0F0"/>
              </a:solidFill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443460" y="1265150"/>
            <a:ext cx="1356561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000010</a:t>
            </a:r>
            <a:endParaRPr lang="zh-CN" altLang="en-US" dirty="0">
              <a:solidFill>
                <a:srgbClr val="00B0F0"/>
              </a:solidFill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5057982" y="1265150"/>
            <a:ext cx="1356561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000011</a:t>
            </a:r>
            <a:endParaRPr lang="zh-CN" altLang="en-US" dirty="0">
              <a:solidFill>
                <a:srgbClr val="00B0F0"/>
              </a:solidFill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6917028" y="1265150"/>
            <a:ext cx="1356561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000100</a:t>
            </a:r>
            <a:endParaRPr lang="zh-CN" altLang="en-US" dirty="0">
              <a:solidFill>
                <a:srgbClr val="00B0F0"/>
              </a:solidFill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178207" y="1265150"/>
            <a:ext cx="185211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00000000</a:t>
            </a:r>
            <a:endParaRPr lang="zh-CN" altLang="en-US" dirty="0">
              <a:solidFill>
                <a:srgbClr val="00B0F0"/>
              </a:solidFill>
            </a:endParaRPr>
          </a:p>
        </p:txBody>
      </p:sp>
      <p:graphicFrame>
        <p:nvGraphicFramePr>
          <p:cNvPr id="10" name="表格 10"/>
          <p:cNvGraphicFramePr>
            <a:graphicFrameLocks noGrp="1"/>
          </p:cNvGraphicFramePr>
          <p:nvPr/>
        </p:nvGraphicFramePr>
        <p:xfrm>
          <a:off x="8797850" y="867711"/>
          <a:ext cx="3257792" cy="50768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08676"/>
                <a:gridCol w="1949116"/>
              </a:tblGrid>
              <a:tr h="46153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000000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rgbClr val="00B0F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000420C4H</a:t>
                      </a:r>
                      <a:endParaRPr lang="zh-CN" altLang="en-US" sz="2400" dirty="0">
                        <a:solidFill>
                          <a:srgbClr val="00B0F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</a:tr>
              <a:tr h="46153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000001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2400" dirty="0">
                          <a:solidFill>
                            <a:srgbClr val="00B0F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22343234H</a:t>
                      </a:r>
                      <a:endParaRPr lang="zh-CN" altLang="en-US" sz="2400" dirty="0">
                        <a:solidFill>
                          <a:srgbClr val="00B0F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</a:tr>
              <a:tr h="46153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000010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</a:tr>
              <a:tr h="46153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000011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</a:tr>
              <a:tr h="46153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000100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2400" dirty="0">
                        <a:solidFill>
                          <a:srgbClr val="00B0F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</a:tr>
              <a:tr h="46153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000101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</a:tr>
              <a:tr h="461532">
                <a:tc>
                  <a:txBody>
                    <a:bodyPr/>
                    <a:lstStyle/>
                    <a:p>
                      <a:pPr algn="ctr"/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</a:tr>
              <a:tr h="461532">
                <a:tc>
                  <a:txBody>
                    <a:bodyPr/>
                    <a:lstStyle/>
                    <a:p>
                      <a:pPr algn="ctr"/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noFill/>
                  </a:tcPr>
                </a:tc>
                <a:tc vMerge="1"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</a:tr>
              <a:tr h="46153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111101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55555555H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</a:tr>
              <a:tr h="46153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111110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12344321H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</a:tr>
              <a:tr h="46153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111111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43211234H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24" name="文本框 23"/>
          <p:cNvSpPr txBox="1"/>
          <p:nvPr/>
        </p:nvSpPr>
        <p:spPr>
          <a:xfrm>
            <a:off x="178207" y="3978243"/>
            <a:ext cx="844893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</a:t>
            </a:r>
            <a:r>
              <a:rPr lang="zh-CN" altLang="en-US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可直接寻址</a:t>
            </a:r>
            <a:r>
              <a:rPr lang="en-US" altLang="zh-CN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2^6=64</a:t>
            </a:r>
            <a:r>
              <a:rPr lang="zh-CN" altLang="en-US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个不同的位置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178207" y="4531009"/>
            <a:ext cx="844893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一条指令的执行（假设地址都为主存地址）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178207" y="5083775"/>
            <a:ext cx="844893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600" b="1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取指令 </a:t>
            </a:r>
            <a:r>
              <a:rPr lang="zh-CN" altLang="en-US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访存</a:t>
            </a:r>
            <a:r>
              <a:rPr lang="en-US" altLang="zh-CN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次（假设指令字长</a:t>
            </a:r>
            <a:r>
              <a:rPr lang="en-US" altLang="zh-CN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=</a:t>
            </a:r>
            <a:r>
              <a:rPr lang="zh-CN" altLang="en-US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存储字长）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178207" y="5636541"/>
            <a:ext cx="844893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600" b="1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取两个操作数 </a:t>
            </a:r>
            <a:r>
              <a:rPr lang="zh-CN" altLang="en-US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访存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次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178207" y="6189305"/>
            <a:ext cx="345066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600" b="1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存回结果 </a:t>
            </a:r>
            <a:r>
              <a:rPr lang="zh-CN" altLang="en-US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访存</a:t>
            </a:r>
            <a:r>
              <a:rPr lang="en-US" altLang="zh-CN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次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6358822" y="5960899"/>
            <a:ext cx="227777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程序计数器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PC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3628870" y="164002"/>
            <a:ext cx="49342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指令格式</a:t>
            </a:r>
            <a:r>
              <a:rPr lang="en-US" altLang="zh-CN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地址码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3" name="表格 3"/>
          <p:cNvGraphicFramePr>
            <a:graphicFrameLocks noGrp="1"/>
          </p:cNvGraphicFramePr>
          <p:nvPr/>
        </p:nvGraphicFramePr>
        <p:xfrm>
          <a:off x="2012186" y="1335868"/>
          <a:ext cx="6581275" cy="487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44581"/>
                <a:gridCol w="1491916"/>
                <a:gridCol w="1419726"/>
                <a:gridCol w="1925052"/>
              </a:tblGrid>
              <a:tr h="25489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A1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A2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A3（</a:t>
                      </a:r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结果</a:t>
                      </a:r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3" name="文本框 12"/>
          <p:cNvSpPr txBox="1"/>
          <p:nvPr/>
        </p:nvSpPr>
        <p:spPr>
          <a:xfrm>
            <a:off x="114193" y="1321914"/>
            <a:ext cx="183782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三地址指令</a:t>
            </a:r>
            <a:endParaRPr lang="zh-CN" altLang="en-US" dirty="0"/>
          </a:p>
        </p:txBody>
      </p:sp>
      <p:sp>
        <p:nvSpPr>
          <p:cNvPr id="14" name="文本框 13"/>
          <p:cNvSpPr txBox="1"/>
          <p:nvPr/>
        </p:nvSpPr>
        <p:spPr>
          <a:xfrm>
            <a:off x="2012185" y="1918196"/>
            <a:ext cx="8448937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指令含义：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(A1) OP (A2) 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 A3</a:t>
            </a:r>
            <a:endParaRPr lang="zh-CN" altLang="en-US" dirty="0">
              <a:solidFill>
                <a:srgbClr val="00B050"/>
              </a:solidFill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012185" y="2410639"/>
            <a:ext cx="8973315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个地址码字段各占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位</a:t>
            </a: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，指令操作数直接寻址范围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en-US" altLang="zh-CN" sz="2600" baseline="300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=256</a:t>
            </a: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；完成一条指令</a:t>
            </a:r>
            <a:r>
              <a:rPr lang="zh-CN" altLang="en-US" sz="2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共访存</a:t>
            </a:r>
            <a:r>
              <a:rPr lang="en-US" altLang="zh-CN" sz="2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sz="2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次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114193" y="748777"/>
            <a:ext cx="8973315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设指令字长及存储字长均为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32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位，操作码占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8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位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22" name="表格 3"/>
          <p:cNvGraphicFramePr>
            <a:graphicFrameLocks noGrp="1"/>
          </p:cNvGraphicFramePr>
          <p:nvPr/>
        </p:nvGraphicFramePr>
        <p:xfrm>
          <a:off x="2012186" y="3808474"/>
          <a:ext cx="6550944" cy="487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21514"/>
                <a:gridCol w="3048000"/>
                <a:gridCol w="2581430"/>
              </a:tblGrid>
              <a:tr h="25489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A1（</a:t>
                      </a:r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目的操作数</a:t>
                      </a:r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A2（</a:t>
                      </a:r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源操作数</a:t>
                      </a:r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23" name="文本框 22"/>
          <p:cNvSpPr txBox="1"/>
          <p:nvPr/>
        </p:nvSpPr>
        <p:spPr>
          <a:xfrm>
            <a:off x="114193" y="3794520"/>
            <a:ext cx="183782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二地址指令</a:t>
            </a:r>
            <a:endParaRPr lang="zh-CN" altLang="en-US" dirty="0"/>
          </a:p>
        </p:txBody>
      </p:sp>
      <p:sp>
        <p:nvSpPr>
          <p:cNvPr id="28" name="文本框 27"/>
          <p:cNvSpPr txBox="1"/>
          <p:nvPr/>
        </p:nvSpPr>
        <p:spPr>
          <a:xfrm>
            <a:off x="2012185" y="4390802"/>
            <a:ext cx="8448937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指令含义：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(A1) OP (A2) 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 A1</a:t>
            </a:r>
            <a:endParaRPr lang="zh-CN" altLang="en-US" dirty="0">
              <a:solidFill>
                <a:srgbClr val="00B050"/>
              </a:solidFill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2012185" y="4883245"/>
            <a:ext cx="8973315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个地址码字段各占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12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位</a:t>
            </a: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，指令操作数直接寻址范围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en-US" altLang="zh-CN" sz="2600" baseline="300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=4K</a:t>
            </a: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；完成一条指令</a:t>
            </a:r>
            <a:r>
              <a:rPr lang="zh-CN" altLang="en-US" sz="2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共访存</a:t>
            </a:r>
            <a:r>
              <a:rPr lang="en-US" altLang="zh-CN" sz="2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sz="2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次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21" grpId="0"/>
      <p:bldP spid="23" grpId="0"/>
      <p:bldP spid="28" grpId="0"/>
      <p:bldP spid="3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3628870" y="164002"/>
            <a:ext cx="49342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指令格式</a:t>
            </a:r>
            <a:r>
              <a:rPr lang="en-US" altLang="zh-CN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地址码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3" name="表格 3"/>
          <p:cNvGraphicFramePr>
            <a:graphicFrameLocks noGrp="1"/>
          </p:cNvGraphicFramePr>
          <p:nvPr/>
        </p:nvGraphicFramePr>
        <p:xfrm>
          <a:off x="2012186" y="1335868"/>
          <a:ext cx="6581275" cy="487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44581"/>
                <a:gridCol w="4836694"/>
              </a:tblGrid>
              <a:tr h="25489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A1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3" name="文本框 12"/>
          <p:cNvSpPr txBox="1"/>
          <p:nvPr/>
        </p:nvSpPr>
        <p:spPr>
          <a:xfrm>
            <a:off x="114193" y="1321914"/>
            <a:ext cx="183782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一地址指令</a:t>
            </a:r>
            <a:endParaRPr lang="zh-CN" altLang="en-US" dirty="0"/>
          </a:p>
        </p:txBody>
      </p:sp>
      <p:sp>
        <p:nvSpPr>
          <p:cNvPr id="14" name="文本框 13"/>
          <p:cNvSpPr txBox="1"/>
          <p:nvPr/>
        </p:nvSpPr>
        <p:spPr>
          <a:xfrm>
            <a:off x="1952016" y="1881327"/>
            <a:ext cx="10802115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.</a:t>
            </a: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OP (A1) 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 A1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，如加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1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、减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1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、取反、求补等；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访存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3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次</a:t>
            </a:r>
            <a:endParaRPr lang="zh-CN" altLang="en-US" dirty="0">
              <a:solidFill>
                <a:srgbClr val="FF0000"/>
              </a:solidFill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1952016" y="3012656"/>
            <a:ext cx="8973315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一个地址码字段占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24</a:t>
            </a: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位，直接寻址范围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en-US" altLang="zh-CN" sz="2600" baseline="300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14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=16M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114193" y="748777"/>
            <a:ext cx="8973315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设指令字长及存储字长均为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32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位，操作码占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8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位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22" name="表格 3"/>
          <p:cNvGraphicFramePr>
            <a:graphicFrameLocks noGrp="1"/>
          </p:cNvGraphicFramePr>
          <p:nvPr/>
        </p:nvGraphicFramePr>
        <p:xfrm>
          <a:off x="2012185" y="3851078"/>
          <a:ext cx="1708914" cy="487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08914"/>
              </a:tblGrid>
              <a:tr h="25489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23" name="文本框 22"/>
          <p:cNvSpPr txBox="1"/>
          <p:nvPr/>
        </p:nvSpPr>
        <p:spPr>
          <a:xfrm>
            <a:off x="114192" y="3837124"/>
            <a:ext cx="183782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零地址指令</a:t>
            </a:r>
            <a:endParaRPr lang="zh-CN" altLang="en-US" dirty="0"/>
          </a:p>
        </p:txBody>
      </p:sp>
      <p:sp>
        <p:nvSpPr>
          <p:cNvPr id="12" name="文本框 11"/>
          <p:cNvSpPr txBox="1"/>
          <p:nvPr/>
        </p:nvSpPr>
        <p:spPr>
          <a:xfrm>
            <a:off x="1952016" y="2463654"/>
            <a:ext cx="10802115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2. 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(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ACC</a:t>
            </a:r>
            <a:r>
              <a:rPr lang="en-US" altLang="zh-CN" sz="26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 O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 (A1) 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 ACC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，隐含目的操作数为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ACC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；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访存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2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次</a:t>
            </a:r>
            <a:endParaRPr lang="zh-CN" altLang="en-US" dirty="0">
              <a:solidFill>
                <a:srgbClr val="FF0000"/>
              </a:solidFill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411985" y="2162334"/>
            <a:ext cx="16002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指令含义：</a:t>
            </a:r>
            <a:endParaRPr lang="zh-CN" altLang="en-US" dirty="0"/>
          </a:p>
        </p:txBody>
      </p:sp>
      <p:sp>
        <p:nvSpPr>
          <p:cNvPr id="17" name="文本框 16"/>
          <p:cNvSpPr txBox="1"/>
          <p:nvPr/>
        </p:nvSpPr>
        <p:spPr>
          <a:xfrm>
            <a:off x="1952015" y="4447361"/>
            <a:ext cx="10802115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.</a:t>
            </a: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不需要操作数，如控操作、停机、关中断等指令</a:t>
            </a:r>
            <a:endParaRPr lang="zh-CN" altLang="en-US" dirty="0"/>
          </a:p>
        </p:txBody>
      </p:sp>
      <p:sp>
        <p:nvSpPr>
          <p:cNvPr id="19" name="文本框 18"/>
          <p:cNvSpPr txBox="1"/>
          <p:nvPr/>
        </p:nvSpPr>
        <p:spPr>
          <a:xfrm>
            <a:off x="1952016" y="5029689"/>
            <a:ext cx="10239984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2. 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堆栈操作，两个操作数隐含存在栈顶和次栈顶，计算结果压回栈顶</a:t>
            </a:r>
            <a:endParaRPr lang="zh-CN" altLang="en-US" dirty="0"/>
          </a:p>
        </p:txBody>
      </p:sp>
      <p:sp>
        <p:nvSpPr>
          <p:cNvPr id="20" name="文本框 19"/>
          <p:cNvSpPr txBox="1"/>
          <p:nvPr/>
        </p:nvSpPr>
        <p:spPr>
          <a:xfrm>
            <a:off x="411984" y="4728368"/>
            <a:ext cx="16002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指令含义：</a:t>
            </a:r>
            <a:endParaRPr lang="zh-CN" altLang="en-US" dirty="0"/>
          </a:p>
        </p:txBody>
      </p:sp>
      <p:sp>
        <p:nvSpPr>
          <p:cNvPr id="24" name="文本框 23"/>
          <p:cNvSpPr txBox="1"/>
          <p:nvPr/>
        </p:nvSpPr>
        <p:spPr>
          <a:xfrm>
            <a:off x="114192" y="5636488"/>
            <a:ext cx="511820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定长指令字结构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：指令长度固定</a:t>
            </a:r>
            <a:endParaRPr lang="zh-CN" altLang="en-US" dirty="0"/>
          </a:p>
        </p:txBody>
      </p:sp>
      <p:sp>
        <p:nvSpPr>
          <p:cNvPr id="25" name="文本框 24"/>
          <p:cNvSpPr txBox="1"/>
          <p:nvPr/>
        </p:nvSpPr>
        <p:spPr>
          <a:xfrm>
            <a:off x="114193" y="6223580"/>
            <a:ext cx="511820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变长指令字结构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：指令长度不等</a:t>
            </a:r>
            <a:endParaRPr lang="zh-CN" altLang="en-US" dirty="0"/>
          </a:p>
        </p:txBody>
      </p:sp>
      <p:sp>
        <p:nvSpPr>
          <p:cNvPr id="26" name="文本框 25"/>
          <p:cNvSpPr txBox="1"/>
          <p:nvPr/>
        </p:nvSpPr>
        <p:spPr>
          <a:xfrm>
            <a:off x="5807122" y="5636488"/>
            <a:ext cx="511820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定长操作码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位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2</a:t>
            </a:r>
            <a:r>
              <a:rPr kumimoji="0" lang="en-US" altLang="zh-CN" sz="26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n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条指令</a:t>
            </a:r>
            <a:endParaRPr lang="zh-CN" altLang="en-US" dirty="0"/>
          </a:p>
        </p:txBody>
      </p:sp>
      <p:sp>
        <p:nvSpPr>
          <p:cNvPr id="27" name="文本框 26"/>
          <p:cNvSpPr txBox="1"/>
          <p:nvPr/>
        </p:nvSpPr>
        <p:spPr>
          <a:xfrm>
            <a:off x="5807123" y="6223580"/>
            <a:ext cx="511820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扩展操作码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：操作码长度可变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21" grpId="0"/>
      <p:bldP spid="23" grpId="0"/>
      <p:bldP spid="12" grpId="0"/>
      <p:bldP spid="16" grpId="0"/>
      <p:bldP spid="17" grpId="0"/>
      <p:bldP spid="19" grpId="0"/>
      <p:bldP spid="20" grpId="0"/>
      <p:bldP spid="24" grpId="0"/>
      <p:bldP spid="25" grpId="0"/>
      <p:bldP spid="26" grpId="0"/>
      <p:bldP spid="2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3628870" y="22733"/>
            <a:ext cx="49342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扩展操作码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114192" y="522298"/>
            <a:ext cx="2540107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扩展操作码举例</a:t>
            </a:r>
            <a:endParaRPr kumimoji="0" lang="en-US" altLang="zh-CN" sz="2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2" name="表格 3"/>
          <p:cNvGraphicFramePr>
            <a:graphicFrameLocks noGrp="1"/>
          </p:cNvGraphicFramePr>
          <p:nvPr/>
        </p:nvGraphicFramePr>
        <p:xfrm>
          <a:off x="2816071" y="1103948"/>
          <a:ext cx="3073400" cy="49244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768350"/>
                <a:gridCol w="768350"/>
                <a:gridCol w="768350"/>
                <a:gridCol w="768350"/>
              </a:tblGrid>
              <a:tr h="49244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A1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A2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A3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4" name="表格 4"/>
          <p:cNvGraphicFramePr>
            <a:graphicFrameLocks noGrp="1"/>
          </p:cNvGraphicFramePr>
          <p:nvPr/>
        </p:nvGraphicFramePr>
        <p:xfrm>
          <a:off x="7991630" y="172934"/>
          <a:ext cx="3987800" cy="14068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996950"/>
                <a:gridCol w="996950"/>
                <a:gridCol w="996950"/>
                <a:gridCol w="996950"/>
              </a:tblGrid>
              <a:tr h="35171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0000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A2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A3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</a:tr>
              <a:tr h="35171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0001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A2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A3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</a:tr>
              <a:tr h="35171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</a:tr>
              <a:tr h="35171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1110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A2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A3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</a:tr>
            </a:tbl>
          </a:graphicData>
        </a:graphic>
      </p:graphicFrame>
      <p:graphicFrame>
        <p:nvGraphicFramePr>
          <p:cNvPr id="26" name="表格 4"/>
          <p:cNvGraphicFramePr>
            <a:graphicFrameLocks noGrp="1"/>
          </p:cNvGraphicFramePr>
          <p:nvPr/>
        </p:nvGraphicFramePr>
        <p:xfrm>
          <a:off x="7991630" y="1806044"/>
          <a:ext cx="3987800" cy="14833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996950"/>
                <a:gridCol w="996950"/>
                <a:gridCol w="996950"/>
                <a:gridCol w="996950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0000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A2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A3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0001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A2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A3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1110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A2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A3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</a:tr>
            </a:tbl>
          </a:graphicData>
        </a:graphic>
      </p:graphicFrame>
      <p:sp>
        <p:nvSpPr>
          <p:cNvPr id="29" name="文本框 28"/>
          <p:cNvSpPr txBox="1"/>
          <p:nvPr/>
        </p:nvSpPr>
        <p:spPr>
          <a:xfrm>
            <a:off x="114192" y="1087331"/>
            <a:ext cx="301000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指令字长为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16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位：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114192" y="1883072"/>
            <a:ext cx="787743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前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4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位为基本操作码字段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OP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，另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个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4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位长的地址字段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114192" y="2525530"/>
            <a:ext cx="787743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4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位操作码若全部用于三地址指令则有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16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条。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114192" y="4210555"/>
            <a:ext cx="787743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1111 1111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留作扩展操作码之用，二地址指令为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15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条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114192" y="4853013"/>
            <a:ext cx="7785208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1111 1111 1111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留作扩展操作码之用，一地址指令为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15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条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114192" y="5895581"/>
            <a:ext cx="598180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零地址指令为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16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条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35" name="表格 4"/>
          <p:cNvGraphicFramePr>
            <a:graphicFrameLocks noGrp="1"/>
          </p:cNvGraphicFramePr>
          <p:nvPr/>
        </p:nvGraphicFramePr>
        <p:xfrm>
          <a:off x="7991630" y="3515674"/>
          <a:ext cx="3987800" cy="14833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996950"/>
                <a:gridCol w="996950"/>
                <a:gridCol w="996950"/>
                <a:gridCol w="996950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0000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A3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0001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A3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1110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A3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</a:tr>
            </a:tbl>
          </a:graphicData>
        </a:graphic>
      </p:graphicFrame>
      <p:graphicFrame>
        <p:nvGraphicFramePr>
          <p:cNvPr id="36" name="表格 4"/>
          <p:cNvGraphicFramePr>
            <a:graphicFrameLocks noGrp="1"/>
          </p:cNvGraphicFramePr>
          <p:nvPr/>
        </p:nvGraphicFramePr>
        <p:xfrm>
          <a:off x="7991630" y="5225305"/>
          <a:ext cx="3987800" cy="14833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996950"/>
                <a:gridCol w="996950"/>
                <a:gridCol w="996950"/>
                <a:gridCol w="996950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0000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0001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</a:tr>
            </a:tbl>
          </a:graphicData>
        </a:graphic>
      </p:graphicFrame>
      <p:sp>
        <p:nvSpPr>
          <p:cNvPr id="37" name="文本框 36"/>
          <p:cNvSpPr txBox="1"/>
          <p:nvPr/>
        </p:nvSpPr>
        <p:spPr>
          <a:xfrm>
            <a:off x="114192" y="3167988"/>
            <a:ext cx="7785208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但至少将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1111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留作扩展操作码之用，即三地址指令为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15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条。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32" grpId="0"/>
      <p:bldP spid="33" grpId="0"/>
      <p:bldP spid="34" grpId="0"/>
      <p:bldP spid="3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3628870" y="22733"/>
            <a:ext cx="49342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扩展操作码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4" name="表格 4"/>
          <p:cNvGraphicFramePr>
            <a:graphicFrameLocks noGrp="1"/>
          </p:cNvGraphicFramePr>
          <p:nvPr/>
        </p:nvGraphicFramePr>
        <p:xfrm>
          <a:off x="7991630" y="172934"/>
          <a:ext cx="3987800" cy="14068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996950"/>
                <a:gridCol w="996950"/>
                <a:gridCol w="996950"/>
                <a:gridCol w="996950"/>
              </a:tblGrid>
              <a:tr h="35171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0000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A2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A3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</a:tr>
              <a:tr h="35171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0001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A2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A3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</a:tr>
              <a:tr h="35171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</a:tr>
              <a:tr h="35171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1110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A2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A3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</a:tr>
            </a:tbl>
          </a:graphicData>
        </a:graphic>
      </p:graphicFrame>
      <p:graphicFrame>
        <p:nvGraphicFramePr>
          <p:cNvPr id="26" name="表格 4"/>
          <p:cNvGraphicFramePr>
            <a:graphicFrameLocks noGrp="1"/>
          </p:cNvGraphicFramePr>
          <p:nvPr/>
        </p:nvGraphicFramePr>
        <p:xfrm>
          <a:off x="7991630" y="1806044"/>
          <a:ext cx="3987800" cy="14833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996950"/>
                <a:gridCol w="996950"/>
                <a:gridCol w="996950"/>
                <a:gridCol w="996950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0000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A2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A3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0001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A2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A3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1110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A2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A3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</a:tr>
            </a:tbl>
          </a:graphicData>
        </a:graphic>
      </p:graphicFrame>
      <p:graphicFrame>
        <p:nvGraphicFramePr>
          <p:cNvPr id="35" name="表格 4"/>
          <p:cNvGraphicFramePr>
            <a:graphicFrameLocks noGrp="1"/>
          </p:cNvGraphicFramePr>
          <p:nvPr/>
        </p:nvGraphicFramePr>
        <p:xfrm>
          <a:off x="7991630" y="3515674"/>
          <a:ext cx="3987800" cy="14833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996950"/>
                <a:gridCol w="996950"/>
                <a:gridCol w="996950"/>
                <a:gridCol w="996950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0000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A3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0001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A3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1110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A3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</a:tr>
            </a:tbl>
          </a:graphicData>
        </a:graphic>
      </p:graphicFrame>
      <p:graphicFrame>
        <p:nvGraphicFramePr>
          <p:cNvPr id="36" name="表格 4"/>
          <p:cNvGraphicFramePr>
            <a:graphicFrameLocks noGrp="1"/>
          </p:cNvGraphicFramePr>
          <p:nvPr/>
        </p:nvGraphicFramePr>
        <p:xfrm>
          <a:off x="7991630" y="5225305"/>
          <a:ext cx="3987800" cy="14833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996950"/>
                <a:gridCol w="996950"/>
                <a:gridCol w="996950"/>
                <a:gridCol w="996950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0000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0001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</a:tr>
            </a:tbl>
          </a:graphicData>
        </a:graphic>
      </p:graphicFrame>
      <p:sp>
        <p:nvSpPr>
          <p:cNvPr id="16" name="文本框 15"/>
          <p:cNvSpPr txBox="1"/>
          <p:nvPr/>
        </p:nvSpPr>
        <p:spPr>
          <a:xfrm>
            <a:off x="212570" y="1247997"/>
            <a:ext cx="7331230" cy="1822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在设计扩展操作码指令格式时，须注意一下两点：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514350" indent="-514350">
              <a:lnSpc>
                <a:spcPct val="150000"/>
              </a:lnSpc>
              <a:buFont typeface="+mj-ea"/>
              <a:buAutoNum type="circleNumDbPlain"/>
            </a:pP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不允许短码是长码的前缀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514350" indent="-514350">
              <a:lnSpc>
                <a:spcPct val="150000"/>
              </a:lnSpc>
              <a:buFont typeface="+mj-ea"/>
              <a:buAutoNum type="circleNumDbPlain"/>
            </a:pP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各指令的操作码一定不能重复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212570" y="3429000"/>
            <a:ext cx="7331230" cy="2422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通常情况下：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对使用频率较高的指令，分配较短的操作码；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对使用频率较低的指令，分配较长的操作码</a:t>
            </a: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>
              <a:lnSpc>
                <a:spcPct val="150000"/>
              </a:lnSpc>
            </a:pP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从而减少指令译码和分析的时间。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3628870" y="22733"/>
            <a:ext cx="49342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扩展操作码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212570" y="1131508"/>
            <a:ext cx="7623330" cy="621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设指令字长固定位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16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位，试设计一套指令系统满足：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14192" y="522298"/>
            <a:ext cx="2540107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扩展操作码举例</a:t>
            </a:r>
            <a:endParaRPr kumimoji="0" lang="en-US" altLang="zh-CN" sz="2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212570" y="2124811"/>
            <a:ext cx="3416300" cy="621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a)</a:t>
            </a: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有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15</a:t>
            </a: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条三地址指令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212570" y="3118114"/>
            <a:ext cx="3416300" cy="621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b) 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有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12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条二地址指令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12570" y="4111417"/>
            <a:ext cx="3416300" cy="621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c) 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有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62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条一地址指令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212570" y="5104719"/>
            <a:ext cx="3416300" cy="621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d) 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有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32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条零地址指令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4" name="表格 4"/>
          <p:cNvGraphicFramePr>
            <a:graphicFrameLocks noGrp="1"/>
          </p:cNvGraphicFramePr>
          <p:nvPr/>
        </p:nvGraphicFramePr>
        <p:xfrm>
          <a:off x="3881776" y="2161809"/>
          <a:ext cx="7908248" cy="58477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977062"/>
                <a:gridCol w="1977062"/>
                <a:gridCol w="1977062"/>
                <a:gridCol w="1977062"/>
              </a:tblGrid>
              <a:tr h="58477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0000</a:t>
                      </a:r>
                      <a:r>
                        <a:rPr lang="zh-CN" altLang="en-US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～</a:t>
                      </a:r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1110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A2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A3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</a:tr>
            </a:tbl>
          </a:graphicData>
        </a:graphic>
      </p:graphicFrame>
      <p:graphicFrame>
        <p:nvGraphicFramePr>
          <p:cNvPr id="15" name="表格 4"/>
          <p:cNvGraphicFramePr>
            <a:graphicFrameLocks noGrp="1"/>
          </p:cNvGraphicFramePr>
          <p:nvPr/>
        </p:nvGraphicFramePr>
        <p:xfrm>
          <a:off x="3881776" y="3155112"/>
          <a:ext cx="7908248" cy="58477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977062"/>
                <a:gridCol w="1977062"/>
                <a:gridCol w="1977062"/>
                <a:gridCol w="1977062"/>
              </a:tblGrid>
              <a:tr h="58477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1100</a:t>
                      </a:r>
                      <a:r>
                        <a:rPr lang="zh-CN" altLang="en-US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～</a:t>
                      </a:r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A2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A3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</a:tr>
            </a:tbl>
          </a:graphicData>
        </a:graphic>
      </p:graphicFrame>
      <p:graphicFrame>
        <p:nvGraphicFramePr>
          <p:cNvPr id="17" name="表格 4"/>
          <p:cNvGraphicFramePr>
            <a:graphicFrameLocks noGrp="1"/>
          </p:cNvGraphicFramePr>
          <p:nvPr/>
        </p:nvGraphicFramePr>
        <p:xfrm>
          <a:off x="3881776" y="4148415"/>
          <a:ext cx="7908248" cy="6705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977062"/>
                <a:gridCol w="1977062"/>
                <a:gridCol w="1977062"/>
                <a:gridCol w="1977062"/>
              </a:tblGrid>
              <a:tr h="58477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1100</a:t>
                      </a:r>
                      <a:r>
                        <a:rPr lang="zh-CN" altLang="en-US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～</a:t>
                      </a:r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1110</a:t>
                      </a:r>
                      <a:endParaRPr lang="en-US" altLang="zh-CN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0000</a:t>
                      </a:r>
                      <a:r>
                        <a:rPr lang="zh-CN" altLang="en-US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～</a:t>
                      </a:r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en-US" altLang="zh-CN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0000</a:t>
                      </a:r>
                      <a:r>
                        <a:rPr lang="zh-CN" altLang="en-US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～</a:t>
                      </a:r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1101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A3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/>
                </a:tc>
              </a:tr>
            </a:tbl>
          </a:graphicData>
        </a:graphic>
      </p:graphicFrame>
      <p:graphicFrame>
        <p:nvGraphicFramePr>
          <p:cNvPr id="19" name="表格 4"/>
          <p:cNvGraphicFramePr>
            <a:graphicFrameLocks noGrp="1"/>
          </p:cNvGraphicFramePr>
          <p:nvPr/>
        </p:nvGraphicFramePr>
        <p:xfrm>
          <a:off x="3881776" y="5141717"/>
          <a:ext cx="7908248" cy="58477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977062"/>
                <a:gridCol w="1977062"/>
                <a:gridCol w="1977062"/>
                <a:gridCol w="1977062"/>
              </a:tblGrid>
              <a:tr h="58477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1110</a:t>
                      </a:r>
                      <a:r>
                        <a:rPr lang="zh-CN" altLang="en-US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～</a:t>
                      </a:r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0000</a:t>
                      </a:r>
                      <a:r>
                        <a:rPr lang="zh-CN" altLang="en-US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～</a:t>
                      </a:r>
                      <a:r>
                        <a:rPr lang="en-US" altLang="zh-CN" sz="2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1111</a:t>
                      </a:r>
                      <a:endParaRPr lang="zh-CN" altLang="en-US" sz="2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solidFill>
                      <a:srgbClr val="A9D18E"/>
                    </a:solidFill>
                  </a:tcPr>
                </a:tc>
              </a:tr>
            </a:tbl>
          </a:graphicData>
        </a:graphic>
      </p:graphicFrame>
      <p:sp>
        <p:nvSpPr>
          <p:cNvPr id="20" name="文本框 19"/>
          <p:cNvSpPr txBox="1"/>
          <p:nvPr/>
        </p:nvSpPr>
        <p:spPr>
          <a:xfrm>
            <a:off x="781022" y="6089480"/>
            <a:ext cx="10629955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设地址长度为</a:t>
            </a:r>
            <a:r>
              <a:rPr lang="en-US" altLang="zh-CN" sz="2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</a:t>
            </a:r>
            <a:r>
              <a:rPr lang="zh-CN" altLang="en-US" sz="2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，上一层留出</a:t>
            </a:r>
            <a:r>
              <a:rPr lang="en-US" altLang="zh-CN" sz="2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</a:t>
            </a:r>
            <a:r>
              <a:rPr lang="zh-CN" altLang="en-US" sz="2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种状态，下一层可扩展出</a:t>
            </a:r>
            <a:r>
              <a:rPr lang="en-US" altLang="zh-CN" sz="2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m×2</a:t>
            </a:r>
            <a:r>
              <a:rPr lang="en-US" altLang="zh-CN" sz="2600" baseline="300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</a:t>
            </a:r>
            <a:r>
              <a:rPr lang="zh-CN" altLang="en-US" sz="2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种状态</a:t>
            </a:r>
            <a:endParaRPr lang="zh-CN" altLang="en-US" sz="26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3628870" y="22733"/>
            <a:ext cx="49342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指令操作码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212570" y="954499"/>
            <a:ext cx="11547630" cy="2422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定长操作码：在指令的最高位部分分配固定的若干位（定长）表示操作码。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一般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位操作码字段的指令系统最大能够表示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</a:t>
            </a:r>
            <a:r>
              <a:rPr kumimoji="0" lang="en-US" altLang="zh-CN" sz="26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条指令。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优点：定长操作码对于简化计算机硬件设计，提高指令译码和识别速度有利；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缺点：指令数量增加时会占用更多固定位，留给表示操作数地址的位数受限。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14192" y="522298"/>
            <a:ext cx="2540107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操作码分类</a:t>
            </a:r>
            <a:endParaRPr kumimoji="0" lang="en-US" altLang="zh-CN" sz="2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212570" y="3670541"/>
            <a:ext cx="11547630" cy="3022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扩展操作码（不定长操作码）：指令的操作码字段的位数不固定。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扩展操作码使操作码的长度随地址码的减少而增加，不同地址数的指令可以具有不同长度的操作码，从而在满足需要的前提下，有效缩短指令字长。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优点：在指令字长有限的前提下仍保持比较丰富的指令种类；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缺点：增加了指令译码和分析的难度，使控制器的设计复杂化。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3628870" y="22733"/>
            <a:ext cx="49342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操作类型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263370" y="833545"/>
            <a:ext cx="11153930" cy="621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1. 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数据传送：如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LOAD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、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STORE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263370" y="1949954"/>
            <a:ext cx="11357130" cy="621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2. 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算术逻辑操作：加减乘除、加减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、求补、浮点运算、与或非异或、位操作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263370" y="3066363"/>
            <a:ext cx="11357130" cy="621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. 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移位操作：算术移位、逻辑移位、循环移位（带进位和不带进位）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263370" y="4182772"/>
            <a:ext cx="11357130" cy="621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. 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转移操作：无条件转移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JMP</a:t>
            </a: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条件转移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JZ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、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JO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、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JC</a:t>
            </a: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CALL</a:t>
            </a: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RETURN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263370" y="5299181"/>
            <a:ext cx="11153930" cy="621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. 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输入输出操作：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CPU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寄存器与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IO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端口之间的数据传送</a:t>
            </a:r>
            <a:endParaRPr kumimoji="0" lang="en-US" altLang="zh-CN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584200" y="1435133"/>
            <a:ext cx="73025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数据传送类：进行主存与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CPU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之间的数据传送</a:t>
            </a:r>
            <a:endParaRPr lang="zh-CN" altLang="en-US" dirty="0">
              <a:solidFill>
                <a:srgbClr val="00B050"/>
              </a:solidFill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584200" y="2571774"/>
            <a:ext cx="16637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运算类</a:t>
            </a:r>
            <a:endParaRPr lang="zh-CN" altLang="en-US" dirty="0">
              <a:solidFill>
                <a:srgbClr val="00B050"/>
              </a:solidFill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584200" y="4802446"/>
            <a:ext cx="2159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程序控制类</a:t>
            </a:r>
            <a:endParaRPr lang="zh-CN" altLang="en-US" dirty="0">
              <a:solidFill>
                <a:srgbClr val="00B050"/>
              </a:solidFill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584200" y="5925246"/>
            <a:ext cx="8432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输入输出类（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I/O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: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进行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CPU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与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I/O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设备之间的数据传送</a:t>
            </a:r>
            <a:endParaRPr lang="zh-CN" altLang="en-US" dirty="0">
              <a:solidFill>
                <a:srgbClr val="00B050"/>
              </a:solidFill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584200" y="3626714"/>
            <a:ext cx="16637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运算类</a:t>
            </a:r>
            <a:endParaRPr lang="zh-CN" altLang="en-US" dirty="0">
              <a:solidFill>
                <a:srgbClr val="00B05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7" grpId="0"/>
      <p:bldP spid="8" grpId="0"/>
      <p:bldP spid="10" grpId="0"/>
      <p:bldP spid="11" grpId="0"/>
      <p:bldP spid="12" grpId="0"/>
      <p:bldP spid="13" grpId="0"/>
      <p:bldP spid="14" grpId="0"/>
      <p:bldP spid="15" grpId="0"/>
      <p:bldP spid="1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3628870" y="22733"/>
            <a:ext cx="49342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本节回顾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089338"/>
            <a:ext cx="12192000" cy="467932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3682305" y="112303"/>
            <a:ext cx="54951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指令寻址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585537" y="946822"/>
            <a:ext cx="1102092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机器字长：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CPU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一次能处理的二进制数据的位数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585537" y="1925106"/>
            <a:ext cx="1102092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指令字长：一个指令字中包含二进制代码的位数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9" name="文本框 48"/>
          <p:cNvSpPr txBox="1"/>
          <p:nvPr/>
        </p:nvSpPr>
        <p:spPr>
          <a:xfrm>
            <a:off x="585537" y="2903390"/>
            <a:ext cx="1102092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存储字长：一个存储单元存储二进制代码的长度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0" name="文本框 49"/>
          <p:cNvSpPr txBox="1"/>
          <p:nvPr/>
        </p:nvSpPr>
        <p:spPr>
          <a:xfrm>
            <a:off x="585537" y="4130287"/>
            <a:ext cx="1102092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单字长指令：指令长度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=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机器字长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585537" y="4708841"/>
            <a:ext cx="1102092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半字长指令、双字长指令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4" grpId="0"/>
      <p:bldP spid="49" grpId="0"/>
      <p:bldP spid="50" grpId="0"/>
      <p:bldP spid="5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3682305" y="112303"/>
            <a:ext cx="54951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指令寻址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991937" y="1328243"/>
            <a:ext cx="172586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寻址方式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左大括号 1"/>
          <p:cNvSpPr/>
          <p:nvPr/>
        </p:nvSpPr>
        <p:spPr>
          <a:xfrm>
            <a:off x="2705100" y="1148594"/>
            <a:ext cx="393699" cy="769106"/>
          </a:xfrm>
          <a:prstGeom prst="leftBrace">
            <a:avLst>
              <a:gd name="adj1" fmla="val 27688"/>
              <a:gd name="adj2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3252537" y="932017"/>
            <a:ext cx="172586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指令寻址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252537" y="1642124"/>
            <a:ext cx="172586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数据寻址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5132137" y="932017"/>
            <a:ext cx="416426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下一条要执行指令的地址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5132138" y="1642124"/>
            <a:ext cx="416426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确定本条指令的操作数地址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" name="对话气泡: 圆角矩形 2"/>
          <p:cNvSpPr/>
          <p:nvPr/>
        </p:nvSpPr>
        <p:spPr>
          <a:xfrm>
            <a:off x="9486900" y="360141"/>
            <a:ext cx="2233863" cy="818097"/>
          </a:xfrm>
          <a:prstGeom prst="wedgeRoundRectCallout">
            <a:avLst>
              <a:gd name="adj1" fmla="val -71431"/>
              <a:gd name="adj2" fmla="val 45424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始终由</a:t>
            </a:r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PC</a:t>
            </a:r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给出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382337" y="2868094"/>
            <a:ext cx="172586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顺序寻址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095500" y="2868094"/>
            <a:ext cx="26035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(PC) + 1 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 PC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382337" y="3632280"/>
            <a:ext cx="172586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跳跃寻址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2095500" y="3632280"/>
            <a:ext cx="26035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由转移指令指出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4" name="表格 4"/>
          <p:cNvGraphicFramePr>
            <a:graphicFrameLocks noGrp="1"/>
          </p:cNvGraphicFramePr>
          <p:nvPr/>
        </p:nvGraphicFramePr>
        <p:xfrm>
          <a:off x="6358049" y="2352231"/>
          <a:ext cx="2819400" cy="41148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812800"/>
                <a:gridCol w="2006600"/>
              </a:tblGrid>
              <a:tr h="40751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LDA    1000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751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ADD    1001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751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DEC    1200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751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JMP          7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751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LDA    2000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751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    2001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751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INC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751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LDA    1100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751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文本框 18"/>
          <p:cNvSpPr txBox="1"/>
          <p:nvPr/>
        </p:nvSpPr>
        <p:spPr>
          <a:xfrm>
            <a:off x="5132137" y="2794709"/>
            <a:ext cx="17258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顺序寻址</a:t>
            </a:r>
            <a:endParaRPr kumimoji="0" lang="en-US" altLang="zh-CN" sz="240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5132137" y="3246781"/>
            <a:ext cx="17258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顺序寻址</a:t>
            </a:r>
            <a:endParaRPr kumimoji="0" lang="en-US" altLang="zh-CN" sz="240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5132137" y="3698852"/>
            <a:ext cx="17258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顺序寻址</a:t>
            </a:r>
            <a:endParaRPr kumimoji="0" lang="en-US" altLang="zh-CN" sz="240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5132137" y="5540518"/>
            <a:ext cx="17258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跳跃寻址</a:t>
            </a:r>
            <a:endParaRPr kumimoji="0" lang="en-US" altLang="zh-CN" sz="240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7099300" y="2286001"/>
            <a:ext cx="2197100" cy="582094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/>
          <p:cNvSpPr/>
          <p:nvPr/>
        </p:nvSpPr>
        <p:spPr>
          <a:xfrm>
            <a:off x="7099300" y="2723080"/>
            <a:ext cx="2197100" cy="582094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/>
          <p:cNvSpPr/>
          <p:nvPr/>
        </p:nvSpPr>
        <p:spPr>
          <a:xfrm>
            <a:off x="7099300" y="3196072"/>
            <a:ext cx="2197100" cy="582094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/>
          <p:cNvSpPr/>
          <p:nvPr/>
        </p:nvSpPr>
        <p:spPr>
          <a:xfrm>
            <a:off x="7099300" y="3656007"/>
            <a:ext cx="2197100" cy="582094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/>
          <p:cNvSpPr/>
          <p:nvPr/>
        </p:nvSpPr>
        <p:spPr>
          <a:xfrm>
            <a:off x="7069249" y="5480303"/>
            <a:ext cx="2197100" cy="582094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2" grpId="0" animBg="1"/>
      <p:bldP spid="9" grpId="0"/>
      <p:bldP spid="10" grpId="0"/>
      <p:bldP spid="11" grpId="0"/>
      <p:bldP spid="12" grpId="0"/>
      <p:bldP spid="3" grpId="0" animBg="1"/>
      <p:bldP spid="14" grpId="0"/>
      <p:bldP spid="15" grpId="0"/>
      <p:bldP spid="16" grpId="0"/>
      <p:bldP spid="17" grpId="0"/>
      <p:bldP spid="19" grpId="0"/>
      <p:bldP spid="20" grpId="0"/>
      <p:bldP spid="21" grpId="0"/>
      <p:bldP spid="22" grpId="0"/>
      <p:bldP spid="5" grpId="0" animBg="1"/>
      <p:bldP spid="5" grpId="1" animBg="1"/>
      <p:bldP spid="24" grpId="0" animBg="1"/>
      <p:bldP spid="24" grpId="1" animBg="1"/>
      <p:bldP spid="27" grpId="0" animBg="1"/>
      <p:bldP spid="27" grpId="1" animBg="1"/>
      <p:bldP spid="28" grpId="0" animBg="1"/>
      <p:bldP spid="28" grpId="1" animBg="1"/>
      <p:bldP spid="29" grpId="0" animBg="1"/>
      <p:bldP spid="29" grpId="1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3682305" y="112303"/>
            <a:ext cx="54951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数据寻址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991937" y="1328243"/>
            <a:ext cx="172586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寻址方式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左大括号 1"/>
          <p:cNvSpPr/>
          <p:nvPr/>
        </p:nvSpPr>
        <p:spPr>
          <a:xfrm>
            <a:off x="2705100" y="1148594"/>
            <a:ext cx="393699" cy="769106"/>
          </a:xfrm>
          <a:prstGeom prst="leftBrace">
            <a:avLst>
              <a:gd name="adj1" fmla="val 27688"/>
              <a:gd name="adj2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3252537" y="932017"/>
            <a:ext cx="172586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指令寻址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252537" y="1642124"/>
            <a:ext cx="172586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数据寻址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5132137" y="932017"/>
            <a:ext cx="416426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下一条要执行指令的地址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5132138" y="1642124"/>
            <a:ext cx="416426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确定本条指令的操作数地址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" name="对话气泡: 圆角矩形 2"/>
          <p:cNvSpPr/>
          <p:nvPr/>
        </p:nvSpPr>
        <p:spPr>
          <a:xfrm>
            <a:off x="9486900" y="360141"/>
            <a:ext cx="2233863" cy="818097"/>
          </a:xfrm>
          <a:prstGeom prst="wedgeRoundRectCallout">
            <a:avLst>
              <a:gd name="adj1" fmla="val -71431"/>
              <a:gd name="adj2" fmla="val 45424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始终由</a:t>
            </a:r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PC</a:t>
            </a:r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给出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3098798" y="1590988"/>
            <a:ext cx="6388101" cy="584775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/>
        </p:nvSpPr>
        <p:spPr>
          <a:xfrm>
            <a:off x="991937" y="3686651"/>
            <a:ext cx="18669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操作数类型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6" name="左大括号 25"/>
          <p:cNvSpPr/>
          <p:nvPr/>
        </p:nvSpPr>
        <p:spPr>
          <a:xfrm>
            <a:off x="3012576" y="2954217"/>
            <a:ext cx="393698" cy="1957312"/>
          </a:xfrm>
          <a:prstGeom prst="leftBrace">
            <a:avLst>
              <a:gd name="adj1" fmla="val 27688"/>
              <a:gd name="adj2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文本框 29"/>
          <p:cNvSpPr txBox="1"/>
          <p:nvPr/>
        </p:nvSpPr>
        <p:spPr>
          <a:xfrm>
            <a:off x="3406275" y="2773511"/>
            <a:ext cx="98792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地址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3406274" y="3390909"/>
            <a:ext cx="172586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数字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3406274" y="4008308"/>
            <a:ext cx="172586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字符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3406274" y="4625707"/>
            <a:ext cx="172586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逻辑数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4746790" y="2773511"/>
            <a:ext cx="172586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无符号数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4746790" y="3387996"/>
            <a:ext cx="419401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定点数、浮点数、十进制数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4746790" y="4008301"/>
            <a:ext cx="419401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ASCII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码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4746790" y="4625701"/>
            <a:ext cx="419401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逻辑运算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25" grpId="0"/>
      <p:bldP spid="26" grpId="0" animBg="1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3682305" y="112303"/>
            <a:ext cx="54951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数据寻址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对话气泡: 圆角矩形 21"/>
          <p:cNvSpPr/>
          <p:nvPr/>
        </p:nvSpPr>
        <p:spPr>
          <a:xfrm>
            <a:off x="9729537" y="304801"/>
            <a:ext cx="2233863" cy="1218550"/>
          </a:xfrm>
          <a:prstGeom prst="wedgeRoundRectCallout">
            <a:avLst>
              <a:gd name="adj1" fmla="val -63471"/>
              <a:gd name="adj2" fmla="val 22308"/>
              <a:gd name="adj3" fmla="val 16667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操作数的真实地址称为有效地址（</a:t>
            </a:r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EA</a:t>
            </a:r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205261" y="1030907"/>
            <a:ext cx="20955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一地址指令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24" name="表格 4"/>
          <p:cNvGraphicFramePr>
            <a:graphicFrameLocks noGrp="1"/>
          </p:cNvGraphicFramePr>
          <p:nvPr/>
        </p:nvGraphicFramePr>
        <p:xfrm>
          <a:off x="2141649" y="984740"/>
          <a:ext cx="7162800" cy="5847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7600"/>
                <a:gridCol w="4775200"/>
              </a:tblGrid>
              <a:tr h="58477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操作码（</a:t>
                      </a:r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</a:t>
                      </a:r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形式地址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4" name="表格 4"/>
          <p:cNvGraphicFramePr>
            <a:graphicFrameLocks noGrp="1"/>
          </p:cNvGraphicFramePr>
          <p:nvPr/>
        </p:nvGraphicFramePr>
        <p:xfrm>
          <a:off x="2141649" y="973951"/>
          <a:ext cx="7162800" cy="5847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7600"/>
                <a:gridCol w="2387600"/>
                <a:gridCol w="2387600"/>
              </a:tblGrid>
              <a:tr h="58477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操作码（</a:t>
                      </a:r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</a:t>
                      </a:r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寻址特征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形式地址</a:t>
                      </a:r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(A)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27" name="矩形 26"/>
          <p:cNvSpPr/>
          <p:nvPr/>
        </p:nvSpPr>
        <p:spPr>
          <a:xfrm>
            <a:off x="4459035" y="943969"/>
            <a:ext cx="4938965" cy="62554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205261" y="1903344"/>
            <a:ext cx="20955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二地址指令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38" name="表格 4"/>
          <p:cNvGraphicFramePr>
            <a:graphicFrameLocks noGrp="1"/>
          </p:cNvGraphicFramePr>
          <p:nvPr/>
        </p:nvGraphicFramePr>
        <p:xfrm>
          <a:off x="2131942" y="1857177"/>
          <a:ext cx="9593150" cy="5847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6052"/>
                <a:gridCol w="1521208"/>
                <a:gridCol w="2060192"/>
                <a:gridCol w="1612900"/>
                <a:gridCol w="2082798"/>
              </a:tblGrid>
              <a:tr h="58477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操作码（</a:t>
                      </a:r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</a:t>
                      </a:r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寻址特征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形式地址</a:t>
                      </a:r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A1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寻址特征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形式地址</a:t>
                      </a:r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A2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0" name="文本框 39"/>
          <p:cNvSpPr txBox="1"/>
          <p:nvPr/>
        </p:nvSpPr>
        <p:spPr>
          <a:xfrm>
            <a:off x="205261" y="2804158"/>
            <a:ext cx="845613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假设指令字长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=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机器字长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=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存储字长，假设操作数为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/>
      <p:bldP spid="27" grpId="0" animBg="1"/>
      <p:bldP spid="28" grpId="0"/>
      <p:bldP spid="4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3682305" y="112303"/>
            <a:ext cx="54951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立即寻址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230965" y="1500807"/>
            <a:ext cx="20955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一地址指令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4" name="表格 4"/>
          <p:cNvGraphicFramePr>
            <a:graphicFrameLocks noGrp="1"/>
          </p:cNvGraphicFramePr>
          <p:nvPr/>
        </p:nvGraphicFramePr>
        <p:xfrm>
          <a:off x="2167353" y="1454640"/>
          <a:ext cx="7162800" cy="5847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7600"/>
                <a:gridCol w="2387600"/>
                <a:gridCol w="2387600"/>
              </a:tblGrid>
              <a:tr h="58477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操作码（</a:t>
                      </a:r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</a:t>
                      </a:r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#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0…011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0" name="文本框 39"/>
          <p:cNvSpPr txBox="1"/>
          <p:nvPr/>
        </p:nvSpPr>
        <p:spPr>
          <a:xfrm>
            <a:off x="230965" y="747480"/>
            <a:ext cx="845613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假设指令字长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=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机器字长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=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存储字长，假设操作数为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230965" y="2299074"/>
            <a:ext cx="11656235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立即寻址：形式地址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就是操作数本身，又称为立即数，一般采用补码形式。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30965" y="2851119"/>
            <a:ext cx="11656235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#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表示立即寻址特征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230964" y="3595980"/>
            <a:ext cx="3451341" cy="3022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一条指令的执行：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取指令访存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次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执行指令访存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0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次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暂不考虑存结果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共访存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次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3937305" y="3702019"/>
            <a:ext cx="8023731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优点：指令执行阶段不访问主存，指令执行时间最短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950005" y="4552919"/>
            <a:ext cx="8023731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缺点：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的位数限制了立即数的范围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如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的位数为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，且立即数用补码时，可表示的数据范围为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-2</a:t>
            </a:r>
            <a:r>
              <a:rPr kumimoji="0" lang="en-US" altLang="zh-CN" sz="260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n-1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～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</a:t>
            </a:r>
            <a:r>
              <a:rPr kumimoji="0" lang="en-US" altLang="zh-CN" sz="260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n-1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-1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3682305" y="112303"/>
            <a:ext cx="54951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直接寻址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227095" y="1250374"/>
            <a:ext cx="20955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一地址指令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4" name="表格 4"/>
          <p:cNvGraphicFramePr>
            <a:graphicFrameLocks noGrp="1"/>
          </p:cNvGraphicFramePr>
          <p:nvPr/>
        </p:nvGraphicFramePr>
        <p:xfrm>
          <a:off x="2163483" y="1204207"/>
          <a:ext cx="7162800" cy="5847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7600"/>
                <a:gridCol w="2387600"/>
                <a:gridCol w="2387600"/>
              </a:tblGrid>
              <a:tr h="58477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操作码（</a:t>
                      </a:r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</a:t>
                      </a:r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1001…0111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0" name="文本框 39"/>
          <p:cNvSpPr txBox="1"/>
          <p:nvPr/>
        </p:nvSpPr>
        <p:spPr>
          <a:xfrm>
            <a:off x="230965" y="684866"/>
            <a:ext cx="845613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假设指令字长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=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机器字长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=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存储字长，假设操作数为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227095" y="1908212"/>
            <a:ext cx="11656235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直接寻址：指令中的形式地址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就是操作数的真实地址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EA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，即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EA=A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4733" y="2371683"/>
            <a:ext cx="7321550" cy="2383907"/>
          </a:xfrm>
          <a:prstGeom prst="rect">
            <a:avLst/>
          </a:prstGeom>
        </p:spPr>
      </p:pic>
      <p:sp>
        <p:nvSpPr>
          <p:cNvPr id="16" name="文本框 15"/>
          <p:cNvSpPr txBox="1"/>
          <p:nvPr/>
        </p:nvSpPr>
        <p:spPr>
          <a:xfrm>
            <a:off x="6452908" y="3639836"/>
            <a:ext cx="1358900" cy="49244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0…011</a:t>
            </a:r>
            <a:endParaRPr kumimoji="0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227095" y="4652816"/>
            <a:ext cx="3451341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一条指令的执行：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取指令访存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次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执行指令访存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次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暂不考虑存结果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共访存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次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3874834" y="4773302"/>
            <a:ext cx="7581377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优点：简单，指令执行阶段仅访问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次主存，不需专门计算操作数的地址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3874833" y="5853145"/>
            <a:ext cx="7581377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缺点：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的位数决定了该指令操作数的寻址范围。操作数的地址不易修改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6" grpId="0" animBg="1"/>
      <p:bldP spid="17" grpId="0"/>
      <p:bldP spid="18" grpId="0"/>
      <p:bldP spid="1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3682305" y="112303"/>
            <a:ext cx="54951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间接寻址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227095" y="1250374"/>
            <a:ext cx="20955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一地址指令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4" name="表格 4"/>
          <p:cNvGraphicFramePr>
            <a:graphicFrameLocks noGrp="1"/>
          </p:cNvGraphicFramePr>
          <p:nvPr/>
        </p:nvGraphicFramePr>
        <p:xfrm>
          <a:off x="2163483" y="1204207"/>
          <a:ext cx="7162800" cy="5847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7600"/>
                <a:gridCol w="2387600"/>
                <a:gridCol w="2387600"/>
              </a:tblGrid>
              <a:tr h="58477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操作码（</a:t>
                      </a:r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</a:t>
                      </a:r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1001…0111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0" name="文本框 39"/>
          <p:cNvSpPr txBox="1"/>
          <p:nvPr/>
        </p:nvSpPr>
        <p:spPr>
          <a:xfrm>
            <a:off x="230965" y="684866"/>
            <a:ext cx="845613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假设指令字长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=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机器字长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=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存储字长，假设操作数为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227095" y="1908212"/>
            <a:ext cx="11656235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间接寻址：指令中的形式地址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不是操作数的真实地址，而是操作数有效地址所在的存储单元的质地，也就是操作数地址的地址，即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EA=(A)</a:t>
            </a:r>
            <a:r>
              <a:rPr lang="zh-CN" altLang="en-US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095" y="2873585"/>
            <a:ext cx="5652312" cy="3641393"/>
          </a:xfrm>
          <a:prstGeom prst="rect">
            <a:avLst/>
          </a:prstGeom>
        </p:spPr>
      </p:pic>
      <p:sp>
        <p:nvSpPr>
          <p:cNvPr id="16" name="文本框 15"/>
          <p:cNvSpPr txBox="1"/>
          <p:nvPr/>
        </p:nvSpPr>
        <p:spPr>
          <a:xfrm>
            <a:off x="4290235" y="5293627"/>
            <a:ext cx="1358900" cy="49244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0…011</a:t>
            </a:r>
            <a:endParaRPr kumimoji="0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196095" y="2964039"/>
            <a:ext cx="3451341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一条指令的执行：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取指令访存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次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执行指令访存</a:t>
            </a:r>
            <a:r>
              <a:rPr lang="en-US" altLang="zh-CN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次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共访存</a:t>
            </a:r>
            <a:r>
              <a:rPr lang="en-US" altLang="zh-CN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次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6196095" y="4953149"/>
            <a:ext cx="5687235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优点：可扩大寻址范围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6231018" y="5695678"/>
            <a:ext cx="5687235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缺点：访存次数多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6" grpId="0" animBg="1"/>
      <p:bldP spid="14" grpId="0"/>
      <p:bldP spid="15" grpId="0"/>
      <p:bldP spid="20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3682305" y="112303"/>
            <a:ext cx="54951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寄存器寻址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227095" y="1250374"/>
            <a:ext cx="20955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一地址指令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4" name="表格 4"/>
          <p:cNvGraphicFramePr>
            <a:graphicFrameLocks noGrp="1"/>
          </p:cNvGraphicFramePr>
          <p:nvPr/>
        </p:nvGraphicFramePr>
        <p:xfrm>
          <a:off x="2163483" y="1204207"/>
          <a:ext cx="7162800" cy="5847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7600"/>
                <a:gridCol w="2387600"/>
                <a:gridCol w="2387600"/>
              </a:tblGrid>
              <a:tr h="58477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操作码（</a:t>
                      </a:r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</a:t>
                      </a:r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1001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0" name="文本框 39"/>
          <p:cNvSpPr txBox="1"/>
          <p:nvPr/>
        </p:nvSpPr>
        <p:spPr>
          <a:xfrm>
            <a:off x="230965" y="684866"/>
            <a:ext cx="845613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假设指令字长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=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机器字长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=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存储字长，假设操作数为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227095" y="1908212"/>
            <a:ext cx="7799305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寄存器寻址：在指令字中直接给出操作数所在的寄存器编号，即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EA=Ri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，其操作数在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Ri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所指的寄存器内</a:t>
            </a:r>
            <a:r>
              <a:rPr lang="zh-CN" altLang="en-US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227095" y="3050850"/>
            <a:ext cx="3451341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一条指令的执行：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取指令访存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次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执行指令访存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次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共访存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次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27095" y="4993707"/>
            <a:ext cx="7583405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优点：指令执行阶段不访问主存，只访问寄存器，指令字短且执行速度快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227095" y="6038579"/>
            <a:ext cx="8950355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缺点：寄存器价格昂贵，计算机中寄存器个数有限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6400" y="2022110"/>
            <a:ext cx="3938505" cy="4723588"/>
          </a:xfrm>
          <a:prstGeom prst="rect">
            <a:avLst/>
          </a:prstGeom>
        </p:spPr>
      </p:pic>
      <p:sp>
        <p:nvSpPr>
          <p:cNvPr id="16" name="文本框 15"/>
          <p:cNvSpPr txBox="1"/>
          <p:nvPr/>
        </p:nvSpPr>
        <p:spPr>
          <a:xfrm>
            <a:off x="10504405" y="5280156"/>
            <a:ext cx="1358900" cy="49244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0…011</a:t>
            </a:r>
            <a:endParaRPr kumimoji="0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4" grpId="0"/>
      <p:bldP spid="15" grpId="0"/>
      <p:bldP spid="20" grpId="0"/>
      <p:bldP spid="1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9594" y="2654300"/>
            <a:ext cx="5582035" cy="408142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3682305" y="112303"/>
            <a:ext cx="54951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寄存器间接寻址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227095" y="1250374"/>
            <a:ext cx="20955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一地址指令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4" name="表格 4"/>
          <p:cNvGraphicFramePr>
            <a:graphicFrameLocks noGrp="1"/>
          </p:cNvGraphicFramePr>
          <p:nvPr/>
        </p:nvGraphicFramePr>
        <p:xfrm>
          <a:off x="2163483" y="1204207"/>
          <a:ext cx="7162800" cy="5847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7600"/>
                <a:gridCol w="2387600"/>
                <a:gridCol w="2387600"/>
              </a:tblGrid>
              <a:tr h="58477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操作码（</a:t>
                      </a:r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</a:t>
                      </a:r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1001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0" name="文本框 39"/>
          <p:cNvSpPr txBox="1"/>
          <p:nvPr/>
        </p:nvSpPr>
        <p:spPr>
          <a:xfrm>
            <a:off x="230965" y="684866"/>
            <a:ext cx="845613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假设指令字长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=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机器字长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=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存储字长，假设操作数为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227095" y="1908212"/>
            <a:ext cx="7799305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寄存器间接寻址：寄存器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Ri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中给出的不是一个操作数，而是操作数所在主存单元的地址，即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EA=(Ri)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227095" y="2919994"/>
            <a:ext cx="3451341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一条指令的执行：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取指令访存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次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执行指令访存</a:t>
            </a:r>
            <a:r>
              <a:rPr lang="en-US" altLang="zh-CN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次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共访存</a:t>
            </a:r>
            <a:r>
              <a:rPr lang="en-US" altLang="zh-CN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次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27095" y="5161350"/>
            <a:ext cx="6707105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特点：比一般间接寻址更快，但指令执行阶段需要访存（因操作数在主存中）。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0722729" y="5474232"/>
            <a:ext cx="1242176" cy="43088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2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0…011</a:t>
            </a:r>
            <a:endParaRPr kumimoji="0" lang="zh-CN" altLang="en-US" sz="2200" b="1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4" grpId="0"/>
      <p:bldP spid="15" grpId="0"/>
      <p:bldP spid="1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3682305" y="112303"/>
            <a:ext cx="54951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隐含寻址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227095" y="785619"/>
            <a:ext cx="1173394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隐含寻址：不是明显地给出操作数的地址，而是在指令中隐含着操作数的地址。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5038" y="1278062"/>
            <a:ext cx="7681924" cy="3932104"/>
          </a:xfrm>
          <a:prstGeom prst="rect">
            <a:avLst/>
          </a:prstGeom>
        </p:spPr>
      </p:pic>
      <p:sp>
        <p:nvSpPr>
          <p:cNvPr id="15" name="文本框 14"/>
          <p:cNvSpPr txBox="1"/>
          <p:nvPr/>
        </p:nvSpPr>
        <p:spPr>
          <a:xfrm>
            <a:off x="227095" y="4589850"/>
            <a:ext cx="6707105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优点：有利于缩短指令字长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227095" y="5333716"/>
            <a:ext cx="6707105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缺点：需增加存储操作数或隐含地址的硬件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3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3677911" y="89248"/>
            <a:ext cx="54951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本节回顾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" name="表格 2"/>
          <p:cNvGraphicFramePr>
            <a:graphicFrameLocks noGrp="1"/>
          </p:cNvGraphicFramePr>
          <p:nvPr/>
        </p:nvGraphicFramePr>
        <p:xfrm>
          <a:off x="511174" y="771701"/>
          <a:ext cx="11169651" cy="4582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3217"/>
                <a:gridCol w="3080809"/>
                <a:gridCol w="4365625"/>
              </a:tblGrid>
              <a:tr h="6546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寻址方式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有效地址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访存次数（指令执行期间）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  <a:tr h="6546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隐含寻址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程序指定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  <a:tr h="6546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立即寻址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即是操作数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  <a:tr h="6546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直接寻址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EA = A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  <a:tr h="6546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间接寻址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EA = (A)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  <a:tr h="6546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寄存器寻址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EA = Ri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  <a:tr h="6546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寄存器间接寻址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EA = (Ri)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3348428" y="165448"/>
            <a:ext cx="54951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偏移寻址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250576" y="2562466"/>
            <a:ext cx="18669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偏移寻址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左大括号 12"/>
          <p:cNvSpPr/>
          <p:nvPr/>
        </p:nvSpPr>
        <p:spPr>
          <a:xfrm>
            <a:off x="3976439" y="2128687"/>
            <a:ext cx="393698" cy="1363783"/>
          </a:xfrm>
          <a:prstGeom prst="leftBrace">
            <a:avLst>
              <a:gd name="adj1" fmla="val 27688"/>
              <a:gd name="adj2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4370137" y="1947981"/>
            <a:ext cx="1610225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基址寻址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4370137" y="2565379"/>
            <a:ext cx="172586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变址寻址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370137" y="3182778"/>
            <a:ext cx="172586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相对寻址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6231353" y="1947981"/>
            <a:ext cx="419401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EA = (BR) + A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6231353" y="2562466"/>
            <a:ext cx="419401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EA = (IX) + A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6231353" y="3182771"/>
            <a:ext cx="419401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EA = (PC) + A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 animBg="1"/>
      <p:bldP spid="15" grpId="0"/>
      <p:bldP spid="16" grpId="0"/>
      <p:bldP spid="17" grpId="0"/>
      <p:bldP spid="18" grpId="0"/>
      <p:bldP spid="21" grpId="0"/>
      <p:bldP spid="2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3577458" y="32350"/>
            <a:ext cx="54951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基址寻址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229030" y="608945"/>
            <a:ext cx="1173394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基址寻址：将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CPU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中基址寄存器（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BR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）的内容加上指令中的形式地址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，形成操作数的有效地址，即 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EA = (BR) + A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44775" y="1578438"/>
            <a:ext cx="6902450" cy="4101232"/>
          </a:xfrm>
          <a:prstGeom prst="rect">
            <a:avLst/>
          </a:prstGeom>
        </p:spPr>
      </p:pic>
      <p:sp>
        <p:nvSpPr>
          <p:cNvPr id="20" name="文本框 19"/>
          <p:cNvSpPr txBox="1"/>
          <p:nvPr/>
        </p:nvSpPr>
        <p:spPr>
          <a:xfrm>
            <a:off x="229030" y="5757267"/>
            <a:ext cx="490134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优点：扩大寻址范围、浮动程序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3677911" y="89248"/>
            <a:ext cx="54951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变址寻址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229030" y="674023"/>
            <a:ext cx="1173394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变址寻址：有效地址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EA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等于指令字中的形式地址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与变址寄存器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IX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的内容相加之和，即 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EA = (IX)</a:t>
            </a:r>
            <a:r>
              <a:rPr kumimoji="0" lang="en-US" altLang="zh-CN" sz="2600" i="0" u="none" strike="noStrike" kern="1200" cap="none" spc="0" normalizeH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+ A</a:t>
            </a:r>
            <a:r>
              <a:rPr kumimoji="0" lang="zh-CN" altLang="en-US" sz="26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，其中</a:t>
            </a:r>
            <a:r>
              <a:rPr kumimoji="0" lang="en-US" altLang="zh-CN" sz="26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IX</a:t>
            </a:r>
            <a:r>
              <a:rPr kumimoji="0" lang="zh-CN" altLang="en-US" sz="26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为变址寄存器。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48692" y="1566575"/>
            <a:ext cx="6494616" cy="4223882"/>
          </a:xfrm>
          <a:prstGeom prst="rect">
            <a:avLst/>
          </a:prstGeom>
        </p:spPr>
      </p:pic>
      <p:sp>
        <p:nvSpPr>
          <p:cNvPr id="15" name="文本框 14"/>
          <p:cNvSpPr txBox="1"/>
          <p:nvPr/>
        </p:nvSpPr>
        <p:spPr>
          <a:xfrm>
            <a:off x="229030" y="5691534"/>
            <a:ext cx="727667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优点：可扩大寻址范围；适合编址循环程序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1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1333" y="1542458"/>
            <a:ext cx="8503367" cy="4125203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3677911" y="89248"/>
            <a:ext cx="54951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相对寻址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457415" y="649546"/>
            <a:ext cx="11277170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相对寻址：把程序计数器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PC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的内容加上指令中的形式地址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而形成操作数的有效地址，即 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EA = (PC) + A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，其中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是相对于当前指令地址的位移量，可正可负，补码表示</a:t>
            </a:r>
            <a:r>
              <a:rPr kumimoji="0" lang="zh-CN" altLang="en-US" sz="26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457415" y="5643544"/>
            <a:ext cx="11378985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优点：操作数的地址不是固定的，它随着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PC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值的变化而变化，并且与指令地址之间是总是相差一个固定值，广泛用于转移类指令。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1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3677911" y="89248"/>
            <a:ext cx="54951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相对寻址举例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457415" y="674023"/>
            <a:ext cx="11277170" cy="3022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某机器指令字长为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16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位，主存按字节编址，取指令时，每取一个字节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PC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自动加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</a:t>
            </a:r>
            <a:r>
              <a:rPr lang="zh-CN" altLang="en-US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。当前指令地址为</a:t>
            </a:r>
            <a:r>
              <a:rPr lang="en-US" altLang="zh-CN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2000H</a:t>
            </a:r>
            <a:r>
              <a:rPr lang="zh-CN" altLang="en-US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，指令内容为相对寻址的无条件转移指令，指令中第一个字节为操作码，第二个字节为形式地址，当前形式地址为</a:t>
            </a:r>
            <a:r>
              <a:rPr lang="en-US" altLang="zh-CN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40H</a:t>
            </a:r>
            <a:r>
              <a:rPr lang="zh-CN" altLang="en-US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en-US" altLang="zh-CN" sz="2600" noProof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kumimoji="0" lang="zh-CN" altLang="en-US" sz="260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</a:t>
            </a:r>
            <a:r>
              <a:rPr kumimoji="0" lang="en-US" altLang="zh-CN" sz="260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</a:t>
            </a:r>
            <a:r>
              <a:rPr kumimoji="0" lang="zh-CN" altLang="en-US" sz="260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）求取指令后及指令执行后</a:t>
            </a:r>
            <a:r>
              <a:rPr kumimoji="0" lang="en-US" altLang="zh-CN" sz="260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PC</a:t>
            </a:r>
            <a:r>
              <a:rPr kumimoji="0" lang="zh-CN" altLang="en-US" sz="260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的内容。</a:t>
            </a:r>
            <a:endParaRPr kumimoji="0" lang="en-US" altLang="zh-CN" sz="2600" i="0" u="none" strike="noStrike" kern="120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>
              <a:lnSpc>
                <a:spcPct val="150000"/>
              </a:lnSpc>
            </a:pPr>
            <a:r>
              <a:rPr lang="zh-CN" altLang="en-US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）若要求转移到</a:t>
            </a:r>
            <a:r>
              <a:rPr lang="en-US" altLang="zh-CN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1F00H</a:t>
            </a:r>
            <a:r>
              <a:rPr lang="zh-CN" altLang="en-US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，求形式地址的内容。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57414" y="4183234"/>
            <a:ext cx="11538069" cy="1822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kumimoji="0" lang="zh-CN" altLang="en-US" sz="260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解答：</a:t>
            </a:r>
            <a:endParaRPr kumimoji="0" lang="en-US" altLang="zh-CN" sz="2600" i="0" u="none" strike="noStrike" kern="120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>
              <a:lnSpc>
                <a:spcPct val="150000"/>
              </a:lnSpc>
            </a:pPr>
            <a:r>
              <a:rPr kumimoji="0" lang="zh-CN" altLang="en-US" sz="260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</a:t>
            </a:r>
            <a:r>
              <a:rPr kumimoji="0" lang="en-US" altLang="zh-CN" sz="260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</a:t>
            </a:r>
            <a:r>
              <a:rPr kumimoji="0" lang="zh-CN" altLang="en-US" sz="260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）取指后</a:t>
            </a:r>
            <a:r>
              <a:rPr kumimoji="0" lang="en-US" altLang="zh-CN" sz="260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PC=2002H</a:t>
            </a:r>
            <a:r>
              <a:rPr kumimoji="0" lang="zh-CN" altLang="en-US" sz="260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，执行指令后</a:t>
            </a:r>
            <a:r>
              <a:rPr kumimoji="0" lang="en-US" altLang="zh-CN" sz="260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PC=2002+40=2042H</a:t>
            </a:r>
            <a:r>
              <a:rPr kumimoji="0" lang="zh-CN" altLang="en-US" sz="260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0" lang="en-US" altLang="zh-CN" sz="2600" i="0" u="none" strike="noStrike" kern="120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>
              <a:lnSpc>
                <a:spcPct val="150000"/>
              </a:lnSpc>
            </a:pPr>
            <a:r>
              <a:rPr lang="zh-CN" altLang="en-US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）设形式地址为</a:t>
            </a:r>
            <a:r>
              <a:rPr lang="en-US" altLang="zh-CN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</a:t>
            </a:r>
            <a:r>
              <a:rPr lang="zh-CN" altLang="en-US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，则</a:t>
            </a:r>
            <a:r>
              <a:rPr lang="en-US" altLang="zh-CN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2002H+X=1F00H</a:t>
            </a:r>
            <a:r>
              <a:rPr lang="zh-CN" altLang="en-US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，可得</a:t>
            </a:r>
            <a:r>
              <a:rPr lang="en-US" altLang="zh-CN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X=1F00H-2002H=FEFEH</a:t>
            </a:r>
            <a:r>
              <a:rPr lang="zh-CN" altLang="en-US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3585908" y="-10541"/>
            <a:ext cx="54951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指令格式举例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457415" y="509653"/>
            <a:ext cx="11277170" cy="23645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600"/>
              </a:lnSpc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某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16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位机器所使用的指令格式和寻址方式如图所示，该机有两个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20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位基址寄存器，四个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16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位变址寄存器，十六个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16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位通用寄存器。指令汇编格式中的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S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（源），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D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（目标）都是通用寄存器，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M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是主存中的一个单元。三种指令的操作码分别是：</a:t>
            </a:r>
            <a:endParaRPr kumimoji="0" lang="zh-CN" altLang="en-US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3600"/>
              </a:lnSpc>
            </a:pP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7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MOV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7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7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OP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7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7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= AH</a:t>
            </a:r>
            <a:r>
              <a:rPr lang="zh-CN" altLang="en-US" sz="2600" dirty="0">
                <a:solidFill>
                  <a:schemeClr val="accent5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  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7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STA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7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7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OP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7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7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= 1BH</a:t>
            </a:r>
            <a:r>
              <a:rPr lang="zh-CN" altLang="en-US" sz="2600" dirty="0">
                <a:solidFill>
                  <a:schemeClr val="accent5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  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7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LDA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7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7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OP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7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7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= 3CH</a:t>
            </a:r>
            <a:endParaRPr kumimoji="0" lang="zh-CN" altLang="en-US" sz="2600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75000"/>
                </a:scheme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3" name="表格 3"/>
          <p:cNvGraphicFramePr>
            <a:graphicFrameLocks noGrp="1"/>
          </p:cNvGraphicFramePr>
          <p:nvPr/>
        </p:nvGraphicFramePr>
        <p:xfrm>
          <a:off x="457415" y="3595111"/>
          <a:ext cx="7873784" cy="528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68446"/>
                <a:gridCol w="1968446"/>
                <a:gridCol w="1968446"/>
                <a:gridCol w="1968446"/>
              </a:tblGrid>
              <a:tr h="52832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----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目标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源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文本框 6"/>
          <p:cNvSpPr txBox="1"/>
          <p:nvPr/>
        </p:nvSpPr>
        <p:spPr>
          <a:xfrm>
            <a:off x="8877300" y="3552045"/>
            <a:ext cx="19685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MOV  S,  D</a:t>
            </a:r>
            <a:endParaRPr lang="zh-CN" altLang="en-US" dirty="0"/>
          </a:p>
        </p:txBody>
      </p:sp>
      <p:graphicFrame>
        <p:nvGraphicFramePr>
          <p:cNvPr id="8" name="表格 3"/>
          <p:cNvGraphicFramePr>
            <a:graphicFrameLocks noGrp="1"/>
          </p:cNvGraphicFramePr>
          <p:nvPr/>
        </p:nvGraphicFramePr>
        <p:xfrm>
          <a:off x="457415" y="4346138"/>
          <a:ext cx="7873784" cy="1056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68446"/>
                <a:gridCol w="1968446"/>
                <a:gridCol w="1968446"/>
                <a:gridCol w="1968446"/>
              </a:tblGrid>
              <a:tr h="52832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基址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源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变址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320">
                <a:tc gridSpan="4"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位移量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文本框 8"/>
          <p:cNvSpPr txBox="1"/>
          <p:nvPr/>
        </p:nvSpPr>
        <p:spPr>
          <a:xfrm>
            <a:off x="8877300" y="4643625"/>
            <a:ext cx="19685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STA  S,  M</a:t>
            </a:r>
            <a:endParaRPr lang="zh-CN" altLang="en-US" dirty="0"/>
          </a:p>
        </p:txBody>
      </p:sp>
      <p:graphicFrame>
        <p:nvGraphicFramePr>
          <p:cNvPr id="10" name="表格 3"/>
          <p:cNvGraphicFramePr>
            <a:graphicFrameLocks noGrp="1"/>
          </p:cNvGraphicFramePr>
          <p:nvPr/>
        </p:nvGraphicFramePr>
        <p:xfrm>
          <a:off x="457415" y="5592157"/>
          <a:ext cx="7873784" cy="1056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68446"/>
                <a:gridCol w="1968446"/>
                <a:gridCol w="1968446"/>
                <a:gridCol w="1968446"/>
              </a:tblGrid>
              <a:tr h="52832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----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目标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320">
                <a:tc gridSpan="4"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</a:t>
                      </a:r>
                      <a:r>
                        <a:rPr lang="zh-CN" altLang="en-US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位地址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文本框 10"/>
          <p:cNvSpPr txBox="1"/>
          <p:nvPr/>
        </p:nvSpPr>
        <p:spPr>
          <a:xfrm>
            <a:off x="8877300" y="5889644"/>
            <a:ext cx="19685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LDA  M,  D</a:t>
            </a:r>
            <a:endParaRPr lang="zh-CN" altLang="en-US" dirty="0"/>
          </a:p>
        </p:txBody>
      </p:sp>
      <p:sp>
        <p:nvSpPr>
          <p:cNvPr id="12" name="文本框 11"/>
          <p:cNvSpPr txBox="1"/>
          <p:nvPr/>
        </p:nvSpPr>
        <p:spPr>
          <a:xfrm>
            <a:off x="361950" y="3166773"/>
            <a:ext cx="5651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15</a:t>
            </a:r>
            <a:endParaRPr lang="zh-CN" altLang="en-US" dirty="0"/>
          </a:p>
        </p:txBody>
      </p:sp>
      <p:sp>
        <p:nvSpPr>
          <p:cNvPr id="13" name="文本框 12"/>
          <p:cNvSpPr txBox="1"/>
          <p:nvPr/>
        </p:nvSpPr>
        <p:spPr>
          <a:xfrm>
            <a:off x="1860550" y="3166773"/>
            <a:ext cx="5651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10</a:t>
            </a:r>
            <a:endParaRPr lang="zh-CN" altLang="en-US" dirty="0"/>
          </a:p>
        </p:txBody>
      </p:sp>
      <p:sp>
        <p:nvSpPr>
          <p:cNvPr id="14" name="文本框 13"/>
          <p:cNvSpPr txBox="1"/>
          <p:nvPr/>
        </p:nvSpPr>
        <p:spPr>
          <a:xfrm>
            <a:off x="2484544" y="3166773"/>
            <a:ext cx="5651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</a:t>
            </a:r>
            <a:endParaRPr lang="zh-CN" altLang="en-US" dirty="0"/>
          </a:p>
        </p:txBody>
      </p:sp>
      <p:sp>
        <p:nvSpPr>
          <p:cNvPr id="15" name="文本框 14"/>
          <p:cNvSpPr txBox="1"/>
          <p:nvPr/>
        </p:nvSpPr>
        <p:spPr>
          <a:xfrm>
            <a:off x="4015945" y="3166773"/>
            <a:ext cx="5651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</a:t>
            </a:r>
            <a:endParaRPr lang="zh-CN" altLang="en-US" dirty="0"/>
          </a:p>
        </p:txBody>
      </p:sp>
      <p:sp>
        <p:nvSpPr>
          <p:cNvPr id="16" name="文本框 15"/>
          <p:cNvSpPr txBox="1"/>
          <p:nvPr/>
        </p:nvSpPr>
        <p:spPr>
          <a:xfrm>
            <a:off x="4393985" y="3166773"/>
            <a:ext cx="5651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</a:t>
            </a:r>
            <a:endParaRPr lang="zh-CN" altLang="en-US" dirty="0"/>
          </a:p>
        </p:txBody>
      </p:sp>
      <p:sp>
        <p:nvSpPr>
          <p:cNvPr id="17" name="文本框 16"/>
          <p:cNvSpPr txBox="1"/>
          <p:nvPr/>
        </p:nvSpPr>
        <p:spPr>
          <a:xfrm>
            <a:off x="6000535" y="3166773"/>
            <a:ext cx="5651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endParaRPr lang="zh-CN" altLang="en-US" dirty="0"/>
          </a:p>
        </p:txBody>
      </p:sp>
      <p:sp>
        <p:nvSpPr>
          <p:cNvPr id="18" name="文本框 17"/>
          <p:cNvSpPr txBox="1"/>
          <p:nvPr/>
        </p:nvSpPr>
        <p:spPr>
          <a:xfrm>
            <a:off x="6333480" y="3166773"/>
            <a:ext cx="5651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endParaRPr lang="zh-CN" altLang="en-US" dirty="0"/>
          </a:p>
        </p:txBody>
      </p:sp>
      <p:sp>
        <p:nvSpPr>
          <p:cNvPr id="20" name="文本框 19"/>
          <p:cNvSpPr txBox="1"/>
          <p:nvPr/>
        </p:nvSpPr>
        <p:spPr>
          <a:xfrm>
            <a:off x="8004173" y="3166773"/>
            <a:ext cx="5651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</a:t>
            </a:r>
            <a:endParaRPr lang="zh-CN" altLang="en-US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/>
          <p:cNvSpPr txBox="1"/>
          <p:nvPr/>
        </p:nvSpPr>
        <p:spPr>
          <a:xfrm>
            <a:off x="457415" y="3722203"/>
            <a:ext cx="11277170" cy="28999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ts val="3700"/>
              </a:lnSpc>
              <a:buFont typeface="+mj-lt"/>
              <a:buAutoNum type="arabicPeriod"/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分析三种指令格式与寻址方式特点；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indent="-457200">
              <a:lnSpc>
                <a:spcPts val="3700"/>
              </a:lnSpc>
              <a:buFont typeface="+mj-lt"/>
              <a:buAutoNum type="arabicPeriod"/>
            </a:pP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CPU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完成哪一种操作所花时间最短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?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哪一种操作所花时间最长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?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第二种指令的执行时间有时会等于第三种指令的执行时间吗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?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indent="-457200">
              <a:lnSpc>
                <a:spcPts val="3700"/>
              </a:lnSpc>
              <a:buFont typeface="+mj-lt"/>
              <a:buAutoNum type="arabicPeriod"/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下列情况下每个十六进制指令字分别代表什么操作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?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其中如果有编码不正确，如何改正才能成为合法指令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?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>
              <a:lnSpc>
                <a:spcPts val="3700"/>
              </a:lnSpc>
            </a:pP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	</a:t>
            </a:r>
            <a:r>
              <a:rPr lang="pt-BR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① F0F1 3CD2H		② 2856H		③ 6FD6H		④ 1C2H</a:t>
            </a:r>
            <a:endParaRPr lang="pt-BR" altLang="zh-CN" sz="2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3" name="表格 3"/>
          <p:cNvGraphicFramePr>
            <a:graphicFrameLocks noGrp="1"/>
          </p:cNvGraphicFramePr>
          <p:nvPr/>
        </p:nvGraphicFramePr>
        <p:xfrm>
          <a:off x="787615" y="479138"/>
          <a:ext cx="7873784" cy="528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68446"/>
                <a:gridCol w="1968446"/>
                <a:gridCol w="1968446"/>
                <a:gridCol w="1968446"/>
              </a:tblGrid>
              <a:tr h="52832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----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目标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源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文本框 13"/>
          <p:cNvSpPr txBox="1"/>
          <p:nvPr/>
        </p:nvSpPr>
        <p:spPr>
          <a:xfrm>
            <a:off x="9207500" y="436072"/>
            <a:ext cx="19685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MOV  S,  D</a:t>
            </a:r>
            <a:endParaRPr lang="zh-CN" altLang="en-US" dirty="0"/>
          </a:p>
        </p:txBody>
      </p:sp>
      <p:graphicFrame>
        <p:nvGraphicFramePr>
          <p:cNvPr id="15" name="表格 3"/>
          <p:cNvGraphicFramePr>
            <a:graphicFrameLocks noGrp="1"/>
          </p:cNvGraphicFramePr>
          <p:nvPr/>
        </p:nvGraphicFramePr>
        <p:xfrm>
          <a:off x="787615" y="1230165"/>
          <a:ext cx="7873784" cy="1056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68446"/>
                <a:gridCol w="1968446"/>
                <a:gridCol w="1968446"/>
                <a:gridCol w="1968446"/>
              </a:tblGrid>
              <a:tr h="52832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基址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源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变址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320">
                <a:tc gridSpan="4"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位移量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文本框 15"/>
          <p:cNvSpPr txBox="1"/>
          <p:nvPr/>
        </p:nvSpPr>
        <p:spPr>
          <a:xfrm>
            <a:off x="9207500" y="1527652"/>
            <a:ext cx="19685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STA  S,  M</a:t>
            </a:r>
            <a:endParaRPr lang="zh-CN" altLang="en-US" dirty="0"/>
          </a:p>
        </p:txBody>
      </p:sp>
      <p:graphicFrame>
        <p:nvGraphicFramePr>
          <p:cNvPr id="17" name="表格 3"/>
          <p:cNvGraphicFramePr>
            <a:graphicFrameLocks noGrp="1"/>
          </p:cNvGraphicFramePr>
          <p:nvPr/>
        </p:nvGraphicFramePr>
        <p:xfrm>
          <a:off x="787615" y="2476184"/>
          <a:ext cx="7873784" cy="1056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68446"/>
                <a:gridCol w="1968446"/>
                <a:gridCol w="1968446"/>
                <a:gridCol w="1968446"/>
              </a:tblGrid>
              <a:tr h="52832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----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目标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320">
                <a:tc gridSpan="4"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</a:t>
                      </a:r>
                      <a:r>
                        <a:rPr lang="zh-CN" altLang="en-US" sz="2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位地址</a:t>
                      </a:r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文本框 17"/>
          <p:cNvSpPr txBox="1"/>
          <p:nvPr/>
        </p:nvSpPr>
        <p:spPr>
          <a:xfrm>
            <a:off x="9207500" y="2773671"/>
            <a:ext cx="19685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LDA  M,  D</a:t>
            </a:r>
            <a:endParaRPr lang="zh-CN" altLang="en-US" dirty="0"/>
          </a:p>
        </p:txBody>
      </p:sp>
      <p:sp>
        <p:nvSpPr>
          <p:cNvPr id="20" name="文本框 19"/>
          <p:cNvSpPr txBox="1"/>
          <p:nvPr/>
        </p:nvSpPr>
        <p:spPr>
          <a:xfrm>
            <a:off x="692150" y="50800"/>
            <a:ext cx="5651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15</a:t>
            </a:r>
            <a:endParaRPr lang="zh-CN" altLang="en-US" dirty="0"/>
          </a:p>
        </p:txBody>
      </p:sp>
      <p:sp>
        <p:nvSpPr>
          <p:cNvPr id="21" name="文本框 20"/>
          <p:cNvSpPr txBox="1"/>
          <p:nvPr/>
        </p:nvSpPr>
        <p:spPr>
          <a:xfrm>
            <a:off x="2190750" y="50800"/>
            <a:ext cx="5651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10</a:t>
            </a:r>
            <a:endParaRPr lang="zh-CN" altLang="en-US" dirty="0"/>
          </a:p>
        </p:txBody>
      </p:sp>
      <p:sp>
        <p:nvSpPr>
          <p:cNvPr id="22" name="文本框 21"/>
          <p:cNvSpPr txBox="1"/>
          <p:nvPr/>
        </p:nvSpPr>
        <p:spPr>
          <a:xfrm>
            <a:off x="2814744" y="50800"/>
            <a:ext cx="5651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</a:t>
            </a:r>
            <a:endParaRPr lang="zh-CN" altLang="en-US" dirty="0"/>
          </a:p>
        </p:txBody>
      </p:sp>
      <p:sp>
        <p:nvSpPr>
          <p:cNvPr id="23" name="文本框 22"/>
          <p:cNvSpPr txBox="1"/>
          <p:nvPr/>
        </p:nvSpPr>
        <p:spPr>
          <a:xfrm>
            <a:off x="4346145" y="50800"/>
            <a:ext cx="5651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</a:t>
            </a:r>
            <a:endParaRPr lang="zh-CN" altLang="en-US" dirty="0"/>
          </a:p>
        </p:txBody>
      </p:sp>
      <p:sp>
        <p:nvSpPr>
          <p:cNvPr id="24" name="文本框 23"/>
          <p:cNvSpPr txBox="1"/>
          <p:nvPr/>
        </p:nvSpPr>
        <p:spPr>
          <a:xfrm>
            <a:off x="4724185" y="50800"/>
            <a:ext cx="5651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</a:t>
            </a:r>
            <a:endParaRPr lang="zh-CN" altLang="en-US" dirty="0"/>
          </a:p>
        </p:txBody>
      </p:sp>
      <p:sp>
        <p:nvSpPr>
          <p:cNvPr id="25" name="文本框 24"/>
          <p:cNvSpPr txBox="1"/>
          <p:nvPr/>
        </p:nvSpPr>
        <p:spPr>
          <a:xfrm>
            <a:off x="6330735" y="50800"/>
            <a:ext cx="5651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endParaRPr lang="zh-CN" altLang="en-US" dirty="0"/>
          </a:p>
        </p:txBody>
      </p:sp>
      <p:sp>
        <p:nvSpPr>
          <p:cNvPr id="26" name="文本框 25"/>
          <p:cNvSpPr txBox="1"/>
          <p:nvPr/>
        </p:nvSpPr>
        <p:spPr>
          <a:xfrm>
            <a:off x="6663680" y="50800"/>
            <a:ext cx="5651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endParaRPr lang="zh-CN" altLang="en-US" dirty="0"/>
          </a:p>
        </p:txBody>
      </p:sp>
      <p:sp>
        <p:nvSpPr>
          <p:cNvPr id="27" name="文本框 26"/>
          <p:cNvSpPr txBox="1"/>
          <p:nvPr/>
        </p:nvSpPr>
        <p:spPr>
          <a:xfrm>
            <a:off x="8334373" y="50800"/>
            <a:ext cx="5651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/>
          <p:cNvSpPr txBox="1"/>
          <p:nvPr/>
        </p:nvSpPr>
        <p:spPr>
          <a:xfrm>
            <a:off x="457415" y="717456"/>
            <a:ext cx="11277170" cy="5423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第一种指令是单字长二地址指令，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RR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型；第二种指令是双字长二地址指令，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RS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型，其中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采用基址寻址或变址寻址，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由源寄存器决定；第三种也是双字长二地址指令，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RS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型，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由目标寄存器决定，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由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20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位地址（直接寻址）决定；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处理机完成第一种指令所花的时间最短，因为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RR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型指令，不需要访问存储器。第二种指令所花的时间最长，因为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RS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型指令，需要访问存储器。同时要进行寻址方式的变换运算（基址或变址），这也需要时间。第二种指令的执行时间不会等于第三种指令，因为第三种指令虽然也访问存储器，但节省了求有效地址运算的时间开销。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3677911" y="89248"/>
            <a:ext cx="54951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解答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/>
          <p:cNvSpPr txBox="1"/>
          <p:nvPr/>
        </p:nvSpPr>
        <p:spPr>
          <a:xfrm>
            <a:off x="457415" y="131603"/>
            <a:ext cx="11277170" cy="3622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3"/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根据以知条件：</a:t>
            </a:r>
            <a:endParaRPr kumimoji="0" lang="zh-CN" altLang="en-US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MOV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OP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=00 1010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</a:t>
            </a:r>
            <a:endParaRPr kumimoji="0" lang="zh-CN" altLang="en-US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STA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OP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 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=01 1011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</a:t>
            </a:r>
            <a:endParaRPr kumimoji="0" lang="zh-CN" altLang="en-US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LDA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OP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 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=11 1100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</a:t>
            </a:r>
            <a:endParaRPr kumimoji="0" lang="zh-CN" altLang="en-US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>
              <a:lnSpc>
                <a:spcPct val="150000"/>
              </a:lnSpc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将指令转为二进制序列比较：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>
              <a:lnSpc>
                <a:spcPct val="150000"/>
              </a:lnSpc>
            </a:pP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① F0F1 3CD2H 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 1111 00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00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 1111 0001 0011 1100 1101 0010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左大括号 1"/>
          <p:cNvSpPr/>
          <p:nvPr/>
        </p:nvSpPr>
        <p:spPr>
          <a:xfrm rot="16200000">
            <a:off x="3975774" y="3192223"/>
            <a:ext cx="246302" cy="1123950"/>
          </a:xfrm>
          <a:prstGeom prst="leftBrace">
            <a:avLst>
              <a:gd name="adj1" fmla="val 43817"/>
              <a:gd name="adj2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3651250" y="4028676"/>
            <a:ext cx="8382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LDA</a:t>
            </a:r>
            <a:endParaRPr lang="zh-CN" altLang="en-US" dirty="0"/>
          </a:p>
        </p:txBody>
      </p:sp>
      <p:sp>
        <p:nvSpPr>
          <p:cNvPr id="6" name="左大括号 5"/>
          <p:cNvSpPr/>
          <p:nvPr/>
        </p:nvSpPr>
        <p:spPr>
          <a:xfrm rot="16200000">
            <a:off x="5471200" y="3468446"/>
            <a:ext cx="246304" cy="571503"/>
          </a:xfrm>
          <a:prstGeom prst="leftBrace">
            <a:avLst>
              <a:gd name="adj1" fmla="val 43817"/>
              <a:gd name="adj2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4489450" y="4028675"/>
            <a:ext cx="201295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15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号寄存器</a:t>
            </a:r>
            <a:endParaRPr lang="zh-CN" altLang="en-US" dirty="0"/>
          </a:p>
        </p:txBody>
      </p:sp>
      <p:sp>
        <p:nvSpPr>
          <p:cNvPr id="8" name="左大括号 7"/>
          <p:cNvSpPr/>
          <p:nvPr/>
        </p:nvSpPr>
        <p:spPr>
          <a:xfrm rot="16200000">
            <a:off x="8087399" y="1639648"/>
            <a:ext cx="246302" cy="4229100"/>
          </a:xfrm>
          <a:prstGeom prst="leftBrace">
            <a:avLst>
              <a:gd name="adj1" fmla="val 43817"/>
              <a:gd name="adj2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7550150" y="4028675"/>
            <a:ext cx="154305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13CD2H</a:t>
            </a:r>
            <a:endParaRPr lang="zh-CN" altLang="en-US" dirty="0"/>
          </a:p>
        </p:txBody>
      </p:sp>
      <p:sp>
        <p:nvSpPr>
          <p:cNvPr id="10" name="文本框 9"/>
          <p:cNvSpPr txBox="1"/>
          <p:nvPr/>
        </p:nvSpPr>
        <p:spPr>
          <a:xfrm>
            <a:off x="3651250" y="4693995"/>
            <a:ext cx="735965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把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主存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13CD2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的存储单元内容装载到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15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号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寄存器</a:t>
            </a:r>
            <a:endParaRPr kumimoji="0" lang="zh-CN" alt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7414" y="5329984"/>
            <a:ext cx="11645685" cy="1221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②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2856H 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 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0010 10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00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 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0101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 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7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0110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75000"/>
                </a:scheme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Wingdings" panose="05000000000000000000" pitchFamily="2" charset="2"/>
            </a:endParaRPr>
          </a:p>
          <a:p>
            <a:pPr>
              <a:lnSpc>
                <a:spcPct val="150000"/>
              </a:lnSpc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代表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MOV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指令，编码正确，含义是把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5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号源寄存器的内容传送至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6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号目标寄存器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3677911" y="89248"/>
            <a:ext cx="54951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解答（续）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/>
      <p:bldP spid="6" grpId="0" animBg="1"/>
      <p:bldP spid="7" grpId="0"/>
      <p:bldP spid="8" grpId="0" animBg="1"/>
      <p:bldP spid="9" grpId="0"/>
      <p:bldP spid="10" grpId="0"/>
      <p:bldP spid="1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 txBox="1"/>
          <p:nvPr/>
        </p:nvSpPr>
        <p:spPr>
          <a:xfrm>
            <a:off x="273157" y="1367584"/>
            <a:ext cx="11645685" cy="1221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③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6FD6H 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是单字长指令，只能是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MOV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指令，但编码错误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Wingdings" panose="05000000000000000000" pitchFamily="2" charset="2"/>
            </a:endParaRPr>
          </a:p>
          <a:p>
            <a:pPr>
              <a:lnSpc>
                <a:spcPct val="150000"/>
              </a:lnSpc>
            </a:pP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0110 1111 1101 0110 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可改为 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0010 1011 1101 0110 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即 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2BD6H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75000"/>
                </a:scheme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Wingdings" panose="05000000000000000000" pitchFamily="2" charset="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273157" y="3082084"/>
            <a:ext cx="11645685" cy="1221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④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1C2H 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是单字长指令，只能是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MOV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指令，但编码错误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Wingdings" panose="05000000000000000000" pitchFamily="2" charset="2"/>
            </a:endParaRPr>
          </a:p>
          <a:p>
            <a:pPr>
              <a:lnSpc>
                <a:spcPct val="150000"/>
              </a:lnSpc>
            </a:pP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0000 0001 1100 0010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 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可改为 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0010 1001 1100 0010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 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即 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29C2H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75000"/>
                </a:scheme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Wingdings" panose="05000000000000000000" pitchFamily="2" charset="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3677911" y="89248"/>
            <a:ext cx="54951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解答（续）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 txBox="1"/>
          <p:nvPr/>
        </p:nvSpPr>
        <p:spPr>
          <a:xfrm>
            <a:off x="186710" y="674023"/>
            <a:ext cx="11818580" cy="4222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某模型机共有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64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种操作码，位数固定，且具有以下特点：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514350" indent="-514350">
              <a:lnSpc>
                <a:spcPct val="150000"/>
              </a:lnSpc>
              <a:buFont typeface="+mj-ea"/>
              <a:buAutoNum type="circleNumDbPlain"/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采用一地址或二地址格式</a:t>
            </a:r>
            <a:r>
              <a:rPr lang="zh-CN" altLang="en-US" sz="2600" noProof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；</a:t>
            </a:r>
            <a:endParaRPr lang="en-US" altLang="zh-CN" sz="2600" noProof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Wingdings" panose="05000000000000000000" pitchFamily="2" charset="2"/>
            </a:endParaRPr>
          </a:p>
          <a:p>
            <a:pPr marL="514350" indent="-514350">
              <a:lnSpc>
                <a:spcPct val="150000"/>
              </a:lnSpc>
              <a:buFont typeface="+mj-ea"/>
              <a:buAutoNum type="circleNumDbPlain"/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有寄存器寻址、直接寻址和相对寻址（位移量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-128</a:t>
            </a: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～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+128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）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3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种寻址方式；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Wingdings" panose="05000000000000000000" pitchFamily="2" charset="2"/>
            </a:endParaRPr>
          </a:p>
          <a:p>
            <a:pPr marL="514350" indent="-514350">
              <a:lnSpc>
                <a:spcPct val="150000"/>
              </a:lnSpc>
              <a:buFont typeface="+mj-ea"/>
              <a:buAutoNum type="circleNumDbPlain"/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有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16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个通用寄存器，算术运算和逻辑运算的操作数和运算结果均在寄存器中；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Wingdings" panose="05000000000000000000" pitchFamily="2" charset="2"/>
            </a:endParaRPr>
          </a:p>
          <a:p>
            <a:pPr marL="514350" indent="-514350">
              <a:lnSpc>
                <a:spcPct val="150000"/>
              </a:lnSpc>
              <a:buFont typeface="+mj-ea"/>
              <a:buAutoNum type="circleNumDbPlain"/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取数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/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存数指令在通用寄存器和存储器之间传送数据；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Wingdings" panose="05000000000000000000" pitchFamily="2" charset="2"/>
            </a:endParaRPr>
          </a:p>
          <a:p>
            <a:pPr marL="514350" indent="-514350">
              <a:lnSpc>
                <a:spcPct val="150000"/>
              </a:lnSpc>
              <a:buFont typeface="+mj-ea"/>
              <a:buAutoNum type="circleNumDbPlain"/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存储器容量为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1MB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，按字节编址。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Wingdings" panose="05000000000000000000" pitchFamily="2" charset="2"/>
            </a:endParaRPr>
          </a:p>
          <a:p>
            <a:pPr>
              <a:lnSpc>
                <a:spcPct val="150000"/>
              </a:lnSpc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要求设计算术逻辑指令、取数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/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存数指令和相对转移指令的格式，并简述理由。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Wingdings" panose="05000000000000000000" pitchFamily="2" charset="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3677911" y="89248"/>
            <a:ext cx="54951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指令格式例题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文本框 13"/>
          <p:cNvSpPr txBox="1"/>
          <p:nvPr/>
        </p:nvSpPr>
        <p:spPr>
          <a:xfrm>
            <a:off x="3677911" y="89248"/>
            <a:ext cx="54951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指令格式例题解答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5812" y="674023"/>
            <a:ext cx="9127510" cy="1537787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590" y="2545950"/>
            <a:ext cx="9127510" cy="2057363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6590" y="5088356"/>
            <a:ext cx="9169574" cy="1444292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496302" y="1373631"/>
            <a:ext cx="222028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算术逻辑指令</a:t>
            </a:r>
            <a:endParaRPr lang="zh-CN" altLang="en-US" dirty="0"/>
          </a:p>
        </p:txBody>
      </p:sp>
      <p:sp>
        <p:nvSpPr>
          <p:cNvPr id="13" name="文本框 12"/>
          <p:cNvSpPr txBox="1"/>
          <p:nvPr/>
        </p:nvSpPr>
        <p:spPr>
          <a:xfrm>
            <a:off x="496301" y="3574631"/>
            <a:ext cx="2391277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取数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/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存数指令</a:t>
            </a:r>
            <a:endParaRPr kumimoji="0" lang="zh-CN" alt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Wingdings" panose="05000000000000000000" pitchFamily="2" charset="2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496300" y="5719912"/>
            <a:ext cx="2391277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相对转移指令</a:t>
            </a:r>
            <a:endParaRPr lang="zh-CN" altLang="en-US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 txBox="1"/>
          <p:nvPr/>
        </p:nvSpPr>
        <p:spPr>
          <a:xfrm>
            <a:off x="186710" y="66173"/>
            <a:ext cx="11818580" cy="621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某机的机器字长为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16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位，主存按字编址，指令格式如下</a:t>
            </a: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：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Wingdings" panose="05000000000000000000" pitchFamily="2" charset="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86710" y="2258181"/>
            <a:ext cx="11818580" cy="4222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其中，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为位移量；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为寻址特征位。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>
              <a:lnSpc>
                <a:spcPct val="150000"/>
              </a:lnSpc>
            </a:pP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XX=00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：直接寻址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Wingdings" panose="05000000000000000000" pitchFamily="2" charset="2"/>
            </a:endParaRPr>
          </a:p>
          <a:p>
            <a:pPr>
              <a:lnSpc>
                <a:spcPct val="150000"/>
              </a:lnSpc>
            </a:pP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XX=01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：用变址寄存器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X1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进行变址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Wingdings" panose="05000000000000000000" pitchFamily="2" charset="2"/>
            </a:endParaRPr>
          </a:p>
          <a:p>
            <a:pPr>
              <a:lnSpc>
                <a:spcPct val="150000"/>
              </a:lnSpc>
            </a:pP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XX=10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：用变址寄存器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X2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进行变址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Wingdings" panose="05000000000000000000" pitchFamily="2" charset="2"/>
            </a:endParaRPr>
          </a:p>
          <a:p>
            <a:pPr>
              <a:lnSpc>
                <a:spcPct val="150000"/>
              </a:lnSpc>
            </a:pP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XX=11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：相对寻址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Wingdings" panose="05000000000000000000" pitchFamily="2" charset="2"/>
            </a:endParaRPr>
          </a:p>
          <a:p>
            <a:pPr>
              <a:lnSpc>
                <a:spcPct val="150000"/>
              </a:lnSpc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设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(PC)=1234H, (X1)=0037H, (X2)=1122H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，请确定下列指令的有效地址：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Wingdings" panose="05000000000000000000" pitchFamily="2" charset="2"/>
            </a:endParaRPr>
          </a:p>
          <a:p>
            <a:pPr>
              <a:lnSpc>
                <a:spcPct val="150000"/>
              </a:lnSpc>
            </a:pP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(1) 4420H		(2) 2244H		(3) 1322H		(4)3521H		(5) 6723H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Wingdings" panose="05000000000000000000" pitchFamily="2" charset="2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761" y="660308"/>
            <a:ext cx="10046478" cy="144623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186710" y="970802"/>
            <a:ext cx="11818580" cy="3622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取指后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PC=1235H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Wingdings" panose="05000000000000000000" pitchFamily="2" charset="2"/>
            </a:endParaRPr>
          </a:p>
          <a:p>
            <a:pPr>
              <a:lnSpc>
                <a:spcPct val="150000"/>
              </a:lnSpc>
            </a:pP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（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1</a:t>
            </a: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）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X=00</a:t>
            </a: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，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D=20H</a:t>
            </a: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，有效地址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EA=20H</a:t>
            </a:r>
            <a:endParaRPr lang="en-US" altLang="zh-CN" sz="2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Wingdings" panose="05000000000000000000" pitchFamily="2" charset="2"/>
            </a:endParaRPr>
          </a:p>
          <a:p>
            <a:pPr>
              <a:lnSpc>
                <a:spcPct val="150000"/>
              </a:lnSpc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（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2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）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X=10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，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D=44H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，有效地址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EA=1122H+44H=1166H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Wingdings" panose="05000000000000000000" pitchFamily="2" charset="2"/>
            </a:endParaRPr>
          </a:p>
          <a:p>
            <a:pPr>
              <a:lnSpc>
                <a:spcPct val="150000"/>
              </a:lnSpc>
            </a:pP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（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3</a:t>
            </a: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）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X=11</a:t>
            </a: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，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D=22H</a:t>
            </a: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，有效地址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EA=1235H+22H=1257H</a:t>
            </a:r>
            <a:endParaRPr lang="en-US" altLang="zh-CN" sz="2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Wingdings" panose="05000000000000000000" pitchFamily="2" charset="2"/>
            </a:endParaRPr>
          </a:p>
          <a:p>
            <a:pPr>
              <a:lnSpc>
                <a:spcPct val="150000"/>
              </a:lnSpc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（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4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）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X=01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，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D=21H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，有效地址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Wingdings" panose="05000000000000000000" pitchFamily="2" charset="2"/>
              </a:rPr>
              <a:t>EA=0037H+21H=0058H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Wingdings" panose="05000000000000000000" pitchFamily="2" charset="2"/>
            </a:endParaRPr>
          </a:p>
          <a:p>
            <a:pPr>
              <a:lnSpc>
                <a:spcPct val="150000"/>
              </a:lnSpc>
            </a:pP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（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5</a:t>
            </a: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）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X=11</a:t>
            </a: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，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D=23H</a:t>
            </a: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，有效地址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EA=1235H+23H=1258H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Wingdings" panose="05000000000000000000" pitchFamily="2" charset="2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3677911" y="89248"/>
            <a:ext cx="54951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本节回顾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" name="表格 2"/>
          <p:cNvGraphicFramePr>
            <a:graphicFrameLocks noGrp="1"/>
          </p:cNvGraphicFramePr>
          <p:nvPr/>
        </p:nvGraphicFramePr>
        <p:xfrm>
          <a:off x="511174" y="771702"/>
          <a:ext cx="11169651" cy="5857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3217"/>
                <a:gridCol w="3080809"/>
                <a:gridCol w="4365625"/>
              </a:tblGrid>
              <a:tr h="58577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寻址方式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有效地址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访存次数（指令执行期间）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  <a:tr h="58577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隐含寻址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程序指定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  <a:tr h="58577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立即寻址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即是操作数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  <a:tr h="58577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直接寻址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EA = A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  <a:tr h="58577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间接寻址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EA = (A)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  <a:tr h="58577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寄存器寻址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EA = Ri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  <a:tr h="58577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寄存器间接寻址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EA = (Ri)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  <a:tr h="58577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相对寻址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EA = (PC) + A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  <a:tr h="58577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基址寻址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EA = (BR) + A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  <a:tr h="58577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变址寻址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EA = (IX) + A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文本框 6"/>
          <p:cNvSpPr txBox="1"/>
          <p:nvPr/>
        </p:nvSpPr>
        <p:spPr>
          <a:xfrm>
            <a:off x="0" y="4922679"/>
            <a:ext cx="17399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转移指令</a:t>
            </a:r>
            <a:endParaRPr kumimoji="0" lang="zh-CN" altLang="en-US" sz="26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0" y="5504489"/>
            <a:ext cx="17399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多道程序</a:t>
            </a:r>
            <a:endParaRPr kumimoji="0" lang="zh-CN" altLang="en-US" sz="26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0" y="6086298"/>
            <a:ext cx="17399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循环程序</a:t>
            </a:r>
            <a:endParaRPr kumimoji="0" lang="zh-CN" altLang="en-US" sz="26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3677911" y="89248"/>
            <a:ext cx="54951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堆栈寻址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457415" y="674023"/>
            <a:ext cx="11277170" cy="621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堆栈寻址：操作数存放在堆栈中，隐含使用堆栈指针（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SP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）作为操作数地址。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57415" y="1295796"/>
            <a:ext cx="11277170" cy="1822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堆栈是存储器（或专用寄存器组）中一块特定的按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“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先进后出（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FILO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”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原则管理的存储区，该存储区中被读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写单元的地址是用一个特定的寄存器给出的，该寄存器称为堆栈指针（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SP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）。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2" name="表格 2"/>
          <p:cNvGraphicFramePr>
            <a:graphicFrameLocks noGrp="1"/>
          </p:cNvGraphicFramePr>
          <p:nvPr/>
        </p:nvGraphicFramePr>
        <p:xfrm>
          <a:off x="8724900" y="2563094"/>
          <a:ext cx="2070100" cy="41148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070100"/>
              </a:tblGrid>
              <a:tr h="432671">
                <a:tc>
                  <a:txBody>
                    <a:bodyPr/>
                    <a:lstStyle/>
                    <a:p>
                      <a:pPr algn="ctr"/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  <a:tr h="432671">
                <a:tc>
                  <a:txBody>
                    <a:bodyPr/>
                    <a:lstStyle/>
                    <a:p>
                      <a:pPr algn="ctr"/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  <a:tr h="432671">
                <a:tc>
                  <a:txBody>
                    <a:bodyPr/>
                    <a:lstStyle/>
                    <a:p>
                      <a:pPr algn="ctr"/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  <a:tr h="432671">
                <a:tc>
                  <a:txBody>
                    <a:bodyPr/>
                    <a:lstStyle/>
                    <a:p>
                      <a:pPr algn="ctr"/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</a:tr>
              <a:tr h="432671">
                <a:tc>
                  <a:txBody>
                    <a:bodyPr/>
                    <a:lstStyle/>
                    <a:p>
                      <a:pPr algn="ctr"/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</a:tr>
              <a:tr h="432671">
                <a:tc>
                  <a:txBody>
                    <a:bodyPr/>
                    <a:lstStyle/>
                    <a:p>
                      <a:pPr algn="ctr"/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</a:tr>
              <a:tr h="432671">
                <a:tc>
                  <a:txBody>
                    <a:bodyPr/>
                    <a:lstStyle/>
                    <a:p>
                      <a:pPr algn="ctr"/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</a:tr>
              <a:tr h="432671">
                <a:tc>
                  <a:txBody>
                    <a:bodyPr/>
                    <a:lstStyle/>
                    <a:p>
                      <a:pPr algn="ctr"/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</a:tr>
              <a:tr h="432671">
                <a:tc>
                  <a:txBody>
                    <a:bodyPr/>
                    <a:lstStyle/>
                    <a:p>
                      <a:pPr algn="ctr"/>
                      <a:endParaRPr lang="zh-CN" altLang="en-US" sz="2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3" name="矩形 2"/>
          <p:cNvSpPr/>
          <p:nvPr/>
        </p:nvSpPr>
        <p:spPr>
          <a:xfrm>
            <a:off x="5225891" y="5388148"/>
            <a:ext cx="1828800" cy="50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1000</a:t>
            </a:r>
            <a:endParaRPr lang="zh-CN" altLang="en-US" sz="2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" name="直接箭头连接符 6"/>
          <p:cNvCxnSpPr>
            <a:stCxn id="3" idx="3"/>
          </p:cNvCxnSpPr>
          <p:nvPr/>
        </p:nvCxnSpPr>
        <p:spPr>
          <a:xfrm>
            <a:off x="7054691" y="5642148"/>
            <a:ext cx="1670209" cy="863600"/>
          </a:xfrm>
          <a:prstGeom prst="straightConnector1">
            <a:avLst/>
          </a:prstGeom>
          <a:ln w="38100"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/>
        </p:nvSpPr>
        <p:spPr>
          <a:xfrm>
            <a:off x="4635114" y="5403705"/>
            <a:ext cx="629911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SP</a:t>
            </a:r>
            <a:endParaRPr lang="zh-CN" altLang="en-US" dirty="0"/>
          </a:p>
        </p:txBody>
      </p:sp>
      <p:cxnSp>
        <p:nvCxnSpPr>
          <p:cNvPr id="13" name="直接箭头连接符 12"/>
          <p:cNvCxnSpPr>
            <a:stCxn id="3" idx="3"/>
          </p:cNvCxnSpPr>
          <p:nvPr/>
        </p:nvCxnSpPr>
        <p:spPr>
          <a:xfrm>
            <a:off x="7054691" y="5642148"/>
            <a:ext cx="1670209" cy="359088"/>
          </a:xfrm>
          <a:prstGeom prst="straightConnector1">
            <a:avLst/>
          </a:prstGeom>
          <a:ln w="38100"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箭头连接符 15"/>
          <p:cNvCxnSpPr>
            <a:stCxn id="3" idx="3"/>
          </p:cNvCxnSpPr>
          <p:nvPr/>
        </p:nvCxnSpPr>
        <p:spPr>
          <a:xfrm flipV="1">
            <a:off x="7054691" y="5517862"/>
            <a:ext cx="1670209" cy="124286"/>
          </a:xfrm>
          <a:prstGeom prst="straightConnector1">
            <a:avLst/>
          </a:prstGeom>
          <a:ln w="38100"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/>
          <p:cNvCxnSpPr>
            <a:stCxn id="3" idx="3"/>
          </p:cNvCxnSpPr>
          <p:nvPr/>
        </p:nvCxnSpPr>
        <p:spPr>
          <a:xfrm flipV="1">
            <a:off x="7054691" y="5029060"/>
            <a:ext cx="1670209" cy="613088"/>
          </a:xfrm>
          <a:prstGeom prst="straightConnector1">
            <a:avLst/>
          </a:prstGeom>
          <a:ln w="38100"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 31"/>
          <p:cNvSpPr/>
          <p:nvPr/>
        </p:nvSpPr>
        <p:spPr>
          <a:xfrm>
            <a:off x="5225891" y="5392751"/>
            <a:ext cx="1828800" cy="50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0111</a:t>
            </a:r>
            <a:endParaRPr lang="zh-CN" altLang="en-US" sz="2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5225891" y="5389579"/>
            <a:ext cx="1828800" cy="50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0110</a:t>
            </a:r>
            <a:endParaRPr lang="zh-CN" altLang="en-US" sz="2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5225891" y="5391693"/>
            <a:ext cx="1828800" cy="50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0101</a:t>
            </a:r>
            <a:endParaRPr lang="zh-CN" altLang="en-US" sz="2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4" grpId="0"/>
      <p:bldP spid="3" grpId="0" animBg="1"/>
      <p:bldP spid="12" grpId="0"/>
      <p:bldP spid="32" grpId="0" animBg="1"/>
      <p:bldP spid="33" grpId="0" animBg="1"/>
      <p:bldP spid="3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3677911" y="89248"/>
            <a:ext cx="54951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CISC</a:t>
            </a:r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RISC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439845" y="674023"/>
            <a:ext cx="11312305" cy="1822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CISC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Complex Instruction Set Computer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>
              <a:lnSpc>
                <a:spcPct val="150000"/>
              </a:lnSpc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设计</a:t>
            </a: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思路：一条指令完成一个复杂的基本功能</a:t>
            </a:r>
            <a:endParaRPr lang="en-US" altLang="zh-CN" sz="2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代表：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x86</a:t>
            </a: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架构，主要用于个人电脑</a:t>
            </a:r>
            <a:endParaRPr lang="en-US" altLang="zh-CN" sz="2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39845" y="2981704"/>
            <a:ext cx="11312305" cy="621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80-20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规律：典型程序中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80%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的语句仅仅使用处理机中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20%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的指令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439845" y="4089056"/>
            <a:ext cx="11312305" cy="2422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RISC</a:t>
            </a: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</a:t>
            </a:r>
            <a:r>
              <a:rPr kumimoji="0" lang="en-US" altLang="zh-CN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Reduced Instruction Set Computer</a:t>
            </a:r>
            <a:endParaRPr kumimoji="0" lang="en-US" altLang="zh-CN" sz="2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>
              <a:lnSpc>
                <a:spcPct val="150000"/>
              </a:lnSpc>
            </a:pPr>
            <a:r>
              <a:rPr kumimoji="0" lang="zh-CN" altLang="en-US" sz="2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设计</a:t>
            </a: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思路：一条指令完成一个基本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“</a:t>
            </a: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动作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”</a:t>
            </a: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；多条指令组合完成一个复杂的基本功能</a:t>
            </a:r>
            <a:endParaRPr lang="en-US" altLang="zh-CN" sz="2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代表：</a:t>
            </a:r>
            <a:r>
              <a:rPr lang="en-US" altLang="zh-CN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ARM</a:t>
            </a:r>
            <a:r>
              <a:rPr lang="zh-CN" altLang="en-US" sz="2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架构，主要用于手机、平板等</a:t>
            </a:r>
            <a:endParaRPr lang="en-US" altLang="zh-CN" sz="2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箭头: 下 4"/>
          <p:cNvSpPr/>
          <p:nvPr/>
        </p:nvSpPr>
        <p:spPr>
          <a:xfrm>
            <a:off x="6214930" y="3634469"/>
            <a:ext cx="402438" cy="45458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对话气泡: 圆角矩形 7"/>
          <p:cNvSpPr/>
          <p:nvPr/>
        </p:nvSpPr>
        <p:spPr>
          <a:xfrm>
            <a:off x="7844591" y="724141"/>
            <a:ext cx="3729788" cy="1069313"/>
          </a:xfrm>
          <a:prstGeom prst="wedgeRoundRectCallout">
            <a:avLst>
              <a:gd name="adj1" fmla="val -65504"/>
              <a:gd name="adj2" fmla="val -20617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采用</a:t>
            </a:r>
            <a:r>
              <a:rPr lang="en-US" altLang="zh-CN" sz="2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“</a:t>
            </a:r>
            <a:r>
              <a:rPr lang="zh-CN" altLang="en-US" sz="2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存储程序</a:t>
            </a:r>
            <a:r>
              <a:rPr lang="en-US" altLang="zh-CN" sz="2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”</a:t>
            </a:r>
            <a:r>
              <a:rPr lang="zh-CN" altLang="en-US" sz="2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设计思想，微程序控制器</a:t>
            </a:r>
            <a:endParaRPr lang="zh-CN" altLang="en-US" sz="2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对话气泡: 圆角矩形 22"/>
          <p:cNvSpPr/>
          <p:nvPr/>
        </p:nvSpPr>
        <p:spPr>
          <a:xfrm>
            <a:off x="7844591" y="3874168"/>
            <a:ext cx="3729788" cy="733927"/>
          </a:xfrm>
          <a:prstGeom prst="wedgeRoundRectCallout">
            <a:avLst>
              <a:gd name="adj1" fmla="val -67762"/>
              <a:gd name="adj2" fmla="val 2776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“</a:t>
            </a:r>
            <a:r>
              <a:rPr lang="zh-CN" altLang="en-US" sz="2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并行</a:t>
            </a:r>
            <a:r>
              <a:rPr lang="en-US" altLang="zh-CN" sz="2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”</a:t>
            </a:r>
            <a:r>
              <a:rPr lang="zh-CN" altLang="en-US" sz="2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2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“</a:t>
            </a:r>
            <a:r>
              <a:rPr lang="zh-CN" altLang="en-US" sz="2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流水线</a:t>
            </a:r>
            <a:r>
              <a:rPr lang="en-US" altLang="zh-CN" sz="2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”</a:t>
            </a:r>
            <a:endParaRPr lang="zh-CN" altLang="en-US" sz="2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5" grpId="0" animBg="1"/>
      <p:bldP spid="8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3677911" y="89248"/>
            <a:ext cx="54951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CISC</a:t>
            </a:r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RISC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" name="表格 2"/>
          <p:cNvGraphicFramePr>
            <a:graphicFrameLocks noGrp="1"/>
          </p:cNvGraphicFramePr>
          <p:nvPr/>
        </p:nvGraphicFramePr>
        <p:xfrm>
          <a:off x="176463" y="839123"/>
          <a:ext cx="11839074" cy="10613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5705"/>
                <a:gridCol w="4716379"/>
                <a:gridCol w="4186990"/>
              </a:tblGrid>
              <a:tr h="530686">
                <a:tc>
                  <a:txBody>
                    <a:bodyPr/>
                    <a:lstStyle/>
                    <a:p>
                      <a:pPr algn="ctr"/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CISC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RISC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  <a:tr h="530686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指令系统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复杂、庞大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简单，精简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10" name="表格 2"/>
          <p:cNvGraphicFramePr>
            <a:graphicFrameLocks noGrp="1"/>
          </p:cNvGraphicFramePr>
          <p:nvPr/>
        </p:nvGraphicFramePr>
        <p:xfrm>
          <a:off x="176463" y="5433157"/>
          <a:ext cx="11839074" cy="53068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935705"/>
                <a:gridCol w="4716379"/>
                <a:gridCol w="4186990"/>
              </a:tblGrid>
              <a:tr h="530686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控制方式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绝大多数为微程序控制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绝大多数为组合逻辑控制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11" name="表格 2"/>
          <p:cNvGraphicFramePr>
            <a:graphicFrameLocks noGrp="1"/>
          </p:cNvGraphicFramePr>
          <p:nvPr/>
        </p:nvGraphicFramePr>
        <p:xfrm>
          <a:off x="176463" y="4937600"/>
          <a:ext cx="11839074" cy="53068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935705"/>
                <a:gridCol w="4716379"/>
                <a:gridCol w="4186990"/>
              </a:tblGrid>
              <a:tr h="530686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目标代码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难以优化编译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易于优化编译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12" name="表格 2"/>
          <p:cNvGraphicFramePr>
            <a:graphicFrameLocks noGrp="1"/>
          </p:cNvGraphicFramePr>
          <p:nvPr/>
        </p:nvGraphicFramePr>
        <p:xfrm>
          <a:off x="176463" y="4406914"/>
          <a:ext cx="11839074" cy="53068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935705"/>
                <a:gridCol w="4716379"/>
                <a:gridCol w="4186990"/>
              </a:tblGrid>
              <a:tr h="530686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通用寄存器数量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较少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多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13" name="表格 2"/>
          <p:cNvGraphicFramePr>
            <a:graphicFrameLocks noGrp="1"/>
          </p:cNvGraphicFramePr>
          <p:nvPr/>
        </p:nvGraphicFramePr>
        <p:xfrm>
          <a:off x="176463" y="3911357"/>
          <a:ext cx="11839074" cy="53068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935705"/>
                <a:gridCol w="4716379"/>
                <a:gridCol w="4186990"/>
              </a:tblGrid>
              <a:tr h="530686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各种指令使用频度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相差很大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都比较常用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14" name="表格 2"/>
          <p:cNvGraphicFramePr>
            <a:graphicFrameLocks noGrp="1"/>
          </p:cNvGraphicFramePr>
          <p:nvPr/>
        </p:nvGraphicFramePr>
        <p:xfrm>
          <a:off x="176463" y="3395400"/>
          <a:ext cx="11839074" cy="53068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935705"/>
                <a:gridCol w="4716379"/>
                <a:gridCol w="4186990"/>
              </a:tblGrid>
              <a:tr h="530686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各种指令执行时间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相差较大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绝大多数在一个周期内完成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15" name="表格 2"/>
          <p:cNvGraphicFramePr>
            <a:graphicFrameLocks noGrp="1"/>
          </p:cNvGraphicFramePr>
          <p:nvPr/>
        </p:nvGraphicFramePr>
        <p:xfrm>
          <a:off x="176463" y="2858884"/>
          <a:ext cx="11839074" cy="53068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935705"/>
                <a:gridCol w="4716379"/>
                <a:gridCol w="4186990"/>
              </a:tblGrid>
              <a:tr h="530686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可访存指令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不加限制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只有</a:t>
                      </a:r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Load/Store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16" name="表格 2"/>
          <p:cNvGraphicFramePr>
            <a:graphicFrameLocks noGrp="1"/>
          </p:cNvGraphicFramePr>
          <p:nvPr/>
        </p:nvGraphicFramePr>
        <p:xfrm>
          <a:off x="176463" y="2365576"/>
          <a:ext cx="11839074" cy="53068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935705"/>
                <a:gridCol w="4716379"/>
                <a:gridCol w="4186990"/>
              </a:tblGrid>
              <a:tr h="530686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指令字长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不固定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定长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17" name="表格 2"/>
          <p:cNvGraphicFramePr>
            <a:graphicFrameLocks noGrp="1"/>
          </p:cNvGraphicFramePr>
          <p:nvPr/>
        </p:nvGraphicFramePr>
        <p:xfrm>
          <a:off x="176463" y="1886264"/>
          <a:ext cx="11839074" cy="53068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935705"/>
                <a:gridCol w="4716379"/>
                <a:gridCol w="4186990"/>
              </a:tblGrid>
              <a:tr h="530686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指令数目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一般大于</a:t>
                      </a:r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200</a:t>
                      </a:r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条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一般小于</a:t>
                      </a:r>
                      <a:r>
                        <a:rPr lang="en-US" altLang="zh-CN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</a:t>
                      </a:r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条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22" name="表格 2"/>
          <p:cNvGraphicFramePr>
            <a:graphicFrameLocks noGrp="1"/>
          </p:cNvGraphicFramePr>
          <p:nvPr/>
        </p:nvGraphicFramePr>
        <p:xfrm>
          <a:off x="176463" y="5963843"/>
          <a:ext cx="11839074" cy="53068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935705"/>
                <a:gridCol w="4716379"/>
                <a:gridCol w="4186990"/>
              </a:tblGrid>
              <a:tr h="530686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指令流水线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可以通过一定方式实现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必须实现</a:t>
                      </a:r>
                      <a:endParaRPr lang="zh-CN" altLang="en-US" sz="2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54058"/>
            <a:ext cx="12192000" cy="6149883"/>
          </a:xfrm>
          <a:prstGeom prst="rect">
            <a:avLst/>
          </a:prstGeom>
        </p:spPr>
      </p:pic>
      <p:sp>
        <p:nvSpPr>
          <p:cNvPr id="18" name="文本框 17"/>
          <p:cNvSpPr txBox="1"/>
          <p:nvPr/>
        </p:nvSpPr>
        <p:spPr>
          <a:xfrm>
            <a:off x="292100" y="227058"/>
            <a:ext cx="18959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本章总结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PP_MARK_KEY" val="ba84fa14-b8ee-4551-b5a2-014944eb8cc6"/>
  <p:tag name="COMMONDATA" val="eyJoZGlkIjoiYzc0ZjNiMzEzYzM2NjkyZDU3NWZmZDM5MzZhNDkzMjMifQ=="/>
</p:tagLst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7383</Words>
  <Application>WPS 演示</Application>
  <PresentationFormat>宽屏</PresentationFormat>
  <Paragraphs>1350</Paragraphs>
  <Slides>43</Slides>
  <Notes>42</Notes>
  <HiddenSlides>1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43</vt:i4>
      </vt:variant>
    </vt:vector>
  </HeadingPairs>
  <TitlesOfParts>
    <vt:vector size="53" baseType="lpstr">
      <vt:lpstr>Arial</vt:lpstr>
      <vt:lpstr>宋体</vt:lpstr>
      <vt:lpstr>Wingdings</vt:lpstr>
      <vt:lpstr>微软雅黑</vt:lpstr>
      <vt:lpstr>Arial Unicode MS</vt:lpstr>
      <vt:lpstr>等线 Light</vt:lpstr>
      <vt:lpstr>Calibri Light</vt:lpstr>
      <vt:lpstr>等线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jihui han</dc:creator>
  <cp:lastModifiedBy>张宇</cp:lastModifiedBy>
  <cp:revision>605</cp:revision>
  <dcterms:created xsi:type="dcterms:W3CDTF">2021-08-27T06:37:00Z</dcterms:created>
  <dcterms:modified xsi:type="dcterms:W3CDTF">2023-11-24T02:10:50Z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CE14C8156C434FE7B0E605A1340DF214</vt:lpwstr>
  </property>
  <property fmtid="{D5CDD505-2E9C-101B-9397-08002B2CF9AE}" pid="3" name="KSOProductBuildVer">
    <vt:lpwstr>2052-11.1.0.12608</vt:lpwstr>
  </property>
</Properties>
</file>