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1167" r:id="rId2"/>
    <p:sldId id="1168" r:id="rId3"/>
    <p:sldId id="1169" r:id="rId4"/>
    <p:sldId id="1170" r:id="rId5"/>
    <p:sldId id="1171" r:id="rId6"/>
    <p:sldId id="1185" r:id="rId7"/>
    <p:sldId id="1172" r:id="rId8"/>
    <p:sldId id="1184" r:id="rId9"/>
    <p:sldId id="1173" r:id="rId10"/>
    <p:sldId id="1174" r:id="rId11"/>
    <p:sldId id="1175" r:id="rId12"/>
    <p:sldId id="1186" r:id="rId13"/>
    <p:sldId id="1176" r:id="rId14"/>
    <p:sldId id="1177" r:id="rId15"/>
    <p:sldId id="1178" r:id="rId16"/>
    <p:sldId id="1179" r:id="rId17"/>
    <p:sldId id="118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C5A1D6-CCD6-4404-81D1-CD1DDB16F9A4}" type="datetimeFigureOut">
              <a:rPr lang="zh-CN" altLang="en-US" smtClean="0"/>
              <a:t>2021-09-29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E0B98-9215-4F20-8104-7DB470A722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087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ABB649-6269-4EF7-8145-34953C6059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0500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here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ABB649-6269-4EF7-8145-34953C6059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4365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here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ABB649-6269-4EF7-8145-34953C60591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30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/>
          <p:cNvSpPr>
            <a:spLocks noChangeArrowheads="1"/>
          </p:cNvSpPr>
          <p:nvPr/>
        </p:nvSpPr>
        <p:spPr bwMode="auto">
          <a:xfrm flipV="1">
            <a:off x="1320800" y="3138490"/>
            <a:ext cx="10363200" cy="65235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1980" name="Rectangle 12"/>
          <p:cNvSpPr>
            <a:spLocks noGrp="1" noChangeArrowheads="1"/>
          </p:cNvSpPr>
          <p:nvPr userDrawn="1">
            <p:ph type="ctrTitle"/>
          </p:nvPr>
        </p:nvSpPr>
        <p:spPr>
          <a:xfrm>
            <a:off x="1320800" y="1676400"/>
            <a:ext cx="103632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11981" name="Rectangle 13"/>
          <p:cNvSpPr>
            <a:spLocks noGrp="1" noChangeArrowheads="1"/>
          </p:cNvSpPr>
          <p:nvPr userDrawn="1"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 userDrawn="1"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 userDrawn="1"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 userDrawn="1"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308B671-8216-4EF9-8434-627A322CDE0C}" type="slidenum">
              <a:rPr lang="zh-CN" altLang="en-US" smtClean="0">
                <a:solidFill>
                  <a:srgbClr val="1C1C1C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1C1C1C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9381108"/>
      </p:ext>
    </p:extLst>
  </p:cSld>
  <p:clrMapOvr>
    <a:masterClrMapping/>
  </p:clrMapOvr>
  <p:transition spd="slow"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8812" y="1052736"/>
            <a:ext cx="10363200" cy="4896544"/>
          </a:xfrm>
        </p:spPr>
        <p:txBody>
          <a:bodyPr/>
          <a:lstStyle>
            <a:lvl1pPr marL="342900" indent="-342900">
              <a:spcAft>
                <a:spcPts val="600"/>
              </a:spcAft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spcAft>
                <a:spcPts val="600"/>
              </a:spcAft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12192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7769400"/>
      </p:ext>
    </p:extLst>
  </p:cSld>
  <p:clrMapOvr>
    <a:masterClrMapping/>
  </p:clrMapOvr>
  <p:transition spd="slow"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8812" y="457200"/>
            <a:ext cx="11390721" cy="5492080"/>
          </a:xfrm>
        </p:spPr>
        <p:txBody>
          <a:bodyPr/>
          <a:lstStyle>
            <a:lvl1pPr marL="342900" indent="-342900">
              <a:spcAft>
                <a:spcPts val="600"/>
              </a:spcAft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spcAft>
                <a:spcPts val="600"/>
              </a:spcAft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spcAft>
                <a:spcPts val="600"/>
              </a:spcAft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A5A8AE2-8E0B-4055-AC24-FD4D1192EF7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6272663"/>
      </p:ext>
    </p:extLst>
  </p:cSld>
  <p:clrMapOvr>
    <a:masterClrMapping/>
  </p:clrMapOvr>
  <p:transition spd="slow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8769C75-8878-4114-8CBA-F72D9DCAF88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511298" y="141042"/>
            <a:ext cx="10390716" cy="6236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12192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010562"/>
      </p:ext>
    </p:extLst>
  </p:cSld>
  <p:clrMapOvr>
    <a:masterClrMapping/>
  </p:clrMapOvr>
  <p:transition spd="slow"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7076092"/>
      </p:ext>
    </p:extLst>
  </p:cSld>
  <p:clrMapOvr>
    <a:masterClrMapping/>
  </p:clrMapOvr>
  <p:transition spd="slow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11296" y="1052736"/>
            <a:ext cx="5280000" cy="4824536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84033" y="1055758"/>
            <a:ext cx="5280587" cy="4821514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 sz="2600" b="0">
                <a:latin typeface="+mj-ea"/>
                <a:ea typeface="+mj-ea"/>
              </a:defRPr>
            </a:lvl1pPr>
            <a:lvl2pPr marL="742950" indent="-285750">
              <a:buFont typeface="Wingdings" panose="05000000000000000000" pitchFamily="2" charset="2"/>
              <a:buChar char="l"/>
              <a:defRPr sz="2200" b="0">
                <a:latin typeface="+mj-ea"/>
                <a:ea typeface="+mj-ea"/>
              </a:defRPr>
            </a:lvl2pPr>
            <a:lvl3pPr marL="1143000" indent="-228600">
              <a:buFont typeface="Wingdings" panose="05000000000000000000" pitchFamily="2" charset="2"/>
              <a:buChar char="l"/>
              <a:defRPr sz="1800" b="0">
                <a:solidFill>
                  <a:schemeClr val="tx1"/>
                </a:solidFill>
                <a:latin typeface="+mj-ea"/>
                <a:ea typeface="+mj-ea"/>
              </a:defRPr>
            </a:lvl3pPr>
            <a:lvl4pPr marL="16002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4pPr>
            <a:lvl5pPr marL="2057400" indent="-228600">
              <a:buFont typeface="Wingdings" panose="05000000000000000000" pitchFamily="2" charset="2"/>
              <a:buChar char="l"/>
              <a:defRPr sz="1800" b="0"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72C5FA0-9562-4180-BE77-AA42E81C45F5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511298" y="141042"/>
            <a:ext cx="10390716" cy="6236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Rectangle 8"/>
          <p:cNvSpPr>
            <a:spLocks noChangeArrowheads="1"/>
          </p:cNvSpPr>
          <p:nvPr userDrawn="1"/>
        </p:nvSpPr>
        <p:spPr bwMode="gray">
          <a:xfrm flipV="1">
            <a:off x="0" y="758378"/>
            <a:ext cx="12192000" cy="606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0909883"/>
      </p:ext>
    </p:extLst>
  </p:cSld>
  <p:clrMapOvr>
    <a:masterClrMapping/>
  </p:clrMapOvr>
  <p:transition spd="slow"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4417" y="260351"/>
            <a:ext cx="109728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ABE0765F-06A5-43C1-862E-10815676DC43}" type="datetime10">
              <a:rPr lang="zh-CN" altLang="en-US"/>
              <a:pPr/>
              <a:t>17:03</a:t>
            </a:fld>
            <a:endParaRPr lang="en-US" altLang="zh-CN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336F8B4B-BCA2-4B44-B766-8837114863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53998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511298" y="141042"/>
            <a:ext cx="10390716" cy="62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2493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1296" y="1052736"/>
            <a:ext cx="10363200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095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49400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76800" y="62436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89533" y="624363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Tahoma" panose="020B060403050404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F612A3A-8E49-4F2E-A26F-49B27473F1BB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071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ransition spd="slow">
    <p:zoom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Tahoma" pitchFamily="34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folHlink"/>
        </a:buClr>
        <a:buSzPct val="60000"/>
        <a:buFont typeface="Wingdings" panose="05000000000000000000" pitchFamily="2" charset="2"/>
        <a:buChar char="l"/>
        <a:defRPr sz="2800" b="0">
          <a:solidFill>
            <a:schemeClr val="tx2"/>
          </a:solidFill>
          <a:latin typeface="+mj-ea"/>
          <a:ea typeface="+mj-ea"/>
          <a:cs typeface="+mn-cs"/>
        </a:defRPr>
      </a:lvl1pPr>
      <a:lvl2pPr marL="742950" indent="-28575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hlink"/>
        </a:buClr>
        <a:buSzPct val="55000"/>
        <a:buFont typeface="Wingdings" panose="05000000000000000000" pitchFamily="2" charset="2"/>
        <a:buChar char="l"/>
        <a:defRPr sz="2400" b="0">
          <a:solidFill>
            <a:schemeClr val="tx1"/>
          </a:solidFill>
          <a:latin typeface="+mj-ea"/>
          <a:ea typeface="+mj-ea"/>
        </a:defRPr>
      </a:lvl2pPr>
      <a:lvl3pPr marL="1143000" indent="-228600" algn="l" rtl="0" eaLnBrk="0" fontAlgn="base" hangingPunct="0">
        <a:lnSpc>
          <a:spcPct val="110000"/>
        </a:lnSpc>
        <a:spcBef>
          <a:spcPct val="20000"/>
        </a:spcBef>
        <a:spcAft>
          <a:spcPct val="5000"/>
        </a:spcAft>
        <a:buClr>
          <a:schemeClr val="folHlink"/>
        </a:buClr>
        <a:buSzPct val="5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+mj-ea"/>
          <a:ea typeface="+mj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4.7.2 </a:t>
            </a:r>
            <a:r>
              <a:rPr lang="zh-CN" altLang="en-US" dirty="0"/>
              <a:t>汇编程序的调试</a:t>
            </a: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550EA-0DB0-407D-B97A-4E573C59D8F3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1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93892" name="Text Box 4"/>
          <p:cNvSpPr txBox="1">
            <a:spLocks noChangeArrowheads="1"/>
          </p:cNvSpPr>
          <p:nvPr/>
        </p:nvSpPr>
        <p:spPr bwMode="auto">
          <a:xfrm>
            <a:off x="1907473" y="991104"/>
            <a:ext cx="80645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  <a:r>
              <a:rPr kumimoji="1" lang="zh-CN" altLang="en-US" sz="2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命令的说明</a:t>
            </a:r>
          </a:p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）所有命令都是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个字母。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）命令和参数用空格或“，”分隔，但仅仅在两个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进制数之间才是必要的。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-DCS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100 111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-DCS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 CS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111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100 111</a:t>
            </a:r>
          </a:p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默认数据是</a:t>
            </a:r>
            <a:r>
              <a:rPr kumimoji="1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1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进制，不需要写</a:t>
            </a:r>
            <a:r>
              <a:rPr kumimoji="1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）每个命令由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结束，并返回到“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—”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提示符下。</a:t>
            </a:r>
          </a:p>
        </p:txBody>
      </p:sp>
      <p:sp>
        <p:nvSpPr>
          <p:cNvPr id="293893" name="Line 5"/>
          <p:cNvSpPr>
            <a:spLocks noChangeShapeType="1"/>
          </p:cNvSpPr>
          <p:nvPr/>
        </p:nvSpPr>
        <p:spPr bwMode="auto">
          <a:xfrm flipH="1">
            <a:off x="5001831" y="3055716"/>
            <a:ext cx="214493" cy="1514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>
              <a:solidFill>
                <a:srgbClr val="000000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293895" name="Line 7"/>
          <p:cNvSpPr>
            <a:spLocks noChangeShapeType="1"/>
          </p:cNvSpPr>
          <p:nvPr/>
        </p:nvSpPr>
        <p:spPr bwMode="auto">
          <a:xfrm flipH="1">
            <a:off x="4634978" y="3539181"/>
            <a:ext cx="288925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>
              <a:solidFill>
                <a:srgbClr val="000000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293896" name="Line 8"/>
          <p:cNvSpPr>
            <a:spLocks noChangeShapeType="1"/>
          </p:cNvSpPr>
          <p:nvPr/>
        </p:nvSpPr>
        <p:spPr bwMode="auto">
          <a:xfrm flipH="1">
            <a:off x="4779440" y="4115444"/>
            <a:ext cx="21590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>
              <a:solidFill>
                <a:srgbClr val="000000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293897" name="Line 9"/>
          <p:cNvSpPr>
            <a:spLocks noChangeShapeType="1"/>
          </p:cNvSpPr>
          <p:nvPr/>
        </p:nvSpPr>
        <p:spPr bwMode="auto">
          <a:xfrm flipH="1">
            <a:off x="4634977" y="4691706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>
              <a:solidFill>
                <a:srgbClr val="000000"/>
              </a:solidFill>
              <a:latin typeface="Arial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6634885"/>
      </p:ext>
    </p:extLst>
  </p:cSld>
  <p:clrMapOvr>
    <a:masterClrMapping/>
  </p:clrMapOvr>
  <p:transition spd="slow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96C0-8DFC-46FD-9545-19CAF11540AF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2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94919" name="Text Box 7"/>
          <p:cNvSpPr txBox="1">
            <a:spLocks noChangeArrowheads="1"/>
          </p:cNvSpPr>
          <p:nvPr/>
        </p:nvSpPr>
        <p:spPr bwMode="auto">
          <a:xfrm>
            <a:off x="2351088" y="692151"/>
            <a:ext cx="65532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）可以检查输入指令的语法错误。</a:t>
            </a:r>
          </a:p>
          <a:p>
            <a:endParaRPr kumimoji="1"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-DCS</a:t>
            </a: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100.111</a:t>
            </a:r>
          </a:p>
          <a:p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 </a:t>
            </a:r>
          </a:p>
          <a:p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该输入不应该有“</a:t>
            </a:r>
            <a:r>
              <a:rPr kumimoji="1"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.”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2 -A 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154E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0008 MOV AX 2000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ERROR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后面应该有“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,”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）命令提示符为“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—”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94920" name="Line 8"/>
          <p:cNvSpPr>
            <a:spLocks noChangeShapeType="1"/>
          </p:cNvSpPr>
          <p:nvPr/>
        </p:nvSpPr>
        <p:spPr bwMode="auto">
          <a:xfrm flipH="1">
            <a:off x="5432707" y="1461164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>
              <a:solidFill>
                <a:srgbClr val="000000"/>
              </a:solidFill>
              <a:latin typeface="Arial"/>
              <a:ea typeface="黑体" panose="02010609060101010101" pitchFamily="49" charset="-122"/>
            </a:endParaRPr>
          </a:p>
        </p:txBody>
      </p:sp>
      <p:sp>
        <p:nvSpPr>
          <p:cNvPr id="294921" name="Line 9"/>
          <p:cNvSpPr>
            <a:spLocks noChangeShapeType="1"/>
          </p:cNvSpPr>
          <p:nvPr/>
        </p:nvSpPr>
        <p:spPr bwMode="auto">
          <a:xfrm flipH="1">
            <a:off x="6433655" y="3194614"/>
            <a:ext cx="379975" cy="29822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endParaRPr lang="zh-CN" altLang="en-US">
              <a:solidFill>
                <a:srgbClr val="000000"/>
              </a:solidFill>
              <a:latin typeface="Arial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73634022"/>
      </p:ext>
    </p:extLst>
  </p:cSld>
  <p:clrMapOvr>
    <a:masterClrMapping/>
  </p:clrMapOvr>
  <p:transition spd="slow"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7AE2D-5D00-44F1-86EE-3F2AB0D2E3B9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3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95938" name="Rectangle 2"/>
          <p:cNvSpPr>
            <a:spLocks noChangeArrowheads="1"/>
          </p:cNvSpPr>
          <p:nvPr/>
        </p:nvSpPr>
        <p:spPr bwMode="auto">
          <a:xfrm>
            <a:off x="2208213" y="1412875"/>
            <a:ext cx="78486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en-US" altLang="zh-CN" sz="22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2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2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2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内存地址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功能：从内存指定地址开始输入汇编指令，并汇编成机器码，相继存放在由指定地址开始的内存单元中。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）不允许出现伪指令、宏指令、标号、变量。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）输入的数据以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进制表示。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）远返回的助记符为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RETF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）内存地址在“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[]”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中，否则默认为立即数。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）默认段为</a:t>
            </a: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95939" name="Rectangle 3"/>
          <p:cNvSpPr>
            <a:spLocks noChangeArrowheads="1"/>
          </p:cNvSpPr>
          <p:nvPr/>
        </p:nvSpPr>
        <p:spPr bwMode="auto">
          <a:xfrm>
            <a:off x="3276600" y="685801"/>
            <a:ext cx="6419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DEBUG</a:t>
            </a:r>
            <a:r>
              <a:rPr kumimoji="1"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命令及使用简介</a:t>
            </a:r>
          </a:p>
        </p:txBody>
      </p:sp>
    </p:spTree>
    <p:extLst>
      <p:ext uri="{BB962C8B-B14F-4D97-AF65-F5344CB8AC3E}">
        <p14:creationId xmlns:p14="http://schemas.microsoft.com/office/powerpoint/2010/main" val="1588610312"/>
      </p:ext>
    </p:extLst>
  </p:cSld>
  <p:clrMapOvr>
    <a:masterClrMapping/>
  </p:clrMapOvr>
  <p:transition spd="slow"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91FC-A109-4756-9055-3D190EEDD7BB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4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96978" name="Text Box 18"/>
          <p:cNvSpPr txBox="1">
            <a:spLocks noChangeArrowheads="1"/>
          </p:cNvSpPr>
          <p:nvPr/>
        </p:nvSpPr>
        <p:spPr bwMode="auto">
          <a:xfrm>
            <a:off x="2424114" y="404813"/>
            <a:ext cx="7343775" cy="59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U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反汇编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U[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U[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 结束地址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U[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功能：对内存的机器码指令进行反汇编。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）默认字节数为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个。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）起始地址中可以只包含有效地址，默认段为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）结束地址只包含有效地址。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-U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1547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 52    PUSH DS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1547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0001  2BC0  SUB AX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-U1547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  111            -U1547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  L12</a:t>
            </a:r>
          </a:p>
        </p:txBody>
      </p:sp>
      <p:sp>
        <p:nvSpPr>
          <p:cNvPr id="296979" name="Line 19"/>
          <p:cNvSpPr>
            <a:spLocks noChangeShapeType="1"/>
          </p:cNvSpPr>
          <p:nvPr/>
        </p:nvSpPr>
        <p:spPr bwMode="auto">
          <a:xfrm flipH="1">
            <a:off x="3544346" y="4539246"/>
            <a:ext cx="144463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>
              <a:solidFill>
                <a:srgbClr val="000000"/>
              </a:solidFill>
              <a:latin typeface="Arial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394882"/>
      </p:ext>
    </p:extLst>
  </p:cSld>
  <p:clrMapOvr>
    <a:masterClrMapping/>
  </p:clrMapOvr>
  <p:transition spd="slow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B3739-CA69-482D-ACEF-CE27DCEFF0AF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5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97990" name="Text Box 6"/>
          <p:cNvSpPr txBox="1">
            <a:spLocks noChangeArrowheads="1"/>
          </p:cNvSpPr>
          <p:nvPr/>
        </p:nvSpPr>
        <p:spPr bwMode="auto">
          <a:xfrm>
            <a:off x="1971154" y="244989"/>
            <a:ext cx="7993063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执行程序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G[=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G[=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 断点地址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，断点地址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….]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：从起始地址开始执行程序，执行到断点时停止，并显示所有寄存器及标志位的值，同时指出下一条要执行的指令地址及指令。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）地址缺省时，从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开始连续执行。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）如果起始地址中只包含有效地址，默认段为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）最多可设置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个断点，次序任意，按照地址从小到大顺序执行。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不能省略，区分起始地址和断点地址。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）起始地址必须指向真正的程序指令。</a:t>
            </a:r>
          </a:p>
        </p:txBody>
      </p:sp>
    </p:spTree>
    <p:extLst>
      <p:ext uri="{BB962C8B-B14F-4D97-AF65-F5344CB8AC3E}">
        <p14:creationId xmlns:p14="http://schemas.microsoft.com/office/powerpoint/2010/main" val="2953857921"/>
      </p:ext>
    </p:extLst>
  </p:cSld>
  <p:clrMapOvr>
    <a:masterClrMapping/>
  </p:clrMapOvr>
  <p:transition spd="slow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55762" y="1309936"/>
            <a:ext cx="739043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-G=0  08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AX=004B  BX=0000 CX=001B DX=0000 SP=000C BP=0000 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SI=0000 DI=0000 DS=2E5E ES=2E5E SS=2E6E CS=2E6F IP=0008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NV UP DI PL NZ NA PE NC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2E6F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0008 0442  ADD AL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176216863"/>
      </p:ext>
    </p:extLst>
  </p:cSld>
  <p:clrMapOvr>
    <a:masterClrMapping/>
  </p:clrMapOvr>
  <p:transition spd="slow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829F63-AA0E-4044-A7FF-073B672C93AB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7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99012" name="Text Box 4"/>
          <p:cNvSpPr txBox="1">
            <a:spLocks noChangeArrowheads="1"/>
          </p:cNvSpPr>
          <p:nvPr/>
        </p:nvSpPr>
        <p:spPr bwMode="auto">
          <a:xfrm>
            <a:off x="2100021" y="334994"/>
            <a:ext cx="778090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单步跟踪指令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T[=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T[=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 指令条数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功能：从起始地址开始，逐条跟踪指令的执行。执行完设定的指令条数后就停止程序的执行。屏幕显示各个寄存器的内容和标志位的状态。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）没有指定指令条数，每次只执行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条语句，即单步执行。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）如果没有指定地址，从当前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开始执行或接着上次的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命令的下一条指令执行。</a:t>
            </a:r>
          </a:p>
        </p:txBody>
      </p:sp>
    </p:spTree>
    <p:extLst>
      <p:ext uri="{BB962C8B-B14F-4D97-AF65-F5344CB8AC3E}">
        <p14:creationId xmlns:p14="http://schemas.microsoft.com/office/powerpoint/2010/main" val="3969735236"/>
      </p:ext>
    </p:extLst>
  </p:cSld>
  <p:clrMapOvr>
    <a:masterClrMapping/>
  </p:clrMapOvr>
  <p:transition spd="slow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510180" y="355948"/>
            <a:ext cx="7008471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Bef>
                <a:spcPct val="50000"/>
              </a:spcBef>
            </a:pPr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：单步执行</a:t>
            </a:r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条指令：</a:t>
            </a:r>
          </a:p>
          <a:p>
            <a:pPr>
              <a:lnSpc>
                <a:spcPts val="28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—T</a:t>
            </a:r>
          </a:p>
          <a:p>
            <a:pPr>
              <a:lnSpc>
                <a:spcPts val="28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AX=004B BX=0000 CX=0014 DX=0023 SP=1200 BP=1300 SI=0000 DI=0000 DS=2E5E ES=2E5E SS=2E6E CS=2E6F </a:t>
            </a:r>
          </a:p>
          <a:p>
            <a:pPr>
              <a:lnSpc>
                <a:spcPts val="28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IP=0008 NV UP DI PL NZ NA PE NC</a:t>
            </a:r>
          </a:p>
          <a:p>
            <a:pPr>
              <a:lnSpc>
                <a:spcPts val="28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2E6F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0008 0442 ADD AL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</a:p>
        </p:txBody>
      </p:sp>
      <p:sp>
        <p:nvSpPr>
          <p:cNvPr id="4" name="矩形 3"/>
          <p:cNvSpPr/>
          <p:nvPr/>
        </p:nvSpPr>
        <p:spPr>
          <a:xfrm>
            <a:off x="2510180" y="4196782"/>
            <a:ext cx="554194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：从</a:t>
            </a:r>
            <a:r>
              <a:rPr lang="en-US" altLang="zh-CN" sz="2000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CS</a:t>
            </a:r>
            <a:r>
              <a:rPr lang="zh-CN" altLang="en-US" sz="2000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：</a:t>
            </a:r>
            <a:r>
              <a:rPr lang="en-US" altLang="zh-CN" sz="2000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0004</a:t>
            </a:r>
            <a:r>
              <a:rPr lang="zh-CN" altLang="en-US" sz="2000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开始执行</a:t>
            </a:r>
            <a:r>
              <a:rPr lang="en-US" altLang="zh-CN" sz="2000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3</a:t>
            </a:r>
            <a:r>
              <a:rPr lang="zh-CN" altLang="en-US" sz="2000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条指令。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-T=4 3</a:t>
            </a:r>
          </a:p>
        </p:txBody>
      </p:sp>
    </p:spTree>
    <p:extLst>
      <p:ext uri="{BB962C8B-B14F-4D97-AF65-F5344CB8AC3E}">
        <p14:creationId xmlns:p14="http://schemas.microsoft.com/office/powerpoint/2010/main" val="4185232685"/>
      </p:ext>
    </p:extLst>
  </p:cSld>
  <p:clrMapOvr>
    <a:masterClrMapping/>
  </p:clrMapOvr>
  <p:transition spd="slow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6B90F-C39E-4D70-A485-ED1E0936FFF0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9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300038" name="Rectangle 6"/>
          <p:cNvSpPr>
            <a:spLocks noChangeArrowheads="1"/>
          </p:cNvSpPr>
          <p:nvPr/>
        </p:nvSpPr>
        <p:spPr bwMode="auto">
          <a:xfrm>
            <a:off x="2279651" y="836613"/>
            <a:ext cx="7561263" cy="43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kumimoji="1" lang="zh-CN" altLang="zh-CN" sz="2000" b="1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sp>
        <p:nvSpPr>
          <p:cNvPr id="300039" name="Text Box 7"/>
          <p:cNvSpPr txBox="1">
            <a:spLocks noChangeArrowheads="1"/>
          </p:cNvSpPr>
          <p:nvPr/>
        </p:nvSpPr>
        <p:spPr bwMode="auto">
          <a:xfrm>
            <a:off x="1974056" y="378262"/>
            <a:ext cx="8172450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显示内存单元的内容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D[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D[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 结束地址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D[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 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字节数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：显示指定内存单元的内容。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）默认段为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，显示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）如果没有指定地址，则从上次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命令显示的下一显示单元开始；否则从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）结束地址只能包含偏移地址。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-D0 000F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开始显示到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000FH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，共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-D0 L15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</a:t>
            </a:r>
          </a:p>
        </p:txBody>
      </p:sp>
    </p:spTree>
    <p:extLst>
      <p:ext uri="{BB962C8B-B14F-4D97-AF65-F5344CB8AC3E}">
        <p14:creationId xmlns:p14="http://schemas.microsoft.com/office/powerpoint/2010/main" val="3646416735"/>
      </p:ext>
    </p:extLst>
  </p:cSld>
  <p:clrMapOvr>
    <a:masterClrMapping/>
  </p:clrMapOvr>
  <p:transition spd="slow"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4AAA6-4F27-4A32-B2AD-3FB077A7DC05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10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301069" name="Text Box 13"/>
          <p:cNvSpPr txBox="1">
            <a:spLocks noChangeArrowheads="1"/>
          </p:cNvSpPr>
          <p:nvPr/>
        </p:nvSpPr>
        <p:spPr bwMode="auto">
          <a:xfrm>
            <a:off x="1907272" y="514833"/>
            <a:ext cx="7704137" cy="558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显示或修改寄存器的内容</a:t>
            </a:r>
          </a:p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R[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寄存器名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         </a:t>
            </a:r>
          </a:p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功能：显示或修改指定寄存器的内容，如不指定寄存器则显示所有寄存器的内容、标志位的状态以及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所对应指令的机器码和汇编指令。</a:t>
            </a:r>
          </a:p>
          <a:p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：检查</a:t>
            </a:r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</a:t>
            </a:r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的内容，按</a:t>
            </a:r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ENTER</a:t>
            </a:r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则不修改</a:t>
            </a: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-RAX</a:t>
            </a: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 0000</a:t>
            </a:r>
          </a:p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</a:p>
          <a:p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：检查</a:t>
            </a:r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</a:t>
            </a:r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的内容，并修改为</a:t>
            </a:r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100H</a:t>
            </a: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-RDX</a:t>
            </a: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DX 0000</a:t>
            </a:r>
          </a:p>
          <a:p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</a:p>
          <a:p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：显示修改标志寄存器内容</a:t>
            </a: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-RF</a:t>
            </a:r>
          </a:p>
          <a:p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：显示所有寄存器内容</a:t>
            </a: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-R</a:t>
            </a: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AX=004B BX=0000 CX=0014 DX=0023 SP=1200 BP=1300 SI=0000 DI=0000 DS=2E5E ES=2E5E SS=2E6E CS=2E6F </a:t>
            </a: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IP=0008 NV UP DI PL NZ NA PE NC</a:t>
            </a:r>
          </a:p>
          <a:p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2E6F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0008 0442 ADD AL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666977613"/>
      </p:ext>
    </p:extLst>
  </p:cSld>
  <p:clrMapOvr>
    <a:masterClrMapping/>
  </p:clrMapOvr>
  <p:transition spd="slow"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8A10C-3E54-456C-8854-6788A03E6981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11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302088" name="Text Box 8"/>
          <p:cNvSpPr txBox="1">
            <a:spLocks noChangeArrowheads="1"/>
          </p:cNvSpPr>
          <p:nvPr/>
        </p:nvSpPr>
        <p:spPr bwMode="auto">
          <a:xfrm>
            <a:off x="2132435" y="552529"/>
            <a:ext cx="7991475" cy="4654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修改存储单元的内容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       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功能：修改指定存储单元的内容，如果值表参数缺省，只能修改显示一个字节。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单元开始的内容改为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5B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-EES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100 34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AB”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5B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单元内容改为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36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-E100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1547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0100 33.36</a:t>
            </a:r>
          </a:p>
        </p:txBody>
      </p:sp>
    </p:spTree>
    <p:extLst>
      <p:ext uri="{BB962C8B-B14F-4D97-AF65-F5344CB8AC3E}">
        <p14:creationId xmlns:p14="http://schemas.microsoft.com/office/powerpoint/2010/main" val="731904979"/>
      </p:ext>
    </p:extLst>
  </p:cSld>
  <p:clrMapOvr>
    <a:masterClrMapping/>
  </p:clrMapOvr>
  <p:transition spd="slow"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66DCC75-E80A-41B7-988C-A11F796BC357}" type="slidenum">
              <a:rPr lang="zh-CN" altLang="en-US">
                <a:solidFill>
                  <a:srgbClr val="000000"/>
                </a:solidFill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20097" y="593885"/>
            <a:ext cx="7714526" cy="3731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 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终止地址 值表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字节数 值表        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功能：用值表内容修改指定存储单元的内容，如果值表数小于指定字节数，则重复使用值表；如果值表数大于指定字节数，则忽略多余的值表。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-F1542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100 106 1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ABCD’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-FDS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  L15 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9318154"/>
      </p:ext>
    </p:extLst>
  </p:cSld>
  <p:clrMapOvr>
    <a:masterClrMapping/>
  </p:clrMapOvr>
  <p:transition spd="slow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1594D-73C9-42FC-AAF4-53E792B4464D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13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303111" name="Text Box 7"/>
          <p:cNvSpPr txBox="1">
            <a:spLocks noChangeArrowheads="1"/>
          </p:cNvSpPr>
          <p:nvPr/>
        </p:nvSpPr>
        <p:spPr bwMode="auto">
          <a:xfrm>
            <a:off x="1919971" y="199572"/>
            <a:ext cx="7273925" cy="6501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命名命令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文件路径及名字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功能：在内存文件控制块中定义文件名。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读磁盘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L[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驱动器号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扇区号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扇区数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如果在使用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时没有输入文件名，必须用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命令定义文件名，再用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命令装入该文件。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 ADD.EXE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-NADD.EXE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-L</a:t>
            </a:r>
          </a:p>
        </p:txBody>
      </p:sp>
    </p:spTree>
    <p:extLst>
      <p:ext uri="{BB962C8B-B14F-4D97-AF65-F5344CB8AC3E}">
        <p14:creationId xmlns:p14="http://schemas.microsoft.com/office/powerpoint/2010/main" val="1254642462"/>
      </p:ext>
    </p:extLst>
  </p:cSld>
  <p:clrMapOvr>
    <a:masterClrMapping/>
  </p:clrMapOvr>
  <p:transition spd="slow"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3EB43-EA9E-4B47-B439-F1B8A2864437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14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304130" name="Text Box 2"/>
          <p:cNvSpPr txBox="1">
            <a:spLocks noChangeArrowheads="1"/>
          </p:cNvSpPr>
          <p:nvPr/>
        </p:nvSpPr>
        <p:spPr bwMode="auto">
          <a:xfrm>
            <a:off x="2286000" y="609600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endParaRPr kumimoji="1" lang="zh-CN" altLang="zh-CN" sz="240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04133" name="Text Box 5"/>
          <p:cNvSpPr txBox="1">
            <a:spLocks noChangeArrowheads="1"/>
          </p:cNvSpPr>
          <p:nvPr/>
        </p:nvSpPr>
        <p:spPr bwMode="auto">
          <a:xfrm>
            <a:off x="2098554" y="158188"/>
            <a:ext cx="7420096" cy="6709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外部端口地址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功能：从指定端口读数据并显示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-I 2F8</a:t>
            </a:r>
          </a:p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2F8H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外部端口读数据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外部端口地址 字节数据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功能：向指定端口输出一个字节数据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-O 2F8 2 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2F8H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外部端口输出字节数据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MOV DX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2F8H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MOV AL 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02H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OUT DX</a:t>
            </a:r>
            <a:r>
              <a:rPr lang="zh-CN" altLang="en-US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4137" name="Text Box 9"/>
          <p:cNvSpPr txBox="1">
            <a:spLocks noChangeArrowheads="1"/>
          </p:cNvSpPr>
          <p:nvPr/>
        </p:nvSpPr>
        <p:spPr bwMode="auto">
          <a:xfrm>
            <a:off x="5966690" y="1694205"/>
            <a:ext cx="2303462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MOV DX</a:t>
            </a:r>
            <a:r>
              <a:rPr lang="zh-CN" altLang="en-US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，</a:t>
            </a:r>
            <a:r>
              <a:rPr lang="en-US" altLang="zh-CN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2F8H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IN AL</a:t>
            </a:r>
            <a:r>
              <a:rPr lang="zh-CN" altLang="en-US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，</a:t>
            </a:r>
            <a:r>
              <a:rPr lang="en-US" altLang="zh-CN" dirty="0">
                <a:solidFill>
                  <a:srgbClr val="333399"/>
                </a:solidFill>
                <a:latin typeface="Arial"/>
                <a:ea typeface="黑体" panose="02010609060101010101" pitchFamily="49" charset="-122"/>
              </a:rPr>
              <a:t>DX</a:t>
            </a:r>
          </a:p>
        </p:txBody>
      </p:sp>
    </p:spTree>
    <p:extLst>
      <p:ext uri="{BB962C8B-B14F-4D97-AF65-F5344CB8AC3E}">
        <p14:creationId xmlns:p14="http://schemas.microsoft.com/office/powerpoint/2010/main" val="1907753751"/>
      </p:ext>
    </p:extLst>
  </p:cSld>
  <p:clrMapOvr>
    <a:masterClrMapping/>
  </p:clrMapOvr>
  <p:transition spd="slow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E7083-0757-4931-8506-7F08944EAC74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15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305203" name="Text Box 51"/>
          <p:cNvSpPr txBox="1">
            <a:spLocks noChangeArrowheads="1"/>
          </p:cNvSpPr>
          <p:nvPr/>
        </p:nvSpPr>
        <p:spPr bwMode="auto">
          <a:xfrm>
            <a:off x="2235342" y="195986"/>
            <a:ext cx="7784477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功能：两个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进制数加减运算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-H 0A 2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0C  08</a:t>
            </a: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 结束地址   目的地址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字节数   目的地址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功能：把指定内存区域的内容传送到另一个区域。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）默认段为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）目的地址只能包含偏移地址。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-MCS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LB 100</a:t>
            </a: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35635173"/>
      </p:ext>
    </p:extLst>
  </p:cSld>
  <p:clrMapOvr>
    <a:masterClrMapping/>
  </p:clrMapOvr>
  <p:transition spd="slow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B3EEF-7BC9-410C-AEA0-ADA74F54C00E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16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306213" name="Text Box 37"/>
          <p:cNvSpPr txBox="1">
            <a:spLocks noChangeArrowheads="1"/>
          </p:cNvSpPr>
          <p:nvPr/>
        </p:nvSpPr>
        <p:spPr bwMode="auto">
          <a:xfrm>
            <a:off x="2040118" y="225416"/>
            <a:ext cx="7910252" cy="66325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检索</a:t>
            </a:r>
          </a:p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 结束地址   值表</a:t>
            </a:r>
          </a:p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字节数   值表</a:t>
            </a:r>
          </a:p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功能：在指定内存范围内检索值表指定的字符，如果找到，则显示检索到的单元地址；如果没找到，则显示提示符。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 设内存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开始存入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A’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B’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A’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B’</a:t>
            </a:r>
          </a:p>
          <a:p>
            <a:pPr>
              <a:lnSpc>
                <a:spcPts val="3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要求检索字符‘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A’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B’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F’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06 A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1542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0003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1542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0005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06 B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1542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0004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1542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0006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06 F</a:t>
            </a:r>
          </a:p>
          <a:p>
            <a:pPr>
              <a:lnSpc>
                <a:spcPts val="30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888085369"/>
      </p:ext>
    </p:extLst>
  </p:cSld>
  <p:clrMapOvr>
    <a:masterClrMapping/>
  </p:clrMapOvr>
  <p:transition spd="slow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9F9C5-BABB-4CF7-9D8A-7A1B5D7AE1DC}" type="slidenum">
              <a:rPr lang="en-US" altLang="zh-CN">
                <a:solidFill>
                  <a:srgbClr val="000000"/>
                </a:solidFill>
                <a:ea typeface="黑体" panose="02010609060101010101" pitchFamily="49" charset="-122"/>
              </a:rPr>
              <a:pPr/>
              <a:t>17</a:t>
            </a:fld>
            <a:endParaRPr lang="en-US" altLang="zh-CN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307204" name="Text Box 4"/>
          <p:cNvSpPr txBox="1">
            <a:spLocks noChangeArrowheads="1"/>
          </p:cNvSpPr>
          <p:nvPr/>
        </p:nvSpPr>
        <p:spPr bwMode="auto">
          <a:xfrm>
            <a:off x="2115576" y="350476"/>
            <a:ext cx="6985000" cy="58087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ts val="2800"/>
              </a:lnSpc>
              <a:spcBef>
                <a:spcPct val="50000"/>
              </a:spcBef>
            </a:pP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</a:p>
          <a:p>
            <a:pPr>
              <a:lnSpc>
                <a:spcPts val="28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 结束地址   目的地址</a:t>
            </a:r>
          </a:p>
          <a:p>
            <a:pPr>
              <a:lnSpc>
                <a:spcPts val="28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起始地址  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字节数   目的地址</a:t>
            </a:r>
          </a:p>
          <a:p>
            <a:pPr>
              <a:lnSpc>
                <a:spcPts val="28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功能：比较两个数据块内容，如果不相同，则显示其内容和地址。默认为数据段，目的地址只包含偏移地址。</a:t>
            </a:r>
          </a:p>
          <a:p>
            <a:pPr>
              <a:lnSpc>
                <a:spcPts val="28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例：把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个字节内容与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100H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开始的区域进行比较，找出与之不同的内容。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-CES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 LA DS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</a:p>
          <a:p>
            <a:pPr>
              <a:lnSpc>
                <a:spcPts val="28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执行结果：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82DD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 03  2D 82CD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82DD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0002 00  02 82CD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102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82DD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0003 05  09 82CD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103</a:t>
            </a:r>
          </a:p>
          <a:p>
            <a:pPr>
              <a:lnSpc>
                <a:spcPts val="2800"/>
              </a:lnSpc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82DD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0008 04  66 82CD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108</a:t>
            </a:r>
          </a:p>
          <a:p>
            <a:pPr>
              <a:lnSpc>
                <a:spcPts val="2800"/>
              </a:lnSpc>
            </a:pP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20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退出</a:t>
            </a:r>
          </a:p>
          <a:p>
            <a:pPr>
              <a:lnSpc>
                <a:spcPts val="28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-Q</a:t>
            </a:r>
          </a:p>
          <a:p>
            <a:pPr>
              <a:lnSpc>
                <a:spcPts val="28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功能：退出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命令。</a:t>
            </a:r>
          </a:p>
        </p:txBody>
      </p:sp>
    </p:spTree>
    <p:extLst>
      <p:ext uri="{BB962C8B-B14F-4D97-AF65-F5344CB8AC3E}">
        <p14:creationId xmlns:p14="http://schemas.microsoft.com/office/powerpoint/2010/main" val="3778801911"/>
      </p:ext>
    </p:extLst>
  </p:cSld>
  <p:clrMapOvr>
    <a:masterClrMapping/>
  </p:clrMapOvr>
  <p:transition spd="slow">
    <p:zoom/>
  </p:transition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1784</Words>
  <Application>Microsoft Office PowerPoint</Application>
  <PresentationFormat>宽屏</PresentationFormat>
  <Paragraphs>206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等线</vt:lpstr>
      <vt:lpstr>黑体</vt:lpstr>
      <vt:lpstr>隶书</vt:lpstr>
      <vt:lpstr>宋体</vt:lpstr>
      <vt:lpstr>微软雅黑</vt:lpstr>
      <vt:lpstr>Arial</vt:lpstr>
      <vt:lpstr>Arial Black</vt:lpstr>
      <vt:lpstr>Lucida Console</vt:lpstr>
      <vt:lpstr>Tahoma</vt:lpstr>
      <vt:lpstr>Times New Roman</vt:lpstr>
      <vt:lpstr>Wingdings</vt:lpstr>
      <vt:lpstr>Blends</vt:lpstr>
      <vt:lpstr>4.7.2 汇编程序的调试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4.7.2 汇编程序的调试</dc:title>
  <dc:creator>jihui han</dc:creator>
  <cp:lastModifiedBy>jihui han</cp:lastModifiedBy>
  <cp:revision>1</cp:revision>
  <dcterms:created xsi:type="dcterms:W3CDTF">2021-09-29T09:04:32Z</dcterms:created>
  <dcterms:modified xsi:type="dcterms:W3CDTF">2021-09-29T09:05:53Z</dcterms:modified>
</cp:coreProperties>
</file>