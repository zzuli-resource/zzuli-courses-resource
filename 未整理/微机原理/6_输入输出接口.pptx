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47"/>
  </p:notesMasterIdLst>
  <p:sldIdLst>
    <p:sldId id="769" r:id="rId2"/>
    <p:sldId id="770" r:id="rId3"/>
    <p:sldId id="1193" r:id="rId4"/>
    <p:sldId id="1302" r:id="rId5"/>
    <p:sldId id="1314" r:id="rId6"/>
    <p:sldId id="1303" r:id="rId7"/>
    <p:sldId id="1308" r:id="rId8"/>
    <p:sldId id="1309" r:id="rId9"/>
    <p:sldId id="1310" r:id="rId10"/>
    <p:sldId id="1311" r:id="rId11"/>
    <p:sldId id="1312" r:id="rId12"/>
    <p:sldId id="1315" r:id="rId13"/>
    <p:sldId id="1350" r:id="rId14"/>
    <p:sldId id="1313" r:id="rId15"/>
    <p:sldId id="1316" r:id="rId16"/>
    <p:sldId id="1317" r:id="rId17"/>
    <p:sldId id="1318" r:id="rId18"/>
    <p:sldId id="1319" r:id="rId19"/>
    <p:sldId id="1321" r:id="rId20"/>
    <p:sldId id="1320" r:id="rId21"/>
    <p:sldId id="1323" r:id="rId22"/>
    <p:sldId id="1351" r:id="rId23"/>
    <p:sldId id="1301" r:id="rId24"/>
    <p:sldId id="1325" r:id="rId25"/>
    <p:sldId id="1324" r:id="rId26"/>
    <p:sldId id="1326" r:id="rId27"/>
    <p:sldId id="1327" r:id="rId28"/>
    <p:sldId id="1328" r:id="rId29"/>
    <p:sldId id="1329" r:id="rId30"/>
    <p:sldId id="1330" r:id="rId31"/>
    <p:sldId id="1331" r:id="rId32"/>
    <p:sldId id="1332" r:id="rId33"/>
    <p:sldId id="1354" r:id="rId34"/>
    <p:sldId id="1333" r:id="rId35"/>
    <p:sldId id="1339" r:id="rId36"/>
    <p:sldId id="1335" r:id="rId37"/>
    <p:sldId id="1337" r:id="rId38"/>
    <p:sldId id="1342" r:id="rId39"/>
    <p:sldId id="1344" r:id="rId40"/>
    <p:sldId id="1338" r:id="rId41"/>
    <p:sldId id="1357" r:id="rId42"/>
    <p:sldId id="1345" r:id="rId43"/>
    <p:sldId id="1194" r:id="rId44"/>
    <p:sldId id="1348" r:id="rId45"/>
    <p:sldId id="1293" r:id="rId4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E4A8"/>
    <a:srgbClr val="800000"/>
    <a:srgbClr val="FFCCCC"/>
    <a:srgbClr val="FF6B08"/>
    <a:srgbClr val="FFC000"/>
    <a:srgbClr val="A04141"/>
    <a:srgbClr val="A3A3E0"/>
    <a:srgbClr val="5454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943" autoAdjust="0"/>
  </p:normalViewPr>
  <p:slideViewPr>
    <p:cSldViewPr snapToGrid="0">
      <p:cViewPr varScale="1">
        <p:scale>
          <a:sx n="100" d="100"/>
          <a:sy n="100" d="100"/>
        </p:scale>
        <p:origin x="141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18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857D1-FC0F-4FEF-BD1C-3F19BFFCF70A}" type="datetimeFigureOut">
              <a:rPr lang="zh-CN" altLang="en-US" smtClean="0"/>
              <a:t>2022-10-24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ABB649-6269-4EF7-8145-34953C605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89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1274EB9-A46A-40F1-BE7F-CA5787881F75}" type="slidenum">
              <a:rPr kumimoji="0" lang="zh-CN" altLang="en-US" sz="1200"/>
              <a:pPr/>
              <a:t>1</a:t>
            </a:fld>
            <a:endParaRPr kumimoji="0" lang="en-US" altLang="zh-CN" sz="1200"/>
          </a:p>
        </p:txBody>
      </p:sp>
      <p:sp>
        <p:nvSpPr>
          <p:cNvPr id="1012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2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微机系统由运算器、控制器、存储器和输入设备、输出设备五大部分组成。除了这些集成电路之外，还需要一些外围的辅助器件。前面已经介绍了</a:t>
            </a:r>
            <a:r>
              <a:rPr lang="en-US" altLang="zh-CN" dirty="0"/>
              <a:t>CPU</a:t>
            </a:r>
            <a:r>
              <a:rPr lang="zh-CN" altLang="en-US" dirty="0"/>
              <a:t>和存储器，本章及后面的章节主要介绍接口电路。</a:t>
            </a:r>
          </a:p>
        </p:txBody>
      </p:sp>
    </p:spTree>
    <p:extLst>
      <p:ext uri="{BB962C8B-B14F-4D97-AF65-F5344CB8AC3E}">
        <p14:creationId xmlns:p14="http://schemas.microsoft.com/office/powerpoint/2010/main" val="1889338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795F51C-5FA4-4883-BAE3-ABDA4787E02E}" type="slidenum">
              <a:rPr kumimoji="0" lang="zh-CN" altLang="en-US" sz="1200"/>
              <a:pPr/>
              <a:t>2</a:t>
            </a:fld>
            <a:endParaRPr kumimoji="0" lang="en-US" altLang="zh-CN" sz="1200"/>
          </a:p>
        </p:txBody>
      </p:sp>
      <p:sp>
        <p:nvSpPr>
          <p:cNvPr id="1013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本章主要介绍接口电路的组成、工作原理和外设之间的硬件连接，后面章节会介绍具体接口电路。</a:t>
            </a:r>
            <a:endParaRPr lang="en-US" altLang="zh-CN" dirty="0"/>
          </a:p>
          <a:p>
            <a:pPr eaLnBrk="1" hangingPunct="1"/>
            <a:r>
              <a:rPr lang="zh-CN" altLang="en-US" dirty="0"/>
              <a:t>首先介绍微机接口的基本概念和基本结构，然后介绍</a:t>
            </a:r>
            <a:r>
              <a:rPr lang="en-US" altLang="zh-CN" dirty="0"/>
              <a:t>IO</a:t>
            </a:r>
            <a:r>
              <a:rPr lang="zh-CN" altLang="en-US" dirty="0"/>
              <a:t>端口的编址方式、</a:t>
            </a:r>
            <a:r>
              <a:rPr lang="en-US" altLang="zh-CN" dirty="0"/>
              <a:t>PC</a:t>
            </a:r>
            <a:r>
              <a:rPr lang="zh-CN" altLang="en-US" dirty="0"/>
              <a:t>机的端口地址分配、地址译码电路，最后介绍</a:t>
            </a:r>
            <a:r>
              <a:rPr lang="en-US" altLang="zh-CN" dirty="0"/>
              <a:t>CPU</a:t>
            </a:r>
            <a:r>
              <a:rPr lang="zh-CN" altLang="en-US" dirty="0"/>
              <a:t>与外部设备之间的数据传送方式。</a:t>
            </a:r>
          </a:p>
        </p:txBody>
      </p:sp>
    </p:spTree>
    <p:extLst>
      <p:ext uri="{BB962C8B-B14F-4D97-AF65-F5344CB8AC3E}">
        <p14:creationId xmlns:p14="http://schemas.microsoft.com/office/powerpoint/2010/main" val="324650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在微机系统中，使用了大量的</a:t>
            </a:r>
            <a:r>
              <a:rPr lang="en-US" altLang="zh-CN" dirty="0"/>
              <a:t>IO</a:t>
            </a:r>
            <a:r>
              <a:rPr lang="zh-CN" altLang="en-US" dirty="0"/>
              <a:t>设备，有些场合还用到了模</a:t>
            </a:r>
            <a:r>
              <a:rPr lang="en-US" altLang="zh-CN" dirty="0"/>
              <a:t>/</a:t>
            </a:r>
            <a:r>
              <a:rPr lang="zh-CN" altLang="en-US" dirty="0"/>
              <a:t>数转换器、数</a:t>
            </a:r>
            <a:r>
              <a:rPr lang="en-US" altLang="zh-CN" dirty="0"/>
              <a:t>/</a:t>
            </a:r>
            <a:r>
              <a:rPr lang="zh-CN" altLang="en-US" dirty="0"/>
              <a:t>模转换器等。</a:t>
            </a:r>
            <a:endParaRPr lang="en-US" altLang="zh-CN" dirty="0"/>
          </a:p>
          <a:p>
            <a:r>
              <a:rPr lang="zh-CN" altLang="en-US" dirty="0"/>
              <a:t>由于这些外设的信息格式、工作原理和工作速度各不相同，不能与</a:t>
            </a:r>
            <a:r>
              <a:rPr lang="en-US" altLang="zh-CN" dirty="0"/>
              <a:t>CPU</a:t>
            </a:r>
            <a:r>
              <a:rPr lang="zh-CN" altLang="en-US" dirty="0"/>
              <a:t>直接相连，而接口电路就相当于</a:t>
            </a:r>
            <a:r>
              <a:rPr lang="en-US" altLang="zh-CN" dirty="0"/>
              <a:t>CPU</a:t>
            </a:r>
            <a:r>
              <a:rPr lang="zh-CN" altLang="en-US" dirty="0"/>
              <a:t>和外设之间的桥梁，通过系统总线使</a:t>
            </a:r>
            <a:r>
              <a:rPr lang="en-US" altLang="zh-CN" dirty="0"/>
              <a:t>CPU</a:t>
            </a:r>
            <a:r>
              <a:rPr lang="zh-CN" altLang="en-US" dirty="0"/>
              <a:t>对整个微机系统进行控制。</a:t>
            </a:r>
            <a:endParaRPr lang="en-US" altLang="zh-CN" dirty="0"/>
          </a:p>
          <a:p>
            <a:r>
              <a:rPr lang="zh-CN" altLang="en-US" dirty="0"/>
              <a:t>接口技术采用硬件和软件相结合的方法，使</a:t>
            </a:r>
            <a:r>
              <a:rPr lang="en-US" altLang="zh-CN" dirty="0"/>
              <a:t>CPU</a:t>
            </a:r>
            <a:r>
              <a:rPr lang="zh-CN" altLang="en-US" dirty="0"/>
              <a:t>与外部设备进行最佳匹配。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614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chemeClr val="tx1"/>
                </a:solidFill>
              </a:rPr>
              <a:t>CPU</a:t>
            </a:r>
            <a:r>
              <a:rPr lang="zh-CN" altLang="en-US" sz="1200" dirty="0">
                <a:solidFill>
                  <a:schemeClr val="tx1"/>
                </a:solidFill>
              </a:rPr>
              <a:t>与外部设备交换信息的过程，是在控制信号的作用下通过数据总线来完成的。外部设备种类繁多，对信息传送的要求也不同，这就给计算机和外设之间的信息交换带来以下一些问题：</a:t>
            </a:r>
            <a:endParaRPr lang="en-US" altLang="zh-CN" sz="1200" dirty="0">
              <a:solidFill>
                <a:schemeClr val="tx1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318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无论是输入还是输出数据，传输的数据首先进入缓冲区，输入数据时等待</a:t>
            </a:r>
            <a:r>
              <a:rPr lang="en-US" altLang="zh-CN" dirty="0"/>
              <a:t>CPU</a:t>
            </a:r>
            <a:r>
              <a:rPr lang="zh-CN" altLang="en-US" dirty="0"/>
              <a:t>发出接受指令，输出数据时等待外设发出的输出信号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203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输出 </a:t>
            </a:r>
            <a:r>
              <a:rPr lang="en-US" altLang="zh-CN" dirty="0"/>
              <a:t>L</a:t>
            </a:r>
            <a:r>
              <a:rPr lang="zh-CN" altLang="en-US" dirty="0"/>
              <a:t>： </a:t>
            </a:r>
            <a:r>
              <a:rPr lang="en-US" altLang="zh-CN" dirty="0"/>
              <a:t>《0.8V </a:t>
            </a:r>
            <a:r>
              <a:rPr lang="zh-CN" altLang="en-US" dirty="0"/>
              <a:t>； </a:t>
            </a:r>
            <a:r>
              <a:rPr lang="en-US" altLang="zh-CN" dirty="0"/>
              <a:t>H</a:t>
            </a:r>
            <a:r>
              <a:rPr lang="zh-CN" altLang="en-US" dirty="0"/>
              <a:t>：</a:t>
            </a:r>
            <a:r>
              <a:rPr lang="en-US" altLang="zh-CN" dirty="0"/>
              <a:t>》2.4V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输入 </a:t>
            </a:r>
            <a:r>
              <a:rPr lang="en-US" altLang="zh-CN" dirty="0"/>
              <a:t>L</a:t>
            </a:r>
            <a:r>
              <a:rPr lang="zh-CN" altLang="en-US" dirty="0"/>
              <a:t>： </a:t>
            </a:r>
            <a:r>
              <a:rPr lang="en-US" altLang="zh-CN" dirty="0"/>
              <a:t>《1.2V </a:t>
            </a:r>
            <a:r>
              <a:rPr lang="zh-CN" altLang="en-US" dirty="0"/>
              <a:t>； </a:t>
            </a:r>
            <a:r>
              <a:rPr lang="en-US" altLang="zh-CN" dirty="0"/>
              <a:t>H</a:t>
            </a:r>
            <a:r>
              <a:rPr lang="zh-CN" altLang="en-US" dirty="0"/>
              <a:t>：</a:t>
            </a:r>
            <a:r>
              <a:rPr lang="en-US" altLang="zh-CN" dirty="0"/>
              <a:t>》2.0V</a:t>
            </a:r>
          </a:p>
          <a:p>
            <a:endParaRPr lang="en-US" altLang="zh-CN" dirty="0"/>
          </a:p>
          <a:p>
            <a:r>
              <a:rPr lang="en-US" altLang="zh-CN" dirty="0"/>
              <a:t>TTL</a:t>
            </a:r>
            <a:r>
              <a:rPr lang="zh-CN" altLang="en-US" dirty="0"/>
              <a:t>器件输出低电平要小于</a:t>
            </a:r>
            <a:r>
              <a:rPr lang="en-US" altLang="zh-CN" dirty="0"/>
              <a:t>0.8V</a:t>
            </a:r>
            <a:r>
              <a:rPr lang="zh-CN" altLang="en-US" dirty="0"/>
              <a:t>，高电平要大于</a:t>
            </a:r>
            <a:r>
              <a:rPr lang="en-US" altLang="zh-CN" dirty="0"/>
              <a:t>2.4V</a:t>
            </a:r>
            <a:r>
              <a:rPr lang="zh-CN" altLang="en-US" dirty="0"/>
              <a:t>。输入，低于</a:t>
            </a:r>
            <a:r>
              <a:rPr lang="en-US" altLang="zh-CN" dirty="0"/>
              <a:t>1.2V</a:t>
            </a:r>
            <a:r>
              <a:rPr lang="zh-CN" altLang="en-US" dirty="0"/>
              <a:t>就认为是</a:t>
            </a:r>
            <a:r>
              <a:rPr lang="en-US" altLang="zh-CN" dirty="0"/>
              <a:t>0</a:t>
            </a:r>
            <a:r>
              <a:rPr lang="zh-CN" altLang="en-US" dirty="0"/>
              <a:t>，高于</a:t>
            </a:r>
            <a:r>
              <a:rPr lang="en-US" altLang="zh-CN" dirty="0"/>
              <a:t>2.0</a:t>
            </a:r>
            <a:r>
              <a:rPr lang="zh-CN" altLang="en-US" dirty="0"/>
              <a:t>就认为是</a:t>
            </a:r>
            <a:r>
              <a:rPr lang="en-US" altLang="zh-CN" dirty="0"/>
              <a:t>1</a:t>
            </a:r>
            <a:r>
              <a:rPr lang="zh-CN" altLang="en-US" dirty="0"/>
              <a:t>。于是</a:t>
            </a:r>
            <a:r>
              <a:rPr lang="en-US" altLang="zh-CN" dirty="0"/>
              <a:t>TTL</a:t>
            </a:r>
            <a:r>
              <a:rPr lang="zh-CN" altLang="en-US" dirty="0"/>
              <a:t>电平的输入低电平的噪声容限就只有（</a:t>
            </a:r>
            <a:r>
              <a:rPr lang="en-US" altLang="zh-CN" dirty="0"/>
              <a:t>0.8-0</a:t>
            </a:r>
            <a:r>
              <a:rPr lang="zh-CN" altLang="en-US" dirty="0"/>
              <a:t>）</a:t>
            </a:r>
            <a:r>
              <a:rPr lang="en-US" altLang="zh-CN" dirty="0"/>
              <a:t>/2=0.4V</a:t>
            </a:r>
            <a:r>
              <a:rPr lang="zh-CN" altLang="en-US" dirty="0"/>
              <a:t>，高电平的噪声容限为（</a:t>
            </a:r>
            <a:r>
              <a:rPr lang="en-US" altLang="zh-CN" dirty="0"/>
              <a:t>5-2.4</a:t>
            </a:r>
            <a:r>
              <a:rPr lang="zh-CN" altLang="en-US" dirty="0"/>
              <a:t>）</a:t>
            </a:r>
            <a:r>
              <a:rPr lang="en-US" altLang="zh-CN" dirty="0"/>
              <a:t>/2=1.3V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RS232</a:t>
            </a:r>
            <a:r>
              <a:rPr lang="zh-CN" altLang="en-US" dirty="0"/>
              <a:t>逻辑</a:t>
            </a:r>
            <a:r>
              <a:rPr lang="en-US" altLang="zh-CN" dirty="0"/>
              <a:t>1</a:t>
            </a:r>
            <a:r>
              <a:rPr lang="zh-CN" altLang="en-US" dirty="0"/>
              <a:t>的电平为</a:t>
            </a:r>
            <a:r>
              <a:rPr lang="en-US" altLang="zh-CN" dirty="0"/>
              <a:t>-3</a:t>
            </a:r>
            <a:r>
              <a:rPr lang="zh-CN" altLang="en-US" dirty="0"/>
              <a:t>～</a:t>
            </a:r>
            <a:r>
              <a:rPr lang="en-US" altLang="zh-CN" dirty="0"/>
              <a:t>-15V</a:t>
            </a:r>
            <a:r>
              <a:rPr lang="zh-CN" altLang="en-US" dirty="0"/>
              <a:t>，逻辑</a:t>
            </a:r>
            <a:r>
              <a:rPr lang="en-US" altLang="zh-CN" dirty="0"/>
              <a:t>0</a:t>
            </a:r>
            <a:r>
              <a:rPr lang="zh-CN" altLang="en-US" dirty="0"/>
              <a:t>的电平为</a:t>
            </a:r>
            <a:r>
              <a:rPr lang="en-US" altLang="zh-CN" dirty="0"/>
              <a:t>+3</a:t>
            </a:r>
            <a:r>
              <a:rPr lang="zh-CN" altLang="en-US" dirty="0"/>
              <a:t>～</a:t>
            </a:r>
            <a:r>
              <a:rPr lang="en-US" altLang="zh-CN" dirty="0"/>
              <a:t>+15V</a:t>
            </a:r>
            <a:r>
              <a:rPr lang="zh-CN" altLang="en-US" dirty="0"/>
              <a:t>，注意电平的定义反相了一次。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229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CPU</a:t>
            </a:r>
            <a:r>
              <a:rPr lang="zh-CN" altLang="en-US" dirty="0"/>
              <a:t>通过接口电路对外设进行控制，具体和哪一个外设进行数据交换，首先要选通相应的接口电路，而这一过程是通过地址选通来实现的，即接口电路有其独有的地址空间。</a:t>
            </a:r>
            <a:endParaRPr lang="en-US" altLang="zh-CN" dirty="0"/>
          </a:p>
          <a:p>
            <a:r>
              <a:rPr lang="zh-CN" altLang="en-US" dirty="0"/>
              <a:t>不同的接口电路占用的地址不同，占有的地址个数也不同。高位地址片选，低位地址进行接口电路内部的端口选择。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29461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状态信息、控制信息是广义的数据信息。在接口电路中，这三类信息分别存放在不同的寄存器中，有各自的端口地址。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0276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545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和存储器编址方式类比</a:t>
            </a:r>
            <a:endParaRPr lang="en-US" altLang="zh-CN" dirty="0"/>
          </a:p>
          <a:p>
            <a:r>
              <a:rPr lang="zh-CN" altLang="en-US" dirty="0"/>
              <a:t>接口</a:t>
            </a:r>
            <a:r>
              <a:rPr lang="en-US" altLang="zh-CN" dirty="0"/>
              <a:t>—</a:t>
            </a:r>
            <a:r>
              <a:rPr lang="zh-CN" altLang="en-US" dirty="0"/>
              <a:t>内存芯片</a:t>
            </a:r>
            <a:endParaRPr lang="en-US" altLang="zh-CN" dirty="0"/>
          </a:p>
          <a:p>
            <a:r>
              <a:rPr lang="zh-CN" altLang="en-US" dirty="0"/>
              <a:t>端口</a:t>
            </a:r>
            <a:r>
              <a:rPr lang="en-US" altLang="zh-CN" dirty="0"/>
              <a:t>—</a:t>
            </a:r>
            <a:r>
              <a:rPr lang="zh-CN" altLang="en-US" dirty="0"/>
              <a:t>片内存储单元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接口译码电路，高位地址信号较多，片内地址少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9455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3049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网工网开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25060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8009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8259A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00079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中速外设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1055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外设向</a:t>
            </a:r>
            <a:r>
              <a:rPr lang="en-US" altLang="zh-CN" dirty="0"/>
              <a:t>DMAC</a:t>
            </a:r>
            <a:r>
              <a:rPr lang="zh-CN" altLang="en-US" dirty="0"/>
              <a:t>发出“</a:t>
            </a:r>
            <a:r>
              <a:rPr lang="en-US" altLang="zh-CN" dirty="0"/>
              <a:t>DMA</a:t>
            </a:r>
            <a:r>
              <a:rPr lang="zh-CN" altLang="en-US" dirty="0"/>
              <a:t>传送请求”信号</a:t>
            </a:r>
            <a:r>
              <a:rPr lang="en-US" altLang="zh-CN" dirty="0"/>
              <a:t>DRQ</a:t>
            </a:r>
          </a:p>
          <a:p>
            <a:pPr marL="228600" indent="-228600">
              <a:buAutoNum type="arabicPeriod"/>
            </a:pPr>
            <a:r>
              <a:rPr lang="en-US" altLang="zh-CN" dirty="0"/>
              <a:t>DMAC</a:t>
            </a:r>
            <a:r>
              <a:rPr lang="zh-CN" altLang="en-US" dirty="0"/>
              <a:t>收到请求后，向</a:t>
            </a:r>
            <a:r>
              <a:rPr lang="en-US" altLang="zh-CN" dirty="0"/>
              <a:t>CPU</a:t>
            </a:r>
            <a:r>
              <a:rPr lang="zh-CN" altLang="en-US" dirty="0"/>
              <a:t>发出“总线请求”信号</a:t>
            </a:r>
            <a:r>
              <a:rPr lang="en-US" altLang="zh-CN" dirty="0"/>
              <a:t>HOLD</a:t>
            </a:r>
          </a:p>
          <a:p>
            <a:pPr marL="228600" indent="-228600">
              <a:buAutoNum type="arabicPeriod"/>
            </a:pPr>
            <a:r>
              <a:rPr lang="en-US" altLang="zh-CN" dirty="0"/>
              <a:t>CPU</a:t>
            </a:r>
            <a:r>
              <a:rPr lang="zh-CN" altLang="en-US" dirty="0"/>
              <a:t>在完成当前总线周期后会立即发出</a:t>
            </a:r>
            <a:r>
              <a:rPr lang="en-US" altLang="zh-CN" dirty="0"/>
              <a:t>HLDA</a:t>
            </a:r>
            <a:r>
              <a:rPr lang="zh-CN" altLang="en-US" dirty="0"/>
              <a:t>信号，对</a:t>
            </a:r>
            <a:r>
              <a:rPr lang="en-US" altLang="zh-CN" dirty="0"/>
              <a:t>HOLD</a:t>
            </a:r>
            <a:r>
              <a:rPr lang="zh-CN" altLang="en-US" dirty="0"/>
              <a:t>信号进行响应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DMAC</a:t>
            </a:r>
            <a:r>
              <a:rPr lang="zh-CN" altLang="en-US" dirty="0"/>
              <a:t>收到</a:t>
            </a:r>
            <a:r>
              <a:rPr lang="en-US" altLang="zh-CN" dirty="0"/>
              <a:t>HLDA</a:t>
            </a:r>
            <a:r>
              <a:rPr lang="zh-CN" altLang="en-US" dirty="0"/>
              <a:t>信号后，就开始控制总线，并向外设发出</a:t>
            </a:r>
            <a:r>
              <a:rPr lang="en-US" altLang="zh-CN" dirty="0"/>
              <a:t>DMA</a:t>
            </a:r>
            <a:r>
              <a:rPr lang="zh-CN" altLang="en-US" dirty="0"/>
              <a:t>响应信号</a:t>
            </a:r>
            <a:r>
              <a:rPr lang="en-US" altLang="zh-CN" dirty="0"/>
              <a:t>DACK</a:t>
            </a:r>
          </a:p>
          <a:p>
            <a:pPr marL="228600" indent="-228600">
              <a:buAutoNum type="arabicPeriod"/>
            </a:pPr>
            <a:r>
              <a:rPr lang="en-US" altLang="zh-CN" dirty="0"/>
              <a:t>DMAC</a:t>
            </a:r>
            <a:r>
              <a:rPr lang="zh-CN" altLang="en-US" dirty="0"/>
              <a:t>控制外设和存储器、存储器和存储器之间的数据传送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传送结束后，释放总线控制权，交还给</a:t>
            </a:r>
            <a:r>
              <a:rPr lang="en-US" altLang="zh-CN" dirty="0"/>
              <a:t>CPU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8237A</a:t>
            </a:r>
            <a:r>
              <a:rPr lang="zh-CN" altLang="en-US" dirty="0"/>
              <a:t>是一种典型的</a:t>
            </a:r>
            <a:r>
              <a:rPr lang="en-US" altLang="zh-CN" dirty="0"/>
              <a:t>DMA</a:t>
            </a:r>
            <a:r>
              <a:rPr lang="zh-CN" altLang="en-US" dirty="0"/>
              <a:t>接口芯片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3504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1612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BB649-6269-4EF7-8145-34953C605916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808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1"/>
          <p:cNvSpPr>
            <a:spLocks noChangeArrowheads="1"/>
          </p:cNvSpPr>
          <p:nvPr/>
        </p:nvSpPr>
        <p:spPr bwMode="auto">
          <a:xfrm flipV="1">
            <a:off x="990600" y="3138489"/>
            <a:ext cx="7772400" cy="65235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1980" name="Rectangle 12"/>
          <p:cNvSpPr>
            <a:spLocks noGrp="1" noChangeArrowheads="1"/>
          </p:cNvSpPr>
          <p:nvPr userDrawn="1"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11981" name="Rectangle 13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 userDrawn="1"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1C1C1C"/>
              </a:solidFill>
              <a:ea typeface="宋体" panose="02010600030101010101" pitchFamily="2" charset="-122"/>
            </a:endParaRPr>
          </a:p>
        </p:txBody>
      </p:sp>
      <p:sp>
        <p:nvSpPr>
          <p:cNvPr id="15" name="Rectangle 15"/>
          <p:cNvSpPr>
            <a:spLocks noGrp="1" noChangeArrowheads="1"/>
          </p:cNvSpPr>
          <p:nvPr userDrawn="1"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1C1C1C"/>
              </a:solidFill>
              <a:ea typeface="宋体" panose="02010600030101010101" pitchFamily="2" charset="-122"/>
            </a:endParaRPr>
          </a:p>
        </p:txBody>
      </p:sp>
      <p:sp>
        <p:nvSpPr>
          <p:cNvPr id="16" name="Rectangle 16"/>
          <p:cNvSpPr>
            <a:spLocks noGrp="1" noChangeArrowheads="1"/>
          </p:cNvSpPr>
          <p:nvPr userDrawn="1"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308B671-8216-4EF9-8434-627A322CDE0C}" type="slidenum">
              <a:rPr lang="zh-CN" altLang="en-US" smtClean="0">
                <a:solidFill>
                  <a:srgbClr val="1C1C1C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1C1C1C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0522413"/>
      </p:ext>
    </p:extLst>
  </p:cSld>
  <p:clrMapOvr>
    <a:masterClrMapping/>
  </p:clrMapOvr>
  <p:transition spd="slow"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109" y="1052736"/>
            <a:ext cx="7772400" cy="4896544"/>
          </a:xfrm>
        </p:spPr>
        <p:txBody>
          <a:bodyPr/>
          <a:lstStyle>
            <a:lvl1pPr marL="342900" indent="-342900">
              <a:spcAft>
                <a:spcPts val="600"/>
              </a:spcAft>
              <a:buFont typeface="Wingdings" panose="05000000000000000000" pitchFamily="2" charset="2"/>
              <a:buChar char="l"/>
              <a:defRPr sz="2600" b="0">
                <a:latin typeface="+mj-ea"/>
                <a:ea typeface="+mj-ea"/>
              </a:defRPr>
            </a:lvl1pPr>
            <a:lvl2pPr marL="742950" indent="-285750">
              <a:spcAft>
                <a:spcPts val="600"/>
              </a:spcAft>
              <a:buFont typeface="Wingdings" panose="05000000000000000000" pitchFamily="2" charset="2"/>
              <a:buChar char="l"/>
              <a:defRPr sz="2200" b="0">
                <a:latin typeface="+mj-ea"/>
                <a:ea typeface="+mj-ea"/>
              </a:defRPr>
            </a:lvl2pPr>
            <a:lvl3pPr marL="11430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4pPr>
            <a:lvl5pPr marL="20574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5A8AE2-8E0B-4055-AC24-FD4D1192EF7B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Rectangle 8"/>
          <p:cNvSpPr>
            <a:spLocks noChangeArrowheads="1"/>
          </p:cNvSpPr>
          <p:nvPr userDrawn="1"/>
        </p:nvSpPr>
        <p:spPr bwMode="gray">
          <a:xfrm flipV="1">
            <a:off x="0" y="758378"/>
            <a:ext cx="9144000" cy="606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2128234"/>
      </p:ext>
    </p:extLst>
  </p:cSld>
  <p:clrMapOvr>
    <a:masterClrMapping/>
  </p:clrMapOvr>
  <p:transition spd="slow"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108" y="457200"/>
            <a:ext cx="8543041" cy="5492080"/>
          </a:xfrm>
        </p:spPr>
        <p:txBody>
          <a:bodyPr/>
          <a:lstStyle>
            <a:lvl1pPr marL="342900" indent="-342900">
              <a:spcAft>
                <a:spcPts val="600"/>
              </a:spcAft>
              <a:buFont typeface="Wingdings" panose="05000000000000000000" pitchFamily="2" charset="2"/>
              <a:buChar char="l"/>
              <a:defRPr sz="2600" b="0">
                <a:latin typeface="+mj-ea"/>
                <a:ea typeface="+mj-ea"/>
              </a:defRPr>
            </a:lvl1pPr>
            <a:lvl2pPr marL="742950" indent="-285750">
              <a:spcAft>
                <a:spcPts val="600"/>
              </a:spcAft>
              <a:buFont typeface="Wingdings" panose="05000000000000000000" pitchFamily="2" charset="2"/>
              <a:buChar char="l"/>
              <a:defRPr sz="2200" b="0">
                <a:latin typeface="+mj-ea"/>
                <a:ea typeface="+mj-ea"/>
              </a:defRPr>
            </a:lvl2pPr>
            <a:lvl3pPr marL="11430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4pPr>
            <a:lvl5pPr marL="20574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5A8AE2-8E0B-4055-AC24-FD4D1192EF7B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5944369"/>
      </p:ext>
    </p:extLst>
  </p:cSld>
  <p:clrMapOvr>
    <a:masterClrMapping/>
  </p:clrMapOvr>
  <p:transition spd="slow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8769C75-8878-4114-8CBA-F72D9DCAF88C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383473" y="141041"/>
            <a:ext cx="7793037" cy="62366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Rectangle 8"/>
          <p:cNvSpPr>
            <a:spLocks noChangeArrowheads="1"/>
          </p:cNvSpPr>
          <p:nvPr userDrawn="1"/>
        </p:nvSpPr>
        <p:spPr bwMode="gray">
          <a:xfrm flipV="1">
            <a:off x="0" y="758378"/>
            <a:ext cx="9144000" cy="606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839822"/>
      </p:ext>
    </p:extLst>
  </p:cSld>
  <p:clrMapOvr>
    <a:masterClrMapping/>
  </p:clrMapOvr>
  <p:transition spd="slow"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66DCC75-E80A-41B7-988C-A11F796BC35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2795952"/>
      </p:ext>
    </p:extLst>
  </p:cSld>
  <p:clrMapOvr>
    <a:masterClrMapping/>
  </p:clrMapOvr>
  <p:transition spd="slow"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3472" y="1052736"/>
            <a:ext cx="3960000" cy="4824536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l"/>
              <a:defRPr sz="2600" b="0">
                <a:latin typeface="+mj-ea"/>
                <a:ea typeface="+mj-ea"/>
              </a:defRPr>
            </a:lvl1pPr>
            <a:lvl2pPr marL="742950" indent="-285750">
              <a:buFont typeface="Wingdings" panose="05000000000000000000" pitchFamily="2" charset="2"/>
              <a:buChar char="l"/>
              <a:defRPr sz="2200" b="0">
                <a:latin typeface="+mj-ea"/>
                <a:ea typeface="+mj-ea"/>
              </a:defRPr>
            </a:lvl2pPr>
            <a:lvl3pPr marL="1143000" indent="-228600"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4pPr>
            <a:lvl5pPr marL="2057400" indent="-228600"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8025" y="1055758"/>
            <a:ext cx="3960440" cy="4821514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l"/>
              <a:defRPr sz="2600" b="0">
                <a:latin typeface="+mj-ea"/>
                <a:ea typeface="+mj-ea"/>
              </a:defRPr>
            </a:lvl1pPr>
            <a:lvl2pPr marL="742950" indent="-285750">
              <a:buFont typeface="Wingdings" panose="05000000000000000000" pitchFamily="2" charset="2"/>
              <a:buChar char="l"/>
              <a:defRPr sz="2200" b="0">
                <a:latin typeface="+mj-ea"/>
                <a:ea typeface="+mj-ea"/>
              </a:defRPr>
            </a:lvl2pPr>
            <a:lvl3pPr marL="1143000" indent="-228600"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4pPr>
            <a:lvl5pPr marL="2057400" indent="-228600"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72C5FA0-9562-4180-BE77-AA42E81C45F5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383473" y="141041"/>
            <a:ext cx="7793037" cy="62366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1" name="Rectangle 8"/>
          <p:cNvSpPr>
            <a:spLocks noChangeArrowheads="1"/>
          </p:cNvSpPr>
          <p:nvPr userDrawn="1"/>
        </p:nvSpPr>
        <p:spPr bwMode="gray">
          <a:xfrm flipV="1">
            <a:off x="0" y="758378"/>
            <a:ext cx="9144000" cy="606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346214"/>
      </p:ext>
    </p:extLst>
  </p:cSld>
  <p:clrMapOvr>
    <a:masterClrMapping/>
  </p:clrMapOvr>
  <p:transition spd="slow"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0800F03A-9EB7-4654-98F7-F2372F7320B1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2475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83473" y="141041"/>
            <a:ext cx="7793037" cy="623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2493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3472" y="1052736"/>
            <a:ext cx="77724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095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095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>
                <a:latin typeface="Tahoma" panose="020B060403050404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F612A3A-8E49-4F2E-A26F-49B27473F1BB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6863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9" r:id="rId3"/>
    <p:sldLayoutId id="2147483665" r:id="rId4"/>
    <p:sldLayoutId id="2147483666" r:id="rId5"/>
    <p:sldLayoutId id="2147483667" r:id="rId6"/>
    <p:sldLayoutId id="2147483670" r:id="rId7"/>
  </p:sldLayoutIdLst>
  <p:transition spd="slow">
    <p:zoom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20000"/>
        </a:spcBef>
        <a:spcAft>
          <a:spcPct val="5000"/>
        </a:spcAft>
        <a:buClr>
          <a:schemeClr val="folHlink"/>
        </a:buClr>
        <a:buSzPct val="60000"/>
        <a:buFont typeface="Wingdings" panose="05000000000000000000" pitchFamily="2" charset="2"/>
        <a:buChar char="l"/>
        <a:defRPr sz="2800" b="0">
          <a:solidFill>
            <a:schemeClr val="tx2"/>
          </a:solidFill>
          <a:latin typeface="+mj-ea"/>
          <a:ea typeface="+mj-ea"/>
          <a:cs typeface="+mn-cs"/>
        </a:defRPr>
      </a:lvl1pPr>
      <a:lvl2pPr marL="742950" indent="-285750" algn="l" rtl="0" eaLnBrk="0" fontAlgn="base" hangingPunct="0">
        <a:lnSpc>
          <a:spcPct val="110000"/>
        </a:lnSpc>
        <a:spcBef>
          <a:spcPct val="20000"/>
        </a:spcBef>
        <a:spcAft>
          <a:spcPct val="5000"/>
        </a:spcAft>
        <a:buClr>
          <a:schemeClr val="hlink"/>
        </a:buClr>
        <a:buSzPct val="55000"/>
        <a:buFont typeface="Wingdings" panose="05000000000000000000" pitchFamily="2" charset="2"/>
        <a:buChar char="l"/>
        <a:defRPr sz="2400" b="0">
          <a:solidFill>
            <a:schemeClr val="tx1"/>
          </a:solidFill>
          <a:latin typeface="+mj-ea"/>
          <a:ea typeface="+mj-ea"/>
        </a:defRPr>
      </a:lvl2pPr>
      <a:lvl3pPr marL="1143000" indent="-228600" algn="l" rtl="0" eaLnBrk="0" fontAlgn="base" hangingPunct="0">
        <a:lnSpc>
          <a:spcPct val="110000"/>
        </a:lnSpc>
        <a:spcBef>
          <a:spcPct val="20000"/>
        </a:spcBef>
        <a:spcAft>
          <a:spcPct val="5000"/>
        </a:spcAft>
        <a:buClr>
          <a:schemeClr val="folHlink"/>
        </a:buClr>
        <a:buSzPct val="50000"/>
        <a:buFont typeface="Wingdings" panose="05000000000000000000" pitchFamily="2" charset="2"/>
        <a:buChar char="l"/>
        <a:defRPr sz="2000" b="0">
          <a:solidFill>
            <a:schemeClr val="tx1"/>
          </a:solidFill>
          <a:latin typeface="+mj-ea"/>
          <a:ea typeface="+mj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l"/>
        <a:defRPr sz="2000" b="0">
          <a:solidFill>
            <a:schemeClr val="tx1"/>
          </a:solidFill>
          <a:latin typeface="+mj-ea"/>
          <a:ea typeface="+mj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l"/>
        <a:defRPr sz="2000" b="0">
          <a:solidFill>
            <a:schemeClr val="tx1"/>
          </a:solidFill>
          <a:latin typeface="+mj-ea"/>
          <a:ea typeface="+mj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6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3D1848C-B488-47E6-ADD5-6DB9AC70D883}" type="slidenum">
              <a:rPr kumimoji="0" lang="zh-CN" altLang="en-US" sz="1400">
                <a:solidFill>
                  <a:schemeClr val="bg2"/>
                </a:solidFill>
                <a:latin typeface="Tahoma" panose="020B0604030504040204" pitchFamily="34" charset="0"/>
              </a:rPr>
              <a:pPr/>
              <a:t>1</a:t>
            </a:fld>
            <a:endParaRPr kumimoji="0" lang="en-US" altLang="zh-CN" sz="140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96260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476375" y="1196975"/>
            <a:ext cx="6264275" cy="2016125"/>
          </a:xfrm>
          <a:noFill/>
        </p:spPr>
        <p:txBody>
          <a:bodyPr lIns="92075" tIns="46038" rIns="92075" bIns="46038"/>
          <a:lstStyle/>
          <a:p>
            <a:pPr algn="ctr" eaLnBrk="1" hangingPunct="1">
              <a:lnSpc>
                <a:spcPct val="120000"/>
              </a:lnSpc>
              <a:spcBef>
                <a:spcPct val="20000"/>
              </a:spcBef>
              <a:spcAft>
                <a:spcPct val="30000"/>
              </a:spcAft>
            </a:pPr>
            <a:r>
              <a:rPr lang="zh-CN" altLang="zh-CN" sz="4400" b="1" dirty="0">
                <a:latin typeface="+mj-ea"/>
              </a:rPr>
              <a:t>第</a:t>
            </a:r>
            <a:r>
              <a:rPr lang="en-US" altLang="zh-CN" sz="4400" dirty="0">
                <a:latin typeface="+mj-ea"/>
              </a:rPr>
              <a:t>6</a:t>
            </a:r>
            <a:r>
              <a:rPr lang="zh-CN" altLang="en-US" sz="4400" b="1" dirty="0">
                <a:latin typeface="+mj-ea"/>
              </a:rPr>
              <a:t>章</a:t>
            </a:r>
            <a:r>
              <a:rPr lang="zh-CN" altLang="en-US" sz="4400" dirty="0">
                <a:latin typeface="+mj-ea"/>
              </a:rPr>
              <a:t> 输入输出接口</a:t>
            </a:r>
            <a:endParaRPr lang="zh-CN" altLang="zh-CN" sz="66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81018732"/>
      </p:ext>
    </p:extLst>
  </p:cSld>
  <p:clrMapOvr>
    <a:masterClrMapping/>
  </p:clrMapOvr>
  <p:transition spd="slow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主要内容</a:t>
            </a:r>
            <a:endParaRPr lang="zh-CN" altLang="en-US" u="sng"/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Aft>
                <a:spcPct val="20000"/>
              </a:spcAft>
            </a:pPr>
            <a:r>
              <a:rPr lang="zh-CN" altLang="en-US" dirty="0">
                <a:latin typeface="+mn-ea"/>
                <a:ea typeface="+mn-ea"/>
              </a:rPr>
              <a:t>接口电路的组成、工作原理</a:t>
            </a:r>
            <a:endParaRPr lang="en-US" altLang="zh-CN" dirty="0">
              <a:latin typeface="+mn-ea"/>
              <a:ea typeface="+mn-ea"/>
            </a:endParaRPr>
          </a:p>
          <a:p>
            <a:pPr eaLnBrk="1" hangingPunct="1">
              <a:lnSpc>
                <a:spcPct val="150000"/>
              </a:lnSpc>
              <a:spcAft>
                <a:spcPct val="20000"/>
              </a:spcAft>
            </a:pPr>
            <a:r>
              <a:rPr lang="en-US" altLang="zh-CN" dirty="0">
                <a:latin typeface="+mn-ea"/>
                <a:ea typeface="+mn-ea"/>
              </a:rPr>
              <a:t>I/O</a:t>
            </a:r>
            <a:r>
              <a:rPr lang="zh-CN" altLang="en-US" dirty="0">
                <a:latin typeface="+mn-ea"/>
                <a:ea typeface="+mn-ea"/>
              </a:rPr>
              <a:t>端口的编址方式及端口地址译码</a:t>
            </a:r>
            <a:endParaRPr lang="en-US" altLang="zh-CN" dirty="0">
              <a:latin typeface="+mn-ea"/>
              <a:ea typeface="+mn-ea"/>
            </a:endParaRPr>
          </a:p>
          <a:p>
            <a:pPr eaLnBrk="1" hangingPunct="1">
              <a:lnSpc>
                <a:spcPct val="150000"/>
              </a:lnSpc>
              <a:spcAft>
                <a:spcPct val="20000"/>
              </a:spcAft>
            </a:pPr>
            <a:r>
              <a:rPr lang="en-US" altLang="zh-CN" dirty="0">
                <a:latin typeface="+mn-ea"/>
                <a:ea typeface="+mn-ea"/>
              </a:rPr>
              <a:t>CPU</a:t>
            </a:r>
            <a:r>
              <a:rPr lang="zh-CN" altLang="en-US" dirty="0">
                <a:latin typeface="+mn-ea"/>
                <a:ea typeface="+mn-ea"/>
              </a:rPr>
              <a:t>与外设之间的数据传送方式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793D533-8A95-413E-951C-DFE1E7D6C6AD}" type="slidenum">
              <a:rPr kumimoji="0" lang="zh-CN" altLang="en-US" sz="1400">
                <a:latin typeface="Tahoma" panose="020B0604030504040204" pitchFamily="34" charset="0"/>
              </a:rPr>
              <a:pPr/>
              <a:t>2</a:t>
            </a:fld>
            <a:endParaRPr kumimoji="0" lang="en-US" altLang="zh-CN" sz="14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78778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6.1 </a:t>
            </a:r>
            <a:r>
              <a:rPr lang="zh-CN" altLang="en-US" dirty="0">
                <a:latin typeface="+mj-ea"/>
              </a:rPr>
              <a:t>微机接口技术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3</a:t>
            </a:fld>
            <a:endParaRPr lang="en-US" altLang="zh-CN"/>
          </a:p>
        </p:txBody>
      </p:sp>
      <p:grpSp>
        <p:nvGrpSpPr>
          <p:cNvPr id="6" name="组合 5"/>
          <p:cNvGrpSpPr/>
          <p:nvPr/>
        </p:nvGrpSpPr>
        <p:grpSpPr>
          <a:xfrm>
            <a:off x="708323" y="1916001"/>
            <a:ext cx="7685727" cy="3594458"/>
            <a:chOff x="708323" y="1916001"/>
            <a:chExt cx="7685727" cy="3594458"/>
          </a:xfrm>
        </p:grpSpPr>
        <p:grpSp>
          <p:nvGrpSpPr>
            <p:cNvPr id="5" name="组合 4"/>
            <p:cNvGrpSpPr/>
            <p:nvPr/>
          </p:nvGrpSpPr>
          <p:grpSpPr>
            <a:xfrm>
              <a:off x="708323" y="1916001"/>
              <a:ext cx="7685727" cy="3594458"/>
              <a:chOff x="1130968" y="2313044"/>
              <a:chExt cx="6075729" cy="2382253"/>
            </a:xfrm>
          </p:grpSpPr>
          <p:sp>
            <p:nvSpPr>
              <p:cNvPr id="3" name="圆角矩形 2"/>
              <p:cNvSpPr/>
              <p:nvPr/>
            </p:nvSpPr>
            <p:spPr bwMode="auto">
              <a:xfrm>
                <a:off x="1130968" y="2313044"/>
                <a:ext cx="1335505" cy="2382253"/>
              </a:xfrm>
              <a:prstGeom prst="roundRect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0" fontAlgn="base" latinLnBrk="0" hangingPunct="0">
                  <a:lnSpc>
                    <a:spcPts val="32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zh-CN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</a:rPr>
                  <a:t>I/O</a:t>
                </a:r>
                <a:r>
                  <a:rPr kumimoji="1" lang="zh-CN" altLang="en-US" sz="2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</a:rPr>
                  <a:t>设备</a:t>
                </a:r>
                <a:endParaRPr kumimoji="1" lang="en-US" altLang="zh-CN" sz="2400" b="1" dirty="0">
                  <a:latin typeface="+mn-ea"/>
                </a:endParaRPr>
              </a:p>
              <a:p>
                <a:pPr marL="0" marR="0" indent="0" defTabSz="914400" rtl="0" eaLnBrk="0" fontAlgn="base" latinLnBrk="0" hangingPunct="0">
                  <a:lnSpc>
                    <a:spcPts val="32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zh-CN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</a:rPr>
                  <a:t>键盘</a:t>
                </a:r>
                <a:endPara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endParaRPr>
              </a:p>
              <a:p>
                <a:pPr marL="0" marR="0" indent="0" defTabSz="914400" rtl="0" eaLnBrk="0" fontAlgn="base" latinLnBrk="0" hangingPunct="0">
                  <a:lnSpc>
                    <a:spcPts val="32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zh-CN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</a:rPr>
                  <a:t>鼠标</a:t>
                </a:r>
                <a:endPara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endParaRPr>
              </a:p>
              <a:p>
                <a:pPr marL="0" marR="0" indent="0" defTabSz="914400" rtl="0" eaLnBrk="0" fontAlgn="base" latinLnBrk="0" hangingPunct="0">
                  <a:lnSpc>
                    <a:spcPts val="32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zh-CN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</a:rPr>
                  <a:t>显示器</a:t>
                </a:r>
                <a:endPara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endParaRPr>
              </a:p>
              <a:p>
                <a:pPr marL="0" marR="0" indent="0" defTabSz="914400" rtl="0" eaLnBrk="0" fontAlgn="base" latinLnBrk="0" hangingPunct="0">
                  <a:lnSpc>
                    <a:spcPts val="32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zh-CN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</a:rPr>
                  <a:t>磁盘</a:t>
                </a:r>
                <a:endPara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endParaRPr>
              </a:p>
              <a:p>
                <a:pPr marL="0" marR="0" indent="0" defTabSz="914400" rtl="0" eaLnBrk="0" fontAlgn="base" latinLnBrk="0" hangingPunct="0">
                  <a:lnSpc>
                    <a:spcPts val="32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zh-CN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</a:rPr>
                  <a:t>光驱</a:t>
                </a:r>
                <a:endPara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endParaRPr>
              </a:p>
              <a:p>
                <a:pPr marL="0" marR="0" indent="0" defTabSz="914400" rtl="0" eaLnBrk="0" fontAlgn="base" latinLnBrk="0" hangingPunct="0">
                  <a:lnSpc>
                    <a:spcPts val="32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zh-CN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</a:rPr>
                  <a:t>扫描仪</a:t>
                </a:r>
                <a:endPara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endParaRPr>
              </a:p>
              <a:p>
                <a:pPr marL="0" marR="0" indent="0" defTabSz="914400" rtl="0" eaLnBrk="0" fontAlgn="base" latinLnBrk="0" hangingPunct="0">
                  <a:lnSpc>
                    <a:spcPts val="32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zh-CN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n-ea"/>
                  </a:rPr>
                  <a:t>打印机等</a:t>
                </a:r>
                <a:endPara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endParaRPr>
              </a:p>
            </p:txBody>
          </p:sp>
          <p:sp>
            <p:nvSpPr>
              <p:cNvPr id="8" name="圆角矩形 7"/>
              <p:cNvSpPr/>
              <p:nvPr/>
            </p:nvSpPr>
            <p:spPr bwMode="auto">
              <a:xfrm>
                <a:off x="5871192" y="2313044"/>
                <a:ext cx="1335505" cy="2382253"/>
              </a:xfrm>
              <a:prstGeom prst="roundRect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zh-CN" sz="3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CPU</a:t>
                </a:r>
                <a:endParaRPr kumimoji="1" lang="zh-CN" altLang="en-US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" name="圆角矩形 9"/>
              <p:cNvSpPr/>
              <p:nvPr/>
            </p:nvSpPr>
            <p:spPr bwMode="auto">
              <a:xfrm>
                <a:off x="3501080" y="2313044"/>
                <a:ext cx="1335505" cy="2382253"/>
              </a:xfrm>
              <a:prstGeom prst="roundRect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eaVert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zh-CN" altLang="en-US" sz="3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接口电路</a:t>
                </a:r>
              </a:p>
            </p:txBody>
          </p:sp>
          <p:sp>
            <p:nvSpPr>
              <p:cNvPr id="4" name="左右箭头 3"/>
              <p:cNvSpPr/>
              <p:nvPr/>
            </p:nvSpPr>
            <p:spPr bwMode="auto">
              <a:xfrm>
                <a:off x="2600231" y="3356402"/>
                <a:ext cx="767090" cy="295536"/>
              </a:xfrm>
              <a:prstGeom prst="leftRightArrow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3" name="左右箭头 12"/>
            <p:cNvSpPr/>
            <p:nvPr/>
          </p:nvSpPr>
          <p:spPr bwMode="auto">
            <a:xfrm>
              <a:off x="5565088" y="3490269"/>
              <a:ext cx="970360" cy="445919"/>
            </a:xfrm>
            <a:prstGeom prst="leftRightArrow">
              <a:avLst/>
            </a:prstGeom>
            <a:solidFill>
              <a:schemeClr val="accent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9463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采用</a:t>
            </a:r>
            <a:r>
              <a:rPr lang="en-US" altLang="zh-CN" dirty="0">
                <a:latin typeface="+mj-ea"/>
              </a:rPr>
              <a:t>I/O</a:t>
            </a:r>
            <a:r>
              <a:rPr lang="zh-CN" altLang="en-US" dirty="0">
                <a:latin typeface="+mj-ea"/>
              </a:rPr>
              <a:t>接口的必要性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04109" y="1052736"/>
            <a:ext cx="8090186" cy="4896544"/>
          </a:xfrm>
        </p:spPr>
        <p:txBody>
          <a:bodyPr/>
          <a:lstStyle/>
          <a:p>
            <a:pPr marL="0" indent="0">
              <a:lnSpc>
                <a:spcPct val="150000"/>
              </a:lnSpc>
              <a:buSzPct val="100000"/>
              <a:buNone/>
            </a:pPr>
            <a:r>
              <a:rPr lang="zh-CN" altLang="en-US" sz="2200" dirty="0">
                <a:solidFill>
                  <a:schemeClr val="tx1"/>
                </a:solidFill>
              </a:rPr>
              <a:t>接口要解决的问题：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zh-CN" altLang="en-US" sz="2200" b="1" dirty="0">
                <a:solidFill>
                  <a:schemeClr val="tx1"/>
                </a:solidFill>
              </a:rPr>
              <a:t>速度不匹配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zh-CN" altLang="en-US" sz="2200" b="1" dirty="0">
                <a:solidFill>
                  <a:schemeClr val="tx1"/>
                </a:solidFill>
              </a:rPr>
              <a:t>信号不匹配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zh-CN" altLang="en-US" sz="2200" b="1" dirty="0">
                <a:solidFill>
                  <a:schemeClr val="tx1"/>
                </a:solidFill>
              </a:rPr>
              <a:t>信号格式不匹配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zh-CN" altLang="en-US" sz="2200" b="1" dirty="0">
                <a:solidFill>
                  <a:schemeClr val="tx1"/>
                </a:solidFill>
              </a:rPr>
              <a:t>时序不匹配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0882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接口电路的功能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04109" y="1052736"/>
            <a:ext cx="8090186" cy="4896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数据的寄存和缓冲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信号转换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端口选择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接收和执行</a:t>
            </a:r>
            <a:r>
              <a:rPr lang="en-US" altLang="zh-CN" sz="2200" dirty="0">
                <a:solidFill>
                  <a:schemeClr val="tx1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指令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中断管理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6534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接口电路的功能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04109" y="1052736"/>
            <a:ext cx="8090186" cy="4896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chemeClr val="tx1"/>
                </a:solidFill>
              </a:rPr>
              <a:t>数据的寄存和缓冲</a:t>
            </a:r>
            <a:endParaRPr lang="en-US" altLang="zh-CN" sz="22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信号转换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端口选择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接收和执行</a:t>
            </a:r>
            <a:r>
              <a:rPr lang="en-US" altLang="zh-CN" sz="2200" dirty="0">
                <a:solidFill>
                  <a:schemeClr val="tx1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指令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中断管理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3" name="圆角矩形标注 2"/>
          <p:cNvSpPr/>
          <p:nvPr/>
        </p:nvSpPr>
        <p:spPr bwMode="auto">
          <a:xfrm>
            <a:off x="4668253" y="1052736"/>
            <a:ext cx="3826042" cy="3814011"/>
          </a:xfrm>
          <a:prstGeom prst="wedgeRoundRectCallout">
            <a:avLst>
              <a:gd name="adj1" fmla="val -90330"/>
              <a:gd name="adj2" fmla="val -40970"/>
              <a:gd name="adj3" fmla="val 16667"/>
            </a:avLst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接口电路内部设置有数据缓冲区，作为</a:t>
            </a: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CPU</a:t>
            </a:r>
            <a:r>
              <a: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和外设进行数据交换的中转站，解决速度不匹配问题。</a:t>
            </a:r>
          </a:p>
        </p:txBody>
      </p:sp>
    </p:spTree>
    <p:extLst>
      <p:ext uri="{BB962C8B-B14F-4D97-AF65-F5344CB8AC3E}">
        <p14:creationId xmlns:p14="http://schemas.microsoft.com/office/powerpoint/2010/main" val="240202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接口电路的功能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04109" y="1052736"/>
            <a:ext cx="8090186" cy="4896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数据的寄存和缓冲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chemeClr val="tx1"/>
                </a:solidFill>
              </a:rPr>
              <a:t>信号转换</a:t>
            </a:r>
            <a:endParaRPr lang="en-US" altLang="zh-CN" sz="22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端口选择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接收和执行</a:t>
            </a:r>
            <a:r>
              <a:rPr lang="en-US" altLang="zh-CN" sz="2200" dirty="0">
                <a:solidFill>
                  <a:schemeClr val="tx1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指令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中断管理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3" name="圆角矩形标注 2"/>
          <p:cNvSpPr/>
          <p:nvPr/>
        </p:nvSpPr>
        <p:spPr bwMode="auto">
          <a:xfrm>
            <a:off x="4668253" y="1052736"/>
            <a:ext cx="3826042" cy="3814011"/>
          </a:xfrm>
          <a:prstGeom prst="wedgeRoundRectCallout">
            <a:avLst>
              <a:gd name="adj1" fmla="val -119575"/>
              <a:gd name="adj2" fmla="val -25197"/>
              <a:gd name="adj3" fmla="val 16667"/>
            </a:avLst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内设电平转换、并</a:t>
            </a: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/</a:t>
            </a:r>
            <a:r>
              <a: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串或串</a:t>
            </a: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/</a:t>
            </a:r>
            <a:r>
              <a: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并转换、</a:t>
            </a: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A/D</a:t>
            </a:r>
            <a:r>
              <a: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或</a:t>
            </a: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D/A</a:t>
            </a:r>
            <a:r>
              <a: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转换接口电路解决信号不匹配问题</a:t>
            </a:r>
          </a:p>
        </p:txBody>
      </p:sp>
    </p:spTree>
    <p:extLst>
      <p:ext uri="{BB962C8B-B14F-4D97-AF65-F5344CB8AC3E}">
        <p14:creationId xmlns:p14="http://schemas.microsoft.com/office/powerpoint/2010/main" val="3485930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接口电路的功能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04109" y="1052736"/>
            <a:ext cx="8090186" cy="4896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数据的寄存和缓冲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信号转换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chemeClr val="tx1"/>
                </a:solidFill>
              </a:rPr>
              <a:t>端口选择</a:t>
            </a:r>
            <a:endParaRPr lang="en-US" altLang="zh-CN" sz="22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接收和执行</a:t>
            </a:r>
            <a:r>
              <a:rPr lang="en-US" altLang="zh-CN" sz="2200" dirty="0">
                <a:solidFill>
                  <a:schemeClr val="tx1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指令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中断管理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3" name="圆角矩形标注 2"/>
          <p:cNvSpPr/>
          <p:nvPr/>
        </p:nvSpPr>
        <p:spPr bwMode="auto">
          <a:xfrm>
            <a:off x="4668253" y="1052736"/>
            <a:ext cx="3826042" cy="3814011"/>
          </a:xfrm>
          <a:prstGeom prst="wedgeRoundRectCallout">
            <a:avLst>
              <a:gd name="adj1" fmla="val -119261"/>
              <a:gd name="adj2" fmla="val -8793"/>
              <a:gd name="adj3" fmla="val 16667"/>
            </a:avLst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接口电路有其独有的地址空间，</a:t>
            </a: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CPU</a:t>
            </a:r>
            <a:r>
              <a: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发出不同的地址信号可以选择不同的接口电路，也就选通了相应的外设。</a:t>
            </a:r>
          </a:p>
        </p:txBody>
      </p:sp>
    </p:spTree>
    <p:extLst>
      <p:ext uri="{BB962C8B-B14F-4D97-AF65-F5344CB8AC3E}">
        <p14:creationId xmlns:p14="http://schemas.microsoft.com/office/powerpoint/2010/main" val="1125849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接口电路的功能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04109" y="1052736"/>
            <a:ext cx="8090186" cy="4896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数据的寄存和缓冲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信号转换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端口选择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chemeClr val="tx1"/>
                </a:solidFill>
              </a:rPr>
              <a:t>接收和执行</a:t>
            </a:r>
            <a:r>
              <a:rPr lang="en-US" altLang="zh-CN" sz="2200" b="1" dirty="0">
                <a:solidFill>
                  <a:schemeClr val="tx1"/>
                </a:solidFill>
              </a:rPr>
              <a:t>CPU</a:t>
            </a:r>
            <a:r>
              <a:rPr lang="zh-CN" altLang="en-US" sz="2200" b="1" dirty="0">
                <a:solidFill>
                  <a:schemeClr val="tx1"/>
                </a:solidFill>
              </a:rPr>
              <a:t>指令</a:t>
            </a:r>
            <a:endParaRPr lang="en-US" altLang="zh-CN" sz="22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中断管理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3" name="圆角矩形标注 2"/>
          <p:cNvSpPr/>
          <p:nvPr/>
        </p:nvSpPr>
        <p:spPr bwMode="auto">
          <a:xfrm>
            <a:off x="4668253" y="1052736"/>
            <a:ext cx="3826042" cy="3814011"/>
          </a:xfrm>
          <a:prstGeom prst="wedgeRoundRectCallout">
            <a:avLst>
              <a:gd name="adj1" fmla="val -82783"/>
              <a:gd name="adj2" fmla="val 10134"/>
              <a:gd name="adj3" fmla="val 16667"/>
            </a:avLst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被选通的接口电路，根据</a:t>
            </a: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CPU</a:t>
            </a:r>
            <a:r>
              <a: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的读、写等指令输入输出数据信号或输出控制信号。</a:t>
            </a:r>
          </a:p>
        </p:txBody>
      </p:sp>
    </p:spTree>
    <p:extLst>
      <p:ext uri="{BB962C8B-B14F-4D97-AF65-F5344CB8AC3E}">
        <p14:creationId xmlns:p14="http://schemas.microsoft.com/office/powerpoint/2010/main" val="439604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接口电路的功能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04109" y="1052736"/>
            <a:ext cx="8090186" cy="4896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数据的寄存和缓冲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信号转换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端口选择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接收和执行</a:t>
            </a:r>
            <a:r>
              <a:rPr lang="en-US" altLang="zh-CN" sz="2200" dirty="0">
                <a:solidFill>
                  <a:schemeClr val="tx1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指令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chemeClr val="tx1"/>
                </a:solidFill>
              </a:rPr>
              <a:t>中断管理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3" name="圆角矩形标注 2"/>
          <p:cNvSpPr/>
          <p:nvPr/>
        </p:nvSpPr>
        <p:spPr bwMode="auto">
          <a:xfrm>
            <a:off x="4668253" y="1052736"/>
            <a:ext cx="3826042" cy="3814011"/>
          </a:xfrm>
          <a:prstGeom prst="wedgeRoundRectCallout">
            <a:avLst>
              <a:gd name="adj1" fmla="val -116116"/>
              <a:gd name="adj2" fmla="val 26853"/>
              <a:gd name="adj3" fmla="val 16667"/>
            </a:avLst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中断控制器作为接口电路，用来管理需要</a:t>
            </a: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CPU</a:t>
            </a:r>
            <a:r>
              <a: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中断的外设，使得外设工作时，不影响</a:t>
            </a: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CPU</a:t>
            </a:r>
            <a:r>
              <a: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的执行，提高了</a:t>
            </a: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CPU</a:t>
            </a:r>
            <a:r>
              <a: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的效率。</a:t>
            </a:r>
          </a:p>
        </p:txBody>
      </p:sp>
    </p:spTree>
    <p:extLst>
      <p:ext uri="{BB962C8B-B14F-4D97-AF65-F5344CB8AC3E}">
        <p14:creationId xmlns:p14="http://schemas.microsoft.com/office/powerpoint/2010/main" val="433527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接口电路的功能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04109" y="1052736"/>
            <a:ext cx="8090186" cy="4896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数据的寄存和缓冲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信号转换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端口选择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接收和执行</a:t>
            </a:r>
            <a:r>
              <a:rPr lang="en-US" altLang="zh-CN" sz="2200" dirty="0">
                <a:solidFill>
                  <a:schemeClr val="tx1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指令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中断管理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404109" y="4548899"/>
            <a:ext cx="7772401" cy="1688411"/>
          </a:xfrm>
          <a:prstGeom prst="rect">
            <a:avLst/>
          </a:prstGeom>
          <a:solidFill>
            <a:srgbClr val="00E4A8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并不是所有接口电路都具备上述全部功能，</a:t>
            </a:r>
            <a:r>
              <a:rPr lang="en-US" altLang="zh-CN" sz="2400" dirty="0"/>
              <a:t>CPU</a:t>
            </a:r>
            <a:r>
              <a:rPr lang="zh-CN" altLang="en-US" sz="2400" dirty="0"/>
              <a:t>所连接的外设不同，接口电路功能也不一样。现在常用通用的可编程接口芯片构成接口电路。</a:t>
            </a:r>
          </a:p>
        </p:txBody>
      </p:sp>
    </p:spTree>
    <p:extLst>
      <p:ext uri="{BB962C8B-B14F-4D97-AF65-F5344CB8AC3E}">
        <p14:creationId xmlns:p14="http://schemas.microsoft.com/office/powerpoint/2010/main" val="2581395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I/O</a:t>
            </a:r>
            <a:r>
              <a:rPr lang="zh-CN" altLang="en-US" dirty="0">
                <a:latin typeface="+mj-ea"/>
              </a:rPr>
              <a:t>接口的基本结构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04109" y="1052736"/>
            <a:ext cx="8090186" cy="489654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200" dirty="0">
                <a:solidFill>
                  <a:schemeClr val="tx1"/>
                </a:solidFill>
              </a:rPr>
              <a:t>一个简单的</a:t>
            </a:r>
            <a:r>
              <a:rPr lang="en-US" altLang="zh-CN" sz="2200" dirty="0">
                <a:solidFill>
                  <a:schemeClr val="tx1"/>
                </a:solidFill>
              </a:rPr>
              <a:t>I/O</a:t>
            </a:r>
            <a:r>
              <a:rPr lang="zh-CN" altLang="en-US" sz="2200" dirty="0">
                <a:solidFill>
                  <a:schemeClr val="tx1"/>
                </a:solidFill>
              </a:rPr>
              <a:t>接口电路需要具有：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zh-CN" altLang="en-US" sz="2200" dirty="0">
                <a:solidFill>
                  <a:schemeClr val="tx1"/>
                </a:solidFill>
              </a:rPr>
              <a:t>端口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zh-CN" altLang="en-US" sz="2200" dirty="0">
                <a:solidFill>
                  <a:schemeClr val="tx1"/>
                </a:solidFill>
              </a:rPr>
              <a:t>地址译码电路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zh-CN" altLang="en-US" sz="2200" dirty="0">
                <a:solidFill>
                  <a:schemeClr val="tx1"/>
                </a:solidFill>
              </a:rPr>
              <a:t>数据缓冲器与锁存器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1233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3473" y="1768216"/>
            <a:ext cx="8496545" cy="3946781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5A8AE2-8E0B-4055-AC24-FD4D1192EF7B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I/O</a:t>
            </a:r>
            <a:r>
              <a:rPr lang="zh-CN" altLang="en-US" dirty="0">
                <a:latin typeface="+mj-ea"/>
              </a:rPr>
              <a:t>接口的基本结构</a:t>
            </a:r>
          </a:p>
        </p:txBody>
      </p:sp>
      <p:sp>
        <p:nvSpPr>
          <p:cNvPr id="7" name="矩形 6"/>
          <p:cNvSpPr/>
          <p:nvPr/>
        </p:nvSpPr>
        <p:spPr>
          <a:xfrm>
            <a:off x="383473" y="1161960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+mj-ea"/>
              </a:rPr>
              <a:t>接口的基本构成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16386312"/>
      </p:ext>
    </p:extLst>
  </p:cSld>
  <p:clrMapOvr>
    <a:masterClrMapping/>
  </p:clrMapOvr>
  <p:transition spd="slow"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I/O</a:t>
            </a:r>
            <a:r>
              <a:rPr lang="zh-CN" altLang="en-US" dirty="0">
                <a:latin typeface="+mj-ea"/>
              </a:rPr>
              <a:t>接口的基本结构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04109" y="1052736"/>
            <a:ext cx="8090186" cy="489654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200" dirty="0">
                <a:solidFill>
                  <a:schemeClr val="tx1"/>
                </a:solidFill>
              </a:rPr>
              <a:t>一个简单的</a:t>
            </a:r>
            <a:r>
              <a:rPr lang="en-US" altLang="zh-CN" sz="2200" dirty="0">
                <a:solidFill>
                  <a:schemeClr val="tx1"/>
                </a:solidFill>
              </a:rPr>
              <a:t>I/O</a:t>
            </a:r>
            <a:r>
              <a:rPr lang="zh-CN" altLang="en-US" sz="2200" dirty="0">
                <a:solidFill>
                  <a:schemeClr val="tx1"/>
                </a:solidFill>
              </a:rPr>
              <a:t>接口电路需要具有：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zh-CN" altLang="en-US" sz="2200" b="1" dirty="0">
                <a:solidFill>
                  <a:schemeClr val="tx1"/>
                </a:solidFill>
              </a:rPr>
              <a:t>端口</a:t>
            </a:r>
            <a:endParaRPr lang="en-US" altLang="zh-CN" sz="2200" b="1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zh-CN" altLang="en-US" sz="2200" dirty="0">
                <a:solidFill>
                  <a:schemeClr val="tx1"/>
                </a:solidFill>
              </a:rPr>
              <a:t>地址译码电路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zh-CN" altLang="en-US" sz="2200" dirty="0">
                <a:solidFill>
                  <a:schemeClr val="tx1"/>
                </a:solidFill>
              </a:rPr>
              <a:t>数据缓冲器与锁存器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6" name="圆角矩形标注 5"/>
          <p:cNvSpPr/>
          <p:nvPr/>
        </p:nvSpPr>
        <p:spPr bwMode="auto">
          <a:xfrm>
            <a:off x="4830813" y="1934249"/>
            <a:ext cx="3826042" cy="1449031"/>
          </a:xfrm>
          <a:prstGeom prst="wedgeRoundRectCallout">
            <a:avLst>
              <a:gd name="adj1" fmla="val -129952"/>
              <a:gd name="adj2" fmla="val -40655"/>
              <a:gd name="adj3" fmla="val 16667"/>
            </a:avLst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接口电路中被分配了地址的寄存器或缓冲电路</a:t>
            </a:r>
          </a:p>
        </p:txBody>
      </p:sp>
    </p:spTree>
    <p:extLst>
      <p:ext uri="{BB962C8B-B14F-4D97-AF65-F5344CB8AC3E}">
        <p14:creationId xmlns:p14="http://schemas.microsoft.com/office/powerpoint/2010/main" val="13052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I/O</a:t>
            </a:r>
            <a:r>
              <a:rPr lang="zh-CN" altLang="en-US" dirty="0">
                <a:latin typeface="+mj-ea"/>
              </a:rPr>
              <a:t>接口的基本结构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04109" y="1052736"/>
            <a:ext cx="8090186" cy="489654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200" dirty="0">
                <a:solidFill>
                  <a:schemeClr val="tx1"/>
                </a:solidFill>
              </a:rPr>
              <a:t>一个简单的</a:t>
            </a:r>
            <a:r>
              <a:rPr lang="en-US" altLang="zh-CN" sz="2200" dirty="0">
                <a:solidFill>
                  <a:schemeClr val="tx1"/>
                </a:solidFill>
              </a:rPr>
              <a:t>I/O</a:t>
            </a:r>
            <a:r>
              <a:rPr lang="zh-CN" altLang="en-US" sz="2200" dirty="0">
                <a:solidFill>
                  <a:schemeClr val="tx1"/>
                </a:solidFill>
              </a:rPr>
              <a:t>接口电路需要具有：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zh-CN" altLang="en-US" sz="2200" dirty="0">
                <a:solidFill>
                  <a:schemeClr val="tx1"/>
                </a:solidFill>
              </a:rPr>
              <a:t>端口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zh-CN" altLang="en-US" sz="2200" b="1" dirty="0">
                <a:solidFill>
                  <a:schemeClr val="tx1"/>
                </a:solidFill>
              </a:rPr>
              <a:t>地址译码电路</a:t>
            </a:r>
            <a:endParaRPr lang="en-US" altLang="zh-CN" sz="2200" b="1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zh-CN" altLang="en-US" sz="2200" dirty="0">
                <a:solidFill>
                  <a:schemeClr val="tx1"/>
                </a:solidFill>
              </a:rPr>
              <a:t>数据缓冲器与锁存器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6" name="圆角矩形标注 5"/>
          <p:cNvSpPr/>
          <p:nvPr/>
        </p:nvSpPr>
        <p:spPr bwMode="auto">
          <a:xfrm>
            <a:off x="4668253" y="1690409"/>
            <a:ext cx="3826042" cy="3814011"/>
          </a:xfrm>
          <a:prstGeom prst="wedgeRoundRectCallout">
            <a:avLst>
              <a:gd name="adj1" fmla="val -101021"/>
              <a:gd name="adj2" fmla="val -23305"/>
              <a:gd name="adj3" fmla="val 16667"/>
            </a:avLst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CPU</a:t>
            </a:r>
            <a:r>
              <a: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发出的</a:t>
            </a: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10</a:t>
            </a:r>
            <a:r>
              <a: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位地址信号，高位地址经译码用来选择不同的接口电路，低位地址经译码用来选择接口电路内部的不同端口。</a:t>
            </a:r>
          </a:p>
        </p:txBody>
      </p:sp>
    </p:spTree>
    <p:extLst>
      <p:ext uri="{BB962C8B-B14F-4D97-AF65-F5344CB8AC3E}">
        <p14:creationId xmlns:p14="http://schemas.microsoft.com/office/powerpoint/2010/main" val="3567589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I/O</a:t>
            </a:r>
            <a:r>
              <a:rPr lang="zh-CN" altLang="en-US" dirty="0">
                <a:latin typeface="+mj-ea"/>
              </a:rPr>
              <a:t>接口的基本结构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04109" y="1052736"/>
            <a:ext cx="8090186" cy="489654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200" dirty="0">
                <a:solidFill>
                  <a:schemeClr val="tx1"/>
                </a:solidFill>
              </a:rPr>
              <a:t>一个简单的</a:t>
            </a:r>
            <a:r>
              <a:rPr lang="en-US" altLang="zh-CN" sz="2200" dirty="0">
                <a:solidFill>
                  <a:schemeClr val="tx1"/>
                </a:solidFill>
              </a:rPr>
              <a:t>I/O</a:t>
            </a:r>
            <a:r>
              <a:rPr lang="zh-CN" altLang="en-US" sz="2200" dirty="0">
                <a:solidFill>
                  <a:schemeClr val="tx1"/>
                </a:solidFill>
              </a:rPr>
              <a:t>接口电路需要具有：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zh-CN" altLang="en-US" sz="2200" dirty="0">
                <a:solidFill>
                  <a:schemeClr val="tx1"/>
                </a:solidFill>
              </a:rPr>
              <a:t>端口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zh-CN" altLang="en-US" sz="2200" dirty="0">
                <a:solidFill>
                  <a:schemeClr val="tx1"/>
                </a:solidFill>
              </a:rPr>
              <a:t>地址译码电路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zh-CN" altLang="en-US" sz="2200" b="1" dirty="0">
                <a:solidFill>
                  <a:schemeClr val="tx1"/>
                </a:solidFill>
              </a:rPr>
              <a:t>数据缓冲器与锁存器</a:t>
            </a:r>
            <a:endParaRPr lang="en-US" altLang="zh-CN" sz="2200" b="1" dirty="0">
              <a:solidFill>
                <a:schemeClr val="tx1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6" name="圆角矩形标注 5"/>
          <p:cNvSpPr/>
          <p:nvPr/>
        </p:nvSpPr>
        <p:spPr bwMode="auto">
          <a:xfrm>
            <a:off x="4668253" y="1690409"/>
            <a:ext cx="3826042" cy="3814011"/>
          </a:xfrm>
          <a:prstGeom prst="wedgeRoundRectCallout">
            <a:avLst>
              <a:gd name="adj1" fmla="val -79637"/>
              <a:gd name="adj2" fmla="val -8163"/>
              <a:gd name="adj3" fmla="val 16667"/>
            </a:avLst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一方面协调</a:t>
            </a: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CPU</a:t>
            </a:r>
            <a:r>
              <a: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和外设之间的速度；</a:t>
            </a:r>
            <a:endParaRPr kumimoji="1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另一方面使得数据传输端在不传输数据时呈高阻状态。</a:t>
            </a:r>
          </a:p>
        </p:txBody>
      </p:sp>
    </p:spTree>
    <p:extLst>
      <p:ext uri="{BB962C8B-B14F-4D97-AF65-F5344CB8AC3E}">
        <p14:creationId xmlns:p14="http://schemas.microsoft.com/office/powerpoint/2010/main" val="852924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简单的</a:t>
            </a:r>
            <a:r>
              <a:rPr lang="en-US" altLang="zh-CN" dirty="0">
                <a:latin typeface="+mj-ea"/>
              </a:rPr>
              <a:t>I/O</a:t>
            </a:r>
            <a:r>
              <a:rPr lang="zh-CN" altLang="en-US" dirty="0">
                <a:latin typeface="+mj-ea"/>
              </a:rPr>
              <a:t>接口芯片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04108" y="1052736"/>
            <a:ext cx="7772402" cy="489654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1. </a:t>
            </a:r>
            <a:r>
              <a:rPr lang="zh-CN" altLang="en-US" sz="2400" dirty="0"/>
              <a:t>数据缓冲器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具有三态输出性能，在不传输数据时，使能信号无效，输出端呈现高阻状态；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当使能信号有效时，控制内部的相应缓冲单元接通，数据被传输；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除了具有缓冲作用外，还能提高总线驱动能力。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9918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单向数据缓冲器 </a:t>
            </a:r>
            <a:r>
              <a:rPr lang="en-US" altLang="zh-CN" dirty="0">
                <a:latin typeface="+mj-ea"/>
              </a:rPr>
              <a:t>74LS244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18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23" y="1205822"/>
            <a:ext cx="8113736" cy="5266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134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简单的</a:t>
            </a:r>
            <a:r>
              <a:rPr lang="en-US" altLang="zh-CN" dirty="0">
                <a:latin typeface="+mj-ea"/>
              </a:rPr>
              <a:t>I/O</a:t>
            </a:r>
            <a:r>
              <a:rPr lang="zh-CN" altLang="en-US" dirty="0">
                <a:latin typeface="+mj-ea"/>
              </a:rPr>
              <a:t>接口芯片</a:t>
            </a:r>
            <a:endParaRPr lang="zh-CN" altLang="en-US" dirty="0"/>
          </a:p>
        </p:txBody>
      </p:sp>
      <p:sp>
        <p:nvSpPr>
          <p:cNvPr id="180226" name="Rectangle 2"/>
          <p:cNvSpPr>
            <a:spLocks noGrp="1" noChangeArrowheads="1"/>
          </p:cNvSpPr>
          <p:nvPr>
            <p:ph idx="1"/>
          </p:nvPr>
        </p:nvSpPr>
        <p:spPr>
          <a:xfrm>
            <a:off x="404108" y="1052735"/>
            <a:ext cx="8234565" cy="5420253"/>
          </a:xfrm>
        </p:spPr>
        <p:txBody>
          <a:bodyPr/>
          <a:lstStyle/>
          <a:p>
            <a:pPr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单向数据缓冲器</a:t>
            </a:r>
            <a:r>
              <a:rPr lang="en-US" altLang="zh-CN" sz="2400" dirty="0"/>
              <a:t>74LS244</a:t>
            </a:r>
          </a:p>
          <a:p>
            <a:pPr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	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8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路单向数据缓冲器；</a:t>
            </a:r>
          </a:p>
          <a:p>
            <a:pPr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	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8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个输入端，分为两路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—1A1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～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1A4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2A1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～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2A4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；</a:t>
            </a:r>
          </a:p>
          <a:p>
            <a:pPr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	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8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个输出端，分为两路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—1Y1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～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1Y4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2Y1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～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2Y4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；</a:t>
            </a:r>
          </a:p>
          <a:p>
            <a:pPr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	分别由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个门控信号     和      控制；    和      为低，芯片工作，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Y = A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；</a:t>
            </a:r>
          </a:p>
          <a:p>
            <a:pPr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	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74LS244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是一种单向数据缓冲器，常用来构成外设输入数据端口；</a:t>
            </a:r>
          </a:p>
        </p:txBody>
      </p:sp>
      <p:graphicFrame>
        <p:nvGraphicFramePr>
          <p:cNvPr id="1802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0858436"/>
              </p:ext>
            </p:extLst>
          </p:nvPr>
        </p:nvGraphicFramePr>
        <p:xfrm>
          <a:off x="3263900" y="3726765"/>
          <a:ext cx="37782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0" name="Equation" r:id="rId3" imgW="419040" imgH="368280" progId="Equation.3">
                  <p:embed/>
                </p:oleObj>
              </mc:Choice>
              <mc:Fallback>
                <p:oleObj name="Equation" r:id="rId3" imgW="419040" imgH="368280" progId="Equation.3">
                  <p:embed/>
                  <p:pic>
                    <p:nvPicPr>
                      <p:cNvPr id="1802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900" y="3726765"/>
                        <a:ext cx="377825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3991024"/>
              </p:ext>
            </p:extLst>
          </p:nvPr>
        </p:nvGraphicFramePr>
        <p:xfrm>
          <a:off x="3971842" y="3725554"/>
          <a:ext cx="43497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" name="Equation" r:id="rId5" imgW="482400" imgH="368280" progId="Equation.3">
                  <p:embed/>
                </p:oleObj>
              </mc:Choice>
              <mc:Fallback>
                <p:oleObj name="Equation" r:id="rId5" imgW="482400" imgH="368280" progId="Equation.3">
                  <p:embed/>
                  <p:pic>
                    <p:nvPicPr>
                      <p:cNvPr id="1802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1842" y="3725554"/>
                        <a:ext cx="434975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0045182"/>
              </p:ext>
            </p:extLst>
          </p:nvPr>
        </p:nvGraphicFramePr>
        <p:xfrm>
          <a:off x="5190915" y="3725554"/>
          <a:ext cx="37782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2" name="Equation" r:id="rId7" imgW="419040" imgH="368280" progId="Equation.3">
                  <p:embed/>
                </p:oleObj>
              </mc:Choice>
              <mc:Fallback>
                <p:oleObj name="Equation" r:id="rId7" imgW="419040" imgH="368280" progId="Equation.3">
                  <p:embed/>
                  <p:pic>
                    <p:nvPicPr>
                      <p:cNvPr id="1802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0915" y="3725554"/>
                        <a:ext cx="377825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4075764"/>
              </p:ext>
            </p:extLst>
          </p:nvPr>
        </p:nvGraphicFramePr>
        <p:xfrm>
          <a:off x="5922711" y="3737586"/>
          <a:ext cx="43497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3" name="Equation" r:id="rId8" imgW="482400" imgH="368280" progId="Equation.3">
                  <p:embed/>
                </p:oleObj>
              </mc:Choice>
              <mc:Fallback>
                <p:oleObj name="Equation" r:id="rId8" imgW="482400" imgH="368280" progId="Equation.3">
                  <p:embed/>
                  <p:pic>
                    <p:nvPicPr>
                      <p:cNvPr id="1802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2711" y="3737586"/>
                        <a:ext cx="434975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4423330"/>
      </p:ext>
    </p:extLst>
  </p:cSld>
  <p:clrMapOvr>
    <a:masterClrMapping/>
  </p:clrMapOvr>
  <p:transition spd="slow"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135" y="996620"/>
            <a:ext cx="5089775" cy="5704218"/>
          </a:xfrm>
          <a:prstGeom prst="rect">
            <a:avLst/>
          </a:prstGeom>
        </p:spPr>
      </p:pic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简单的</a:t>
            </a:r>
            <a:r>
              <a:rPr lang="en-US" altLang="zh-CN" dirty="0">
                <a:latin typeface="+mj-ea"/>
              </a:rPr>
              <a:t>I/O</a:t>
            </a:r>
            <a:r>
              <a:rPr lang="zh-CN" altLang="en-US" dirty="0">
                <a:latin typeface="+mj-ea"/>
              </a:rPr>
              <a:t>接口芯片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04108" y="1052736"/>
            <a:ext cx="3761492" cy="519090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双向数据缓冲器 </a:t>
            </a:r>
            <a:r>
              <a:rPr lang="en-US" altLang="zh-CN" sz="2400" dirty="0"/>
              <a:t>74LS245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内部包括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8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个双向三态缓冲器，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A1~A8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B1~B8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两个控制端：使能端    和方向控制端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DIR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；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20</a:t>
            </a:fld>
            <a:endParaRPr lang="en-US" altLang="zh-CN"/>
          </a:p>
        </p:txBody>
      </p:sp>
      <p:graphicFrame>
        <p:nvGraphicFramePr>
          <p:cNvPr id="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153566"/>
              </p:ext>
            </p:extLst>
          </p:nvPr>
        </p:nvGraphicFramePr>
        <p:xfrm>
          <a:off x="380049" y="4062874"/>
          <a:ext cx="3175953" cy="1886405"/>
        </p:xfrm>
        <a:graphic>
          <a:graphicData uri="http://schemas.openxmlformats.org/drawingml/2006/table">
            <a:tbl>
              <a:tblPr/>
              <a:tblGrid>
                <a:gridCol w="1058651">
                  <a:extLst>
                    <a:ext uri="{9D8B030D-6E8A-4147-A177-3AD203B41FA5}">
                      <a16:colId xmlns:a16="http://schemas.microsoft.com/office/drawing/2014/main" val="3352969630"/>
                    </a:ext>
                  </a:extLst>
                </a:gridCol>
                <a:gridCol w="1058651">
                  <a:extLst>
                    <a:ext uri="{9D8B030D-6E8A-4147-A177-3AD203B41FA5}">
                      <a16:colId xmlns:a16="http://schemas.microsoft.com/office/drawing/2014/main" val="1292801603"/>
                    </a:ext>
                  </a:extLst>
                </a:gridCol>
                <a:gridCol w="1058651">
                  <a:extLst>
                    <a:ext uri="{9D8B030D-6E8A-4147-A177-3AD203B41FA5}">
                      <a16:colId xmlns:a16="http://schemas.microsoft.com/office/drawing/2014/main" val="1643033577"/>
                    </a:ext>
                  </a:extLst>
                </a:gridCol>
              </a:tblGrid>
              <a:tr h="705710">
                <a:tc>
                  <a:txBody>
                    <a:bodyPr/>
                    <a:lstStyle>
                      <a:lvl1pPr defTabSz="10223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512763" defTabSz="10223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022350" defTabSz="10223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535113" defTabSz="10223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46288" defTabSz="10223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034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606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178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750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0223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使能</a:t>
                      </a:r>
                    </a:p>
                  </a:txBody>
                  <a:tcPr marL="91430" marR="91430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0223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512763" defTabSz="10223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022350" defTabSz="10223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535113" defTabSz="10223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46288" defTabSz="10223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034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606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178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750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0223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方向控制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DIR</a:t>
                      </a:r>
                    </a:p>
                  </a:txBody>
                  <a:tcPr marL="91430" marR="91430"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0223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512763" defTabSz="10223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022350" defTabSz="10223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535113" defTabSz="10223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46288" defTabSz="10223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034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606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178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750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0223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传送方向</a:t>
                      </a:r>
                    </a:p>
                  </a:txBody>
                  <a:tcPr marL="91430" marR="91430"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172806"/>
                  </a:ext>
                </a:extLst>
              </a:tr>
              <a:tr h="393565">
                <a:tc>
                  <a:txBody>
                    <a:bodyPr/>
                    <a:lstStyle>
                      <a:lvl1pPr defTabSz="10223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512763" defTabSz="10223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022350" defTabSz="10223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535113" defTabSz="10223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46288" defTabSz="10223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034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606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178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750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0223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91430" marR="91430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0223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512763" defTabSz="10223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022350" defTabSz="10223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535113" defTabSz="10223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46288" defTabSz="10223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034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606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178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750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0223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91430" marR="91430"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0223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512763" defTabSz="10223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022350" defTabSz="10223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535113" defTabSz="10223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46288" defTabSz="10223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034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606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178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750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0223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B→A</a:t>
                      </a:r>
                    </a:p>
                  </a:txBody>
                  <a:tcPr marL="91430" marR="91430"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395356"/>
                  </a:ext>
                </a:extLst>
              </a:tr>
              <a:tr h="393565">
                <a:tc>
                  <a:txBody>
                    <a:bodyPr/>
                    <a:lstStyle>
                      <a:lvl1pPr defTabSz="10223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512763" defTabSz="10223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022350" defTabSz="10223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535113" defTabSz="10223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46288" defTabSz="10223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034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606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178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750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0223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91430" marR="91430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0223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512763" defTabSz="10223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022350" defTabSz="10223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535113" defTabSz="10223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46288" defTabSz="10223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034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606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178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750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0223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1430" marR="91430"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0223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512763" defTabSz="10223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022350" defTabSz="10223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535113" defTabSz="10223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46288" defTabSz="10223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034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606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178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750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0223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A→B</a:t>
                      </a:r>
                    </a:p>
                  </a:txBody>
                  <a:tcPr marL="91430" marR="91430"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296834"/>
                  </a:ext>
                </a:extLst>
              </a:tr>
              <a:tr h="393565">
                <a:tc>
                  <a:txBody>
                    <a:bodyPr/>
                    <a:lstStyle>
                      <a:lvl1pPr defTabSz="10223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512763" defTabSz="10223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022350" defTabSz="10223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535113" defTabSz="10223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46288" defTabSz="10223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034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606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178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750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0223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1430" marR="91430" marT="45715" marB="4571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0223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512763" defTabSz="10223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022350" defTabSz="10223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535113" defTabSz="10223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46288" defTabSz="10223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034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606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178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750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0223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</a:p>
                  </a:txBody>
                  <a:tcPr marL="91430" marR="91430"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0223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512763" defTabSz="10223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022350" defTabSz="10223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535113" defTabSz="10223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46288" defTabSz="10223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034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606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178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75088" defTabSz="10223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102235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高阻</a:t>
                      </a:r>
                    </a:p>
                  </a:txBody>
                  <a:tcPr marL="91430" marR="91430" marT="45715" marB="4571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834968"/>
                  </a:ext>
                </a:extLst>
              </a:tr>
            </a:tbl>
          </a:graphicData>
        </a:graphic>
      </p:graphicFrame>
      <p:graphicFrame>
        <p:nvGraphicFramePr>
          <p:cNvPr id="7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8460074"/>
              </p:ext>
            </p:extLst>
          </p:nvPr>
        </p:nvGraphicFramePr>
        <p:xfrm>
          <a:off x="1159044" y="4123834"/>
          <a:ext cx="156396" cy="198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2" name="Equation" r:id="rId5" imgW="279360" imgH="355320" progId="Equation.3">
                  <p:embed/>
                </p:oleObj>
              </mc:Choice>
              <mc:Fallback>
                <p:oleObj name="Equation" r:id="rId5" imgW="279360" imgH="355320" progId="Equation.3">
                  <p:embed/>
                  <p:pic>
                    <p:nvPicPr>
                      <p:cNvPr id="182298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9044" y="4123834"/>
                        <a:ext cx="156396" cy="1985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318918"/>
              </p:ext>
            </p:extLst>
          </p:nvPr>
        </p:nvGraphicFramePr>
        <p:xfrm>
          <a:off x="2845604" y="2877832"/>
          <a:ext cx="273516" cy="347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3" name="Equation" r:id="rId5" imgW="279360" imgH="355320" progId="Equation.3">
                  <p:embed/>
                </p:oleObj>
              </mc:Choice>
              <mc:Fallback>
                <p:oleObj name="Equation" r:id="rId5" imgW="279360" imgH="355320" progId="Equation.3">
                  <p:embed/>
                  <p:pic>
                    <p:nvPicPr>
                      <p:cNvPr id="7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5604" y="2877832"/>
                        <a:ext cx="273516" cy="347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1045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简单的</a:t>
            </a:r>
            <a:r>
              <a:rPr lang="en-US" altLang="zh-CN" dirty="0">
                <a:latin typeface="+mj-ea"/>
              </a:rPr>
              <a:t>I/O</a:t>
            </a:r>
            <a:r>
              <a:rPr lang="zh-CN" altLang="en-US" dirty="0">
                <a:latin typeface="+mj-ea"/>
              </a:rPr>
              <a:t>接口芯片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83473" y="764706"/>
            <a:ext cx="7772402" cy="489654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2. </a:t>
            </a:r>
            <a:r>
              <a:rPr lang="zh-CN" altLang="en-US" sz="2400" dirty="0"/>
              <a:t>锁存器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可以锁存数据，</a:t>
            </a:r>
            <a:r>
              <a:rPr lang="en-US" altLang="zh-CN" sz="2200" dirty="0">
                <a:solidFill>
                  <a:schemeClr val="tx1"/>
                </a:solidFill>
              </a:rPr>
              <a:t>74LS373</a:t>
            </a:r>
            <a:r>
              <a:rPr lang="zh-CN" altLang="en-US" sz="2200" dirty="0">
                <a:solidFill>
                  <a:schemeClr val="tx1"/>
                </a:solidFill>
              </a:rPr>
              <a:t>是一种常用的三态</a:t>
            </a:r>
            <a:r>
              <a:rPr lang="en-US" altLang="zh-CN" sz="2200" dirty="0">
                <a:solidFill>
                  <a:schemeClr val="tx1"/>
                </a:solidFill>
              </a:rPr>
              <a:t>8</a:t>
            </a:r>
            <a:r>
              <a:rPr lang="zh-CN" altLang="en-US" sz="2200" dirty="0">
                <a:solidFill>
                  <a:schemeClr val="tx1"/>
                </a:solidFill>
              </a:rPr>
              <a:t>位锁存器。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21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36" y="2068381"/>
            <a:ext cx="7440676" cy="463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13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I/O</a:t>
            </a:r>
            <a:r>
              <a:rPr lang="zh-CN" altLang="en-US" dirty="0">
                <a:latin typeface="+mj-ea"/>
              </a:rPr>
              <a:t>端口的编址方式及端口地址译码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108" y="1052736"/>
            <a:ext cx="8333491" cy="4896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计算机系统中包含各类不同功能的接口电路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每个接口中含</a:t>
            </a:r>
            <a:r>
              <a:rPr lang="en-US" altLang="zh-CN" sz="2200" dirty="0">
                <a:solidFill>
                  <a:schemeClr val="tx1"/>
                </a:solidFill>
              </a:rPr>
              <a:t>1</a:t>
            </a:r>
            <a:r>
              <a:rPr lang="zh-CN" altLang="en-US" sz="2200" dirty="0">
                <a:solidFill>
                  <a:schemeClr val="tx1"/>
                </a:solidFill>
              </a:rPr>
              <a:t>个或多个端口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08" y="2519365"/>
            <a:ext cx="8354126" cy="342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669085"/>
      </p:ext>
    </p:extLst>
  </p:cSld>
  <p:clrMapOvr>
    <a:masterClrMapping/>
  </p:clrMapOvr>
  <p:transition spd="slow"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I/O</a:t>
            </a:r>
            <a:r>
              <a:rPr lang="zh-CN" altLang="en-US" dirty="0">
                <a:latin typeface="+mj-ea"/>
              </a:rPr>
              <a:t>端口的编址方式及端口地址译码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108" y="1052736"/>
            <a:ext cx="8333491" cy="489654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200" dirty="0">
                <a:solidFill>
                  <a:schemeClr val="tx1"/>
                </a:solidFill>
              </a:rPr>
              <a:t>I/O</a:t>
            </a:r>
            <a:r>
              <a:rPr lang="zh-CN" altLang="en-US" sz="2200" dirty="0">
                <a:solidFill>
                  <a:schemeClr val="tx1"/>
                </a:solidFill>
              </a:rPr>
              <a:t>端口是接口电路中能被</a:t>
            </a:r>
            <a:r>
              <a:rPr lang="en-US" altLang="zh-CN" sz="2200" dirty="0">
                <a:solidFill>
                  <a:schemeClr val="tx1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直接访问的寄存器。通过这些端口，</a:t>
            </a:r>
            <a:r>
              <a:rPr lang="en-US" altLang="zh-CN" sz="2200" dirty="0">
                <a:solidFill>
                  <a:schemeClr val="tx1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可以对接口电路发送指令，可以读出当前接口电路的状态。一般来说，</a:t>
            </a:r>
            <a:r>
              <a:rPr lang="en-US" altLang="zh-CN" sz="2200" dirty="0">
                <a:solidFill>
                  <a:schemeClr val="tx1"/>
                </a:solidFill>
              </a:rPr>
              <a:t>I/O</a:t>
            </a:r>
            <a:r>
              <a:rPr lang="zh-CN" altLang="en-US" sz="2200" dirty="0">
                <a:solidFill>
                  <a:schemeClr val="tx1"/>
                </a:solidFill>
              </a:rPr>
              <a:t>接口电路中有</a:t>
            </a:r>
            <a:r>
              <a:rPr lang="en-US" altLang="zh-CN" sz="2200" dirty="0">
                <a:solidFill>
                  <a:schemeClr val="tx1"/>
                </a:solidFill>
              </a:rPr>
              <a:t>3</a:t>
            </a:r>
            <a:r>
              <a:rPr lang="zh-CN" altLang="en-US" sz="2200" dirty="0">
                <a:solidFill>
                  <a:schemeClr val="tx1"/>
                </a:solidFill>
              </a:rPr>
              <a:t>种端口：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chemeClr val="tx1"/>
                </a:solidFill>
              </a:rPr>
              <a:t>数据端口</a:t>
            </a:r>
            <a:r>
              <a:rPr lang="zh-CN" altLang="en-US" sz="2200" dirty="0">
                <a:solidFill>
                  <a:schemeClr val="tx1"/>
                </a:solidFill>
              </a:rPr>
              <a:t>：数据输入</a:t>
            </a:r>
            <a:r>
              <a:rPr lang="en-US" altLang="zh-CN" sz="2200" dirty="0">
                <a:solidFill>
                  <a:schemeClr val="tx1"/>
                </a:solidFill>
              </a:rPr>
              <a:t>/</a:t>
            </a:r>
            <a:r>
              <a:rPr lang="zh-CN" altLang="en-US" sz="2200" dirty="0">
                <a:solidFill>
                  <a:schemeClr val="tx1"/>
                </a:solidFill>
              </a:rPr>
              <a:t>输出端口，保存</a:t>
            </a:r>
            <a:r>
              <a:rPr lang="en-US" altLang="zh-CN" sz="2200" dirty="0">
                <a:solidFill>
                  <a:schemeClr val="tx1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和外设来往数据；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chemeClr val="tx1"/>
                </a:solidFill>
              </a:rPr>
              <a:t>状态端口</a:t>
            </a:r>
            <a:r>
              <a:rPr lang="zh-CN" altLang="en-US" sz="2200" dirty="0">
                <a:solidFill>
                  <a:schemeClr val="tx1"/>
                </a:solidFill>
              </a:rPr>
              <a:t>：保存外设和接口电路工作状态，供</a:t>
            </a:r>
            <a:r>
              <a:rPr lang="en-US" altLang="zh-CN" sz="2200" dirty="0">
                <a:solidFill>
                  <a:schemeClr val="tx1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读取；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chemeClr val="tx1"/>
                </a:solidFill>
              </a:rPr>
              <a:t>控制端口</a:t>
            </a:r>
            <a:r>
              <a:rPr lang="zh-CN" altLang="en-US" sz="2200" dirty="0">
                <a:solidFill>
                  <a:schemeClr val="tx1"/>
                </a:solidFill>
              </a:rPr>
              <a:t>：存放</a:t>
            </a:r>
            <a:r>
              <a:rPr lang="en-US" altLang="zh-CN" sz="2200" dirty="0">
                <a:solidFill>
                  <a:schemeClr val="tx1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发来的控制指令，初始化接口电路，确定其工作方式和功能。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200" dirty="0">
                <a:solidFill>
                  <a:schemeClr val="tx1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对</a:t>
            </a:r>
            <a:r>
              <a:rPr lang="en-US" altLang="zh-CN" sz="2200" dirty="0">
                <a:solidFill>
                  <a:schemeClr val="tx1"/>
                </a:solidFill>
              </a:rPr>
              <a:t>I/O</a:t>
            </a:r>
            <a:r>
              <a:rPr lang="zh-CN" altLang="en-US" sz="2200" dirty="0">
                <a:solidFill>
                  <a:schemeClr val="tx1"/>
                </a:solidFill>
              </a:rPr>
              <a:t>端口的访问是通过选通端口地址实现的。</a:t>
            </a:r>
          </a:p>
        </p:txBody>
      </p:sp>
    </p:spTree>
    <p:extLst>
      <p:ext uri="{BB962C8B-B14F-4D97-AF65-F5344CB8AC3E}">
        <p14:creationId xmlns:p14="http://schemas.microsoft.com/office/powerpoint/2010/main" val="2345503172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I/O</a:t>
            </a:r>
            <a:r>
              <a:rPr lang="zh-CN" altLang="en-US" dirty="0">
                <a:latin typeface="+mj-ea"/>
              </a:rPr>
              <a:t>端口的编址方式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109" y="1052736"/>
            <a:ext cx="8186438" cy="4896544"/>
          </a:xfrm>
        </p:spPr>
        <p:txBody>
          <a:bodyPr/>
          <a:lstStyle/>
          <a:p>
            <a:pPr marL="0" indent="0">
              <a:lnSpc>
                <a:spcPct val="150000"/>
              </a:lnSpc>
              <a:buSzPct val="100000"/>
              <a:buNone/>
            </a:pPr>
            <a:r>
              <a:rPr lang="en-US" altLang="zh-CN" sz="2200" dirty="0">
                <a:solidFill>
                  <a:schemeClr val="tx1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对外设访问，首先要给出所访问接口电路中端口的地址，只有当地址选通后，</a:t>
            </a:r>
            <a:r>
              <a:rPr lang="en-US" altLang="zh-CN" sz="2200" dirty="0">
                <a:solidFill>
                  <a:schemeClr val="tx1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才能对接口电路，继而对外设进行控制。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SzPct val="100000"/>
              <a:buNone/>
            </a:pPr>
            <a:r>
              <a:rPr lang="en-US" altLang="zh-CN" sz="2200" dirty="0">
                <a:solidFill>
                  <a:schemeClr val="tx1"/>
                </a:solidFill>
              </a:rPr>
              <a:t>I/O</a:t>
            </a:r>
            <a:r>
              <a:rPr lang="zh-CN" altLang="en-US" sz="2200" dirty="0">
                <a:solidFill>
                  <a:schemeClr val="tx1"/>
                </a:solidFill>
              </a:rPr>
              <a:t>端口的编码方式有：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zh-CN" altLang="en-US" sz="2200" b="1" dirty="0">
                <a:solidFill>
                  <a:schemeClr val="tx1"/>
                </a:solidFill>
              </a:rPr>
              <a:t>统一编址</a:t>
            </a:r>
            <a:r>
              <a:rPr lang="zh-CN" altLang="en-US" sz="2200" dirty="0">
                <a:solidFill>
                  <a:schemeClr val="tx1"/>
                </a:solidFill>
              </a:rPr>
              <a:t>：接口电路地址和存储单元地址不同，也称为存储器映射方式。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zh-CN" altLang="en-US" sz="2200" b="1" dirty="0">
                <a:solidFill>
                  <a:schemeClr val="tx1"/>
                </a:solidFill>
              </a:rPr>
              <a:t>独立编址</a:t>
            </a:r>
            <a:r>
              <a:rPr lang="zh-CN" altLang="en-US" sz="2200" dirty="0">
                <a:solidFill>
                  <a:schemeClr val="tx1"/>
                </a:solidFill>
              </a:rPr>
              <a:t>：接口电路地址和存储单元地址相同，也称为</a:t>
            </a:r>
            <a:r>
              <a:rPr lang="en-US" altLang="zh-CN" sz="2200" dirty="0">
                <a:solidFill>
                  <a:schemeClr val="tx1"/>
                </a:solidFill>
              </a:rPr>
              <a:t>I/O</a:t>
            </a:r>
            <a:r>
              <a:rPr lang="zh-CN" altLang="en-US" sz="2200" dirty="0">
                <a:solidFill>
                  <a:schemeClr val="tx1"/>
                </a:solidFill>
              </a:rPr>
              <a:t>映射方式；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SzPct val="100000"/>
              <a:buNone/>
            </a:pP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4223462133"/>
      </p:ext>
    </p:extLst>
  </p:cSld>
  <p:clrMapOvr>
    <a:masterClrMapping/>
  </p:clrMapOvr>
  <p:transition spd="slow"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I/O</a:t>
            </a:r>
            <a:r>
              <a:rPr lang="zh-CN" altLang="en-US" dirty="0">
                <a:latin typeface="+mj-ea"/>
              </a:rPr>
              <a:t>端口的编址方式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109" y="1052736"/>
            <a:ext cx="8186438" cy="4896544"/>
          </a:xfrm>
        </p:spPr>
        <p:txBody>
          <a:bodyPr/>
          <a:lstStyle/>
          <a:p>
            <a:pPr marL="0" indent="0">
              <a:lnSpc>
                <a:spcPct val="150000"/>
              </a:lnSpc>
              <a:buSzPct val="100000"/>
              <a:buNone/>
            </a:pPr>
            <a:r>
              <a:rPr lang="en-US" altLang="zh-CN" sz="2200" dirty="0"/>
              <a:t>1. </a:t>
            </a:r>
            <a:r>
              <a:rPr lang="zh-CN" altLang="en-US" sz="2200" dirty="0"/>
              <a:t>统一编址</a:t>
            </a:r>
            <a:endParaRPr lang="en-US" altLang="zh-CN" sz="2200" dirty="0"/>
          </a:p>
          <a:p>
            <a:pPr marL="0" indent="0">
              <a:lnSpc>
                <a:spcPct val="150000"/>
              </a:lnSpc>
              <a:buSzPct val="100000"/>
              <a:buNone/>
            </a:pPr>
            <a:r>
              <a:rPr lang="zh-CN" altLang="en-US" sz="2200" dirty="0">
                <a:solidFill>
                  <a:schemeClr val="tx1"/>
                </a:solidFill>
              </a:rPr>
              <a:t>将存储空间的一部分地址分给接口电路使用，存储器和接口电路的地址是唯一的、不重合的。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chemeClr val="tx1"/>
                </a:solidFill>
              </a:rPr>
              <a:t>优点</a:t>
            </a:r>
            <a:r>
              <a:rPr lang="zh-CN" altLang="en-US" sz="2200" dirty="0">
                <a:solidFill>
                  <a:schemeClr val="tx1"/>
                </a:solidFill>
              </a:rPr>
              <a:t>：可以用访问存储单元的方法访问</a:t>
            </a:r>
            <a:r>
              <a:rPr lang="en-US" altLang="zh-CN" sz="2200" dirty="0">
                <a:solidFill>
                  <a:schemeClr val="tx1"/>
                </a:solidFill>
              </a:rPr>
              <a:t>I/O</a:t>
            </a:r>
            <a:r>
              <a:rPr lang="zh-CN" altLang="en-US" sz="2200" dirty="0">
                <a:solidFill>
                  <a:schemeClr val="tx1"/>
                </a:solidFill>
              </a:rPr>
              <a:t>端口，方式非常灵活，不需要专门的</a:t>
            </a:r>
            <a:r>
              <a:rPr lang="en-US" altLang="zh-CN" sz="2200" dirty="0">
                <a:solidFill>
                  <a:schemeClr val="tx1"/>
                </a:solidFill>
              </a:rPr>
              <a:t>I/O</a:t>
            </a:r>
            <a:r>
              <a:rPr lang="zh-CN" altLang="en-US" sz="2200" dirty="0">
                <a:solidFill>
                  <a:schemeClr val="tx1"/>
                </a:solidFill>
              </a:rPr>
              <a:t>指令；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chemeClr val="tx1"/>
                </a:solidFill>
              </a:rPr>
              <a:t>缺点</a:t>
            </a:r>
            <a:r>
              <a:rPr lang="zh-CN" altLang="en-US" sz="2200" dirty="0">
                <a:solidFill>
                  <a:schemeClr val="tx1"/>
                </a:solidFill>
              </a:rPr>
              <a:t>：占用了存储器寻址空间。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847408" y="3950756"/>
            <a:ext cx="4003141" cy="2299148"/>
            <a:chOff x="5185611" y="3898232"/>
            <a:chExt cx="4003141" cy="2299148"/>
          </a:xfrm>
        </p:grpSpPr>
        <p:grpSp>
          <p:nvGrpSpPr>
            <p:cNvPr id="7" name="组合 6"/>
            <p:cNvGrpSpPr/>
            <p:nvPr/>
          </p:nvGrpSpPr>
          <p:grpSpPr>
            <a:xfrm>
              <a:off x="6322461" y="3964258"/>
              <a:ext cx="1239254" cy="2177716"/>
              <a:chOff x="5510462" y="3645568"/>
              <a:chExt cx="1961149" cy="2875548"/>
            </a:xfrm>
          </p:grpSpPr>
          <p:sp>
            <p:nvSpPr>
              <p:cNvPr id="4" name="矩形 3"/>
              <p:cNvSpPr/>
              <p:nvPr/>
            </p:nvSpPr>
            <p:spPr bwMode="auto">
              <a:xfrm>
                <a:off x="5510464" y="3645568"/>
                <a:ext cx="1961147" cy="2875548"/>
              </a:xfrm>
              <a:prstGeom prst="rect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cxnSp>
            <p:nvCxnSpPr>
              <p:cNvPr id="6" name="直接连接符 5"/>
              <p:cNvCxnSpPr/>
              <p:nvPr/>
            </p:nvCxnSpPr>
            <p:spPr bwMode="auto">
              <a:xfrm>
                <a:off x="5510462" y="5468016"/>
                <a:ext cx="1961148" cy="0"/>
              </a:xfrm>
              <a:prstGeom prst="line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</p:cxnSp>
        </p:grpSp>
        <p:sp>
          <p:nvSpPr>
            <p:cNvPr id="8" name="文本框 7"/>
            <p:cNvSpPr txBox="1"/>
            <p:nvPr/>
          </p:nvSpPr>
          <p:spPr>
            <a:xfrm>
              <a:off x="5185611" y="3898232"/>
              <a:ext cx="11368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+mn-ea"/>
                </a:rPr>
                <a:t>00000H</a:t>
              </a:r>
              <a:endParaRPr lang="zh-CN" altLang="en-US" sz="2000" dirty="0">
                <a:latin typeface="+mn-ea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5200037" y="5052969"/>
              <a:ext cx="11224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+mn-ea"/>
                </a:rPr>
                <a:t>F0000H</a:t>
              </a:r>
              <a:endParaRPr lang="zh-CN" altLang="en-US" sz="2000" dirty="0">
                <a:latin typeface="+mn-ea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257745" y="5797270"/>
              <a:ext cx="10647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+mn-ea"/>
                </a:rPr>
                <a:t>FFFFFH</a:t>
              </a:r>
              <a:endParaRPr lang="zh-CN" altLang="en-US" sz="2000" dirty="0">
                <a:latin typeface="+mn-ea"/>
              </a:endParaRPr>
            </a:p>
          </p:txBody>
        </p:sp>
        <p:sp>
          <p:nvSpPr>
            <p:cNvPr id="11" name="右大括号 10"/>
            <p:cNvSpPr/>
            <p:nvPr/>
          </p:nvSpPr>
          <p:spPr bwMode="auto">
            <a:xfrm>
              <a:off x="7603957" y="3976290"/>
              <a:ext cx="392078" cy="1380180"/>
            </a:xfrm>
            <a:prstGeom prst="rightBrace">
              <a:avLst/>
            </a:prstGeom>
            <a:solidFill>
              <a:schemeClr val="bg1"/>
            </a:solidFill>
            <a:ln w="28575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" name="右大括号 11"/>
            <p:cNvSpPr/>
            <p:nvPr/>
          </p:nvSpPr>
          <p:spPr bwMode="auto">
            <a:xfrm>
              <a:off x="7606901" y="5405627"/>
              <a:ext cx="389134" cy="736347"/>
            </a:xfrm>
            <a:prstGeom prst="rightBrace">
              <a:avLst/>
            </a:prstGeom>
            <a:solidFill>
              <a:schemeClr val="bg1"/>
            </a:solidFill>
            <a:ln w="28575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7978164" y="4345083"/>
              <a:ext cx="121058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latin typeface="+mn-ea"/>
                </a:rPr>
                <a:t>内存地址</a:t>
              </a:r>
              <a:endParaRPr lang="en-US" altLang="zh-CN" sz="2000" dirty="0">
                <a:latin typeface="+mn-ea"/>
              </a:endParaRPr>
            </a:p>
            <a:p>
              <a:r>
                <a:rPr lang="en-US" altLang="zh-CN" sz="2000" dirty="0">
                  <a:latin typeface="+mn-ea"/>
                </a:rPr>
                <a:t>960KB</a:t>
              </a:r>
              <a:endParaRPr lang="zh-CN" altLang="en-US" sz="2000" dirty="0">
                <a:latin typeface="+mn-ea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038277" y="5357102"/>
              <a:ext cx="109036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+mn-ea"/>
                </a:rPr>
                <a:t>I/O</a:t>
              </a:r>
              <a:r>
                <a:rPr lang="zh-CN" altLang="en-US" sz="2000" dirty="0">
                  <a:latin typeface="+mn-ea"/>
                </a:rPr>
                <a:t>地址</a:t>
              </a:r>
              <a:endParaRPr lang="en-US" altLang="zh-CN" sz="2000" dirty="0">
                <a:latin typeface="+mn-ea"/>
              </a:endParaRPr>
            </a:p>
            <a:p>
              <a:r>
                <a:rPr lang="en-US" altLang="zh-CN" sz="2000" dirty="0">
                  <a:latin typeface="+mn-ea"/>
                </a:rPr>
                <a:t>64KB</a:t>
              </a:r>
              <a:endParaRPr lang="zh-CN" altLang="en-US" sz="20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4765607"/>
      </p:ext>
    </p:extLst>
  </p:cSld>
  <p:clrMapOvr>
    <a:masterClrMapping/>
  </p:clrMapOvr>
  <p:transition spd="slow"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I/O</a:t>
            </a:r>
            <a:r>
              <a:rPr lang="zh-CN" altLang="en-US" dirty="0">
                <a:latin typeface="+mj-ea"/>
              </a:rPr>
              <a:t>端口的编址方式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109" y="1052736"/>
            <a:ext cx="8186438" cy="4896544"/>
          </a:xfrm>
        </p:spPr>
        <p:txBody>
          <a:bodyPr/>
          <a:lstStyle/>
          <a:p>
            <a:pPr marL="0" indent="0">
              <a:lnSpc>
                <a:spcPct val="150000"/>
              </a:lnSpc>
              <a:buSzPct val="100000"/>
              <a:buNone/>
            </a:pPr>
            <a:r>
              <a:rPr lang="en-US" altLang="zh-CN" sz="2200" dirty="0"/>
              <a:t>2. </a:t>
            </a:r>
            <a:r>
              <a:rPr lang="zh-CN" altLang="en-US" sz="2200" dirty="0"/>
              <a:t>独立编址</a:t>
            </a:r>
            <a:endParaRPr lang="en-US" altLang="zh-CN" sz="2200" dirty="0"/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在这种编址方式中，存储器单元的地址和接口电路的地址可以是重合的。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为了区分，</a:t>
            </a:r>
            <a:r>
              <a:rPr lang="en-US" altLang="zh-CN" sz="2200" dirty="0">
                <a:solidFill>
                  <a:schemeClr val="tx1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对存储单元的操作指令和对接口电路的操作指令是不同的。另外还有控制信号来区分访问的是存储单元还是接口电路。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SzPct val="100000"/>
              <a:buNone/>
            </a:pPr>
            <a:endParaRPr lang="en-US" altLang="zh-CN" sz="2200" dirty="0">
              <a:solidFill>
                <a:schemeClr val="tx1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002736" y="4211436"/>
            <a:ext cx="5587811" cy="2299148"/>
            <a:chOff x="2588699" y="4126120"/>
            <a:chExt cx="5587811" cy="2299148"/>
          </a:xfrm>
        </p:grpSpPr>
        <p:grpSp>
          <p:nvGrpSpPr>
            <p:cNvPr id="15" name="组合 14"/>
            <p:cNvGrpSpPr/>
            <p:nvPr/>
          </p:nvGrpSpPr>
          <p:grpSpPr>
            <a:xfrm>
              <a:off x="3796758" y="4126120"/>
              <a:ext cx="4379752" cy="2299148"/>
              <a:chOff x="4809000" y="3898232"/>
              <a:chExt cx="4379752" cy="2299148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6322459" y="3964258"/>
                <a:ext cx="1239255" cy="2177716"/>
                <a:chOff x="5510460" y="3645568"/>
                <a:chExt cx="1961151" cy="2875548"/>
              </a:xfrm>
            </p:grpSpPr>
            <p:sp>
              <p:nvSpPr>
                <p:cNvPr id="4" name="矩形 3"/>
                <p:cNvSpPr/>
                <p:nvPr/>
              </p:nvSpPr>
              <p:spPr bwMode="auto">
                <a:xfrm>
                  <a:off x="5510464" y="3645568"/>
                  <a:ext cx="1961147" cy="2875548"/>
                </a:xfrm>
                <a:prstGeom prst="rect">
                  <a:avLst/>
                </a:prstGeom>
                <a:solidFill>
                  <a:schemeClr val="accent1"/>
                </a:solidFill>
                <a:ln w="12700" cap="sq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zh-CN" alt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宋体" pitchFamily="2" charset="-122"/>
                  </a:endParaRPr>
                </a:p>
              </p:txBody>
            </p:sp>
            <p:cxnSp>
              <p:nvCxnSpPr>
                <p:cNvPr id="6" name="直接连接符 5"/>
                <p:cNvCxnSpPr/>
                <p:nvPr/>
              </p:nvCxnSpPr>
              <p:spPr bwMode="auto">
                <a:xfrm>
                  <a:off x="5510460" y="4638839"/>
                  <a:ext cx="1961146" cy="0"/>
                </a:xfrm>
                <a:prstGeom prst="line">
                  <a:avLst/>
                </a:prstGeom>
                <a:solidFill>
                  <a:schemeClr val="accent1"/>
                </a:solidFill>
                <a:ln w="12700" cap="sq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  <p:sp>
            <p:nvSpPr>
              <p:cNvPr id="8" name="文本框 7"/>
              <p:cNvSpPr txBox="1"/>
              <p:nvPr/>
            </p:nvSpPr>
            <p:spPr>
              <a:xfrm>
                <a:off x="5185611" y="3898232"/>
                <a:ext cx="113685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>
                    <a:latin typeface="+mn-ea"/>
                  </a:rPr>
                  <a:t>00000H</a:t>
                </a:r>
                <a:endParaRPr lang="zh-CN" altLang="en-US" sz="2000" dirty="0">
                  <a:latin typeface="+mn-ea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5225569" y="4498971"/>
                <a:ext cx="10791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>
                    <a:latin typeface="+mn-ea"/>
                  </a:rPr>
                  <a:t>0FFFFH</a:t>
                </a:r>
                <a:endParaRPr lang="zh-CN" altLang="en-US" sz="2000" dirty="0">
                  <a:latin typeface="+mn-ea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5257745" y="5797270"/>
                <a:ext cx="10647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>
                    <a:latin typeface="+mn-ea"/>
                  </a:rPr>
                  <a:t>FFFFFH</a:t>
                </a:r>
                <a:endParaRPr lang="zh-CN" altLang="en-US" sz="2000" dirty="0">
                  <a:latin typeface="+mn-ea"/>
                </a:endParaRPr>
              </a:p>
            </p:txBody>
          </p:sp>
          <p:sp>
            <p:nvSpPr>
              <p:cNvPr id="11" name="右大括号 10"/>
              <p:cNvSpPr/>
              <p:nvPr/>
            </p:nvSpPr>
            <p:spPr bwMode="auto">
              <a:xfrm>
                <a:off x="7603957" y="3976290"/>
                <a:ext cx="374204" cy="2165684"/>
              </a:xfrm>
              <a:prstGeom prst="rightBrace">
                <a:avLst/>
              </a:prstGeom>
              <a:solidFill>
                <a:schemeClr val="bg1"/>
              </a:solidFill>
              <a:ln w="28575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2" name="右大括号 11"/>
              <p:cNvSpPr/>
              <p:nvPr/>
            </p:nvSpPr>
            <p:spPr bwMode="auto">
              <a:xfrm flipH="1">
                <a:off x="4809000" y="4039508"/>
                <a:ext cx="389134" cy="736347"/>
              </a:xfrm>
              <a:prstGeom prst="rightBrace">
                <a:avLst/>
              </a:prstGeom>
              <a:solidFill>
                <a:schemeClr val="bg1"/>
              </a:solidFill>
              <a:ln w="28575" cap="sq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7978164" y="4853061"/>
                <a:ext cx="12105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dirty="0">
                    <a:latin typeface="+mn-ea"/>
                  </a:rPr>
                  <a:t>内存地址</a:t>
                </a:r>
                <a:endParaRPr lang="en-US" altLang="zh-CN" sz="2000" dirty="0">
                  <a:latin typeface="+mn-ea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2588699" y="4435514"/>
              <a:ext cx="109036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+mn-ea"/>
                </a:rPr>
                <a:t>I/O</a:t>
              </a:r>
              <a:r>
                <a:rPr lang="zh-CN" altLang="en-US" sz="2000" dirty="0">
                  <a:latin typeface="+mn-ea"/>
                </a:rPr>
                <a:t>地址</a:t>
              </a:r>
              <a:endParaRPr lang="en-US" altLang="zh-CN" sz="2000" dirty="0">
                <a:latin typeface="+mn-ea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404109" y="5161090"/>
                <a:ext cx="3009651" cy="1478418"/>
              </a:xfrm>
              <a:prstGeom prst="rect">
                <a:avLst/>
              </a:prstGeom>
              <a:solidFill>
                <a:srgbClr val="00E4A8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000" dirty="0">
                    <a:latin typeface="+mn-ea"/>
                  </a:rPr>
                  <a:t>I/O</a:t>
                </a:r>
                <a:r>
                  <a:rPr lang="zh-CN" altLang="en-US" sz="2000" dirty="0">
                    <a:latin typeface="+mn-ea"/>
                  </a:rPr>
                  <a:t>指令：</a:t>
                </a:r>
                <a:r>
                  <a:rPr lang="en-US" altLang="zh-CN" sz="2000" dirty="0">
                    <a:latin typeface="+mn-ea"/>
                  </a:rPr>
                  <a:t>IN</a:t>
                </a:r>
                <a:r>
                  <a:rPr lang="zh-CN" altLang="en-US" sz="2000" dirty="0">
                    <a:latin typeface="+mn-ea"/>
                  </a:rPr>
                  <a:t>和</a:t>
                </a:r>
                <a:r>
                  <a:rPr lang="en-US" altLang="zh-CN" sz="2000" dirty="0">
                    <a:latin typeface="+mn-ea"/>
                  </a:rPr>
                  <a:t>OUT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>
                    <a:latin typeface="+mn-ea"/>
                  </a:rPr>
                  <a:t>8086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1" dirty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/</m:t>
                    </m:r>
                    <m:acc>
                      <m:accPr>
                        <m:chr m:val="̅"/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IO</m:t>
                        </m:r>
                      </m:e>
                    </m:acc>
                  </m:oMath>
                </a14:m>
                <a:endParaRPr lang="en-US" altLang="zh-CN" sz="20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>
                    <a:latin typeface="+mn-ea"/>
                  </a:rPr>
                  <a:t>8088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</m:acc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/</m:t>
                    </m:r>
                  </m:oMath>
                </a14:m>
                <a:r>
                  <a:rPr lang="en-US" altLang="zh-CN" sz="2000" dirty="0">
                    <a:latin typeface="+mn-ea"/>
                  </a:rPr>
                  <a:t>IO</a:t>
                </a:r>
                <a:endParaRPr lang="zh-CN" altLang="en-US" sz="2000" dirty="0">
                  <a:latin typeface="+mn-ea"/>
                </a:endParaRPr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09" y="5161090"/>
                <a:ext cx="3009651" cy="1478418"/>
              </a:xfrm>
              <a:prstGeom prst="rect">
                <a:avLst/>
              </a:prstGeom>
              <a:blipFill>
                <a:blip r:embed="rId2"/>
                <a:stretch>
                  <a:fillRect l="-1815" b="-245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2889709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I/O</a:t>
            </a:r>
            <a:r>
              <a:rPr lang="zh-CN" altLang="en-US" dirty="0">
                <a:latin typeface="+mj-ea"/>
              </a:rPr>
              <a:t>端口的编址方式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04109" y="1052736"/>
                <a:ext cx="8186438" cy="4896544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SzPct val="100000"/>
                  <a:buNone/>
                </a:pPr>
                <a:r>
                  <a:rPr lang="zh-CN" altLang="en-US" sz="2200" b="1" dirty="0">
                    <a:solidFill>
                      <a:schemeClr val="tx1"/>
                    </a:solidFill>
                  </a:rPr>
                  <a:t>例</a:t>
                </a:r>
                <a:r>
                  <a:rPr lang="en-US" altLang="zh-CN" sz="2200" b="1" dirty="0">
                    <a:solidFill>
                      <a:schemeClr val="tx1"/>
                    </a:solidFill>
                  </a:rPr>
                  <a:t>6.1 </a:t>
                </a:r>
                <a:r>
                  <a:rPr lang="zh-CN" altLang="en-US" sz="2200" dirty="0">
                    <a:solidFill>
                      <a:schemeClr val="tx1"/>
                    </a:solidFill>
                  </a:rPr>
                  <a:t>当执行“</a:t>
                </a:r>
                <a:r>
                  <a:rPr lang="en-US" altLang="zh-CN" sz="2200" b="1" dirty="0">
                    <a:solidFill>
                      <a:schemeClr val="tx1"/>
                    </a:solidFill>
                  </a:rPr>
                  <a:t>IN AL, 20H</a:t>
                </a:r>
                <a:r>
                  <a:rPr lang="zh-CN" altLang="en-US" sz="2200" dirty="0">
                    <a:solidFill>
                      <a:schemeClr val="tx1"/>
                    </a:solidFill>
                  </a:rPr>
                  <a:t>”指令时，是对端口的输入指令，则</a:t>
                </a:r>
                <a:r>
                  <a:rPr lang="en-US" altLang="zh-CN" sz="2200" dirty="0">
                    <a:solidFill>
                      <a:schemeClr val="tx1"/>
                    </a:solidFill>
                  </a:rPr>
                  <a:t>8086</a:t>
                </a:r>
                <a:r>
                  <a:rPr lang="zh-CN" alt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2200" dirty="0">
                    <a:solidFill>
                      <a:schemeClr val="tx1"/>
                    </a:solidFill>
                  </a:rPr>
                  <a:t>CPU</a:t>
                </a:r>
                <a:r>
                  <a:rPr lang="zh-CN" altLang="en-US" sz="2200" dirty="0">
                    <a:solidFill>
                      <a:schemeClr val="tx1"/>
                    </a:solidFill>
                  </a:rPr>
                  <a:t>对应的输出信号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zh-CN" sz="2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acc>
                      <m:accPr>
                        <m:chr m:val="̅"/>
                        <m:ctrlP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IO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chemeClr val="tx1"/>
                    </a:solidFill>
                  </a:rPr>
                  <a:t>= </a:t>
                </a:r>
                <a:r>
                  <a:rPr lang="zh-CN" altLang="en-US" sz="2200" dirty="0">
                    <a:solidFill>
                      <a:schemeClr val="tx1"/>
                    </a:solidFill>
                  </a:rPr>
                  <a:t>？，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RD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chemeClr val="tx1"/>
                    </a:solidFill>
                  </a:rPr>
                  <a:t>= </a:t>
                </a:r>
                <a:r>
                  <a:rPr lang="zh-CN" altLang="en-US" sz="2200" dirty="0">
                    <a:solidFill>
                      <a:schemeClr val="tx1"/>
                    </a:solidFill>
                  </a:rPr>
                  <a:t>？，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WR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chemeClr val="tx1"/>
                    </a:solidFill>
                  </a:rPr>
                  <a:t>=</a:t>
                </a:r>
                <a:r>
                  <a:rPr lang="zh-CN" altLang="en-US" sz="2200" dirty="0">
                    <a:solidFill>
                      <a:schemeClr val="tx1"/>
                    </a:solidFill>
                  </a:rPr>
                  <a:t>？</a:t>
                </a:r>
                <a:endParaRPr lang="en-US" altLang="zh-CN" sz="220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50000"/>
                  </a:lnSpc>
                  <a:buSzPct val="100000"/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zh-CN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acc>
                      <m:accPr>
                        <m:chr m:val="̅"/>
                        <m:ctrlPr>
                          <a:rPr lang="en-US" altLang="zh-CN" sz="22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IO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rgbClr val="C00000"/>
                    </a:solidFill>
                  </a:rPr>
                  <a:t>= 0</a:t>
                </a:r>
                <a:r>
                  <a:rPr lang="zh-CN" altLang="en-US" sz="2200" dirty="0">
                    <a:solidFill>
                      <a:srgbClr val="C00000"/>
                    </a:solidFill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RD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rgbClr val="C00000"/>
                    </a:solidFill>
                  </a:rPr>
                  <a:t>= 0</a:t>
                </a:r>
                <a:r>
                  <a:rPr lang="zh-CN" altLang="en-US" sz="2200" dirty="0">
                    <a:solidFill>
                      <a:srgbClr val="C00000"/>
                    </a:solidFill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WR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rgbClr val="C00000"/>
                    </a:solidFill>
                  </a:rPr>
                  <a:t>= 1</a:t>
                </a:r>
              </a:p>
              <a:p>
                <a:pPr marL="0" indent="0">
                  <a:lnSpc>
                    <a:spcPct val="150000"/>
                  </a:lnSpc>
                  <a:buSzPct val="100000"/>
                  <a:buNone/>
                </a:pPr>
                <a:endParaRPr lang="en-US" altLang="zh-CN" sz="220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50000"/>
                  </a:lnSpc>
                  <a:buSzPct val="100000"/>
                  <a:buNone/>
                </a:pPr>
                <a:r>
                  <a:rPr lang="zh-CN" altLang="en-US" sz="2200" b="1" dirty="0">
                    <a:solidFill>
                      <a:schemeClr val="tx1"/>
                    </a:solidFill>
                  </a:rPr>
                  <a:t>例</a:t>
                </a:r>
                <a:r>
                  <a:rPr lang="en-US" altLang="zh-CN" sz="2200" b="1" dirty="0">
                    <a:solidFill>
                      <a:schemeClr val="tx1"/>
                    </a:solidFill>
                  </a:rPr>
                  <a:t>6.2 </a:t>
                </a:r>
                <a:r>
                  <a:rPr lang="zh-CN" altLang="en-US" sz="2200" dirty="0">
                    <a:solidFill>
                      <a:schemeClr val="tx1"/>
                    </a:solidFill>
                  </a:rPr>
                  <a:t>当执行“</a:t>
                </a:r>
                <a:r>
                  <a:rPr lang="en-US" altLang="zh-CN" sz="2200" b="1" dirty="0">
                    <a:solidFill>
                      <a:schemeClr val="tx1"/>
                    </a:solidFill>
                  </a:rPr>
                  <a:t>MOV [0100H], AX</a:t>
                </a:r>
                <a:r>
                  <a:rPr lang="zh-CN" altLang="en-US" sz="2200" dirty="0">
                    <a:solidFill>
                      <a:schemeClr val="tx1"/>
                    </a:solidFill>
                  </a:rPr>
                  <a:t>”指令时，是对存储单元的输出指令，则</a:t>
                </a:r>
                <a:r>
                  <a:rPr lang="en-US" altLang="zh-CN" sz="2200" dirty="0">
                    <a:solidFill>
                      <a:schemeClr val="tx1"/>
                    </a:solidFill>
                  </a:rPr>
                  <a:t>8086</a:t>
                </a:r>
                <a:r>
                  <a:rPr lang="zh-CN" alt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2200" dirty="0">
                    <a:solidFill>
                      <a:schemeClr val="tx1"/>
                    </a:solidFill>
                  </a:rPr>
                  <a:t>CPU</a:t>
                </a:r>
                <a:r>
                  <a:rPr lang="zh-CN" altLang="en-US" sz="2200" dirty="0">
                    <a:solidFill>
                      <a:schemeClr val="tx1"/>
                    </a:solidFill>
                  </a:rPr>
                  <a:t>对应的输出信号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zh-CN" sz="2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acc>
                      <m:accPr>
                        <m:chr m:val="̅"/>
                        <m:ctrlP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IO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chemeClr val="tx1"/>
                    </a:solidFill>
                  </a:rPr>
                  <a:t>= </a:t>
                </a:r>
                <a:r>
                  <a:rPr lang="zh-CN" altLang="en-US" sz="2200" dirty="0">
                    <a:solidFill>
                      <a:schemeClr val="tx1"/>
                    </a:solidFill>
                  </a:rPr>
                  <a:t>？，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RD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chemeClr val="tx1"/>
                    </a:solidFill>
                  </a:rPr>
                  <a:t>= </a:t>
                </a:r>
                <a:r>
                  <a:rPr lang="zh-CN" altLang="en-US" sz="2200" dirty="0">
                    <a:solidFill>
                      <a:schemeClr val="tx1"/>
                    </a:solidFill>
                  </a:rPr>
                  <a:t>？，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WR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chemeClr val="tx1"/>
                    </a:solidFill>
                  </a:rPr>
                  <a:t>=</a:t>
                </a:r>
                <a:r>
                  <a:rPr lang="zh-CN" altLang="en-US" sz="2200" dirty="0">
                    <a:solidFill>
                      <a:schemeClr val="tx1"/>
                    </a:solidFill>
                  </a:rPr>
                  <a:t>？</a:t>
                </a:r>
                <a:endParaRPr lang="en-US" altLang="zh-CN" sz="220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50000"/>
                  </a:lnSpc>
                  <a:buSzPct val="100000"/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zh-CN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acc>
                      <m:accPr>
                        <m:chr m:val="̅"/>
                        <m:ctrlPr>
                          <a:rPr lang="en-US" altLang="zh-CN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IO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rgbClr val="C00000"/>
                    </a:solidFill>
                  </a:rPr>
                  <a:t>=1</a:t>
                </a:r>
                <a:r>
                  <a:rPr lang="zh-CN" altLang="en-US" sz="2200" dirty="0">
                    <a:solidFill>
                      <a:srgbClr val="C00000"/>
                    </a:solidFill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RD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rgbClr val="C00000"/>
                    </a:solidFill>
                  </a:rPr>
                  <a:t>=1</a:t>
                </a:r>
                <a:r>
                  <a:rPr lang="zh-CN" altLang="en-US" sz="2200" dirty="0">
                    <a:solidFill>
                      <a:srgbClr val="C00000"/>
                    </a:solidFill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WR</m:t>
                        </m:r>
                      </m:e>
                    </m:acc>
                  </m:oMath>
                </a14:m>
                <a:r>
                  <a:rPr lang="en-US" altLang="zh-CN" sz="2200" dirty="0">
                    <a:solidFill>
                      <a:srgbClr val="C00000"/>
                    </a:solidFill>
                  </a:rPr>
                  <a:t>=0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4109" y="1052736"/>
                <a:ext cx="8186438" cy="4896544"/>
              </a:xfrm>
              <a:blipFill>
                <a:blip r:embed="rId3"/>
                <a:stretch>
                  <a:fillRect l="-9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4142165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I/O</a:t>
            </a:r>
            <a:r>
              <a:rPr lang="zh-CN" altLang="en-US" dirty="0">
                <a:latin typeface="+mj-ea"/>
              </a:rPr>
              <a:t>端口地址分配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108" y="1052736"/>
            <a:ext cx="8597652" cy="4896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chemeClr val="tx1"/>
                </a:solidFill>
              </a:rPr>
              <a:t>PC</a:t>
            </a:r>
            <a:r>
              <a:rPr lang="zh-CN" altLang="en-US" sz="2200" dirty="0">
                <a:solidFill>
                  <a:schemeClr val="tx1"/>
                </a:solidFill>
              </a:rPr>
              <a:t>微机系统中，只使用了</a:t>
            </a:r>
            <a:r>
              <a:rPr lang="en-US" altLang="zh-CN" sz="2200" dirty="0">
                <a:solidFill>
                  <a:schemeClr val="tx1"/>
                </a:solidFill>
              </a:rPr>
              <a:t>16</a:t>
            </a:r>
            <a:r>
              <a:rPr lang="zh-CN" altLang="en-US" sz="2200" dirty="0">
                <a:solidFill>
                  <a:schemeClr val="tx1"/>
                </a:solidFill>
              </a:rPr>
              <a:t>根</a:t>
            </a:r>
            <a:r>
              <a:rPr lang="en-US" altLang="zh-CN" sz="2200" dirty="0">
                <a:solidFill>
                  <a:schemeClr val="tx1"/>
                </a:solidFill>
              </a:rPr>
              <a:t>I/O</a:t>
            </a:r>
            <a:r>
              <a:rPr lang="zh-CN" altLang="en-US" sz="2200" dirty="0">
                <a:solidFill>
                  <a:schemeClr val="tx1"/>
                </a:solidFill>
              </a:rPr>
              <a:t>地址线中的</a:t>
            </a:r>
            <a:r>
              <a:rPr lang="en-US" altLang="zh-CN" sz="2200" b="1" dirty="0">
                <a:solidFill>
                  <a:schemeClr val="tx1"/>
                </a:solidFill>
              </a:rPr>
              <a:t>10</a:t>
            </a:r>
            <a:r>
              <a:rPr lang="zh-CN" altLang="en-US" sz="2200" dirty="0">
                <a:solidFill>
                  <a:schemeClr val="tx1"/>
                </a:solidFill>
              </a:rPr>
              <a:t>根，即</a:t>
            </a:r>
            <a:r>
              <a:rPr lang="en-US" altLang="zh-CN" sz="2200" dirty="0">
                <a:solidFill>
                  <a:schemeClr val="tx1"/>
                </a:solidFill>
              </a:rPr>
              <a:t>A9</a:t>
            </a:r>
            <a:r>
              <a:rPr lang="zh-CN" altLang="en-US" sz="2200" dirty="0">
                <a:solidFill>
                  <a:schemeClr val="tx1"/>
                </a:solidFill>
              </a:rPr>
              <a:t>～</a:t>
            </a:r>
            <a:r>
              <a:rPr lang="en-US" altLang="zh-CN" sz="2200" dirty="0">
                <a:solidFill>
                  <a:schemeClr val="tx1"/>
                </a:solidFill>
              </a:rPr>
              <a:t>A0</a:t>
            </a:r>
            <a:r>
              <a:rPr lang="zh-CN" altLang="en-US" sz="2200" dirty="0">
                <a:solidFill>
                  <a:schemeClr val="tx1"/>
                </a:solidFill>
              </a:rPr>
              <a:t>，因此</a:t>
            </a:r>
            <a:r>
              <a:rPr lang="en-US" altLang="zh-CN" sz="2200" dirty="0">
                <a:solidFill>
                  <a:schemeClr val="tx1"/>
                </a:solidFill>
              </a:rPr>
              <a:t>I/O</a:t>
            </a:r>
            <a:r>
              <a:rPr lang="zh-CN" altLang="en-US" sz="2200" dirty="0">
                <a:solidFill>
                  <a:schemeClr val="tx1"/>
                </a:solidFill>
              </a:rPr>
              <a:t>端口地址范围是</a:t>
            </a:r>
            <a:r>
              <a:rPr lang="en-US" altLang="zh-CN" sz="2200" dirty="0">
                <a:solidFill>
                  <a:schemeClr val="tx1"/>
                </a:solidFill>
              </a:rPr>
              <a:t>0000H</a:t>
            </a:r>
            <a:r>
              <a:rPr lang="zh-CN" altLang="en-US" sz="2200" dirty="0">
                <a:solidFill>
                  <a:schemeClr val="tx1"/>
                </a:solidFill>
              </a:rPr>
              <a:t>～</a:t>
            </a:r>
            <a:r>
              <a:rPr lang="en-US" altLang="zh-CN" sz="2200" dirty="0">
                <a:solidFill>
                  <a:schemeClr val="tx1"/>
                </a:solidFill>
              </a:rPr>
              <a:t>03FFH</a:t>
            </a:r>
            <a:r>
              <a:rPr lang="zh-CN" altLang="en-US" sz="2200" dirty="0">
                <a:solidFill>
                  <a:schemeClr val="tx1"/>
                </a:solidFill>
              </a:rPr>
              <a:t>，共</a:t>
            </a:r>
            <a:r>
              <a:rPr lang="en-US" altLang="zh-CN" sz="2200" dirty="0">
                <a:solidFill>
                  <a:schemeClr val="tx1"/>
                </a:solidFill>
              </a:rPr>
              <a:t>1024</a:t>
            </a:r>
            <a:r>
              <a:rPr lang="zh-CN" altLang="en-US" sz="2200" dirty="0">
                <a:solidFill>
                  <a:schemeClr val="tx1"/>
                </a:solidFill>
              </a:rPr>
              <a:t>个端口地址；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其中，前</a:t>
            </a:r>
            <a:r>
              <a:rPr lang="en-US" altLang="zh-CN" sz="2200" dirty="0">
                <a:solidFill>
                  <a:schemeClr val="tx1"/>
                </a:solidFill>
              </a:rPr>
              <a:t>256</a:t>
            </a:r>
            <a:r>
              <a:rPr lang="zh-CN" altLang="en-US" sz="2200" dirty="0">
                <a:solidFill>
                  <a:schemeClr val="tx1"/>
                </a:solidFill>
              </a:rPr>
              <a:t>个端口地址（</a:t>
            </a:r>
            <a:r>
              <a:rPr lang="en-US" altLang="zh-CN" sz="2200" dirty="0">
                <a:solidFill>
                  <a:schemeClr val="tx1"/>
                </a:solidFill>
              </a:rPr>
              <a:t>0000H</a:t>
            </a:r>
            <a:r>
              <a:rPr lang="zh-CN" altLang="en-US" sz="2200" dirty="0">
                <a:solidFill>
                  <a:schemeClr val="tx1"/>
                </a:solidFill>
              </a:rPr>
              <a:t>～</a:t>
            </a:r>
            <a:r>
              <a:rPr lang="en-US" altLang="zh-CN" sz="2200" dirty="0">
                <a:solidFill>
                  <a:schemeClr val="tx1"/>
                </a:solidFill>
              </a:rPr>
              <a:t>00FFH</a:t>
            </a:r>
            <a:r>
              <a:rPr lang="zh-CN" altLang="en-US" sz="2200" dirty="0">
                <a:solidFill>
                  <a:schemeClr val="tx1"/>
                </a:solidFill>
              </a:rPr>
              <a:t>）供系统板上的</a:t>
            </a:r>
            <a:r>
              <a:rPr lang="en-US" altLang="zh-CN" sz="2200" dirty="0">
                <a:solidFill>
                  <a:schemeClr val="tx1"/>
                </a:solidFill>
              </a:rPr>
              <a:t>I/O</a:t>
            </a:r>
            <a:r>
              <a:rPr lang="zh-CN" altLang="en-US" sz="2200" dirty="0">
                <a:solidFill>
                  <a:schemeClr val="tx1"/>
                </a:solidFill>
              </a:rPr>
              <a:t>接口芯片使用；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后</a:t>
            </a:r>
            <a:r>
              <a:rPr lang="en-US" altLang="zh-CN" sz="2200" dirty="0">
                <a:solidFill>
                  <a:schemeClr val="tx1"/>
                </a:solidFill>
              </a:rPr>
              <a:t>768</a:t>
            </a:r>
            <a:r>
              <a:rPr lang="zh-CN" altLang="en-US" sz="2200" dirty="0">
                <a:solidFill>
                  <a:schemeClr val="tx1"/>
                </a:solidFill>
              </a:rPr>
              <a:t>个端口地址（</a:t>
            </a:r>
            <a:r>
              <a:rPr lang="en-US" altLang="zh-CN" sz="2200" dirty="0">
                <a:solidFill>
                  <a:schemeClr val="tx1"/>
                </a:solidFill>
              </a:rPr>
              <a:t>0100H</a:t>
            </a:r>
            <a:r>
              <a:rPr lang="zh-CN" altLang="en-US" sz="2200" dirty="0">
                <a:solidFill>
                  <a:schemeClr val="tx1"/>
                </a:solidFill>
              </a:rPr>
              <a:t>～</a:t>
            </a:r>
            <a:r>
              <a:rPr lang="en-US" altLang="zh-CN" sz="2200" dirty="0">
                <a:solidFill>
                  <a:schemeClr val="tx1"/>
                </a:solidFill>
              </a:rPr>
              <a:t>03FFH</a:t>
            </a:r>
            <a:r>
              <a:rPr lang="zh-CN" altLang="en-US" sz="2200" dirty="0">
                <a:solidFill>
                  <a:schemeClr val="tx1"/>
                </a:solidFill>
              </a:rPr>
              <a:t>）供扩展槽上的</a:t>
            </a:r>
            <a:r>
              <a:rPr lang="en-US" altLang="zh-CN" sz="2200" dirty="0">
                <a:solidFill>
                  <a:schemeClr val="tx1"/>
                </a:solidFill>
              </a:rPr>
              <a:t>I/O</a:t>
            </a:r>
            <a:r>
              <a:rPr lang="zh-CN" altLang="en-US" sz="2200" dirty="0">
                <a:solidFill>
                  <a:schemeClr val="tx1"/>
                </a:solidFill>
              </a:rPr>
              <a:t>接口控制卡使用。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13545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I/O</a:t>
            </a:r>
            <a:r>
              <a:rPr lang="zh-CN" altLang="en-US" dirty="0">
                <a:latin typeface="+mj-ea"/>
              </a:rPr>
              <a:t>端口地址分配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82" y="1179095"/>
            <a:ext cx="8773107" cy="4704347"/>
          </a:xfrm>
        </p:spPr>
      </p:pic>
      <p:sp>
        <p:nvSpPr>
          <p:cNvPr id="3" name="圆角矩形 2"/>
          <p:cNvSpPr/>
          <p:nvPr/>
        </p:nvSpPr>
        <p:spPr bwMode="auto">
          <a:xfrm>
            <a:off x="4450080" y="3261360"/>
            <a:ext cx="3726430" cy="314960"/>
          </a:xfrm>
          <a:prstGeom prst="roundRect">
            <a:avLst/>
          </a:prstGeom>
          <a:noFill/>
          <a:ln w="28575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7297698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I/O</a:t>
            </a:r>
            <a:r>
              <a:rPr lang="zh-CN" altLang="en-US" dirty="0">
                <a:latin typeface="+mj-ea"/>
              </a:rPr>
              <a:t>端口地址译码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高位地址作为译码电路的输入，译码电路的输出通常接到接口芯片的片选端；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低位地址直接连接接口电路芯片的地址端。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常用</a:t>
            </a:r>
            <a:r>
              <a:rPr lang="en-US" altLang="zh-CN" sz="2200" dirty="0">
                <a:solidFill>
                  <a:schemeClr val="tx1"/>
                </a:solidFill>
              </a:rPr>
              <a:t>I/O</a:t>
            </a:r>
            <a:r>
              <a:rPr lang="zh-CN" altLang="en-US" sz="2200" dirty="0">
                <a:solidFill>
                  <a:schemeClr val="tx1"/>
                </a:solidFill>
              </a:rPr>
              <a:t>端口译码电路：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1" dirty="0">
                <a:solidFill>
                  <a:schemeClr val="tx1"/>
                </a:solidFill>
              </a:rPr>
              <a:t>门电路译码</a:t>
            </a:r>
            <a:r>
              <a:rPr lang="zh-CN" altLang="en-US" sz="2000" dirty="0">
                <a:solidFill>
                  <a:schemeClr val="tx1"/>
                </a:solidFill>
              </a:rPr>
              <a:t>：采用各种门电路组合构成译码电路；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b="1" dirty="0">
                <a:solidFill>
                  <a:schemeClr val="tx1"/>
                </a:solidFill>
              </a:rPr>
              <a:t>译码器译码</a:t>
            </a:r>
            <a:r>
              <a:rPr lang="zh-CN" altLang="en-US" sz="2000" dirty="0">
                <a:solidFill>
                  <a:schemeClr val="tx1"/>
                </a:solidFill>
              </a:rPr>
              <a:t>：采用译码器构成译码电路。</a:t>
            </a:r>
          </a:p>
        </p:txBody>
      </p:sp>
    </p:spTree>
    <p:extLst>
      <p:ext uri="{BB962C8B-B14F-4D97-AF65-F5344CB8AC3E}">
        <p14:creationId xmlns:p14="http://schemas.microsoft.com/office/powerpoint/2010/main" val="2837296475"/>
      </p:ext>
    </p:extLst>
  </p:cSld>
  <p:clrMapOvr>
    <a:masterClrMapping/>
  </p:clrMapOvr>
  <p:transition spd="slow"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I/O</a:t>
            </a:r>
            <a:r>
              <a:rPr lang="zh-CN" altLang="en-US" dirty="0">
                <a:latin typeface="+mj-ea"/>
              </a:rPr>
              <a:t>端口地址译码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109" y="1052736"/>
            <a:ext cx="8186438" cy="4896544"/>
          </a:xfrm>
        </p:spPr>
        <p:txBody>
          <a:bodyPr/>
          <a:lstStyle/>
          <a:p>
            <a:pPr marL="0" indent="0">
              <a:lnSpc>
                <a:spcPct val="150000"/>
              </a:lnSpc>
              <a:buSzPct val="100000"/>
              <a:buNone/>
            </a:pPr>
            <a:r>
              <a:rPr lang="zh-CN" altLang="en-US" sz="2200" b="1" dirty="0">
                <a:solidFill>
                  <a:schemeClr val="tx1"/>
                </a:solidFill>
              </a:rPr>
              <a:t>例</a:t>
            </a:r>
            <a:r>
              <a:rPr lang="en-US" altLang="zh-CN" sz="2200" b="1" dirty="0">
                <a:solidFill>
                  <a:schemeClr val="tx1"/>
                </a:solidFill>
              </a:rPr>
              <a:t>6.3 </a:t>
            </a:r>
            <a:r>
              <a:rPr lang="zh-CN" altLang="en-US" sz="2200" dirty="0">
                <a:solidFill>
                  <a:schemeClr val="tx1"/>
                </a:solidFill>
              </a:rPr>
              <a:t>接口电路的地址线有</a:t>
            </a:r>
            <a:r>
              <a:rPr lang="en-US" altLang="zh-CN" sz="2200" dirty="0">
                <a:solidFill>
                  <a:schemeClr val="tx1"/>
                </a:solidFill>
              </a:rPr>
              <a:t>2</a:t>
            </a:r>
            <a:r>
              <a:rPr lang="zh-CN" altLang="en-US" sz="2200" dirty="0">
                <a:solidFill>
                  <a:schemeClr val="tx1"/>
                </a:solidFill>
              </a:rPr>
              <a:t>根，因此地址空间最多为</a:t>
            </a:r>
            <a:r>
              <a:rPr lang="en-US" altLang="zh-CN" sz="2200" dirty="0">
                <a:solidFill>
                  <a:schemeClr val="tx1"/>
                </a:solidFill>
              </a:rPr>
              <a:t>4</a:t>
            </a:r>
            <a:r>
              <a:rPr lang="zh-CN" altLang="en-US" sz="2200" dirty="0">
                <a:solidFill>
                  <a:schemeClr val="tx1"/>
                </a:solidFill>
              </a:rPr>
              <a:t>个，假设占用</a:t>
            </a:r>
            <a:r>
              <a:rPr lang="en-US" altLang="zh-CN" sz="2200" dirty="0">
                <a:solidFill>
                  <a:schemeClr val="tx1"/>
                </a:solidFill>
              </a:rPr>
              <a:t>4</a:t>
            </a:r>
            <a:r>
              <a:rPr lang="zh-CN" altLang="en-US" sz="2200" dirty="0">
                <a:solidFill>
                  <a:schemeClr val="tx1"/>
                </a:solidFill>
              </a:rPr>
              <a:t>个地址：</a:t>
            </a:r>
            <a:r>
              <a:rPr lang="en-US" altLang="zh-CN" sz="2200" dirty="0">
                <a:solidFill>
                  <a:schemeClr val="tx1"/>
                </a:solidFill>
              </a:rPr>
              <a:t>40H</a:t>
            </a:r>
            <a:r>
              <a:rPr lang="zh-CN" altLang="en-US" sz="2200" dirty="0">
                <a:solidFill>
                  <a:schemeClr val="tx1"/>
                </a:solidFill>
              </a:rPr>
              <a:t>～</a:t>
            </a:r>
            <a:r>
              <a:rPr lang="en-US" altLang="zh-CN" sz="2200" dirty="0">
                <a:solidFill>
                  <a:schemeClr val="tx1"/>
                </a:solidFill>
              </a:rPr>
              <a:t>43H</a:t>
            </a:r>
            <a:r>
              <a:rPr lang="zh-CN" altLang="en-US" sz="2200" dirty="0">
                <a:solidFill>
                  <a:schemeClr val="tx1"/>
                </a:solidFill>
              </a:rPr>
              <a:t>，试设计该接口电路的译码电路。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SzPct val="100000"/>
              <a:buNone/>
            </a:pPr>
            <a:endParaRPr lang="en-US" altLang="zh-CN" sz="2200" dirty="0">
              <a:solidFill>
                <a:srgbClr val="C000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202530"/>
              </p:ext>
            </p:extLst>
          </p:nvPr>
        </p:nvGraphicFramePr>
        <p:xfrm>
          <a:off x="499984" y="2312288"/>
          <a:ext cx="8090563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6424">
                  <a:extLst>
                    <a:ext uri="{9D8B030D-6E8A-4147-A177-3AD203B41FA5}">
                      <a16:colId xmlns:a16="http://schemas.microsoft.com/office/drawing/2014/main" val="1059595042"/>
                    </a:ext>
                  </a:extLst>
                </a:gridCol>
                <a:gridCol w="616424">
                  <a:extLst>
                    <a:ext uri="{9D8B030D-6E8A-4147-A177-3AD203B41FA5}">
                      <a16:colId xmlns:a16="http://schemas.microsoft.com/office/drawing/2014/main" val="1868572910"/>
                    </a:ext>
                  </a:extLst>
                </a:gridCol>
                <a:gridCol w="616424">
                  <a:extLst>
                    <a:ext uri="{9D8B030D-6E8A-4147-A177-3AD203B41FA5}">
                      <a16:colId xmlns:a16="http://schemas.microsoft.com/office/drawing/2014/main" val="4088115472"/>
                    </a:ext>
                  </a:extLst>
                </a:gridCol>
                <a:gridCol w="616424">
                  <a:extLst>
                    <a:ext uri="{9D8B030D-6E8A-4147-A177-3AD203B41FA5}">
                      <a16:colId xmlns:a16="http://schemas.microsoft.com/office/drawing/2014/main" val="777571207"/>
                    </a:ext>
                  </a:extLst>
                </a:gridCol>
                <a:gridCol w="616424">
                  <a:extLst>
                    <a:ext uri="{9D8B030D-6E8A-4147-A177-3AD203B41FA5}">
                      <a16:colId xmlns:a16="http://schemas.microsoft.com/office/drawing/2014/main" val="3047634991"/>
                    </a:ext>
                  </a:extLst>
                </a:gridCol>
                <a:gridCol w="616424">
                  <a:extLst>
                    <a:ext uri="{9D8B030D-6E8A-4147-A177-3AD203B41FA5}">
                      <a16:colId xmlns:a16="http://schemas.microsoft.com/office/drawing/2014/main" val="356445913"/>
                    </a:ext>
                  </a:extLst>
                </a:gridCol>
                <a:gridCol w="616424">
                  <a:extLst>
                    <a:ext uri="{9D8B030D-6E8A-4147-A177-3AD203B41FA5}">
                      <a16:colId xmlns:a16="http://schemas.microsoft.com/office/drawing/2014/main" val="2807412041"/>
                    </a:ext>
                  </a:extLst>
                </a:gridCol>
                <a:gridCol w="616424">
                  <a:extLst>
                    <a:ext uri="{9D8B030D-6E8A-4147-A177-3AD203B41FA5}">
                      <a16:colId xmlns:a16="http://schemas.microsoft.com/office/drawing/2014/main" val="2075627247"/>
                    </a:ext>
                  </a:extLst>
                </a:gridCol>
                <a:gridCol w="616424">
                  <a:extLst>
                    <a:ext uri="{9D8B030D-6E8A-4147-A177-3AD203B41FA5}">
                      <a16:colId xmlns:a16="http://schemas.microsoft.com/office/drawing/2014/main" val="2889992789"/>
                    </a:ext>
                  </a:extLst>
                </a:gridCol>
                <a:gridCol w="616424">
                  <a:extLst>
                    <a:ext uri="{9D8B030D-6E8A-4147-A177-3AD203B41FA5}">
                      <a16:colId xmlns:a16="http://schemas.microsoft.com/office/drawing/2014/main" val="3903221485"/>
                    </a:ext>
                  </a:extLst>
                </a:gridCol>
                <a:gridCol w="1926323">
                  <a:extLst>
                    <a:ext uri="{9D8B030D-6E8A-4147-A177-3AD203B41FA5}">
                      <a16:colId xmlns:a16="http://schemas.microsoft.com/office/drawing/2014/main" val="2249628957"/>
                    </a:ext>
                  </a:extLst>
                </a:gridCol>
              </a:tblGrid>
              <a:tr h="370840">
                <a:tc gridSpan="8"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片选地址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片内地址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接口电路地址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3224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A9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A8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A7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A6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A5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A4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A3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A2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A1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A0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0825076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40H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60689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41H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570613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42H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82442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43H</a:t>
                      </a:r>
                      <a:endParaRPr lang="zh-CN" altLang="en-US" sz="2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3678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9315689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I/O</a:t>
            </a:r>
            <a:r>
              <a:rPr lang="zh-CN" altLang="en-US" dirty="0">
                <a:latin typeface="+mj-ea"/>
              </a:rPr>
              <a:t>端口地址译码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109" y="1052736"/>
            <a:ext cx="8186438" cy="4896544"/>
          </a:xfrm>
        </p:spPr>
        <p:txBody>
          <a:bodyPr/>
          <a:lstStyle/>
          <a:p>
            <a:pPr marL="0" indent="0">
              <a:lnSpc>
                <a:spcPct val="150000"/>
              </a:lnSpc>
              <a:buSzPct val="100000"/>
              <a:buNone/>
            </a:pPr>
            <a:r>
              <a:rPr lang="zh-CN" altLang="en-US" sz="2200" b="1" dirty="0">
                <a:solidFill>
                  <a:schemeClr val="tx1"/>
                </a:solidFill>
              </a:rPr>
              <a:t>例</a:t>
            </a:r>
            <a:r>
              <a:rPr lang="en-US" altLang="zh-CN" sz="2200" b="1" dirty="0">
                <a:solidFill>
                  <a:schemeClr val="tx1"/>
                </a:solidFill>
              </a:rPr>
              <a:t>6.3 </a:t>
            </a:r>
            <a:r>
              <a:rPr lang="zh-CN" altLang="en-US" sz="2200" dirty="0">
                <a:solidFill>
                  <a:schemeClr val="tx1"/>
                </a:solidFill>
              </a:rPr>
              <a:t>接口电路的地址线有</a:t>
            </a:r>
            <a:r>
              <a:rPr lang="en-US" altLang="zh-CN" sz="2200" dirty="0">
                <a:solidFill>
                  <a:schemeClr val="tx1"/>
                </a:solidFill>
              </a:rPr>
              <a:t>2</a:t>
            </a:r>
            <a:r>
              <a:rPr lang="zh-CN" altLang="en-US" sz="2200" dirty="0">
                <a:solidFill>
                  <a:schemeClr val="tx1"/>
                </a:solidFill>
              </a:rPr>
              <a:t>根，因此地址空间最多为</a:t>
            </a:r>
            <a:r>
              <a:rPr lang="en-US" altLang="zh-CN" sz="2200" dirty="0">
                <a:solidFill>
                  <a:schemeClr val="tx1"/>
                </a:solidFill>
              </a:rPr>
              <a:t>4</a:t>
            </a:r>
            <a:r>
              <a:rPr lang="zh-CN" altLang="en-US" sz="2200" dirty="0">
                <a:solidFill>
                  <a:schemeClr val="tx1"/>
                </a:solidFill>
              </a:rPr>
              <a:t>个，假设占用</a:t>
            </a:r>
            <a:r>
              <a:rPr lang="en-US" altLang="zh-CN" sz="2200" dirty="0">
                <a:solidFill>
                  <a:schemeClr val="tx1"/>
                </a:solidFill>
              </a:rPr>
              <a:t>4</a:t>
            </a:r>
            <a:r>
              <a:rPr lang="zh-CN" altLang="en-US" sz="2200" dirty="0">
                <a:solidFill>
                  <a:schemeClr val="tx1"/>
                </a:solidFill>
              </a:rPr>
              <a:t>个地址：</a:t>
            </a:r>
            <a:r>
              <a:rPr lang="en-US" altLang="zh-CN" sz="2200" dirty="0">
                <a:solidFill>
                  <a:schemeClr val="tx1"/>
                </a:solidFill>
              </a:rPr>
              <a:t>40H</a:t>
            </a:r>
            <a:r>
              <a:rPr lang="zh-CN" altLang="en-US" sz="2200" dirty="0">
                <a:solidFill>
                  <a:schemeClr val="tx1"/>
                </a:solidFill>
              </a:rPr>
              <a:t>～</a:t>
            </a:r>
            <a:r>
              <a:rPr lang="en-US" altLang="zh-CN" sz="2200" dirty="0">
                <a:solidFill>
                  <a:schemeClr val="tx1"/>
                </a:solidFill>
              </a:rPr>
              <a:t>43H</a:t>
            </a:r>
            <a:r>
              <a:rPr lang="zh-CN" altLang="en-US" sz="2200" dirty="0">
                <a:solidFill>
                  <a:schemeClr val="tx1"/>
                </a:solidFill>
              </a:rPr>
              <a:t>，试设计该接口电路的译码电路。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SzPct val="100000"/>
              <a:buNone/>
            </a:pPr>
            <a:endParaRPr lang="en-US" altLang="zh-CN" sz="2200" dirty="0">
              <a:solidFill>
                <a:srgbClr val="C0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86" y="2656050"/>
            <a:ext cx="8565283" cy="340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01588"/>
      </p:ext>
    </p:extLst>
  </p:cSld>
  <p:clrMapOvr>
    <a:masterClrMapping/>
  </p:clrMapOvr>
  <p:transition spd="slow"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用单向数据缓冲器</a:t>
            </a:r>
            <a:r>
              <a:rPr lang="en-US" altLang="zh-CN" dirty="0"/>
              <a:t>74LS244</a:t>
            </a:r>
            <a:r>
              <a:rPr lang="zh-CN" altLang="en-US" dirty="0"/>
              <a:t>作为接口芯片，控制</a:t>
            </a:r>
            <a:r>
              <a:rPr lang="en-US" altLang="zh-CN" dirty="0"/>
              <a:t>8</a:t>
            </a:r>
            <a:r>
              <a:rPr lang="zh-CN" altLang="en-US" dirty="0"/>
              <a:t>个发光二极管。假设端口地址为</a:t>
            </a:r>
            <a:r>
              <a:rPr lang="en-US" altLang="zh-CN" dirty="0"/>
              <a:t>40H</a:t>
            </a:r>
            <a:r>
              <a:rPr lang="zh-CN" altLang="en-US" dirty="0"/>
              <a:t>，画出译码电路，并写出点亮第</a:t>
            </a:r>
            <a:r>
              <a:rPr lang="en-US" altLang="zh-CN" dirty="0"/>
              <a:t>1,8</a:t>
            </a:r>
            <a:r>
              <a:rPr lang="zh-CN" altLang="en-US" dirty="0"/>
              <a:t>个二极管的代码段。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5A8AE2-8E0B-4055-AC24-FD4D1192EF7B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3005567"/>
      </p:ext>
    </p:extLst>
  </p:cSld>
  <p:clrMapOvr>
    <a:masterClrMapping/>
  </p:clrMapOvr>
  <p:transition spd="slow"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CPU</a:t>
            </a:r>
            <a:r>
              <a:rPr lang="zh-CN" altLang="en-US" dirty="0">
                <a:latin typeface="+mj-ea"/>
              </a:rPr>
              <a:t>与外设之间的数据传送方式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109" y="1052736"/>
            <a:ext cx="8186438" cy="4896544"/>
          </a:xfrm>
        </p:spPr>
        <p:txBody>
          <a:bodyPr/>
          <a:lstStyle/>
          <a:p>
            <a:pPr marL="0" indent="0">
              <a:lnSpc>
                <a:spcPct val="150000"/>
              </a:lnSpc>
              <a:buSzPct val="100000"/>
              <a:buNone/>
            </a:pPr>
            <a:r>
              <a:rPr lang="en-US" altLang="zh-CN" sz="2200" dirty="0">
                <a:solidFill>
                  <a:schemeClr val="tx1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和外设之间的数据传送可以分为</a:t>
            </a:r>
            <a:r>
              <a:rPr lang="en-US" altLang="zh-CN" sz="2200" dirty="0">
                <a:solidFill>
                  <a:schemeClr val="tx1"/>
                </a:solidFill>
              </a:rPr>
              <a:t>3</a:t>
            </a:r>
            <a:r>
              <a:rPr lang="zh-CN" altLang="en-US" sz="2200" dirty="0">
                <a:solidFill>
                  <a:schemeClr val="tx1"/>
                </a:solidFill>
              </a:rPr>
              <a:t>种：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程序控制方式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无条件传送方式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</a:rPr>
              <a:t>查询传送方式</a:t>
            </a:r>
            <a:endParaRPr lang="en-US" altLang="zh-CN" sz="1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中断控制方式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直接存储器存取方式（</a:t>
            </a:r>
            <a:r>
              <a:rPr lang="en-US" altLang="zh-CN" sz="2200" dirty="0">
                <a:solidFill>
                  <a:schemeClr val="tx1"/>
                </a:solidFill>
              </a:rPr>
              <a:t>DMA</a:t>
            </a:r>
            <a:r>
              <a:rPr lang="zh-CN" altLang="en-US" sz="2200" dirty="0">
                <a:solidFill>
                  <a:schemeClr val="tx1"/>
                </a:solidFill>
              </a:rPr>
              <a:t>）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1817165"/>
      </p:ext>
    </p:extLst>
  </p:cSld>
  <p:clrMapOvr>
    <a:masterClrMapping/>
  </p:clrMapOvr>
  <p:transition spd="slow"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程序控制方式</a:t>
            </a:r>
          </a:p>
        </p:txBody>
      </p:sp>
      <p:sp>
        <p:nvSpPr>
          <p:cNvPr id="57346" name="Rectangle 2"/>
          <p:cNvSpPr>
            <a:spLocks noGrp="1" noChangeArrowheads="1"/>
          </p:cNvSpPr>
          <p:nvPr>
            <p:ph idx="1"/>
          </p:nvPr>
        </p:nvSpPr>
        <p:spPr>
          <a:xfrm>
            <a:off x="404108" y="1052736"/>
            <a:ext cx="7772401" cy="4896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以</a:t>
            </a:r>
            <a:r>
              <a:rPr lang="en-US" altLang="zh-CN" sz="2200" dirty="0">
                <a:solidFill>
                  <a:schemeClr val="tx1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为中心，数据传送的控制来自</a:t>
            </a:r>
            <a:r>
              <a:rPr lang="en-US" altLang="zh-CN" sz="2200" dirty="0">
                <a:solidFill>
                  <a:schemeClr val="tx1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，通过预先编制好的输入或输出程序（传送指令和</a:t>
            </a:r>
            <a:r>
              <a:rPr lang="en-US" altLang="zh-CN" sz="2200" dirty="0">
                <a:solidFill>
                  <a:schemeClr val="tx1"/>
                </a:solidFill>
              </a:rPr>
              <a:t>I/O</a:t>
            </a:r>
            <a:r>
              <a:rPr lang="zh-CN" altLang="en-US" sz="2200" dirty="0">
                <a:solidFill>
                  <a:schemeClr val="tx1"/>
                </a:solidFill>
              </a:rPr>
              <a:t>指令）实现数据的传送。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程序控制的数据传送分为</a:t>
            </a:r>
            <a:r>
              <a:rPr lang="zh-CN" altLang="en-US" sz="2200" b="1" dirty="0">
                <a:solidFill>
                  <a:schemeClr val="tx1"/>
                </a:solidFill>
              </a:rPr>
              <a:t>无条件传送、查询传送</a:t>
            </a:r>
            <a:r>
              <a:rPr lang="zh-CN" altLang="en-US" sz="2200" dirty="0">
                <a:solidFill>
                  <a:schemeClr val="tx1"/>
                </a:solidFill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991363762"/>
      </p:ext>
    </p:extLst>
  </p:cSld>
  <p:clrMapOvr>
    <a:masterClrMapping/>
  </p:clrMapOvr>
  <p:transition spd="slow"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程序控制方式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109" y="1052736"/>
            <a:ext cx="8261426" cy="4896544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zh-CN" altLang="en-US" sz="2400" dirty="0"/>
              <a:t>无条件传送方式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应用于始终处于准备好状态的外设，即</a:t>
            </a:r>
            <a:r>
              <a:rPr lang="en-US" altLang="zh-CN" sz="2000" dirty="0">
                <a:solidFill>
                  <a:schemeClr val="tx1"/>
                </a:solidFill>
              </a:rPr>
              <a:t>CPU</a:t>
            </a:r>
            <a:r>
              <a:rPr lang="zh-CN" altLang="en-US" sz="2000" dirty="0">
                <a:solidFill>
                  <a:schemeClr val="tx1"/>
                </a:solidFill>
              </a:rPr>
              <a:t>输入或输出数据时不需要查询外设的工作状态，任何时候都可以输入输出，如开关、发光二极管、继电器等。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连接这类外设的接口电路，除了具有正常的读写控制端口外，只需要包含</a:t>
            </a:r>
            <a:r>
              <a:rPr lang="zh-CN" altLang="en-US" sz="2000" b="1" dirty="0">
                <a:solidFill>
                  <a:schemeClr val="tx1"/>
                </a:solidFill>
              </a:rPr>
              <a:t>输入缓冲器</a:t>
            </a:r>
            <a:r>
              <a:rPr lang="zh-CN" altLang="en-US" sz="2000" dirty="0">
                <a:solidFill>
                  <a:schemeClr val="tx1"/>
                </a:solidFill>
              </a:rPr>
              <a:t>和</a:t>
            </a:r>
            <a:r>
              <a:rPr lang="zh-CN" altLang="en-US" sz="2000" b="1" dirty="0">
                <a:solidFill>
                  <a:schemeClr val="tx1"/>
                </a:solidFill>
              </a:rPr>
              <a:t>输出锁存器</a:t>
            </a:r>
            <a:r>
              <a:rPr lang="zh-CN" altLang="en-US" sz="2000" dirty="0">
                <a:solidFill>
                  <a:schemeClr val="tx1"/>
                </a:solidFill>
              </a:rPr>
              <a:t>电路即可。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特点：软件及接口电路简单，只适用于简单外设，应用范围受限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517620"/>
      </p:ext>
    </p:extLst>
  </p:cSld>
  <p:clrMapOvr>
    <a:masterClrMapping/>
  </p:clrMapOvr>
  <p:transition spd="slow"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程序控制方式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108" y="1052736"/>
            <a:ext cx="8537873" cy="4896544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 startAt="2"/>
            </a:pPr>
            <a:r>
              <a:rPr lang="zh-CN" altLang="en-US" sz="2400" dirty="0"/>
              <a:t>查询传送方式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传送数据前，</a:t>
            </a:r>
            <a:r>
              <a:rPr lang="en-US" altLang="zh-CN" sz="2000" dirty="0">
                <a:solidFill>
                  <a:schemeClr val="tx1"/>
                </a:solidFill>
              </a:rPr>
              <a:t>CPU</a:t>
            </a:r>
            <a:r>
              <a:rPr lang="zh-CN" altLang="en-US" sz="2000" dirty="0">
                <a:solidFill>
                  <a:schemeClr val="tx1"/>
                </a:solidFill>
              </a:rPr>
              <a:t>需要查询当前外设的状态（如打印机）；</a:t>
            </a:r>
            <a:endParaRPr lang="en-US" altLang="zh-CN" sz="20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当查询到外设空闲，</a:t>
            </a:r>
            <a:r>
              <a:rPr lang="en-US" altLang="zh-CN" sz="2000" dirty="0">
                <a:solidFill>
                  <a:schemeClr val="tx1"/>
                </a:solidFill>
              </a:rPr>
              <a:t>CPU</a:t>
            </a:r>
            <a:r>
              <a:rPr lang="zh-CN" altLang="en-US" sz="2000" dirty="0">
                <a:solidFill>
                  <a:schemeClr val="tx1"/>
                </a:solidFill>
              </a:rPr>
              <a:t>就可以通过数据总线和外设进行数据传送；</a:t>
            </a:r>
            <a:endParaRPr lang="en-US" altLang="zh-CN" sz="20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当查询到外设忙，则等待，并继续查询，直到外设准备好，再传送数据</a:t>
            </a:r>
            <a:endParaRPr lang="en-US" altLang="zh-CN" sz="20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此方式下，接口电路至少需要两个地址：状态端口地址和数据端口地址</a:t>
            </a:r>
            <a:endParaRPr lang="en-US" altLang="zh-CN" sz="20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特点：通过不断查询外设状态，实现与外设速度匹配，</a:t>
            </a:r>
            <a:r>
              <a:rPr lang="en-US" altLang="zh-CN" sz="2000" dirty="0">
                <a:solidFill>
                  <a:schemeClr val="tx1"/>
                </a:solidFill>
              </a:rPr>
              <a:t>CPU</a:t>
            </a:r>
            <a:r>
              <a:rPr lang="zh-CN" altLang="en-US" sz="2000" dirty="0">
                <a:solidFill>
                  <a:schemeClr val="tx1"/>
                </a:solidFill>
              </a:rPr>
              <a:t>效率低。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277940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程序控制方式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108" y="1052736"/>
            <a:ext cx="8198471" cy="4896544"/>
          </a:xfrm>
        </p:spPr>
        <p:txBody>
          <a:bodyPr/>
          <a:lstStyle/>
          <a:p>
            <a:pPr marL="0" indent="0">
              <a:lnSpc>
                <a:spcPct val="150000"/>
              </a:lnSpc>
              <a:buSzPct val="100000"/>
              <a:buNone/>
            </a:pPr>
            <a:r>
              <a:rPr lang="zh-CN" altLang="en-US" sz="2200" b="1" dirty="0">
                <a:solidFill>
                  <a:schemeClr val="tx1"/>
                </a:solidFill>
              </a:rPr>
              <a:t>例</a:t>
            </a:r>
            <a:r>
              <a:rPr lang="en-US" altLang="zh-CN" sz="2200" b="1" dirty="0">
                <a:solidFill>
                  <a:schemeClr val="tx1"/>
                </a:solidFill>
              </a:rPr>
              <a:t>6.4 </a:t>
            </a:r>
            <a:r>
              <a:rPr lang="zh-CN" altLang="en-US" sz="2200" dirty="0">
                <a:solidFill>
                  <a:schemeClr val="tx1"/>
                </a:solidFill>
              </a:rPr>
              <a:t>设输入接口电路状态端口地址为</a:t>
            </a:r>
            <a:r>
              <a:rPr lang="en-US" altLang="zh-CN" sz="2200" dirty="0">
                <a:solidFill>
                  <a:schemeClr val="tx1"/>
                </a:solidFill>
              </a:rPr>
              <a:t>50H</a:t>
            </a:r>
            <a:r>
              <a:rPr lang="zh-CN" altLang="en-US" sz="2200" dirty="0">
                <a:solidFill>
                  <a:schemeClr val="tx1"/>
                </a:solidFill>
              </a:rPr>
              <a:t>，数据端口地址为</a:t>
            </a:r>
            <a:r>
              <a:rPr lang="en-US" altLang="zh-CN" sz="2200" dirty="0">
                <a:solidFill>
                  <a:schemeClr val="tx1"/>
                </a:solidFill>
              </a:rPr>
              <a:t>51H</a:t>
            </a:r>
            <a:r>
              <a:rPr lang="zh-CN" altLang="en-US" sz="2200" dirty="0">
                <a:solidFill>
                  <a:schemeClr val="tx1"/>
                </a:solidFill>
              </a:rPr>
              <a:t>，则</a:t>
            </a:r>
            <a:r>
              <a:rPr lang="en-US" altLang="zh-CN" sz="2200" dirty="0">
                <a:solidFill>
                  <a:schemeClr val="tx1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读取外设的数据过程可以采用以下程序段：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SzPct val="100000"/>
              <a:buNone/>
            </a:pPr>
            <a:endParaRPr lang="en-US" altLang="zh-CN" sz="2200" dirty="0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08" y="2550695"/>
            <a:ext cx="7870063" cy="129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874720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中断传送方式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108" y="1052735"/>
            <a:ext cx="8198471" cy="5263843"/>
          </a:xfrm>
        </p:spPr>
        <p:txBody>
          <a:bodyPr/>
          <a:lstStyle/>
          <a:p>
            <a:pPr marL="0" indent="0">
              <a:lnSpc>
                <a:spcPct val="150000"/>
              </a:lnSpc>
              <a:buSzPct val="100000"/>
              <a:buNone/>
            </a:pPr>
            <a:r>
              <a:rPr lang="zh-CN" altLang="en-US" sz="2400" dirty="0"/>
              <a:t>实现方法：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zh-CN" altLang="en-US" sz="2200" dirty="0">
                <a:solidFill>
                  <a:schemeClr val="tx1"/>
                </a:solidFill>
              </a:rPr>
              <a:t>当外设准备好数据传送时，向</a:t>
            </a:r>
            <a:r>
              <a:rPr lang="en-US" altLang="zh-CN" sz="2200" dirty="0">
                <a:solidFill>
                  <a:schemeClr val="tx1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发出中断请求；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altLang="zh-CN" sz="2200" dirty="0">
                <a:solidFill>
                  <a:schemeClr val="tx1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在满足响应中断的条件下，发出中断响应信号；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altLang="zh-CN" sz="2200" dirty="0">
                <a:solidFill>
                  <a:schemeClr val="tx1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暂停当前的程序，转去执行中断服务程序，完成与外设的数据传送；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altLang="zh-CN" sz="2200" dirty="0">
                <a:solidFill>
                  <a:schemeClr val="tx1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从中断服务程序返回，继续执行被中断的程序。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endParaRPr lang="en-US" altLang="zh-CN" sz="22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SzPct val="100000"/>
              <a:buNone/>
            </a:pPr>
            <a:r>
              <a:rPr lang="zh-CN" altLang="en-US" sz="2200" b="1" dirty="0">
                <a:solidFill>
                  <a:schemeClr val="tx1"/>
                </a:solidFill>
              </a:rPr>
              <a:t>特点</a:t>
            </a:r>
            <a:r>
              <a:rPr lang="zh-CN" altLang="en-US" sz="2200" dirty="0">
                <a:solidFill>
                  <a:schemeClr val="tx1"/>
                </a:solidFill>
              </a:rPr>
              <a:t>：</a:t>
            </a:r>
            <a:r>
              <a:rPr lang="en-US" altLang="zh-CN" sz="2200" dirty="0">
                <a:solidFill>
                  <a:schemeClr val="tx1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效率高，实时性好，速度快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774380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</a:rPr>
              <a:t>中断传送方式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069" y="1052736"/>
            <a:ext cx="6172517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794477"/>
      </p:ext>
    </p:extLst>
  </p:cSld>
  <p:clrMapOvr>
    <a:masterClrMapping/>
  </p:clrMapOvr>
  <p:transition spd="slow"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以上三种</a:t>
            </a:r>
            <a:r>
              <a:rPr lang="en-US" altLang="zh-CN" dirty="0"/>
              <a:t>I/O</a:t>
            </a:r>
            <a:r>
              <a:rPr lang="zh-CN" altLang="en-US" dirty="0"/>
              <a:t>方式的共性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4108" y="1052736"/>
            <a:ext cx="8222533" cy="4896544"/>
          </a:xfrm>
        </p:spPr>
        <p:txBody>
          <a:bodyPr/>
          <a:lstStyle/>
          <a:p>
            <a:r>
              <a:rPr lang="zh-CN" altLang="en-US" sz="2400" dirty="0">
                <a:solidFill>
                  <a:srgbClr val="FF0000"/>
                </a:solidFill>
              </a:rPr>
              <a:t>信息的传送均需通过</a:t>
            </a:r>
            <a:r>
              <a:rPr lang="en-US" altLang="zh-CN" sz="2400" dirty="0">
                <a:solidFill>
                  <a:srgbClr val="FF0000"/>
                </a:solidFill>
              </a:rPr>
              <a:t>CPU</a:t>
            </a:r>
          </a:p>
          <a:p>
            <a:r>
              <a:rPr lang="zh-CN" altLang="en-US" sz="2400" dirty="0"/>
              <a:t>软件：</a:t>
            </a:r>
            <a:endParaRPr lang="en-US" altLang="zh-CN" sz="2400" dirty="0"/>
          </a:p>
          <a:p>
            <a:pPr lvl="1"/>
            <a:r>
              <a:rPr lang="zh-CN" altLang="en-US" sz="2000" dirty="0"/>
              <a:t>外设与内存之间的数据传送是通过</a:t>
            </a:r>
            <a:r>
              <a:rPr lang="en-US" altLang="zh-CN" sz="2000" dirty="0"/>
              <a:t>CPU</a:t>
            </a:r>
            <a:r>
              <a:rPr lang="zh-CN" altLang="en-US" sz="2000" dirty="0"/>
              <a:t>执行程序来完成的</a:t>
            </a:r>
            <a:endParaRPr lang="en-US" altLang="zh-CN" sz="2000" dirty="0"/>
          </a:p>
          <a:p>
            <a:r>
              <a:rPr lang="zh-CN" altLang="en-US" sz="2400" dirty="0"/>
              <a:t>硬件：</a:t>
            </a:r>
            <a:endParaRPr lang="en-US" altLang="zh-CN" sz="2400" dirty="0"/>
          </a:p>
          <a:p>
            <a:pPr lvl="1"/>
            <a:r>
              <a:rPr lang="en-US" altLang="zh-CN" sz="2000" dirty="0"/>
              <a:t>I/O</a:t>
            </a:r>
            <a:r>
              <a:rPr lang="zh-CN" altLang="en-US" sz="2000" dirty="0"/>
              <a:t>接口和存储器的读写控制信号、地址信号都是由</a:t>
            </a:r>
            <a:r>
              <a:rPr lang="en-US" altLang="zh-CN" sz="2000" dirty="0"/>
              <a:t>CPU</a:t>
            </a:r>
            <a:r>
              <a:rPr lang="zh-CN" altLang="en-US" sz="2000" dirty="0"/>
              <a:t>发出的</a:t>
            </a:r>
            <a:endParaRPr lang="en-US" altLang="zh-CN" sz="2000" dirty="0"/>
          </a:p>
          <a:p>
            <a:r>
              <a:rPr lang="zh-CN" altLang="en-US" sz="2400" dirty="0"/>
              <a:t>缺点：</a:t>
            </a:r>
            <a:endParaRPr lang="en-US" altLang="zh-CN" sz="2400" dirty="0"/>
          </a:p>
          <a:p>
            <a:pPr lvl="1"/>
            <a:r>
              <a:rPr lang="zh-CN" altLang="en-US" sz="2000" dirty="0"/>
              <a:t>程序的执行速度限定了传送的最大速度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5A8AE2-8E0B-4055-AC24-FD4D1192EF7B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8001126"/>
      </p:ext>
    </p:extLst>
  </p:cSld>
  <p:clrMapOvr>
    <a:masterClrMapping/>
  </p:clrMapOvr>
  <p:transition spd="slow"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直接存储器存取（</a:t>
            </a:r>
            <a:r>
              <a:rPr lang="en-US" altLang="zh-CN" dirty="0"/>
              <a:t>DMA</a:t>
            </a:r>
            <a:r>
              <a:rPr lang="zh-CN" altLang="en-US" dirty="0"/>
              <a:t>）方式</a:t>
            </a:r>
          </a:p>
        </p:txBody>
      </p:sp>
      <p:sp>
        <p:nvSpPr>
          <p:cNvPr id="70658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chemeClr val="tx1"/>
                </a:solidFill>
              </a:rPr>
              <a:t>DMA</a:t>
            </a:r>
            <a:r>
              <a:rPr lang="zh-CN" altLang="en-US" sz="2200" dirty="0">
                <a:solidFill>
                  <a:schemeClr val="tx1"/>
                </a:solidFill>
              </a:rPr>
              <a:t>（</a:t>
            </a:r>
            <a:r>
              <a:rPr lang="en-US" altLang="zh-CN" sz="2200" dirty="0">
                <a:solidFill>
                  <a:schemeClr val="tx1"/>
                </a:solidFill>
              </a:rPr>
              <a:t>Direct Memory Access</a:t>
            </a:r>
            <a:r>
              <a:rPr lang="zh-CN" altLang="en-US" sz="2200" dirty="0">
                <a:solidFill>
                  <a:schemeClr val="tx1"/>
                </a:solidFill>
              </a:rPr>
              <a:t>）是一种不需要</a:t>
            </a:r>
            <a:r>
              <a:rPr lang="en-US" altLang="zh-CN" sz="2200" dirty="0">
                <a:solidFill>
                  <a:schemeClr val="tx1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干预也不需要软件介入的高速数据传送方式。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solidFill>
                  <a:schemeClr val="tx1"/>
                </a:solidFill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</a:rPr>
              <a:t>只启动而不干预这一传送过程，整个传送过程由硬件完成而不需软件介入。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在</a:t>
            </a:r>
            <a:r>
              <a:rPr lang="en-US" altLang="zh-CN" sz="2200" dirty="0">
                <a:solidFill>
                  <a:schemeClr val="tx1"/>
                </a:solidFill>
              </a:rPr>
              <a:t>DMA</a:t>
            </a:r>
            <a:r>
              <a:rPr lang="zh-CN" altLang="en-US" sz="2200" dirty="0">
                <a:solidFill>
                  <a:schemeClr val="tx1"/>
                </a:solidFill>
              </a:rPr>
              <a:t>传送方式中，对这一数据传送过程进行控制的硬件称为</a:t>
            </a:r>
            <a:r>
              <a:rPr lang="en-US" altLang="zh-CN" sz="2200" dirty="0">
                <a:solidFill>
                  <a:schemeClr val="tx1"/>
                </a:solidFill>
              </a:rPr>
              <a:t>DMA</a:t>
            </a:r>
            <a:r>
              <a:rPr lang="zh-CN" altLang="en-US" sz="2200" dirty="0">
                <a:solidFill>
                  <a:schemeClr val="tx1"/>
                </a:solidFill>
              </a:rPr>
              <a:t>控制器（</a:t>
            </a:r>
            <a:r>
              <a:rPr lang="en-US" altLang="zh-CN" sz="2200" dirty="0">
                <a:solidFill>
                  <a:schemeClr val="tx1"/>
                </a:solidFill>
              </a:rPr>
              <a:t>DMAC</a:t>
            </a:r>
            <a:r>
              <a:rPr lang="zh-CN" altLang="en-US" sz="2200" dirty="0">
                <a:solidFill>
                  <a:schemeClr val="tx1"/>
                </a:solidFill>
              </a:rPr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868611017"/>
      </p:ext>
    </p:extLst>
  </p:cSld>
  <p:clrMapOvr>
    <a:masterClrMapping/>
  </p:clrMapOvr>
  <p:transition spd="slow"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直接存储器存取（</a:t>
            </a:r>
            <a:r>
              <a:rPr lang="en-US" altLang="zh-CN" dirty="0"/>
              <a:t>DMA</a:t>
            </a:r>
            <a:r>
              <a:rPr lang="zh-CN" altLang="en-US" dirty="0"/>
              <a:t>）方式</a:t>
            </a:r>
            <a:endParaRPr lang="zh-CN" altLang="en-US" dirty="0">
              <a:latin typeface="+mj-ea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47B40-3D2C-4C04-B87D-C55BCF27D7B7}" type="slidenum">
              <a:rPr lang="en-US" altLang="zh-CN"/>
              <a:pPr/>
              <a:t>43</a:t>
            </a:fld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82" y="1080811"/>
            <a:ext cx="7131417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1824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直接存储器存取（</a:t>
            </a:r>
            <a:r>
              <a:rPr lang="en-US" altLang="zh-CN" sz="2800" dirty="0"/>
              <a:t>DMA</a:t>
            </a:r>
            <a:r>
              <a:rPr lang="zh-CN" altLang="en-US" sz="2800" dirty="0"/>
              <a:t>）方式</a:t>
            </a:r>
            <a:endParaRPr kumimoji="1" lang="zh-CN" altLang="en-US" sz="2800" dirty="0">
              <a:solidFill>
                <a:schemeClr val="hlink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不必通过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的中转，而直接在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I/O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接口与存储器之间进行传递（抢占总线）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需要</a:t>
            </a:r>
            <a:r>
              <a:rPr lang="en-US" altLang="zh-CN" sz="2200" dirty="0">
                <a:solidFill>
                  <a:schemeClr val="tx1"/>
                </a:solidFill>
                <a:latin typeface="+mn-ea"/>
                <a:ea typeface="+mn-ea"/>
              </a:rPr>
              <a:t>DMA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控制器的介入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适用于大量数据的交换</a:t>
            </a:r>
          </a:p>
        </p:txBody>
      </p:sp>
    </p:spTree>
    <p:extLst>
      <p:ext uri="{BB962C8B-B14F-4D97-AF65-F5344CB8AC3E}">
        <p14:creationId xmlns:p14="http://schemas.microsoft.com/office/powerpoint/2010/main" val="2353102281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本章小结</a:t>
            </a:r>
          </a:p>
        </p:txBody>
      </p:sp>
      <p:sp>
        <p:nvSpPr>
          <p:cNvPr id="9216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D323BD7-2DC1-47ED-82E8-D6A548E51B54}" type="slidenum">
              <a:rPr kumimoji="0" lang="zh-CN" altLang="en-US" sz="1400">
                <a:latin typeface="Tahoma" panose="020B0604030504040204" pitchFamily="34" charset="0"/>
              </a:rPr>
              <a:pPr/>
              <a:t>45</a:t>
            </a:fld>
            <a:endParaRPr kumimoji="0" lang="en-US" altLang="zh-CN" sz="1400">
              <a:latin typeface="Tahoma" panose="020B060403050404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1C017E-7BCE-478F-A60F-30C6EFE90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43381"/>
            <a:ext cx="9144000" cy="357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319654"/>
      </p:ext>
    </p:extLst>
  </p:cSld>
  <p:clrMapOvr>
    <a:masterClrMapping/>
  </p:clrMapOvr>
  <p:transition spd="slow">
    <p:zoom/>
  </p:transition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t3zu5psa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12098</TotalTime>
  <Words>2905</Words>
  <Application>Microsoft Office PowerPoint</Application>
  <PresentationFormat>全屏显示(4:3)</PresentationFormat>
  <Paragraphs>351</Paragraphs>
  <Slides>45</Slides>
  <Notes>18</Notes>
  <HiddenSlides>1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5" baseType="lpstr">
      <vt:lpstr>等线</vt:lpstr>
      <vt:lpstr>微软雅黑</vt:lpstr>
      <vt:lpstr>微软雅黑</vt:lpstr>
      <vt:lpstr>Arial</vt:lpstr>
      <vt:lpstr>Cambria Math</vt:lpstr>
      <vt:lpstr>Tahoma</vt:lpstr>
      <vt:lpstr>Times New Roman</vt:lpstr>
      <vt:lpstr>Wingdings</vt:lpstr>
      <vt:lpstr>Blends</vt:lpstr>
      <vt:lpstr>Equation</vt:lpstr>
      <vt:lpstr>第6章 输入输出接口</vt:lpstr>
      <vt:lpstr>主要内容</vt:lpstr>
      <vt:lpstr>6.1 微机接口技术</vt:lpstr>
      <vt:lpstr>采用I/O接口的必要性</vt:lpstr>
      <vt:lpstr>接口电路的功能</vt:lpstr>
      <vt:lpstr>接口电路的功能</vt:lpstr>
      <vt:lpstr>接口电路的功能</vt:lpstr>
      <vt:lpstr>接口电路的功能</vt:lpstr>
      <vt:lpstr>接口电路的功能</vt:lpstr>
      <vt:lpstr>接口电路的功能</vt:lpstr>
      <vt:lpstr>接口电路的功能</vt:lpstr>
      <vt:lpstr>I/O接口的基本结构</vt:lpstr>
      <vt:lpstr>I/O接口的基本结构</vt:lpstr>
      <vt:lpstr>I/O接口的基本结构</vt:lpstr>
      <vt:lpstr>I/O接口的基本结构</vt:lpstr>
      <vt:lpstr>I/O接口的基本结构</vt:lpstr>
      <vt:lpstr>简单的I/O接口芯片</vt:lpstr>
      <vt:lpstr>单向数据缓冲器 74LS244</vt:lpstr>
      <vt:lpstr>简单的I/O接口芯片</vt:lpstr>
      <vt:lpstr>简单的I/O接口芯片</vt:lpstr>
      <vt:lpstr>简单的I/O接口芯片</vt:lpstr>
      <vt:lpstr>I/O端口的编址方式及端口地址译码</vt:lpstr>
      <vt:lpstr>I/O端口的编址方式及端口地址译码</vt:lpstr>
      <vt:lpstr>I/O端口的编址方式</vt:lpstr>
      <vt:lpstr>I/O端口的编址方式</vt:lpstr>
      <vt:lpstr>I/O端口的编址方式</vt:lpstr>
      <vt:lpstr>I/O端口的编址方式</vt:lpstr>
      <vt:lpstr>I/O端口地址分配</vt:lpstr>
      <vt:lpstr>I/O端口地址分配</vt:lpstr>
      <vt:lpstr>I/O端口地址译码</vt:lpstr>
      <vt:lpstr>I/O端口地址译码</vt:lpstr>
      <vt:lpstr>I/O端口地址译码</vt:lpstr>
      <vt:lpstr>例题</vt:lpstr>
      <vt:lpstr>CPU与外设之间的数据传送方式</vt:lpstr>
      <vt:lpstr>程序控制方式</vt:lpstr>
      <vt:lpstr>程序控制方式</vt:lpstr>
      <vt:lpstr>程序控制方式</vt:lpstr>
      <vt:lpstr>程序控制方式</vt:lpstr>
      <vt:lpstr>中断传送方式</vt:lpstr>
      <vt:lpstr>中断传送方式</vt:lpstr>
      <vt:lpstr>以上三种I/O方式的共性</vt:lpstr>
      <vt:lpstr>直接存储器存取（DMA）方式</vt:lpstr>
      <vt:lpstr>直接存储器存取（DMA）方式</vt:lpstr>
      <vt:lpstr>直接存储器存取（DMA）方式</vt:lpstr>
      <vt:lpstr>本章小结</vt:lpstr>
    </vt:vector>
  </TitlesOfParts>
  <Company>LG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微机原理及应用</dc:title>
  <dc:creator>han jihui</dc:creator>
  <cp:lastModifiedBy>jihui han</cp:lastModifiedBy>
  <cp:revision>741</cp:revision>
  <dcterms:created xsi:type="dcterms:W3CDTF">2018-08-29T00:41:07Z</dcterms:created>
  <dcterms:modified xsi:type="dcterms:W3CDTF">2022-10-24T01:19:05Z</dcterms:modified>
</cp:coreProperties>
</file>