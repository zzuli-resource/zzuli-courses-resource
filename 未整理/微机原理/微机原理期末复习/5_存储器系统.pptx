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1195" r:id="rId3"/>
    <p:sldId id="1194" r:id="rId4"/>
    <p:sldId id="524" r:id="rId5"/>
    <p:sldId id="525" r:id="rId6"/>
    <p:sldId id="526" r:id="rId7"/>
    <p:sldId id="1196" r:id="rId8"/>
    <p:sldId id="1197" r:id="rId9"/>
    <p:sldId id="1198" r:id="rId10"/>
    <p:sldId id="1218" r:id="rId11"/>
    <p:sldId id="1311" r:id="rId12"/>
    <p:sldId id="1213" r:id="rId13"/>
    <p:sldId id="1212" r:id="rId14"/>
    <p:sldId id="1214" r:id="rId15"/>
    <p:sldId id="1312" r:id="rId16"/>
    <p:sldId id="1215" r:id="rId17"/>
    <p:sldId id="1216" r:id="rId18"/>
    <p:sldId id="1217" r:id="rId19"/>
    <p:sldId id="1219" r:id="rId20"/>
    <p:sldId id="1220" r:id="rId21"/>
    <p:sldId id="1294" r:id="rId22"/>
    <p:sldId id="1222" r:id="rId23"/>
    <p:sldId id="1221" r:id="rId24"/>
    <p:sldId id="1224" r:id="rId25"/>
    <p:sldId id="1225" r:id="rId26"/>
    <p:sldId id="1226" r:id="rId27"/>
    <p:sldId id="1235" r:id="rId28"/>
    <p:sldId id="1227" r:id="rId29"/>
    <p:sldId id="1228" r:id="rId30"/>
    <p:sldId id="1229" r:id="rId31"/>
    <p:sldId id="1230" r:id="rId32"/>
    <p:sldId id="1231" r:id="rId33"/>
    <p:sldId id="1232" r:id="rId34"/>
    <p:sldId id="1233" r:id="rId35"/>
    <p:sldId id="1234" r:id="rId36"/>
    <p:sldId id="1295" r:id="rId37"/>
    <p:sldId id="1296" r:id="rId38"/>
    <p:sldId id="1297" r:id="rId39"/>
    <p:sldId id="1298" r:id="rId40"/>
    <p:sldId id="1299" r:id="rId41"/>
    <p:sldId id="1300" r:id="rId42"/>
    <p:sldId id="1301" r:id="rId43"/>
    <p:sldId id="1302" r:id="rId44"/>
    <p:sldId id="1303" r:id="rId45"/>
    <p:sldId id="1304" r:id="rId46"/>
    <p:sldId id="1305" r:id="rId47"/>
    <p:sldId id="1306" r:id="rId48"/>
    <p:sldId id="1307" r:id="rId49"/>
    <p:sldId id="1308" r:id="rId50"/>
    <p:sldId id="1309" r:id="rId51"/>
    <p:sldId id="1310" r:id="rId5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6269" autoAdjust="0"/>
  </p:normalViewPr>
  <p:slideViewPr>
    <p:cSldViewPr snapToGrid="0">
      <p:cViewPr varScale="1">
        <p:scale>
          <a:sx n="107" d="100"/>
          <a:sy n="107" d="100"/>
        </p:scale>
        <p:origin x="11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7AF06-B910-4FC9-9BDF-444651DFDC50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81490-3D7F-4885-8672-336239E0E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475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461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存取时间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指从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发出存取要求到存储器完成存取操作的时间；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是存储器一项重要参数，通常存取时间越短，计算机运行速度越快。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功耗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反映存储器的功率消耗，功耗越大，温度越高。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可靠性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平均故障间隔时间（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MTBF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）来衡量，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MTBF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越长，可靠性越高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933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常用</a:t>
            </a:r>
            <a:r>
              <a:rPr lang="en-US" altLang="zh-CN" dirty="0"/>
              <a:t>SRAM</a:t>
            </a:r>
            <a:r>
              <a:rPr lang="zh-CN" altLang="en-US" dirty="0"/>
              <a:t>作为</a:t>
            </a:r>
            <a:r>
              <a:rPr lang="en-US" altLang="zh-CN" dirty="0"/>
              <a:t>Cache</a:t>
            </a:r>
            <a:r>
              <a:rPr lang="zh-CN" altLang="en-US" dirty="0"/>
              <a:t>，存放最常用数据，</a:t>
            </a:r>
            <a:r>
              <a:rPr lang="en-US" altLang="zh-CN" dirty="0"/>
              <a:t>DRAM</a:t>
            </a:r>
            <a:r>
              <a:rPr lang="zh-CN" altLang="en-US" dirty="0"/>
              <a:t>作为主存，即通常说的内存，存放常用的较大量数据，暂时不用的大量数据存放在外存中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30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半导体存储器一般由存储体、地址译码电路、控制电路和输入输出电路组成。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862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538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073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377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005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643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25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5534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需动态刷新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044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需动态刷新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9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19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</a:rPr>
              <a:t>当</a:t>
            </a:r>
            <a:r>
              <a:rPr lang="en-US" altLang="zh-CN" sz="1200" dirty="0">
                <a:solidFill>
                  <a:schemeClr val="tx1"/>
                </a:solidFill>
              </a:rPr>
              <a:t>OE</a:t>
            </a:r>
            <a:r>
              <a:rPr lang="zh-CN" altLang="en-US" sz="1200" dirty="0">
                <a:solidFill>
                  <a:schemeClr val="tx1"/>
                </a:solidFill>
              </a:rPr>
              <a:t>为高，</a:t>
            </a:r>
            <a:r>
              <a:rPr lang="en-US" altLang="zh-CN" sz="1200" dirty="0">
                <a:solidFill>
                  <a:schemeClr val="tx1"/>
                </a:solidFill>
              </a:rPr>
              <a:t>CE</a:t>
            </a:r>
            <a:r>
              <a:rPr lang="zh-CN" altLang="en-US" sz="1200" dirty="0">
                <a:solidFill>
                  <a:schemeClr val="tx1"/>
                </a:solidFill>
              </a:rPr>
              <a:t>为宽</a:t>
            </a:r>
            <a:r>
              <a:rPr lang="en-US" altLang="zh-CN" sz="1200" dirty="0">
                <a:solidFill>
                  <a:schemeClr val="tx1"/>
                </a:solidFill>
              </a:rPr>
              <a:t>50ms</a:t>
            </a:r>
            <a:r>
              <a:rPr lang="zh-CN" altLang="en-US" sz="1200" dirty="0">
                <a:solidFill>
                  <a:schemeClr val="tx1"/>
                </a:solidFill>
              </a:rPr>
              <a:t>左右的正脉冲且</a:t>
            </a:r>
            <a:r>
              <a:rPr lang="en-US" altLang="zh-CN" sz="1200" dirty="0" err="1">
                <a:solidFill>
                  <a:schemeClr val="tx1"/>
                </a:solidFill>
              </a:rPr>
              <a:t>Vpp</a:t>
            </a:r>
            <a:r>
              <a:rPr lang="zh-CN" altLang="en-US" sz="1200" dirty="0">
                <a:solidFill>
                  <a:schemeClr val="tx1"/>
                </a:solidFill>
              </a:rPr>
              <a:t>为</a:t>
            </a:r>
            <a:r>
              <a:rPr lang="en-US" altLang="zh-CN" sz="1200" dirty="0">
                <a:solidFill>
                  <a:schemeClr val="tx1"/>
                </a:solidFill>
              </a:rPr>
              <a:t>+25V</a:t>
            </a:r>
            <a:r>
              <a:rPr lang="zh-CN" altLang="en-US" sz="1200" dirty="0">
                <a:solidFill>
                  <a:schemeClr val="tx1"/>
                </a:solidFill>
              </a:rPr>
              <a:t>时，数据线</a:t>
            </a:r>
            <a:r>
              <a:rPr lang="en-US" altLang="zh-CN" sz="1200" dirty="0">
                <a:solidFill>
                  <a:schemeClr val="tx1"/>
                </a:solidFill>
              </a:rPr>
              <a:t>O0</a:t>
            </a:r>
            <a:r>
              <a:rPr lang="zh-CN" altLang="en-US" sz="1200" dirty="0">
                <a:solidFill>
                  <a:schemeClr val="tx1"/>
                </a:solidFill>
              </a:rPr>
              <a:t>～</a:t>
            </a:r>
            <a:r>
              <a:rPr lang="en-US" altLang="zh-CN" sz="1200" dirty="0">
                <a:solidFill>
                  <a:schemeClr val="tx1"/>
                </a:solidFill>
              </a:rPr>
              <a:t>O7</a:t>
            </a:r>
            <a:r>
              <a:rPr lang="zh-CN" altLang="en-US" sz="1200" dirty="0">
                <a:solidFill>
                  <a:schemeClr val="tx1"/>
                </a:solidFill>
              </a:rPr>
              <a:t>上的数据进入译码选中的地址单元，进行固化操作。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87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742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在微机系统中，</a:t>
            </a:r>
            <a:r>
              <a:rPr lang="en-US" altLang="zh-CN" dirty="0"/>
              <a:t>CPU</a:t>
            </a:r>
            <a:r>
              <a:rPr lang="zh-CN" altLang="en-US" dirty="0"/>
              <a:t>对存储器进行操作，首先要由地址总线给出地址信号，选择要进行读写操作的存储单元，然后通过控制总线发出相应的读写控制信号，最后才能在数据总线上进行数据交换。因此，存储芯片与</a:t>
            </a:r>
            <a:r>
              <a:rPr lang="en-US" altLang="zh-CN" dirty="0"/>
              <a:t>CPU</a:t>
            </a:r>
            <a:r>
              <a:rPr lang="zh-CN" altLang="en-US" dirty="0"/>
              <a:t>的连接，实际上是存储器与</a:t>
            </a:r>
            <a:r>
              <a:rPr lang="en-US" altLang="zh-CN" dirty="0"/>
              <a:t>CPU</a:t>
            </a:r>
            <a:r>
              <a:rPr lang="zh-CN" altLang="en-US" dirty="0"/>
              <a:t>的地址线、数据线、控制线的连接。</a:t>
            </a:r>
            <a:endParaRPr lang="en-US" altLang="zh-CN" dirty="0"/>
          </a:p>
          <a:p>
            <a:pPr marL="0" indent="0">
              <a:lnSpc>
                <a:spcPct val="150000"/>
              </a:lnSpc>
              <a:buSzPct val="100000"/>
              <a:buFont typeface="+mj-lt"/>
              <a:buNone/>
            </a:pPr>
            <a:r>
              <a:rPr lang="en-US" altLang="zh-CN" sz="1200" dirty="0"/>
              <a:t>1 CPU</a:t>
            </a:r>
            <a:r>
              <a:rPr lang="zh-CN" altLang="en-US" sz="1200" dirty="0"/>
              <a:t>总线的负载能力</a:t>
            </a:r>
            <a:endParaRPr lang="en-US" altLang="zh-CN" sz="1200" dirty="0"/>
          </a:p>
          <a:p>
            <a:pPr marL="0" indent="0">
              <a:lnSpc>
                <a:spcPct val="150000"/>
              </a:lnSpc>
              <a:buSzPct val="100000"/>
              <a:buFont typeface="+mj-lt"/>
              <a:buNone/>
            </a:pPr>
            <a:r>
              <a:rPr lang="en-US" altLang="zh-CN" sz="1200" dirty="0"/>
              <a:t>2 CPU</a:t>
            </a:r>
            <a:r>
              <a:rPr lang="zh-CN" altLang="en-US" sz="1200" dirty="0"/>
              <a:t>时序和存储器存取速度的配合问题</a:t>
            </a:r>
            <a:endParaRPr lang="en-US" altLang="zh-CN" sz="1200" dirty="0"/>
          </a:p>
          <a:p>
            <a:pPr marL="0" indent="0">
              <a:lnSpc>
                <a:spcPct val="150000"/>
              </a:lnSpc>
              <a:buSzPct val="100000"/>
              <a:buFont typeface="+mj-lt"/>
              <a:buNone/>
            </a:pPr>
            <a:r>
              <a:rPr lang="en-US" altLang="zh-CN" sz="1200" dirty="0"/>
              <a:t>3 </a:t>
            </a:r>
            <a:r>
              <a:rPr lang="zh-CN" altLang="en-US" sz="1200" dirty="0"/>
              <a:t>存储器的地址分配和片选问题</a:t>
            </a:r>
            <a:endParaRPr lang="en-US" altLang="zh-CN" sz="1200" dirty="0"/>
          </a:p>
          <a:p>
            <a:pPr marL="0" indent="0">
              <a:lnSpc>
                <a:spcPct val="150000"/>
              </a:lnSpc>
              <a:buSzPct val="100000"/>
              <a:buFont typeface="+mj-lt"/>
              <a:buNone/>
            </a:pPr>
            <a:r>
              <a:rPr lang="en-US" altLang="zh-CN" sz="1200" dirty="0"/>
              <a:t>4 </a:t>
            </a:r>
            <a:r>
              <a:rPr lang="zh-CN" altLang="en-US" sz="1200" dirty="0"/>
              <a:t>控制信号的连接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548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596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6441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075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6863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394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9385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828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9312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8KBROM </a:t>
            </a:r>
            <a:r>
              <a:rPr lang="zh-CN" altLang="en-US" dirty="0"/>
              <a:t>利用</a:t>
            </a:r>
            <a:r>
              <a:rPr lang="en-US" altLang="zh-CN" dirty="0"/>
              <a:t>2k×8</a:t>
            </a:r>
            <a:r>
              <a:rPr lang="zh-CN" altLang="en-US" dirty="0"/>
              <a:t>的</a:t>
            </a:r>
            <a:r>
              <a:rPr lang="en-US" altLang="zh-CN" dirty="0"/>
              <a:t>2716</a:t>
            </a:r>
            <a:r>
              <a:rPr lang="zh-CN" altLang="en-US" dirty="0"/>
              <a:t>，确定各个芯片的地址范围</a:t>
            </a:r>
            <a:endParaRPr lang="en-US" altLang="zh-CN" dirty="0"/>
          </a:p>
          <a:p>
            <a:pPr eaLnBrk="1" hangingPunct="1"/>
            <a:r>
              <a:rPr lang="zh-CN" altLang="en-US" dirty="0"/>
              <a:t>线选法特点：译码电路简单，但地址有重叠，且不连续，适用于存储容量较小的系统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0021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8373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译码电路比较复杂，但存储芯片内部或各个存储芯片之间的地址均是连续的，无空白地址区域或重叠地址，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的寻址空间得到了充分地利用。 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5435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5959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r>
              <a:rPr lang="zh-CN" altLang="en-US" sz="1200" dirty="0">
                <a:solidFill>
                  <a:schemeClr val="tx1"/>
                </a:solidFill>
                <a:cs typeface="Times New Roman" panose="02020603050405020304" pitchFamily="18" charset="0"/>
              </a:rPr>
              <a:t>如果正确选择参与片选译码的高位地址线，存储系统内各芯片之间的地址是连续的，方便编程。</a:t>
            </a: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r>
              <a:rPr lang="zh-CN" altLang="en-US" sz="1200" dirty="0">
                <a:solidFill>
                  <a:schemeClr val="tx1"/>
                </a:solidFill>
                <a:cs typeface="Times New Roman" panose="02020603050405020304" pitchFamily="18" charset="0"/>
              </a:rPr>
              <a:t>有地址重叠区。</a:t>
            </a: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5039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r>
              <a:rPr lang="zh-CN" altLang="en-US" sz="1200" dirty="0">
                <a:solidFill>
                  <a:schemeClr val="tx1"/>
                </a:solidFill>
                <a:cs typeface="Times New Roman" panose="02020603050405020304" pitchFamily="18" charset="0"/>
              </a:rPr>
              <a:t>由于有空闲地址线，所以存在地址重叠。</a:t>
            </a: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r>
              <a:rPr lang="zh-CN" altLang="en-US" sz="1200" dirty="0">
                <a:solidFill>
                  <a:schemeClr val="tx1"/>
                </a:solidFill>
                <a:cs typeface="Times New Roman" panose="02020603050405020304" pitchFamily="18" charset="0"/>
              </a:rPr>
              <a:t>由于将地址线直接作为片选信号，所以芯片间地址不连续且存在着空白地址区。</a:t>
            </a: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826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r>
              <a:rPr lang="zh-CN" altLang="en-US" sz="1200">
                <a:solidFill>
                  <a:schemeClr val="tx1"/>
                </a:solidFill>
                <a:cs typeface="Times New Roman" panose="02020603050405020304" pitchFamily="18" charset="0"/>
              </a:rPr>
              <a:t>网工网开</a:t>
            </a: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8151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zh-CN" altLang="en-US" dirty="0"/>
              <a:t>位扩展、字扩展、字位扩展</a:t>
            </a:r>
          </a:p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9047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zh-CN" altLang="en-US" dirty="0"/>
              <a:t>位扩展、字扩展、字位扩展</a:t>
            </a:r>
          </a:p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2628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74LS158</a:t>
            </a:r>
            <a:r>
              <a:rPr lang="zh-CN" altLang="en-US" dirty="0"/>
              <a:t>，四</a:t>
            </a:r>
            <a:r>
              <a:rPr lang="en-US" altLang="zh-CN" dirty="0"/>
              <a:t>2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数据选择器</a:t>
            </a:r>
          </a:p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3526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地址线、控制线并联，数据线分别引出</a:t>
            </a: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9565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732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9197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2350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8849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0502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62223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7550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6278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824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2480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ct val="20000"/>
              </a:spcAft>
              <a:tabLst>
                <a:tab pos="0" algn="l"/>
              </a:tabLst>
            </a:pPr>
            <a:endParaRPr lang="en-US" altLang="zh-CN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58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81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47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94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81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48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1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29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326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40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21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81BCD-E550-44B9-AAE1-9BB76BE53C8A}" type="datetimeFigureOut">
              <a:rPr lang="zh-CN" altLang="en-US" smtClean="0"/>
              <a:t>2022-10-28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3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524709" y="813514"/>
            <a:ext cx="281359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1538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存储器概述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典型存储器芯片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存储器系统的设计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610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半导体存储器分类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ED122-BD9C-47CF-9B48-1FBB775A7A68}"/>
              </a:ext>
            </a:extLst>
          </p:cNvPr>
          <p:cNvSpPr txBox="1"/>
          <p:nvPr/>
        </p:nvSpPr>
        <p:spPr>
          <a:xfrm>
            <a:off x="679620" y="3290696"/>
            <a:ext cx="18774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半导体存储器</a:t>
            </a: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9DC842F4-1841-4CBD-A06C-1EE767DFA01A}"/>
              </a:ext>
            </a:extLst>
          </p:cNvPr>
          <p:cNvSpPr/>
          <p:nvPr/>
        </p:nvSpPr>
        <p:spPr>
          <a:xfrm>
            <a:off x="2557057" y="2246140"/>
            <a:ext cx="346779" cy="2520000"/>
          </a:xfrm>
          <a:prstGeom prst="leftBrace">
            <a:avLst>
              <a:gd name="adj1" fmla="val 40897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AC6479-CC9D-48F6-BBCD-0F34723DCFF0}"/>
              </a:ext>
            </a:extLst>
          </p:cNvPr>
          <p:cNvSpPr txBox="1"/>
          <p:nvPr/>
        </p:nvSpPr>
        <p:spPr>
          <a:xfrm>
            <a:off x="2903836" y="2030697"/>
            <a:ext cx="22541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随机存储器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9E9FD4-BDF1-4C0C-A949-4641CCB029BA}"/>
              </a:ext>
            </a:extLst>
          </p:cNvPr>
          <p:cNvSpPr txBox="1"/>
          <p:nvPr/>
        </p:nvSpPr>
        <p:spPr>
          <a:xfrm>
            <a:off x="2903836" y="4473557"/>
            <a:ext cx="22815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只读存储器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EC833646-8852-4CC4-B70F-5A54D618C442}"/>
              </a:ext>
            </a:extLst>
          </p:cNvPr>
          <p:cNvSpPr/>
          <p:nvPr/>
        </p:nvSpPr>
        <p:spPr>
          <a:xfrm>
            <a:off x="5185422" y="1706140"/>
            <a:ext cx="346779" cy="1080000"/>
          </a:xfrm>
          <a:prstGeom prst="leftBrace">
            <a:avLst>
              <a:gd name="adj1" fmla="val 40897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91BE67-D120-41FE-B552-BA602967B59C}"/>
              </a:ext>
            </a:extLst>
          </p:cNvPr>
          <p:cNvSpPr txBox="1"/>
          <p:nvPr/>
        </p:nvSpPr>
        <p:spPr>
          <a:xfrm>
            <a:off x="5532200" y="1470503"/>
            <a:ext cx="24176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静态存储器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270AB9-581D-4C72-9744-1F98F07A3FA5}"/>
              </a:ext>
            </a:extLst>
          </p:cNvPr>
          <p:cNvSpPr txBox="1"/>
          <p:nvPr/>
        </p:nvSpPr>
        <p:spPr>
          <a:xfrm>
            <a:off x="5532200" y="2481778"/>
            <a:ext cx="24689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动态存储器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09465382-C7BB-4BC0-9CB9-142B4B695FFD}"/>
              </a:ext>
            </a:extLst>
          </p:cNvPr>
          <p:cNvSpPr/>
          <p:nvPr/>
        </p:nvSpPr>
        <p:spPr>
          <a:xfrm>
            <a:off x="5185422" y="3429000"/>
            <a:ext cx="346779" cy="2520000"/>
          </a:xfrm>
          <a:prstGeom prst="leftBrace">
            <a:avLst>
              <a:gd name="adj1" fmla="val 40897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8533B82-7596-42C6-8210-58F4DB3CC4EE}"/>
              </a:ext>
            </a:extLst>
          </p:cNvPr>
          <p:cNvSpPr txBox="1"/>
          <p:nvPr/>
        </p:nvSpPr>
        <p:spPr>
          <a:xfrm>
            <a:off x="5532200" y="3213556"/>
            <a:ext cx="14352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掩膜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321AFC8-2208-4EA2-9031-00D045268E65}"/>
              </a:ext>
            </a:extLst>
          </p:cNvPr>
          <p:cNvSpPr txBox="1"/>
          <p:nvPr/>
        </p:nvSpPr>
        <p:spPr>
          <a:xfrm>
            <a:off x="5532200" y="3830187"/>
            <a:ext cx="19994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一次可写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F5893D6-A0B8-41F8-B7BA-3D215F68ED1A}"/>
              </a:ext>
            </a:extLst>
          </p:cNvPr>
          <p:cNvSpPr txBox="1"/>
          <p:nvPr/>
        </p:nvSpPr>
        <p:spPr>
          <a:xfrm>
            <a:off x="5532200" y="5063449"/>
            <a:ext cx="13550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EEPROM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9867D2-1E7A-4DCF-A33A-957D7AB0994C}"/>
              </a:ext>
            </a:extLst>
          </p:cNvPr>
          <p:cNvSpPr txBox="1"/>
          <p:nvPr/>
        </p:nvSpPr>
        <p:spPr>
          <a:xfrm>
            <a:off x="5532200" y="5680081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闪存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94ABAC-AB07-4575-89C5-15F627F0C7BE}"/>
              </a:ext>
            </a:extLst>
          </p:cNvPr>
          <p:cNvSpPr txBox="1"/>
          <p:nvPr/>
        </p:nvSpPr>
        <p:spPr>
          <a:xfrm>
            <a:off x="5532200" y="4446818"/>
            <a:ext cx="11995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025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半导体存储器主要技术指标</a:t>
            </a:r>
            <a:endParaRPr lang="zh-CN" altLang="en-US" sz="2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3910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存储容量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存储单元个数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每单元的二进制位数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存取时间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实现一次读或写所需要的时间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功耗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可靠性</a:t>
            </a:r>
          </a:p>
        </p:txBody>
      </p:sp>
    </p:spTree>
    <p:extLst>
      <p:ext uri="{BB962C8B-B14F-4D97-AF65-F5344CB8AC3E}">
        <p14:creationId xmlns:p14="http://schemas.microsoft.com/office/powerpoint/2010/main" val="294861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存储器系统的层次结构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A4ED06-503A-4003-96F4-F82EA97C9205}"/>
              </a:ext>
            </a:extLst>
          </p:cNvPr>
          <p:cNvSpPr txBox="1"/>
          <p:nvPr/>
        </p:nvSpPr>
        <p:spPr>
          <a:xfrm>
            <a:off x="515822" y="1151556"/>
            <a:ext cx="7660688" cy="874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速度接近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Cache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，容量接近外存，位价格接近低廉外存，较好地解决了速度、容量和成本之间的矛盾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E62898-E4B0-4F58-917D-92A742B49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66" y="2246982"/>
            <a:ext cx="7608467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40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半导体存储器的基本组成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201C84-EA3F-441C-8010-85CF2F1CF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82" y="1337217"/>
            <a:ext cx="8059035" cy="458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58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1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 存储体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3675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是存储芯片的主体，由大量的存储单元组成，存储单元是最小可寻址单位，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对存储器的访问就是对存储单元进行读写操作。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每个存储单元有唯一编号，称为地址。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表示地址的二进制位数，决定了能访问存储单元的多少，如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位地址，可寻址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en-US" altLang="zh-CN" sz="2000" baseline="52000" dirty="0">
                <a:latin typeface="Consolas" panose="020B0609020204030204" pitchFamily="49" charset="0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个存储单元。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如果每个存储单元二进制位数为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，则该存储体容量为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2n×m(b)</a:t>
            </a:r>
          </a:p>
        </p:txBody>
      </p:sp>
    </p:spTree>
    <p:extLst>
      <p:ext uri="{BB962C8B-B14F-4D97-AF65-F5344CB8AC3E}">
        <p14:creationId xmlns:p14="http://schemas.microsoft.com/office/powerpoint/2010/main" val="251105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2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 地址译码器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5090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送来的地址信号进行译码，选择与地址相对应的存储单元，以便对该单元进行读写。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地址译码的方式有：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单译码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：存储器线性排列，译码器的输出作为字选线来选择某个字的所有位。译码输出线较多，适用于小容量存储器。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双译码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：存储器按矩阵排列，地址线分为行选线和列选线，行列交叉处为选中单元。译码输出线少，适用于较大的存储器系统。</a:t>
            </a:r>
          </a:p>
        </p:txBody>
      </p:sp>
    </p:spTree>
    <p:extLst>
      <p:ext uri="{BB962C8B-B14F-4D97-AF65-F5344CB8AC3E}">
        <p14:creationId xmlns:p14="http://schemas.microsoft.com/office/powerpoint/2010/main" val="339587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3B8DD93-7419-45A4-9BEC-E0540F09F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20" y="642524"/>
            <a:ext cx="8174560" cy="557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65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3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 片选与读写电路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5202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片选：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大多数芯片都有片选信号，以实现芯片的选择；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只有片选有效，才能对芯片进行操作；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片选信号一般由地址译码器输出及一些控制信号组合形成。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读写电路：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由读出放大器、写入电路和读写控制电路组成。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通过数据线与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相连，在存储器和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之间传递信息；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数据线的条数与存储单元内的二进制位数相等。</a:t>
            </a:r>
          </a:p>
        </p:txBody>
      </p:sp>
    </p:spTree>
    <p:extLst>
      <p:ext uri="{BB962C8B-B14F-4D97-AF65-F5344CB8AC3E}">
        <p14:creationId xmlns:p14="http://schemas.microsoft.com/office/powerpoint/2010/main" val="265102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524709" y="813514"/>
            <a:ext cx="281359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1538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存储器概述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典型存储器芯片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存储器系统的设计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9140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静态随机存储器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9FEA1FF-6556-4909-95E5-32936A870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660" y="1091354"/>
            <a:ext cx="6156680" cy="552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9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静态随机存储器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Intel2114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1F3FDA3-112B-49EA-A68E-B48A59E77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682" y="1534650"/>
            <a:ext cx="4107172" cy="463137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1K×4b</a:t>
            </a:r>
            <a:r>
              <a:rPr lang="zh-CN" altLang="en-US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SRAM</a:t>
            </a:r>
            <a:r>
              <a:rPr lang="zh-CN" altLang="en-US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芯片</a:t>
            </a:r>
            <a:endParaRPr lang="en-US" altLang="zh-CN" sz="220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10</a:t>
            </a:r>
            <a:r>
              <a:rPr lang="zh-CN" altLang="en-US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位地址线，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位数据线</a:t>
            </a:r>
            <a:endParaRPr lang="en-US" altLang="zh-CN" sz="220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#CS</a:t>
            </a:r>
            <a:r>
              <a:rPr lang="zh-CN" altLang="en-US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为片选信号</a:t>
            </a:r>
            <a:endParaRPr lang="en-US" altLang="zh-CN" sz="220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#WR</a:t>
            </a:r>
            <a:r>
              <a:rPr lang="zh-CN" altLang="en-US" sz="2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写允许控制信号</a:t>
            </a:r>
            <a:endParaRPr lang="en-US" altLang="zh-CN" sz="220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#WR=0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，写存储器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#WR=1</a:t>
            </a:r>
            <a:r>
              <a:rPr lang="zh-CN" altLang="en-US" sz="20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，读存储器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306FF76-65E9-4E0D-9D99-B8DA3C254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821" y="1534650"/>
            <a:ext cx="3529497" cy="401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4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BA9122C-DB86-4E51-8AF0-20F30392A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" y="1338262"/>
            <a:ext cx="894397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49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E285F6C-06DC-4967-95F7-DB01FE89D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62" y="177435"/>
            <a:ext cx="8178075" cy="650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20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动态随机存储器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0B709A7-56B2-49B4-886F-343D8BE7C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387" y="1670765"/>
            <a:ext cx="4333225" cy="371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35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动态随机存储器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Intel2164A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1F3FDA3-112B-49EA-A68E-B48A59E77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46" y="1559364"/>
            <a:ext cx="4848577" cy="3815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64K×1b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地址线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分时复用，作为行选和列选信号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数据线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Din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Dout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，均为单向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控制线：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#WE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输入读写控制线，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#RAS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行地址选通，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#CAS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列地址选通，都是低电平有效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219643-74AC-417C-A415-BF5AE3A28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622" y="1834328"/>
            <a:ext cx="3769842" cy="339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49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EPROM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Intel2716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1F3FDA3-112B-49EA-A68E-B48A59E77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46" y="1559364"/>
            <a:ext cx="5589984" cy="45819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2K×8b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条地址线，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条数据线，双译码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地址线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A10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，可寻址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en-US" altLang="zh-CN" sz="2000" baseline="30000" dirty="0">
                <a:latin typeface="Consolas" panose="020B0609020204030204" pitchFamily="49" charset="0"/>
                <a:ea typeface="黑体" panose="02010609060101010101" pitchFamily="49" charset="-122"/>
              </a:rPr>
              <a:t>11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个存储单元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数据线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，双向，常规电压下只能作输出，在编程电压下并满足一定的编程条件时可作为程序代码的输入端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片选信号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#CE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，低电平有效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数据输出允许信号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#OE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，低电平有效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工作电压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Vcc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(+5V)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，编程电压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Vpp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(+25V)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45A2EC-D7B4-451C-8677-434CFB9C9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716" y="1502239"/>
            <a:ext cx="3013738" cy="385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61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Intel2716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内部结构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C28DE6A-E0E0-4947-B38E-C99D89D8F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98" y="1077931"/>
            <a:ext cx="7849003" cy="53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20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524709" y="813514"/>
            <a:ext cx="281359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1538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存储器概述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典型存储器芯片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存储器系统的设计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2393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存储器系统的设计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3356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微机系统的规模、应用场合不同，对存储器的容量、类型的要求也不同；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根据系统的实际需求，选择合适类型和规格的存储器芯片，通过适当的硬件连接，来构成存储器系统；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用已有的存储器芯片构造一个需要的存储空间。</a:t>
            </a:r>
          </a:p>
        </p:txBody>
      </p:sp>
    </p:spTree>
    <p:extLst>
      <p:ext uri="{BB962C8B-B14F-4D97-AF65-F5344CB8AC3E}">
        <p14:creationId xmlns:p14="http://schemas.microsoft.com/office/powerpoint/2010/main" val="169349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存储器系统的设计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8718D4-3A42-4F09-A17F-8BA939B4D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094" y="1253785"/>
            <a:ext cx="6595812" cy="435042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9EE1436-B3BF-471B-952B-CFCFF8D825E6}"/>
              </a:ext>
            </a:extLst>
          </p:cNvPr>
          <p:cNvSpPr/>
          <p:nvPr/>
        </p:nvSpPr>
        <p:spPr>
          <a:xfrm>
            <a:off x="1004860" y="5878539"/>
            <a:ext cx="7134280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存储器与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的连接，实际上就是存储器与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的三总线的连接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0537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存储器片选控制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50A2B74-C535-47A2-A33C-36E1B29EB7D8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1417319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90F2CA1-39AA-4806-86F0-432515944A72}"/>
              </a:ext>
            </a:extLst>
          </p:cNvPr>
          <p:cNvSpPr txBox="1"/>
          <p:nvPr/>
        </p:nvSpPr>
        <p:spPr>
          <a:xfrm>
            <a:off x="1009116" y="1417319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A4857E-6927-4B52-8478-26FFBD24A54F}"/>
              </a:ext>
            </a:extLst>
          </p:cNvPr>
          <p:cNvSpPr txBox="1"/>
          <p:nvPr/>
        </p:nvSpPr>
        <p:spPr>
          <a:xfrm>
            <a:off x="1009116" y="2449472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A7E6CA-E349-4EE5-A2C5-6890305D9F12}"/>
              </a:ext>
            </a:extLst>
          </p:cNvPr>
          <p:cNvSpPr txBox="1"/>
          <p:nvPr/>
        </p:nvSpPr>
        <p:spPr>
          <a:xfrm>
            <a:off x="630175" y="1417318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08F103-18C1-4E8F-88AD-6752672AE032}"/>
              </a:ext>
            </a:extLst>
          </p:cNvPr>
          <p:cNvSpPr txBox="1"/>
          <p:nvPr/>
        </p:nvSpPr>
        <p:spPr>
          <a:xfrm>
            <a:off x="630175" y="2449471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22E36E6-B70C-4219-AA6F-E28B397E4857}"/>
              </a:ext>
            </a:extLst>
          </p:cNvPr>
          <p:cNvGraphicFramePr>
            <a:graphicFrameLocks noGrp="1"/>
          </p:cNvGraphicFramePr>
          <p:nvPr/>
        </p:nvGraphicFramePr>
        <p:xfrm>
          <a:off x="4296034" y="1417318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6822750-C833-4B77-BAA4-7A86F4D53571}"/>
              </a:ext>
            </a:extLst>
          </p:cNvPr>
          <p:cNvSpPr txBox="1"/>
          <p:nvPr/>
        </p:nvSpPr>
        <p:spPr>
          <a:xfrm>
            <a:off x="3781149" y="1417318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CDDEC8-293A-4255-B239-02DCA24B5703}"/>
              </a:ext>
            </a:extLst>
          </p:cNvPr>
          <p:cNvSpPr txBox="1"/>
          <p:nvPr/>
        </p:nvSpPr>
        <p:spPr>
          <a:xfrm>
            <a:off x="3781149" y="2449471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CC3D9F-BC1C-4B22-8AB2-CDDD78D38F65}"/>
              </a:ext>
            </a:extLst>
          </p:cNvPr>
          <p:cNvSpPr txBox="1"/>
          <p:nvPr/>
        </p:nvSpPr>
        <p:spPr>
          <a:xfrm>
            <a:off x="3402208" y="1417317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D2F22C-54A8-4B45-8BFE-191B380D0BD1}"/>
              </a:ext>
            </a:extLst>
          </p:cNvPr>
          <p:cNvSpPr txBox="1"/>
          <p:nvPr/>
        </p:nvSpPr>
        <p:spPr>
          <a:xfrm>
            <a:off x="3402208" y="244947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1CCE19B-FC43-4C35-AB4B-0DC19BB6C5D8}"/>
              </a:ext>
            </a:extLst>
          </p:cNvPr>
          <p:cNvGraphicFramePr>
            <a:graphicFrameLocks noGrp="1"/>
          </p:cNvGraphicFramePr>
          <p:nvPr/>
        </p:nvGraphicFramePr>
        <p:xfrm>
          <a:off x="7068067" y="1417317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169EFAA-6721-415D-B8AF-2F19E41F8319}"/>
              </a:ext>
            </a:extLst>
          </p:cNvPr>
          <p:cNvSpPr txBox="1"/>
          <p:nvPr/>
        </p:nvSpPr>
        <p:spPr>
          <a:xfrm>
            <a:off x="6553182" y="1417317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45F1A5-3300-428D-9592-AC9AD102920A}"/>
              </a:ext>
            </a:extLst>
          </p:cNvPr>
          <p:cNvSpPr txBox="1"/>
          <p:nvPr/>
        </p:nvSpPr>
        <p:spPr>
          <a:xfrm>
            <a:off x="6553182" y="244947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AD8A44-A2B7-4CA3-91FE-44D23B3C7BA5}"/>
              </a:ext>
            </a:extLst>
          </p:cNvPr>
          <p:cNvSpPr txBox="1"/>
          <p:nvPr/>
        </p:nvSpPr>
        <p:spPr>
          <a:xfrm>
            <a:off x="6174241" y="1417316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8BF160-9FFA-4879-AE42-CEB3BFD4C970}"/>
              </a:ext>
            </a:extLst>
          </p:cNvPr>
          <p:cNvSpPr txBox="1"/>
          <p:nvPr/>
        </p:nvSpPr>
        <p:spPr>
          <a:xfrm>
            <a:off x="6174241" y="2449469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1C5C8501-911A-4C89-A5C6-1EFA08585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689175"/>
              </p:ext>
            </p:extLst>
          </p:nvPr>
        </p:nvGraphicFramePr>
        <p:xfrm>
          <a:off x="1612127" y="4167370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9393">
                  <a:extLst>
                    <a:ext uri="{9D8B030D-6E8A-4147-A177-3AD203B41FA5}">
                      <a16:colId xmlns:a16="http://schemas.microsoft.com/office/drawing/2014/main" val="3847978723"/>
                    </a:ext>
                  </a:extLst>
                </a:gridCol>
                <a:gridCol w="4246607">
                  <a:extLst>
                    <a:ext uri="{9D8B030D-6E8A-4147-A177-3AD203B41FA5}">
                      <a16:colId xmlns:a16="http://schemas.microsoft.com/office/drawing/2014/main" val="2742897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562528"/>
                  </a:ext>
                </a:extLst>
              </a:tr>
            </a:tbl>
          </a:graphicData>
        </a:graphic>
      </p:graphicFrame>
      <p:sp>
        <p:nvSpPr>
          <p:cNvPr id="24" name="左大括号 23">
            <a:extLst>
              <a:ext uri="{FF2B5EF4-FFF2-40B4-BE49-F238E27FC236}">
                <a16:creationId xmlns:a16="http://schemas.microsoft.com/office/drawing/2014/main" id="{187F03FB-6786-4916-8A31-AD232A59723E}"/>
              </a:ext>
            </a:extLst>
          </p:cNvPr>
          <p:cNvSpPr/>
          <p:nvPr/>
        </p:nvSpPr>
        <p:spPr>
          <a:xfrm rot="16200000">
            <a:off x="2312343" y="3924025"/>
            <a:ext cx="411873" cy="1812304"/>
          </a:xfrm>
          <a:prstGeom prst="leftBrace">
            <a:avLst>
              <a:gd name="adj1" fmla="val 26334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左大括号 24">
            <a:extLst>
              <a:ext uri="{FF2B5EF4-FFF2-40B4-BE49-F238E27FC236}">
                <a16:creationId xmlns:a16="http://schemas.microsoft.com/office/drawing/2014/main" id="{2AF0B731-23BA-4E44-A1F0-6579EC882EE9}"/>
              </a:ext>
            </a:extLst>
          </p:cNvPr>
          <p:cNvSpPr/>
          <p:nvPr/>
        </p:nvSpPr>
        <p:spPr>
          <a:xfrm rot="16200000">
            <a:off x="5413904" y="2746347"/>
            <a:ext cx="411873" cy="4176575"/>
          </a:xfrm>
          <a:prstGeom prst="leftBrace">
            <a:avLst>
              <a:gd name="adj1" fmla="val 26334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73D3ABA-CB24-4AFC-81FF-02E99614A16C}"/>
              </a:ext>
            </a:extLst>
          </p:cNvPr>
          <p:cNvSpPr txBox="1"/>
          <p:nvPr/>
        </p:nvSpPr>
        <p:spPr>
          <a:xfrm>
            <a:off x="1912985" y="504057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高位地址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A42EEB8-B9A1-4E09-8C5C-834845FED7F1}"/>
              </a:ext>
            </a:extLst>
          </p:cNvPr>
          <p:cNvSpPr txBox="1"/>
          <p:nvPr/>
        </p:nvSpPr>
        <p:spPr>
          <a:xfrm>
            <a:off x="5006134" y="503611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低位地址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541896C-03A3-4B18-9A2A-43C72BB570BF}"/>
              </a:ext>
            </a:extLst>
          </p:cNvPr>
          <p:cNvSpPr txBox="1"/>
          <p:nvPr/>
        </p:nvSpPr>
        <p:spPr>
          <a:xfrm>
            <a:off x="1912985" y="5582207"/>
            <a:ext cx="1569660" cy="858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片选地址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用于选择芯片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6429043-9ECF-4F74-BDAA-EB608EF321CD}"/>
              </a:ext>
            </a:extLst>
          </p:cNvPr>
          <p:cNvSpPr txBox="1"/>
          <p:nvPr/>
        </p:nvSpPr>
        <p:spPr>
          <a:xfrm>
            <a:off x="5014546" y="5582207"/>
            <a:ext cx="2492990" cy="858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片内地址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用于选择芯片上的单元</a:t>
            </a:r>
          </a:p>
        </p:txBody>
      </p:sp>
    </p:spTree>
    <p:extLst>
      <p:ext uri="{BB962C8B-B14F-4D97-AF65-F5344CB8AC3E}">
        <p14:creationId xmlns:p14="http://schemas.microsoft.com/office/powerpoint/2010/main" val="154899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24" grpId="0" animBg="1"/>
      <p:bldP spid="25" grpId="0" animBg="1"/>
      <p:bldP spid="26" grpId="0"/>
      <p:bldP spid="27" grpId="0"/>
      <p:bldP spid="28" grpId="0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存储器片选控制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50A2B74-C535-47A2-A33C-36E1B29EB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237470"/>
              </p:ext>
            </p:extLst>
          </p:nvPr>
        </p:nvGraphicFramePr>
        <p:xfrm>
          <a:off x="1993562" y="1417319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90F2CA1-39AA-4806-86F0-432515944A72}"/>
              </a:ext>
            </a:extLst>
          </p:cNvPr>
          <p:cNvSpPr txBox="1"/>
          <p:nvPr/>
        </p:nvSpPr>
        <p:spPr>
          <a:xfrm>
            <a:off x="1478677" y="1417319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A4857E-6927-4B52-8478-26FFBD24A54F}"/>
              </a:ext>
            </a:extLst>
          </p:cNvPr>
          <p:cNvSpPr txBox="1"/>
          <p:nvPr/>
        </p:nvSpPr>
        <p:spPr>
          <a:xfrm>
            <a:off x="1478677" y="2449472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A7E6CA-E349-4EE5-A2C5-6890305D9F12}"/>
              </a:ext>
            </a:extLst>
          </p:cNvPr>
          <p:cNvSpPr txBox="1"/>
          <p:nvPr/>
        </p:nvSpPr>
        <p:spPr>
          <a:xfrm>
            <a:off x="1099736" y="1417318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08F103-18C1-4E8F-88AD-6752672AE032}"/>
              </a:ext>
            </a:extLst>
          </p:cNvPr>
          <p:cNvSpPr txBox="1"/>
          <p:nvPr/>
        </p:nvSpPr>
        <p:spPr>
          <a:xfrm>
            <a:off x="1099736" y="2449471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22E36E6-B70C-4219-AA6F-E28B397E4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684331"/>
              </p:ext>
            </p:extLst>
          </p:nvPr>
        </p:nvGraphicFramePr>
        <p:xfrm>
          <a:off x="4765595" y="1417318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6822750-C833-4B77-BAA4-7A86F4D53571}"/>
              </a:ext>
            </a:extLst>
          </p:cNvPr>
          <p:cNvSpPr txBox="1"/>
          <p:nvPr/>
        </p:nvSpPr>
        <p:spPr>
          <a:xfrm>
            <a:off x="4250710" y="1417318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CDDEC8-293A-4255-B239-02DCA24B5703}"/>
              </a:ext>
            </a:extLst>
          </p:cNvPr>
          <p:cNvSpPr txBox="1"/>
          <p:nvPr/>
        </p:nvSpPr>
        <p:spPr>
          <a:xfrm>
            <a:off x="4250710" y="2449471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CC3D9F-BC1C-4B22-8AB2-CDDD78D38F65}"/>
              </a:ext>
            </a:extLst>
          </p:cNvPr>
          <p:cNvSpPr txBox="1"/>
          <p:nvPr/>
        </p:nvSpPr>
        <p:spPr>
          <a:xfrm>
            <a:off x="3871769" y="1417317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D2F22C-54A8-4B45-8BFE-191B380D0BD1}"/>
              </a:ext>
            </a:extLst>
          </p:cNvPr>
          <p:cNvSpPr txBox="1"/>
          <p:nvPr/>
        </p:nvSpPr>
        <p:spPr>
          <a:xfrm>
            <a:off x="3871769" y="244947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1CCE19B-FC43-4C35-AB4B-0DC19BB6C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331560"/>
              </p:ext>
            </p:extLst>
          </p:nvPr>
        </p:nvGraphicFramePr>
        <p:xfrm>
          <a:off x="7537628" y="1417317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169EFAA-6721-415D-B8AF-2F19E41F8319}"/>
              </a:ext>
            </a:extLst>
          </p:cNvPr>
          <p:cNvSpPr txBox="1"/>
          <p:nvPr/>
        </p:nvSpPr>
        <p:spPr>
          <a:xfrm>
            <a:off x="7022743" y="1417317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45F1A5-3300-428D-9592-AC9AD102920A}"/>
              </a:ext>
            </a:extLst>
          </p:cNvPr>
          <p:cNvSpPr txBox="1"/>
          <p:nvPr/>
        </p:nvSpPr>
        <p:spPr>
          <a:xfrm>
            <a:off x="7022743" y="244947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AD8A44-A2B7-4CA3-91FE-44D23B3C7BA5}"/>
              </a:ext>
            </a:extLst>
          </p:cNvPr>
          <p:cNvSpPr txBox="1"/>
          <p:nvPr/>
        </p:nvSpPr>
        <p:spPr>
          <a:xfrm>
            <a:off x="6643802" y="1417316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8BF160-9FFA-4879-AE42-CEB3BFD4C970}"/>
              </a:ext>
            </a:extLst>
          </p:cNvPr>
          <p:cNvSpPr txBox="1"/>
          <p:nvPr/>
        </p:nvSpPr>
        <p:spPr>
          <a:xfrm>
            <a:off x="6643802" y="2449469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454EF92-B46C-40E2-B1CE-E8901672B09F}"/>
                  </a:ext>
                </a:extLst>
              </p:cNvPr>
              <p:cNvSpPr txBox="1"/>
              <p:nvPr/>
            </p:nvSpPr>
            <p:spPr>
              <a:xfrm>
                <a:off x="1993562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454EF92-B46C-40E2-B1CE-E8901672B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562" y="2895841"/>
                <a:ext cx="996778" cy="367200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5F0B419-2DE4-44C1-817A-74A1ABFEEA59}"/>
              </a:ext>
            </a:extLst>
          </p:cNvPr>
          <p:cNvSpPr/>
          <p:nvPr/>
        </p:nvSpPr>
        <p:spPr>
          <a:xfrm>
            <a:off x="1462183" y="3977642"/>
            <a:ext cx="704335" cy="92675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026AB7A1-EB57-458A-9D73-C04C5DD2CEE0}"/>
              </a:ext>
            </a:extLst>
          </p:cNvPr>
          <p:cNvCxnSpPr>
            <a:cxnSpLocks/>
            <a:stCxn id="23" idx="3"/>
            <a:endCxn id="19" idx="2"/>
          </p:cNvCxnSpPr>
          <p:nvPr/>
        </p:nvCxnSpPr>
        <p:spPr>
          <a:xfrm flipV="1">
            <a:off x="2166518" y="3263041"/>
            <a:ext cx="325433" cy="117798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48689B0-C20E-4725-8315-C2871D0FD7D5}"/>
              </a:ext>
            </a:extLst>
          </p:cNvPr>
          <p:cNvCxnSpPr/>
          <p:nvPr/>
        </p:nvCxnSpPr>
        <p:spPr>
          <a:xfrm>
            <a:off x="735626" y="4651519"/>
            <a:ext cx="720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DAC71CB-51A6-444F-86C8-FB4D8D36A03C}"/>
              </a:ext>
            </a:extLst>
          </p:cNvPr>
          <p:cNvCxnSpPr/>
          <p:nvPr/>
        </p:nvCxnSpPr>
        <p:spPr>
          <a:xfrm>
            <a:off x="735626" y="4220632"/>
            <a:ext cx="720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5CB32B0-7069-43ED-98D0-D92A38CDB570}"/>
              </a:ext>
            </a:extLst>
          </p:cNvPr>
          <p:cNvSpPr txBox="1"/>
          <p:nvPr/>
        </p:nvSpPr>
        <p:spPr>
          <a:xfrm>
            <a:off x="447249" y="3982011"/>
            <a:ext cx="349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18D2236-38DD-4FA4-B902-1A82F7CDE9F4}"/>
              </a:ext>
            </a:extLst>
          </p:cNvPr>
          <p:cNvSpPr txBox="1"/>
          <p:nvPr/>
        </p:nvSpPr>
        <p:spPr>
          <a:xfrm>
            <a:off x="447249" y="4473512"/>
            <a:ext cx="349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FE85B9F-726E-4560-A0E5-8B9D9B1727B1}"/>
                  </a:ext>
                </a:extLst>
              </p:cNvPr>
              <p:cNvSpPr txBox="1"/>
              <p:nvPr/>
            </p:nvSpPr>
            <p:spPr>
              <a:xfrm>
                <a:off x="4765595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FE85B9F-726E-4560-A0E5-8B9D9B172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595" y="2895841"/>
                <a:ext cx="996778" cy="367200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EF93671-565D-43D8-9438-49632E75DC8A}"/>
                  </a:ext>
                </a:extLst>
              </p:cNvPr>
              <p:cNvSpPr txBox="1"/>
              <p:nvPr/>
            </p:nvSpPr>
            <p:spPr>
              <a:xfrm>
                <a:off x="7537628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EF93671-565D-43D8-9438-49632E75D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628" y="2895841"/>
                <a:ext cx="996778" cy="367200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16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0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存储器片选控制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50A2B74-C535-47A2-A33C-36E1B29EB7D8}"/>
              </a:ext>
            </a:extLst>
          </p:cNvPr>
          <p:cNvGraphicFramePr>
            <a:graphicFrameLocks noGrp="1"/>
          </p:cNvGraphicFramePr>
          <p:nvPr/>
        </p:nvGraphicFramePr>
        <p:xfrm>
          <a:off x="1993562" y="1417319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90F2CA1-39AA-4806-86F0-432515944A72}"/>
              </a:ext>
            </a:extLst>
          </p:cNvPr>
          <p:cNvSpPr txBox="1"/>
          <p:nvPr/>
        </p:nvSpPr>
        <p:spPr>
          <a:xfrm>
            <a:off x="1478677" y="1417319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A4857E-6927-4B52-8478-26FFBD24A54F}"/>
              </a:ext>
            </a:extLst>
          </p:cNvPr>
          <p:cNvSpPr txBox="1"/>
          <p:nvPr/>
        </p:nvSpPr>
        <p:spPr>
          <a:xfrm>
            <a:off x="1478677" y="2449472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A7E6CA-E349-4EE5-A2C5-6890305D9F12}"/>
              </a:ext>
            </a:extLst>
          </p:cNvPr>
          <p:cNvSpPr txBox="1"/>
          <p:nvPr/>
        </p:nvSpPr>
        <p:spPr>
          <a:xfrm>
            <a:off x="1099736" y="1417318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08F103-18C1-4E8F-88AD-6752672AE032}"/>
              </a:ext>
            </a:extLst>
          </p:cNvPr>
          <p:cNvSpPr txBox="1"/>
          <p:nvPr/>
        </p:nvSpPr>
        <p:spPr>
          <a:xfrm>
            <a:off x="1099736" y="2449471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22E36E6-B70C-4219-AA6F-E28B397E4857}"/>
              </a:ext>
            </a:extLst>
          </p:cNvPr>
          <p:cNvGraphicFramePr>
            <a:graphicFrameLocks noGrp="1"/>
          </p:cNvGraphicFramePr>
          <p:nvPr/>
        </p:nvGraphicFramePr>
        <p:xfrm>
          <a:off x="4765595" y="1417318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6822750-C833-4B77-BAA4-7A86F4D53571}"/>
              </a:ext>
            </a:extLst>
          </p:cNvPr>
          <p:cNvSpPr txBox="1"/>
          <p:nvPr/>
        </p:nvSpPr>
        <p:spPr>
          <a:xfrm>
            <a:off x="4250710" y="1417318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CDDEC8-293A-4255-B239-02DCA24B5703}"/>
              </a:ext>
            </a:extLst>
          </p:cNvPr>
          <p:cNvSpPr txBox="1"/>
          <p:nvPr/>
        </p:nvSpPr>
        <p:spPr>
          <a:xfrm>
            <a:off x="4250710" y="2449471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CC3D9F-BC1C-4B22-8AB2-CDDD78D38F65}"/>
              </a:ext>
            </a:extLst>
          </p:cNvPr>
          <p:cNvSpPr txBox="1"/>
          <p:nvPr/>
        </p:nvSpPr>
        <p:spPr>
          <a:xfrm>
            <a:off x="3871769" y="1417317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D2F22C-54A8-4B45-8BFE-191B380D0BD1}"/>
              </a:ext>
            </a:extLst>
          </p:cNvPr>
          <p:cNvSpPr txBox="1"/>
          <p:nvPr/>
        </p:nvSpPr>
        <p:spPr>
          <a:xfrm>
            <a:off x="3871769" y="244947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1CCE19B-FC43-4C35-AB4B-0DC19BB6C5D8}"/>
              </a:ext>
            </a:extLst>
          </p:cNvPr>
          <p:cNvGraphicFramePr>
            <a:graphicFrameLocks noGrp="1"/>
          </p:cNvGraphicFramePr>
          <p:nvPr/>
        </p:nvGraphicFramePr>
        <p:xfrm>
          <a:off x="7537628" y="1417317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169EFAA-6721-415D-B8AF-2F19E41F8319}"/>
              </a:ext>
            </a:extLst>
          </p:cNvPr>
          <p:cNvSpPr txBox="1"/>
          <p:nvPr/>
        </p:nvSpPr>
        <p:spPr>
          <a:xfrm>
            <a:off x="7022743" y="1417317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45F1A5-3300-428D-9592-AC9AD102920A}"/>
              </a:ext>
            </a:extLst>
          </p:cNvPr>
          <p:cNvSpPr txBox="1"/>
          <p:nvPr/>
        </p:nvSpPr>
        <p:spPr>
          <a:xfrm>
            <a:off x="7022743" y="244947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AD8A44-A2B7-4CA3-91FE-44D23B3C7BA5}"/>
              </a:ext>
            </a:extLst>
          </p:cNvPr>
          <p:cNvSpPr txBox="1"/>
          <p:nvPr/>
        </p:nvSpPr>
        <p:spPr>
          <a:xfrm>
            <a:off x="6643802" y="1417316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8BF160-9FFA-4879-AE42-CEB3BFD4C970}"/>
              </a:ext>
            </a:extLst>
          </p:cNvPr>
          <p:cNvSpPr txBox="1"/>
          <p:nvPr/>
        </p:nvSpPr>
        <p:spPr>
          <a:xfrm>
            <a:off x="6643802" y="2449469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454EF92-B46C-40E2-B1CE-E8901672B09F}"/>
                  </a:ext>
                </a:extLst>
              </p:cNvPr>
              <p:cNvSpPr txBox="1"/>
              <p:nvPr/>
            </p:nvSpPr>
            <p:spPr>
              <a:xfrm>
                <a:off x="1993562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454EF92-B46C-40E2-B1CE-E8901672B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562" y="2895841"/>
                <a:ext cx="996778" cy="367200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5F0B419-2DE4-44C1-817A-74A1ABFEEA59}"/>
              </a:ext>
            </a:extLst>
          </p:cNvPr>
          <p:cNvSpPr/>
          <p:nvPr/>
        </p:nvSpPr>
        <p:spPr>
          <a:xfrm>
            <a:off x="1462183" y="3977642"/>
            <a:ext cx="704335" cy="92675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48689B0-C20E-4725-8315-C2871D0FD7D5}"/>
              </a:ext>
            </a:extLst>
          </p:cNvPr>
          <p:cNvCxnSpPr/>
          <p:nvPr/>
        </p:nvCxnSpPr>
        <p:spPr>
          <a:xfrm>
            <a:off x="735626" y="4651519"/>
            <a:ext cx="720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DAC71CB-51A6-444F-86C8-FB4D8D36A03C}"/>
              </a:ext>
            </a:extLst>
          </p:cNvPr>
          <p:cNvCxnSpPr/>
          <p:nvPr/>
        </p:nvCxnSpPr>
        <p:spPr>
          <a:xfrm>
            <a:off x="735626" y="4220632"/>
            <a:ext cx="720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5CB32B0-7069-43ED-98D0-D92A38CDB570}"/>
              </a:ext>
            </a:extLst>
          </p:cNvPr>
          <p:cNvSpPr txBox="1"/>
          <p:nvPr/>
        </p:nvSpPr>
        <p:spPr>
          <a:xfrm>
            <a:off x="447249" y="3982011"/>
            <a:ext cx="349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18D2236-38DD-4FA4-B902-1A82F7CDE9F4}"/>
              </a:ext>
            </a:extLst>
          </p:cNvPr>
          <p:cNvSpPr txBox="1"/>
          <p:nvPr/>
        </p:nvSpPr>
        <p:spPr>
          <a:xfrm>
            <a:off x="447249" y="4473512"/>
            <a:ext cx="349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FE85B9F-726E-4560-A0E5-8B9D9B1727B1}"/>
                  </a:ext>
                </a:extLst>
              </p:cNvPr>
              <p:cNvSpPr txBox="1"/>
              <p:nvPr/>
            </p:nvSpPr>
            <p:spPr>
              <a:xfrm>
                <a:off x="4765595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FE85B9F-726E-4560-A0E5-8B9D9B172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595" y="2895841"/>
                <a:ext cx="996778" cy="367200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EF93671-565D-43D8-9438-49632E75DC8A}"/>
                  </a:ext>
                </a:extLst>
              </p:cNvPr>
              <p:cNvSpPr txBox="1"/>
              <p:nvPr/>
            </p:nvSpPr>
            <p:spPr>
              <a:xfrm>
                <a:off x="7537628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EF93671-565D-43D8-9438-49632E75D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628" y="2895841"/>
                <a:ext cx="996778" cy="367200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43F4194E-C21D-4A24-AA2C-CBD2EE107F5A}"/>
              </a:ext>
            </a:extLst>
          </p:cNvPr>
          <p:cNvCxnSpPr>
            <a:cxnSpLocks/>
            <a:stCxn id="23" idx="3"/>
            <a:endCxn id="32" idx="2"/>
          </p:cNvCxnSpPr>
          <p:nvPr/>
        </p:nvCxnSpPr>
        <p:spPr>
          <a:xfrm flipV="1">
            <a:off x="2166518" y="3263041"/>
            <a:ext cx="3097466" cy="117798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886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存储器片选控制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50A2B74-C535-47A2-A33C-36E1B29EB7D8}"/>
              </a:ext>
            </a:extLst>
          </p:cNvPr>
          <p:cNvGraphicFramePr>
            <a:graphicFrameLocks noGrp="1"/>
          </p:cNvGraphicFramePr>
          <p:nvPr/>
        </p:nvGraphicFramePr>
        <p:xfrm>
          <a:off x="1993562" y="1417319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90F2CA1-39AA-4806-86F0-432515944A72}"/>
              </a:ext>
            </a:extLst>
          </p:cNvPr>
          <p:cNvSpPr txBox="1"/>
          <p:nvPr/>
        </p:nvSpPr>
        <p:spPr>
          <a:xfrm>
            <a:off x="1478677" y="1417319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A4857E-6927-4B52-8478-26FFBD24A54F}"/>
              </a:ext>
            </a:extLst>
          </p:cNvPr>
          <p:cNvSpPr txBox="1"/>
          <p:nvPr/>
        </p:nvSpPr>
        <p:spPr>
          <a:xfrm>
            <a:off x="1478677" y="2449472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A7E6CA-E349-4EE5-A2C5-6890305D9F12}"/>
              </a:ext>
            </a:extLst>
          </p:cNvPr>
          <p:cNvSpPr txBox="1"/>
          <p:nvPr/>
        </p:nvSpPr>
        <p:spPr>
          <a:xfrm>
            <a:off x="1099736" y="1417318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08F103-18C1-4E8F-88AD-6752672AE032}"/>
              </a:ext>
            </a:extLst>
          </p:cNvPr>
          <p:cNvSpPr txBox="1"/>
          <p:nvPr/>
        </p:nvSpPr>
        <p:spPr>
          <a:xfrm>
            <a:off x="1099736" y="2449471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22E36E6-B70C-4219-AA6F-E28B397E4857}"/>
              </a:ext>
            </a:extLst>
          </p:cNvPr>
          <p:cNvGraphicFramePr>
            <a:graphicFrameLocks noGrp="1"/>
          </p:cNvGraphicFramePr>
          <p:nvPr/>
        </p:nvGraphicFramePr>
        <p:xfrm>
          <a:off x="4765595" y="1417318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6822750-C833-4B77-BAA4-7A86F4D53571}"/>
              </a:ext>
            </a:extLst>
          </p:cNvPr>
          <p:cNvSpPr txBox="1"/>
          <p:nvPr/>
        </p:nvSpPr>
        <p:spPr>
          <a:xfrm>
            <a:off x="4250710" y="1417318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CDDEC8-293A-4255-B239-02DCA24B5703}"/>
              </a:ext>
            </a:extLst>
          </p:cNvPr>
          <p:cNvSpPr txBox="1"/>
          <p:nvPr/>
        </p:nvSpPr>
        <p:spPr>
          <a:xfrm>
            <a:off x="4250710" y="2449471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CC3D9F-BC1C-4B22-8AB2-CDDD78D38F65}"/>
              </a:ext>
            </a:extLst>
          </p:cNvPr>
          <p:cNvSpPr txBox="1"/>
          <p:nvPr/>
        </p:nvSpPr>
        <p:spPr>
          <a:xfrm>
            <a:off x="3871769" y="1417317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D2F22C-54A8-4B45-8BFE-191B380D0BD1}"/>
              </a:ext>
            </a:extLst>
          </p:cNvPr>
          <p:cNvSpPr txBox="1"/>
          <p:nvPr/>
        </p:nvSpPr>
        <p:spPr>
          <a:xfrm>
            <a:off x="3871769" y="244947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1CCE19B-FC43-4C35-AB4B-0DC19BB6C5D8}"/>
              </a:ext>
            </a:extLst>
          </p:cNvPr>
          <p:cNvGraphicFramePr>
            <a:graphicFrameLocks noGrp="1"/>
          </p:cNvGraphicFramePr>
          <p:nvPr/>
        </p:nvGraphicFramePr>
        <p:xfrm>
          <a:off x="7537628" y="1417317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169EFAA-6721-415D-B8AF-2F19E41F8319}"/>
              </a:ext>
            </a:extLst>
          </p:cNvPr>
          <p:cNvSpPr txBox="1"/>
          <p:nvPr/>
        </p:nvSpPr>
        <p:spPr>
          <a:xfrm>
            <a:off x="7022743" y="1417317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45F1A5-3300-428D-9592-AC9AD102920A}"/>
              </a:ext>
            </a:extLst>
          </p:cNvPr>
          <p:cNvSpPr txBox="1"/>
          <p:nvPr/>
        </p:nvSpPr>
        <p:spPr>
          <a:xfrm>
            <a:off x="7022743" y="244947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AD8A44-A2B7-4CA3-91FE-44D23B3C7BA5}"/>
              </a:ext>
            </a:extLst>
          </p:cNvPr>
          <p:cNvSpPr txBox="1"/>
          <p:nvPr/>
        </p:nvSpPr>
        <p:spPr>
          <a:xfrm>
            <a:off x="6643802" y="1417316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8BF160-9FFA-4879-AE42-CEB3BFD4C970}"/>
              </a:ext>
            </a:extLst>
          </p:cNvPr>
          <p:cNvSpPr txBox="1"/>
          <p:nvPr/>
        </p:nvSpPr>
        <p:spPr>
          <a:xfrm>
            <a:off x="6643802" y="2449469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454EF92-B46C-40E2-B1CE-E8901672B09F}"/>
                  </a:ext>
                </a:extLst>
              </p:cNvPr>
              <p:cNvSpPr txBox="1"/>
              <p:nvPr/>
            </p:nvSpPr>
            <p:spPr>
              <a:xfrm>
                <a:off x="1993562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454EF92-B46C-40E2-B1CE-E8901672B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562" y="2895841"/>
                <a:ext cx="996778" cy="367200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5F0B419-2DE4-44C1-817A-74A1ABFEEA59}"/>
              </a:ext>
            </a:extLst>
          </p:cNvPr>
          <p:cNvSpPr/>
          <p:nvPr/>
        </p:nvSpPr>
        <p:spPr>
          <a:xfrm>
            <a:off x="1462183" y="3977642"/>
            <a:ext cx="704335" cy="92675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48689B0-C20E-4725-8315-C2871D0FD7D5}"/>
              </a:ext>
            </a:extLst>
          </p:cNvPr>
          <p:cNvCxnSpPr/>
          <p:nvPr/>
        </p:nvCxnSpPr>
        <p:spPr>
          <a:xfrm>
            <a:off x="735626" y="4651519"/>
            <a:ext cx="720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DAC71CB-51A6-444F-86C8-FB4D8D36A03C}"/>
              </a:ext>
            </a:extLst>
          </p:cNvPr>
          <p:cNvCxnSpPr/>
          <p:nvPr/>
        </p:nvCxnSpPr>
        <p:spPr>
          <a:xfrm>
            <a:off x="735626" y="4220632"/>
            <a:ext cx="720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5CB32B0-7069-43ED-98D0-D92A38CDB570}"/>
              </a:ext>
            </a:extLst>
          </p:cNvPr>
          <p:cNvSpPr txBox="1"/>
          <p:nvPr/>
        </p:nvSpPr>
        <p:spPr>
          <a:xfrm>
            <a:off x="447249" y="3982011"/>
            <a:ext cx="349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18D2236-38DD-4FA4-B902-1A82F7CDE9F4}"/>
              </a:ext>
            </a:extLst>
          </p:cNvPr>
          <p:cNvSpPr txBox="1"/>
          <p:nvPr/>
        </p:nvSpPr>
        <p:spPr>
          <a:xfrm>
            <a:off x="447249" y="4473512"/>
            <a:ext cx="349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FE85B9F-726E-4560-A0E5-8B9D9B1727B1}"/>
                  </a:ext>
                </a:extLst>
              </p:cNvPr>
              <p:cNvSpPr txBox="1"/>
              <p:nvPr/>
            </p:nvSpPr>
            <p:spPr>
              <a:xfrm>
                <a:off x="4765595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FE85B9F-726E-4560-A0E5-8B9D9B172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595" y="2895841"/>
                <a:ext cx="996778" cy="367200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EF93671-565D-43D8-9438-49632E75DC8A}"/>
                  </a:ext>
                </a:extLst>
              </p:cNvPr>
              <p:cNvSpPr txBox="1"/>
              <p:nvPr/>
            </p:nvSpPr>
            <p:spPr>
              <a:xfrm>
                <a:off x="7537628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EF93671-565D-43D8-9438-49632E75D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628" y="2895841"/>
                <a:ext cx="996778" cy="367200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C6CF119F-A307-485F-AA9A-3EEB5C3997A4}"/>
              </a:ext>
            </a:extLst>
          </p:cNvPr>
          <p:cNvCxnSpPr>
            <a:cxnSpLocks/>
            <a:stCxn id="23" idx="3"/>
            <a:endCxn id="33" idx="2"/>
          </p:cNvCxnSpPr>
          <p:nvPr/>
        </p:nvCxnSpPr>
        <p:spPr>
          <a:xfrm flipV="1">
            <a:off x="2166518" y="3263041"/>
            <a:ext cx="5869499" cy="117798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40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存储器片选控制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50A2B74-C535-47A2-A33C-36E1B29EB7D8}"/>
              </a:ext>
            </a:extLst>
          </p:cNvPr>
          <p:cNvGraphicFramePr>
            <a:graphicFrameLocks noGrp="1"/>
          </p:cNvGraphicFramePr>
          <p:nvPr/>
        </p:nvGraphicFramePr>
        <p:xfrm>
          <a:off x="1993562" y="1417319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90F2CA1-39AA-4806-86F0-432515944A72}"/>
              </a:ext>
            </a:extLst>
          </p:cNvPr>
          <p:cNvSpPr txBox="1"/>
          <p:nvPr/>
        </p:nvSpPr>
        <p:spPr>
          <a:xfrm>
            <a:off x="1478677" y="1417319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A4857E-6927-4B52-8478-26FFBD24A54F}"/>
              </a:ext>
            </a:extLst>
          </p:cNvPr>
          <p:cNvSpPr txBox="1"/>
          <p:nvPr/>
        </p:nvSpPr>
        <p:spPr>
          <a:xfrm>
            <a:off x="1478677" y="2449472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A7E6CA-E349-4EE5-A2C5-6890305D9F12}"/>
              </a:ext>
            </a:extLst>
          </p:cNvPr>
          <p:cNvSpPr txBox="1"/>
          <p:nvPr/>
        </p:nvSpPr>
        <p:spPr>
          <a:xfrm>
            <a:off x="1099736" y="1417318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08F103-18C1-4E8F-88AD-6752672AE032}"/>
              </a:ext>
            </a:extLst>
          </p:cNvPr>
          <p:cNvSpPr txBox="1"/>
          <p:nvPr/>
        </p:nvSpPr>
        <p:spPr>
          <a:xfrm>
            <a:off x="1099736" y="2449471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22E36E6-B70C-4219-AA6F-E28B397E4857}"/>
              </a:ext>
            </a:extLst>
          </p:cNvPr>
          <p:cNvGraphicFramePr>
            <a:graphicFrameLocks noGrp="1"/>
          </p:cNvGraphicFramePr>
          <p:nvPr/>
        </p:nvGraphicFramePr>
        <p:xfrm>
          <a:off x="4765595" y="1417318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6822750-C833-4B77-BAA4-7A86F4D53571}"/>
              </a:ext>
            </a:extLst>
          </p:cNvPr>
          <p:cNvSpPr txBox="1"/>
          <p:nvPr/>
        </p:nvSpPr>
        <p:spPr>
          <a:xfrm>
            <a:off x="4250710" y="1417318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CDDEC8-293A-4255-B239-02DCA24B5703}"/>
              </a:ext>
            </a:extLst>
          </p:cNvPr>
          <p:cNvSpPr txBox="1"/>
          <p:nvPr/>
        </p:nvSpPr>
        <p:spPr>
          <a:xfrm>
            <a:off x="4250710" y="2449471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CC3D9F-BC1C-4B22-8AB2-CDDD78D38F65}"/>
              </a:ext>
            </a:extLst>
          </p:cNvPr>
          <p:cNvSpPr txBox="1"/>
          <p:nvPr/>
        </p:nvSpPr>
        <p:spPr>
          <a:xfrm>
            <a:off x="3871769" y="1417317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D2F22C-54A8-4B45-8BFE-191B380D0BD1}"/>
              </a:ext>
            </a:extLst>
          </p:cNvPr>
          <p:cNvSpPr txBox="1"/>
          <p:nvPr/>
        </p:nvSpPr>
        <p:spPr>
          <a:xfrm>
            <a:off x="3871769" y="244947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1CCE19B-FC43-4C35-AB4B-0DC19BB6C5D8}"/>
              </a:ext>
            </a:extLst>
          </p:cNvPr>
          <p:cNvGraphicFramePr>
            <a:graphicFrameLocks noGrp="1"/>
          </p:cNvGraphicFramePr>
          <p:nvPr/>
        </p:nvGraphicFramePr>
        <p:xfrm>
          <a:off x="7537628" y="1417317"/>
          <a:ext cx="9967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6778">
                  <a:extLst>
                    <a:ext uri="{9D8B030D-6E8A-4147-A177-3AD203B41FA5}">
                      <a16:colId xmlns:a16="http://schemas.microsoft.com/office/drawing/2014/main" val="4204786118"/>
                    </a:ext>
                  </a:extLst>
                </a:gridCol>
              </a:tblGrid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51795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30973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49330"/>
                  </a:ext>
                </a:extLst>
              </a:tr>
              <a:tr h="2999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2015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169EFAA-6721-415D-B8AF-2F19E41F8319}"/>
              </a:ext>
            </a:extLst>
          </p:cNvPr>
          <p:cNvSpPr txBox="1"/>
          <p:nvPr/>
        </p:nvSpPr>
        <p:spPr>
          <a:xfrm>
            <a:off x="7022743" y="1417317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45F1A5-3300-428D-9592-AC9AD102920A}"/>
              </a:ext>
            </a:extLst>
          </p:cNvPr>
          <p:cNvSpPr txBox="1"/>
          <p:nvPr/>
        </p:nvSpPr>
        <p:spPr>
          <a:xfrm>
            <a:off x="7022743" y="244947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AD8A44-A2B7-4CA3-91FE-44D23B3C7BA5}"/>
              </a:ext>
            </a:extLst>
          </p:cNvPr>
          <p:cNvSpPr txBox="1"/>
          <p:nvPr/>
        </p:nvSpPr>
        <p:spPr>
          <a:xfrm>
            <a:off x="6643802" y="1417316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8BF160-9FFA-4879-AE42-CEB3BFD4C970}"/>
              </a:ext>
            </a:extLst>
          </p:cNvPr>
          <p:cNvSpPr txBox="1"/>
          <p:nvPr/>
        </p:nvSpPr>
        <p:spPr>
          <a:xfrm>
            <a:off x="6643802" y="2449469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454EF92-B46C-40E2-B1CE-E8901672B09F}"/>
                  </a:ext>
                </a:extLst>
              </p:cNvPr>
              <p:cNvSpPr txBox="1"/>
              <p:nvPr/>
            </p:nvSpPr>
            <p:spPr>
              <a:xfrm>
                <a:off x="1993562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454EF92-B46C-40E2-B1CE-E8901672B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562" y="2895841"/>
                <a:ext cx="996778" cy="367200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B5F0B419-2DE4-44C1-817A-74A1ABFEEA59}"/>
              </a:ext>
            </a:extLst>
          </p:cNvPr>
          <p:cNvSpPr/>
          <p:nvPr/>
        </p:nvSpPr>
        <p:spPr>
          <a:xfrm>
            <a:off x="1462183" y="3977642"/>
            <a:ext cx="704335" cy="92675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48689B0-C20E-4725-8315-C2871D0FD7D5}"/>
              </a:ext>
            </a:extLst>
          </p:cNvPr>
          <p:cNvCxnSpPr/>
          <p:nvPr/>
        </p:nvCxnSpPr>
        <p:spPr>
          <a:xfrm>
            <a:off x="735626" y="4651519"/>
            <a:ext cx="720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DAC71CB-51A6-444F-86C8-FB4D8D36A03C}"/>
              </a:ext>
            </a:extLst>
          </p:cNvPr>
          <p:cNvCxnSpPr/>
          <p:nvPr/>
        </p:nvCxnSpPr>
        <p:spPr>
          <a:xfrm>
            <a:off x="735626" y="4220632"/>
            <a:ext cx="720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5CB32B0-7069-43ED-98D0-D92A38CDB570}"/>
              </a:ext>
            </a:extLst>
          </p:cNvPr>
          <p:cNvSpPr txBox="1"/>
          <p:nvPr/>
        </p:nvSpPr>
        <p:spPr>
          <a:xfrm>
            <a:off x="325969" y="4026541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A3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18D2236-38DD-4FA4-B902-1A82F7CDE9F4}"/>
              </a:ext>
            </a:extLst>
          </p:cNvPr>
          <p:cNvSpPr txBox="1"/>
          <p:nvPr/>
        </p:nvSpPr>
        <p:spPr>
          <a:xfrm>
            <a:off x="325669" y="4478607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FE85B9F-726E-4560-A0E5-8B9D9B1727B1}"/>
                  </a:ext>
                </a:extLst>
              </p:cNvPr>
              <p:cNvSpPr txBox="1"/>
              <p:nvPr/>
            </p:nvSpPr>
            <p:spPr>
              <a:xfrm>
                <a:off x="4765595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FE85B9F-726E-4560-A0E5-8B9D9B172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595" y="2895841"/>
                <a:ext cx="996778" cy="367200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EF93671-565D-43D8-9438-49632E75DC8A}"/>
                  </a:ext>
                </a:extLst>
              </p:cNvPr>
              <p:cNvSpPr txBox="1"/>
              <p:nvPr/>
            </p:nvSpPr>
            <p:spPr>
              <a:xfrm>
                <a:off x="7537628" y="2895841"/>
                <a:ext cx="996778" cy="36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CS</m:t>
                          </m:r>
                        </m:e>
                      </m:acc>
                    </m:oMath>
                  </m:oMathPara>
                </a14:m>
                <a:endPara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EF93671-565D-43D8-9438-49632E75D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628" y="2895841"/>
                <a:ext cx="996778" cy="367200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C6CF119F-A307-485F-AA9A-3EEB5C3997A4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2166518" y="3263041"/>
            <a:ext cx="5869499" cy="138847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4B929280-1AF9-48B9-A308-762CDB1FE7B4}"/>
              </a:ext>
            </a:extLst>
          </p:cNvPr>
          <p:cNvSpPr txBox="1"/>
          <p:nvPr/>
        </p:nvSpPr>
        <p:spPr>
          <a:xfrm>
            <a:off x="1455626" y="4064936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译码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电路</a:t>
            </a: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2230066C-1852-45BF-9A45-1EFB62E3C805}"/>
              </a:ext>
            </a:extLst>
          </p:cNvPr>
          <p:cNvCxnSpPr>
            <a:cxnSpLocks/>
            <a:stCxn id="67" idx="3"/>
            <a:endCxn id="32" idx="2"/>
          </p:cNvCxnSpPr>
          <p:nvPr/>
        </p:nvCxnSpPr>
        <p:spPr>
          <a:xfrm flipV="1">
            <a:off x="2153253" y="3263041"/>
            <a:ext cx="3110731" cy="115583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92CFB4BD-BCC8-4ACC-A335-5CEBC7D931CF}"/>
              </a:ext>
            </a:extLst>
          </p:cNvPr>
          <p:cNvCxnSpPr>
            <a:cxnSpLocks/>
            <a:endCxn id="19" idx="2"/>
          </p:cNvCxnSpPr>
          <p:nvPr/>
        </p:nvCxnSpPr>
        <p:spPr>
          <a:xfrm rot="5400000" flipH="1" flipV="1">
            <a:off x="1850438" y="3579121"/>
            <a:ext cx="957593" cy="325434"/>
          </a:xfrm>
          <a:prstGeom prst="bentConnector3">
            <a:avLst>
              <a:gd name="adj1" fmla="val 84"/>
            </a:avLst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58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74LS138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译码器</a:t>
            </a:r>
          </a:p>
        </p:txBody>
      </p:sp>
      <p:pic>
        <p:nvPicPr>
          <p:cNvPr id="36" name="内容占位符 4">
            <a:extLst>
              <a:ext uri="{FF2B5EF4-FFF2-40B4-BE49-F238E27FC236}">
                <a16:creationId xmlns:a16="http://schemas.microsoft.com/office/drawing/2014/main" id="{6E7C5380-3FC7-4351-8DB8-1843A9795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837" y="1811888"/>
            <a:ext cx="6253163" cy="3566731"/>
          </a:xfr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44D4E64C-1E66-4007-B1B0-B96CE5E6FF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6017"/>
            <a:ext cx="25336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6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片选控制译码方法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2679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线选法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全译码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部分译码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混合译码</a:t>
            </a:r>
          </a:p>
        </p:txBody>
      </p:sp>
    </p:spTree>
    <p:extLst>
      <p:ext uri="{BB962C8B-B14F-4D97-AF65-F5344CB8AC3E}">
        <p14:creationId xmlns:p14="http://schemas.microsoft.com/office/powerpoint/2010/main" val="110025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线选法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2679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高位地址线直接作为存储器芯片的片选信号，每根地址线选通一片芯片。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适用于存储容量不大，所使用的存储芯片不多，而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的寻址空间远远大于存储容量时。</a:t>
            </a:r>
          </a:p>
        </p:txBody>
      </p:sp>
    </p:spTree>
    <p:extLst>
      <p:ext uri="{BB962C8B-B14F-4D97-AF65-F5344CB8AC3E}">
        <p14:creationId xmlns:p14="http://schemas.microsoft.com/office/powerpoint/2010/main" val="368479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线选法示例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AB96E3-E6D2-4EA7-8D9E-24C6D30D1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85" y="1148684"/>
            <a:ext cx="8584629" cy="545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60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全译码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132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用全部的高位地址作为译码信号，使得存储器芯片的每一个单元都占据一个唯一的内存地址。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5915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全译码示例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104F6A-16B9-4B8A-9BFB-AB2CFECB8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59" y="1198604"/>
            <a:ext cx="8656081" cy="544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28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部分译码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132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从地址线中未参加片内译码的高位地址线中选取部分位进行译码，作为存储芯片的片选信号。</a:t>
            </a:r>
          </a:p>
        </p:txBody>
      </p:sp>
    </p:spTree>
    <p:extLst>
      <p:ext uri="{BB962C8B-B14F-4D97-AF65-F5344CB8AC3E}">
        <p14:creationId xmlns:p14="http://schemas.microsoft.com/office/powerpoint/2010/main" val="1261697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部分译码示例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848A8D-6552-49EE-828D-116144BDC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15" y="1208218"/>
            <a:ext cx="8330170" cy="525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16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混合译码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647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线选法和部分译码的结合。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860339-A703-4760-9005-9C3E684C2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85" y="2215725"/>
            <a:ext cx="8819429" cy="44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80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片选控制方法总结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2505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总之，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与存储器相连时：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将低位地址线连接到存储器所有芯片的地址线上，实现片内选址；</a:t>
            </a:r>
          </a:p>
          <a:p>
            <a:pPr marL="342900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将高位地址线单独选用（线选法）或经过译码器（全译码、部分译码）译码输出控制芯片的片选端，以实现片选。</a:t>
            </a:r>
          </a:p>
        </p:txBody>
      </p:sp>
    </p:spTree>
    <p:extLst>
      <p:ext uri="{BB962C8B-B14F-4D97-AF65-F5344CB8AC3E}">
        <p14:creationId xmlns:p14="http://schemas.microsoft.com/office/powerpoint/2010/main" val="93769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存储器容量扩展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2443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用多片存储芯片构成一个需要的内存空间；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各存储器芯片在整个内存中占据不同的地址范围；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任一时刻仅有一片（或一组）被选中。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存储器芯片的存储容量等于：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A14182-D591-41AE-B813-FE5966499E6C}"/>
              </a:ext>
            </a:extLst>
          </p:cNvPr>
          <p:cNvSpPr/>
          <p:nvPr/>
        </p:nvSpPr>
        <p:spPr>
          <a:xfrm>
            <a:off x="3061009" y="4125643"/>
            <a:ext cx="30219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200" u="sng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单元数</a:t>
            </a:r>
            <a:r>
              <a:rPr kumimoji="1" lang="zh-CN" altLang="en-US" sz="22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kumimoji="1" lang="zh-CN" altLang="en-US" sz="2200" u="sng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每单元的位数</a:t>
            </a: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61D7002D-63AD-4A97-BD69-44453B8F0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1009" y="5143638"/>
            <a:ext cx="1079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字节数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2FDC37A8-0194-4073-89A7-6FF71660D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09" y="5143638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字长</a:t>
            </a: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2A465144-BD7A-4A78-A244-1F0173E94F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4247" y="4711838"/>
            <a:ext cx="0" cy="406400"/>
          </a:xfrm>
          <a:prstGeom prst="line">
            <a:avLst/>
          </a:prstGeom>
          <a:noFill/>
          <a:ln w="1905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4D544B4A-FF39-412B-B95D-3720A115CD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0372" y="4711838"/>
            <a:ext cx="0" cy="371475"/>
          </a:xfrm>
          <a:prstGeom prst="line">
            <a:avLst/>
          </a:prstGeom>
          <a:noFill/>
          <a:ln w="1905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48EB9F00-72C5-4A24-A5B4-B029D71AE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067" y="4746520"/>
            <a:ext cx="1001620" cy="896937"/>
          </a:xfrm>
          <a:prstGeom prst="wedgeRoundRectCallout">
            <a:avLst>
              <a:gd name="adj1" fmla="val 122745"/>
              <a:gd name="adj2" fmla="val -60940"/>
              <a:gd name="adj3" fmla="val 16667"/>
            </a:avLst>
          </a:prstGeom>
          <a:solidFill>
            <a:srgbClr val="00E4A8"/>
          </a:solidFill>
          <a:ln w="22225" cap="sq">
            <a:solidFill>
              <a:srgbClr val="33CCCC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扩展单元</a:t>
            </a:r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4FE1C3AE-33D6-4FC3-9A35-2BC5ABE8E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628" y="4973260"/>
            <a:ext cx="995361" cy="874153"/>
          </a:xfrm>
          <a:prstGeom prst="wedgeRoundRectCallout">
            <a:avLst>
              <a:gd name="adj1" fmla="val -138889"/>
              <a:gd name="adj2" fmla="val -82551"/>
              <a:gd name="adj3" fmla="val 16667"/>
            </a:avLst>
          </a:prstGeom>
          <a:solidFill>
            <a:srgbClr val="00E4A8"/>
          </a:solidFill>
          <a:ln w="22225" cap="sq">
            <a:solidFill>
              <a:srgbClr val="33CCCC"/>
            </a:solidFill>
            <a:miter lim="800000"/>
            <a:headEnd type="none" w="sm" len="sm"/>
            <a:tailEnd type="none" w="lg" len="lg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扩展字长</a:t>
            </a:r>
          </a:p>
        </p:txBody>
      </p:sp>
    </p:spTree>
    <p:extLst>
      <p:ext uri="{BB962C8B-B14F-4D97-AF65-F5344CB8AC3E}">
        <p14:creationId xmlns:p14="http://schemas.microsoft.com/office/powerpoint/2010/main" val="299114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位扩展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3059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存储器芯片的字长小于内存单元的字长时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需进行位扩展。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位扩展：每单元字长的扩展。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位扩展方法：将每片的地址线、控制线并联，数据线分别引出。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位扩展特点：存储器的单元数不变，每单元位数增加。</a:t>
            </a:r>
          </a:p>
        </p:txBody>
      </p:sp>
    </p:spTree>
    <p:extLst>
      <p:ext uri="{BB962C8B-B14F-4D97-AF65-F5344CB8AC3E}">
        <p14:creationId xmlns:p14="http://schemas.microsoft.com/office/powerpoint/2010/main" val="111322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位扩展示例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1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片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2164A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64K×1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）芯片构成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64KB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存储器。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3E94A5-47DB-4CB8-974F-92D0072640CE}"/>
              </a:ext>
            </a:extLst>
          </p:cNvPr>
          <p:cNvGrpSpPr/>
          <p:nvPr/>
        </p:nvGrpSpPr>
        <p:grpSpPr>
          <a:xfrm>
            <a:off x="923676" y="2278983"/>
            <a:ext cx="7296647" cy="4110037"/>
            <a:chOff x="612278" y="2703513"/>
            <a:chExt cx="7296647" cy="4110037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9039B4B5-9909-4F0D-9009-710F76B47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338" y="3465513"/>
              <a:ext cx="957262" cy="9906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A86863EE-A119-4BDB-85A2-23EC5488B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938" y="3465513"/>
              <a:ext cx="957262" cy="9906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D20F72D0-39E9-49A3-BBF6-9AF2D242F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2738" y="3465513"/>
              <a:ext cx="957262" cy="9906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1C46A702-EFB6-4B2C-95E0-A831AFFB5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855913"/>
              <a:ext cx="5181600" cy="152400"/>
            </a:xfrm>
            <a:prstGeom prst="rect">
              <a:avLst/>
            </a:prstGeom>
            <a:solidFill>
              <a:srgbClr val="FF6600"/>
            </a:solidFill>
            <a:ln w="12700" cap="sq">
              <a:solidFill>
                <a:srgbClr val="FF66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21581B59-CC45-46C6-B665-E7850028B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1725" y="2779713"/>
              <a:ext cx="457200" cy="298450"/>
            </a:xfrm>
            <a:prstGeom prst="rightArrow">
              <a:avLst>
                <a:gd name="adj1" fmla="val 50000"/>
                <a:gd name="adj2" fmla="val 38298"/>
              </a:avLst>
            </a:prstGeom>
            <a:solidFill>
              <a:srgbClr val="FF6600"/>
            </a:solidFill>
            <a:ln w="12700" cap="sq">
              <a:solidFill>
                <a:srgbClr val="FF66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EF0AA61D-D793-4E42-A4CC-1EDC562F3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700" y="2779713"/>
              <a:ext cx="381000" cy="298450"/>
            </a:xfrm>
            <a:prstGeom prst="leftArrow">
              <a:avLst>
                <a:gd name="adj1" fmla="val 50000"/>
                <a:gd name="adj2" fmla="val 31915"/>
              </a:avLst>
            </a:prstGeom>
            <a:solidFill>
              <a:srgbClr val="FF6600"/>
            </a:solidFill>
            <a:ln w="12700" cap="sq">
              <a:solidFill>
                <a:srgbClr val="FF66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045D5038-CA9F-483E-AB59-38C7ADA2F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4837113"/>
              <a:ext cx="5500688" cy="152400"/>
            </a:xfrm>
            <a:prstGeom prst="rect">
              <a:avLst/>
            </a:prstGeom>
            <a:solidFill>
              <a:srgbClr val="FF6600"/>
            </a:solidFill>
            <a:ln w="12700" cap="sq">
              <a:solidFill>
                <a:srgbClr val="FF66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AutoShape 11">
              <a:extLst>
                <a:ext uri="{FF2B5EF4-FFF2-40B4-BE49-F238E27FC236}">
                  <a16:creationId xmlns:a16="http://schemas.microsoft.com/office/drawing/2014/main" id="{AA927FDA-4F06-4219-BC01-7F57A22DF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5688" y="4759325"/>
              <a:ext cx="457200" cy="306388"/>
            </a:xfrm>
            <a:prstGeom prst="rightArrow">
              <a:avLst>
                <a:gd name="adj1" fmla="val 50000"/>
                <a:gd name="adj2" fmla="val 37306"/>
              </a:avLst>
            </a:prstGeom>
            <a:solidFill>
              <a:srgbClr val="FF6600"/>
            </a:solidFill>
            <a:ln w="12700" cap="sq">
              <a:solidFill>
                <a:srgbClr val="FF66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D393926D-45A9-4649-8759-5901B52CC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5370513"/>
              <a:ext cx="1524000" cy="6858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AutoShape 13">
              <a:extLst>
                <a:ext uri="{FF2B5EF4-FFF2-40B4-BE49-F238E27FC236}">
                  <a16:creationId xmlns:a16="http://schemas.microsoft.com/office/drawing/2014/main" id="{AD45CA5D-4A25-44F3-8835-512010C02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6056313"/>
              <a:ext cx="228600" cy="304800"/>
            </a:xfrm>
            <a:prstGeom prst="upArrow">
              <a:avLst>
                <a:gd name="adj1" fmla="val 50000"/>
                <a:gd name="adj2" fmla="val 33333"/>
              </a:avLst>
            </a:prstGeom>
            <a:solidFill>
              <a:srgbClr val="00E4A8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AutoShape 14">
              <a:extLst>
                <a:ext uri="{FF2B5EF4-FFF2-40B4-BE49-F238E27FC236}">
                  <a16:creationId xmlns:a16="http://schemas.microsoft.com/office/drawing/2014/main" id="{FDC96346-7DD0-4109-95B9-EB3A01BE0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6056313"/>
              <a:ext cx="228600" cy="304800"/>
            </a:xfrm>
            <a:prstGeom prst="upArrow">
              <a:avLst>
                <a:gd name="adj1" fmla="val 50000"/>
                <a:gd name="adj2" fmla="val 33333"/>
              </a:avLst>
            </a:prstGeom>
            <a:solidFill>
              <a:srgbClr val="00E4A8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8410E05E-3D65-4E8B-A32C-E4131C3D53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0350" y="3008313"/>
              <a:ext cx="0" cy="457200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5A2DEDD4-2A4E-4FC9-AF83-51CAE1391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950" y="3008313"/>
              <a:ext cx="0" cy="457200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B3E57E3C-5974-40A4-B026-2EFF31FF1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29463" y="3008313"/>
              <a:ext cx="0" cy="457200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8CAF9EC9-68E2-49BE-B61C-419170DF4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3663" y="4456113"/>
              <a:ext cx="261937" cy="381000"/>
            </a:xfrm>
            <a:prstGeom prst="upArrow">
              <a:avLst>
                <a:gd name="adj1" fmla="val 50000"/>
                <a:gd name="adj2" fmla="val 36364"/>
              </a:avLst>
            </a:prstGeom>
            <a:solidFill>
              <a:srgbClr val="00E4A8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AutoShape 19">
              <a:extLst>
                <a:ext uri="{FF2B5EF4-FFF2-40B4-BE49-F238E27FC236}">
                  <a16:creationId xmlns:a16="http://schemas.microsoft.com/office/drawing/2014/main" id="{F47BED3D-3804-4498-BC58-B821BE083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0975" y="4456113"/>
              <a:ext cx="276225" cy="381000"/>
            </a:xfrm>
            <a:prstGeom prst="upArrow">
              <a:avLst>
                <a:gd name="adj1" fmla="val 50000"/>
                <a:gd name="adj2" fmla="val 34483"/>
              </a:avLst>
            </a:prstGeom>
            <a:solidFill>
              <a:srgbClr val="00E4A8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AutoShape 20">
              <a:extLst>
                <a:ext uri="{FF2B5EF4-FFF2-40B4-BE49-F238E27FC236}">
                  <a16:creationId xmlns:a16="http://schemas.microsoft.com/office/drawing/2014/main" id="{9C040D49-357B-4E7A-AC03-39164684E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7063" y="4456113"/>
              <a:ext cx="261937" cy="381000"/>
            </a:xfrm>
            <a:prstGeom prst="upArrow">
              <a:avLst>
                <a:gd name="adj1" fmla="val 50000"/>
                <a:gd name="adj2" fmla="val 36364"/>
              </a:avLst>
            </a:prstGeom>
            <a:solidFill>
              <a:srgbClr val="00E4A8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AutoShape 21">
              <a:extLst>
                <a:ext uri="{FF2B5EF4-FFF2-40B4-BE49-F238E27FC236}">
                  <a16:creationId xmlns:a16="http://schemas.microsoft.com/office/drawing/2014/main" id="{1B2BD978-E504-4E8B-BA91-B7603A161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989513"/>
              <a:ext cx="252413" cy="381000"/>
            </a:xfrm>
            <a:prstGeom prst="upArrow">
              <a:avLst>
                <a:gd name="adj1" fmla="val 50000"/>
                <a:gd name="adj2" fmla="val 37736"/>
              </a:avLst>
            </a:prstGeom>
            <a:solidFill>
              <a:srgbClr val="00E4A8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482E45E3-8B41-41A4-A6E0-A5130CEA3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5522913"/>
              <a:ext cx="1219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LS158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17ABA51C-8136-4198-A9C1-CB5410427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6475" y="6356350"/>
              <a:ext cx="1143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0~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9E997DF4-DF96-42DB-B29B-6B5102B72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575" y="6356350"/>
              <a:ext cx="1371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8~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5A9FB382-A96C-41DE-A3CD-0A3DB330B3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0288" y="3770313"/>
              <a:ext cx="1143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2164A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1D392EF1-6945-4825-91FD-599BBEC78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888" y="3770313"/>
              <a:ext cx="1143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2164A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7BE40A52-696B-4943-9193-CC1A4F76E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688" y="3770313"/>
              <a:ext cx="1143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2164A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8940C625-16B7-48F2-82EE-48744EA5A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270351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DB</a:t>
              </a: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9559217E-B389-40F3-B485-F94D58ACD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68471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DE691A72-1BA9-4904-99E3-DADE55579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9813" y="3094038"/>
              <a:ext cx="533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252E5327-20D6-42C3-967A-802D8BC4A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8238" y="3079750"/>
              <a:ext cx="533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61E66FDA-EAB5-4CC1-8391-22E9CEB9B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0988" y="3079750"/>
              <a:ext cx="533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86BF50C7-B2B6-45B2-BDF6-D6513E7AA0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650" y="3357563"/>
              <a:ext cx="10795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0000H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5454D8BF-36C1-424F-A4B7-AA1F9A06C8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278" y="4141788"/>
              <a:ext cx="1219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FFFFH</a:t>
              </a:r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085DC9C3-BF82-476D-A17B-37701E955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975" y="3559175"/>
              <a:ext cx="503238" cy="0"/>
            </a:xfrm>
            <a:prstGeom prst="line">
              <a:avLst/>
            </a:prstGeom>
            <a:noFill/>
            <a:ln w="22225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7B1CF87C-9048-4A73-BC7B-2D5C133BB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275" y="4365625"/>
              <a:ext cx="503238" cy="0"/>
            </a:xfrm>
            <a:prstGeom prst="line">
              <a:avLst/>
            </a:prstGeom>
            <a:noFill/>
            <a:ln w="22225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</a:endParaRPr>
            </a:p>
          </p:txBody>
        </p:sp>
        <p:sp>
          <p:nvSpPr>
            <p:cNvPr id="39" name="Text Box 38">
              <a:extLst>
                <a:ext uri="{FF2B5EF4-FFF2-40B4-BE49-F238E27FC236}">
                  <a16:creationId xmlns:a16="http://schemas.microsoft.com/office/drawing/2014/main" id="{8D3CDF6E-C865-45A5-B19D-D1AB2F10C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2725" y="3570288"/>
              <a:ext cx="8636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.…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6888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位扩展示例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404109" y="1156091"/>
            <a:ext cx="7818893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用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1K×4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2114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芯片构成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1K×8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的存储器系统。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1839E959-1FBE-4DDD-936E-E8FBB12B4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09" y="1930002"/>
            <a:ext cx="5746726" cy="4542236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7FFDBE4C-18BE-400C-8A0A-D7589899120F}"/>
              </a:ext>
            </a:extLst>
          </p:cNvPr>
          <p:cNvSpPr txBox="1"/>
          <p:nvPr/>
        </p:nvSpPr>
        <p:spPr>
          <a:xfrm>
            <a:off x="6435397" y="5179839"/>
            <a:ext cx="25117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地址范围：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0000H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～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03FFH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56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字扩展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3182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地址空间的扩展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芯片每个单元中的字长满足，但单元数不满足。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扩展原则：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每个芯片的地址线、数据线、控制线并联。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片选端分别引出，以使每个芯片有不同的地址范围。</a:t>
            </a:r>
          </a:p>
        </p:txBody>
      </p:sp>
    </p:spTree>
    <p:extLst>
      <p:ext uri="{BB962C8B-B14F-4D97-AF65-F5344CB8AC3E}">
        <p14:creationId xmlns:p14="http://schemas.microsoft.com/office/powerpoint/2010/main" val="51543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字扩展示意图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8FBC677-C18F-4088-BA25-79FF28360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2" y="3115941"/>
            <a:ext cx="1528762" cy="1439863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A2D4975A-FCAB-42E9-8416-8C70AF345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724" y="1953891"/>
            <a:ext cx="381000" cy="306388"/>
          </a:xfrm>
          <a:prstGeom prst="leftArrow">
            <a:avLst>
              <a:gd name="adj1" fmla="val 50000"/>
              <a:gd name="adj2" fmla="val 31088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7165CD50-FB47-4E89-9DD7-704978671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987" y="4555804"/>
            <a:ext cx="280987" cy="847725"/>
          </a:xfrm>
          <a:prstGeom prst="upArrow">
            <a:avLst>
              <a:gd name="adj1" fmla="val 50000"/>
              <a:gd name="adj2" fmla="val 75424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67E6FA92-FBE2-4E11-9555-66775644C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3899" y="4555804"/>
            <a:ext cx="287338" cy="863600"/>
          </a:xfrm>
          <a:prstGeom prst="upArrow">
            <a:avLst>
              <a:gd name="adj1" fmla="val 50000"/>
              <a:gd name="adj2" fmla="val 75138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DC125F9E-22E4-4B0D-BCCB-65872915C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2" y="4023991"/>
            <a:ext cx="1566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～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CE9B4DA1-C71A-48A8-9EF7-F6472EFC2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3437" y="1891979"/>
            <a:ext cx="64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DB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EFED37BE-ED30-4782-9446-373473A83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024" y="5274941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AB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5734807B-C2EF-42E8-9A92-018ACB475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4" y="2323779"/>
            <a:ext cx="1081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～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355D2783-0BD8-4E5A-91E0-88FAFE0FC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799" y="4916166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0~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42DF213B-40F6-4A22-9FAD-87E883178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486" y="3115941"/>
            <a:ext cx="8350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R/W</a:t>
            </a: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3F991F19-D834-4F36-8F3E-12DDF9832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649" y="3763641"/>
            <a:ext cx="647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CS</a:t>
            </a:r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DFFE8343-D234-4A65-9A72-AEB2B4AC6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0212" y="3331841"/>
            <a:ext cx="719137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BD804914-1873-4A8F-B768-670E85BF0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5024" y="4124004"/>
            <a:ext cx="1584325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1D25F8D8-53AC-4251-83ED-2B53505F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737" y="2030091"/>
            <a:ext cx="5181600" cy="152400"/>
          </a:xfrm>
          <a:prstGeom prst="rect">
            <a:avLst/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8">
            <a:extLst>
              <a:ext uri="{FF2B5EF4-FFF2-40B4-BE49-F238E27FC236}">
                <a16:creationId xmlns:a16="http://schemas.microsoft.com/office/drawing/2014/main" id="{E34EDDCD-CB00-4283-9796-98584995D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2462" y="1953891"/>
            <a:ext cx="457200" cy="306388"/>
          </a:xfrm>
          <a:prstGeom prst="rightArrow">
            <a:avLst>
              <a:gd name="adj1" fmla="val 50000"/>
              <a:gd name="adj2" fmla="val 37306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EF999FEB-91E9-4E5C-A4BE-ACB482704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74" y="5398766"/>
            <a:ext cx="5500688" cy="161925"/>
          </a:xfrm>
          <a:prstGeom prst="rect">
            <a:avLst/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AutoShape 30">
            <a:extLst>
              <a:ext uri="{FF2B5EF4-FFF2-40B4-BE49-F238E27FC236}">
                <a16:creationId xmlns:a16="http://schemas.microsoft.com/office/drawing/2014/main" id="{5DC46F0D-F240-4332-A52D-7DC25A085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2462" y="5311454"/>
            <a:ext cx="457200" cy="323850"/>
          </a:xfrm>
          <a:prstGeom prst="rightArrow">
            <a:avLst>
              <a:gd name="adj1" fmla="val 50000"/>
              <a:gd name="adj2" fmla="val 35294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Text Box 31">
            <a:extLst>
              <a:ext uri="{FF2B5EF4-FFF2-40B4-BE49-F238E27FC236}">
                <a16:creationId xmlns:a16="http://schemas.microsoft.com/office/drawing/2014/main" id="{76768F2B-448D-4A2C-895E-3F186E483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7" y="3576316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×8</a:t>
            </a: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CD7B16D6-B67E-44D6-9960-6C4A3DF49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2" y="3131816"/>
            <a:ext cx="1296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～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26" name="AutoShape 33">
            <a:extLst>
              <a:ext uri="{FF2B5EF4-FFF2-40B4-BE49-F238E27FC236}">
                <a16:creationId xmlns:a16="http://schemas.microsoft.com/office/drawing/2014/main" id="{E5D7D12B-D1F4-4508-8227-FEF497457A5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49255" y="2503960"/>
            <a:ext cx="936625" cy="287338"/>
          </a:xfrm>
          <a:prstGeom prst="leftRightArrow">
            <a:avLst>
              <a:gd name="adj1" fmla="val 50000"/>
              <a:gd name="adj2" fmla="val 65193"/>
            </a:avLst>
          </a:prstGeom>
          <a:solidFill>
            <a:srgbClr val="FF6600"/>
          </a:solidFill>
          <a:ln w="22225" cap="sq">
            <a:solidFill>
              <a:srgbClr val="FF6600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AutoShape 34">
            <a:extLst>
              <a:ext uri="{FF2B5EF4-FFF2-40B4-BE49-F238E27FC236}">
                <a16:creationId xmlns:a16="http://schemas.microsoft.com/office/drawing/2014/main" id="{5C065955-6D7C-44C4-86E0-7105E4A198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13199" y="2503166"/>
            <a:ext cx="936625" cy="288925"/>
          </a:xfrm>
          <a:prstGeom prst="leftRightArrow">
            <a:avLst>
              <a:gd name="adj1" fmla="val 50000"/>
              <a:gd name="adj2" fmla="val 64835"/>
            </a:avLst>
          </a:prstGeom>
          <a:solidFill>
            <a:srgbClr val="FF6600"/>
          </a:solidFill>
          <a:ln w="22225" cap="sq">
            <a:solidFill>
              <a:srgbClr val="FF6600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35">
            <a:extLst>
              <a:ext uri="{FF2B5EF4-FFF2-40B4-BE49-F238E27FC236}">
                <a16:creationId xmlns:a16="http://schemas.microsoft.com/office/drawing/2014/main" id="{91907C71-03EA-418E-BCAC-1C27CE79E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924" y="3115941"/>
            <a:ext cx="1528763" cy="1439863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Text Box 36">
            <a:extLst>
              <a:ext uri="{FF2B5EF4-FFF2-40B4-BE49-F238E27FC236}">
                <a16:creationId xmlns:a16="http://schemas.microsoft.com/office/drawing/2014/main" id="{AD6FC562-A1D8-4E74-AE57-6218E1389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6673" y="4023991"/>
            <a:ext cx="14208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～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</a:p>
        </p:txBody>
      </p:sp>
      <p:sp>
        <p:nvSpPr>
          <p:cNvPr id="30" name="Text Box 37">
            <a:extLst>
              <a:ext uri="{FF2B5EF4-FFF2-40B4-BE49-F238E27FC236}">
                <a16:creationId xmlns:a16="http://schemas.microsoft.com/office/drawing/2014/main" id="{9FABFBF4-D007-4E7E-8215-458850588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7799" y="3576316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×8</a:t>
            </a:r>
          </a:p>
        </p:txBody>
      </p:sp>
      <p:sp>
        <p:nvSpPr>
          <p:cNvPr id="31" name="Text Box 38">
            <a:extLst>
              <a:ext uri="{FF2B5EF4-FFF2-40B4-BE49-F238E27FC236}">
                <a16:creationId xmlns:a16="http://schemas.microsoft.com/office/drawing/2014/main" id="{4E96BCB7-13B2-4F60-ACEE-DAD236F8A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6674" y="3131816"/>
            <a:ext cx="1296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～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32" name="Text Box 39">
            <a:extLst>
              <a:ext uri="{FF2B5EF4-FFF2-40B4-BE49-F238E27FC236}">
                <a16:creationId xmlns:a16="http://schemas.microsoft.com/office/drawing/2014/main" id="{6A5367A7-1F11-4B38-9D3F-E78FDE62C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799" y="2430141"/>
            <a:ext cx="1081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～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33" name="Line 40">
            <a:extLst>
              <a:ext uri="{FF2B5EF4-FFF2-40B4-BE49-F238E27FC236}">
                <a16:creationId xmlns:a16="http://schemas.microsoft.com/office/drawing/2014/main" id="{2F716CC0-6F93-4900-A8A8-AF2CE1C7D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2" y="3812854"/>
            <a:ext cx="287337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34" name="Line 41">
            <a:extLst>
              <a:ext uri="{FF2B5EF4-FFF2-40B4-BE49-F238E27FC236}">
                <a16:creationId xmlns:a16="http://schemas.microsoft.com/office/drawing/2014/main" id="{CBB47CD5-5629-4BDC-B67D-E36A44E36F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6999" y="3158804"/>
            <a:ext cx="2159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35" name="Line 42">
            <a:extLst>
              <a:ext uri="{FF2B5EF4-FFF2-40B4-BE49-F238E27FC236}">
                <a16:creationId xmlns:a16="http://schemas.microsoft.com/office/drawing/2014/main" id="{2CE986AC-E1FD-46AF-BA38-39246EC038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4399" y="4195441"/>
            <a:ext cx="503238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36" name="Line 43">
            <a:extLst>
              <a:ext uri="{FF2B5EF4-FFF2-40B4-BE49-F238E27FC236}">
                <a16:creationId xmlns:a16="http://schemas.microsoft.com/office/drawing/2014/main" id="{20BA4656-A079-4F3D-82B5-B32914414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2449" y="3428679"/>
            <a:ext cx="865188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37" name="Line 44">
            <a:extLst>
              <a:ext uri="{FF2B5EF4-FFF2-40B4-BE49-F238E27FC236}">
                <a16:creationId xmlns:a16="http://schemas.microsoft.com/office/drawing/2014/main" id="{DD2FC1A6-19FD-4D45-9C43-9CA15C0C7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2449" y="2827016"/>
            <a:ext cx="0" cy="576263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38" name="Line 45">
            <a:extLst>
              <a:ext uri="{FF2B5EF4-FFF2-40B4-BE49-F238E27FC236}">
                <a16:creationId xmlns:a16="http://schemas.microsoft.com/office/drawing/2014/main" id="{73F4599A-34A8-4AD9-ADAF-A98EBFA2C3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8987" y="2827016"/>
            <a:ext cx="2303462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39" name="Line 46">
            <a:extLst>
              <a:ext uri="{FF2B5EF4-FFF2-40B4-BE49-F238E27FC236}">
                <a16:creationId xmlns:a16="http://schemas.microsoft.com/office/drawing/2014/main" id="{FDB175CD-A38B-4133-8207-56F5853A4F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8987" y="2827016"/>
            <a:ext cx="0" cy="504825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42" name="Text Box 47">
            <a:extLst>
              <a:ext uri="{FF2B5EF4-FFF2-40B4-BE49-F238E27FC236}">
                <a16:creationId xmlns:a16="http://schemas.microsoft.com/office/drawing/2014/main" id="{ABC5BB9A-5E0B-410B-B180-DB73E2915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3" y="4916166"/>
            <a:ext cx="1223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0~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</a:p>
        </p:txBody>
      </p:sp>
      <p:sp>
        <p:nvSpPr>
          <p:cNvPr id="43" name="Line 48">
            <a:extLst>
              <a:ext uri="{FF2B5EF4-FFF2-40B4-BE49-F238E27FC236}">
                <a16:creationId xmlns:a16="http://schemas.microsoft.com/office/drawing/2014/main" id="{9C10FDBB-228C-4D54-8917-23CC4FE8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4399" y="4195441"/>
            <a:ext cx="0" cy="64770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44" name="Line 49">
            <a:extLst>
              <a:ext uri="{FF2B5EF4-FFF2-40B4-BE49-F238E27FC236}">
                <a16:creationId xmlns:a16="http://schemas.microsoft.com/office/drawing/2014/main" id="{6B4A4F94-C860-44FC-B9AE-666952BC95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5024" y="4843141"/>
            <a:ext cx="3889375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45" name="Text Box 50">
            <a:extLst>
              <a:ext uri="{FF2B5EF4-FFF2-40B4-BE49-F238E27FC236}">
                <a16:creationId xmlns:a16="http://schemas.microsoft.com/office/drawing/2014/main" id="{904C3558-506B-4ED9-AC71-77727D908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937" y="3854129"/>
            <a:ext cx="647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CS</a:t>
            </a:r>
          </a:p>
        </p:txBody>
      </p:sp>
      <p:sp>
        <p:nvSpPr>
          <p:cNvPr id="46" name="Line 51">
            <a:extLst>
              <a:ext uri="{FF2B5EF4-FFF2-40B4-BE49-F238E27FC236}">
                <a16:creationId xmlns:a16="http://schemas.microsoft.com/office/drawing/2014/main" id="{EDA550C0-AE88-41C0-B9EB-067EF4EC99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7249" y="3884291"/>
            <a:ext cx="287338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47" name="Rectangle 52">
            <a:extLst>
              <a:ext uri="{FF2B5EF4-FFF2-40B4-BE49-F238E27FC236}">
                <a16:creationId xmlns:a16="http://schemas.microsoft.com/office/drawing/2014/main" id="{01775330-2B10-44E0-AF5A-1750142D5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2" y="3908104"/>
            <a:ext cx="792162" cy="1223962"/>
          </a:xfrm>
          <a:prstGeom prst="rect">
            <a:avLst/>
          </a:prstGeom>
          <a:solidFill>
            <a:srgbClr val="339966"/>
          </a:solidFill>
          <a:ln w="22225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Text Box 53">
            <a:extLst>
              <a:ext uri="{FF2B5EF4-FFF2-40B4-BE49-F238E27FC236}">
                <a16:creationId xmlns:a16="http://schemas.microsoft.com/office/drawing/2014/main" id="{811273E3-556A-4DF3-B77C-BDD435264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737" y="3979541"/>
            <a:ext cx="5048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译码器</a:t>
            </a:r>
            <a:endParaRPr kumimoji="1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Text Box 54">
            <a:extLst>
              <a:ext uri="{FF2B5EF4-FFF2-40B4-BE49-F238E27FC236}">
                <a16:creationId xmlns:a16="http://schemas.microsoft.com/office/drawing/2014/main" id="{5F4966A5-4C18-4A38-B7C1-88E8772C2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024" y="3763642"/>
            <a:ext cx="55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50" name="Text Box 55">
            <a:extLst>
              <a:ext uri="{FF2B5EF4-FFF2-40B4-BE49-F238E27FC236}">
                <a16:creationId xmlns:a16="http://schemas.microsoft.com/office/drawing/2014/main" id="{5151F74A-5842-42F5-90F7-D5D9A08B7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049" y="4482779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1" name="Line 56">
            <a:extLst>
              <a:ext uri="{FF2B5EF4-FFF2-40B4-BE49-F238E27FC236}">
                <a16:creationId xmlns:a16="http://schemas.microsoft.com/office/drawing/2014/main" id="{D5B7AA78-279E-465C-A787-438A873BE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2" y="3806504"/>
            <a:ext cx="287337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52" name="Line 57">
            <a:extLst>
              <a:ext uri="{FF2B5EF4-FFF2-40B4-BE49-F238E27FC236}">
                <a16:creationId xmlns:a16="http://schemas.microsoft.com/office/drawing/2014/main" id="{7D23E07A-EFE1-4595-83B5-AB0125576D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5199" y="4512941"/>
            <a:ext cx="287338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53" name="Oval 58">
            <a:extLst>
              <a:ext uri="{FF2B5EF4-FFF2-40B4-BE49-F238E27FC236}">
                <a16:creationId xmlns:a16="http://schemas.microsoft.com/office/drawing/2014/main" id="{ED82C5B3-8CE6-455A-A8C5-2F7AD46A4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4" y="3288979"/>
            <a:ext cx="71438" cy="71437"/>
          </a:xfrm>
          <a:prstGeom prst="ellipse">
            <a:avLst/>
          </a:prstGeom>
          <a:solidFill>
            <a:schemeClr val="tx1"/>
          </a:solidFill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Line 60">
            <a:extLst>
              <a:ext uri="{FF2B5EF4-FFF2-40B4-BE49-F238E27FC236}">
                <a16:creationId xmlns:a16="http://schemas.microsoft.com/office/drawing/2014/main" id="{9B63283D-BB9F-4643-8870-AC89F86FC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62" y="4292279"/>
            <a:ext cx="431800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55" name="Line 61">
            <a:extLst>
              <a:ext uri="{FF2B5EF4-FFF2-40B4-BE49-F238E27FC236}">
                <a16:creationId xmlns:a16="http://schemas.microsoft.com/office/drawing/2014/main" id="{F8CEEE16-EFBC-4FD8-AE59-7355555063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62" y="4652641"/>
            <a:ext cx="430212" cy="0"/>
          </a:xfrm>
          <a:prstGeom prst="line">
            <a:avLst/>
          </a:prstGeom>
          <a:noFill/>
          <a:ln w="22225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56" name="Text Box 62">
            <a:extLst>
              <a:ext uri="{FF2B5EF4-FFF2-40B4-BE49-F238E27FC236}">
                <a16:creationId xmlns:a16="http://schemas.microsoft.com/office/drawing/2014/main" id="{9B546643-3AEB-4DE9-889B-85F9F124C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" y="3860479"/>
            <a:ext cx="4667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高位地址</a:t>
            </a:r>
          </a:p>
        </p:txBody>
      </p:sp>
      <p:sp>
        <p:nvSpPr>
          <p:cNvPr id="57" name="Text Box 63">
            <a:extLst>
              <a:ext uri="{FF2B5EF4-FFF2-40B4-BE49-F238E27FC236}">
                <a16:creationId xmlns:a16="http://schemas.microsoft.com/office/drawing/2014/main" id="{C1789407-6183-4EC4-BF2B-C0F3FFFD5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49" y="3061967"/>
            <a:ext cx="920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R/W</a:t>
            </a:r>
          </a:p>
        </p:txBody>
      </p:sp>
      <p:sp>
        <p:nvSpPr>
          <p:cNvPr id="58" name="Line 64">
            <a:extLst>
              <a:ext uri="{FF2B5EF4-FFF2-40B4-BE49-F238E27FC236}">
                <a16:creationId xmlns:a16="http://schemas.microsoft.com/office/drawing/2014/main" id="{89A767AC-D6A5-4B31-8E4E-C1D8B360C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9962" y="3111179"/>
            <a:ext cx="2159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103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3" grpId="0" animBg="1"/>
      <p:bldP spid="4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字扩展示例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662553" y="1131378"/>
            <a:ext cx="7818893" cy="4906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一个存储器系统由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8K×8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ROM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4K×8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RAM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组成，存储器的地址空间分配为从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0000H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开始的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12KB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连续存储区域，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ROM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位于低地址处，选用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2716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2K×8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）芯片，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RAM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选用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6116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2K×8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）芯片。已知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选用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8086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，系统地址总线为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A15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，数据总线为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</a:p>
          <a:p>
            <a:pPr>
              <a:lnSpc>
                <a:spcPct val="200000"/>
              </a:lnSpc>
              <a:buClr>
                <a:schemeClr val="tx1"/>
              </a:buClr>
            </a:pP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计算芯片数量和确定地址范围；</a:t>
            </a:r>
          </a:p>
          <a:p>
            <a:pPr marL="457200" indent="-457200">
              <a:lnSpc>
                <a:spcPct val="20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片选信号的产生；</a:t>
            </a:r>
          </a:p>
          <a:p>
            <a:pPr marL="457200" indent="-457200">
              <a:lnSpc>
                <a:spcPct val="20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存储器芯片与系统连接。</a:t>
            </a:r>
          </a:p>
        </p:txBody>
      </p:sp>
    </p:spTree>
    <p:extLst>
      <p:ext uri="{BB962C8B-B14F-4D97-AF65-F5344CB8AC3E}">
        <p14:creationId xmlns:p14="http://schemas.microsoft.com/office/powerpoint/2010/main" val="120802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1. 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计算芯片数量和确定地址范围</a:t>
            </a:r>
          </a:p>
        </p:txBody>
      </p:sp>
      <p:sp>
        <p:nvSpPr>
          <p:cNvPr id="4" name="矩形 3"/>
          <p:cNvSpPr/>
          <p:nvPr/>
        </p:nvSpPr>
        <p:spPr>
          <a:xfrm>
            <a:off x="662553" y="1131378"/>
            <a:ext cx="7818893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8KB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ROM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需要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片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2716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，片内寻址需要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根地址线；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4KB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RAM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需要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片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6116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，片内寻址需要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根地址线，每个芯片的地址范围如下：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D3DA7D-1B4A-403F-A364-2CACADA24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16" y="2496129"/>
            <a:ext cx="8314222" cy="405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676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2. 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片选信号的产生</a:t>
            </a:r>
          </a:p>
        </p:txBody>
      </p:sp>
      <p:sp>
        <p:nvSpPr>
          <p:cNvPr id="4" name="矩形 3"/>
          <p:cNvSpPr/>
          <p:nvPr/>
        </p:nvSpPr>
        <p:spPr>
          <a:xfrm>
            <a:off x="662553" y="1131378"/>
            <a:ext cx="7818893" cy="1230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采用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3-8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译码器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74LS138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产生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个片选信号，保证地址连续，片选电路图如下：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6E74E4-9DD7-45C3-82C8-DE1615490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84" y="2344211"/>
            <a:ext cx="6999686" cy="386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244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3. 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存储器芯片与系统连接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514A44-5D81-40D1-AD7F-C2D61991D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58513"/>
            <a:ext cx="9144000" cy="413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435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位字同时扩展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4576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设计过程：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根据内存容量及芯片容量确定所需存储芯片数；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进行位扩展以满足字长要求；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进行字扩展以满足容量要求。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若已有存储芯片的容量为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L×K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，要构成容量为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 ×N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的存储器，需要的芯片数为：</a:t>
            </a:r>
          </a:p>
          <a:p>
            <a:pPr algn="ctr">
              <a:lnSpc>
                <a:spcPct val="200000"/>
              </a:lnSpc>
              <a:buClr>
                <a:schemeClr val="tx1"/>
              </a:buClr>
            </a:pP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 / L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）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×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 / K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1051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位字扩展示例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429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一个存储器系统包括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4KB ROM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2KB RAM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，分别用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2K×8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2716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芯片和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1K×4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2114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芯片组成，要求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ROM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的地址从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1000H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开始，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RAM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的地址从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3000H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开始。已知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选用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8086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，系统地址总线为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A15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，数据总线为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buClr>
                <a:schemeClr val="tx1"/>
              </a:buClr>
            </a:pP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计算芯片数量和确定地址范围；</a:t>
            </a:r>
          </a:p>
          <a:p>
            <a:pPr marL="457200" indent="-457200">
              <a:lnSpc>
                <a:spcPct val="2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片选信号的产生。</a:t>
            </a:r>
          </a:p>
        </p:txBody>
      </p:sp>
    </p:spTree>
    <p:extLst>
      <p:ext uri="{BB962C8B-B14F-4D97-AF65-F5344CB8AC3E}">
        <p14:creationId xmlns:p14="http://schemas.microsoft.com/office/powerpoint/2010/main" val="291054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1. 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计算芯片数量和确定地址范围</a:t>
            </a:r>
          </a:p>
        </p:txBody>
      </p:sp>
      <p:sp>
        <p:nvSpPr>
          <p:cNvPr id="4" name="矩形 3"/>
          <p:cNvSpPr/>
          <p:nvPr/>
        </p:nvSpPr>
        <p:spPr>
          <a:xfrm>
            <a:off x="662553" y="1131378"/>
            <a:ext cx="7818893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4KB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ROM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需要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片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2716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，片内寻址需要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根地址线；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2KB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RAM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，共需要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片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2114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，片内寻址需要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根地址线，每个芯片的地址范围如下：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1BA6C-BAA7-43E6-B6E0-F03FC5ED3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5126"/>
            <a:ext cx="9144000" cy="453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06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2. 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片选信号的产生</a:t>
            </a:r>
          </a:p>
        </p:txBody>
      </p:sp>
      <p:sp>
        <p:nvSpPr>
          <p:cNvPr id="4" name="矩形 3"/>
          <p:cNvSpPr/>
          <p:nvPr/>
        </p:nvSpPr>
        <p:spPr>
          <a:xfrm>
            <a:off x="662553" y="1131378"/>
            <a:ext cx="7818893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A11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A12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A13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作为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3-8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译码器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74LS138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B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输入端，并且译码器工作时，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A14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A15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保持低电平。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AA001DF-CCD7-4928-B848-8A5E97AC3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1271"/>
            <a:ext cx="9144000" cy="3832087"/>
          </a:xfrm>
          <a:prstGeom prst="rect">
            <a:avLst/>
          </a:prstGeom>
        </p:spPr>
      </p:pic>
      <p:sp>
        <p:nvSpPr>
          <p:cNvPr id="12" name="上下箭头 6">
            <a:extLst>
              <a:ext uri="{FF2B5EF4-FFF2-40B4-BE49-F238E27FC236}">
                <a16:creationId xmlns:a16="http://schemas.microsoft.com/office/drawing/2014/main" id="{57E1C3D4-8228-4CEC-B00D-B8E83656B3B0}"/>
              </a:ext>
            </a:extLst>
          </p:cNvPr>
          <p:cNvSpPr/>
          <p:nvPr/>
        </p:nvSpPr>
        <p:spPr bwMode="auto">
          <a:xfrm>
            <a:off x="6386945" y="2634941"/>
            <a:ext cx="263236" cy="782196"/>
          </a:xfrm>
          <a:prstGeom prst="upDownArrow">
            <a:avLst/>
          </a:prstGeom>
          <a:solidFill>
            <a:srgbClr val="00E4A8"/>
          </a:solidFill>
          <a:ln w="12700" cap="sq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上下箭头 8">
            <a:extLst>
              <a:ext uri="{FF2B5EF4-FFF2-40B4-BE49-F238E27FC236}">
                <a16:creationId xmlns:a16="http://schemas.microsoft.com/office/drawing/2014/main" id="{DB52A378-2EF9-431B-9AA8-47E3CDF251EA}"/>
              </a:ext>
            </a:extLst>
          </p:cNvPr>
          <p:cNvSpPr/>
          <p:nvPr/>
        </p:nvSpPr>
        <p:spPr bwMode="auto">
          <a:xfrm>
            <a:off x="8705111" y="2634941"/>
            <a:ext cx="263236" cy="782196"/>
          </a:xfrm>
          <a:prstGeom prst="upDownArrow">
            <a:avLst/>
          </a:prstGeom>
          <a:solidFill>
            <a:srgbClr val="00E4A8"/>
          </a:solidFill>
          <a:ln w="12700" cap="sq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040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本章小结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A72793F-8104-4730-A79E-BBCF9EDA2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626" y="1382345"/>
            <a:ext cx="7772400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600" b="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Microsoft YaHei"/>
                <a:cs typeface="+mn-cs"/>
              </a:rPr>
              <a:t>基本概念：</a:t>
            </a:r>
          </a:p>
          <a:p>
            <a:pPr marL="742950" marR="0" lvl="1" indent="-28575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Microsoft YaHei"/>
              </a:rPr>
              <a:t>存储器的分类</a:t>
            </a:r>
            <a:endParaRPr kumimoji="0" lang="en-US" altLang="zh-CN" sz="2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Microsoft YaHei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Microsoft YaHei"/>
              </a:rPr>
              <a:t>不同半导体存储器的特点及应用场合</a:t>
            </a: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Microsoft YaHei"/>
                <a:cs typeface="+mn-cs"/>
              </a:rPr>
              <a:t>系统设计：</a:t>
            </a:r>
          </a:p>
          <a:p>
            <a:pPr marL="742950" marR="0" lvl="1" indent="-28575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Microsoft YaHei"/>
              </a:rPr>
              <a:t>存储器芯片与系统的连接</a:t>
            </a:r>
          </a:p>
          <a:p>
            <a:pPr marL="742950" marR="0" lvl="1" indent="-28575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Microsoft YaHei"/>
              </a:rPr>
              <a:t>译码电路及其他控制信号</a:t>
            </a:r>
          </a:p>
          <a:p>
            <a:pPr marL="742950" marR="0" lvl="1" indent="-28575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Microsoft YaHei"/>
              </a:rPr>
              <a:t>存储器扩展技术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20C45EB8-024C-4D43-BD23-FD70F6D65BA9}"/>
              </a:ext>
            </a:extLst>
          </p:cNvPr>
          <p:cNvSpPr>
            <a:spLocks/>
          </p:cNvSpPr>
          <p:nvPr/>
        </p:nvSpPr>
        <p:spPr bwMode="auto">
          <a:xfrm>
            <a:off x="4909977" y="3786691"/>
            <a:ext cx="215900" cy="1439862"/>
          </a:xfrm>
          <a:prstGeom prst="rightBrace">
            <a:avLst>
              <a:gd name="adj1" fmla="val 55576"/>
              <a:gd name="adj2" fmla="val 50000"/>
            </a:avLst>
          </a:prstGeom>
          <a:noFill/>
          <a:ln w="222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61A52944-3F4C-46EF-B882-0FC9DB708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752" y="3993066"/>
            <a:ext cx="28082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能够设计出所需要的存储器</a:t>
            </a:r>
          </a:p>
        </p:txBody>
      </p:sp>
    </p:spTree>
    <p:extLst>
      <p:ext uri="{BB962C8B-B14F-4D97-AF65-F5344CB8AC3E}">
        <p14:creationId xmlns:p14="http://schemas.microsoft.com/office/powerpoint/2010/main" val="3397830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7640</TotalTime>
  <Words>2202</Words>
  <Application>Microsoft Office PowerPoint</Application>
  <PresentationFormat>全屏显示(4:3)</PresentationFormat>
  <Paragraphs>371</Paragraphs>
  <Slides>51</Slides>
  <Notes>47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5" baseType="lpstr">
      <vt:lpstr>等线</vt:lpstr>
      <vt:lpstr>等线 Light</vt:lpstr>
      <vt:lpstr>黑体</vt:lpstr>
      <vt:lpstr>宋体</vt:lpstr>
      <vt:lpstr>微软雅黑</vt:lpstr>
      <vt:lpstr>微软雅黑</vt:lpstr>
      <vt:lpstr>Arial</vt:lpstr>
      <vt:lpstr>Calibri</vt:lpstr>
      <vt:lpstr>Calibri Light</vt:lpstr>
      <vt:lpstr>Cambria Math</vt:lpstr>
      <vt:lpstr>Consolas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jihui han</dc:creator>
  <cp:lastModifiedBy>jihui han</cp:lastModifiedBy>
  <cp:revision>438</cp:revision>
  <dcterms:created xsi:type="dcterms:W3CDTF">2020-09-09T01:52:22Z</dcterms:created>
  <dcterms:modified xsi:type="dcterms:W3CDTF">2022-10-28T03:41:10Z</dcterms:modified>
</cp:coreProperties>
</file>