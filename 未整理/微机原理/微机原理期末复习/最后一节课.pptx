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>
        <p:scale>
          <a:sx n="100" d="100"/>
          <a:sy n="100" d="100"/>
        </p:scale>
        <p:origin x="348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3C2A46-C843-462E-8B6E-E15DB463C3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2A133C-ADF7-494A-8AC3-A7693882CC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9116B72-F3BC-41BF-8D02-A11324474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2E863-A385-403E-B0D0-3D66614ACEBD}" type="datetimeFigureOut">
              <a:rPr lang="zh-CN" altLang="en-US" smtClean="0"/>
              <a:t>2022-11-11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9F3C176-C7E7-484B-A2D9-6E53A42A6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797C6-DC45-4EEB-B2A7-1B28D690D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333D5-E633-4F8F-B1AF-A210638743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0202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55ED0C-C1B8-4742-BFA3-90348CE45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8BAF52-CC8F-45BB-95C2-A7A55E9F2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F93A6E-BD2E-4003-95F1-400327176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2E863-A385-403E-B0D0-3D66614ACEBD}" type="datetimeFigureOut">
              <a:rPr lang="zh-CN" altLang="en-US" smtClean="0"/>
              <a:t>2022-11-11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CC863D6-4451-4316-ACCE-51F256AFC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DDED14B-B625-4AD6-99F6-ED7074992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333D5-E633-4F8F-B1AF-A210638743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9490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D847F6-CEDD-47FA-BC5B-ECFB42879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30F12BB-C57D-4BAE-A113-23C3B8649B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92D3BD-9337-40D2-8525-5FC18D456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2E863-A385-403E-B0D0-3D66614ACEBD}" type="datetimeFigureOut">
              <a:rPr lang="zh-CN" altLang="en-US" smtClean="0"/>
              <a:t>2022-11-11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540215-9EE1-425C-86F7-4F55D20E1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A1EB19-CD74-4943-85EA-82CE137D4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333D5-E633-4F8F-B1AF-A210638743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014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459C8-F248-4912-AC62-D48840747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EF6ACB-2CD3-4A1E-8640-83450E87BC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46BD27A-3386-4829-A4E7-3150F73920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52B529-CB0F-4B79-81E3-4ED79B135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2E863-A385-403E-B0D0-3D66614ACEBD}" type="datetimeFigureOut">
              <a:rPr lang="zh-CN" altLang="en-US" smtClean="0"/>
              <a:t>2022-11-11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7B5B6F7-19E1-4D7A-A55F-BEA262B87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20DCA3D-2A2C-4C20-8054-26DACEA70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333D5-E633-4F8F-B1AF-A210638743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7285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63A84A-E35F-436F-86C0-C1130D485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3485C36-3189-4DE7-8E92-AADAC8E97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BE4C03C-4D66-4E86-B3E1-735FD6852E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4A90ECB-9526-481F-A71D-130254D5C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488607C-AEF7-4124-815F-C78BD13BCB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0EC97C8-D759-4A01-828F-2B60DC60F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2E863-A385-403E-B0D0-3D66614ACEBD}" type="datetimeFigureOut">
              <a:rPr lang="zh-CN" altLang="en-US" smtClean="0"/>
              <a:t>2022-11-11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6087BAD-8185-4313-A543-DCB2A62D7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C3BE1F7-C8BD-48A4-A021-000805EF7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333D5-E633-4F8F-B1AF-A210638743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14222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426653-A1CD-43FD-B7CB-B1B3C8290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70F5AC5-5247-4F0D-9004-B406F9903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2E863-A385-403E-B0D0-3D66614ACEBD}" type="datetimeFigureOut">
              <a:rPr lang="zh-CN" altLang="en-US" smtClean="0"/>
              <a:t>2022-11-11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942FDDD-5816-465C-873C-21AA9FC80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A653068-EDC6-46EA-A35E-969795B6C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333D5-E633-4F8F-B1AF-A210638743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9116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5F32CFB-42D2-473B-99E3-F00BB80DE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2E863-A385-403E-B0D0-3D66614ACEBD}" type="datetimeFigureOut">
              <a:rPr lang="zh-CN" altLang="en-US" smtClean="0"/>
              <a:t>2022-11-11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F002603-1C9D-4178-B24B-13CA9FA83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5FC67E5-C8E3-4769-A8CB-D8AD78425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333D5-E633-4F8F-B1AF-A210638743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4316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3ACF7D-57F3-47E6-BF8D-EBF22E878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F725454-2CDA-47DA-AD59-223CAE6550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C8B70B-69BB-4F9C-B36F-AF86184358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63BC787-86C6-4689-8EEC-8C6AAF035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2E863-A385-403E-B0D0-3D66614ACEBD}" type="datetimeFigureOut">
              <a:rPr lang="zh-CN" altLang="en-US" smtClean="0"/>
              <a:t>2022-11-11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CEFEBC-DED3-4256-B4A3-899A7C92F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DD7208-1B43-4A8D-BDFC-C99DB99C1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333D5-E633-4F8F-B1AF-A210638743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9515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6A80BC-4797-4383-84C1-01C488773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CEB0E90-ED9F-4731-9845-4A40DEBFC3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DF2758A-1C41-42BD-B8B9-B08E66A698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3AC4D84-40BD-4BEF-B3C2-196CF0DB9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2E863-A385-403E-B0D0-3D66614ACEBD}" type="datetimeFigureOut">
              <a:rPr lang="zh-CN" altLang="en-US" smtClean="0"/>
              <a:t>2022-11-11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75152E2-2D32-469D-8606-4486919E9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B268D10-10A6-4DBC-AB08-14F3C03AB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333D5-E633-4F8F-B1AF-A210638743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660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95FD83-5229-4C25-9221-E6252EF20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4CD4065-3247-4272-B968-0201194D2A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0E95C4-511E-48A8-85BA-F3C0D6F9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2E863-A385-403E-B0D0-3D66614ACEBD}" type="datetimeFigureOut">
              <a:rPr lang="zh-CN" altLang="en-US" smtClean="0"/>
              <a:t>2022-11-11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388F9E-440E-4A2C-9E52-6FC0C0B52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8B32D9-CB36-4D03-939A-6EC825039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333D5-E633-4F8F-B1AF-A210638743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7391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C1ADD52-FA25-4C31-B86F-1733A543ED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C2DE3A1-9C10-447D-A466-3FD6514D77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B217DD6-5D4D-4837-9FE7-DAD21E46B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2E863-A385-403E-B0D0-3D66614ACEBD}" type="datetimeFigureOut">
              <a:rPr lang="zh-CN" altLang="en-US" smtClean="0"/>
              <a:t>2022-11-11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4FBF564-480C-4BE2-917C-295C695C1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EF2D1B4-4F62-462F-BF58-24F091F94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333D5-E633-4F8F-B1AF-A210638743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2350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E3BC510-0EB8-4EED-8B06-B726807A4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CE0D6A3-651C-444A-8B9F-191B744DE1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21F60A2-64CE-4181-AF84-C3AE92781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22E863-A385-403E-B0D0-3D66614ACEBD}" type="datetimeFigureOut">
              <a:rPr lang="zh-CN" altLang="en-US" smtClean="0"/>
              <a:t>2022-11-11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E9EA7B-4CAD-4BB6-B8B9-42F96784B1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EC8829-4870-4DA9-823E-11773170B0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C333D5-E633-4F8F-B1AF-A2106387432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501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ABB5AAC-6CCF-42B7-8DF2-8054B2DAAF5F}"/>
              </a:ext>
            </a:extLst>
          </p:cNvPr>
          <p:cNvSpPr/>
          <p:nvPr/>
        </p:nvSpPr>
        <p:spPr>
          <a:xfrm>
            <a:off x="4518561" y="4039589"/>
            <a:ext cx="1525979" cy="23661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74LS138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8A223D2-D1AE-42B3-BBEA-11C13E245478}"/>
              </a:ext>
            </a:extLst>
          </p:cNvPr>
          <p:cNvSpPr txBox="1"/>
          <p:nvPr/>
        </p:nvSpPr>
        <p:spPr>
          <a:xfrm>
            <a:off x="4518561" y="4063731"/>
            <a:ext cx="467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G1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C7AC37B-A715-4DEE-B28B-C186E30A18F9}"/>
              </a:ext>
            </a:extLst>
          </p:cNvPr>
          <p:cNvSpPr txBox="1"/>
          <p:nvPr/>
        </p:nvSpPr>
        <p:spPr>
          <a:xfrm>
            <a:off x="4518559" y="4308464"/>
            <a:ext cx="7718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#G2A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4E0D33-8C91-4314-B10A-5700B8601201}"/>
              </a:ext>
            </a:extLst>
          </p:cNvPr>
          <p:cNvSpPr txBox="1"/>
          <p:nvPr/>
        </p:nvSpPr>
        <p:spPr>
          <a:xfrm>
            <a:off x="4518561" y="4553197"/>
            <a:ext cx="7718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#G2B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73C704E-9D4A-4E81-ABA0-75B3F16DAD33}"/>
              </a:ext>
            </a:extLst>
          </p:cNvPr>
          <p:cNvSpPr txBox="1"/>
          <p:nvPr/>
        </p:nvSpPr>
        <p:spPr>
          <a:xfrm>
            <a:off x="4436917" y="5112372"/>
            <a:ext cx="467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552D0A-5FDE-403C-A8AC-8E4F4E277CDF}"/>
              </a:ext>
            </a:extLst>
          </p:cNvPr>
          <p:cNvSpPr txBox="1"/>
          <p:nvPr/>
        </p:nvSpPr>
        <p:spPr>
          <a:xfrm>
            <a:off x="4436916" y="5387966"/>
            <a:ext cx="467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D7CE4B5-A204-43EB-9323-840E216C6564}"/>
              </a:ext>
            </a:extLst>
          </p:cNvPr>
          <p:cNvSpPr txBox="1"/>
          <p:nvPr/>
        </p:nvSpPr>
        <p:spPr>
          <a:xfrm>
            <a:off x="4436915" y="5697380"/>
            <a:ext cx="467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F287AF5-3A6A-449A-9887-2AFC5998A486}"/>
              </a:ext>
            </a:extLst>
          </p:cNvPr>
          <p:cNvSpPr txBox="1"/>
          <p:nvPr/>
        </p:nvSpPr>
        <p:spPr>
          <a:xfrm>
            <a:off x="3948176" y="5113110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A16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499A2E5-7A26-4271-AB0F-E2838F5C05AE}"/>
              </a:ext>
            </a:extLst>
          </p:cNvPr>
          <p:cNvSpPr txBox="1"/>
          <p:nvPr/>
        </p:nvSpPr>
        <p:spPr>
          <a:xfrm>
            <a:off x="3948175" y="5399842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A15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99009C8-CC59-44C2-834D-4A97815407F5}"/>
              </a:ext>
            </a:extLst>
          </p:cNvPr>
          <p:cNvSpPr txBox="1"/>
          <p:nvPr/>
        </p:nvSpPr>
        <p:spPr>
          <a:xfrm>
            <a:off x="3948174" y="5698118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A14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B0A7206-1FD8-4858-9D47-F6EE9587BACA}"/>
              </a:ext>
            </a:extLst>
          </p:cNvPr>
          <p:cNvSpPr txBox="1"/>
          <p:nvPr/>
        </p:nvSpPr>
        <p:spPr>
          <a:xfrm>
            <a:off x="5559139" y="4248397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#Y0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7B83841-BF97-4B1B-A795-1F356D739038}"/>
              </a:ext>
            </a:extLst>
          </p:cNvPr>
          <p:cNvSpPr txBox="1"/>
          <p:nvPr/>
        </p:nvSpPr>
        <p:spPr>
          <a:xfrm>
            <a:off x="6116163" y="4248397"/>
            <a:ext cx="15259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RAM(1) #CS</a:t>
            </a:r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DF3BCC8-D0CF-4B15-860D-8161A684D577}"/>
              </a:ext>
            </a:extLst>
          </p:cNvPr>
          <p:cNvSpPr txBox="1"/>
          <p:nvPr/>
        </p:nvSpPr>
        <p:spPr>
          <a:xfrm>
            <a:off x="5559139" y="4638291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#Y1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A5FC127-0B63-4366-B5C0-0ECF6188A7A8}"/>
              </a:ext>
            </a:extLst>
          </p:cNvPr>
          <p:cNvSpPr txBox="1"/>
          <p:nvPr/>
        </p:nvSpPr>
        <p:spPr>
          <a:xfrm>
            <a:off x="6116163" y="4638291"/>
            <a:ext cx="15259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RAM(2) #CS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2127198-D38B-47F2-8D85-E12EAC7D2909}"/>
              </a:ext>
            </a:extLst>
          </p:cNvPr>
          <p:cNvSpPr txBox="1"/>
          <p:nvPr/>
        </p:nvSpPr>
        <p:spPr>
          <a:xfrm>
            <a:off x="5559139" y="5297038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#Y2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CF9DE29-15EB-4160-A031-A6297F7BF5EB}"/>
              </a:ext>
            </a:extLst>
          </p:cNvPr>
          <p:cNvSpPr txBox="1"/>
          <p:nvPr/>
        </p:nvSpPr>
        <p:spPr>
          <a:xfrm>
            <a:off x="6116163" y="5297038"/>
            <a:ext cx="15259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ROM #CS</a:t>
            </a:r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1F94109-F083-4B82-BA16-26E793181A4E}"/>
              </a:ext>
            </a:extLst>
          </p:cNvPr>
          <p:cNvSpPr txBox="1"/>
          <p:nvPr/>
        </p:nvSpPr>
        <p:spPr>
          <a:xfrm>
            <a:off x="3948174" y="4063731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A19</a:t>
            </a:r>
            <a:endParaRPr lang="zh-CN" altLang="en-US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328A90F-E712-4E54-94CD-599268E66FA0}"/>
              </a:ext>
            </a:extLst>
          </p:cNvPr>
          <p:cNvSpPr/>
          <p:nvPr/>
        </p:nvSpPr>
        <p:spPr>
          <a:xfrm>
            <a:off x="2951023" y="4264529"/>
            <a:ext cx="637552" cy="457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≥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B3C004F-2089-4DF7-964D-06D08BCFE40F}"/>
              </a:ext>
            </a:extLst>
          </p:cNvPr>
          <p:cNvSpPr txBox="1"/>
          <p:nvPr/>
        </p:nvSpPr>
        <p:spPr>
          <a:xfrm>
            <a:off x="2435556" y="4183865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A18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C21A546-1D98-4C90-B656-35EFB2682C8E}"/>
              </a:ext>
            </a:extLst>
          </p:cNvPr>
          <p:cNvSpPr txBox="1"/>
          <p:nvPr/>
        </p:nvSpPr>
        <p:spPr>
          <a:xfrm>
            <a:off x="2438342" y="4380861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A17</a:t>
            </a:r>
            <a:endParaRPr lang="zh-CN" altLang="en-US" dirty="0"/>
          </a:p>
        </p:txBody>
      </p: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6C00B497-7420-425C-900C-9217E5BE3202}"/>
              </a:ext>
            </a:extLst>
          </p:cNvPr>
          <p:cNvCxnSpPr>
            <a:stCxn id="21" idx="3"/>
            <a:endCxn id="6" idx="1"/>
          </p:cNvCxnSpPr>
          <p:nvPr/>
        </p:nvCxnSpPr>
        <p:spPr>
          <a:xfrm>
            <a:off x="3588575" y="4493129"/>
            <a:ext cx="929984" cy="1"/>
          </a:xfrm>
          <a:prstGeom prst="bentConnector3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5BA50619-4446-40D7-84D4-E94A16CFF7D9}"/>
              </a:ext>
            </a:extLst>
          </p:cNvPr>
          <p:cNvSpPr txBox="1"/>
          <p:nvPr/>
        </p:nvSpPr>
        <p:spPr>
          <a:xfrm>
            <a:off x="3740727" y="4542126"/>
            <a:ext cx="929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IO/#M</a:t>
            </a:r>
            <a:endParaRPr lang="zh-CN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B182161-F43E-429E-8F40-89569B3C550F}"/>
              </a:ext>
            </a:extLst>
          </p:cNvPr>
          <p:cNvSpPr/>
          <p:nvPr/>
        </p:nvSpPr>
        <p:spPr>
          <a:xfrm>
            <a:off x="857252" y="1012986"/>
            <a:ext cx="1578304" cy="28347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8088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E453A09-CEF6-4FC6-8597-4AC219D22D2A}"/>
              </a:ext>
            </a:extLst>
          </p:cNvPr>
          <p:cNvSpPr txBox="1"/>
          <p:nvPr/>
        </p:nvSpPr>
        <p:spPr>
          <a:xfrm>
            <a:off x="1715120" y="1159616"/>
            <a:ext cx="891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A0..19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D055CDA-AA60-495A-8F41-F361AFE6FE1A}"/>
              </a:ext>
            </a:extLst>
          </p:cNvPr>
          <p:cNvSpPr txBox="1"/>
          <p:nvPr/>
        </p:nvSpPr>
        <p:spPr>
          <a:xfrm>
            <a:off x="1715120" y="1501611"/>
            <a:ext cx="891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D0..15</a:t>
            </a:r>
            <a:endParaRPr lang="zh-CN" altLang="en-US" dirty="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03DFA00-5705-40CB-88C0-EBA30BF7CCF1}"/>
              </a:ext>
            </a:extLst>
          </p:cNvPr>
          <p:cNvSpPr/>
          <p:nvPr/>
        </p:nvSpPr>
        <p:spPr>
          <a:xfrm>
            <a:off x="4904505" y="1099334"/>
            <a:ext cx="1536307" cy="11738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RAM(1)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EF55047-FEA9-47CE-8849-D45AF224D04A}"/>
              </a:ext>
            </a:extLst>
          </p:cNvPr>
          <p:cNvSpPr/>
          <p:nvPr/>
        </p:nvSpPr>
        <p:spPr>
          <a:xfrm>
            <a:off x="6758046" y="1099334"/>
            <a:ext cx="1611462" cy="11738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RAM(2)</a:t>
            </a:r>
            <a:endParaRPr lang="zh-CN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979B2F6-B5E2-45EF-B9A9-37C728FA4610}"/>
              </a:ext>
            </a:extLst>
          </p:cNvPr>
          <p:cNvSpPr/>
          <p:nvPr/>
        </p:nvSpPr>
        <p:spPr>
          <a:xfrm>
            <a:off x="8946911" y="1090988"/>
            <a:ext cx="1541817" cy="11738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ROM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BDDAEBE-B4A2-4E92-94C8-83D1F4D77AFB}"/>
              </a:ext>
            </a:extLst>
          </p:cNvPr>
          <p:cNvSpPr txBox="1"/>
          <p:nvPr/>
        </p:nvSpPr>
        <p:spPr>
          <a:xfrm>
            <a:off x="4835793" y="1090988"/>
            <a:ext cx="891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A0..13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D06E868-D358-4C59-8DDB-EEDD6A64FFD8}"/>
              </a:ext>
            </a:extLst>
          </p:cNvPr>
          <p:cNvSpPr txBox="1"/>
          <p:nvPr/>
        </p:nvSpPr>
        <p:spPr>
          <a:xfrm>
            <a:off x="5791375" y="1078772"/>
            <a:ext cx="891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D0..7</a:t>
            </a:r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29C1375-8B12-4878-9B0D-2BFDD6603CA9}"/>
              </a:ext>
            </a:extLst>
          </p:cNvPr>
          <p:cNvSpPr txBox="1"/>
          <p:nvPr/>
        </p:nvSpPr>
        <p:spPr>
          <a:xfrm>
            <a:off x="6726205" y="1070426"/>
            <a:ext cx="891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A0..13</a:t>
            </a:r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79A46A3-4885-4F41-98F0-406E983C36A7}"/>
              </a:ext>
            </a:extLst>
          </p:cNvPr>
          <p:cNvSpPr txBox="1"/>
          <p:nvPr/>
        </p:nvSpPr>
        <p:spPr>
          <a:xfrm>
            <a:off x="7681787" y="1058210"/>
            <a:ext cx="891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D0..7</a:t>
            </a:r>
            <a:endParaRPr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AADB5CCB-E845-43BC-A7DD-C9C8B50E54F2}"/>
              </a:ext>
            </a:extLst>
          </p:cNvPr>
          <p:cNvSpPr txBox="1"/>
          <p:nvPr/>
        </p:nvSpPr>
        <p:spPr>
          <a:xfrm>
            <a:off x="8908627" y="1049864"/>
            <a:ext cx="891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A0..12</a:t>
            </a:r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ED8B50D-2182-425B-BDA4-E665DE666670}"/>
              </a:ext>
            </a:extLst>
          </p:cNvPr>
          <p:cNvSpPr txBox="1"/>
          <p:nvPr/>
        </p:nvSpPr>
        <p:spPr>
          <a:xfrm>
            <a:off x="9864209" y="1037648"/>
            <a:ext cx="891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D0..7</a:t>
            </a:r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C52D4AC-F69D-447A-B2CA-226136044CBA}"/>
              </a:ext>
            </a:extLst>
          </p:cNvPr>
          <p:cNvSpPr txBox="1"/>
          <p:nvPr/>
        </p:nvSpPr>
        <p:spPr>
          <a:xfrm>
            <a:off x="4830598" y="1924449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#CS</a:t>
            </a:r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A271F3A0-0FDB-4BD4-BCE7-76AB054E957C}"/>
              </a:ext>
            </a:extLst>
          </p:cNvPr>
          <p:cNvSpPr txBox="1"/>
          <p:nvPr/>
        </p:nvSpPr>
        <p:spPr>
          <a:xfrm>
            <a:off x="5344666" y="1914168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#OE</a:t>
            </a:r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AA647EB-378E-47AB-98E8-6228624DF697}"/>
              </a:ext>
            </a:extLst>
          </p:cNvPr>
          <p:cNvSpPr txBox="1"/>
          <p:nvPr/>
        </p:nvSpPr>
        <p:spPr>
          <a:xfrm>
            <a:off x="5891006" y="1914168"/>
            <a:ext cx="7057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#WE</a:t>
            </a:r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0EFF83DA-4F32-4732-8F12-BDF7AEDF8203}"/>
              </a:ext>
            </a:extLst>
          </p:cNvPr>
          <p:cNvSpPr txBox="1"/>
          <p:nvPr/>
        </p:nvSpPr>
        <p:spPr>
          <a:xfrm>
            <a:off x="6683074" y="1943076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#CS</a:t>
            </a:r>
            <a:endParaRPr lang="zh-CN" altLang="en-US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7524946-CC57-4110-96CD-1BA1B32BFF85}"/>
              </a:ext>
            </a:extLst>
          </p:cNvPr>
          <p:cNvSpPr txBox="1"/>
          <p:nvPr/>
        </p:nvSpPr>
        <p:spPr>
          <a:xfrm>
            <a:off x="7197142" y="1932795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#OE</a:t>
            </a:r>
            <a:endParaRPr lang="zh-CN" altLang="en-US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B5C7DE2A-D71B-4570-88B7-F389E3F7ABFA}"/>
              </a:ext>
            </a:extLst>
          </p:cNvPr>
          <p:cNvSpPr txBox="1"/>
          <p:nvPr/>
        </p:nvSpPr>
        <p:spPr>
          <a:xfrm>
            <a:off x="7743482" y="1932795"/>
            <a:ext cx="7057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#WE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7A61624-DD40-4EAC-9FEC-C9E9060DDC1C}"/>
              </a:ext>
            </a:extLst>
          </p:cNvPr>
          <p:cNvSpPr txBox="1"/>
          <p:nvPr/>
        </p:nvSpPr>
        <p:spPr>
          <a:xfrm>
            <a:off x="8855914" y="1952919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#CS</a:t>
            </a:r>
            <a:endParaRPr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F73F0330-6243-45A3-A51D-1AAA0EC2BA63}"/>
              </a:ext>
            </a:extLst>
          </p:cNvPr>
          <p:cNvSpPr txBox="1"/>
          <p:nvPr/>
        </p:nvSpPr>
        <p:spPr>
          <a:xfrm>
            <a:off x="9889459" y="1934730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#OE</a:t>
            </a:r>
            <a:endParaRPr lang="zh-CN" altLang="en-US" dirty="0"/>
          </a:p>
        </p:txBody>
      </p:sp>
      <p:sp>
        <p:nvSpPr>
          <p:cNvPr id="47" name="箭头: 右 46">
            <a:extLst>
              <a:ext uri="{FF2B5EF4-FFF2-40B4-BE49-F238E27FC236}">
                <a16:creationId xmlns:a16="http://schemas.microsoft.com/office/drawing/2014/main" id="{513559A8-109F-43CD-8C5E-998ADBEBC1E4}"/>
              </a:ext>
            </a:extLst>
          </p:cNvPr>
          <p:cNvSpPr/>
          <p:nvPr/>
        </p:nvSpPr>
        <p:spPr>
          <a:xfrm>
            <a:off x="2641093" y="262797"/>
            <a:ext cx="8170223" cy="2998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/>
              <a:t>A0</a:t>
            </a:r>
            <a:r>
              <a:rPr lang="zh-CN" altLang="en-US" sz="1100" dirty="0"/>
              <a:t>到</a:t>
            </a:r>
            <a:r>
              <a:rPr lang="en-US" altLang="zh-CN" sz="1100" dirty="0"/>
              <a:t>A12</a:t>
            </a:r>
            <a:endParaRPr lang="zh-CN" altLang="en-US" sz="1100" dirty="0"/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B0C6FB05-3BEA-4295-892C-6EEABF1BA591}"/>
              </a:ext>
            </a:extLst>
          </p:cNvPr>
          <p:cNvCxnSpPr/>
          <p:nvPr/>
        </p:nvCxnSpPr>
        <p:spPr>
          <a:xfrm>
            <a:off x="2637550" y="844550"/>
            <a:ext cx="8205768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51F79F56-E900-45C1-A49E-2E78C27E67A5}"/>
              </a:ext>
            </a:extLst>
          </p:cNvPr>
          <p:cNvSpPr txBox="1"/>
          <p:nvPr/>
        </p:nvSpPr>
        <p:spPr>
          <a:xfrm>
            <a:off x="2435556" y="545156"/>
            <a:ext cx="891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A13</a:t>
            </a:r>
            <a:endParaRPr lang="zh-CN" altLang="en-US" dirty="0"/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B5A18795-9735-4F2A-9198-A09154986F9B}"/>
              </a:ext>
            </a:extLst>
          </p:cNvPr>
          <p:cNvCxnSpPr/>
          <p:nvPr/>
        </p:nvCxnSpPr>
        <p:spPr>
          <a:xfrm>
            <a:off x="5430520" y="844550"/>
            <a:ext cx="0" cy="25478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箭头: 右 53">
            <a:extLst>
              <a:ext uri="{FF2B5EF4-FFF2-40B4-BE49-F238E27FC236}">
                <a16:creationId xmlns:a16="http://schemas.microsoft.com/office/drawing/2014/main" id="{E0BBCBFE-1F30-40F7-8B55-DFB4602E8B51}"/>
              </a:ext>
            </a:extLst>
          </p:cNvPr>
          <p:cNvSpPr/>
          <p:nvPr/>
        </p:nvSpPr>
        <p:spPr>
          <a:xfrm rot="5400000">
            <a:off x="4756378" y="681614"/>
            <a:ext cx="705199" cy="2998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/>
              <a:t>A0</a:t>
            </a:r>
            <a:r>
              <a:rPr lang="zh-CN" altLang="en-US" sz="800" dirty="0"/>
              <a:t>到</a:t>
            </a:r>
            <a:r>
              <a:rPr lang="en-US" altLang="zh-CN" sz="800" dirty="0"/>
              <a:t>A12</a:t>
            </a:r>
            <a:endParaRPr lang="zh-CN" altLang="en-US" sz="800" dirty="0"/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F0D3B366-7CE1-45CE-A44D-6330703ADE7E}"/>
              </a:ext>
            </a:extLst>
          </p:cNvPr>
          <p:cNvCxnSpPr/>
          <p:nvPr/>
        </p:nvCxnSpPr>
        <p:spPr>
          <a:xfrm>
            <a:off x="7282405" y="852024"/>
            <a:ext cx="0" cy="25478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箭头: 右 55">
            <a:extLst>
              <a:ext uri="{FF2B5EF4-FFF2-40B4-BE49-F238E27FC236}">
                <a16:creationId xmlns:a16="http://schemas.microsoft.com/office/drawing/2014/main" id="{1C2D481D-89E0-4784-830D-AA289CF64F98}"/>
              </a:ext>
            </a:extLst>
          </p:cNvPr>
          <p:cNvSpPr/>
          <p:nvPr/>
        </p:nvSpPr>
        <p:spPr>
          <a:xfrm rot="5400000">
            <a:off x="6608263" y="689088"/>
            <a:ext cx="705199" cy="2998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/>
              <a:t>A0</a:t>
            </a:r>
            <a:r>
              <a:rPr lang="zh-CN" altLang="en-US" sz="800" dirty="0"/>
              <a:t>到</a:t>
            </a:r>
            <a:r>
              <a:rPr lang="en-US" altLang="zh-CN" sz="800" dirty="0"/>
              <a:t>A12</a:t>
            </a:r>
            <a:endParaRPr lang="zh-CN" altLang="en-US" sz="800" dirty="0"/>
          </a:p>
        </p:txBody>
      </p:sp>
      <p:sp>
        <p:nvSpPr>
          <p:cNvPr id="58" name="箭头: 右 57">
            <a:extLst>
              <a:ext uri="{FF2B5EF4-FFF2-40B4-BE49-F238E27FC236}">
                <a16:creationId xmlns:a16="http://schemas.microsoft.com/office/drawing/2014/main" id="{D8E9898E-16FE-4E96-9BBC-1E9F3779094C}"/>
              </a:ext>
            </a:extLst>
          </p:cNvPr>
          <p:cNvSpPr/>
          <p:nvPr/>
        </p:nvSpPr>
        <p:spPr>
          <a:xfrm rot="5400000">
            <a:off x="8891341" y="659176"/>
            <a:ext cx="705199" cy="2998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/>
              <a:t>A0</a:t>
            </a:r>
            <a:r>
              <a:rPr lang="zh-CN" altLang="en-US" sz="900" dirty="0"/>
              <a:t>到</a:t>
            </a:r>
            <a:r>
              <a:rPr lang="en-US" altLang="zh-CN" sz="900" dirty="0"/>
              <a:t>A12</a:t>
            </a:r>
            <a:endParaRPr lang="zh-CN" altLang="en-US" sz="900" dirty="0"/>
          </a:p>
        </p:txBody>
      </p:sp>
      <p:sp>
        <p:nvSpPr>
          <p:cNvPr id="62" name="箭头: 右 61">
            <a:extLst>
              <a:ext uri="{FF2B5EF4-FFF2-40B4-BE49-F238E27FC236}">
                <a16:creationId xmlns:a16="http://schemas.microsoft.com/office/drawing/2014/main" id="{AA1BA02C-EF6D-4783-811D-4098D9460A24}"/>
              </a:ext>
            </a:extLst>
          </p:cNvPr>
          <p:cNvSpPr/>
          <p:nvPr/>
        </p:nvSpPr>
        <p:spPr>
          <a:xfrm rot="16200000" flipV="1">
            <a:off x="9768665" y="500817"/>
            <a:ext cx="879141" cy="2998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00" dirty="0"/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57A13FD0-7607-46C0-B213-2AFA190411AE}"/>
              </a:ext>
            </a:extLst>
          </p:cNvPr>
          <p:cNvCxnSpPr/>
          <p:nvPr/>
        </p:nvCxnSpPr>
        <p:spPr>
          <a:xfrm>
            <a:off x="2435556" y="2769870"/>
            <a:ext cx="8205768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1C67C4F9-6E98-45D0-89E2-94CCAA4CA0A0}"/>
              </a:ext>
            </a:extLst>
          </p:cNvPr>
          <p:cNvSpPr txBox="1"/>
          <p:nvPr/>
        </p:nvSpPr>
        <p:spPr>
          <a:xfrm>
            <a:off x="1835900" y="2565072"/>
            <a:ext cx="649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#RD</a:t>
            </a:r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85AD0A3-03B5-49DA-AB28-A6D9D4869374}"/>
              </a:ext>
            </a:extLst>
          </p:cNvPr>
          <p:cNvSpPr txBox="1"/>
          <p:nvPr/>
        </p:nvSpPr>
        <p:spPr>
          <a:xfrm>
            <a:off x="1835900" y="2843939"/>
            <a:ext cx="6990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#WR</a:t>
            </a:r>
            <a:endParaRPr lang="zh-CN" altLang="en-US" dirty="0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395A476A-49E8-4BEF-AD19-DF8C1DECA28F}"/>
              </a:ext>
            </a:extLst>
          </p:cNvPr>
          <p:cNvCxnSpPr/>
          <p:nvPr/>
        </p:nvCxnSpPr>
        <p:spPr>
          <a:xfrm>
            <a:off x="2440179" y="3049270"/>
            <a:ext cx="8205768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DB10FBD-37A5-455F-936A-7A4C21B9FEF3}"/>
              </a:ext>
            </a:extLst>
          </p:cNvPr>
          <p:cNvCxnSpPr>
            <a:cxnSpLocks/>
          </p:cNvCxnSpPr>
          <p:nvPr/>
        </p:nvCxnSpPr>
        <p:spPr>
          <a:xfrm flipV="1">
            <a:off x="5559139" y="2283500"/>
            <a:ext cx="2071" cy="48637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BCCC598B-1C76-46D1-A48B-1860B7051740}"/>
              </a:ext>
            </a:extLst>
          </p:cNvPr>
          <p:cNvCxnSpPr>
            <a:cxnSpLocks/>
          </p:cNvCxnSpPr>
          <p:nvPr/>
        </p:nvCxnSpPr>
        <p:spPr>
          <a:xfrm flipV="1">
            <a:off x="7572384" y="2273219"/>
            <a:ext cx="2071" cy="48637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C89D2048-3BD8-48BC-BFD7-EE551C241B72}"/>
              </a:ext>
            </a:extLst>
          </p:cNvPr>
          <p:cNvCxnSpPr>
            <a:cxnSpLocks/>
          </p:cNvCxnSpPr>
          <p:nvPr/>
        </p:nvCxnSpPr>
        <p:spPr>
          <a:xfrm flipV="1">
            <a:off x="10161619" y="2267362"/>
            <a:ext cx="2071" cy="48637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1486BC2A-EEF5-4993-98FB-14C5B6F9C645}"/>
              </a:ext>
            </a:extLst>
          </p:cNvPr>
          <p:cNvCxnSpPr>
            <a:cxnSpLocks/>
          </p:cNvCxnSpPr>
          <p:nvPr/>
        </p:nvCxnSpPr>
        <p:spPr>
          <a:xfrm flipV="1">
            <a:off x="6205462" y="2258387"/>
            <a:ext cx="0" cy="79088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C503D434-9C14-498A-A663-796E97189BC1}"/>
              </a:ext>
            </a:extLst>
          </p:cNvPr>
          <p:cNvCxnSpPr>
            <a:cxnSpLocks/>
          </p:cNvCxnSpPr>
          <p:nvPr/>
        </p:nvCxnSpPr>
        <p:spPr>
          <a:xfrm flipV="1">
            <a:off x="8099132" y="2258386"/>
            <a:ext cx="0" cy="79088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流程图: 接点 75">
            <a:extLst>
              <a:ext uri="{FF2B5EF4-FFF2-40B4-BE49-F238E27FC236}">
                <a16:creationId xmlns:a16="http://schemas.microsoft.com/office/drawing/2014/main" id="{F8E10599-BB6C-4957-8C42-D975A03875F1}"/>
              </a:ext>
            </a:extLst>
          </p:cNvPr>
          <p:cNvSpPr/>
          <p:nvPr/>
        </p:nvSpPr>
        <p:spPr>
          <a:xfrm>
            <a:off x="5511800" y="2702560"/>
            <a:ext cx="80147" cy="8014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流程图: 接点 76">
            <a:extLst>
              <a:ext uri="{FF2B5EF4-FFF2-40B4-BE49-F238E27FC236}">
                <a16:creationId xmlns:a16="http://schemas.microsoft.com/office/drawing/2014/main" id="{5D47DE52-1E76-47A1-833B-701B5AA3B084}"/>
              </a:ext>
            </a:extLst>
          </p:cNvPr>
          <p:cNvSpPr/>
          <p:nvPr/>
        </p:nvSpPr>
        <p:spPr>
          <a:xfrm>
            <a:off x="7532310" y="2717138"/>
            <a:ext cx="80147" cy="8014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流程图: 接点 77">
            <a:extLst>
              <a:ext uri="{FF2B5EF4-FFF2-40B4-BE49-F238E27FC236}">
                <a16:creationId xmlns:a16="http://schemas.microsoft.com/office/drawing/2014/main" id="{FBD30ABC-3DAF-4472-8C2A-310357F0F14C}"/>
              </a:ext>
            </a:extLst>
          </p:cNvPr>
          <p:cNvSpPr/>
          <p:nvPr/>
        </p:nvSpPr>
        <p:spPr>
          <a:xfrm>
            <a:off x="6165388" y="2993798"/>
            <a:ext cx="80147" cy="8014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流程图: 接点 78">
            <a:extLst>
              <a:ext uri="{FF2B5EF4-FFF2-40B4-BE49-F238E27FC236}">
                <a16:creationId xmlns:a16="http://schemas.microsoft.com/office/drawing/2014/main" id="{A21DAB04-13FD-4D1A-B2BA-F4D86BA59122}"/>
              </a:ext>
            </a:extLst>
          </p:cNvPr>
          <p:cNvSpPr/>
          <p:nvPr/>
        </p:nvSpPr>
        <p:spPr>
          <a:xfrm>
            <a:off x="8067544" y="3022903"/>
            <a:ext cx="80147" cy="8014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流程图: 接点 79">
            <a:extLst>
              <a:ext uri="{FF2B5EF4-FFF2-40B4-BE49-F238E27FC236}">
                <a16:creationId xmlns:a16="http://schemas.microsoft.com/office/drawing/2014/main" id="{D451A269-8578-41E2-8442-95C292E6ED05}"/>
              </a:ext>
            </a:extLst>
          </p:cNvPr>
          <p:cNvSpPr/>
          <p:nvPr/>
        </p:nvSpPr>
        <p:spPr>
          <a:xfrm>
            <a:off x="10121545" y="2729057"/>
            <a:ext cx="80147" cy="8014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流程图: 接点 80">
            <a:extLst>
              <a:ext uri="{FF2B5EF4-FFF2-40B4-BE49-F238E27FC236}">
                <a16:creationId xmlns:a16="http://schemas.microsoft.com/office/drawing/2014/main" id="{2C73CA08-3B9E-4A7E-9EF6-74CF6698B05E}"/>
              </a:ext>
            </a:extLst>
          </p:cNvPr>
          <p:cNvSpPr/>
          <p:nvPr/>
        </p:nvSpPr>
        <p:spPr>
          <a:xfrm>
            <a:off x="5396736" y="820782"/>
            <a:ext cx="80147" cy="8014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流程图: 接点 81">
            <a:extLst>
              <a:ext uri="{FF2B5EF4-FFF2-40B4-BE49-F238E27FC236}">
                <a16:creationId xmlns:a16="http://schemas.microsoft.com/office/drawing/2014/main" id="{92E762D2-49FA-456A-8097-9723FD8E7CD7}"/>
              </a:ext>
            </a:extLst>
          </p:cNvPr>
          <p:cNvSpPr/>
          <p:nvPr/>
        </p:nvSpPr>
        <p:spPr>
          <a:xfrm>
            <a:off x="7243462" y="805498"/>
            <a:ext cx="80147" cy="8014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6" name="连接符: 肘形 85">
            <a:extLst>
              <a:ext uri="{FF2B5EF4-FFF2-40B4-BE49-F238E27FC236}">
                <a16:creationId xmlns:a16="http://schemas.microsoft.com/office/drawing/2014/main" id="{F30BF5BE-9B97-43CB-A921-3F8338B6B6D0}"/>
              </a:ext>
            </a:extLst>
          </p:cNvPr>
          <p:cNvCxnSpPr>
            <a:stCxn id="15" idx="3"/>
            <a:endCxn id="38" idx="2"/>
          </p:cNvCxnSpPr>
          <p:nvPr/>
        </p:nvCxnSpPr>
        <p:spPr>
          <a:xfrm flipH="1" flipV="1">
            <a:off x="5149375" y="2293781"/>
            <a:ext cx="2492767" cy="2139282"/>
          </a:xfrm>
          <a:prstGeom prst="bentConnector4">
            <a:avLst>
              <a:gd name="adj1" fmla="val -9171"/>
              <a:gd name="adj2" fmla="val 54316"/>
            </a:avLst>
          </a:prstGeom>
          <a:ln w="1905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肘形 87">
            <a:extLst>
              <a:ext uri="{FF2B5EF4-FFF2-40B4-BE49-F238E27FC236}">
                <a16:creationId xmlns:a16="http://schemas.microsoft.com/office/drawing/2014/main" id="{68BEFEB6-237C-4A52-85E3-1B8DFDC5A4A3}"/>
              </a:ext>
            </a:extLst>
          </p:cNvPr>
          <p:cNvCxnSpPr>
            <a:stCxn id="17" idx="3"/>
            <a:endCxn id="41" idx="2"/>
          </p:cNvCxnSpPr>
          <p:nvPr/>
        </p:nvCxnSpPr>
        <p:spPr>
          <a:xfrm flipH="1" flipV="1">
            <a:off x="7001851" y="2312408"/>
            <a:ext cx="640291" cy="2510549"/>
          </a:xfrm>
          <a:prstGeom prst="bentConnector4">
            <a:avLst>
              <a:gd name="adj1" fmla="val -84100"/>
              <a:gd name="adj2" fmla="val 53678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肘形 90">
            <a:extLst>
              <a:ext uri="{FF2B5EF4-FFF2-40B4-BE49-F238E27FC236}">
                <a16:creationId xmlns:a16="http://schemas.microsoft.com/office/drawing/2014/main" id="{21A9A570-91EA-4EDA-821E-626C00EFC617}"/>
              </a:ext>
            </a:extLst>
          </p:cNvPr>
          <p:cNvCxnSpPr>
            <a:cxnSpLocks/>
            <a:stCxn id="19" idx="3"/>
            <a:endCxn id="99" idx="1"/>
          </p:cNvCxnSpPr>
          <p:nvPr/>
        </p:nvCxnSpPr>
        <p:spPr>
          <a:xfrm flipV="1">
            <a:off x="7642142" y="4007085"/>
            <a:ext cx="1259117" cy="147461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2F2E8F3C-5020-408A-8127-15BD86102329}"/>
              </a:ext>
            </a:extLst>
          </p:cNvPr>
          <p:cNvCxnSpPr>
            <a:cxnSpLocks/>
          </p:cNvCxnSpPr>
          <p:nvPr/>
        </p:nvCxnSpPr>
        <p:spPr>
          <a:xfrm>
            <a:off x="8573301" y="852024"/>
            <a:ext cx="0" cy="2995747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31CAF597-3E5E-492A-87AA-440646B5C4B0}"/>
              </a:ext>
            </a:extLst>
          </p:cNvPr>
          <p:cNvCxnSpPr>
            <a:cxnSpLocks/>
          </p:cNvCxnSpPr>
          <p:nvPr/>
        </p:nvCxnSpPr>
        <p:spPr>
          <a:xfrm>
            <a:off x="8573301" y="3838208"/>
            <a:ext cx="335326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流程图: 接点 96">
            <a:extLst>
              <a:ext uri="{FF2B5EF4-FFF2-40B4-BE49-F238E27FC236}">
                <a16:creationId xmlns:a16="http://schemas.microsoft.com/office/drawing/2014/main" id="{395FC17C-5DD1-4F5A-9E3E-436515BE4677}"/>
              </a:ext>
            </a:extLst>
          </p:cNvPr>
          <p:cNvSpPr/>
          <p:nvPr/>
        </p:nvSpPr>
        <p:spPr>
          <a:xfrm>
            <a:off x="8528711" y="789170"/>
            <a:ext cx="80147" cy="8014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77DF474D-2A06-45BA-9350-C23949D49CBF}"/>
              </a:ext>
            </a:extLst>
          </p:cNvPr>
          <p:cNvSpPr/>
          <p:nvPr/>
        </p:nvSpPr>
        <p:spPr>
          <a:xfrm>
            <a:off x="8901259" y="3778485"/>
            <a:ext cx="637552" cy="457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≥</a:t>
            </a:r>
            <a:r>
              <a:rPr lang="en-US" altLang="zh-CN" dirty="0"/>
              <a:t>1</a:t>
            </a:r>
            <a:endParaRPr lang="zh-CN" altLang="en-US" dirty="0"/>
          </a:p>
        </p:txBody>
      </p:sp>
      <p:cxnSp>
        <p:nvCxnSpPr>
          <p:cNvPr id="103" name="连接符: 肘形 102">
            <a:extLst>
              <a:ext uri="{FF2B5EF4-FFF2-40B4-BE49-F238E27FC236}">
                <a16:creationId xmlns:a16="http://schemas.microsoft.com/office/drawing/2014/main" id="{DE2ACFA9-ACA8-47FC-8282-09A273F6DB34}"/>
              </a:ext>
            </a:extLst>
          </p:cNvPr>
          <p:cNvCxnSpPr>
            <a:stCxn id="99" idx="3"/>
            <a:endCxn id="44" idx="2"/>
          </p:cNvCxnSpPr>
          <p:nvPr/>
        </p:nvCxnSpPr>
        <p:spPr>
          <a:xfrm flipH="1" flipV="1">
            <a:off x="9174691" y="2322251"/>
            <a:ext cx="364120" cy="1684834"/>
          </a:xfrm>
          <a:prstGeom prst="bentConnector4">
            <a:avLst>
              <a:gd name="adj1" fmla="val -62782"/>
              <a:gd name="adj2" fmla="val 39899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80FC90FE-8177-490C-A6F1-27DC7A356EC2}"/>
              </a:ext>
            </a:extLst>
          </p:cNvPr>
          <p:cNvSpPr txBox="1"/>
          <p:nvPr/>
        </p:nvSpPr>
        <p:spPr>
          <a:xfrm>
            <a:off x="1694627" y="3200967"/>
            <a:ext cx="837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IO/#M</a:t>
            </a:r>
            <a:endParaRPr lang="zh-CN" altLang="en-US" dirty="0"/>
          </a:p>
        </p:txBody>
      </p:sp>
      <p:sp>
        <p:nvSpPr>
          <p:cNvPr id="106" name="箭头: 左右 105">
            <a:extLst>
              <a:ext uri="{FF2B5EF4-FFF2-40B4-BE49-F238E27FC236}">
                <a16:creationId xmlns:a16="http://schemas.microsoft.com/office/drawing/2014/main" id="{5AFFE984-E34D-4366-939C-B0F952AEDD7C}"/>
              </a:ext>
            </a:extLst>
          </p:cNvPr>
          <p:cNvSpPr/>
          <p:nvPr/>
        </p:nvSpPr>
        <p:spPr>
          <a:xfrm>
            <a:off x="2657124" y="-26317"/>
            <a:ext cx="8138160" cy="324897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D0</a:t>
            </a:r>
            <a:r>
              <a:rPr lang="zh-CN" altLang="en-US" sz="1200" dirty="0"/>
              <a:t>到</a:t>
            </a:r>
            <a:r>
              <a:rPr lang="en-US" altLang="zh-CN" sz="1200" dirty="0"/>
              <a:t>D7</a:t>
            </a:r>
            <a:endParaRPr lang="zh-CN" altLang="en-US" sz="1200" dirty="0"/>
          </a:p>
        </p:txBody>
      </p:sp>
      <p:sp>
        <p:nvSpPr>
          <p:cNvPr id="107" name="箭头: 左右 106">
            <a:extLst>
              <a:ext uri="{FF2B5EF4-FFF2-40B4-BE49-F238E27FC236}">
                <a16:creationId xmlns:a16="http://schemas.microsoft.com/office/drawing/2014/main" id="{865FF9D9-A7EB-4783-AF81-09A92BCCE57D}"/>
              </a:ext>
            </a:extLst>
          </p:cNvPr>
          <p:cNvSpPr/>
          <p:nvPr/>
        </p:nvSpPr>
        <p:spPr>
          <a:xfrm rot="5400000">
            <a:off x="5599975" y="505564"/>
            <a:ext cx="869503" cy="287441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箭头: 左右 107">
            <a:extLst>
              <a:ext uri="{FF2B5EF4-FFF2-40B4-BE49-F238E27FC236}">
                <a16:creationId xmlns:a16="http://schemas.microsoft.com/office/drawing/2014/main" id="{1947CA14-AF84-43E4-A32F-FD2017A0C1B2}"/>
              </a:ext>
            </a:extLst>
          </p:cNvPr>
          <p:cNvSpPr/>
          <p:nvPr/>
        </p:nvSpPr>
        <p:spPr>
          <a:xfrm rot="5400000">
            <a:off x="7567567" y="528336"/>
            <a:ext cx="869503" cy="287441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47690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6DC7E2-C2D2-47E2-B6FA-6E1E35A1A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259" y="209326"/>
            <a:ext cx="10515600" cy="52476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zh-CN" sz="1800" dirty="0"/>
              <a:t>8088CPU, 74LS138, </a:t>
            </a:r>
            <a:r>
              <a:rPr lang="zh-CN" altLang="en-US" sz="1800" dirty="0"/>
              <a:t>两片</a:t>
            </a:r>
            <a:r>
              <a:rPr lang="en-US" altLang="zh-CN" sz="1800" dirty="0"/>
              <a:t>16Kx8b RAM</a:t>
            </a:r>
            <a:r>
              <a:rPr lang="zh-CN" altLang="en-US" sz="1800" dirty="0"/>
              <a:t>芯片地址范围设计在</a:t>
            </a:r>
            <a:r>
              <a:rPr lang="en-US" altLang="zh-CN" sz="1800" dirty="0"/>
              <a:t>80000H</a:t>
            </a:r>
            <a:r>
              <a:rPr lang="zh-CN" altLang="en-US" sz="1800" dirty="0"/>
              <a:t>到</a:t>
            </a:r>
            <a:r>
              <a:rPr lang="en-US" altLang="zh-CN" sz="1800" dirty="0"/>
              <a:t>87FFFH</a:t>
            </a:r>
            <a:r>
              <a:rPr lang="zh-CN" altLang="en-US" sz="1800" dirty="0"/>
              <a:t>，一片</a:t>
            </a:r>
            <a:r>
              <a:rPr lang="en-US" altLang="zh-CN" sz="1800" dirty="0"/>
              <a:t>8Kx8bROM</a:t>
            </a:r>
            <a:r>
              <a:rPr lang="zh-CN" altLang="en-US" sz="1800" dirty="0"/>
              <a:t>芯片地址范围设计在</a:t>
            </a:r>
            <a:r>
              <a:rPr lang="en-US" altLang="zh-CN" sz="1800" dirty="0"/>
              <a:t>88000H</a:t>
            </a:r>
            <a:r>
              <a:rPr lang="zh-CN" altLang="en-US" sz="1800" dirty="0"/>
              <a:t>到</a:t>
            </a:r>
            <a:r>
              <a:rPr lang="en-US" altLang="zh-CN" sz="1800" dirty="0"/>
              <a:t>89FFFH</a:t>
            </a:r>
            <a:r>
              <a:rPr lang="zh-CN" altLang="en-US" sz="1800" dirty="0"/>
              <a:t>，画出译码电路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81EDB826-2CEB-4DC4-84D4-7BACD44E3E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430147"/>
              </p:ext>
            </p:extLst>
          </p:nvPr>
        </p:nvGraphicFramePr>
        <p:xfrm>
          <a:off x="619259" y="734095"/>
          <a:ext cx="1027677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40">
                  <a:extLst>
                    <a:ext uri="{9D8B030D-6E8A-4147-A177-3AD203B41FA5}">
                      <a16:colId xmlns:a16="http://schemas.microsoft.com/office/drawing/2014/main" val="469625881"/>
                    </a:ext>
                  </a:extLst>
                </a:gridCol>
                <a:gridCol w="3519148">
                  <a:extLst>
                    <a:ext uri="{9D8B030D-6E8A-4147-A177-3AD203B41FA5}">
                      <a16:colId xmlns:a16="http://schemas.microsoft.com/office/drawing/2014/main" val="2404452605"/>
                    </a:ext>
                  </a:extLst>
                </a:gridCol>
                <a:gridCol w="2569194">
                  <a:extLst>
                    <a:ext uri="{9D8B030D-6E8A-4147-A177-3AD203B41FA5}">
                      <a16:colId xmlns:a16="http://schemas.microsoft.com/office/drawing/2014/main" val="3958469811"/>
                    </a:ext>
                  </a:extLst>
                </a:gridCol>
                <a:gridCol w="2569194">
                  <a:extLst>
                    <a:ext uri="{9D8B030D-6E8A-4147-A177-3AD203B41FA5}">
                      <a16:colId xmlns:a16="http://schemas.microsoft.com/office/drawing/2014/main" val="7310400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RAM</a:t>
                      </a:r>
                      <a:r>
                        <a:rPr lang="zh-CN" altLang="en-US" dirty="0"/>
                        <a:t>芯片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A19 A18 A17 A16 A15 A14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A13</a:t>
                      </a:r>
                      <a:r>
                        <a:rPr lang="zh-CN" altLang="en-US" dirty="0"/>
                        <a:t>～</a:t>
                      </a:r>
                      <a:r>
                        <a:rPr lang="en-US" altLang="zh-CN" dirty="0"/>
                        <a:t>A0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地址范围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701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RAM(1)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1 0 0 </a:t>
                      </a:r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0 0 0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全</a:t>
                      </a:r>
                      <a:r>
                        <a:rPr lang="en-US" altLang="zh-CN" dirty="0"/>
                        <a:t>0</a:t>
                      </a:r>
                      <a:r>
                        <a:rPr lang="zh-CN" altLang="en-US" dirty="0"/>
                        <a:t>到全</a:t>
                      </a:r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80000H</a:t>
                      </a:r>
                      <a:r>
                        <a:rPr lang="zh-CN" altLang="en-US" dirty="0"/>
                        <a:t>～</a:t>
                      </a:r>
                      <a:r>
                        <a:rPr lang="en-US" altLang="zh-CN" dirty="0"/>
                        <a:t>83FFFH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6832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RAM(2)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1 0 0 </a:t>
                      </a:r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0 0 1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全</a:t>
                      </a:r>
                      <a:r>
                        <a:rPr lang="en-US" altLang="zh-CN" dirty="0"/>
                        <a:t>0</a:t>
                      </a:r>
                      <a:r>
                        <a:rPr lang="zh-CN" altLang="en-US" dirty="0"/>
                        <a:t>到全</a:t>
                      </a:r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84000H</a:t>
                      </a:r>
                      <a:r>
                        <a:rPr lang="zh-CN" altLang="en-US" dirty="0"/>
                        <a:t>～</a:t>
                      </a:r>
                      <a:r>
                        <a:rPr lang="en-US" altLang="zh-CN" dirty="0"/>
                        <a:t>87FFFH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519680"/>
                  </a:ext>
                </a:extLst>
              </a:tr>
            </a:tbl>
          </a:graphicData>
        </a:graphic>
      </p:graphicFrame>
      <p:graphicFrame>
        <p:nvGraphicFramePr>
          <p:cNvPr id="8" name="表格 4">
            <a:extLst>
              <a:ext uri="{FF2B5EF4-FFF2-40B4-BE49-F238E27FC236}">
                <a16:creationId xmlns:a16="http://schemas.microsoft.com/office/drawing/2014/main" id="{B8714F3E-54E6-48E9-BDD0-6CB5FEC98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023162"/>
              </p:ext>
            </p:extLst>
          </p:nvPr>
        </p:nvGraphicFramePr>
        <p:xfrm>
          <a:off x="619259" y="2000544"/>
          <a:ext cx="10276776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40">
                  <a:extLst>
                    <a:ext uri="{9D8B030D-6E8A-4147-A177-3AD203B41FA5}">
                      <a16:colId xmlns:a16="http://schemas.microsoft.com/office/drawing/2014/main" val="469625881"/>
                    </a:ext>
                  </a:extLst>
                </a:gridCol>
                <a:gridCol w="3519148">
                  <a:extLst>
                    <a:ext uri="{9D8B030D-6E8A-4147-A177-3AD203B41FA5}">
                      <a16:colId xmlns:a16="http://schemas.microsoft.com/office/drawing/2014/main" val="2404452605"/>
                    </a:ext>
                  </a:extLst>
                </a:gridCol>
                <a:gridCol w="2569194">
                  <a:extLst>
                    <a:ext uri="{9D8B030D-6E8A-4147-A177-3AD203B41FA5}">
                      <a16:colId xmlns:a16="http://schemas.microsoft.com/office/drawing/2014/main" val="3958469811"/>
                    </a:ext>
                  </a:extLst>
                </a:gridCol>
                <a:gridCol w="2569194">
                  <a:extLst>
                    <a:ext uri="{9D8B030D-6E8A-4147-A177-3AD203B41FA5}">
                      <a16:colId xmlns:a16="http://schemas.microsoft.com/office/drawing/2014/main" val="7310400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ROM</a:t>
                      </a:r>
                      <a:r>
                        <a:rPr lang="zh-CN" altLang="en-US" dirty="0"/>
                        <a:t>芯片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A19 A18 A17 A16 A15 A14 A13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A12</a:t>
                      </a:r>
                      <a:r>
                        <a:rPr lang="zh-CN" altLang="en-US" dirty="0"/>
                        <a:t>～</a:t>
                      </a:r>
                      <a:r>
                        <a:rPr lang="en-US" altLang="zh-CN" dirty="0"/>
                        <a:t>A0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地址范围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701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ROM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1 0 0 </a:t>
                      </a:r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0 1 0 </a:t>
                      </a:r>
                      <a:r>
                        <a:rPr lang="en-US" altLang="zh-CN" dirty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全</a:t>
                      </a:r>
                      <a:r>
                        <a:rPr lang="en-US" altLang="zh-CN" dirty="0"/>
                        <a:t>0</a:t>
                      </a:r>
                      <a:r>
                        <a:rPr lang="zh-CN" altLang="en-US" dirty="0"/>
                        <a:t>到全</a:t>
                      </a:r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88000H</a:t>
                      </a:r>
                      <a:r>
                        <a:rPr lang="zh-CN" altLang="en-US" dirty="0"/>
                        <a:t>～</a:t>
                      </a:r>
                      <a:r>
                        <a:rPr lang="en-US" altLang="zh-CN" dirty="0"/>
                        <a:t>89FFFH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683251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AF13AFE3-1C63-463A-B1D8-104974FA27DA}"/>
              </a:ext>
            </a:extLst>
          </p:cNvPr>
          <p:cNvSpPr/>
          <p:nvPr/>
        </p:nvSpPr>
        <p:spPr>
          <a:xfrm>
            <a:off x="2968831" y="3517075"/>
            <a:ext cx="1525979" cy="23661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0449490-D737-4182-B52D-1D22BB4C7B73}"/>
              </a:ext>
            </a:extLst>
          </p:cNvPr>
          <p:cNvSpPr txBox="1"/>
          <p:nvPr/>
        </p:nvSpPr>
        <p:spPr>
          <a:xfrm>
            <a:off x="2968831" y="3541217"/>
            <a:ext cx="467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G1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32CBD8B-948C-404A-8D72-E5264F6F5D2C}"/>
              </a:ext>
            </a:extLst>
          </p:cNvPr>
          <p:cNvSpPr txBox="1"/>
          <p:nvPr/>
        </p:nvSpPr>
        <p:spPr>
          <a:xfrm>
            <a:off x="2968829" y="3785950"/>
            <a:ext cx="7718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#G2A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51BA265-E6F8-4C22-8662-173BEE891A58}"/>
              </a:ext>
            </a:extLst>
          </p:cNvPr>
          <p:cNvSpPr txBox="1"/>
          <p:nvPr/>
        </p:nvSpPr>
        <p:spPr>
          <a:xfrm>
            <a:off x="2968831" y="4030683"/>
            <a:ext cx="7718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#G2B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54233DD-D584-4EF4-817F-F633AC849F29}"/>
              </a:ext>
            </a:extLst>
          </p:cNvPr>
          <p:cNvSpPr txBox="1"/>
          <p:nvPr/>
        </p:nvSpPr>
        <p:spPr>
          <a:xfrm>
            <a:off x="2887187" y="4589858"/>
            <a:ext cx="467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69A013B-18D0-41D0-8364-6D835DEB3A6E}"/>
              </a:ext>
            </a:extLst>
          </p:cNvPr>
          <p:cNvSpPr txBox="1"/>
          <p:nvPr/>
        </p:nvSpPr>
        <p:spPr>
          <a:xfrm>
            <a:off x="2887186" y="4865452"/>
            <a:ext cx="467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4ADC12B-D418-493C-B3EB-BB9A607E7906}"/>
              </a:ext>
            </a:extLst>
          </p:cNvPr>
          <p:cNvSpPr txBox="1"/>
          <p:nvPr/>
        </p:nvSpPr>
        <p:spPr>
          <a:xfrm>
            <a:off x="2887185" y="5174866"/>
            <a:ext cx="467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3054D0D-55EC-4C66-8D0D-E0DEF25352CF}"/>
              </a:ext>
            </a:extLst>
          </p:cNvPr>
          <p:cNvSpPr txBox="1"/>
          <p:nvPr/>
        </p:nvSpPr>
        <p:spPr>
          <a:xfrm>
            <a:off x="2398446" y="4590596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A16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4947210-BB06-4932-A55B-69FA2CF8CE55}"/>
              </a:ext>
            </a:extLst>
          </p:cNvPr>
          <p:cNvSpPr txBox="1"/>
          <p:nvPr/>
        </p:nvSpPr>
        <p:spPr>
          <a:xfrm>
            <a:off x="2398445" y="4877328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A15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EBD52DBF-7C30-4ECE-8729-0C44156F02C2}"/>
              </a:ext>
            </a:extLst>
          </p:cNvPr>
          <p:cNvSpPr txBox="1"/>
          <p:nvPr/>
        </p:nvSpPr>
        <p:spPr>
          <a:xfrm>
            <a:off x="2398444" y="5175604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A14</a:t>
            </a:r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AAB05D4-9CC7-47B1-A931-A4A10F38ACB9}"/>
              </a:ext>
            </a:extLst>
          </p:cNvPr>
          <p:cNvSpPr txBox="1"/>
          <p:nvPr/>
        </p:nvSpPr>
        <p:spPr>
          <a:xfrm>
            <a:off x="4009409" y="3725883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#Y0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EB24733-2E5B-4785-93E6-5CDBC70BDA04}"/>
              </a:ext>
            </a:extLst>
          </p:cNvPr>
          <p:cNvSpPr txBox="1"/>
          <p:nvPr/>
        </p:nvSpPr>
        <p:spPr>
          <a:xfrm>
            <a:off x="4566433" y="3725883"/>
            <a:ext cx="15259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RAM(1) #CS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029372E-FE7F-4ABE-A042-B9896F7CF6E5}"/>
              </a:ext>
            </a:extLst>
          </p:cNvPr>
          <p:cNvSpPr txBox="1"/>
          <p:nvPr/>
        </p:nvSpPr>
        <p:spPr>
          <a:xfrm>
            <a:off x="4009409" y="4115777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#Y1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74AC40B-2E50-4C84-A01B-36F1BC7AD187}"/>
              </a:ext>
            </a:extLst>
          </p:cNvPr>
          <p:cNvSpPr txBox="1"/>
          <p:nvPr/>
        </p:nvSpPr>
        <p:spPr>
          <a:xfrm>
            <a:off x="4566433" y="4115777"/>
            <a:ext cx="15259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RAM(2) #CS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CE6BA00-4D88-4376-BB73-0BA21327E137}"/>
              </a:ext>
            </a:extLst>
          </p:cNvPr>
          <p:cNvSpPr txBox="1"/>
          <p:nvPr/>
        </p:nvSpPr>
        <p:spPr>
          <a:xfrm>
            <a:off x="4009409" y="4774524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#Y2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240E006-C177-45F8-9C17-191C09B20DBB}"/>
              </a:ext>
            </a:extLst>
          </p:cNvPr>
          <p:cNvSpPr txBox="1"/>
          <p:nvPr/>
        </p:nvSpPr>
        <p:spPr>
          <a:xfrm>
            <a:off x="4566433" y="4774524"/>
            <a:ext cx="15259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ROM #CS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A9EBC69-E20C-4707-869C-B285574D30FC}"/>
              </a:ext>
            </a:extLst>
          </p:cNvPr>
          <p:cNvSpPr txBox="1"/>
          <p:nvPr/>
        </p:nvSpPr>
        <p:spPr>
          <a:xfrm>
            <a:off x="2398444" y="3541217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A19</a:t>
            </a:r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15F856B-BE89-4BDD-AF1C-B99DDF763ED7}"/>
              </a:ext>
            </a:extLst>
          </p:cNvPr>
          <p:cNvSpPr/>
          <p:nvPr/>
        </p:nvSpPr>
        <p:spPr>
          <a:xfrm>
            <a:off x="1401293" y="3742015"/>
            <a:ext cx="637552" cy="457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≥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913E190-C2B4-4A81-86BA-54E6D0D36A43}"/>
              </a:ext>
            </a:extLst>
          </p:cNvPr>
          <p:cNvSpPr txBox="1"/>
          <p:nvPr/>
        </p:nvSpPr>
        <p:spPr>
          <a:xfrm>
            <a:off x="885826" y="3661351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A18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70D311F3-DD4D-4749-8322-C360F1407DAA}"/>
              </a:ext>
            </a:extLst>
          </p:cNvPr>
          <p:cNvSpPr txBox="1"/>
          <p:nvPr/>
        </p:nvSpPr>
        <p:spPr>
          <a:xfrm>
            <a:off x="888612" y="3858347"/>
            <a:ext cx="637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A17</a:t>
            </a:r>
            <a:endParaRPr lang="zh-CN" altLang="en-US" dirty="0"/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08D0245D-2DD6-440C-B16D-75E0D47D6DE4}"/>
              </a:ext>
            </a:extLst>
          </p:cNvPr>
          <p:cNvCxnSpPr>
            <a:stCxn id="27" idx="3"/>
            <a:endCxn id="12" idx="1"/>
          </p:cNvCxnSpPr>
          <p:nvPr/>
        </p:nvCxnSpPr>
        <p:spPr>
          <a:xfrm>
            <a:off x="2038845" y="3970615"/>
            <a:ext cx="929984" cy="1"/>
          </a:xfrm>
          <a:prstGeom prst="bentConnector3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8AC24236-9D31-4D87-92F7-1AF43F763901}"/>
              </a:ext>
            </a:extLst>
          </p:cNvPr>
          <p:cNvSpPr txBox="1"/>
          <p:nvPr/>
        </p:nvSpPr>
        <p:spPr>
          <a:xfrm>
            <a:off x="2190997" y="4019612"/>
            <a:ext cx="929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IO/#M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85348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ADE8492-FAA9-44BD-992E-59B10F47DE9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204" b="47315"/>
          <a:stretch/>
        </p:blipFill>
        <p:spPr>
          <a:xfrm>
            <a:off x="265367" y="152400"/>
            <a:ext cx="5519484" cy="3167153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68AEB65-AFB4-441F-AA28-34C107D78D4B}"/>
              </a:ext>
            </a:extLst>
          </p:cNvPr>
          <p:cNvSpPr txBox="1"/>
          <p:nvPr/>
        </p:nvSpPr>
        <p:spPr>
          <a:xfrm>
            <a:off x="7371605" y="291584"/>
            <a:ext cx="3315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/>
              <a:t>方式</a:t>
            </a:r>
            <a:r>
              <a:rPr lang="en-US" altLang="zh-CN"/>
              <a:t>2</a:t>
            </a:r>
            <a:r>
              <a:rPr lang="zh-CN" altLang="en-US"/>
              <a:t>，初值</a:t>
            </a:r>
            <a:r>
              <a:rPr lang="en-US" altLang="zh-CN"/>
              <a:t>1000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8203FB0-14CC-44CC-9648-3E5B437994C7}"/>
              </a:ext>
            </a:extLst>
          </p:cNvPr>
          <p:cNvSpPr txBox="1"/>
          <p:nvPr/>
        </p:nvSpPr>
        <p:spPr>
          <a:xfrm>
            <a:off x="7371605" y="761484"/>
            <a:ext cx="331544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初始化程序：</a:t>
            </a:r>
            <a:endParaRPr lang="en-US" altLang="zh-CN" dirty="0"/>
          </a:p>
          <a:p>
            <a:r>
              <a:rPr lang="en-US" altLang="zh-CN" dirty="0"/>
              <a:t>1</a:t>
            </a:r>
            <a:r>
              <a:rPr lang="zh-CN" altLang="en-US" dirty="0"/>
              <a:t>、写入方式选择控制字</a:t>
            </a:r>
            <a:endParaRPr lang="en-US" altLang="zh-CN" dirty="0"/>
          </a:p>
          <a:p>
            <a:r>
              <a:rPr lang="en-US" altLang="zh-CN" dirty="0"/>
              <a:t>2</a:t>
            </a:r>
            <a:r>
              <a:rPr lang="zh-CN" altLang="en-US" dirty="0"/>
              <a:t>、写入计数初值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十进制计数：</a:t>
            </a:r>
            <a:r>
              <a:rPr lang="en-US" altLang="zh-CN" dirty="0"/>
              <a:t>00100101, 25H</a:t>
            </a:r>
          </a:p>
          <a:p>
            <a:r>
              <a:rPr lang="zh-CN" altLang="en-US" dirty="0"/>
              <a:t>二进制计数：</a:t>
            </a:r>
            <a:r>
              <a:rPr lang="en-US" altLang="zh-CN" dirty="0"/>
              <a:t>00110100</a:t>
            </a:r>
            <a:r>
              <a:rPr lang="zh-CN" altLang="en-US" dirty="0"/>
              <a:t>，</a:t>
            </a:r>
            <a:r>
              <a:rPr lang="en-US" altLang="zh-CN" dirty="0"/>
              <a:t>34H</a:t>
            </a:r>
          </a:p>
          <a:p>
            <a:endParaRPr lang="en-US" altLang="zh-CN" dirty="0"/>
          </a:p>
          <a:p>
            <a:r>
              <a:rPr lang="en-US" altLang="zh-CN" dirty="0"/>
              <a:t>;</a:t>
            </a:r>
            <a:r>
              <a:rPr lang="zh-CN" altLang="en-US" dirty="0"/>
              <a:t>写入方式选择控制字</a:t>
            </a:r>
            <a:endParaRPr lang="en-US" altLang="zh-CN" dirty="0"/>
          </a:p>
          <a:p>
            <a:r>
              <a:rPr lang="en-US" altLang="zh-CN" dirty="0"/>
              <a:t>MOV DX, 203H</a:t>
            </a:r>
          </a:p>
          <a:p>
            <a:r>
              <a:rPr lang="en-US" altLang="zh-CN" dirty="0"/>
              <a:t>MOV AL, 25H ;</a:t>
            </a:r>
            <a:r>
              <a:rPr lang="zh-CN" altLang="en-US" dirty="0"/>
              <a:t>十进制</a:t>
            </a:r>
            <a:endParaRPr lang="en-US" altLang="zh-CN" dirty="0"/>
          </a:p>
          <a:p>
            <a:r>
              <a:rPr lang="en-US" altLang="zh-CN" dirty="0"/>
              <a:t>OUT DX, AL</a:t>
            </a:r>
          </a:p>
          <a:p>
            <a:endParaRPr lang="en-US" altLang="zh-CN" dirty="0"/>
          </a:p>
          <a:p>
            <a:r>
              <a:rPr lang="en-US" altLang="zh-CN" dirty="0"/>
              <a:t>;</a:t>
            </a:r>
            <a:r>
              <a:rPr lang="zh-CN" altLang="en-US" dirty="0"/>
              <a:t>写入计数初值</a:t>
            </a:r>
            <a:endParaRPr lang="en-US" altLang="zh-CN" dirty="0"/>
          </a:p>
          <a:p>
            <a:r>
              <a:rPr lang="en-US" altLang="zh-CN" dirty="0"/>
              <a:t>MOV DX, 200H</a:t>
            </a:r>
          </a:p>
          <a:p>
            <a:r>
              <a:rPr lang="en-US" altLang="zh-CN" dirty="0"/>
              <a:t>MOV AL, 10H ;</a:t>
            </a:r>
            <a:r>
              <a:rPr lang="zh-CN" altLang="en-US" dirty="0"/>
              <a:t>十进制</a:t>
            </a:r>
            <a:endParaRPr lang="en-US" altLang="zh-CN" dirty="0"/>
          </a:p>
          <a:p>
            <a:r>
              <a:rPr lang="en-US" altLang="zh-CN" dirty="0"/>
              <a:t>OUT DX, AL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B90B1D8-AFC3-4033-A750-62E0B56E6662}"/>
              </a:ext>
            </a:extLst>
          </p:cNvPr>
          <p:cNvSpPr txBox="1"/>
          <p:nvPr/>
        </p:nvSpPr>
        <p:spPr>
          <a:xfrm>
            <a:off x="2063750" y="3319553"/>
            <a:ext cx="372110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;</a:t>
            </a:r>
            <a:r>
              <a:rPr lang="zh-CN" altLang="en-US" dirty="0"/>
              <a:t>写入方式选择控制字</a:t>
            </a:r>
            <a:endParaRPr lang="en-US" altLang="zh-CN" dirty="0"/>
          </a:p>
          <a:p>
            <a:r>
              <a:rPr lang="en-US" altLang="zh-CN" dirty="0"/>
              <a:t>MOV DX, 203H</a:t>
            </a:r>
          </a:p>
          <a:p>
            <a:r>
              <a:rPr lang="en-US" altLang="zh-CN" dirty="0"/>
              <a:t>MOV AL, 34H ;</a:t>
            </a:r>
            <a:r>
              <a:rPr lang="zh-CN" altLang="en-US" dirty="0"/>
              <a:t>二进制</a:t>
            </a:r>
            <a:endParaRPr lang="en-US" altLang="zh-CN" dirty="0"/>
          </a:p>
          <a:p>
            <a:r>
              <a:rPr lang="en-US" altLang="zh-CN" dirty="0"/>
              <a:t>OUT DX, AL</a:t>
            </a:r>
          </a:p>
          <a:p>
            <a:endParaRPr lang="en-US" altLang="zh-CN" dirty="0"/>
          </a:p>
          <a:p>
            <a:r>
              <a:rPr lang="en-US" altLang="zh-CN" dirty="0"/>
              <a:t>;</a:t>
            </a:r>
            <a:r>
              <a:rPr lang="zh-CN" altLang="en-US" dirty="0"/>
              <a:t>写入计数初值</a:t>
            </a:r>
            <a:endParaRPr lang="en-US" altLang="zh-CN" dirty="0"/>
          </a:p>
          <a:p>
            <a:r>
              <a:rPr lang="en-US" altLang="zh-CN" dirty="0"/>
              <a:t>MOV DX, 200H</a:t>
            </a:r>
          </a:p>
          <a:p>
            <a:r>
              <a:rPr lang="en-US" altLang="zh-CN" dirty="0"/>
              <a:t>MOV AX, 1000;</a:t>
            </a:r>
          </a:p>
          <a:p>
            <a:r>
              <a:rPr lang="en-US" altLang="zh-CN" dirty="0"/>
              <a:t>OUT DX, AL ;</a:t>
            </a:r>
            <a:r>
              <a:rPr lang="zh-CN" altLang="en-US" dirty="0"/>
              <a:t>写低</a:t>
            </a:r>
            <a:r>
              <a:rPr lang="en-US" altLang="zh-CN" dirty="0"/>
              <a:t>8</a:t>
            </a:r>
            <a:r>
              <a:rPr lang="zh-CN" altLang="en-US" dirty="0"/>
              <a:t>位计数初值</a:t>
            </a:r>
            <a:endParaRPr lang="en-US" altLang="zh-CN" dirty="0"/>
          </a:p>
          <a:p>
            <a:r>
              <a:rPr lang="en-US" altLang="zh-CN" dirty="0"/>
              <a:t>MOV AL, AH</a:t>
            </a:r>
          </a:p>
          <a:p>
            <a:r>
              <a:rPr lang="en-US" altLang="zh-CN" dirty="0"/>
              <a:t>OUT DX, AL ;</a:t>
            </a:r>
            <a:r>
              <a:rPr lang="zh-CN" altLang="en-US" dirty="0"/>
              <a:t>写高</a:t>
            </a:r>
            <a:r>
              <a:rPr lang="en-US" altLang="zh-CN" dirty="0"/>
              <a:t>8</a:t>
            </a:r>
            <a:r>
              <a:rPr lang="zh-CN" altLang="en-US" dirty="0"/>
              <a:t>位计数初值</a:t>
            </a:r>
          </a:p>
        </p:txBody>
      </p:sp>
    </p:spTree>
    <p:extLst>
      <p:ext uri="{BB962C8B-B14F-4D97-AF65-F5344CB8AC3E}">
        <p14:creationId xmlns:p14="http://schemas.microsoft.com/office/powerpoint/2010/main" val="1881695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397</Words>
  <Application>Microsoft Office PowerPoint</Application>
  <PresentationFormat>宽屏</PresentationFormat>
  <Paragraphs>120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jihui han</dc:creator>
  <cp:lastModifiedBy>jihui han</cp:lastModifiedBy>
  <cp:revision>9</cp:revision>
  <dcterms:created xsi:type="dcterms:W3CDTF">2022-11-11T00:40:58Z</dcterms:created>
  <dcterms:modified xsi:type="dcterms:W3CDTF">2022-11-11T01:57:48Z</dcterms:modified>
</cp:coreProperties>
</file>