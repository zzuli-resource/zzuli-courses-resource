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5"/>
  </p:notesMasterIdLst>
  <p:sldIdLst>
    <p:sldId id="256" r:id="rId2"/>
    <p:sldId id="387" r:id="rId3"/>
    <p:sldId id="388" r:id="rId4"/>
    <p:sldId id="389" r:id="rId5"/>
    <p:sldId id="391" r:id="rId6"/>
    <p:sldId id="392" r:id="rId7"/>
    <p:sldId id="393" r:id="rId8"/>
    <p:sldId id="394" r:id="rId9"/>
    <p:sldId id="395" r:id="rId10"/>
    <p:sldId id="397" r:id="rId11"/>
    <p:sldId id="398" r:id="rId12"/>
    <p:sldId id="399" r:id="rId13"/>
    <p:sldId id="400" r:id="rId14"/>
    <p:sldId id="401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409" r:id="rId23"/>
    <p:sldId id="410" r:id="rId24"/>
    <p:sldId id="411" r:id="rId25"/>
    <p:sldId id="412" r:id="rId26"/>
    <p:sldId id="413" r:id="rId27"/>
    <p:sldId id="414" r:id="rId28"/>
    <p:sldId id="416" r:id="rId29"/>
    <p:sldId id="415" r:id="rId30"/>
    <p:sldId id="417" r:id="rId31"/>
    <p:sldId id="418" r:id="rId32"/>
    <p:sldId id="419" r:id="rId33"/>
    <p:sldId id="420" r:id="rId34"/>
    <p:sldId id="421" r:id="rId35"/>
    <p:sldId id="422" r:id="rId36"/>
    <p:sldId id="423" r:id="rId37"/>
    <p:sldId id="424" r:id="rId38"/>
    <p:sldId id="425" r:id="rId39"/>
    <p:sldId id="426" r:id="rId40"/>
    <p:sldId id="427" r:id="rId41"/>
    <p:sldId id="428" r:id="rId42"/>
    <p:sldId id="429" r:id="rId43"/>
    <p:sldId id="430" r:id="rId44"/>
    <p:sldId id="431" r:id="rId45"/>
    <p:sldId id="432" r:id="rId46"/>
    <p:sldId id="433" r:id="rId47"/>
    <p:sldId id="434" r:id="rId48"/>
    <p:sldId id="435" r:id="rId49"/>
    <p:sldId id="436" r:id="rId50"/>
    <p:sldId id="437" r:id="rId51"/>
    <p:sldId id="438" r:id="rId52"/>
    <p:sldId id="439" r:id="rId53"/>
    <p:sldId id="440" r:id="rId54"/>
    <p:sldId id="441" r:id="rId55"/>
    <p:sldId id="442" r:id="rId56"/>
    <p:sldId id="443" r:id="rId57"/>
    <p:sldId id="444" r:id="rId58"/>
    <p:sldId id="445" r:id="rId59"/>
    <p:sldId id="446" r:id="rId60"/>
    <p:sldId id="447" r:id="rId61"/>
    <p:sldId id="448" r:id="rId62"/>
    <p:sldId id="449" r:id="rId63"/>
    <p:sldId id="450" r:id="rId64"/>
    <p:sldId id="451" r:id="rId65"/>
    <p:sldId id="452" r:id="rId66"/>
    <p:sldId id="453" r:id="rId67"/>
    <p:sldId id="454" r:id="rId68"/>
    <p:sldId id="455" r:id="rId69"/>
    <p:sldId id="456" r:id="rId70"/>
    <p:sldId id="457" r:id="rId71"/>
    <p:sldId id="458" r:id="rId72"/>
    <p:sldId id="459" r:id="rId73"/>
    <p:sldId id="460" r:id="rId74"/>
    <p:sldId id="461" r:id="rId75"/>
    <p:sldId id="462" r:id="rId76"/>
    <p:sldId id="463" r:id="rId77"/>
    <p:sldId id="464" r:id="rId78"/>
    <p:sldId id="465" r:id="rId79"/>
    <p:sldId id="466" r:id="rId80"/>
    <p:sldId id="467" r:id="rId81"/>
    <p:sldId id="468" r:id="rId82"/>
    <p:sldId id="469" r:id="rId83"/>
    <p:sldId id="470" r:id="rId84"/>
    <p:sldId id="471" r:id="rId85"/>
    <p:sldId id="472" r:id="rId86"/>
    <p:sldId id="473" r:id="rId87"/>
    <p:sldId id="474" r:id="rId88"/>
    <p:sldId id="476" r:id="rId89"/>
    <p:sldId id="477" r:id="rId90"/>
    <p:sldId id="478" r:id="rId91"/>
    <p:sldId id="479" r:id="rId92"/>
    <p:sldId id="480" r:id="rId93"/>
    <p:sldId id="481" r:id="rId94"/>
    <p:sldId id="482" r:id="rId95"/>
    <p:sldId id="483" r:id="rId96"/>
    <p:sldId id="484" r:id="rId97"/>
    <p:sldId id="485" r:id="rId98"/>
    <p:sldId id="486" r:id="rId99"/>
    <p:sldId id="487" r:id="rId100"/>
    <p:sldId id="488" r:id="rId101"/>
    <p:sldId id="489" r:id="rId102"/>
    <p:sldId id="490" r:id="rId103"/>
    <p:sldId id="491" r:id="rId104"/>
    <p:sldId id="492" r:id="rId105"/>
    <p:sldId id="493" r:id="rId106"/>
    <p:sldId id="494" r:id="rId107"/>
    <p:sldId id="495" r:id="rId108"/>
    <p:sldId id="496" r:id="rId109"/>
    <p:sldId id="497" r:id="rId110"/>
    <p:sldId id="498" r:id="rId111"/>
    <p:sldId id="499" r:id="rId112"/>
    <p:sldId id="500" r:id="rId113"/>
    <p:sldId id="501" r:id="rId114"/>
    <p:sldId id="502" r:id="rId115"/>
    <p:sldId id="503" r:id="rId116"/>
    <p:sldId id="504" r:id="rId117"/>
    <p:sldId id="505" r:id="rId118"/>
    <p:sldId id="506" r:id="rId119"/>
    <p:sldId id="507" r:id="rId120"/>
    <p:sldId id="508" r:id="rId121"/>
    <p:sldId id="509" r:id="rId122"/>
    <p:sldId id="510" r:id="rId123"/>
    <p:sldId id="511" r:id="rId124"/>
    <p:sldId id="512" r:id="rId125"/>
    <p:sldId id="513" r:id="rId126"/>
    <p:sldId id="514" r:id="rId127"/>
    <p:sldId id="515" r:id="rId128"/>
    <p:sldId id="516" r:id="rId129"/>
    <p:sldId id="517" r:id="rId130"/>
    <p:sldId id="518" r:id="rId131"/>
    <p:sldId id="519" r:id="rId132"/>
    <p:sldId id="521" r:id="rId133"/>
    <p:sldId id="520" r:id="rId13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84032" autoAdjust="0"/>
  </p:normalViewPr>
  <p:slideViewPr>
    <p:cSldViewPr snapToGrid="0">
      <p:cViewPr varScale="1">
        <p:scale>
          <a:sx n="66" d="100"/>
          <a:sy n="66" d="100"/>
        </p:scale>
        <p:origin x="90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9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7AF06-B910-4FC9-9BDF-444651DFDC50}" type="datetimeFigureOut">
              <a:rPr lang="zh-CN" altLang="en-US" smtClean="0"/>
              <a:t>2023/1/9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81490-3D7F-4885-8672-336239E0E6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475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程序</a:t>
            </a:r>
            <a:r>
              <a:rPr lang="en-US" altLang="zh-CN" dirty="0"/>
              <a:t>-&gt;</a:t>
            </a:r>
            <a:r>
              <a:rPr lang="zh-CN" altLang="en-US" dirty="0"/>
              <a:t>指令集合</a:t>
            </a:r>
            <a:r>
              <a:rPr lang="en-US" altLang="zh-CN" dirty="0"/>
              <a:t>-&gt;</a:t>
            </a:r>
            <a:r>
              <a:rPr lang="zh-CN" altLang="en-US" dirty="0"/>
              <a:t>机器码</a:t>
            </a:r>
            <a:r>
              <a:rPr lang="en-US" altLang="zh-CN" dirty="0"/>
              <a:t>-&gt;</a:t>
            </a:r>
            <a:r>
              <a:rPr lang="zh-CN" altLang="en-US" dirty="0"/>
              <a:t>助记符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54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900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911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47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强调立即数不能作为目标操作数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强调字数据传送方式，即高地址到高字节，低地址到低字节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强调操作数字长要匹配，不能超出范围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162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强调字长匹配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858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774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68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05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3575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822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571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968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9001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除了</a:t>
            </a:r>
            <a:r>
              <a:rPr lang="en-US" altLang="zh-CN" dirty="0" err="1"/>
              <a:t>dst</a:t>
            </a:r>
            <a:r>
              <a:rPr lang="zh-CN" altLang="en-US" dirty="0"/>
              <a:t>不可以是立即数之外，源和目的操作数都支持所有的寻址方式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3471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667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7098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6107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堆栈段段基址由段寄存器 </a:t>
            </a:r>
            <a:r>
              <a:rPr lang="en-US" altLang="zh-CN" dirty="0"/>
              <a:t>SS </a:t>
            </a:r>
            <a:r>
              <a:rPr lang="zh-CN" altLang="en-US" dirty="0"/>
              <a:t>确定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堆栈大小由用户指定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堆栈指针 </a:t>
            </a:r>
            <a:r>
              <a:rPr lang="en-US" altLang="zh-CN" dirty="0"/>
              <a:t>SP </a:t>
            </a:r>
            <a:r>
              <a:rPr lang="zh-CN" altLang="en-US" dirty="0"/>
              <a:t>始终指向栈顶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5369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6834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7399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6815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3705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6693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7025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7119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Ji </a:t>
            </a:r>
            <a:r>
              <a:rPr lang="en-US" altLang="zh-CN" dirty="0" err="1"/>
              <a:t>suan</a:t>
            </a:r>
            <a:r>
              <a:rPr lang="en-US" altLang="zh-CN"/>
              <a:t> ji here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0325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0161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2724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3992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9969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2266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因为表内偏移量用</a:t>
            </a:r>
            <a:r>
              <a:rPr lang="en-US" altLang="zh-CN" dirty="0"/>
              <a:t>AL</a:t>
            </a:r>
            <a:r>
              <a:rPr lang="zh-CN" altLang="en-US" dirty="0"/>
              <a:t>，为</a:t>
            </a:r>
            <a:r>
              <a:rPr lang="en-US" altLang="zh-CN" dirty="0"/>
              <a:t>8</a:t>
            </a:r>
            <a:r>
              <a:rPr lang="zh-CN" altLang="en-US" dirty="0"/>
              <a:t>位寄存器，所以利用</a:t>
            </a:r>
            <a:r>
              <a:rPr lang="en-US" altLang="zh-CN" dirty="0"/>
              <a:t>XLAT</a:t>
            </a:r>
            <a:r>
              <a:rPr lang="zh-CN" altLang="en-US" dirty="0"/>
              <a:t>指令查表，表最大长度不超过</a:t>
            </a:r>
            <a:r>
              <a:rPr lang="en-US" altLang="zh-CN" dirty="0"/>
              <a:t>256B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8027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7418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5998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</a:rPr>
              <a:t>若执行前，</a:t>
            </a:r>
            <a:r>
              <a:rPr lang="en-US" altLang="zh-CN" sz="1200" dirty="0">
                <a:solidFill>
                  <a:schemeClr val="tx1"/>
                </a:solidFill>
              </a:rPr>
              <a:t>AX=1234H</a:t>
            </a:r>
            <a:r>
              <a:rPr lang="zh-CN" altLang="en-US" sz="1200" dirty="0">
                <a:solidFill>
                  <a:schemeClr val="tx1"/>
                </a:solidFill>
              </a:rPr>
              <a:t>，则</a:t>
            </a:r>
            <a:r>
              <a:rPr lang="en-US" altLang="zh-CN" sz="1200" dirty="0">
                <a:solidFill>
                  <a:schemeClr val="tx1"/>
                </a:solidFill>
              </a:rPr>
              <a:t>(87H)=12H, (86H)=34H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2076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30508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1871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2851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5007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5052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6920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8427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主要用于多字节数相减运算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757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1275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chemeClr val="tx1"/>
                </a:solidFill>
              </a:rPr>
              <a:t>8086/8088</a:t>
            </a:r>
            <a:r>
              <a:rPr lang="zh-CN" altLang="en-US" sz="1200" dirty="0">
                <a:solidFill>
                  <a:schemeClr val="tx1"/>
                </a:solidFill>
              </a:rPr>
              <a:t>针对带符号数和无符号数有专门的判断指令，在</a:t>
            </a:r>
            <a:r>
              <a:rPr lang="en-US" altLang="zh-CN" sz="1200" dirty="0">
                <a:solidFill>
                  <a:schemeClr val="tx1"/>
                </a:solidFill>
              </a:rPr>
              <a:t>CMP</a:t>
            </a:r>
            <a:r>
              <a:rPr lang="zh-CN" altLang="en-US" sz="1200" dirty="0">
                <a:solidFill>
                  <a:schemeClr val="tx1"/>
                </a:solidFill>
              </a:rPr>
              <a:t>指令后用正确的判断指令即可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0239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err="1">
                <a:solidFill>
                  <a:schemeClr val="tx1"/>
                </a:solidFill>
              </a:rPr>
              <a:t>dst</a:t>
            </a:r>
            <a:r>
              <a:rPr lang="en-US" altLang="zh-CN" sz="1200" dirty="0">
                <a:solidFill>
                  <a:schemeClr val="tx1"/>
                </a:solidFill>
              </a:rPr>
              <a:t>=80H</a:t>
            </a:r>
            <a:r>
              <a:rPr lang="zh-CN" altLang="en-US" sz="1200" dirty="0">
                <a:solidFill>
                  <a:schemeClr val="tx1"/>
                </a:solidFill>
              </a:rPr>
              <a:t>或</a:t>
            </a:r>
            <a:r>
              <a:rPr lang="en-US" altLang="zh-CN" sz="1200" dirty="0">
                <a:solidFill>
                  <a:schemeClr val="tx1"/>
                </a:solidFill>
              </a:rPr>
              <a:t>8000H</a:t>
            </a:r>
            <a:r>
              <a:rPr lang="zh-CN" altLang="en-US" sz="1200" dirty="0">
                <a:solidFill>
                  <a:schemeClr val="tx1"/>
                </a:solidFill>
              </a:rPr>
              <a:t>时，执行指令后</a:t>
            </a:r>
            <a:r>
              <a:rPr lang="en-US" altLang="zh-CN" sz="1200" dirty="0" err="1">
                <a:solidFill>
                  <a:schemeClr val="tx1"/>
                </a:solidFill>
              </a:rPr>
              <a:t>dst</a:t>
            </a:r>
            <a:r>
              <a:rPr lang="zh-CN" altLang="en-US" sz="1200" dirty="0">
                <a:solidFill>
                  <a:schemeClr val="tx1"/>
                </a:solidFill>
              </a:rPr>
              <a:t>不变，但</a:t>
            </a:r>
            <a:r>
              <a:rPr lang="en-US" altLang="zh-CN" sz="1200" dirty="0">
                <a:solidFill>
                  <a:schemeClr val="tx1"/>
                </a:solidFill>
              </a:rPr>
              <a:t>OF</a:t>
            </a:r>
            <a:r>
              <a:rPr lang="zh-CN" altLang="en-US" sz="1200" dirty="0">
                <a:solidFill>
                  <a:schemeClr val="tx1"/>
                </a:solidFill>
              </a:rPr>
              <a:t>置</a:t>
            </a:r>
            <a:r>
              <a:rPr lang="en-US" altLang="zh-CN" sz="1200" dirty="0">
                <a:solidFill>
                  <a:schemeClr val="tx1"/>
                </a:solidFill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9332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48377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38948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7153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81788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21477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15734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82036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5984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Consolas" panose="020B0609020204030204" pitchFamily="49" charset="0"/>
                <a:ea typeface="黑体" panose="02010609060101010101" pitchFamily="49" charset="-122"/>
              </a:rPr>
              <a:t>所有但操作数指令都要求操作数不能是立即数，若是存储器操作数，需要声明操作数的字长</a:t>
            </a:r>
            <a:endParaRPr lang="en-US" altLang="zh-CN" sz="1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/>
              <a:t>乘法运算中：乘积是乘数的双倍字长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除法指令要求被除数是除数的双倍字长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25417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8637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56660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92917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55543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48647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03799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40463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03082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12399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可见左移</a:t>
            </a:r>
            <a:r>
              <a:rPr lang="en-US" altLang="zh-CN" dirty="0"/>
              <a:t>1</a:t>
            </a:r>
            <a:r>
              <a:rPr lang="zh-CN" altLang="en-US" dirty="0"/>
              <a:t>位相当于原数值乘</a:t>
            </a:r>
            <a:r>
              <a:rPr lang="en-US" altLang="zh-CN" dirty="0"/>
              <a:t>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81840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可见右移</a:t>
            </a:r>
            <a:r>
              <a:rPr lang="en-US" altLang="zh-CN" dirty="0"/>
              <a:t>1</a:t>
            </a:r>
            <a:r>
              <a:rPr lang="zh-CN" altLang="en-US" dirty="0"/>
              <a:t>位相当于原数值除以</a:t>
            </a:r>
            <a:r>
              <a:rPr lang="en-US" altLang="zh-CN" dirty="0"/>
              <a:t>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25218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可见右移</a:t>
            </a:r>
            <a:r>
              <a:rPr lang="en-US" altLang="zh-CN" dirty="0"/>
              <a:t>1</a:t>
            </a:r>
            <a:r>
              <a:rPr lang="zh-CN" altLang="en-US" dirty="0"/>
              <a:t>位相当于原数值除以</a:t>
            </a:r>
            <a:r>
              <a:rPr lang="en-US" altLang="zh-CN" dirty="0"/>
              <a:t>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58230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可见以上指令实际上完成的是   </a:t>
            </a:r>
            <a:r>
              <a:rPr lang="en-US" altLang="zh-CN" dirty="0"/>
              <a:t>-20÷4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如果将</a:t>
            </a:r>
            <a:r>
              <a:rPr lang="en-US" altLang="zh-CN" dirty="0" err="1"/>
              <a:t>dest</a:t>
            </a:r>
            <a:r>
              <a:rPr lang="zh-CN" altLang="en-US" dirty="0"/>
              <a:t>看成有符号操作数，算术右移</a:t>
            </a:r>
            <a:r>
              <a:rPr lang="en-US" altLang="zh-CN" dirty="0"/>
              <a:t>1</a:t>
            </a:r>
            <a:r>
              <a:rPr lang="zh-CN" altLang="en-US" dirty="0"/>
              <a:t>次相当于有符号数除</a:t>
            </a:r>
            <a:r>
              <a:rPr lang="en-US" altLang="zh-CN" dirty="0"/>
              <a:t>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34175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37108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52489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57447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63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81961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2430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032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45362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81636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57772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0666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7550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97610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49310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282294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</a:rPr>
              <a:t>注意：</a:t>
            </a:r>
            <a:r>
              <a:rPr lang="en-US" altLang="zh-CN" sz="1200" dirty="0">
                <a:solidFill>
                  <a:schemeClr val="tx1"/>
                </a:solidFill>
              </a:rPr>
              <a:t>REP</a:t>
            </a:r>
            <a:r>
              <a:rPr lang="zh-CN" altLang="en-US" sz="1200" dirty="0">
                <a:solidFill>
                  <a:schemeClr val="tx1"/>
                </a:solidFill>
              </a:rPr>
              <a:t>不影响任何标志位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30463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84611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31081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4580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996793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38427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51385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37132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675823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60118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72431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54255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125137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chemeClr val="tx1"/>
                </a:solidFill>
              </a:rPr>
              <a:t>P93 </a:t>
            </a:r>
            <a:r>
              <a:rPr lang="zh-CN" altLang="en-US" sz="1200" dirty="0">
                <a:solidFill>
                  <a:schemeClr val="tx1"/>
                </a:solidFill>
              </a:rPr>
              <a:t>例</a:t>
            </a:r>
            <a:r>
              <a:rPr lang="en-US" altLang="zh-CN" sz="1200" dirty="0">
                <a:solidFill>
                  <a:schemeClr val="tx1"/>
                </a:solidFill>
              </a:rPr>
              <a:t>3.68,3.69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95494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675813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380095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P95</a:t>
            </a:r>
            <a:r>
              <a:rPr lang="zh-CN" altLang="en-US" dirty="0"/>
              <a:t>，图</a:t>
            </a:r>
            <a:r>
              <a:rPr lang="en-US" altLang="zh-CN" dirty="0"/>
              <a:t>3.36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348906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7973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466409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235707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464673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39108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411625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362766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62160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84382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544477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387829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098718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096440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924122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111535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54162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644395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054614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495148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980675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603796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1053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913408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749159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97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2023/1/9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81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2023/1/9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473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2023/1/9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94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2023/1/9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2023/1/9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281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2023/1/9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488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2023/1/9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14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2023/1/9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294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2023/1/9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326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2023/1/9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402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2023/1/9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21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81BCD-E550-44B9-AAE1-9BB76BE53C8A}" type="datetimeFigureOut">
              <a:rPr lang="zh-CN" altLang="en-US" smtClean="0"/>
              <a:t>2023/1/9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93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764087"/>
            <a:ext cx="228780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指令格式和寻址方式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逻辑运算和移位循环指令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串操作指令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1356104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指令与指令系统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1828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指令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：控制计算机完成某种操作的命令。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指令系统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：处理器所能识别的所有指令的集合。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汇编语言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：指令助记符。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C3C1ED-ACC6-4C26-8A83-E588F5E52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238" y="3510090"/>
            <a:ext cx="5009524" cy="2114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065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指令格式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E8E5F20-453D-4B8F-87D6-5E7A443FA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748" y="2815556"/>
            <a:ext cx="7828212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sz="2600" b="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l"/>
              <a:defRPr sz="2200" b="0">
                <a:solidFill>
                  <a:schemeClr val="tx1"/>
                </a:solidFill>
                <a:latin typeface="+mj-ea"/>
                <a:ea typeface="+mj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[标号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    操作码    [操作数]，[操作数]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[ ; 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注释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B7E35705-F02E-4972-99A5-CC6C285AB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110" y="4888998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DA2B5489-87FD-41DA-B338-D2BB819B0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910" y="4584198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执行何种操作</a:t>
            </a: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D97F35DE-A2F1-4091-AB1C-8CE9CD97E4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09110" y="3441198"/>
            <a:ext cx="381000" cy="106680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185A4011-384F-4F8B-A2C5-ED4445AF1CF4}"/>
              </a:ext>
            </a:extLst>
          </p:cNvPr>
          <p:cNvSpPr>
            <a:spLocks/>
          </p:cNvSpPr>
          <p:nvPr/>
        </p:nvSpPr>
        <p:spPr bwMode="auto">
          <a:xfrm rot="16200000">
            <a:off x="5547610" y="3555498"/>
            <a:ext cx="304800" cy="2819400"/>
          </a:xfrm>
          <a:prstGeom prst="leftBrace">
            <a:avLst>
              <a:gd name="adj1" fmla="val 770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72A460D5-280C-4706-BD99-0D2278A9B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0710" y="4050798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目标操作数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4C906957-7411-4ED9-9E91-3BB5FB2AD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9110" y="4050798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源操作数</a:t>
            </a: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B26F4FCA-52A3-4AE6-A3A8-D2F9280A3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8910" y="3441198"/>
            <a:ext cx="0" cy="60960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4ADB0FD1-14C1-4ACD-AA78-65B4D7B5F4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6310" y="3441198"/>
            <a:ext cx="228600" cy="60960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9A125A49-B5C5-48EA-A2F9-A7A8FDF6F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085" y="5206498"/>
            <a:ext cx="482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参加操作的数据或数据存放的地址</a:t>
            </a:r>
          </a:p>
        </p:txBody>
      </p:sp>
      <p:sp>
        <p:nvSpPr>
          <p:cNvPr id="16" name="Line 7">
            <a:extLst>
              <a:ext uri="{FF2B5EF4-FFF2-40B4-BE49-F238E27FC236}">
                <a16:creationId xmlns:a16="http://schemas.microsoft.com/office/drawing/2014/main" id="{2CD52776-ECA2-4CF3-9727-11EDB244AA4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89910" y="2113713"/>
            <a:ext cx="356937" cy="681287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17" name="Text Box 6">
            <a:extLst>
              <a:ext uri="{FF2B5EF4-FFF2-40B4-BE49-F238E27FC236}">
                <a16:creationId xmlns:a16="http://schemas.microsoft.com/office/drawing/2014/main" id="{9935FF1E-D7DB-468D-8A25-A8CDC44E1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10" y="1635957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指令首地址</a:t>
            </a:r>
          </a:p>
        </p:txBody>
      </p:sp>
      <p:sp>
        <p:nvSpPr>
          <p:cNvPr id="18" name="Line 7">
            <a:extLst>
              <a:ext uri="{FF2B5EF4-FFF2-40B4-BE49-F238E27FC236}">
                <a16:creationId xmlns:a16="http://schemas.microsoft.com/office/drawing/2014/main" id="{A98F94A8-9DC5-41BE-A497-4DDCBD04A7A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26542" y="2111875"/>
            <a:ext cx="356937" cy="681287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B9849080-78F7-4C3F-9ED2-BDBF37F5A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3060" y="1236428"/>
            <a:ext cx="317155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对指令进行注解，方便阅读，不参与编译</a:t>
            </a:r>
          </a:p>
        </p:txBody>
      </p:sp>
    </p:spTree>
    <p:extLst>
      <p:ext uri="{BB962C8B-B14F-4D97-AF65-F5344CB8AC3E}">
        <p14:creationId xmlns:p14="http://schemas.microsoft.com/office/powerpoint/2010/main" val="394256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/>
      <p:bldP spid="10" grpId="0" animBg="1"/>
      <p:bldP spid="11" grpId="0"/>
      <p:bldP spid="12" grpId="0"/>
      <p:bldP spid="15" grpId="0"/>
      <p:bldP spid="17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4">
            <a:extLst>
              <a:ext uri="{FF2B5EF4-FFF2-40B4-BE49-F238E27FC236}">
                <a16:creationId xmlns:a16="http://schemas.microsoft.com/office/drawing/2014/main" id="{B8AB7856-B61E-4313-9BF5-678DBA77F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8029" y="2865688"/>
            <a:ext cx="6853479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sz="2600" b="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l"/>
              <a:defRPr sz="2200" b="0">
                <a:solidFill>
                  <a:schemeClr val="tx1"/>
                </a:solidFill>
                <a:latin typeface="+mj-ea"/>
                <a:ea typeface="+mj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MOV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AX,  BX  ;  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BX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中的内容传送到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AX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Text Box 6">
            <a:extLst>
              <a:ext uri="{FF2B5EF4-FFF2-40B4-BE49-F238E27FC236}">
                <a16:creationId xmlns:a16="http://schemas.microsoft.com/office/drawing/2014/main" id="{C53BE4BD-3835-4423-89F4-B73E2422E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754" y="1798888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操作码助记符</a:t>
            </a:r>
          </a:p>
        </p:txBody>
      </p:sp>
      <p:sp>
        <p:nvSpPr>
          <p:cNvPr id="22" name="Line 7">
            <a:extLst>
              <a:ext uri="{FF2B5EF4-FFF2-40B4-BE49-F238E27FC236}">
                <a16:creationId xmlns:a16="http://schemas.microsoft.com/office/drawing/2014/main" id="{0EBA50D6-9748-4FE8-ADD5-44D6DE5C27E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90962" y="2256087"/>
            <a:ext cx="192505" cy="556669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23" name="Text Box 9">
            <a:extLst>
              <a:ext uri="{FF2B5EF4-FFF2-40B4-BE49-F238E27FC236}">
                <a16:creationId xmlns:a16="http://schemas.microsoft.com/office/drawing/2014/main" id="{700FF02D-EFDB-47D7-8C93-404AE8882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078" y="4058084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目标操作数</a:t>
            </a:r>
          </a:p>
        </p:txBody>
      </p:sp>
      <p:sp>
        <p:nvSpPr>
          <p:cNvPr id="24" name="Text Box 10">
            <a:extLst>
              <a:ext uri="{FF2B5EF4-FFF2-40B4-BE49-F238E27FC236}">
                <a16:creationId xmlns:a16="http://schemas.microsoft.com/office/drawing/2014/main" id="{4A8022CC-1DE9-4F05-BB87-B097F677E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768" y="4051534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源操作数</a:t>
            </a: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A320B4BF-4DF3-4D2D-82DD-580AF5AF45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4968" y="3322888"/>
            <a:ext cx="581526" cy="69566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26" name="Text Box 10">
            <a:extLst>
              <a:ext uri="{FF2B5EF4-FFF2-40B4-BE49-F238E27FC236}">
                <a16:creationId xmlns:a16="http://schemas.microsoft.com/office/drawing/2014/main" id="{B9E8615D-C5C2-4AA1-A443-7D3C82CFD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3917" y="203288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注释</a:t>
            </a:r>
          </a:p>
        </p:txBody>
      </p:sp>
      <p:sp>
        <p:nvSpPr>
          <p:cNvPr id="27" name="Line 11">
            <a:extLst>
              <a:ext uri="{FF2B5EF4-FFF2-40B4-BE49-F238E27FC236}">
                <a16:creationId xmlns:a16="http://schemas.microsoft.com/office/drawing/2014/main" id="{0B36F273-E7AA-4EB8-8815-1F47DB1AFF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0475" y="3320130"/>
            <a:ext cx="581526" cy="69566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28" name="AutoShape 8">
            <a:extLst>
              <a:ext uri="{FF2B5EF4-FFF2-40B4-BE49-F238E27FC236}">
                <a16:creationId xmlns:a16="http://schemas.microsoft.com/office/drawing/2014/main" id="{53901E1D-F5B4-4C33-8EAE-AE4A4BED6BAF}"/>
              </a:ext>
            </a:extLst>
          </p:cNvPr>
          <p:cNvSpPr>
            <a:spLocks/>
          </p:cNvSpPr>
          <p:nvPr/>
        </p:nvSpPr>
        <p:spPr bwMode="auto">
          <a:xfrm rot="5400000" flipV="1">
            <a:off x="6301067" y="778889"/>
            <a:ext cx="304800" cy="3762933"/>
          </a:xfrm>
          <a:prstGeom prst="leftBrace">
            <a:avLst>
              <a:gd name="adj1" fmla="val 770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28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21" grpId="0"/>
      <p:bldP spid="23" grpId="0"/>
      <p:bldP spid="24" grpId="0"/>
      <p:bldP spid="26" grpId="0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寻址方式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5029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操作数可能的来源或存放处：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由指令直接给出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寄存器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内存单元或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I/O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端口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寻找操作数所在地址的方法可以有三大类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立即寻址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寄存器寻址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存放于存储器或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I/O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端口中的寻址方式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051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立即寻址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1324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立即寻址仅适合于源操作数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1200H</a:t>
            </a:r>
            <a:endParaRPr lang="zh-CN" altLang="en-US" sz="2200" dirty="0"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2F67447-92D6-45A2-9718-FB4F87220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192" y="2660393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FC77B6C-B162-4FBA-988C-F25C009A3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192" y="3041393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C6DC285-8EDE-4ABB-8E8D-EA7A0619D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192" y="3396993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51E58257-FEF8-4871-9F84-ADEC98549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192" y="4412993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45C96A2D-8298-49B5-BC11-A4CA0914BE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3192" y="2107943"/>
            <a:ext cx="0" cy="330676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7F00957-39DC-4352-83F9-432FC838B5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4517" y="2126993"/>
            <a:ext cx="0" cy="330041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0AEC8F0E-B8BD-465C-A22D-A5FF4A05BE8B}"/>
              </a:ext>
            </a:extLst>
          </p:cNvPr>
          <p:cNvSpPr>
            <a:spLocks/>
          </p:cNvSpPr>
          <p:nvPr/>
        </p:nvSpPr>
        <p:spPr bwMode="auto">
          <a:xfrm>
            <a:off x="5970017" y="2025393"/>
            <a:ext cx="1685925" cy="377825"/>
          </a:xfrm>
          <a:custGeom>
            <a:avLst/>
            <a:gdLst>
              <a:gd name="T0" fmla="*/ 0 w 1062"/>
              <a:gd name="T1" fmla="*/ 2147483647 h 238"/>
              <a:gd name="T2" fmla="*/ 2147483647 w 1062"/>
              <a:gd name="T3" fmla="*/ 2147483647 h 238"/>
              <a:gd name="T4" fmla="*/ 2147483647 w 1062"/>
              <a:gd name="T5" fmla="*/ 0 h 238"/>
              <a:gd name="T6" fmla="*/ 2147483647 w 1062"/>
              <a:gd name="T7" fmla="*/ 2147483647 h 238"/>
              <a:gd name="T8" fmla="*/ 2147483647 w 1062"/>
              <a:gd name="T9" fmla="*/ 2147483647 h 238"/>
              <a:gd name="T10" fmla="*/ 2147483647 w 1062"/>
              <a:gd name="T11" fmla="*/ 2147483647 h 238"/>
              <a:gd name="T12" fmla="*/ 2147483647 w 1062"/>
              <a:gd name="T13" fmla="*/ 2147483647 h 238"/>
              <a:gd name="T14" fmla="*/ 2147483647 w 1062"/>
              <a:gd name="T15" fmla="*/ 2147483647 h 238"/>
              <a:gd name="T16" fmla="*/ 2147483647 w 1062"/>
              <a:gd name="T17" fmla="*/ 2147483647 h 23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62"/>
              <a:gd name="T28" fmla="*/ 0 h 238"/>
              <a:gd name="T29" fmla="*/ 1062 w 1062"/>
              <a:gd name="T30" fmla="*/ 238 h 23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62" h="238">
                <a:moveTo>
                  <a:pt x="0" y="74"/>
                </a:moveTo>
                <a:cubicBezTo>
                  <a:pt x="11" y="63"/>
                  <a:pt x="54" y="24"/>
                  <a:pt x="65" y="18"/>
                </a:cubicBezTo>
                <a:cubicBezTo>
                  <a:pt x="82" y="9"/>
                  <a:pt x="120" y="0"/>
                  <a:pt x="120" y="0"/>
                </a:cubicBezTo>
                <a:cubicBezTo>
                  <a:pt x="178" y="14"/>
                  <a:pt x="236" y="21"/>
                  <a:pt x="296" y="28"/>
                </a:cubicBezTo>
                <a:cubicBezTo>
                  <a:pt x="389" y="64"/>
                  <a:pt x="459" y="133"/>
                  <a:pt x="545" y="175"/>
                </a:cubicBezTo>
                <a:cubicBezTo>
                  <a:pt x="572" y="202"/>
                  <a:pt x="606" y="209"/>
                  <a:pt x="637" y="231"/>
                </a:cubicBezTo>
                <a:cubicBezTo>
                  <a:pt x="726" y="228"/>
                  <a:pt x="817" y="238"/>
                  <a:pt x="905" y="222"/>
                </a:cubicBezTo>
                <a:cubicBezTo>
                  <a:pt x="927" y="218"/>
                  <a:pt x="935" y="190"/>
                  <a:pt x="951" y="175"/>
                </a:cubicBezTo>
                <a:cubicBezTo>
                  <a:pt x="989" y="139"/>
                  <a:pt x="1025" y="102"/>
                  <a:pt x="1062" y="65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148FA1E3-D9AC-4CC6-B972-D46A5A2D3E1A}"/>
              </a:ext>
            </a:extLst>
          </p:cNvPr>
          <p:cNvSpPr>
            <a:spLocks/>
          </p:cNvSpPr>
          <p:nvPr/>
        </p:nvSpPr>
        <p:spPr bwMode="auto">
          <a:xfrm>
            <a:off x="5952554" y="5082918"/>
            <a:ext cx="1731963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610F0EE0-FF77-4320-9271-7F969CFD9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229" y="3396993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</a:rPr>
              <a:t>12H</a:t>
            </a:r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813435E2-051C-44E0-89E2-01BD88296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229" y="3015993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</a:rPr>
              <a:t>00H</a:t>
            </a:r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170AA36E-D4E7-41C7-AC76-B0BBDADECA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8029" y="3625593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7D0F3D5A-0F02-4816-862B-A9620947B6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8029" y="3625593"/>
            <a:ext cx="0" cy="1371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22">
            <a:extLst>
              <a:ext uri="{FF2B5EF4-FFF2-40B4-BE49-F238E27FC236}">
                <a16:creationId xmlns:a16="http://schemas.microsoft.com/office/drawing/2014/main" id="{6BCED2E8-BDA3-40E3-AAB0-402656772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4829" y="4006593"/>
            <a:ext cx="1371600" cy="4572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8" name="Line 23">
            <a:extLst>
              <a:ext uri="{FF2B5EF4-FFF2-40B4-BE49-F238E27FC236}">
                <a16:creationId xmlns:a16="http://schemas.microsoft.com/office/drawing/2014/main" id="{F3132172-C878-4DC4-8239-ECFB70C8A4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0629" y="4006593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24">
            <a:extLst>
              <a:ext uri="{FF2B5EF4-FFF2-40B4-BE49-F238E27FC236}">
                <a16:creationId xmlns:a16="http://schemas.microsoft.com/office/drawing/2014/main" id="{C8429198-231F-45B0-A2DB-C6870E684E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5429" y="3244593"/>
            <a:ext cx="2514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7">
            <a:extLst>
              <a:ext uri="{FF2B5EF4-FFF2-40B4-BE49-F238E27FC236}">
                <a16:creationId xmlns:a16="http://schemas.microsoft.com/office/drawing/2014/main" id="{B551585E-58DA-44B7-B5EA-31F803D3A8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5429" y="3244593"/>
            <a:ext cx="0" cy="762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28">
            <a:extLst>
              <a:ext uri="{FF2B5EF4-FFF2-40B4-BE49-F238E27FC236}">
                <a16:creationId xmlns:a16="http://schemas.microsoft.com/office/drawing/2014/main" id="{A2193588-2740-422D-A7C3-502D313E5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9117" y="4006593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</a:rPr>
              <a:t>AH    AL</a:t>
            </a:r>
          </a:p>
        </p:txBody>
      </p:sp>
      <p:sp>
        <p:nvSpPr>
          <p:cNvPr id="22" name="Text Box 29">
            <a:extLst>
              <a:ext uri="{FF2B5EF4-FFF2-40B4-BE49-F238E27FC236}">
                <a16:creationId xmlns:a16="http://schemas.microsoft.com/office/drawing/2014/main" id="{2667191D-0AB5-42A2-A700-F68730C34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029" y="2634993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</a:rPr>
              <a:t>B8H</a:t>
            </a:r>
          </a:p>
        </p:txBody>
      </p:sp>
      <p:sp>
        <p:nvSpPr>
          <p:cNvPr id="23" name="Line 30">
            <a:extLst>
              <a:ext uri="{FF2B5EF4-FFF2-40B4-BE49-F238E27FC236}">
                <a16:creationId xmlns:a16="http://schemas.microsoft.com/office/drawing/2014/main" id="{969034D6-53EF-477D-984B-78772244C9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69629" y="4997193"/>
            <a:ext cx="2438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31">
            <a:extLst>
              <a:ext uri="{FF2B5EF4-FFF2-40B4-BE49-F238E27FC236}">
                <a16:creationId xmlns:a16="http://schemas.microsoft.com/office/drawing/2014/main" id="{A9A2E74F-31D5-4FBA-BBD6-6FF7B944E6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69629" y="4463793"/>
            <a:ext cx="0" cy="533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Box 33">
            <a:extLst>
              <a:ext uri="{FF2B5EF4-FFF2-40B4-BE49-F238E27FC236}">
                <a16:creationId xmlns:a16="http://schemas.microsoft.com/office/drawing/2014/main" id="{5BCD9843-DD7B-4587-9CE1-25E76E2D8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7429" y="3165218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代码段</a:t>
            </a: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D4A33362-7A1C-4F3E-AF4A-EF1B20946370}"/>
              </a:ext>
            </a:extLst>
          </p:cNvPr>
          <p:cNvSpPr>
            <a:spLocks/>
          </p:cNvSpPr>
          <p:nvPr/>
        </p:nvSpPr>
        <p:spPr bwMode="auto">
          <a:xfrm>
            <a:off x="7821042" y="2704843"/>
            <a:ext cx="230187" cy="2058988"/>
          </a:xfrm>
          <a:prstGeom prst="rightBrace">
            <a:avLst>
              <a:gd name="adj1" fmla="val 74540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7" name="Text Box 35">
            <a:extLst>
              <a:ext uri="{FF2B5EF4-FFF2-40B4-BE49-F238E27FC236}">
                <a16:creationId xmlns:a16="http://schemas.microsoft.com/office/drawing/2014/main" id="{C52FC1FB-8DAC-42DC-9779-952E9A35E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3429" y="3927218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宋体" panose="02010600030101010101" pitchFamily="2" charset="-122"/>
              </a:rPr>
              <a:t>┇</a:t>
            </a:r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800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500"/>
                            </p:stCondLst>
                            <p:childTnLst>
                              <p:par>
                                <p:cTn id="10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000"/>
                            </p:stCondLst>
                            <p:childTnLst>
                              <p:par>
                                <p:cTn id="10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/>
      <p:bldP spid="14" grpId="0"/>
      <p:bldP spid="17" grpId="0" animBg="1"/>
      <p:bldP spid="21" grpId="0"/>
      <p:bldP spid="22" grpId="0"/>
      <p:bldP spid="25" grpId="0"/>
      <p:bldP spid="26" grpId="0" animBg="1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寄存器寻址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2002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参加操作的操作数在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的通用寄存器中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BX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CL, AH</a:t>
            </a:r>
            <a:endParaRPr lang="zh-CN" altLang="en-US" sz="2200" dirty="0"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364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281754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直接寻址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057291"/>
            <a:ext cx="7818893" cy="2567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指令中直接给出操作数的偏移地址（默认在数据段中）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[1200H]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也可以明确指出操作数所在的段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ES:[1200H]</a:t>
            </a:r>
          </a:p>
        </p:txBody>
      </p:sp>
      <p:sp>
        <p:nvSpPr>
          <p:cNvPr id="55" name="Rectangle 4">
            <a:extLst>
              <a:ext uri="{FF2B5EF4-FFF2-40B4-BE49-F238E27FC236}">
                <a16:creationId xmlns:a16="http://schemas.microsoft.com/office/drawing/2014/main" id="{14746DEE-F487-4271-91CE-2B6EBA7AC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445" y="3064949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6" name="Rectangle 5">
            <a:extLst>
              <a:ext uri="{FF2B5EF4-FFF2-40B4-BE49-F238E27FC236}">
                <a16:creationId xmlns:a16="http://schemas.microsoft.com/office/drawing/2014/main" id="{8251D233-B9A9-4234-875A-E8AB1A0A8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445" y="3445949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7" name="Rectangle 6">
            <a:extLst>
              <a:ext uri="{FF2B5EF4-FFF2-40B4-BE49-F238E27FC236}">
                <a16:creationId xmlns:a16="http://schemas.microsoft.com/office/drawing/2014/main" id="{B63F54FD-B8E0-49BC-B429-336D493F4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445" y="4436549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8" name="Rectangle 7">
            <a:extLst>
              <a:ext uri="{FF2B5EF4-FFF2-40B4-BE49-F238E27FC236}">
                <a16:creationId xmlns:a16="http://schemas.microsoft.com/office/drawing/2014/main" id="{A021B12B-8395-4796-B065-DC3242B46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445" y="4817549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" name="Line 8">
            <a:extLst>
              <a:ext uri="{FF2B5EF4-FFF2-40B4-BE49-F238E27FC236}">
                <a16:creationId xmlns:a16="http://schemas.microsoft.com/office/drawing/2014/main" id="{EDEB81EE-A467-48D7-9FA2-E6CBE290C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1445" y="2512499"/>
            <a:ext cx="0" cy="330676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9">
            <a:extLst>
              <a:ext uri="{FF2B5EF4-FFF2-40B4-BE49-F238E27FC236}">
                <a16:creationId xmlns:a16="http://schemas.microsoft.com/office/drawing/2014/main" id="{8F87933B-B746-4272-9FA9-D9D7927EFA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2770" y="2531549"/>
            <a:ext cx="0" cy="330041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Freeform 10">
            <a:extLst>
              <a:ext uri="{FF2B5EF4-FFF2-40B4-BE49-F238E27FC236}">
                <a16:creationId xmlns:a16="http://schemas.microsoft.com/office/drawing/2014/main" id="{5966484A-EC9A-46FC-AEC8-29481A6756CE}"/>
              </a:ext>
            </a:extLst>
          </p:cNvPr>
          <p:cNvSpPr>
            <a:spLocks/>
          </p:cNvSpPr>
          <p:nvPr/>
        </p:nvSpPr>
        <p:spPr bwMode="auto">
          <a:xfrm>
            <a:off x="6208270" y="2429949"/>
            <a:ext cx="1685925" cy="377825"/>
          </a:xfrm>
          <a:custGeom>
            <a:avLst/>
            <a:gdLst>
              <a:gd name="T0" fmla="*/ 0 w 1062"/>
              <a:gd name="T1" fmla="*/ 2147483647 h 238"/>
              <a:gd name="T2" fmla="*/ 2147483647 w 1062"/>
              <a:gd name="T3" fmla="*/ 2147483647 h 238"/>
              <a:gd name="T4" fmla="*/ 2147483647 w 1062"/>
              <a:gd name="T5" fmla="*/ 0 h 238"/>
              <a:gd name="T6" fmla="*/ 2147483647 w 1062"/>
              <a:gd name="T7" fmla="*/ 2147483647 h 238"/>
              <a:gd name="T8" fmla="*/ 2147483647 w 1062"/>
              <a:gd name="T9" fmla="*/ 2147483647 h 238"/>
              <a:gd name="T10" fmla="*/ 2147483647 w 1062"/>
              <a:gd name="T11" fmla="*/ 2147483647 h 238"/>
              <a:gd name="T12" fmla="*/ 2147483647 w 1062"/>
              <a:gd name="T13" fmla="*/ 2147483647 h 238"/>
              <a:gd name="T14" fmla="*/ 2147483647 w 1062"/>
              <a:gd name="T15" fmla="*/ 2147483647 h 238"/>
              <a:gd name="T16" fmla="*/ 2147483647 w 1062"/>
              <a:gd name="T17" fmla="*/ 2147483647 h 23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62"/>
              <a:gd name="T28" fmla="*/ 0 h 238"/>
              <a:gd name="T29" fmla="*/ 1062 w 1062"/>
              <a:gd name="T30" fmla="*/ 238 h 23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62" h="238">
                <a:moveTo>
                  <a:pt x="0" y="74"/>
                </a:moveTo>
                <a:cubicBezTo>
                  <a:pt x="11" y="63"/>
                  <a:pt x="54" y="24"/>
                  <a:pt x="65" y="18"/>
                </a:cubicBezTo>
                <a:cubicBezTo>
                  <a:pt x="82" y="9"/>
                  <a:pt x="120" y="0"/>
                  <a:pt x="120" y="0"/>
                </a:cubicBezTo>
                <a:cubicBezTo>
                  <a:pt x="178" y="14"/>
                  <a:pt x="236" y="21"/>
                  <a:pt x="296" y="28"/>
                </a:cubicBezTo>
                <a:cubicBezTo>
                  <a:pt x="389" y="64"/>
                  <a:pt x="459" y="133"/>
                  <a:pt x="545" y="175"/>
                </a:cubicBezTo>
                <a:cubicBezTo>
                  <a:pt x="572" y="202"/>
                  <a:pt x="606" y="209"/>
                  <a:pt x="637" y="231"/>
                </a:cubicBezTo>
                <a:cubicBezTo>
                  <a:pt x="726" y="228"/>
                  <a:pt x="817" y="238"/>
                  <a:pt x="905" y="222"/>
                </a:cubicBezTo>
                <a:cubicBezTo>
                  <a:pt x="927" y="218"/>
                  <a:pt x="935" y="190"/>
                  <a:pt x="951" y="175"/>
                </a:cubicBezTo>
                <a:cubicBezTo>
                  <a:pt x="989" y="139"/>
                  <a:pt x="1025" y="102"/>
                  <a:pt x="1062" y="65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2" name="Freeform 11">
            <a:extLst>
              <a:ext uri="{FF2B5EF4-FFF2-40B4-BE49-F238E27FC236}">
                <a16:creationId xmlns:a16="http://schemas.microsoft.com/office/drawing/2014/main" id="{F96F224C-E49B-44FD-BA30-A7390B43623B}"/>
              </a:ext>
            </a:extLst>
          </p:cNvPr>
          <p:cNvSpPr>
            <a:spLocks/>
          </p:cNvSpPr>
          <p:nvPr/>
        </p:nvSpPr>
        <p:spPr bwMode="auto">
          <a:xfrm>
            <a:off x="6190807" y="5487474"/>
            <a:ext cx="1731963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3" name="Text Box 12">
            <a:extLst>
              <a:ext uri="{FF2B5EF4-FFF2-40B4-BE49-F238E27FC236}">
                <a16:creationId xmlns:a16="http://schemas.microsoft.com/office/drawing/2014/main" id="{E1361506-8B21-4CBE-BCED-1F0175D35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282" y="4436549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</a:rPr>
              <a:t>22</a:t>
            </a:r>
            <a:r>
              <a:rPr lang="en-US" altLang="zh-CN" b="1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64" name="Text Box 13">
            <a:extLst>
              <a:ext uri="{FF2B5EF4-FFF2-40B4-BE49-F238E27FC236}">
                <a16:creationId xmlns:a16="http://schemas.microsoft.com/office/drawing/2014/main" id="{B980615B-9A52-4C7A-B775-EF0DBA7AF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282" y="4817549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</a:rPr>
              <a:t>11</a:t>
            </a:r>
            <a:r>
              <a:rPr lang="en-US" altLang="zh-CN" b="1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65" name="Text Box 14">
            <a:extLst>
              <a:ext uri="{FF2B5EF4-FFF2-40B4-BE49-F238E27FC236}">
                <a16:creationId xmlns:a16="http://schemas.microsoft.com/office/drawing/2014/main" id="{1B223B10-A9A8-4482-A003-5E459A76B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520" y="4288911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1200</a:t>
            </a:r>
            <a:r>
              <a:rPr lang="en-US" altLang="zh-CN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66" name="Text Box 15">
            <a:extLst>
              <a:ext uri="{FF2B5EF4-FFF2-40B4-BE49-F238E27FC236}">
                <a16:creationId xmlns:a16="http://schemas.microsoft.com/office/drawing/2014/main" id="{AF0E919B-DAB0-4711-934E-CCD2AF583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1782" y="4001574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偏移地址</a:t>
            </a:r>
          </a:p>
        </p:txBody>
      </p:sp>
      <p:sp>
        <p:nvSpPr>
          <p:cNvPr id="67" name="Line 16">
            <a:extLst>
              <a:ext uri="{FF2B5EF4-FFF2-40B4-BE49-F238E27FC236}">
                <a16:creationId xmlns:a16="http://schemas.microsoft.com/office/drawing/2014/main" id="{2370F3E9-678F-45A6-9792-D24F594AD1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6857" y="4255574"/>
            <a:ext cx="1295400" cy="22860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Text Box 26">
            <a:extLst>
              <a:ext uri="{FF2B5EF4-FFF2-40B4-BE49-F238E27FC236}">
                <a16:creationId xmlns:a16="http://schemas.microsoft.com/office/drawing/2014/main" id="{A7C43A2E-A8E5-4DD5-A9F5-11C739524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482" y="3950774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宋体" panose="02010600030101010101" pitchFamily="2" charset="-122"/>
              </a:rPr>
              <a:t>┇</a:t>
            </a:r>
            <a:r>
              <a:rPr lang="en-US" altLang="zh-CN"/>
              <a:t> </a:t>
            </a:r>
          </a:p>
        </p:txBody>
      </p:sp>
      <p:sp>
        <p:nvSpPr>
          <p:cNvPr id="69" name="Text Box 30">
            <a:extLst>
              <a:ext uri="{FF2B5EF4-FFF2-40B4-BE49-F238E27FC236}">
                <a16:creationId xmlns:a16="http://schemas.microsoft.com/office/drawing/2014/main" id="{17306C6F-9A58-4EC1-9459-6A5D4642D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6645" y="3615811"/>
            <a:ext cx="5334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</a:rPr>
              <a:t>数据段</a:t>
            </a:r>
          </a:p>
        </p:txBody>
      </p:sp>
      <p:sp>
        <p:nvSpPr>
          <p:cNvPr id="70" name="AutoShape 31">
            <a:extLst>
              <a:ext uri="{FF2B5EF4-FFF2-40B4-BE49-F238E27FC236}">
                <a16:creationId xmlns:a16="http://schemas.microsoft.com/office/drawing/2014/main" id="{DD3867C1-AA78-45BA-96CD-27A4E1C43E64}"/>
              </a:ext>
            </a:extLst>
          </p:cNvPr>
          <p:cNvSpPr>
            <a:spLocks/>
          </p:cNvSpPr>
          <p:nvPr/>
        </p:nvSpPr>
        <p:spPr bwMode="auto">
          <a:xfrm>
            <a:off x="8060882" y="3191949"/>
            <a:ext cx="304800" cy="2133600"/>
          </a:xfrm>
          <a:prstGeom prst="rightBrace">
            <a:avLst>
              <a:gd name="adj1" fmla="val 5833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" name="Line 34">
            <a:extLst>
              <a:ext uri="{FF2B5EF4-FFF2-40B4-BE49-F238E27FC236}">
                <a16:creationId xmlns:a16="http://schemas.microsoft.com/office/drawing/2014/main" id="{95E879C9-065C-49FA-A58B-80DBC0035E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0257" y="5068374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35">
            <a:extLst>
              <a:ext uri="{FF2B5EF4-FFF2-40B4-BE49-F238E27FC236}">
                <a16:creationId xmlns:a16="http://schemas.microsoft.com/office/drawing/2014/main" id="{0856D38F-C6D6-454B-B354-8C939A9101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0257" y="5068374"/>
            <a:ext cx="0" cy="1371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Rectangle 36">
            <a:extLst>
              <a:ext uri="{FF2B5EF4-FFF2-40B4-BE49-F238E27FC236}">
                <a16:creationId xmlns:a16="http://schemas.microsoft.com/office/drawing/2014/main" id="{EC8D3419-801E-4A7E-9BEC-3B55B75E2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057" y="5449374"/>
            <a:ext cx="1371600" cy="4572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4" name="Line 37">
            <a:extLst>
              <a:ext uri="{FF2B5EF4-FFF2-40B4-BE49-F238E27FC236}">
                <a16:creationId xmlns:a16="http://schemas.microsoft.com/office/drawing/2014/main" id="{D1A3B1DA-E5D3-4C01-BB63-DC19E7748F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2857" y="5449374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Line 38">
            <a:extLst>
              <a:ext uri="{FF2B5EF4-FFF2-40B4-BE49-F238E27FC236}">
                <a16:creationId xmlns:a16="http://schemas.microsoft.com/office/drawing/2014/main" id="{BF80465D-E7B6-423E-BF7D-B4B7BB32C3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47657" y="4687374"/>
            <a:ext cx="2514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Line 39">
            <a:extLst>
              <a:ext uri="{FF2B5EF4-FFF2-40B4-BE49-F238E27FC236}">
                <a16:creationId xmlns:a16="http://schemas.microsoft.com/office/drawing/2014/main" id="{25C9C8AA-890A-4ACC-910A-A7D57672C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7657" y="4687374"/>
            <a:ext cx="0" cy="762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Text Box 40">
            <a:extLst>
              <a:ext uri="{FF2B5EF4-FFF2-40B4-BE49-F238E27FC236}">
                <a16:creationId xmlns:a16="http://schemas.microsoft.com/office/drawing/2014/main" id="{6343536D-7DB3-4D38-B221-4DE7F54D1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1345" y="5449374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</a:rPr>
              <a:t>AH    AL</a:t>
            </a:r>
          </a:p>
        </p:txBody>
      </p:sp>
      <p:sp>
        <p:nvSpPr>
          <p:cNvPr id="78" name="Line 41">
            <a:extLst>
              <a:ext uri="{FF2B5EF4-FFF2-40B4-BE49-F238E27FC236}">
                <a16:creationId xmlns:a16="http://schemas.microsoft.com/office/drawing/2014/main" id="{6DF2D41D-A19C-411A-B06F-CE62380CB0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61857" y="6439974"/>
            <a:ext cx="2438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Line 42">
            <a:extLst>
              <a:ext uri="{FF2B5EF4-FFF2-40B4-BE49-F238E27FC236}">
                <a16:creationId xmlns:a16="http://schemas.microsoft.com/office/drawing/2014/main" id="{A26C16A7-E32E-4979-90E3-BFBD8E76B5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61857" y="5906574"/>
            <a:ext cx="0" cy="533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06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1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  <p:bldP spid="61" grpId="0" animBg="1"/>
      <p:bldP spid="62" grpId="0" animBg="1"/>
      <p:bldP spid="63" grpId="0"/>
      <p:bldP spid="64" grpId="0"/>
      <p:bldP spid="66" grpId="0"/>
      <p:bldP spid="68" grpId="0"/>
      <p:bldP spid="69" grpId="0"/>
      <p:bldP spid="70" grpId="0" animBg="1"/>
      <p:bldP spid="73" grpId="0" animBg="1"/>
      <p:bldP spid="7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寄存器间接寻址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057291"/>
            <a:ext cx="7818893" cy="403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由寄存器间接给出操作数的偏移地址。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存放偏移量的间址寄存器只有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个：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BX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BP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SI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DI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当使用 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BX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SI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DI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时，操作数默认在数据段中。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当使用 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BP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时，操作数默认在堆栈段中。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[BX]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操作数的物理地址为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DS×16+BX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[BP]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操作数的物理地址为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SS×16+BP</a:t>
            </a:r>
          </a:p>
        </p:txBody>
      </p:sp>
    </p:spTree>
    <p:extLst>
      <p:ext uri="{BB962C8B-B14F-4D97-AF65-F5344CB8AC3E}">
        <p14:creationId xmlns:p14="http://schemas.microsoft.com/office/powerpoint/2010/main" val="239357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基址寻址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057291"/>
            <a:ext cx="7818893" cy="403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操作数的偏移地址由基址寄存器 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BX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或 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BP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加上一个偏移量共同给出。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设：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SS=1000H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DS=2000H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BX=200H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BP=100H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，则：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[BX+05H]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源操作数的地址为：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2000H:0205H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[BP+03H]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源操作数的地址为：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1000H:0103H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可以明确给出操作数所在的段，例：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DS:[BP+03H]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3012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基址寻址的多种写法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465064"/>
            <a:ext cx="7818893" cy="2679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MOV  AX,  1002H[BP]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MOV  AX,  [BX]1002H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MOV  AX,  [BX+1002H]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MOV  AX,  [BX]+1002H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760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变址寻址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057291"/>
            <a:ext cx="7818893" cy="403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操作数的偏移地址由变址寄存器 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SI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或 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DI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加上一个偏移量共同给出。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[SI+03H]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操作数默认在数据段中，可以段超越：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ES:[SI+03H]</a:t>
            </a:r>
          </a:p>
          <a:p>
            <a:pPr>
              <a:lnSpc>
                <a:spcPct val="200000"/>
              </a:lnSpc>
            </a:pP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625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基址加变址寻址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057291"/>
            <a:ext cx="7818893" cy="4648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操作数的偏移地址为：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B9B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基址寄存器内容</a:t>
            </a:r>
            <a:r>
              <a:rPr lang="en-US" altLang="zh-CN" sz="2000" dirty="0">
                <a:solidFill>
                  <a:srgbClr val="5B9B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000" dirty="0">
                <a:solidFill>
                  <a:srgbClr val="5B9B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变址寄存器内容</a:t>
            </a:r>
            <a:r>
              <a:rPr lang="en-US" altLang="zh-CN" sz="2000" dirty="0">
                <a:solidFill>
                  <a:srgbClr val="5B9B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000" dirty="0">
                <a:solidFill>
                  <a:srgbClr val="5B9B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位移量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操作数的段地址由选择的基址寄存器决定。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基址加变址寻址方式主要用于二维表格操作。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无论是基址寻址、变址寻址还是基址加变制寻址，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计算出的偏移地址如果超过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位，则只保留低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>
              <a:lnSpc>
                <a:spcPct val="200000"/>
              </a:lnSpc>
            </a:pP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090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基址加变址寻址示例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057291"/>
            <a:ext cx="7818893" cy="2021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MOV DI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1100H</a:t>
            </a:r>
          </a:p>
          <a:p>
            <a:pPr>
              <a:lnSpc>
                <a:spcPct val="20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MOV BP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DI</a:t>
            </a:r>
          </a:p>
          <a:p>
            <a:pPr>
              <a:lnSpc>
                <a:spcPct val="20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MOV  AL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[BP][DI]5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F741DE-412C-4621-BA95-1DDEA97C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2229" y="3433267"/>
            <a:ext cx="1712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AD81E5-FBC0-49B2-845B-AFE88DC86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2229" y="4423867"/>
            <a:ext cx="1712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B04311-0244-4E8C-B220-40E654E64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2229" y="4804867"/>
            <a:ext cx="1712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8F2FCFD4-4F7B-44FF-B06A-EE1F3E9AAA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92229" y="2993530"/>
            <a:ext cx="0" cy="305911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50E60CA0-27D8-4F5A-BFC3-F7BC804F40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5142" y="2979242"/>
            <a:ext cx="0" cy="302418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3C7DFE6-82BD-4EF8-9033-8F94ADD0DF14}"/>
              </a:ext>
            </a:extLst>
          </p:cNvPr>
          <p:cNvSpPr>
            <a:spLocks/>
          </p:cNvSpPr>
          <p:nvPr/>
        </p:nvSpPr>
        <p:spPr bwMode="auto">
          <a:xfrm>
            <a:off x="5903342" y="2890342"/>
            <a:ext cx="1685925" cy="377825"/>
          </a:xfrm>
          <a:custGeom>
            <a:avLst/>
            <a:gdLst>
              <a:gd name="T0" fmla="*/ 0 w 1062"/>
              <a:gd name="T1" fmla="*/ 2147483647 h 238"/>
              <a:gd name="T2" fmla="*/ 2147483647 w 1062"/>
              <a:gd name="T3" fmla="*/ 2147483647 h 238"/>
              <a:gd name="T4" fmla="*/ 2147483647 w 1062"/>
              <a:gd name="T5" fmla="*/ 0 h 238"/>
              <a:gd name="T6" fmla="*/ 2147483647 w 1062"/>
              <a:gd name="T7" fmla="*/ 2147483647 h 238"/>
              <a:gd name="T8" fmla="*/ 2147483647 w 1062"/>
              <a:gd name="T9" fmla="*/ 2147483647 h 238"/>
              <a:gd name="T10" fmla="*/ 2147483647 w 1062"/>
              <a:gd name="T11" fmla="*/ 2147483647 h 238"/>
              <a:gd name="T12" fmla="*/ 2147483647 w 1062"/>
              <a:gd name="T13" fmla="*/ 2147483647 h 238"/>
              <a:gd name="T14" fmla="*/ 2147483647 w 1062"/>
              <a:gd name="T15" fmla="*/ 2147483647 h 238"/>
              <a:gd name="T16" fmla="*/ 2147483647 w 1062"/>
              <a:gd name="T17" fmla="*/ 2147483647 h 23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62"/>
              <a:gd name="T28" fmla="*/ 0 h 238"/>
              <a:gd name="T29" fmla="*/ 1062 w 1062"/>
              <a:gd name="T30" fmla="*/ 238 h 23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62" h="238">
                <a:moveTo>
                  <a:pt x="0" y="74"/>
                </a:moveTo>
                <a:cubicBezTo>
                  <a:pt x="11" y="63"/>
                  <a:pt x="54" y="24"/>
                  <a:pt x="65" y="18"/>
                </a:cubicBezTo>
                <a:cubicBezTo>
                  <a:pt x="82" y="9"/>
                  <a:pt x="120" y="0"/>
                  <a:pt x="120" y="0"/>
                </a:cubicBezTo>
                <a:cubicBezTo>
                  <a:pt x="178" y="14"/>
                  <a:pt x="236" y="21"/>
                  <a:pt x="296" y="28"/>
                </a:cubicBezTo>
                <a:cubicBezTo>
                  <a:pt x="389" y="64"/>
                  <a:pt x="459" y="133"/>
                  <a:pt x="545" y="175"/>
                </a:cubicBezTo>
                <a:cubicBezTo>
                  <a:pt x="572" y="202"/>
                  <a:pt x="606" y="209"/>
                  <a:pt x="637" y="231"/>
                </a:cubicBezTo>
                <a:cubicBezTo>
                  <a:pt x="726" y="228"/>
                  <a:pt x="817" y="238"/>
                  <a:pt x="905" y="222"/>
                </a:cubicBezTo>
                <a:cubicBezTo>
                  <a:pt x="927" y="218"/>
                  <a:pt x="935" y="190"/>
                  <a:pt x="951" y="175"/>
                </a:cubicBezTo>
                <a:cubicBezTo>
                  <a:pt x="989" y="139"/>
                  <a:pt x="1025" y="102"/>
                  <a:pt x="1062" y="65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C5E6048-CB7E-48C4-A9A5-331AE2633EC2}"/>
              </a:ext>
            </a:extLst>
          </p:cNvPr>
          <p:cNvSpPr>
            <a:spLocks/>
          </p:cNvSpPr>
          <p:nvPr/>
        </p:nvSpPr>
        <p:spPr bwMode="auto">
          <a:xfrm>
            <a:off x="5871592" y="5703392"/>
            <a:ext cx="1731962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E295C267-458C-448B-A4DD-8347F029F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067" y="4423867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22</a:t>
            </a:r>
            <a:r>
              <a:rPr lang="en-US" altLang="zh-CN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ED132823-A0D2-44C9-9367-A629844FE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067" y="4804867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11</a:t>
            </a:r>
            <a:r>
              <a:rPr lang="en-US" altLang="zh-CN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132DB7E0-1E48-4652-8575-37153603F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304" y="4276230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2205H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0C5F5628-C3D0-4993-8CA5-8FC3B9BBF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067" y="3998417"/>
            <a:ext cx="13763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偏移地址</a:t>
            </a: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A5FE7821-6CAF-4B96-9E74-7088DDB8B7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8267" y="4242892"/>
            <a:ext cx="1295400" cy="22860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CFA22D-71E1-4F68-968D-434744D26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0717" y="5157292"/>
            <a:ext cx="1174750" cy="4572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7895BF89-3868-44E8-854D-A4EA0F530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8692" y="4700092"/>
            <a:ext cx="700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AL</a:t>
            </a:r>
          </a:p>
        </p:txBody>
      </p:sp>
      <p:sp>
        <p:nvSpPr>
          <p:cNvPr id="19" name="Text Box 21">
            <a:extLst>
              <a:ext uri="{FF2B5EF4-FFF2-40B4-BE49-F238E27FC236}">
                <a16:creationId xmlns:a16="http://schemas.microsoft.com/office/drawing/2014/main" id="{5B215A44-6E18-4135-B719-6821526E0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267" y="3938092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宋体" panose="02010600030101010101" pitchFamily="2" charset="-122"/>
              </a:rPr>
              <a:t>┇</a:t>
            </a:r>
            <a:r>
              <a:rPr lang="en-US" altLang="zh-CN"/>
              <a:t> </a:t>
            </a:r>
          </a:p>
        </p:txBody>
      </p:sp>
      <p:sp>
        <p:nvSpPr>
          <p:cNvPr id="20" name="Text Box 22">
            <a:extLst>
              <a:ext uri="{FF2B5EF4-FFF2-40B4-BE49-F238E27FC236}">
                <a16:creationId xmlns:a16="http://schemas.microsoft.com/office/drawing/2014/main" id="{CCC69255-1538-4351-A907-D2E46EDBA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054" y="5139830"/>
            <a:ext cx="720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21" name="Line 23">
            <a:extLst>
              <a:ext uri="{FF2B5EF4-FFF2-40B4-BE49-F238E27FC236}">
                <a16:creationId xmlns:a16="http://schemas.microsoft.com/office/drawing/2014/main" id="{6CD9CFA9-D566-429D-9096-41A17E4FB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7467" y="4700092"/>
            <a:ext cx="0" cy="68580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24">
            <a:extLst>
              <a:ext uri="{FF2B5EF4-FFF2-40B4-BE49-F238E27FC236}">
                <a16:creationId xmlns:a16="http://schemas.microsoft.com/office/drawing/2014/main" id="{DB04716D-5FA4-47DA-9C42-469E554624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5467" y="5385892"/>
            <a:ext cx="762000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25">
            <a:extLst>
              <a:ext uri="{FF2B5EF4-FFF2-40B4-BE49-F238E27FC236}">
                <a16:creationId xmlns:a16="http://schemas.microsoft.com/office/drawing/2014/main" id="{CF0B5F9F-2F87-44BE-AA07-AB04CA323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7429" y="3987305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tx2"/>
                </a:solidFill>
              </a:rPr>
              <a:t>堆栈段</a:t>
            </a:r>
          </a:p>
        </p:txBody>
      </p:sp>
      <p:sp>
        <p:nvSpPr>
          <p:cNvPr id="24" name="AutoShape 26">
            <a:extLst>
              <a:ext uri="{FF2B5EF4-FFF2-40B4-BE49-F238E27FC236}">
                <a16:creationId xmlns:a16="http://schemas.microsoft.com/office/drawing/2014/main" id="{933E5A54-23A3-422D-9D0F-5813260B2403}"/>
              </a:ext>
            </a:extLst>
          </p:cNvPr>
          <p:cNvSpPr>
            <a:spLocks/>
          </p:cNvSpPr>
          <p:nvPr/>
        </p:nvSpPr>
        <p:spPr bwMode="auto">
          <a:xfrm>
            <a:off x="7865492" y="3628530"/>
            <a:ext cx="215900" cy="1655762"/>
          </a:xfrm>
          <a:prstGeom prst="rightBrace">
            <a:avLst>
              <a:gd name="adj1" fmla="val 63909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5" name="Line 27">
            <a:extLst>
              <a:ext uri="{FF2B5EF4-FFF2-40B4-BE49-F238E27FC236}">
                <a16:creationId xmlns:a16="http://schemas.microsoft.com/office/drawing/2014/main" id="{800FD2AF-5E0B-43A8-BBD2-ECAAC62529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8579" y="4693742"/>
            <a:ext cx="1368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41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500"/>
                            </p:stCondLst>
                            <p:childTnLst>
                              <p:par>
                                <p:cTn id="104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7" grpId="0" animBg="1"/>
      <p:bldP spid="18" grpId="0"/>
      <p:bldP spid="19" grpId="0"/>
      <p:bldP spid="20" grpId="0"/>
      <p:bldP spid="23" grpId="0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寻址方式练习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116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指出源操作数的寻址方式，若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DS=1000H, SS=2000H,  BX=0100H, SI=0200H, BP=2000H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，求源操作数的物理地址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1234H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[1234H]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[BX]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[BX+02H]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[BP+02H]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[SI+02H]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[BX+SI+02H]</a:t>
            </a:r>
          </a:p>
        </p:txBody>
      </p:sp>
    </p:spTree>
    <p:extLst>
      <p:ext uri="{BB962C8B-B14F-4D97-AF65-F5344CB8AC3E}">
        <p14:creationId xmlns:p14="http://schemas.microsoft.com/office/powerpoint/2010/main" val="293061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764087"/>
            <a:ext cx="228780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指令格式和寻址方式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数据传送指令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逻辑运算和移位循环指令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串操作指令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2535596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数据传送指令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MOV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413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复制传送到操作数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AL, BL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BX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AL, [1200H]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[1200H]</a:t>
            </a:r>
          </a:p>
        </p:txBody>
      </p:sp>
    </p:spTree>
    <p:extLst>
      <p:ext uri="{BB962C8B-B14F-4D97-AF65-F5344CB8AC3E}">
        <p14:creationId xmlns:p14="http://schemas.microsoft.com/office/powerpoint/2010/main" val="382309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MOV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指令注意事项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730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所有的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MOV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指令都不改变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FR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的标志位；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立即数不能作为目的操作数；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立即数不能直接传送给段寄存器；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两操作数字长必须相同；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两操作数不允许同时为存储器操作数；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两个段寄存器间的数据不能直接传送；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不能作为目标操作数。</a:t>
            </a:r>
          </a:p>
        </p:txBody>
      </p:sp>
    </p:spTree>
    <p:extLst>
      <p:ext uri="{BB962C8B-B14F-4D97-AF65-F5344CB8AC3E}">
        <p14:creationId xmlns:p14="http://schemas.microsoft.com/office/powerpoint/2010/main" val="303863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判断下列指令是否正确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78727"/>
            <a:ext cx="3317390" cy="4100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 AL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BX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 100,  CX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 [SI],  AX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 CS,  AX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 [SI],  [DI]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 BX,  2[DI]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 AX,  CS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 SS,  2400H</a:t>
            </a:r>
            <a:endParaRPr lang="zh-CN" altLang="en-US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356D7C-D8E1-4A2F-BC7B-42D16DCAC3C2}"/>
              </a:ext>
            </a:extLst>
          </p:cNvPr>
          <p:cNvSpPr/>
          <p:nvPr/>
        </p:nvSpPr>
        <p:spPr>
          <a:xfrm>
            <a:off x="3583458" y="1378727"/>
            <a:ext cx="5090983" cy="409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错，字长不匹配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错，立即数不能作为目的操作数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正确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错，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不能作为目的操作数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错，两内存单元间不能直接传送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正确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正确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错，立即数不能直接传送给段寄存器</a:t>
            </a:r>
          </a:p>
        </p:txBody>
      </p:sp>
    </p:spTree>
    <p:extLst>
      <p:ext uri="{BB962C8B-B14F-4D97-AF65-F5344CB8AC3E}">
        <p14:creationId xmlns:p14="http://schemas.microsoft.com/office/powerpoint/2010/main" val="77019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堆栈操作指令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62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堆栈是内存中一段特定的存储区域，常用来存放：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中断端点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子程序调用现场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需要临时保存的数据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堆栈操作的原则：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先进后出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以字为单位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616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688A965-30A5-45CA-B825-D1171E1F69DF}"/>
              </a:ext>
            </a:extLst>
          </p:cNvPr>
          <p:cNvGrpSpPr/>
          <p:nvPr/>
        </p:nvGrpSpPr>
        <p:grpSpPr>
          <a:xfrm>
            <a:off x="81133" y="1384772"/>
            <a:ext cx="8981733" cy="4327525"/>
            <a:chOff x="1364383" y="1916113"/>
            <a:chExt cx="9323409" cy="4327525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6E58210B-D1F0-4A92-B4A8-42121CABA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8735" y="4440238"/>
              <a:ext cx="1712912" cy="381000"/>
            </a:xfrm>
            <a:prstGeom prst="rect">
              <a:avLst/>
            </a:prstGeom>
            <a:solidFill>
              <a:srgbClr val="339966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2E30F17D-B4CE-4452-AB68-28C667FAA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8735" y="2952750"/>
              <a:ext cx="1712912" cy="381000"/>
            </a:xfrm>
            <a:prstGeom prst="rect">
              <a:avLst/>
            </a:prstGeom>
            <a:solidFill>
              <a:srgbClr val="339966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23A0406B-BC1F-43F5-95C5-B9598A451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8735" y="3333750"/>
              <a:ext cx="1712912" cy="381000"/>
            </a:xfrm>
            <a:prstGeom prst="rect">
              <a:avLst/>
            </a:prstGeom>
            <a:solidFill>
              <a:srgbClr val="339966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E2BEA2A-21FB-4649-8618-11AB253EE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8735" y="4803775"/>
              <a:ext cx="1712912" cy="381000"/>
            </a:xfrm>
            <a:prstGeom prst="rect">
              <a:avLst/>
            </a:prstGeom>
            <a:solidFill>
              <a:srgbClr val="339966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2CDA2BD3-3042-48A2-B6FF-9FC834402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8735" y="5164138"/>
              <a:ext cx="1712912" cy="381000"/>
            </a:xfrm>
            <a:prstGeom prst="rect">
              <a:avLst/>
            </a:prstGeom>
            <a:solidFill>
              <a:srgbClr val="99CC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08FC8F47-58DB-4EA8-A239-C476FC6938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8735" y="2408238"/>
              <a:ext cx="0" cy="37322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68BDB0D4-BF8F-45C8-8E89-B3CFF5EE98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71647" y="2395538"/>
              <a:ext cx="0" cy="37322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BE9F76B1-F7DD-4536-A9E2-8BFECB03B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5560" y="2281238"/>
              <a:ext cx="1685925" cy="377825"/>
            </a:xfrm>
            <a:custGeom>
              <a:avLst/>
              <a:gdLst>
                <a:gd name="T0" fmla="*/ 0 w 1062"/>
                <a:gd name="T1" fmla="*/ 2147483647 h 238"/>
                <a:gd name="T2" fmla="*/ 2147483647 w 1062"/>
                <a:gd name="T3" fmla="*/ 2147483647 h 238"/>
                <a:gd name="T4" fmla="*/ 2147483647 w 1062"/>
                <a:gd name="T5" fmla="*/ 0 h 238"/>
                <a:gd name="T6" fmla="*/ 2147483647 w 1062"/>
                <a:gd name="T7" fmla="*/ 2147483647 h 238"/>
                <a:gd name="T8" fmla="*/ 2147483647 w 1062"/>
                <a:gd name="T9" fmla="*/ 2147483647 h 238"/>
                <a:gd name="T10" fmla="*/ 2147483647 w 1062"/>
                <a:gd name="T11" fmla="*/ 2147483647 h 238"/>
                <a:gd name="T12" fmla="*/ 2147483647 w 1062"/>
                <a:gd name="T13" fmla="*/ 2147483647 h 238"/>
                <a:gd name="T14" fmla="*/ 2147483647 w 1062"/>
                <a:gd name="T15" fmla="*/ 2147483647 h 238"/>
                <a:gd name="T16" fmla="*/ 2147483647 w 1062"/>
                <a:gd name="T17" fmla="*/ 2147483647 h 2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62"/>
                <a:gd name="T28" fmla="*/ 0 h 238"/>
                <a:gd name="T29" fmla="*/ 1062 w 1062"/>
                <a:gd name="T30" fmla="*/ 238 h 23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62" h="238">
                  <a:moveTo>
                    <a:pt x="0" y="74"/>
                  </a:moveTo>
                  <a:cubicBezTo>
                    <a:pt x="11" y="63"/>
                    <a:pt x="54" y="24"/>
                    <a:pt x="65" y="18"/>
                  </a:cubicBezTo>
                  <a:cubicBezTo>
                    <a:pt x="82" y="9"/>
                    <a:pt x="120" y="0"/>
                    <a:pt x="120" y="0"/>
                  </a:cubicBezTo>
                  <a:cubicBezTo>
                    <a:pt x="178" y="14"/>
                    <a:pt x="236" y="21"/>
                    <a:pt x="296" y="28"/>
                  </a:cubicBezTo>
                  <a:cubicBezTo>
                    <a:pt x="389" y="64"/>
                    <a:pt x="459" y="133"/>
                    <a:pt x="545" y="175"/>
                  </a:cubicBezTo>
                  <a:cubicBezTo>
                    <a:pt x="572" y="202"/>
                    <a:pt x="606" y="209"/>
                    <a:pt x="637" y="231"/>
                  </a:cubicBezTo>
                  <a:cubicBezTo>
                    <a:pt x="726" y="228"/>
                    <a:pt x="817" y="238"/>
                    <a:pt x="905" y="222"/>
                  </a:cubicBezTo>
                  <a:cubicBezTo>
                    <a:pt x="927" y="218"/>
                    <a:pt x="935" y="190"/>
                    <a:pt x="951" y="175"/>
                  </a:cubicBezTo>
                  <a:cubicBezTo>
                    <a:pt x="989" y="139"/>
                    <a:pt x="1025" y="102"/>
                    <a:pt x="1062" y="65"/>
                  </a:cubicBezTo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D133D33-C14F-4B3D-8D1D-A5883FA68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097" y="5799138"/>
              <a:ext cx="1731963" cy="444500"/>
            </a:xfrm>
            <a:custGeom>
              <a:avLst/>
              <a:gdLst>
                <a:gd name="T0" fmla="*/ 2147483647 w 1091"/>
                <a:gd name="T1" fmla="*/ 2147483647 h 280"/>
                <a:gd name="T2" fmla="*/ 2147483647 w 1091"/>
                <a:gd name="T3" fmla="*/ 2147483647 h 280"/>
                <a:gd name="T4" fmla="*/ 2147483647 w 1091"/>
                <a:gd name="T5" fmla="*/ 2147483647 h 280"/>
                <a:gd name="T6" fmla="*/ 2147483647 w 1091"/>
                <a:gd name="T7" fmla="*/ 2147483647 h 280"/>
                <a:gd name="T8" fmla="*/ 2147483647 w 1091"/>
                <a:gd name="T9" fmla="*/ 0 h 280"/>
                <a:gd name="T10" fmla="*/ 2147483647 w 1091"/>
                <a:gd name="T11" fmla="*/ 2147483647 h 280"/>
                <a:gd name="T12" fmla="*/ 2147483647 w 1091"/>
                <a:gd name="T13" fmla="*/ 2147483647 h 280"/>
                <a:gd name="T14" fmla="*/ 2147483647 w 1091"/>
                <a:gd name="T15" fmla="*/ 2147483647 h 280"/>
                <a:gd name="T16" fmla="*/ 2147483647 w 1091"/>
                <a:gd name="T17" fmla="*/ 2147483647 h 280"/>
                <a:gd name="T18" fmla="*/ 2147483647 w 1091"/>
                <a:gd name="T19" fmla="*/ 2147483647 h 280"/>
                <a:gd name="T20" fmla="*/ 2147483647 w 1091"/>
                <a:gd name="T21" fmla="*/ 2147483647 h 280"/>
                <a:gd name="T22" fmla="*/ 2147483647 w 1091"/>
                <a:gd name="T23" fmla="*/ 2147483647 h 280"/>
                <a:gd name="T24" fmla="*/ 2147483647 w 1091"/>
                <a:gd name="T25" fmla="*/ 2147483647 h 2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91"/>
                <a:gd name="T40" fmla="*/ 0 h 280"/>
                <a:gd name="T41" fmla="*/ 1091 w 1091"/>
                <a:gd name="T42" fmla="*/ 280 h 2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91" h="280">
                  <a:moveTo>
                    <a:pt x="11" y="222"/>
                  </a:moveTo>
                  <a:cubicBezTo>
                    <a:pt x="85" y="198"/>
                    <a:pt x="0" y="234"/>
                    <a:pt x="48" y="185"/>
                  </a:cubicBezTo>
                  <a:cubicBezTo>
                    <a:pt x="64" y="169"/>
                    <a:pt x="87" y="164"/>
                    <a:pt x="103" y="148"/>
                  </a:cubicBezTo>
                  <a:cubicBezTo>
                    <a:pt x="133" y="118"/>
                    <a:pt x="166" y="97"/>
                    <a:pt x="205" y="83"/>
                  </a:cubicBezTo>
                  <a:cubicBezTo>
                    <a:pt x="245" y="43"/>
                    <a:pt x="281" y="17"/>
                    <a:pt x="334" y="0"/>
                  </a:cubicBezTo>
                  <a:cubicBezTo>
                    <a:pt x="368" y="3"/>
                    <a:pt x="403" y="1"/>
                    <a:pt x="436" y="9"/>
                  </a:cubicBezTo>
                  <a:cubicBezTo>
                    <a:pt x="452" y="13"/>
                    <a:pt x="477" y="54"/>
                    <a:pt x="491" y="65"/>
                  </a:cubicBezTo>
                  <a:cubicBezTo>
                    <a:pt x="535" y="99"/>
                    <a:pt x="540" y="99"/>
                    <a:pt x="583" y="120"/>
                  </a:cubicBezTo>
                  <a:cubicBezTo>
                    <a:pt x="660" y="197"/>
                    <a:pt x="753" y="242"/>
                    <a:pt x="860" y="259"/>
                  </a:cubicBezTo>
                  <a:cubicBezTo>
                    <a:pt x="925" y="280"/>
                    <a:pt x="912" y="279"/>
                    <a:pt x="1026" y="259"/>
                  </a:cubicBezTo>
                  <a:cubicBezTo>
                    <a:pt x="1035" y="257"/>
                    <a:pt x="1038" y="246"/>
                    <a:pt x="1045" y="240"/>
                  </a:cubicBezTo>
                  <a:cubicBezTo>
                    <a:pt x="1054" y="233"/>
                    <a:pt x="1064" y="229"/>
                    <a:pt x="1073" y="222"/>
                  </a:cubicBezTo>
                  <a:cubicBezTo>
                    <a:pt x="1080" y="217"/>
                    <a:pt x="1091" y="203"/>
                    <a:pt x="1091" y="203"/>
                  </a:cubicBezTo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422A4247-CDF1-46BF-AF6B-A9525AF82E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7372" y="4752975"/>
              <a:ext cx="838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</a:rPr>
                <a:t>12H</a:t>
              </a: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52A622FC-1439-4C27-A574-7F6745A15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7372" y="4392613"/>
              <a:ext cx="838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</a:rPr>
                <a:t>34H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456FEF84-E16C-4AB9-8046-7C9DA9385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2772" y="3889375"/>
              <a:ext cx="609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宋体" panose="02010600030101010101" pitchFamily="2" charset="-122"/>
                </a:rPr>
                <a:t>┇</a:t>
              </a:r>
              <a:r>
                <a:rPr lang="en-US" altLang="zh-CN"/>
                <a:t> </a:t>
              </a:r>
            </a:p>
          </p:txBody>
        </p:sp>
        <p:sp>
          <p:nvSpPr>
            <p:cNvPr id="18" name="Text Box 19">
              <a:extLst>
                <a:ext uri="{FF2B5EF4-FFF2-40B4-BE49-F238E27FC236}">
                  <a16:creationId xmlns:a16="http://schemas.microsoft.com/office/drawing/2014/main" id="{4A831733-0EA1-4CAA-88FD-5A304C9969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52747" y="3537796"/>
              <a:ext cx="2025875" cy="1169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 b="1" dirty="0"/>
                <a:t>堆栈区间的大小</a:t>
              </a:r>
              <a:r>
                <a:rPr lang="en-US" altLang="zh-CN" sz="2000" b="1" dirty="0"/>
                <a:t>100B</a:t>
              </a:r>
            </a:p>
            <a:p>
              <a:pPr>
                <a:spcBef>
                  <a:spcPct val="50000"/>
                </a:spcBef>
              </a:pPr>
              <a:endParaRPr lang="zh-CN" altLang="en-US" sz="2000" b="1" dirty="0"/>
            </a:p>
          </p:txBody>
        </p:sp>
        <p:sp>
          <p:nvSpPr>
            <p:cNvPr id="19" name="AutoShape 20">
              <a:extLst>
                <a:ext uri="{FF2B5EF4-FFF2-40B4-BE49-F238E27FC236}">
                  <a16:creationId xmlns:a16="http://schemas.microsoft.com/office/drawing/2014/main" id="{6A30EBF8-1F4F-4C48-A3D5-BEDC5AC6F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4263" y="3151901"/>
              <a:ext cx="377612" cy="1863852"/>
            </a:xfrm>
            <a:prstGeom prst="rightBrace">
              <a:avLst>
                <a:gd name="adj1" fmla="val 46154"/>
                <a:gd name="adj2" fmla="val 50000"/>
              </a:avLst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Text Box 62">
              <a:extLst>
                <a:ext uri="{FF2B5EF4-FFF2-40B4-BE49-F238E27FC236}">
                  <a16:creationId xmlns:a16="http://schemas.microsoft.com/office/drawing/2014/main" id="{60D6B6F6-94BC-43AA-BA40-232B2D039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2110" y="1916113"/>
              <a:ext cx="1066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 b="1" dirty="0"/>
                <a:t>内存</a:t>
              </a:r>
            </a:p>
          </p:txBody>
        </p:sp>
        <p:sp>
          <p:nvSpPr>
            <p:cNvPr id="21" name="Text Box 62">
              <a:extLst>
                <a:ext uri="{FF2B5EF4-FFF2-40B4-BE49-F238E27FC236}">
                  <a16:creationId xmlns:a16="http://schemas.microsoft.com/office/drawing/2014/main" id="{690A93EC-2811-42D2-8DB5-7FB6769A1D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963" y="2959561"/>
              <a:ext cx="258882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zh-CN" altLang="en-US" sz="2000" b="1" dirty="0"/>
                <a:t>堆栈段起始物理地址</a:t>
              </a:r>
            </a:p>
          </p:txBody>
        </p:sp>
        <p:sp>
          <p:nvSpPr>
            <p:cNvPr id="22" name="Text Box 62">
              <a:extLst>
                <a:ext uri="{FF2B5EF4-FFF2-40B4-BE49-F238E27FC236}">
                  <a16:creationId xmlns:a16="http://schemas.microsoft.com/office/drawing/2014/main" id="{6C8CEB38-9799-4C65-85D2-21CB8A361F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0100" y="2964672"/>
              <a:ext cx="10780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US" altLang="zh-CN" sz="2000" b="1" dirty="0"/>
                <a:t>20000H</a:t>
              </a:r>
              <a:endParaRPr lang="zh-CN" altLang="en-US" sz="2000" b="1" dirty="0"/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88FF5457-314C-49B9-89D4-091DF81CB00B}"/>
                </a:ext>
              </a:extLst>
            </p:cNvPr>
            <p:cNvCxnSpPr>
              <a:stCxn id="21" idx="3"/>
              <a:endCxn id="22" idx="1"/>
            </p:cNvCxnSpPr>
            <p:nvPr/>
          </p:nvCxnSpPr>
          <p:spPr bwMode="auto">
            <a:xfrm>
              <a:off x="4130783" y="3159616"/>
              <a:ext cx="509317" cy="5111"/>
            </a:xfrm>
            <a:prstGeom prst="straightConnector1">
              <a:avLst/>
            </a:prstGeom>
            <a:ln>
              <a:headEnd type="none" w="sm" len="sm"/>
              <a:tailEnd type="triangle" w="lg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24" name="Text Box 62">
              <a:extLst>
                <a:ext uri="{FF2B5EF4-FFF2-40B4-BE49-F238E27FC236}">
                  <a16:creationId xmlns:a16="http://schemas.microsoft.com/office/drawing/2014/main" id="{FCB5C1F6-BCA8-4833-90AC-4970EAB95C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4383" y="4812208"/>
              <a:ext cx="27621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zh-CN" altLang="en-US" sz="2000" b="1" dirty="0"/>
                <a:t>堆栈段最大物理地址</a:t>
              </a:r>
            </a:p>
          </p:txBody>
        </p:sp>
        <p:sp>
          <p:nvSpPr>
            <p:cNvPr id="25" name="Text Box 62">
              <a:extLst>
                <a:ext uri="{FF2B5EF4-FFF2-40B4-BE49-F238E27FC236}">
                  <a16:creationId xmlns:a16="http://schemas.microsoft.com/office/drawing/2014/main" id="{9C789E34-D9F1-4CF2-99BC-F974E0181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2179" y="4806455"/>
              <a:ext cx="10780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US" altLang="zh-CN" sz="2000" b="1" dirty="0"/>
                <a:t>20063H</a:t>
              </a:r>
              <a:endParaRPr lang="zh-CN" altLang="en-US" sz="2000" b="1" dirty="0"/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D641D3F7-7C27-46FE-B2AD-0B65B19A6584}"/>
                </a:ext>
              </a:extLst>
            </p:cNvPr>
            <p:cNvCxnSpPr>
              <a:stCxn id="24" idx="3"/>
              <a:endCxn id="25" idx="1"/>
            </p:cNvCxnSpPr>
            <p:nvPr/>
          </p:nvCxnSpPr>
          <p:spPr bwMode="auto">
            <a:xfrm flipV="1">
              <a:off x="4126539" y="5006510"/>
              <a:ext cx="425640" cy="5753"/>
            </a:xfrm>
            <a:prstGeom prst="straightConnector1">
              <a:avLst/>
            </a:prstGeom>
            <a:ln>
              <a:headEnd type="none" w="sm" len="sm"/>
              <a:tailEnd type="triangle" w="lg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27" name="Text Box 62">
              <a:extLst>
                <a:ext uri="{FF2B5EF4-FFF2-40B4-BE49-F238E27FC236}">
                  <a16:creationId xmlns:a16="http://schemas.microsoft.com/office/drawing/2014/main" id="{689B243D-D268-4DCA-880C-25BBB2840C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5253" y="5191375"/>
              <a:ext cx="52810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US" altLang="zh-CN" sz="2000" b="1" dirty="0"/>
                <a:t>SP</a:t>
              </a:r>
              <a:endParaRPr lang="zh-CN" altLang="en-US" sz="2000" b="1" dirty="0"/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88C297B9-260F-4488-9A36-16B8775FAC16}"/>
                </a:ext>
              </a:extLst>
            </p:cNvPr>
            <p:cNvCxnSpPr/>
            <p:nvPr/>
          </p:nvCxnSpPr>
          <p:spPr bwMode="auto">
            <a:xfrm flipV="1">
              <a:off x="5263447" y="5391430"/>
              <a:ext cx="415927" cy="10219"/>
            </a:xfrm>
            <a:prstGeom prst="straightConnector1">
              <a:avLst/>
            </a:prstGeom>
            <a:ln>
              <a:headEnd type="none" w="sm" len="sm"/>
              <a:tailEnd type="triangle" w="lg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29" name="Text Box 62">
              <a:extLst>
                <a:ext uri="{FF2B5EF4-FFF2-40B4-BE49-F238E27FC236}">
                  <a16:creationId xmlns:a16="http://schemas.microsoft.com/office/drawing/2014/main" id="{FFD32A4F-4D40-458E-ABAD-F77D185E28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4489" y="2951845"/>
              <a:ext cx="9297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dirty="0"/>
                <a:t>0000H</a:t>
              </a:r>
              <a:endParaRPr lang="zh-CN" altLang="en-US" sz="2000" b="1" dirty="0"/>
            </a:p>
          </p:txBody>
        </p:sp>
        <p:sp>
          <p:nvSpPr>
            <p:cNvPr id="30" name="Text Box 62">
              <a:extLst>
                <a:ext uri="{FF2B5EF4-FFF2-40B4-BE49-F238E27FC236}">
                  <a16:creationId xmlns:a16="http://schemas.microsoft.com/office/drawing/2014/main" id="{41DB9C1F-343D-482C-9A0E-B83EE9A0D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7808" y="4778375"/>
              <a:ext cx="9297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dirty="0"/>
                <a:t>0063H</a:t>
              </a:r>
              <a:endParaRPr lang="zh-CN" altLang="en-US" sz="2000" b="1" dirty="0"/>
            </a:p>
          </p:txBody>
        </p:sp>
        <p:sp>
          <p:nvSpPr>
            <p:cNvPr id="31" name="Text Box 62">
              <a:extLst>
                <a:ext uri="{FF2B5EF4-FFF2-40B4-BE49-F238E27FC236}">
                  <a16:creationId xmlns:a16="http://schemas.microsoft.com/office/drawing/2014/main" id="{F8808FA7-A7C4-41B2-ADED-48458D134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1485" y="5182154"/>
              <a:ext cx="9297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dirty="0"/>
                <a:t>0064H</a:t>
              </a:r>
              <a:endParaRPr lang="zh-CN" altLang="en-US" sz="2000" b="1" dirty="0"/>
            </a:p>
          </p:txBody>
        </p:sp>
        <p:sp>
          <p:nvSpPr>
            <p:cNvPr id="32" name="Text Box 62">
              <a:extLst>
                <a:ext uri="{FF2B5EF4-FFF2-40B4-BE49-F238E27FC236}">
                  <a16:creationId xmlns:a16="http://schemas.microsoft.com/office/drawing/2014/main" id="{2471B9DF-EA6C-401B-8026-07757B8F95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7560" y="2151625"/>
              <a:ext cx="258882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 b="1" dirty="0"/>
                <a:t>堆栈段起始偏移地址</a:t>
              </a: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B57C27B3-DA8A-4602-9811-24CE2F2459AD}"/>
                </a:ext>
              </a:extLst>
            </p:cNvPr>
            <p:cNvCxnSpPr>
              <a:stCxn id="32" idx="2"/>
              <a:endCxn id="29" idx="3"/>
            </p:cNvCxnSpPr>
            <p:nvPr/>
          </p:nvCxnSpPr>
          <p:spPr bwMode="auto">
            <a:xfrm flipH="1">
              <a:off x="8234263" y="2551735"/>
              <a:ext cx="747707" cy="600165"/>
            </a:xfrm>
            <a:prstGeom prst="straightConnector1">
              <a:avLst/>
            </a:prstGeom>
            <a:ln>
              <a:headEnd type="none" w="sm" len="sm"/>
              <a:tailEnd type="triangle" w="lg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34" name="Text Box 62">
              <a:extLst>
                <a:ext uri="{FF2B5EF4-FFF2-40B4-BE49-F238E27FC236}">
                  <a16:creationId xmlns:a16="http://schemas.microsoft.com/office/drawing/2014/main" id="{6617F58B-F1FE-496F-81C7-3E5EAAE661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8972" y="5401648"/>
              <a:ext cx="258882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 b="1" dirty="0"/>
                <a:t>堆栈段最大偏移地址</a:t>
              </a:r>
            </a:p>
          </p:txBody>
        </p: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A2028FB4-74CA-44D2-B1AB-E44054014958}"/>
                </a:ext>
              </a:extLst>
            </p:cNvPr>
            <p:cNvCxnSpPr>
              <a:stCxn id="34" idx="0"/>
              <a:endCxn id="19" idx="2"/>
            </p:cNvCxnSpPr>
            <p:nvPr/>
          </p:nvCxnSpPr>
          <p:spPr bwMode="auto">
            <a:xfrm flipH="1" flipV="1">
              <a:off x="8234263" y="5015753"/>
              <a:ext cx="1159119" cy="385895"/>
            </a:xfrm>
            <a:prstGeom prst="straightConnector1">
              <a:avLst/>
            </a:prstGeom>
            <a:ln>
              <a:headEnd type="none" w="sm" len="sm"/>
              <a:tailEnd type="triangle" w="lg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7935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入栈指令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PUSH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2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PUSH OPRD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功能：将指定的寄存器或存储单元的内容送入到栈顶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操作数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OPRD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不能是立即数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入栈数据必须是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位，且支持所有寻址方式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PUSH AX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PUSH [1200H]</a:t>
            </a:r>
          </a:p>
        </p:txBody>
      </p:sp>
    </p:spTree>
    <p:extLst>
      <p:ext uri="{BB962C8B-B14F-4D97-AF65-F5344CB8AC3E}">
        <p14:creationId xmlns:p14="http://schemas.microsoft.com/office/powerpoint/2010/main" val="401791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PUSH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指令执行过程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1048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SP-1→SP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，然后操作数的高位字节送至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所指向的单元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SP-1→SP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，然后操作数的低位字节送至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所指向的单元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82DA15-921B-4B61-BA93-8F5522420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935" y="3596246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0A5E78-9F48-4665-80F6-D0123BF1F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935" y="3959784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76F6969-DC6C-4A2E-9382-EA49F097D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935" y="4320146"/>
            <a:ext cx="1458913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EBDF5A9E-C69B-43ED-8329-720A639B7C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5935" y="2591359"/>
            <a:ext cx="0" cy="29035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82F9291C-310D-44B8-A536-0BEB0998125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6435" y="2570721"/>
            <a:ext cx="0" cy="29035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B5F92C7-923B-4E57-ABEA-31CF99851ED7}"/>
              </a:ext>
            </a:extLst>
          </p:cNvPr>
          <p:cNvSpPr>
            <a:spLocks/>
          </p:cNvSpPr>
          <p:nvPr/>
        </p:nvSpPr>
        <p:spPr bwMode="auto">
          <a:xfrm>
            <a:off x="6115935" y="5156759"/>
            <a:ext cx="1457325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A493FCD4-0F4E-4E61-8B4C-AC281B673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135" y="2705659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宋体" panose="02010600030101010101" pitchFamily="2" charset="-122"/>
              </a:rPr>
              <a:t>┇</a:t>
            </a:r>
            <a:r>
              <a:rPr lang="en-US" altLang="zh-CN"/>
              <a:t> 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67E75BE-7E61-4741-87AE-03A835B7F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935" y="3226359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2B0D6BAD-84FC-413F-B767-E408E05F0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0548" y="4305859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/>
              <a:t>SP</a:t>
            </a: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0F4B581F-E592-414C-B92F-293FF1D08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3635" y="4520171"/>
            <a:ext cx="576263" cy="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3AE2C94B-2A84-4C12-B13E-8E0005E44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1410" y="3418446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堆栈段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1749F2D9-3AC2-4C97-A539-73037E2BC244}"/>
              </a:ext>
            </a:extLst>
          </p:cNvPr>
          <p:cNvSpPr>
            <a:spLocks/>
          </p:cNvSpPr>
          <p:nvPr/>
        </p:nvSpPr>
        <p:spPr bwMode="auto">
          <a:xfrm>
            <a:off x="7711373" y="3205721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E3CDE37D-E593-4D3A-96F5-75BB7E4FF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0548" y="3585134"/>
            <a:ext cx="862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/>
              <a:t>SP</a:t>
            </a:r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0AA6EAF4-1169-4A2F-8824-22BAB2E60E2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3635" y="3799446"/>
            <a:ext cx="576263" cy="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F12D280A-6FA5-4DBD-9520-ACCA40719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8835" y="3945496"/>
            <a:ext cx="936625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chemeClr val="bg1"/>
                </a:solidFill>
                <a:latin typeface="+mj-ea"/>
                <a:ea typeface="+mj-ea"/>
              </a:rPr>
              <a:t>高</a:t>
            </a:r>
            <a:r>
              <a:rPr lang="en-US" altLang="zh-CN" sz="2200" dirty="0">
                <a:solidFill>
                  <a:schemeClr val="bg1"/>
                </a:solidFill>
                <a:latin typeface="+mj-ea"/>
                <a:ea typeface="+mj-ea"/>
              </a:rPr>
              <a:t>8</a:t>
            </a:r>
            <a:r>
              <a:rPr lang="zh-CN" altLang="en-US" sz="2200" dirty="0">
                <a:solidFill>
                  <a:schemeClr val="bg1"/>
                </a:solidFill>
                <a:latin typeface="+mj-ea"/>
                <a:ea typeface="+mj-ea"/>
              </a:rPr>
              <a:t>位</a:t>
            </a: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56CC4E99-1057-45A0-A6E1-BDEA7775D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8835" y="3585134"/>
            <a:ext cx="936625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chemeClr val="bg1"/>
                </a:solidFill>
                <a:latin typeface="+mj-ea"/>
                <a:ea typeface="+mj-ea"/>
              </a:rPr>
              <a:t>低</a:t>
            </a:r>
            <a:r>
              <a:rPr lang="en-US" altLang="zh-CN" sz="2200" dirty="0">
                <a:solidFill>
                  <a:schemeClr val="bg1"/>
                </a:solidFill>
                <a:latin typeface="+mj-ea"/>
                <a:ea typeface="+mj-ea"/>
              </a:rPr>
              <a:t>8</a:t>
            </a:r>
            <a:r>
              <a:rPr lang="zh-CN" altLang="en-US" sz="2200" dirty="0">
                <a:solidFill>
                  <a:schemeClr val="bg1"/>
                </a:solidFill>
                <a:latin typeface="+mj-ea"/>
                <a:ea typeface="+mj-ea"/>
              </a:rPr>
              <a:t>位</a:t>
            </a:r>
          </a:p>
        </p:txBody>
      </p:sp>
    </p:spTree>
    <p:extLst>
      <p:ext uri="{BB962C8B-B14F-4D97-AF65-F5344CB8AC3E}">
        <p14:creationId xmlns:p14="http://schemas.microsoft.com/office/powerpoint/2010/main" val="355691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4" presetClass="exit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500"/>
                            </p:stCondLst>
                            <p:childTnLst>
                              <p:par>
                                <p:cTn id="8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/>
      <p:bldP spid="12" grpId="0" animBg="1"/>
      <p:bldP spid="13" grpId="0"/>
      <p:bldP spid="13" grpId="1"/>
      <p:bldP spid="15" grpId="0"/>
      <p:bldP spid="16" grpId="0" animBg="1"/>
      <p:bldP spid="17" grpId="0"/>
      <p:bldP spid="19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47498" y="711014"/>
            <a:ext cx="7849003" cy="545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设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AX=1234H, SP=1200H,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执行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PUSH AX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指令后堆栈区的状态：</a:t>
            </a:r>
          </a:p>
        </p:txBody>
      </p:sp>
      <p:sp>
        <p:nvSpPr>
          <p:cNvPr id="21" name="Rectangle 73">
            <a:extLst>
              <a:ext uri="{FF2B5EF4-FFF2-40B4-BE49-F238E27FC236}">
                <a16:creationId xmlns:a16="http://schemas.microsoft.com/office/drawing/2014/main" id="{D434A199-00A8-4234-9319-2326A5970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606" y="3617913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Rectangle 54">
            <a:extLst>
              <a:ext uri="{FF2B5EF4-FFF2-40B4-BE49-F238E27FC236}">
                <a16:creationId xmlns:a16="http://schemas.microsoft.com/office/drawing/2014/main" id="{E08D4644-056B-497C-B4FE-66BD985F8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606" y="3981450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Rectangle 55">
            <a:extLst>
              <a:ext uri="{FF2B5EF4-FFF2-40B4-BE49-F238E27FC236}">
                <a16:creationId xmlns:a16="http://schemas.microsoft.com/office/drawing/2014/main" id="{5B9137E7-8BBE-4934-9E35-695B17170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606" y="4341813"/>
            <a:ext cx="1458913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Line 56">
            <a:extLst>
              <a:ext uri="{FF2B5EF4-FFF2-40B4-BE49-F238E27FC236}">
                <a16:creationId xmlns:a16="http://schemas.microsoft.com/office/drawing/2014/main" id="{F4269C5D-BC21-45F5-9F2F-40778363B01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606" y="2613025"/>
            <a:ext cx="0" cy="2903538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25" name="Line 57">
            <a:extLst>
              <a:ext uri="{FF2B5EF4-FFF2-40B4-BE49-F238E27FC236}">
                <a16:creationId xmlns:a16="http://schemas.microsoft.com/office/drawing/2014/main" id="{63EFA68D-B14F-4497-B2D3-B66AE90CEB3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4106" y="2592388"/>
            <a:ext cx="0" cy="2903537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26" name="Freeform 59">
            <a:extLst>
              <a:ext uri="{FF2B5EF4-FFF2-40B4-BE49-F238E27FC236}">
                <a16:creationId xmlns:a16="http://schemas.microsoft.com/office/drawing/2014/main" id="{FB1FF2D0-BDED-4EB2-B741-EC45EE7EF388}"/>
              </a:ext>
            </a:extLst>
          </p:cNvPr>
          <p:cNvSpPr>
            <a:spLocks/>
          </p:cNvSpPr>
          <p:nvPr/>
        </p:nvSpPr>
        <p:spPr bwMode="auto">
          <a:xfrm>
            <a:off x="6553606" y="5178425"/>
            <a:ext cx="1457325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Text Box 62">
            <a:extLst>
              <a:ext uri="{FF2B5EF4-FFF2-40B4-BE49-F238E27FC236}">
                <a16:creationId xmlns:a16="http://schemas.microsoft.com/office/drawing/2014/main" id="{545357B1-1200-4374-8BE0-8998D4685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3006" y="4327525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1200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28" name="Text Box 66">
            <a:extLst>
              <a:ext uri="{FF2B5EF4-FFF2-40B4-BE49-F238E27FC236}">
                <a16:creationId xmlns:a16="http://schemas.microsoft.com/office/drawing/2014/main" id="{D59A36C6-5825-4404-89B9-5B31B9928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806" y="272732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┇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9" name="Text Box 68">
            <a:extLst>
              <a:ext uri="{FF2B5EF4-FFF2-40B4-BE49-F238E27FC236}">
                <a16:creationId xmlns:a16="http://schemas.microsoft.com/office/drawing/2014/main" id="{E67ECDFC-C554-470A-9C7C-A6E14DB44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6219" y="3732562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堆栈段</a:t>
            </a:r>
          </a:p>
        </p:txBody>
      </p:sp>
      <p:sp>
        <p:nvSpPr>
          <p:cNvPr id="30" name="AutoShape 69">
            <a:extLst>
              <a:ext uri="{FF2B5EF4-FFF2-40B4-BE49-F238E27FC236}">
                <a16:creationId xmlns:a16="http://schemas.microsoft.com/office/drawing/2014/main" id="{9DB1660E-25C5-4A55-9987-295ADE200DC6}"/>
              </a:ext>
            </a:extLst>
          </p:cNvPr>
          <p:cNvSpPr>
            <a:spLocks/>
          </p:cNvSpPr>
          <p:nvPr/>
        </p:nvSpPr>
        <p:spPr bwMode="auto">
          <a:xfrm>
            <a:off x="8149044" y="3516313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Text Box 82">
            <a:extLst>
              <a:ext uri="{FF2B5EF4-FFF2-40B4-BE49-F238E27FC236}">
                <a16:creationId xmlns:a16="http://schemas.microsoft.com/office/drawing/2014/main" id="{78D0E710-16B8-41FB-AE25-29FAC325C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069" y="3667125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SP-2=11FEH</a:t>
            </a:r>
          </a:p>
        </p:txBody>
      </p:sp>
      <p:sp>
        <p:nvSpPr>
          <p:cNvPr id="32" name="Rectangle 91">
            <a:extLst>
              <a:ext uri="{FF2B5EF4-FFF2-40B4-BE49-F238E27FC236}">
                <a16:creationId xmlns:a16="http://schemas.microsoft.com/office/drawing/2014/main" id="{A51CD742-BD95-411E-AACB-656A2A021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569" y="3632200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Rectangle 93">
            <a:extLst>
              <a:ext uri="{FF2B5EF4-FFF2-40B4-BE49-F238E27FC236}">
                <a16:creationId xmlns:a16="http://schemas.microsoft.com/office/drawing/2014/main" id="{6E6BF4C8-CDB0-4C12-A981-46437F696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569" y="3263900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Rectangle 94">
            <a:extLst>
              <a:ext uri="{FF2B5EF4-FFF2-40B4-BE49-F238E27FC236}">
                <a16:creationId xmlns:a16="http://schemas.microsoft.com/office/drawing/2014/main" id="{F69CE80F-DBC9-4354-9FF1-A858F90BF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569" y="3995738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Rectangle 95">
            <a:extLst>
              <a:ext uri="{FF2B5EF4-FFF2-40B4-BE49-F238E27FC236}">
                <a16:creationId xmlns:a16="http://schemas.microsoft.com/office/drawing/2014/main" id="{1F1F30EC-2447-4FDF-8F75-46C4F8D90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569" y="4356100"/>
            <a:ext cx="1458913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Line 96">
            <a:extLst>
              <a:ext uri="{FF2B5EF4-FFF2-40B4-BE49-F238E27FC236}">
                <a16:creationId xmlns:a16="http://schemas.microsoft.com/office/drawing/2014/main" id="{E5074249-7DFD-49B6-A28E-1611FE766F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5569" y="2620963"/>
            <a:ext cx="0" cy="2903537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37" name="Line 97">
            <a:extLst>
              <a:ext uri="{FF2B5EF4-FFF2-40B4-BE49-F238E27FC236}">
                <a16:creationId xmlns:a16="http://schemas.microsoft.com/office/drawing/2014/main" id="{BD4D5E48-E842-4386-80D3-B318DC9D61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6069" y="2603500"/>
            <a:ext cx="0" cy="2903538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38" name="Freeform 98">
            <a:extLst>
              <a:ext uri="{FF2B5EF4-FFF2-40B4-BE49-F238E27FC236}">
                <a16:creationId xmlns:a16="http://schemas.microsoft.com/office/drawing/2014/main" id="{18A217FE-21E0-4AD3-8824-8F1B951D00C1}"/>
              </a:ext>
            </a:extLst>
          </p:cNvPr>
          <p:cNvSpPr>
            <a:spLocks/>
          </p:cNvSpPr>
          <p:nvPr/>
        </p:nvSpPr>
        <p:spPr bwMode="auto">
          <a:xfrm>
            <a:off x="3205569" y="5178425"/>
            <a:ext cx="1457325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Text Box 99">
            <a:extLst>
              <a:ext uri="{FF2B5EF4-FFF2-40B4-BE49-F238E27FC236}">
                <a16:creationId xmlns:a16="http://schemas.microsoft.com/office/drawing/2014/main" id="{03CD4CA6-A390-49FA-AF93-B7BB0E1A1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0207" y="3944938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12H</a:t>
            </a:r>
          </a:p>
        </p:txBody>
      </p:sp>
      <p:sp>
        <p:nvSpPr>
          <p:cNvPr id="40" name="Text Box 100">
            <a:extLst>
              <a:ext uri="{FF2B5EF4-FFF2-40B4-BE49-F238E27FC236}">
                <a16:creationId xmlns:a16="http://schemas.microsoft.com/office/drawing/2014/main" id="{1038F0AD-489E-45F9-B3CF-FD545A23C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0207" y="35845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34H</a:t>
            </a:r>
          </a:p>
        </p:txBody>
      </p:sp>
      <p:sp>
        <p:nvSpPr>
          <p:cNvPr id="41" name="Text Box 101">
            <a:extLst>
              <a:ext uri="{FF2B5EF4-FFF2-40B4-BE49-F238E27FC236}">
                <a16:creationId xmlns:a16="http://schemas.microsoft.com/office/drawing/2014/main" id="{6ED9E2E1-9ABB-40F4-9E63-CF960E6A1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969" y="4303713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1200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42" name="Text Box 102">
            <a:extLst>
              <a:ext uri="{FF2B5EF4-FFF2-40B4-BE49-F238E27FC236}">
                <a16:creationId xmlns:a16="http://schemas.microsoft.com/office/drawing/2014/main" id="{4C1F8A98-7577-40AC-92DB-6328926DF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2769" y="259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┇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3" name="Text Box 103">
            <a:extLst>
              <a:ext uri="{FF2B5EF4-FFF2-40B4-BE49-F238E27FC236}">
                <a16:creationId xmlns:a16="http://schemas.microsoft.com/office/drawing/2014/main" id="{98735633-EE7D-414C-AAF2-5EA227EF5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9769" y="3641725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堆栈段</a:t>
            </a:r>
          </a:p>
        </p:txBody>
      </p:sp>
      <p:sp>
        <p:nvSpPr>
          <p:cNvPr id="44" name="AutoShape 104">
            <a:extLst>
              <a:ext uri="{FF2B5EF4-FFF2-40B4-BE49-F238E27FC236}">
                <a16:creationId xmlns:a16="http://schemas.microsoft.com/office/drawing/2014/main" id="{09155FC1-3AB6-4B3D-A720-1CFCE887D2BB}"/>
              </a:ext>
            </a:extLst>
          </p:cNvPr>
          <p:cNvSpPr>
            <a:spLocks/>
          </p:cNvSpPr>
          <p:nvPr/>
        </p:nvSpPr>
        <p:spPr bwMode="auto">
          <a:xfrm>
            <a:off x="4801007" y="3429000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Line 105">
            <a:extLst>
              <a:ext uri="{FF2B5EF4-FFF2-40B4-BE49-F238E27FC236}">
                <a16:creationId xmlns:a16="http://schemas.microsoft.com/office/drawing/2014/main" id="{30F29F5D-4360-43FD-92F1-6E251F3B5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4969" y="3886200"/>
            <a:ext cx="838200" cy="0"/>
          </a:xfrm>
          <a:prstGeom prst="line">
            <a:avLst/>
          </a:prstGeom>
          <a:noFill/>
          <a:ln w="25400" cap="sq">
            <a:solidFill>
              <a:srgbClr val="339966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46" name="Rectangle 106">
            <a:extLst>
              <a:ext uri="{FF2B5EF4-FFF2-40B4-BE49-F238E27FC236}">
                <a16:creationId xmlns:a16="http://schemas.microsoft.com/office/drawing/2014/main" id="{B521EB4E-9832-41D6-ACDD-47F1823D0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569" y="2590800"/>
            <a:ext cx="1371600" cy="4572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Line 107">
            <a:extLst>
              <a:ext uri="{FF2B5EF4-FFF2-40B4-BE49-F238E27FC236}">
                <a16:creationId xmlns:a16="http://schemas.microsoft.com/office/drawing/2014/main" id="{37F59083-18CA-48D3-A86D-8303E56E27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4369" y="2590800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48" name="Text Box 108">
            <a:extLst>
              <a:ext uri="{FF2B5EF4-FFF2-40B4-BE49-F238E27FC236}">
                <a16:creationId xmlns:a16="http://schemas.microsoft.com/office/drawing/2014/main" id="{1D42A434-B8D4-4931-A5A3-A5A68421C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769" y="2587625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12H   34H</a:t>
            </a:r>
          </a:p>
        </p:txBody>
      </p:sp>
      <p:sp>
        <p:nvSpPr>
          <p:cNvPr id="49" name="Text Box 109">
            <a:extLst>
              <a:ext uri="{FF2B5EF4-FFF2-40B4-BE49-F238E27FC236}">
                <a16:creationId xmlns:a16="http://schemas.microsoft.com/office/drawing/2014/main" id="{ED89517E-243B-43F9-83BE-0F01C05AF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169" y="3073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AX</a:t>
            </a:r>
          </a:p>
        </p:txBody>
      </p:sp>
      <p:sp>
        <p:nvSpPr>
          <p:cNvPr id="50" name="Rectangle 110">
            <a:extLst>
              <a:ext uri="{FF2B5EF4-FFF2-40B4-BE49-F238E27FC236}">
                <a16:creationId xmlns:a16="http://schemas.microsoft.com/office/drawing/2014/main" id="{414DF4D7-C8C5-4A0F-A67B-B77108C9B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606" y="3248025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Text Box 111">
            <a:extLst>
              <a:ext uri="{FF2B5EF4-FFF2-40B4-BE49-F238E27FC236}">
                <a16:creationId xmlns:a16="http://schemas.microsoft.com/office/drawing/2014/main" id="{6F067FB4-E83F-4C6F-B146-C68CE1649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4169" y="204152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入栈后</a:t>
            </a:r>
          </a:p>
        </p:txBody>
      </p:sp>
      <p:sp>
        <p:nvSpPr>
          <p:cNvPr id="52" name="Text Box 112">
            <a:extLst>
              <a:ext uri="{FF2B5EF4-FFF2-40B4-BE49-F238E27FC236}">
                <a16:creationId xmlns:a16="http://schemas.microsoft.com/office/drawing/2014/main" id="{89B9175B-81A6-49AA-AB4D-8EA78CC78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2206" y="204152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入栈前</a:t>
            </a:r>
          </a:p>
        </p:txBody>
      </p:sp>
      <p:sp>
        <p:nvSpPr>
          <p:cNvPr id="53" name="Line 116">
            <a:extLst>
              <a:ext uri="{FF2B5EF4-FFF2-40B4-BE49-F238E27FC236}">
                <a16:creationId xmlns:a16="http://schemas.microsoft.com/office/drawing/2014/main" id="{FCE8DE6A-1C8D-4A02-93A0-5602878D10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0169" y="2819400"/>
            <a:ext cx="685800" cy="0"/>
          </a:xfrm>
          <a:prstGeom prst="line">
            <a:avLst/>
          </a:prstGeom>
          <a:noFill/>
          <a:ln w="76200" cap="sq">
            <a:solidFill>
              <a:srgbClr val="FF99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54" name="Line 117">
            <a:extLst>
              <a:ext uri="{FF2B5EF4-FFF2-40B4-BE49-F238E27FC236}">
                <a16:creationId xmlns:a16="http://schemas.microsoft.com/office/drawing/2014/main" id="{95B75C18-B6A0-4FD0-A706-C20713126B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5969" y="2819400"/>
            <a:ext cx="0" cy="685800"/>
          </a:xfrm>
          <a:prstGeom prst="line">
            <a:avLst/>
          </a:prstGeom>
          <a:noFill/>
          <a:ln w="76200" cap="sq">
            <a:solidFill>
              <a:srgbClr val="FF99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55" name="Line 118">
            <a:extLst>
              <a:ext uri="{FF2B5EF4-FFF2-40B4-BE49-F238E27FC236}">
                <a16:creationId xmlns:a16="http://schemas.microsoft.com/office/drawing/2014/main" id="{03F3019D-64CA-4ED4-83E6-A0BED0ABBA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5969" y="3505200"/>
            <a:ext cx="609600" cy="228600"/>
          </a:xfrm>
          <a:prstGeom prst="line">
            <a:avLst/>
          </a:prstGeom>
          <a:noFill/>
          <a:ln w="76200" cap="sq">
            <a:solidFill>
              <a:srgbClr val="FF99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925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5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6" grpId="0" animBg="1"/>
      <p:bldP spid="27" grpId="0"/>
      <p:bldP spid="28" grpId="0"/>
      <p:bldP spid="29" grpId="0"/>
      <p:bldP spid="30" grpId="0" animBg="1"/>
      <p:bldP spid="32" grpId="0" animBg="1"/>
      <p:bldP spid="33" grpId="0" animBg="1"/>
      <p:bldP spid="34" grpId="0" animBg="1"/>
      <p:bldP spid="35" grpId="0" animBg="1"/>
      <p:bldP spid="38" grpId="0" animBg="1"/>
      <p:bldP spid="39" grpId="0"/>
      <p:bldP spid="40" grpId="0"/>
      <p:bldP spid="41" grpId="0"/>
      <p:bldP spid="42" grpId="0"/>
      <p:bldP spid="43" grpId="0"/>
      <p:bldP spid="44" grpId="0" animBg="1"/>
      <p:bldP spid="46" grpId="0" animBg="1"/>
      <p:bldP spid="48" grpId="0"/>
      <p:bldP spid="49" grpId="0"/>
      <p:bldP spid="50" grpId="0" animBg="1"/>
      <p:bldP spid="51" grpId="0"/>
      <p:bldP spid="5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出栈指令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POP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2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POP OPRD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功能：将栈顶的数据复制到指定的寄存器或内存单元中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不能作为操作数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出栈数据必须是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位，且支持所有寻址方式（立即寻址除外）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POP AX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POP [1200H]</a:t>
            </a:r>
          </a:p>
        </p:txBody>
      </p:sp>
    </p:spTree>
    <p:extLst>
      <p:ext uri="{BB962C8B-B14F-4D97-AF65-F5344CB8AC3E}">
        <p14:creationId xmlns:p14="http://schemas.microsoft.com/office/powerpoint/2010/main" val="39343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POP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指令执行过程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1048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所指向单元的数据送至操作数的低位字节，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SP+1→SP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所指向单元的数据送至操作数的高位字节，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SP+1→SP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DE4AC586-0A6A-4F46-ABA7-2E01A3D27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4143034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D7F27026-0AFB-42C0-A665-9F5A3AA09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4506571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5A481498-AEAD-419A-A1F4-D66630346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4866934"/>
            <a:ext cx="1458912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4" name="Line 12">
            <a:extLst>
              <a:ext uri="{FF2B5EF4-FFF2-40B4-BE49-F238E27FC236}">
                <a16:creationId xmlns:a16="http://schemas.microsoft.com/office/drawing/2014/main" id="{0AECE985-38D3-4F94-9D62-F0A41D21A1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5800" y="3138146"/>
            <a:ext cx="0" cy="29035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13">
            <a:extLst>
              <a:ext uri="{FF2B5EF4-FFF2-40B4-BE49-F238E27FC236}">
                <a16:creationId xmlns:a16="http://schemas.microsoft.com/office/drawing/2014/main" id="{55E7F874-9EE0-4E72-BE89-C9C936F77A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6300" y="3117509"/>
            <a:ext cx="0" cy="29035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Freeform 14">
            <a:extLst>
              <a:ext uri="{FF2B5EF4-FFF2-40B4-BE49-F238E27FC236}">
                <a16:creationId xmlns:a16="http://schemas.microsoft.com/office/drawing/2014/main" id="{62BF4A4F-8230-4CD2-A39E-3A86A4C9ED55}"/>
              </a:ext>
            </a:extLst>
          </p:cNvPr>
          <p:cNvSpPr>
            <a:spLocks/>
          </p:cNvSpPr>
          <p:nvPr/>
        </p:nvSpPr>
        <p:spPr bwMode="auto">
          <a:xfrm>
            <a:off x="5765800" y="5703546"/>
            <a:ext cx="1457325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7" name="Text Box 15">
            <a:extLst>
              <a:ext uri="{FF2B5EF4-FFF2-40B4-BE49-F238E27FC236}">
                <a16:creationId xmlns:a16="http://schemas.microsoft.com/office/drawing/2014/main" id="{887C6C2E-CFAC-4D86-9F4C-EED4A7514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0" y="3252446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宋体" panose="02010600030101010101" pitchFamily="2" charset="-122"/>
              </a:rPr>
              <a:t>┇</a:t>
            </a:r>
            <a:r>
              <a:rPr lang="en-US" altLang="zh-CN"/>
              <a:t> </a:t>
            </a:r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3E36F89D-2264-4601-9C48-136707215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3773146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9" name="Text Box 17">
            <a:extLst>
              <a:ext uri="{FF2B5EF4-FFF2-40B4-BE49-F238E27FC236}">
                <a16:creationId xmlns:a16="http://schemas.microsoft.com/office/drawing/2014/main" id="{56B1BDDA-160A-49F1-B495-34518287F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852646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/>
              <a:t>SP</a:t>
            </a:r>
          </a:p>
        </p:txBody>
      </p:sp>
      <p:sp>
        <p:nvSpPr>
          <p:cNvPr id="30" name="Line 18">
            <a:extLst>
              <a:ext uri="{FF2B5EF4-FFF2-40B4-BE49-F238E27FC236}">
                <a16:creationId xmlns:a16="http://schemas.microsoft.com/office/drawing/2014/main" id="{C5736015-E78B-4789-9E56-57E8B219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5087" y="5066959"/>
            <a:ext cx="576263" cy="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1" name="Text Box 19">
            <a:extLst>
              <a:ext uri="{FF2B5EF4-FFF2-40B4-BE49-F238E27FC236}">
                <a16:creationId xmlns:a16="http://schemas.microsoft.com/office/drawing/2014/main" id="{5AE75C12-26D7-48F6-B29A-4BDF0634B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1275" y="3965234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堆栈段</a:t>
            </a:r>
          </a:p>
        </p:txBody>
      </p:sp>
      <p:sp>
        <p:nvSpPr>
          <p:cNvPr id="32" name="AutoShape 20">
            <a:extLst>
              <a:ext uri="{FF2B5EF4-FFF2-40B4-BE49-F238E27FC236}">
                <a16:creationId xmlns:a16="http://schemas.microsoft.com/office/drawing/2014/main" id="{91F7420A-625E-4651-8A0D-F2EF85AD57FD}"/>
              </a:ext>
            </a:extLst>
          </p:cNvPr>
          <p:cNvSpPr>
            <a:spLocks/>
          </p:cNvSpPr>
          <p:nvPr/>
        </p:nvSpPr>
        <p:spPr bwMode="auto">
          <a:xfrm>
            <a:off x="7361237" y="3752509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3" name="Text Box 21">
            <a:extLst>
              <a:ext uri="{FF2B5EF4-FFF2-40B4-BE49-F238E27FC236}">
                <a16:creationId xmlns:a16="http://schemas.microsoft.com/office/drawing/2014/main" id="{68F7F6D5-E235-4EFE-8358-12BAC96A2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131921"/>
            <a:ext cx="862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/>
              <a:t>SP</a:t>
            </a:r>
          </a:p>
        </p:txBody>
      </p:sp>
      <p:sp>
        <p:nvSpPr>
          <p:cNvPr id="34" name="Line 22">
            <a:extLst>
              <a:ext uri="{FF2B5EF4-FFF2-40B4-BE49-F238E27FC236}">
                <a16:creationId xmlns:a16="http://schemas.microsoft.com/office/drawing/2014/main" id="{1D81F6FE-BD6B-4F3E-BD0F-575402566E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5087" y="4346234"/>
            <a:ext cx="576263" cy="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5" name="Text Box 23">
            <a:extLst>
              <a:ext uri="{FF2B5EF4-FFF2-40B4-BE49-F238E27FC236}">
                <a16:creationId xmlns:a16="http://schemas.microsoft.com/office/drawing/2014/main" id="{7224CDCD-6A3A-4FB4-83C7-7D966E83F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8700" y="4492284"/>
            <a:ext cx="936625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chemeClr val="bg1"/>
                </a:solidFill>
                <a:latin typeface="+mj-ea"/>
                <a:ea typeface="+mj-ea"/>
              </a:rPr>
              <a:t>高</a:t>
            </a:r>
            <a:r>
              <a:rPr lang="en-US" altLang="zh-CN" sz="2200" dirty="0">
                <a:solidFill>
                  <a:schemeClr val="bg1"/>
                </a:solidFill>
                <a:latin typeface="+mj-ea"/>
                <a:ea typeface="+mj-ea"/>
              </a:rPr>
              <a:t>8</a:t>
            </a:r>
            <a:r>
              <a:rPr lang="zh-CN" altLang="en-US" sz="2200" dirty="0">
                <a:solidFill>
                  <a:schemeClr val="bg1"/>
                </a:solidFill>
                <a:latin typeface="+mj-ea"/>
                <a:ea typeface="+mj-ea"/>
              </a:rPr>
              <a:t>位</a:t>
            </a:r>
          </a:p>
        </p:txBody>
      </p:sp>
      <p:sp>
        <p:nvSpPr>
          <p:cNvPr id="36" name="Text Box 24">
            <a:extLst>
              <a:ext uri="{FF2B5EF4-FFF2-40B4-BE49-F238E27FC236}">
                <a16:creationId xmlns:a16="http://schemas.microsoft.com/office/drawing/2014/main" id="{0CFD66B1-9DC0-477C-9B0F-C594885A0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8700" y="4131921"/>
            <a:ext cx="936625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chemeClr val="bg1"/>
                </a:solidFill>
                <a:latin typeface="+mj-ea"/>
                <a:ea typeface="+mj-ea"/>
              </a:rPr>
              <a:t>低</a:t>
            </a:r>
            <a:r>
              <a:rPr lang="en-US" altLang="zh-CN" sz="2200" dirty="0">
                <a:solidFill>
                  <a:schemeClr val="bg1"/>
                </a:solidFill>
                <a:latin typeface="+mj-ea"/>
                <a:ea typeface="+mj-ea"/>
              </a:rPr>
              <a:t>8</a:t>
            </a:r>
            <a:r>
              <a:rPr lang="zh-CN" altLang="en-US" sz="2200" dirty="0">
                <a:solidFill>
                  <a:schemeClr val="bg1"/>
                </a:solidFill>
                <a:latin typeface="+mj-ea"/>
                <a:ea typeface="+mj-ea"/>
              </a:rPr>
              <a:t>位</a:t>
            </a:r>
          </a:p>
        </p:txBody>
      </p:sp>
    </p:spTree>
    <p:extLst>
      <p:ext uri="{BB962C8B-B14F-4D97-AF65-F5344CB8AC3E}">
        <p14:creationId xmlns:p14="http://schemas.microsoft.com/office/powerpoint/2010/main" val="386795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" presetClass="exit" presetSubtype="1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2" presetClass="exit" presetSubtype="1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500"/>
                            </p:stCondLst>
                            <p:childTnLst>
                              <p:par>
                                <p:cTn id="90" presetID="2" presetClass="exit" presetSubtype="1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" presetClass="exit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6" grpId="0" animBg="1"/>
      <p:bldP spid="27" grpId="0"/>
      <p:bldP spid="28" grpId="0" animBg="1"/>
      <p:bldP spid="31" grpId="0"/>
      <p:bldP spid="32" grpId="0" animBg="1"/>
      <p:bldP spid="33" grpId="0"/>
      <p:bldP spid="33" grpId="1"/>
      <p:bldP spid="35" grpId="0"/>
      <p:bldP spid="35" grpId="1"/>
      <p:bldP spid="36" grpId="0"/>
      <p:bldP spid="36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47498" y="711014"/>
            <a:ext cx="7849003" cy="545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设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AX=1234H, SP=11FEH,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执行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POP AX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指令后堆栈区的状态：</a:t>
            </a:r>
          </a:p>
        </p:txBody>
      </p:sp>
      <p:sp>
        <p:nvSpPr>
          <p:cNvPr id="56" name="Rectangle 4">
            <a:extLst>
              <a:ext uri="{FF2B5EF4-FFF2-40B4-BE49-F238E27FC236}">
                <a16:creationId xmlns:a16="http://schemas.microsoft.com/office/drawing/2014/main" id="{AFBA9496-4B36-4C82-B996-12B0C0A95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336" y="4040747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Rectangle 5">
            <a:extLst>
              <a:ext uri="{FF2B5EF4-FFF2-40B4-BE49-F238E27FC236}">
                <a16:creationId xmlns:a16="http://schemas.microsoft.com/office/drawing/2014/main" id="{033BF9EF-1079-4700-A9AE-3DB95924E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336" y="2553259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Rectangle 6">
            <a:extLst>
              <a:ext uri="{FF2B5EF4-FFF2-40B4-BE49-F238E27FC236}">
                <a16:creationId xmlns:a16="http://schemas.microsoft.com/office/drawing/2014/main" id="{9229C94E-3B7D-4F63-907F-F7A30D42C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336" y="2934259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Rectangle 7">
            <a:extLst>
              <a:ext uri="{FF2B5EF4-FFF2-40B4-BE49-F238E27FC236}">
                <a16:creationId xmlns:a16="http://schemas.microsoft.com/office/drawing/2014/main" id="{0330DE33-EA58-4459-89F8-D7DCB9165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336" y="4404284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44CC9BBD-4DD7-4F51-B372-58E7AD5E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336" y="4764647"/>
            <a:ext cx="1712912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" name="Line 9">
            <a:extLst>
              <a:ext uri="{FF2B5EF4-FFF2-40B4-BE49-F238E27FC236}">
                <a16:creationId xmlns:a16="http://schemas.microsoft.com/office/drawing/2014/main" id="{5C0E5999-2A97-490D-B7A0-D195CAA26C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0336" y="2008747"/>
            <a:ext cx="0" cy="3732212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62" name="Line 10">
            <a:extLst>
              <a:ext uri="{FF2B5EF4-FFF2-40B4-BE49-F238E27FC236}">
                <a16:creationId xmlns:a16="http://schemas.microsoft.com/office/drawing/2014/main" id="{D20DAD37-5343-4425-BBF5-161A1FD8FE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3248" y="1996047"/>
            <a:ext cx="0" cy="3732212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63" name="Freeform 11">
            <a:extLst>
              <a:ext uri="{FF2B5EF4-FFF2-40B4-BE49-F238E27FC236}">
                <a16:creationId xmlns:a16="http://schemas.microsoft.com/office/drawing/2014/main" id="{0C0FBF5F-C693-4B3E-AAF9-7F33AAF5D605}"/>
              </a:ext>
            </a:extLst>
          </p:cNvPr>
          <p:cNvSpPr>
            <a:spLocks/>
          </p:cNvSpPr>
          <p:nvPr/>
        </p:nvSpPr>
        <p:spPr bwMode="auto">
          <a:xfrm>
            <a:off x="3217161" y="1881747"/>
            <a:ext cx="1685925" cy="377825"/>
          </a:xfrm>
          <a:custGeom>
            <a:avLst/>
            <a:gdLst>
              <a:gd name="T0" fmla="*/ 0 w 1062"/>
              <a:gd name="T1" fmla="*/ 2147483647 h 238"/>
              <a:gd name="T2" fmla="*/ 2147483647 w 1062"/>
              <a:gd name="T3" fmla="*/ 2147483647 h 238"/>
              <a:gd name="T4" fmla="*/ 2147483647 w 1062"/>
              <a:gd name="T5" fmla="*/ 0 h 238"/>
              <a:gd name="T6" fmla="*/ 2147483647 w 1062"/>
              <a:gd name="T7" fmla="*/ 2147483647 h 238"/>
              <a:gd name="T8" fmla="*/ 2147483647 w 1062"/>
              <a:gd name="T9" fmla="*/ 2147483647 h 238"/>
              <a:gd name="T10" fmla="*/ 2147483647 w 1062"/>
              <a:gd name="T11" fmla="*/ 2147483647 h 238"/>
              <a:gd name="T12" fmla="*/ 2147483647 w 1062"/>
              <a:gd name="T13" fmla="*/ 2147483647 h 238"/>
              <a:gd name="T14" fmla="*/ 2147483647 w 1062"/>
              <a:gd name="T15" fmla="*/ 2147483647 h 238"/>
              <a:gd name="T16" fmla="*/ 2147483647 w 1062"/>
              <a:gd name="T17" fmla="*/ 2147483647 h 23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62"/>
              <a:gd name="T28" fmla="*/ 0 h 238"/>
              <a:gd name="T29" fmla="*/ 1062 w 1062"/>
              <a:gd name="T30" fmla="*/ 238 h 23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62" h="238">
                <a:moveTo>
                  <a:pt x="0" y="74"/>
                </a:moveTo>
                <a:cubicBezTo>
                  <a:pt x="11" y="63"/>
                  <a:pt x="54" y="24"/>
                  <a:pt x="65" y="18"/>
                </a:cubicBezTo>
                <a:cubicBezTo>
                  <a:pt x="82" y="9"/>
                  <a:pt x="120" y="0"/>
                  <a:pt x="120" y="0"/>
                </a:cubicBezTo>
                <a:cubicBezTo>
                  <a:pt x="178" y="14"/>
                  <a:pt x="236" y="21"/>
                  <a:pt x="296" y="28"/>
                </a:cubicBezTo>
                <a:cubicBezTo>
                  <a:pt x="389" y="64"/>
                  <a:pt x="459" y="133"/>
                  <a:pt x="545" y="175"/>
                </a:cubicBezTo>
                <a:cubicBezTo>
                  <a:pt x="572" y="202"/>
                  <a:pt x="606" y="209"/>
                  <a:pt x="637" y="231"/>
                </a:cubicBezTo>
                <a:cubicBezTo>
                  <a:pt x="726" y="228"/>
                  <a:pt x="817" y="238"/>
                  <a:pt x="905" y="222"/>
                </a:cubicBezTo>
                <a:cubicBezTo>
                  <a:pt x="927" y="218"/>
                  <a:pt x="935" y="190"/>
                  <a:pt x="951" y="175"/>
                </a:cubicBezTo>
                <a:cubicBezTo>
                  <a:pt x="989" y="139"/>
                  <a:pt x="1025" y="102"/>
                  <a:pt x="1062" y="65"/>
                </a:cubicBezTo>
              </a:path>
            </a:pathLst>
          </a:cu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Freeform 12">
            <a:extLst>
              <a:ext uri="{FF2B5EF4-FFF2-40B4-BE49-F238E27FC236}">
                <a16:creationId xmlns:a16="http://schemas.microsoft.com/office/drawing/2014/main" id="{CC33AD5F-7CA4-4CB7-9781-A4797C3B9A56}"/>
              </a:ext>
            </a:extLst>
          </p:cNvPr>
          <p:cNvSpPr>
            <a:spLocks/>
          </p:cNvSpPr>
          <p:nvPr/>
        </p:nvSpPr>
        <p:spPr bwMode="auto">
          <a:xfrm>
            <a:off x="3199698" y="5399647"/>
            <a:ext cx="1731963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Text Box 13">
            <a:extLst>
              <a:ext uri="{FF2B5EF4-FFF2-40B4-BE49-F238E27FC236}">
                <a16:creationId xmlns:a16="http://schemas.microsoft.com/office/drawing/2014/main" id="{94DEBAC1-76A8-48B7-8D01-3AD4EB646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8973" y="4353484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12H</a:t>
            </a:r>
          </a:p>
        </p:txBody>
      </p:sp>
      <p:sp>
        <p:nvSpPr>
          <p:cNvPr id="66" name="Text Box 14">
            <a:extLst>
              <a:ext uri="{FF2B5EF4-FFF2-40B4-BE49-F238E27FC236}">
                <a16:creationId xmlns:a16="http://schemas.microsoft.com/office/drawing/2014/main" id="{CA2CAFEE-65D1-4B3E-A626-8C2D15AAC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8973" y="3993122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34H</a:t>
            </a:r>
          </a:p>
        </p:txBody>
      </p:sp>
      <p:sp>
        <p:nvSpPr>
          <p:cNvPr id="67" name="Text Box 15">
            <a:extLst>
              <a:ext uri="{FF2B5EF4-FFF2-40B4-BE49-F238E27FC236}">
                <a16:creationId xmlns:a16="http://schemas.microsoft.com/office/drawing/2014/main" id="{38DE3ECC-9445-4201-A0E8-6FCC47F27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1523" y="3899459"/>
            <a:ext cx="949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1FEH</a:t>
            </a:r>
          </a:p>
        </p:txBody>
      </p:sp>
      <p:sp>
        <p:nvSpPr>
          <p:cNvPr id="68" name="Text Box 16">
            <a:extLst>
              <a:ext uri="{FF2B5EF4-FFF2-40B4-BE49-F238E27FC236}">
                <a16:creationId xmlns:a16="http://schemas.microsoft.com/office/drawing/2014/main" id="{D777DCFB-A13D-4558-8802-8CC95853C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4373" y="3489884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┇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9" name="Text Box 17">
            <a:extLst>
              <a:ext uri="{FF2B5EF4-FFF2-40B4-BE49-F238E27FC236}">
                <a16:creationId xmlns:a16="http://schemas.microsoft.com/office/drawing/2014/main" id="{6F1E183B-6BD1-4E0C-9E9B-084714006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0586" y="4332847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堆栈段</a:t>
            </a:r>
          </a:p>
        </p:txBody>
      </p:sp>
      <p:sp>
        <p:nvSpPr>
          <p:cNvPr id="70" name="AutoShape 18">
            <a:extLst>
              <a:ext uri="{FF2B5EF4-FFF2-40B4-BE49-F238E27FC236}">
                <a16:creationId xmlns:a16="http://schemas.microsoft.com/office/drawing/2014/main" id="{23BA7BCB-6F91-4CF3-B2B2-B3E0157BD0C9}"/>
              </a:ext>
            </a:extLst>
          </p:cNvPr>
          <p:cNvSpPr>
            <a:spLocks/>
          </p:cNvSpPr>
          <p:nvPr/>
        </p:nvSpPr>
        <p:spPr bwMode="auto">
          <a:xfrm>
            <a:off x="5030086" y="4116947"/>
            <a:ext cx="252412" cy="1303337"/>
          </a:xfrm>
          <a:prstGeom prst="rightBrace">
            <a:avLst>
              <a:gd name="adj1" fmla="val 43029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Text Box 19">
            <a:extLst>
              <a:ext uri="{FF2B5EF4-FFF2-40B4-BE49-F238E27FC236}">
                <a16:creationId xmlns:a16="http://schemas.microsoft.com/office/drawing/2014/main" id="{DD97BE23-B93F-46EF-8DE7-F0C97CC36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911" y="2415147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代码段</a:t>
            </a:r>
          </a:p>
        </p:txBody>
      </p:sp>
      <p:sp>
        <p:nvSpPr>
          <p:cNvPr id="72" name="AutoShape 20">
            <a:extLst>
              <a:ext uri="{FF2B5EF4-FFF2-40B4-BE49-F238E27FC236}">
                <a16:creationId xmlns:a16="http://schemas.microsoft.com/office/drawing/2014/main" id="{A7734709-11BF-4657-B112-B7F7B7355876}"/>
              </a:ext>
            </a:extLst>
          </p:cNvPr>
          <p:cNvSpPr>
            <a:spLocks/>
          </p:cNvSpPr>
          <p:nvPr/>
        </p:nvSpPr>
        <p:spPr bwMode="auto">
          <a:xfrm>
            <a:off x="5074536" y="2415147"/>
            <a:ext cx="206375" cy="1143000"/>
          </a:xfrm>
          <a:prstGeom prst="rightBrace">
            <a:avLst>
              <a:gd name="adj1" fmla="val 46154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Text Box 21">
            <a:extLst>
              <a:ext uri="{FF2B5EF4-FFF2-40B4-BE49-F238E27FC236}">
                <a16:creationId xmlns:a16="http://schemas.microsoft.com/office/drawing/2014/main" id="{C2F0F1AB-42A0-4FC8-AA1C-3728AF91D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236" y="2585009"/>
            <a:ext cx="1041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PUSH</a:t>
            </a:r>
          </a:p>
        </p:txBody>
      </p:sp>
      <p:sp>
        <p:nvSpPr>
          <p:cNvPr id="74" name="Rectangle 22">
            <a:extLst>
              <a:ext uri="{FF2B5EF4-FFF2-40B4-BE49-F238E27FC236}">
                <a16:creationId xmlns:a16="http://schemas.microsoft.com/office/drawing/2014/main" id="{DE324F87-BB19-43D9-AE61-D03EB33B8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473" y="3632759"/>
            <a:ext cx="1657350" cy="504825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" name="Text Box 23">
            <a:extLst>
              <a:ext uri="{FF2B5EF4-FFF2-40B4-BE49-F238E27FC236}">
                <a16:creationId xmlns:a16="http://schemas.microsoft.com/office/drawing/2014/main" id="{E5628D16-EF5C-4A61-85CF-12732BDB6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498" y="3632759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12       34</a:t>
            </a:r>
          </a:p>
        </p:txBody>
      </p:sp>
      <p:sp>
        <p:nvSpPr>
          <p:cNvPr id="76" name="Line 24">
            <a:extLst>
              <a:ext uri="{FF2B5EF4-FFF2-40B4-BE49-F238E27FC236}">
                <a16:creationId xmlns:a16="http://schemas.microsoft.com/office/drawing/2014/main" id="{000616D9-1213-4B53-83F8-4B2CBB9C82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5636" y="3632759"/>
            <a:ext cx="0" cy="504825"/>
          </a:xfrm>
          <a:prstGeom prst="line">
            <a:avLst/>
          </a:prstGeom>
          <a:noFill/>
          <a:ln w="25400" cap="sq">
            <a:solidFill>
              <a:srgbClr val="00E4A8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77" name="Freeform 25">
            <a:extLst>
              <a:ext uri="{FF2B5EF4-FFF2-40B4-BE49-F238E27FC236}">
                <a16:creationId xmlns:a16="http://schemas.microsoft.com/office/drawing/2014/main" id="{95212F08-D0AF-4899-9A56-BC7D107A260D}"/>
              </a:ext>
            </a:extLst>
          </p:cNvPr>
          <p:cNvSpPr>
            <a:spLocks/>
          </p:cNvSpPr>
          <p:nvPr/>
        </p:nvSpPr>
        <p:spPr bwMode="auto">
          <a:xfrm>
            <a:off x="961323" y="3124759"/>
            <a:ext cx="2435225" cy="1489075"/>
          </a:xfrm>
          <a:custGeom>
            <a:avLst/>
            <a:gdLst>
              <a:gd name="T0" fmla="*/ 0 w 2099"/>
              <a:gd name="T1" fmla="*/ 2147483647 h 938"/>
              <a:gd name="T2" fmla="*/ 2147483647 w 2099"/>
              <a:gd name="T3" fmla="*/ 2147483647 h 938"/>
              <a:gd name="T4" fmla="*/ 2147483647 w 2099"/>
              <a:gd name="T5" fmla="*/ 0 h 938"/>
              <a:gd name="T6" fmla="*/ 2147483647 w 2099"/>
              <a:gd name="T7" fmla="*/ 2147483647 h 938"/>
              <a:gd name="T8" fmla="*/ 2147483647 w 2099"/>
              <a:gd name="T9" fmla="*/ 2147483647 h 938"/>
              <a:gd name="T10" fmla="*/ 2147483647 w 2099"/>
              <a:gd name="T11" fmla="*/ 2147483647 h 938"/>
              <a:gd name="T12" fmla="*/ 2147483647 w 2099"/>
              <a:gd name="T13" fmla="*/ 2147483647 h 938"/>
              <a:gd name="T14" fmla="*/ 2147483647 w 2099"/>
              <a:gd name="T15" fmla="*/ 2147483647 h 938"/>
              <a:gd name="T16" fmla="*/ 2147483647 w 2099"/>
              <a:gd name="T17" fmla="*/ 2147483647 h 938"/>
              <a:gd name="T18" fmla="*/ 2147483647 w 2099"/>
              <a:gd name="T19" fmla="*/ 2147483647 h 938"/>
              <a:gd name="T20" fmla="*/ 2147483647 w 2099"/>
              <a:gd name="T21" fmla="*/ 2147483647 h 938"/>
              <a:gd name="T22" fmla="*/ 2147483647 w 2099"/>
              <a:gd name="T23" fmla="*/ 2147483647 h 938"/>
              <a:gd name="T24" fmla="*/ 2147483647 w 2099"/>
              <a:gd name="T25" fmla="*/ 2147483647 h 938"/>
              <a:gd name="T26" fmla="*/ 2147483647 w 2099"/>
              <a:gd name="T27" fmla="*/ 2147483647 h 938"/>
              <a:gd name="T28" fmla="*/ 2147483647 w 2099"/>
              <a:gd name="T29" fmla="*/ 2147483647 h 938"/>
              <a:gd name="T30" fmla="*/ 2147483647 w 2099"/>
              <a:gd name="T31" fmla="*/ 2147483647 h 938"/>
              <a:gd name="T32" fmla="*/ 2147483647 w 2099"/>
              <a:gd name="T33" fmla="*/ 2147483647 h 938"/>
              <a:gd name="T34" fmla="*/ 2147483647 w 2099"/>
              <a:gd name="T35" fmla="*/ 2147483647 h 938"/>
              <a:gd name="T36" fmla="*/ 2147483647 w 2099"/>
              <a:gd name="T37" fmla="*/ 2147483647 h 938"/>
              <a:gd name="T38" fmla="*/ 2147483647 w 2099"/>
              <a:gd name="T39" fmla="*/ 2147483647 h 938"/>
              <a:gd name="T40" fmla="*/ 2147483647 w 2099"/>
              <a:gd name="T41" fmla="*/ 2147483647 h 938"/>
              <a:gd name="T42" fmla="*/ 2147483647 w 2099"/>
              <a:gd name="T43" fmla="*/ 2147483647 h 93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2099"/>
              <a:gd name="T67" fmla="*/ 0 h 938"/>
              <a:gd name="T68" fmla="*/ 2099 w 2099"/>
              <a:gd name="T69" fmla="*/ 938 h 93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2099" h="938">
                <a:moveTo>
                  <a:pt x="0" y="245"/>
                </a:moveTo>
                <a:cubicBezTo>
                  <a:pt x="51" y="167"/>
                  <a:pt x="97" y="73"/>
                  <a:pt x="176" y="20"/>
                </a:cubicBezTo>
                <a:cubicBezTo>
                  <a:pt x="185" y="14"/>
                  <a:pt x="238" y="2"/>
                  <a:pt x="244" y="0"/>
                </a:cubicBezTo>
                <a:cubicBezTo>
                  <a:pt x="303" y="3"/>
                  <a:pt x="362" y="3"/>
                  <a:pt x="420" y="10"/>
                </a:cubicBezTo>
                <a:cubicBezTo>
                  <a:pt x="475" y="17"/>
                  <a:pt x="517" y="37"/>
                  <a:pt x="566" y="59"/>
                </a:cubicBezTo>
                <a:cubicBezTo>
                  <a:pt x="621" y="83"/>
                  <a:pt x="684" y="102"/>
                  <a:pt x="742" y="118"/>
                </a:cubicBezTo>
                <a:cubicBezTo>
                  <a:pt x="785" y="130"/>
                  <a:pt x="830" y="143"/>
                  <a:pt x="869" y="166"/>
                </a:cubicBezTo>
                <a:cubicBezTo>
                  <a:pt x="889" y="178"/>
                  <a:pt x="908" y="192"/>
                  <a:pt x="927" y="205"/>
                </a:cubicBezTo>
                <a:cubicBezTo>
                  <a:pt x="937" y="212"/>
                  <a:pt x="957" y="225"/>
                  <a:pt x="957" y="225"/>
                </a:cubicBezTo>
                <a:cubicBezTo>
                  <a:pt x="987" y="270"/>
                  <a:pt x="1007" y="306"/>
                  <a:pt x="1045" y="342"/>
                </a:cubicBezTo>
                <a:cubicBezTo>
                  <a:pt x="1062" y="397"/>
                  <a:pt x="1102" y="441"/>
                  <a:pt x="1132" y="489"/>
                </a:cubicBezTo>
                <a:cubicBezTo>
                  <a:pt x="1137" y="498"/>
                  <a:pt x="1137" y="509"/>
                  <a:pt x="1142" y="518"/>
                </a:cubicBezTo>
                <a:cubicBezTo>
                  <a:pt x="1153" y="538"/>
                  <a:pt x="1174" y="554"/>
                  <a:pt x="1181" y="576"/>
                </a:cubicBezTo>
                <a:cubicBezTo>
                  <a:pt x="1184" y="586"/>
                  <a:pt x="1185" y="597"/>
                  <a:pt x="1191" y="606"/>
                </a:cubicBezTo>
                <a:cubicBezTo>
                  <a:pt x="1224" y="655"/>
                  <a:pt x="1279" y="700"/>
                  <a:pt x="1328" y="733"/>
                </a:cubicBezTo>
                <a:cubicBezTo>
                  <a:pt x="1360" y="782"/>
                  <a:pt x="1337" y="754"/>
                  <a:pt x="1406" y="801"/>
                </a:cubicBezTo>
                <a:cubicBezTo>
                  <a:pt x="1426" y="814"/>
                  <a:pt x="1476" y="859"/>
                  <a:pt x="1494" y="869"/>
                </a:cubicBezTo>
                <a:cubicBezTo>
                  <a:pt x="1515" y="881"/>
                  <a:pt x="1565" y="892"/>
                  <a:pt x="1591" y="899"/>
                </a:cubicBezTo>
                <a:cubicBezTo>
                  <a:pt x="1601" y="905"/>
                  <a:pt x="1610" y="913"/>
                  <a:pt x="1621" y="918"/>
                </a:cubicBezTo>
                <a:cubicBezTo>
                  <a:pt x="1640" y="926"/>
                  <a:pt x="1679" y="938"/>
                  <a:pt x="1679" y="938"/>
                </a:cubicBezTo>
                <a:cubicBezTo>
                  <a:pt x="1757" y="935"/>
                  <a:pt x="1835" y="934"/>
                  <a:pt x="1913" y="928"/>
                </a:cubicBezTo>
                <a:cubicBezTo>
                  <a:pt x="1975" y="924"/>
                  <a:pt x="2035" y="899"/>
                  <a:pt x="2099" y="899"/>
                </a:cubicBezTo>
              </a:path>
            </a:pathLst>
          </a:custGeom>
          <a:noFill/>
          <a:ln w="25400" cap="sq">
            <a:solidFill>
              <a:srgbClr val="FF6600"/>
            </a:solidFill>
            <a:round/>
            <a:headEnd type="none" w="sm" len="sm"/>
            <a:tailEnd type="oval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" name="Freeform 26">
            <a:extLst>
              <a:ext uri="{FF2B5EF4-FFF2-40B4-BE49-F238E27FC236}">
                <a16:creationId xmlns:a16="http://schemas.microsoft.com/office/drawing/2014/main" id="{B61EE698-2EE2-4BB9-841B-C03417CB98FC}"/>
              </a:ext>
            </a:extLst>
          </p:cNvPr>
          <p:cNvSpPr>
            <a:spLocks/>
          </p:cNvSpPr>
          <p:nvPr/>
        </p:nvSpPr>
        <p:spPr bwMode="auto">
          <a:xfrm>
            <a:off x="1609023" y="3173972"/>
            <a:ext cx="1787525" cy="1079500"/>
          </a:xfrm>
          <a:custGeom>
            <a:avLst/>
            <a:gdLst>
              <a:gd name="T0" fmla="*/ 0 w 1631"/>
              <a:gd name="T1" fmla="*/ 2147483647 h 615"/>
              <a:gd name="T2" fmla="*/ 2147483647 w 1631"/>
              <a:gd name="T3" fmla="*/ 2147483647 h 615"/>
              <a:gd name="T4" fmla="*/ 2147483647 w 1631"/>
              <a:gd name="T5" fmla="*/ 2147483647 h 615"/>
              <a:gd name="T6" fmla="*/ 2147483647 w 1631"/>
              <a:gd name="T7" fmla="*/ 0 h 615"/>
              <a:gd name="T8" fmla="*/ 2147483647 w 1631"/>
              <a:gd name="T9" fmla="*/ 2147483647 h 615"/>
              <a:gd name="T10" fmla="*/ 2147483647 w 1631"/>
              <a:gd name="T11" fmla="*/ 2147483647 h 615"/>
              <a:gd name="T12" fmla="*/ 2147483647 w 1631"/>
              <a:gd name="T13" fmla="*/ 2147483647 h 615"/>
              <a:gd name="T14" fmla="*/ 2147483647 w 1631"/>
              <a:gd name="T15" fmla="*/ 2147483647 h 615"/>
              <a:gd name="T16" fmla="*/ 2147483647 w 1631"/>
              <a:gd name="T17" fmla="*/ 2147483647 h 615"/>
              <a:gd name="T18" fmla="*/ 2147483647 w 1631"/>
              <a:gd name="T19" fmla="*/ 2147483647 h 615"/>
              <a:gd name="T20" fmla="*/ 2147483647 w 1631"/>
              <a:gd name="T21" fmla="*/ 2147483647 h 615"/>
              <a:gd name="T22" fmla="*/ 2147483647 w 1631"/>
              <a:gd name="T23" fmla="*/ 2147483647 h 615"/>
              <a:gd name="T24" fmla="*/ 2147483647 w 1631"/>
              <a:gd name="T25" fmla="*/ 2147483647 h 615"/>
              <a:gd name="T26" fmla="*/ 2147483647 w 1631"/>
              <a:gd name="T27" fmla="*/ 2147483647 h 615"/>
              <a:gd name="T28" fmla="*/ 2147483647 w 1631"/>
              <a:gd name="T29" fmla="*/ 2147483647 h 615"/>
              <a:gd name="T30" fmla="*/ 2147483647 w 1631"/>
              <a:gd name="T31" fmla="*/ 2147483647 h 61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631"/>
              <a:gd name="T49" fmla="*/ 0 h 615"/>
              <a:gd name="T50" fmla="*/ 1631 w 1631"/>
              <a:gd name="T51" fmla="*/ 615 h 61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631" h="615">
                <a:moveTo>
                  <a:pt x="0" y="234"/>
                </a:moveTo>
                <a:cubicBezTo>
                  <a:pt x="27" y="194"/>
                  <a:pt x="48" y="118"/>
                  <a:pt x="78" y="88"/>
                </a:cubicBezTo>
                <a:cubicBezTo>
                  <a:pt x="99" y="67"/>
                  <a:pt x="111" y="67"/>
                  <a:pt x="137" y="59"/>
                </a:cubicBezTo>
                <a:cubicBezTo>
                  <a:pt x="202" y="37"/>
                  <a:pt x="265" y="14"/>
                  <a:pt x="332" y="0"/>
                </a:cubicBezTo>
                <a:cubicBezTo>
                  <a:pt x="447" y="9"/>
                  <a:pt x="545" y="24"/>
                  <a:pt x="654" y="59"/>
                </a:cubicBezTo>
                <a:cubicBezTo>
                  <a:pt x="664" y="62"/>
                  <a:pt x="674" y="65"/>
                  <a:pt x="684" y="68"/>
                </a:cubicBezTo>
                <a:cubicBezTo>
                  <a:pt x="703" y="74"/>
                  <a:pt x="723" y="81"/>
                  <a:pt x="742" y="88"/>
                </a:cubicBezTo>
                <a:cubicBezTo>
                  <a:pt x="762" y="95"/>
                  <a:pt x="801" y="107"/>
                  <a:pt x="801" y="107"/>
                </a:cubicBezTo>
                <a:cubicBezTo>
                  <a:pt x="831" y="127"/>
                  <a:pt x="855" y="136"/>
                  <a:pt x="889" y="146"/>
                </a:cubicBezTo>
                <a:cubicBezTo>
                  <a:pt x="908" y="159"/>
                  <a:pt x="928" y="172"/>
                  <a:pt x="947" y="185"/>
                </a:cubicBezTo>
                <a:cubicBezTo>
                  <a:pt x="957" y="192"/>
                  <a:pt x="959" y="207"/>
                  <a:pt x="967" y="215"/>
                </a:cubicBezTo>
                <a:cubicBezTo>
                  <a:pt x="975" y="223"/>
                  <a:pt x="986" y="228"/>
                  <a:pt x="996" y="234"/>
                </a:cubicBezTo>
                <a:cubicBezTo>
                  <a:pt x="1054" y="322"/>
                  <a:pt x="1118" y="415"/>
                  <a:pt x="1221" y="449"/>
                </a:cubicBezTo>
                <a:cubicBezTo>
                  <a:pt x="1260" y="475"/>
                  <a:pt x="1298" y="502"/>
                  <a:pt x="1338" y="527"/>
                </a:cubicBezTo>
                <a:cubicBezTo>
                  <a:pt x="1370" y="547"/>
                  <a:pt x="1450" y="564"/>
                  <a:pt x="1484" y="576"/>
                </a:cubicBezTo>
                <a:cubicBezTo>
                  <a:pt x="1532" y="593"/>
                  <a:pt x="1580" y="615"/>
                  <a:pt x="1631" y="615"/>
                </a:cubicBezTo>
              </a:path>
            </a:pathLst>
          </a:custGeom>
          <a:noFill/>
          <a:ln w="25400" cap="sq">
            <a:solidFill>
              <a:srgbClr val="FF6600"/>
            </a:solidFill>
            <a:round/>
            <a:headEnd type="none" w="lg" len="lg"/>
            <a:tailEnd type="oval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" name="Text Box 29">
            <a:extLst>
              <a:ext uri="{FF2B5EF4-FFF2-40B4-BE49-F238E27FC236}">
                <a16:creationId xmlns:a16="http://schemas.microsoft.com/office/drawing/2014/main" id="{E6F42273-CBB0-4ECE-9F68-DD77D0598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423" y="4259822"/>
            <a:ext cx="792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AX</a:t>
            </a:r>
          </a:p>
        </p:txBody>
      </p:sp>
      <p:sp>
        <p:nvSpPr>
          <p:cNvPr id="80" name="Text Box 30">
            <a:extLst>
              <a:ext uri="{FF2B5EF4-FFF2-40B4-BE49-F238E27FC236}">
                <a16:creationId xmlns:a16="http://schemas.microsoft.com/office/drawing/2014/main" id="{EF361C50-74AF-4CCA-BAD3-05DD2662F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761" y="5339322"/>
            <a:ext cx="94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SP+2</a:t>
            </a:r>
          </a:p>
        </p:txBody>
      </p:sp>
      <p:sp>
        <p:nvSpPr>
          <p:cNvPr id="81" name="Line 34">
            <a:extLst>
              <a:ext uri="{FF2B5EF4-FFF2-40B4-BE49-F238E27FC236}">
                <a16:creationId xmlns:a16="http://schemas.microsoft.com/office/drawing/2014/main" id="{5A87A3CC-F423-4A58-8C15-046C1DB602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1723" y="3478772"/>
            <a:ext cx="0" cy="144462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82" name="Line 35">
            <a:extLst>
              <a:ext uri="{FF2B5EF4-FFF2-40B4-BE49-F238E27FC236}">
                <a16:creationId xmlns:a16="http://schemas.microsoft.com/office/drawing/2014/main" id="{DA163B2E-769C-4F04-91C8-4AD14D0C1EF2}"/>
              </a:ext>
            </a:extLst>
          </p:cNvPr>
          <p:cNvSpPr>
            <a:spLocks noChangeShapeType="1"/>
          </p:cNvSpPr>
          <p:nvPr/>
        </p:nvSpPr>
        <p:spPr bwMode="auto">
          <a:xfrm>
            <a:off x="964498" y="3478772"/>
            <a:ext cx="0" cy="144462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83" name="Line 36">
            <a:extLst>
              <a:ext uri="{FF2B5EF4-FFF2-40B4-BE49-F238E27FC236}">
                <a16:creationId xmlns:a16="http://schemas.microsoft.com/office/drawing/2014/main" id="{24BC3EEE-DC43-4821-8023-6EE811D60E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83661" y="4977372"/>
            <a:ext cx="1223962" cy="504825"/>
          </a:xfrm>
          <a:prstGeom prst="line">
            <a:avLst/>
          </a:prstGeom>
          <a:noFill/>
          <a:ln w="25400" cap="sq">
            <a:solidFill>
              <a:srgbClr val="0000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84" name="Rectangle 50">
            <a:extLst>
              <a:ext uri="{FF2B5EF4-FFF2-40B4-BE49-F238E27FC236}">
                <a16:creationId xmlns:a16="http://schemas.microsoft.com/office/drawing/2014/main" id="{34E4A82D-1C59-45D6-AC76-CC9D28A6E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9336" y="3477184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" name="Rectangle 51">
            <a:extLst>
              <a:ext uri="{FF2B5EF4-FFF2-40B4-BE49-F238E27FC236}">
                <a16:creationId xmlns:a16="http://schemas.microsoft.com/office/drawing/2014/main" id="{6A343DD7-F6D2-47C6-8E71-F74BB6091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9336" y="3840722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" name="Rectangle 52">
            <a:extLst>
              <a:ext uri="{FF2B5EF4-FFF2-40B4-BE49-F238E27FC236}">
                <a16:creationId xmlns:a16="http://schemas.microsoft.com/office/drawing/2014/main" id="{A4453149-5275-4C1E-A845-E80BCB520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9336" y="4201084"/>
            <a:ext cx="1458912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" name="Line 53">
            <a:extLst>
              <a:ext uri="{FF2B5EF4-FFF2-40B4-BE49-F238E27FC236}">
                <a16:creationId xmlns:a16="http://schemas.microsoft.com/office/drawing/2014/main" id="{19AFE0D2-83A5-4732-B19E-F28D1243771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9336" y="2472297"/>
            <a:ext cx="0" cy="2903537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88" name="Line 54">
            <a:extLst>
              <a:ext uri="{FF2B5EF4-FFF2-40B4-BE49-F238E27FC236}">
                <a16:creationId xmlns:a16="http://schemas.microsoft.com/office/drawing/2014/main" id="{120250C6-2B54-49BC-B5A2-8D8C723622DF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9836" y="2451659"/>
            <a:ext cx="0" cy="2903538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89" name="Freeform 55">
            <a:extLst>
              <a:ext uri="{FF2B5EF4-FFF2-40B4-BE49-F238E27FC236}">
                <a16:creationId xmlns:a16="http://schemas.microsoft.com/office/drawing/2014/main" id="{030EC05A-630E-494E-AE58-D32A87085065}"/>
              </a:ext>
            </a:extLst>
          </p:cNvPr>
          <p:cNvSpPr>
            <a:spLocks/>
          </p:cNvSpPr>
          <p:nvPr/>
        </p:nvSpPr>
        <p:spPr bwMode="auto">
          <a:xfrm>
            <a:off x="6649336" y="5037697"/>
            <a:ext cx="1457325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" name="Text Box 56">
            <a:extLst>
              <a:ext uri="{FF2B5EF4-FFF2-40B4-BE49-F238E27FC236}">
                <a16:creationId xmlns:a16="http://schemas.microsoft.com/office/drawing/2014/main" id="{F8B2B129-3141-457B-AACB-0CCEE89B7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931" y="4237682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1200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91" name="Text Box 57">
            <a:extLst>
              <a:ext uri="{FF2B5EF4-FFF2-40B4-BE49-F238E27FC236}">
                <a16:creationId xmlns:a16="http://schemas.microsoft.com/office/drawing/2014/main" id="{8030CEBE-EA18-41BE-B889-4BEBF9450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536" y="2586597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┇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92" name="Rectangle 60">
            <a:extLst>
              <a:ext uri="{FF2B5EF4-FFF2-40B4-BE49-F238E27FC236}">
                <a16:creationId xmlns:a16="http://schemas.microsoft.com/office/drawing/2014/main" id="{031B0B44-FE33-4D8A-A395-3506CB29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9336" y="3107297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" name="Text Box 61">
            <a:extLst>
              <a:ext uri="{FF2B5EF4-FFF2-40B4-BE49-F238E27FC236}">
                <a16:creationId xmlns:a16="http://schemas.microsoft.com/office/drawing/2014/main" id="{0B0CB187-875B-4F91-B938-931FC4505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936" y="1900797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出栈后</a:t>
            </a:r>
          </a:p>
        </p:txBody>
      </p:sp>
      <p:sp>
        <p:nvSpPr>
          <p:cNvPr id="94" name="Text Box 62">
            <a:extLst>
              <a:ext uri="{FF2B5EF4-FFF2-40B4-BE49-F238E27FC236}">
                <a16:creationId xmlns:a16="http://schemas.microsoft.com/office/drawing/2014/main" id="{93E296F8-8021-4FCE-BC09-58814D8B9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3711" y="1516622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出栈前</a:t>
            </a:r>
          </a:p>
        </p:txBody>
      </p:sp>
    </p:spTree>
    <p:extLst>
      <p:ext uri="{BB962C8B-B14F-4D97-AF65-F5344CB8AC3E}">
        <p14:creationId xmlns:p14="http://schemas.microsoft.com/office/powerpoint/2010/main" val="390842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6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9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500"/>
                            </p:stCondLst>
                            <p:childTnLst>
                              <p:par>
                                <p:cTn id="10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1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000"/>
                            </p:stCondLst>
                            <p:childTnLst>
                              <p:par>
                                <p:cTn id="12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6" presetClass="emph" presetSubtype="0" repeatCount="4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 tmFilter="0, 0; .2, .5; .8, .5; 1, 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8" dur="250" autoRev="1" fill="hold"/>
                                        <p:tgtEl>
                                          <p:spTgt spid="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58" grpId="0" animBg="1"/>
      <p:bldP spid="59" grpId="0" animBg="1"/>
      <p:bldP spid="60" grpId="0" animBg="1"/>
      <p:bldP spid="63" grpId="0" animBg="1"/>
      <p:bldP spid="64" grpId="0" animBg="1"/>
      <p:bldP spid="65" grpId="0"/>
      <p:bldP spid="66" grpId="0"/>
      <p:bldP spid="67" grpId="0"/>
      <p:bldP spid="68" grpId="0"/>
      <p:bldP spid="69" grpId="0"/>
      <p:bldP spid="70" grpId="0" animBg="1"/>
      <p:bldP spid="71" grpId="0"/>
      <p:bldP spid="72" grpId="0" animBg="1"/>
      <p:bldP spid="73" grpId="0"/>
      <p:bldP spid="74" grpId="0" animBg="1"/>
      <p:bldP spid="75" grpId="0"/>
      <p:bldP spid="77" grpId="0" animBg="1"/>
      <p:bldP spid="78" grpId="0" animBg="1"/>
      <p:bldP spid="79" grpId="0"/>
      <p:bldP spid="80" grpId="0"/>
      <p:bldP spid="84" grpId="0" animBg="1"/>
      <p:bldP spid="85" grpId="0" animBg="1"/>
      <p:bldP spid="86" grpId="0" animBg="1"/>
      <p:bldP spid="89" grpId="0" animBg="1"/>
      <p:bldP spid="90" grpId="0"/>
      <p:bldP spid="90" grpId="1"/>
      <p:bldP spid="91" grpId="0"/>
      <p:bldP spid="92" grpId="0" animBg="1"/>
      <p:bldP spid="93" grpId="0"/>
      <p:bldP spid="9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PUSHF 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和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POPF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5" y="1452706"/>
            <a:ext cx="7849003" cy="3079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PUSHF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功能：将标志寄存器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FR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的内容存入栈顶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POPF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指向的栈顶字单元内容送至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FR</a:t>
            </a:r>
          </a:p>
        </p:txBody>
      </p:sp>
    </p:spTree>
    <p:extLst>
      <p:ext uri="{BB962C8B-B14F-4D97-AF65-F5344CB8AC3E}">
        <p14:creationId xmlns:p14="http://schemas.microsoft.com/office/powerpoint/2010/main" val="127356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堆栈操作指令注意事项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053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指令的操作数必须是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位的；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操作数可以是寄存器或存储器两单元，但不能是立即数；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不能从栈顶弹出一个字给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PUSH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POP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指令在程序中一般成对出现；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PUSH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指令的操作方向是从高地址向低地址，而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POP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指令的操作正好相反。</a:t>
            </a:r>
          </a:p>
        </p:txBody>
      </p:sp>
    </p:spTree>
    <p:extLst>
      <p:ext uri="{BB962C8B-B14F-4D97-AF65-F5344CB8AC3E}">
        <p14:creationId xmlns:p14="http://schemas.microsoft.com/office/powerpoint/2010/main" val="322548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交换指令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XCHG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459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XCHG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功能：将目的操作数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和源操作数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内容互换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段寄存器不能作为操作数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XCHG AX, BX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XCHG [2000H], CL</a:t>
            </a:r>
          </a:p>
        </p:txBody>
      </p:sp>
    </p:spTree>
    <p:extLst>
      <p:ext uri="{BB962C8B-B14F-4D97-AF65-F5344CB8AC3E}">
        <p14:creationId xmlns:p14="http://schemas.microsoft.com/office/powerpoint/2010/main" val="176945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有效地址传送指令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LEA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2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LEA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功能：把源操作数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的偏移地址送至目的操作数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必须是一个内存操作数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必须是一个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位的通用寄存器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LEA SI, [BX]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LEA DI, [2000H]</a:t>
            </a:r>
          </a:p>
        </p:txBody>
      </p:sp>
    </p:spTree>
    <p:extLst>
      <p:ext uri="{BB962C8B-B14F-4D97-AF65-F5344CB8AC3E}">
        <p14:creationId xmlns:p14="http://schemas.microsoft.com/office/powerpoint/2010/main" val="700569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全地址指针传送指令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LDS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505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LDS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功能：从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指示的内存单元开始连续取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个字节，较低地址两个字节作为偏移地址送给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，较高地址两个字节作为段基址送给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LDS SI, [BX]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LDS DI, [2000H]</a:t>
            </a:r>
          </a:p>
        </p:txBody>
      </p:sp>
    </p:spTree>
    <p:extLst>
      <p:ext uri="{BB962C8B-B14F-4D97-AF65-F5344CB8AC3E}">
        <p14:creationId xmlns:p14="http://schemas.microsoft.com/office/powerpoint/2010/main" val="235407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47498" y="488879"/>
            <a:ext cx="7849003" cy="1556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LDS  SI,  0100H[BX]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若执行指令前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DS=2000H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SI=0200H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BX=0400H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，内存数据段存储内容如图所示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3CF8AC-1CE2-411F-910E-B892AF072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40" y="2400649"/>
            <a:ext cx="8790919" cy="396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635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全地址指针传送指令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LES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997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LES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LDS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类似，区别是较高地址两个字节作为段基址送到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LES SI, [BX]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LES DI, [2000H]</a:t>
            </a:r>
          </a:p>
        </p:txBody>
      </p:sp>
    </p:spTree>
    <p:extLst>
      <p:ext uri="{BB962C8B-B14F-4D97-AF65-F5344CB8AC3E}">
        <p14:creationId xmlns:p14="http://schemas.microsoft.com/office/powerpoint/2010/main" val="929783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查表指令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XLAT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95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XLAT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功能：将数据段中偏移地址为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(BX)+(AL)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的字节数据送至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BX, 2000H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AL, 2H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XLAT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1953723-4226-45AC-A076-CB8716AEA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4143034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EC5E72C-DEFC-4997-BE43-04E6801A3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4506571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D3CC953-874F-446C-844E-5E7D43A44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4866934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6EB3D8B0-901B-4C4C-8258-FCEED9B74B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5800" y="3138146"/>
            <a:ext cx="0" cy="29035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13">
            <a:extLst>
              <a:ext uri="{FF2B5EF4-FFF2-40B4-BE49-F238E27FC236}">
                <a16:creationId xmlns:a16="http://schemas.microsoft.com/office/drawing/2014/main" id="{2B8166B7-B4DD-478D-A20A-2C7D92DB4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6300" y="3117509"/>
            <a:ext cx="0" cy="29035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99B69463-9D1B-476F-9D00-9F3E1BBAA513}"/>
              </a:ext>
            </a:extLst>
          </p:cNvPr>
          <p:cNvSpPr>
            <a:spLocks/>
          </p:cNvSpPr>
          <p:nvPr/>
        </p:nvSpPr>
        <p:spPr bwMode="auto">
          <a:xfrm>
            <a:off x="5765800" y="5703546"/>
            <a:ext cx="1457325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id="{99988721-B7BD-49FF-8C97-9CB437620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0" y="3252446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宋体" panose="02010600030101010101" pitchFamily="2" charset="-122"/>
              </a:rPr>
              <a:t>┇</a:t>
            </a:r>
            <a:r>
              <a:rPr lang="en-US" altLang="zh-CN"/>
              <a:t> </a:t>
            </a:r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A47FD00F-A627-4E69-AEA6-3E4AAEA9B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3773146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" name="Text Box 19">
            <a:extLst>
              <a:ext uri="{FF2B5EF4-FFF2-40B4-BE49-F238E27FC236}">
                <a16:creationId xmlns:a16="http://schemas.microsoft.com/office/drawing/2014/main" id="{A12D2996-8CBA-4F4E-839C-B0DBA7EC5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1275" y="3965234"/>
            <a:ext cx="4572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 dirty="0"/>
              <a:t>数据段</a:t>
            </a:r>
          </a:p>
        </p:txBody>
      </p:sp>
      <p:sp>
        <p:nvSpPr>
          <p:cNvPr id="16" name="AutoShape 20">
            <a:extLst>
              <a:ext uri="{FF2B5EF4-FFF2-40B4-BE49-F238E27FC236}">
                <a16:creationId xmlns:a16="http://schemas.microsoft.com/office/drawing/2014/main" id="{F4C99850-2D13-4CB9-A651-D9E0064EF4C6}"/>
              </a:ext>
            </a:extLst>
          </p:cNvPr>
          <p:cNvSpPr>
            <a:spLocks/>
          </p:cNvSpPr>
          <p:nvPr/>
        </p:nvSpPr>
        <p:spPr bwMode="auto">
          <a:xfrm>
            <a:off x="7361237" y="3752509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3E2B6D7F-406F-4490-B53A-5BA1D67E8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5100" y="3748861"/>
            <a:ext cx="145891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/>
              <a:t>20000H</a:t>
            </a:r>
          </a:p>
        </p:txBody>
      </p:sp>
      <p:sp>
        <p:nvSpPr>
          <p:cNvPr id="18" name="Line 22">
            <a:extLst>
              <a:ext uri="{FF2B5EF4-FFF2-40B4-BE49-F238E27FC236}">
                <a16:creationId xmlns:a16="http://schemas.microsoft.com/office/drawing/2014/main" id="{50A889BE-6A40-4AE3-AD94-C867589B16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5087" y="3963174"/>
            <a:ext cx="576263" cy="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9" name="Text Box 23">
            <a:extLst>
              <a:ext uri="{FF2B5EF4-FFF2-40B4-BE49-F238E27FC236}">
                <a16:creationId xmlns:a16="http://schemas.microsoft.com/office/drawing/2014/main" id="{DC033023-01A6-4CA5-9E44-BC79FCAC5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8700" y="4492284"/>
            <a:ext cx="936625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 dirty="0">
                <a:solidFill>
                  <a:schemeClr val="bg1"/>
                </a:solidFill>
                <a:latin typeface="+mj-ea"/>
                <a:ea typeface="+mj-ea"/>
              </a:rPr>
              <a:t>56H</a:t>
            </a:r>
            <a:endParaRPr lang="zh-CN" altLang="en-US" sz="2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 Box 24">
            <a:extLst>
              <a:ext uri="{FF2B5EF4-FFF2-40B4-BE49-F238E27FC236}">
                <a16:creationId xmlns:a16="http://schemas.microsoft.com/office/drawing/2014/main" id="{8399F78E-73E2-4965-910D-92342A974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8700" y="4131921"/>
            <a:ext cx="936625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 dirty="0">
                <a:solidFill>
                  <a:schemeClr val="bg1"/>
                </a:solidFill>
                <a:latin typeface="+mj-ea"/>
                <a:ea typeface="+mj-ea"/>
              </a:rPr>
              <a:t>34H</a:t>
            </a:r>
            <a:endParaRPr lang="zh-CN" altLang="en-US" sz="2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 Box 24">
            <a:extLst>
              <a:ext uri="{FF2B5EF4-FFF2-40B4-BE49-F238E27FC236}">
                <a16:creationId xmlns:a16="http://schemas.microsoft.com/office/drawing/2014/main" id="{C3853C6F-D532-4F5A-9FA5-EAF78C92B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9684" y="3752509"/>
            <a:ext cx="936625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 dirty="0">
                <a:solidFill>
                  <a:schemeClr val="bg1"/>
                </a:solidFill>
                <a:latin typeface="+mj-ea"/>
                <a:ea typeface="+mj-ea"/>
              </a:rPr>
              <a:t>12H</a:t>
            </a:r>
            <a:endParaRPr lang="zh-CN" altLang="en-US" sz="2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B9CB4C56-ED40-4659-AF31-7F0A49D9D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9684" y="4841669"/>
            <a:ext cx="936625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 dirty="0">
                <a:solidFill>
                  <a:schemeClr val="bg1"/>
                </a:solidFill>
                <a:latin typeface="+mj-ea"/>
                <a:ea typeface="+mj-ea"/>
              </a:rPr>
              <a:t>78H</a:t>
            </a:r>
            <a:endParaRPr lang="zh-CN" altLang="en-US" sz="2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 Box 23">
            <a:extLst>
              <a:ext uri="{FF2B5EF4-FFF2-40B4-BE49-F238E27FC236}">
                <a16:creationId xmlns:a16="http://schemas.microsoft.com/office/drawing/2014/main" id="{E2E9E0C5-E0C1-449D-B08D-3E3E0DEC8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415" y="3760446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12       34</a:t>
            </a: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B49289E5-A75A-4AE8-B16D-E8915AD30885}"/>
              </a:ext>
            </a:extLst>
          </p:cNvPr>
          <p:cNvCxnSpPr/>
          <p:nvPr/>
        </p:nvCxnSpPr>
        <p:spPr>
          <a:xfrm rot="10800000" flipV="1">
            <a:off x="3789745" y="4707924"/>
            <a:ext cx="1993214" cy="995622"/>
          </a:xfrm>
          <a:prstGeom prst="bentConnector3">
            <a:avLst>
              <a:gd name="adj1" fmla="val 51860"/>
            </a:avLst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Rectangle 16">
            <a:extLst>
              <a:ext uri="{FF2B5EF4-FFF2-40B4-BE49-F238E27FC236}">
                <a16:creationId xmlns:a16="http://schemas.microsoft.com/office/drawing/2014/main" id="{66AB5B4E-CD3A-462C-8995-85E8202C9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4994" y="5447700"/>
            <a:ext cx="1174750" cy="4572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8" name="Text Box 18">
            <a:extLst>
              <a:ext uri="{FF2B5EF4-FFF2-40B4-BE49-F238E27FC236}">
                <a16:creationId xmlns:a16="http://schemas.microsoft.com/office/drawing/2014/main" id="{F8AD799E-F03D-4BCD-A03F-57E4F9FA1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2969" y="4990500"/>
            <a:ext cx="700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AL</a:t>
            </a:r>
          </a:p>
        </p:txBody>
      </p:sp>
      <p:sp>
        <p:nvSpPr>
          <p:cNvPr id="29" name="Text Box 22">
            <a:extLst>
              <a:ext uri="{FF2B5EF4-FFF2-40B4-BE49-F238E27FC236}">
                <a16:creationId xmlns:a16="http://schemas.microsoft.com/office/drawing/2014/main" id="{53EA27C9-5A6C-481A-A7C9-07020986B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415" y="5447700"/>
            <a:ext cx="720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</a:rPr>
              <a:t>56H</a:t>
            </a:r>
          </a:p>
        </p:txBody>
      </p:sp>
    </p:spTree>
    <p:extLst>
      <p:ext uri="{BB962C8B-B14F-4D97-AF65-F5344CB8AC3E}">
        <p14:creationId xmlns:p14="http://schemas.microsoft.com/office/powerpoint/2010/main" val="196572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5" grpId="0"/>
      <p:bldP spid="16" grpId="0" animBg="1"/>
      <p:bldP spid="17" grpId="0"/>
      <p:bldP spid="18" grpId="0" animBg="1"/>
      <p:bldP spid="19" grpId="0"/>
      <p:bldP spid="20" grpId="0"/>
      <p:bldP spid="21" grpId="0"/>
      <p:bldP spid="22" grpId="0"/>
      <p:bldP spid="27" grpId="0" animBg="1"/>
      <p:bldP spid="28" grpId="0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764087"/>
            <a:ext cx="228780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指令格式和寻址方式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输入输出指令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逻辑运算和移位循环指令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串操作指令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30464106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直接输入指令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089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 AL/AX, PORT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PORT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为端口号，范围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FFH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zh-CN" altLang="en-US" sz="2400" dirty="0">
                <a:latin typeface="Consolas" panose="020B0609020204030204" pitchFamily="49" charset="0"/>
                <a:ea typeface="黑体" panose="02010609060101010101" pitchFamily="49" charset="-122"/>
              </a:rPr>
              <a:t>将地址为</a:t>
            </a:r>
            <a:r>
              <a:rPr lang="en-US" altLang="zh-CN" sz="2400" dirty="0">
                <a:latin typeface="Consolas" panose="020B0609020204030204" pitchFamily="49" charset="0"/>
                <a:ea typeface="黑体" panose="02010609060101010101" pitchFamily="49" charset="-122"/>
              </a:rPr>
              <a:t>PORT</a:t>
            </a:r>
            <a:r>
              <a:rPr lang="zh-CN" altLang="en-US" sz="2400" dirty="0">
                <a:latin typeface="Consolas" panose="020B0609020204030204" pitchFamily="49" charset="0"/>
                <a:ea typeface="黑体" panose="02010609060101010101" pitchFamily="49" charset="-122"/>
              </a:rPr>
              <a:t>的</a:t>
            </a:r>
            <a:r>
              <a:rPr lang="en-US" altLang="zh-CN" sz="2400" dirty="0">
                <a:latin typeface="Consolas" panose="020B0609020204030204" pitchFamily="49" charset="0"/>
                <a:ea typeface="黑体" panose="02010609060101010101" pitchFamily="49" charset="-122"/>
              </a:rPr>
              <a:t>I/O</a:t>
            </a:r>
            <a:r>
              <a:rPr lang="zh-CN" altLang="en-US" sz="2400" dirty="0">
                <a:latin typeface="Consolas" panose="020B0609020204030204" pitchFamily="49" charset="0"/>
                <a:ea typeface="黑体" panose="02010609060101010101" pitchFamily="49" charset="-122"/>
              </a:rPr>
              <a:t>端口中的一个字节或一个字数据内容复制到</a:t>
            </a:r>
            <a:r>
              <a:rPr lang="en-US" altLang="zh-CN" sz="24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4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en-US" altLang="zh-CN" sz="24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 AL, 50H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 AX, 84H</a:t>
            </a:r>
          </a:p>
        </p:txBody>
      </p:sp>
    </p:spTree>
    <p:extLst>
      <p:ext uri="{BB962C8B-B14F-4D97-AF65-F5344CB8AC3E}">
        <p14:creationId xmlns:p14="http://schemas.microsoft.com/office/powerpoint/2010/main" val="208316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间接输入指令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089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 AL/AX, DX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zh-CN" altLang="en-US" sz="2400" dirty="0">
                <a:latin typeface="Consolas" panose="020B0609020204030204" pitchFamily="49" charset="0"/>
                <a:ea typeface="黑体" panose="02010609060101010101" pitchFamily="49" charset="-122"/>
              </a:rPr>
              <a:t>将地址为</a:t>
            </a:r>
            <a:r>
              <a:rPr lang="en-US" altLang="zh-CN" sz="2400" dirty="0">
                <a:latin typeface="Consolas" panose="020B0609020204030204" pitchFamily="49" charset="0"/>
                <a:ea typeface="黑体" panose="02010609060101010101" pitchFamily="49" charset="-122"/>
              </a:rPr>
              <a:t>DX</a:t>
            </a:r>
            <a:r>
              <a:rPr lang="zh-CN" altLang="en-US" sz="2400" dirty="0">
                <a:latin typeface="Consolas" panose="020B0609020204030204" pitchFamily="49" charset="0"/>
                <a:ea typeface="黑体" panose="02010609060101010101" pitchFamily="49" charset="-122"/>
              </a:rPr>
              <a:t>的</a:t>
            </a:r>
            <a:r>
              <a:rPr lang="en-US" altLang="zh-CN" sz="2400" dirty="0">
                <a:latin typeface="Consolas" panose="020B0609020204030204" pitchFamily="49" charset="0"/>
                <a:ea typeface="黑体" panose="02010609060101010101" pitchFamily="49" charset="-122"/>
              </a:rPr>
              <a:t>I/O</a:t>
            </a:r>
            <a:r>
              <a:rPr lang="zh-CN" altLang="en-US" sz="2400" dirty="0">
                <a:latin typeface="Consolas" panose="020B0609020204030204" pitchFamily="49" charset="0"/>
                <a:ea typeface="黑体" panose="02010609060101010101" pitchFamily="49" charset="-122"/>
              </a:rPr>
              <a:t>端口中的一个字节或一个字数据内容复制到</a:t>
            </a:r>
            <a:r>
              <a:rPr lang="en-US" altLang="zh-CN" sz="24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4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en-US" altLang="zh-CN" sz="24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I/O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地址为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3F8H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的端口读取一个字节的数据：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DX, 3F8H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 AL, DX</a:t>
            </a:r>
          </a:p>
        </p:txBody>
      </p:sp>
    </p:spTree>
    <p:extLst>
      <p:ext uri="{BB962C8B-B14F-4D97-AF65-F5344CB8AC3E}">
        <p14:creationId xmlns:p14="http://schemas.microsoft.com/office/powerpoint/2010/main" val="421472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直接输出指令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505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OUT PORT, AL/AX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PORT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为端口号，范围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FFH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→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(PORT)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→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(PORT+1)(PORT)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OUT 86H, AL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OUT 86H, AX</a:t>
            </a:r>
          </a:p>
        </p:txBody>
      </p:sp>
    </p:spTree>
    <p:extLst>
      <p:ext uri="{BB962C8B-B14F-4D97-AF65-F5344CB8AC3E}">
        <p14:creationId xmlns:p14="http://schemas.microsoft.com/office/powerpoint/2010/main" val="180672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间接输出指令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572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OUT DX, AL/AX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→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(DX)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→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(DX+1)(DX)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此时，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I/O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端口地址范围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0000H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FFFFH</a:t>
            </a:r>
          </a:p>
        </p:txBody>
      </p:sp>
    </p:spTree>
    <p:extLst>
      <p:ext uri="{BB962C8B-B14F-4D97-AF65-F5344CB8AC3E}">
        <p14:creationId xmlns:p14="http://schemas.microsoft.com/office/powerpoint/2010/main" val="2335373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27">
            <a:extLst>
              <a:ext uri="{FF2B5EF4-FFF2-40B4-BE49-F238E27FC236}">
                <a16:creationId xmlns:a16="http://schemas.microsoft.com/office/drawing/2014/main" id="{4A42BDF0-63A4-4B1A-904A-B89B407B89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4108" y="457199"/>
            <a:ext cx="8543041" cy="5896099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ClrTx/>
              <a:buSzPct val="70000"/>
              <a:buNone/>
              <a:defRPr/>
            </a:pPr>
            <a:r>
              <a:rPr lang="zh-CN" altLang="en-US" sz="2200" dirty="0">
                <a:solidFill>
                  <a:schemeClr val="tx1"/>
                </a:solidFill>
              </a:rPr>
              <a:t>某微机系统的</a:t>
            </a: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端口中，</a:t>
            </a:r>
            <a:r>
              <a:rPr lang="en-US" altLang="zh-CN" sz="2200" dirty="0">
                <a:solidFill>
                  <a:schemeClr val="tx1"/>
                </a:solidFill>
              </a:rPr>
              <a:t>5H</a:t>
            </a:r>
            <a:r>
              <a:rPr lang="zh-CN" altLang="en-US" sz="2200" dirty="0">
                <a:solidFill>
                  <a:schemeClr val="tx1"/>
                </a:solidFill>
              </a:rPr>
              <a:t>端口为输入端口，接收一位十进制数据；</a:t>
            </a:r>
            <a:r>
              <a:rPr lang="en-US" altLang="zh-CN" sz="2200" dirty="0">
                <a:solidFill>
                  <a:schemeClr val="tx1"/>
                </a:solidFill>
              </a:rPr>
              <a:t>20H</a:t>
            </a:r>
            <a:r>
              <a:rPr lang="zh-CN" altLang="en-US" sz="2200" dirty="0">
                <a:solidFill>
                  <a:schemeClr val="tx1"/>
                </a:solidFill>
              </a:rPr>
              <a:t>端口为输出端口，连接一个共阴极</a:t>
            </a:r>
            <a:r>
              <a:rPr lang="en-US" altLang="zh-CN" sz="2200" dirty="0">
                <a:solidFill>
                  <a:schemeClr val="tx1"/>
                </a:solidFill>
              </a:rPr>
              <a:t>LED</a:t>
            </a:r>
            <a:r>
              <a:rPr lang="zh-CN" altLang="en-US" sz="2200" dirty="0">
                <a:solidFill>
                  <a:schemeClr val="tx1"/>
                </a:solidFill>
              </a:rPr>
              <a:t>数码管显示器。编程实现</a:t>
            </a:r>
            <a:r>
              <a:rPr lang="en-US" altLang="zh-CN" sz="2200" dirty="0">
                <a:solidFill>
                  <a:schemeClr val="tx1"/>
                </a:solidFill>
              </a:rPr>
              <a:t>5H</a:t>
            </a:r>
            <a:r>
              <a:rPr lang="zh-CN" altLang="en-US" sz="2200" dirty="0">
                <a:solidFill>
                  <a:schemeClr val="tx1"/>
                </a:solidFill>
              </a:rPr>
              <a:t>端口的十进制数据的显示。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ClrTx/>
              <a:buSzPct val="70000"/>
              <a:buNone/>
              <a:defRPr/>
            </a:pPr>
            <a:endParaRPr lang="en-US" altLang="zh-CN" sz="22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;data segment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TABLE </a:t>
            </a:r>
            <a:r>
              <a:rPr lang="en-US" altLang="zh-CN" sz="2400" dirty="0">
                <a:solidFill>
                  <a:srgbClr val="0080FF"/>
                </a:solidFill>
                <a:latin typeface="Courier New" panose="02070309020205020404" pitchFamily="49" charset="0"/>
              </a:rPr>
              <a:t>DB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3FH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06H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5BH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4FH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66H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6DH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7DH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07H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7FH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67H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;code segment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LEA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BX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TABLE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AL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5H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XLAT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20H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AL</a:t>
            </a:r>
          </a:p>
        </p:txBody>
      </p:sp>
    </p:spTree>
    <p:extLst>
      <p:ext uri="{BB962C8B-B14F-4D97-AF65-F5344CB8AC3E}">
        <p14:creationId xmlns:p14="http://schemas.microsoft.com/office/powerpoint/2010/main" val="159140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764087"/>
            <a:ext cx="228780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指令格式和寻址方式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算术运算指令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逻辑运算和移位循环指令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串操作指令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14926464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基本加法指令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ADD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474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ADD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功能：将目的操作数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与源操作数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相加，结果送至目的操作数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中，源操作数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中的内容不变，并根据执行结果设置状态标志位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不能为立即数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不能同为存储器操作数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ADD AX, 1234H</a:t>
            </a:r>
          </a:p>
        </p:txBody>
      </p:sp>
    </p:spTree>
    <p:extLst>
      <p:ext uri="{BB962C8B-B14F-4D97-AF65-F5344CB8AC3E}">
        <p14:creationId xmlns:p14="http://schemas.microsoft.com/office/powerpoint/2010/main" val="151807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27">
            <a:extLst>
              <a:ext uri="{FF2B5EF4-FFF2-40B4-BE49-F238E27FC236}">
                <a16:creationId xmlns:a16="http://schemas.microsoft.com/office/drawing/2014/main" id="{4A42BDF0-63A4-4B1A-904A-B89B407B89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4108" y="457199"/>
            <a:ext cx="8543041" cy="297180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/>
              <a:t>解释 </a:t>
            </a:r>
            <a:r>
              <a:rPr lang="en-US" altLang="zh-CN" sz="2200" dirty="0">
                <a:solidFill>
                  <a:srgbClr val="FF0000"/>
                </a:solidFill>
              </a:rPr>
              <a:t>ADD BX, 0E30AH </a:t>
            </a:r>
            <a:r>
              <a:rPr lang="zh-CN" altLang="en-US" sz="2200" dirty="0"/>
              <a:t>在</a:t>
            </a:r>
            <a:r>
              <a:rPr lang="en-US" altLang="zh-CN" sz="2200" dirty="0"/>
              <a:t>8086/8088</a:t>
            </a:r>
            <a:r>
              <a:rPr lang="zh-CN" altLang="en-US" sz="2200" dirty="0"/>
              <a:t>中的运算结果及各标志位的值。如果相加前</a:t>
            </a:r>
            <a:r>
              <a:rPr lang="en-US" altLang="zh-CN" sz="2200" dirty="0"/>
              <a:t>(BX)=84DCH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ClrTx/>
              <a:buSzPct val="70000"/>
              <a:buNone/>
              <a:defRPr/>
            </a:pPr>
            <a:endParaRPr lang="en-US" altLang="zh-CN" sz="2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200" dirty="0"/>
              <a:t>结果：</a:t>
            </a:r>
            <a:r>
              <a:rPr lang="en-US" altLang="zh-CN" sz="2200" dirty="0"/>
              <a:t>1 0110 0111 1110 0110</a:t>
            </a:r>
          </a:p>
          <a:p>
            <a:pPr marL="0" indent="0">
              <a:buNone/>
            </a:pPr>
            <a:r>
              <a:rPr lang="zh-CN" altLang="en-US" sz="2200" dirty="0"/>
              <a:t>因此</a:t>
            </a:r>
            <a:r>
              <a:rPr lang="zh-CN" altLang="en-US" sz="2200" dirty="0">
                <a:sym typeface="Wingdings" panose="05000000000000000000" pitchFamily="2" charset="2"/>
              </a:rPr>
              <a:t>：</a:t>
            </a:r>
            <a:r>
              <a:rPr lang="en-US" altLang="zh-CN" sz="2200" dirty="0">
                <a:sym typeface="Wingdings" panose="05000000000000000000" pitchFamily="2" charset="2"/>
              </a:rPr>
              <a:t>(BX) = 67E6H</a:t>
            </a:r>
          </a:p>
          <a:p>
            <a:pPr marL="0" indent="0">
              <a:buNone/>
            </a:pPr>
            <a:r>
              <a:rPr lang="en-US" altLang="zh-CN" sz="2200" dirty="0">
                <a:sym typeface="Wingdings" panose="05000000000000000000" pitchFamily="2" charset="2"/>
              </a:rPr>
              <a:t>CF=1</a:t>
            </a:r>
            <a:r>
              <a:rPr lang="zh-CN" altLang="en-US" sz="2200" dirty="0">
                <a:sym typeface="Wingdings" panose="05000000000000000000" pitchFamily="2" charset="2"/>
              </a:rPr>
              <a:t>，</a:t>
            </a:r>
            <a:r>
              <a:rPr lang="en-US" altLang="zh-CN" sz="2200" dirty="0">
                <a:sym typeface="Wingdings" panose="05000000000000000000" pitchFamily="2" charset="2"/>
              </a:rPr>
              <a:t>OF=1</a:t>
            </a:r>
            <a:r>
              <a:rPr lang="zh-CN" altLang="en-US" sz="2200" dirty="0">
                <a:sym typeface="Wingdings" panose="05000000000000000000" pitchFamily="2" charset="2"/>
              </a:rPr>
              <a:t>，</a:t>
            </a:r>
            <a:r>
              <a:rPr lang="en-US" altLang="zh-CN" sz="2200" dirty="0">
                <a:sym typeface="Wingdings" panose="05000000000000000000" pitchFamily="2" charset="2"/>
              </a:rPr>
              <a:t>SF=0</a:t>
            </a:r>
            <a:r>
              <a:rPr lang="zh-CN" altLang="en-US" sz="2200" dirty="0">
                <a:sym typeface="Wingdings" panose="05000000000000000000" pitchFamily="2" charset="2"/>
              </a:rPr>
              <a:t>，</a:t>
            </a:r>
            <a:r>
              <a:rPr lang="en-US" altLang="zh-CN" sz="2200" dirty="0">
                <a:sym typeface="Wingdings" panose="05000000000000000000" pitchFamily="2" charset="2"/>
              </a:rPr>
              <a:t>ZF=0</a:t>
            </a:r>
            <a:r>
              <a:rPr lang="zh-CN" altLang="en-US" sz="2200" dirty="0">
                <a:sym typeface="Wingdings" panose="05000000000000000000" pitchFamily="2" charset="2"/>
              </a:rPr>
              <a:t>，</a:t>
            </a:r>
            <a:r>
              <a:rPr lang="en-US" altLang="zh-CN" sz="2200" dirty="0">
                <a:sym typeface="Wingdings" panose="05000000000000000000" pitchFamily="2" charset="2"/>
              </a:rPr>
              <a:t>PF=0</a:t>
            </a:r>
            <a:r>
              <a:rPr lang="zh-CN" altLang="en-US" sz="2200" dirty="0">
                <a:sym typeface="Wingdings" panose="05000000000000000000" pitchFamily="2" charset="2"/>
              </a:rPr>
              <a:t>，</a:t>
            </a:r>
            <a:r>
              <a:rPr lang="en-US" altLang="zh-CN" sz="2200" dirty="0">
                <a:sym typeface="Wingdings" panose="05000000000000000000" pitchFamily="2" charset="2"/>
              </a:rPr>
              <a:t>AF=1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67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带进位加法指令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ADC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551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ADC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←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+ 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+ CF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，并根据执行结果设置状态标志位，主要用于多字节数相加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注意：参加运算的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值是该指令执行前的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值，指令执行后各个标志位要根据运算结果重置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ADC AX, BX</a:t>
            </a:r>
          </a:p>
        </p:txBody>
      </p:sp>
    </p:spTree>
    <p:extLst>
      <p:ext uri="{BB962C8B-B14F-4D97-AF65-F5344CB8AC3E}">
        <p14:creationId xmlns:p14="http://schemas.microsoft.com/office/powerpoint/2010/main" val="252857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自加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1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INC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382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INC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←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+ 1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注意：该指令不影响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endParaRPr lang="zh-CN" altLang="en-US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INC AL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如果执行指令前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(AL)=0FFH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，则执行该指令后：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保持不变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586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基本减法指令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SUB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408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SUB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←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– 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SUB BX, 0E30AH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如果执行指令前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(BX)=84DCH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，则执行该指令后：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(BX)=0A1D2H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AF=0</a:t>
            </a:r>
            <a:endParaRPr lang="zh-CN" altLang="en-US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310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带借位减法指令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SBB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028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SBB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←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– 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- CF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SBB BX, 1000H</a:t>
            </a:r>
          </a:p>
        </p:txBody>
      </p:sp>
    </p:spTree>
    <p:extLst>
      <p:ext uri="{BB962C8B-B14F-4D97-AF65-F5344CB8AC3E}">
        <p14:creationId xmlns:p14="http://schemas.microsoft.com/office/powerpoint/2010/main" val="21613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自减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1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DEC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16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DEC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←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- 1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注意：该指令不影响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endParaRPr lang="zh-CN" altLang="en-US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DEC AL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如果执行指令前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(AL)=0H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，则执行该指令后：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(AL)=0FFH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OF=0,  SF=1,  ZF=0,  PF=1,  AF=1,  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不变</a:t>
            </a:r>
          </a:p>
        </p:txBody>
      </p:sp>
    </p:spTree>
    <p:extLst>
      <p:ext uri="{BB962C8B-B14F-4D97-AF65-F5344CB8AC3E}">
        <p14:creationId xmlns:p14="http://schemas.microsoft.com/office/powerpoint/2010/main" val="9823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比较指令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CMP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075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CMP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SUB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类似，区别是只根据相减结果设置状态标志位，不影响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判断大小：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如果都是无符号数，执行指令后，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表示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dest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&lt;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表示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dest≥src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，当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时表示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dest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如果都是带符号数，当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OF≠SF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表示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dest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&lt;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OF=SF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表示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dest≥src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CMP AL, AH</a:t>
            </a:r>
          </a:p>
        </p:txBody>
      </p:sp>
    </p:spTree>
    <p:extLst>
      <p:ext uri="{BB962C8B-B14F-4D97-AF65-F5344CB8AC3E}">
        <p14:creationId xmlns:p14="http://schemas.microsoft.com/office/powerpoint/2010/main" val="13892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取负指令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NEG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408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NEG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←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0 - 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NEG AX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如果执行指令前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(AX)=4A86H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，则执行该指令后：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(AX)=0B57AH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OF=0,  SF=1,  ZF=0,  PF=0,  AF=1</a:t>
            </a:r>
          </a:p>
        </p:txBody>
      </p:sp>
    </p:spTree>
    <p:extLst>
      <p:ext uri="{BB962C8B-B14F-4D97-AF65-F5344CB8AC3E}">
        <p14:creationId xmlns:p14="http://schemas.microsoft.com/office/powerpoint/2010/main" val="4120621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乘法指令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76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×8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 →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位，其中有一个乘数在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中，另一个乘数在寄存器或内存中，乘积在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×16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 →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32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位，其中一个乘数在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中，另一个乘数在寄存器或内存中，乘积高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分为无符号乘法指令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MUL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和有符号乘法指令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IMUL</a:t>
            </a:r>
          </a:p>
        </p:txBody>
      </p:sp>
    </p:spTree>
    <p:extLst>
      <p:ext uri="{BB962C8B-B14F-4D97-AF65-F5344CB8AC3E}">
        <p14:creationId xmlns:p14="http://schemas.microsoft.com/office/powerpoint/2010/main" val="325965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无符号乘法指令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MUL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331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MUL OPRD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(AL)×OPRD→(AX)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(AH)≠0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CF=OF=1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(AX)×OPRD→(DX)(AX)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(DX)≠0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CF=OF=1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MUL BL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若执行指令前，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(AL)=24H, (BL)=82H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，则执行指令后：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(AX)=1248H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，由于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(AH)=12H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，故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CF=OF=1</a:t>
            </a:r>
          </a:p>
        </p:txBody>
      </p:sp>
    </p:spTree>
    <p:extLst>
      <p:ext uri="{BB962C8B-B14F-4D97-AF65-F5344CB8AC3E}">
        <p14:creationId xmlns:p14="http://schemas.microsoft.com/office/powerpoint/2010/main" val="121111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带符号乘法指令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IMUL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535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IMUL OPRD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MUL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类似，首先将两数的绝对值相乘，再根据乘数的符号确定积的符号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IMUL BL</a:t>
            </a:r>
          </a:p>
        </p:txBody>
      </p:sp>
    </p:spTree>
    <p:extLst>
      <p:ext uri="{BB962C8B-B14F-4D97-AF65-F5344CB8AC3E}">
        <p14:creationId xmlns:p14="http://schemas.microsoft.com/office/powerpoint/2010/main" val="373244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除法指令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730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÷8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 →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位被除数存在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位除数在寄存器或内存中，运算后，商为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中，余数为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32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÷16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 →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32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位被除数存在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（高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位）和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（低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位）中，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位除数在寄存器或内存中，运算后，商为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中，余数为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除法指令分为有符号除法指令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IDIV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和无符号除法指令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DIV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÷8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÷16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位，必须对被除数进行扩展</a:t>
            </a:r>
          </a:p>
        </p:txBody>
      </p:sp>
    </p:spTree>
    <p:extLst>
      <p:ext uri="{BB962C8B-B14F-4D97-AF65-F5344CB8AC3E}">
        <p14:creationId xmlns:p14="http://schemas.microsoft.com/office/powerpoint/2010/main" val="179236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无符号除法指令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DIV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793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DIV OPRD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(AX)÷OPRD→(AL)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 mod OPRD→(AH)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(DX)(AX)÷OPRD→(AX)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(DX)(AX) mod OPRD→(DX)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DIV BL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若在指令执行前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(AX)=124AH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(BL)=8H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，则执行指令后：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商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(AL)=249H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，余数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(AH)=02H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除法运算不影响标志位</a:t>
            </a:r>
          </a:p>
        </p:txBody>
      </p:sp>
    </p:spTree>
    <p:extLst>
      <p:ext uri="{BB962C8B-B14F-4D97-AF65-F5344CB8AC3E}">
        <p14:creationId xmlns:p14="http://schemas.microsoft.com/office/powerpoint/2010/main" val="266769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带符号除法指令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IDIV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874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IDIV OPRD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指令的操作数类型、存放方式的规定与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DIV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相同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首先将两数的绝对值相除，再根据被除数和除数的符号确定商和余数的符号，最后所得的商和余数都是补码形式的带符号数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8086/8088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规定余数的符号与被除数的符号相同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IDIV BL</a:t>
            </a:r>
          </a:p>
        </p:txBody>
      </p:sp>
    </p:spTree>
    <p:extLst>
      <p:ext uri="{BB962C8B-B14F-4D97-AF65-F5344CB8AC3E}">
        <p14:creationId xmlns:p14="http://schemas.microsoft.com/office/powerpoint/2010/main" val="236737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字节数据符号扩展指令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CBW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9414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CBW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中的符号位扩展到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中；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当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(AL)&lt;80H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，执行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CBW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(AH)=0;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当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(AL)≥80H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时，执行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CBW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(AH)=0FFH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两个有符号字节数据相除时，要用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CBW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对被除数进行扩展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926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字数据符号扩展指令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CWD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403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CWD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中的符号位扩展到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中；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当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(AX)&lt;8000H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，执行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CWD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(DX)=0;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当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(AX)≥8000H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时，执行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CWD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(DX)=0FFFFH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该指令不影响任何标志位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两个有符号字数据相除时，要用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CWD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对被除数进行扩展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024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算术运算类指令小结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603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ADD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ADC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SUB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SBB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DEC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NEG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CMP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MUL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IMUL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DIV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IDIV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CBW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CWD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大都会影响状态标志位，其中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INC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DEC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不影响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除法不影响标志位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对操作数的要求与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指令完全相同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724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764087"/>
            <a:ext cx="228780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指令格式和寻址方式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逻辑运算和移位循环指令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串操作指令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26222654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逻辑运算指令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76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逻辑运算指令：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与、或、非、异或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均是按位进行逻辑运算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逻辑运算对操作数的要求大多与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MOV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指令相同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逻辑非指令要求操作数不能是立即数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C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除逻辑非指令外，其余指令的执行都会使标志位</a:t>
            </a:r>
            <a:r>
              <a:rPr lang="en-US" altLang="zh-CN" sz="2200" dirty="0">
                <a:solidFill>
                  <a:srgbClr val="C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OF=CF=0</a:t>
            </a:r>
          </a:p>
        </p:txBody>
      </p:sp>
    </p:spTree>
    <p:extLst>
      <p:ext uri="{BB962C8B-B14F-4D97-AF65-F5344CB8AC3E}">
        <p14:creationId xmlns:p14="http://schemas.microsoft.com/office/powerpoint/2010/main" val="53415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逻辑非指令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NOT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2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NOT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功能：将目标操作数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按位取反，结果返回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不能是立即数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指令的执行对标志位无影响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NOT AL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NOT AX</a:t>
            </a:r>
          </a:p>
        </p:txBody>
      </p:sp>
    </p:spTree>
    <p:extLst>
      <p:ext uri="{BB962C8B-B14F-4D97-AF65-F5344CB8AC3E}">
        <p14:creationId xmlns:p14="http://schemas.microsoft.com/office/powerpoint/2010/main" val="322607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逻辑与指令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AND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2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AND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功能：将两操作数按位相与，结果送回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指令执行后，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OF=CF=0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根据运算结果确定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与指令的应用：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AND AL, BL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AND AL, 0FH	;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使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高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位清零，低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位不变</a:t>
            </a: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AND AX, AX	;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在不改变操作数的情况下使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OF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清零</a:t>
            </a: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849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测试指令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TEST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62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TEST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功能：将两操作数按位相与，只改变各个状态标志位，但结果不送回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，常用于测试某些位的状态。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指令执行后，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OF=CF=0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根据运算结果确定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TEST AL, 02H	;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测试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bit1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是否为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TEST AL, 08H	;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测试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bit3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是否为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8722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逻辑或指令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OR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2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OR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功能：将两操作数按位相或，结果送回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指令执行后，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OF=CF=0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根据运算结果确定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或指令的应用：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OR AL, BL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OR AL, 0FH	;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使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低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位置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，高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位不变</a:t>
            </a: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OR AX, AX	;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在不改变操作数的情况下使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OF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清零</a:t>
            </a: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98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逻辑异或指令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XOR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16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XOR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功能：将两操作数按位相异或，结果送回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任何二进制位与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相异或保持不变，与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相异或状态取反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指令执行后，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OF=CF=0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根据运算结果确定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XOR AL, 0FH	;AL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高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位不变，低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位取反</a:t>
            </a: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XOR AX, AX	;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使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清零</a:t>
            </a: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90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移位指令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69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nsolas" panose="020B0609020204030204" pitchFamily="49" charset="0"/>
                <a:ea typeface="黑体" panose="02010609060101010101" pitchFamily="49" charset="-122"/>
              </a:rPr>
              <a:t>逻辑移位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：把进行移位的操作数当作无符号数，总是用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填补已空出的位。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nsolas" panose="020B0609020204030204" pitchFamily="49" charset="0"/>
                <a:ea typeface="黑体" panose="02010609060101010101" pitchFamily="49" charset="-122"/>
              </a:rPr>
              <a:t>算术移位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：对带符号数进行移位，在移位的过程中必须保持操作数的符号不变。</a:t>
            </a:r>
          </a:p>
        </p:txBody>
      </p:sp>
    </p:spTree>
    <p:extLst>
      <p:ext uri="{BB962C8B-B14F-4D97-AF65-F5344CB8AC3E}">
        <p14:creationId xmlns:p14="http://schemas.microsoft.com/office/powerpoint/2010/main" val="176743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移位指令规则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49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移位指令的目的操作数不能是立即数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移动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位时由指令直接给出；移动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2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位及以上，则由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指定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对状态标志位的影响：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不确定，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根据结果设置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是目的操作数最后一次被移出的值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只移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位，若移位前后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的最高位发生变化，则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OF=1</a:t>
            </a:r>
            <a:endParaRPr lang="zh-CN" altLang="en-US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移动多位时，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的值不确定</a:t>
            </a:r>
          </a:p>
        </p:txBody>
      </p:sp>
    </p:spTree>
    <p:extLst>
      <p:ext uri="{BB962C8B-B14F-4D97-AF65-F5344CB8AC3E}">
        <p14:creationId xmlns:p14="http://schemas.microsoft.com/office/powerpoint/2010/main" val="283663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移位指令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69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逻辑左移 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SHL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逻辑右移 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SHR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算术左移 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SAL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算术右移 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SAR</a:t>
            </a:r>
            <a:endParaRPr lang="zh-CN" altLang="en-US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269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逻辑左移指令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SHL </a:t>
            </a:r>
            <a:r>
              <a:rPr lang="en-US" altLang="zh-CN" sz="2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(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Sh</a:t>
            </a:r>
            <a:r>
              <a:rPr lang="en-US" altLang="zh-CN" sz="2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ift 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</a:t>
            </a:r>
            <a:r>
              <a:rPr lang="en-US" altLang="zh-CN" sz="2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eft)</a:t>
            </a:r>
            <a:endParaRPr lang="zh-CN" altLang="en-US" sz="24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018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SHL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1/CL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左移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位，或左移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中预置的位数，最高位移入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中，其他位依次左移，最低位补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SHL AL, 1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若在执行指令前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(AL)=04H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，则执行指令后：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(AL)=08H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CF=ZF=SF=PF=OF=0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3F15BD0-E71C-4BA7-890E-A86FAB6E91D3}"/>
              </a:ext>
            </a:extLst>
          </p:cNvPr>
          <p:cNvGrpSpPr/>
          <p:nvPr/>
        </p:nvGrpSpPr>
        <p:grpSpPr>
          <a:xfrm flipH="1">
            <a:off x="1257300" y="2838450"/>
            <a:ext cx="6629400" cy="590550"/>
            <a:chOff x="1231231" y="4740443"/>
            <a:chExt cx="6629400" cy="590550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77ECAD54-94CB-4469-99E8-E2658E29F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831" y="4786481"/>
              <a:ext cx="3581400" cy="533400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72D72417-9492-4385-874C-90C083180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444" y="5048418"/>
              <a:ext cx="2058987" cy="0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7B3BCD97-65D9-4872-B042-849853B62D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519" y="5043656"/>
              <a:ext cx="9144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9D26E24B-A195-4145-BD8E-454FB8D155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4144" y="5062706"/>
              <a:ext cx="9144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3DAE02DD-2D2A-470A-BCB3-BEE1FA079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1231" y="4740443"/>
              <a:ext cx="5334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 b="1"/>
                <a:t>0</a:t>
              </a: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7DD8D01C-0889-49E2-A4FF-4ADAF376F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4831" y="4786481"/>
              <a:ext cx="685800" cy="544512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CF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948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逻辑右移指令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SHR </a:t>
            </a:r>
            <a:r>
              <a:rPr lang="en-US" altLang="zh-CN" sz="2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(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Sh</a:t>
            </a:r>
            <a:r>
              <a:rPr lang="en-US" altLang="zh-CN" sz="2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ift 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R</a:t>
            </a:r>
            <a:r>
              <a:rPr lang="en-US" altLang="zh-CN" sz="2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ight)</a:t>
            </a:r>
            <a:endParaRPr lang="zh-CN" altLang="en-US" sz="24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4806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SHR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1/CL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右移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位，或右移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中预置的位数，最低位移入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中，其他位依次右移，最高位补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CL, 2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SHR AL, CL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若在执行指令前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(AL)=14H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，则执行指令后：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(AL)=05H, CF=ZF=SF=0, PF=1,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不影响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OF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087361F-D9E6-454A-A0D1-25513E3A72A8}"/>
              </a:ext>
            </a:extLst>
          </p:cNvPr>
          <p:cNvGrpSpPr/>
          <p:nvPr/>
        </p:nvGrpSpPr>
        <p:grpSpPr>
          <a:xfrm>
            <a:off x="1257300" y="2971963"/>
            <a:ext cx="6629400" cy="590550"/>
            <a:chOff x="1231231" y="4740443"/>
            <a:chExt cx="6629400" cy="590550"/>
          </a:xfrm>
        </p:grpSpPr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18E8C878-C72A-4973-BCAE-53C0135C4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831" y="4786481"/>
              <a:ext cx="3581400" cy="533400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Line 5">
              <a:extLst>
                <a:ext uri="{FF2B5EF4-FFF2-40B4-BE49-F238E27FC236}">
                  <a16:creationId xmlns:a16="http://schemas.microsoft.com/office/drawing/2014/main" id="{1117BF53-45E6-431F-9778-B9F13359E0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444" y="5048418"/>
              <a:ext cx="2058987" cy="0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6">
              <a:extLst>
                <a:ext uri="{FF2B5EF4-FFF2-40B4-BE49-F238E27FC236}">
                  <a16:creationId xmlns:a16="http://schemas.microsoft.com/office/drawing/2014/main" id="{77CCDAD4-C8DA-4E4C-B0D5-7D84E9012F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519" y="5043656"/>
              <a:ext cx="9144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7">
              <a:extLst>
                <a:ext uri="{FF2B5EF4-FFF2-40B4-BE49-F238E27FC236}">
                  <a16:creationId xmlns:a16="http://schemas.microsoft.com/office/drawing/2014/main" id="{28E9E5A6-600A-4BC8-B199-5D984C1EE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4144" y="5062706"/>
              <a:ext cx="9144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id="{8286C02E-853A-434E-93B0-8C3CE82D3B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1231" y="4740443"/>
              <a:ext cx="5334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 b="1"/>
                <a:t>0</a:t>
              </a:r>
            </a:p>
          </p:txBody>
        </p:sp>
        <p:sp>
          <p:nvSpPr>
            <p:cNvPr id="18" name="Text Box 9">
              <a:extLst>
                <a:ext uri="{FF2B5EF4-FFF2-40B4-BE49-F238E27FC236}">
                  <a16:creationId xmlns:a16="http://schemas.microsoft.com/office/drawing/2014/main" id="{1C6912D4-CA62-46CE-B33F-76E1AA96F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4831" y="4786481"/>
              <a:ext cx="685800" cy="544512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bg1"/>
                  </a:solidFill>
                </a:rPr>
                <a:t>CF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700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算术左移指令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SAL </a:t>
            </a:r>
            <a:r>
              <a:rPr lang="en-US" altLang="zh-CN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(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</a:t>
            </a:r>
            <a:r>
              <a:rPr lang="en-US" altLang="zh-CN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hift 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A</a:t>
            </a:r>
            <a:r>
              <a:rPr lang="en-US" altLang="zh-CN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rithmetic 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</a:t>
            </a:r>
            <a:r>
              <a:rPr lang="en-US" altLang="zh-CN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eft)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15613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SAL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1/CL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功能：与逻辑左移指令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SHL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一样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0B45C1B-37EC-4BE2-B2D7-E25426450F09}"/>
              </a:ext>
            </a:extLst>
          </p:cNvPr>
          <p:cNvGrpSpPr/>
          <p:nvPr/>
        </p:nvGrpSpPr>
        <p:grpSpPr>
          <a:xfrm flipH="1">
            <a:off x="1257300" y="2837497"/>
            <a:ext cx="6629400" cy="590550"/>
            <a:chOff x="1231231" y="4740443"/>
            <a:chExt cx="6629400" cy="590550"/>
          </a:xfrm>
        </p:grpSpPr>
        <p:sp>
          <p:nvSpPr>
            <p:cNvPr id="26" name="Rectangle 4">
              <a:extLst>
                <a:ext uri="{FF2B5EF4-FFF2-40B4-BE49-F238E27FC236}">
                  <a16:creationId xmlns:a16="http://schemas.microsoft.com/office/drawing/2014/main" id="{67DE7CC4-6547-48B8-AF73-35CD9D3C0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831" y="4786481"/>
              <a:ext cx="3581400" cy="533400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Line 5">
              <a:extLst>
                <a:ext uri="{FF2B5EF4-FFF2-40B4-BE49-F238E27FC236}">
                  <a16:creationId xmlns:a16="http://schemas.microsoft.com/office/drawing/2014/main" id="{C7D7F50B-753A-4156-8440-864597D29C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444" y="5048418"/>
              <a:ext cx="2058987" cy="0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6">
              <a:extLst>
                <a:ext uri="{FF2B5EF4-FFF2-40B4-BE49-F238E27FC236}">
                  <a16:creationId xmlns:a16="http://schemas.microsoft.com/office/drawing/2014/main" id="{0342682A-C6F3-466E-86E0-FE5D44ABB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519" y="5043656"/>
              <a:ext cx="9144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7">
              <a:extLst>
                <a:ext uri="{FF2B5EF4-FFF2-40B4-BE49-F238E27FC236}">
                  <a16:creationId xmlns:a16="http://schemas.microsoft.com/office/drawing/2014/main" id="{CF93E074-823D-410C-BB40-A57BC42E0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4144" y="5062706"/>
              <a:ext cx="9144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Box 8">
              <a:extLst>
                <a:ext uri="{FF2B5EF4-FFF2-40B4-BE49-F238E27FC236}">
                  <a16:creationId xmlns:a16="http://schemas.microsoft.com/office/drawing/2014/main" id="{6642D15C-8777-4C27-9889-D520D5840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1231" y="4740443"/>
              <a:ext cx="5334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 b="1"/>
                <a:t>0</a:t>
              </a:r>
            </a:p>
          </p:txBody>
        </p:sp>
        <p:sp>
          <p:nvSpPr>
            <p:cNvPr id="31" name="Text Box 9">
              <a:extLst>
                <a:ext uri="{FF2B5EF4-FFF2-40B4-BE49-F238E27FC236}">
                  <a16:creationId xmlns:a16="http://schemas.microsoft.com/office/drawing/2014/main" id="{F790A91D-27E4-4E4C-8465-67970A0E6D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4831" y="4786481"/>
              <a:ext cx="685800" cy="544512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CF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459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算术右移指令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SAR </a:t>
            </a:r>
            <a:r>
              <a:rPr lang="en-US" altLang="zh-CN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(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</a:t>
            </a:r>
            <a:r>
              <a:rPr lang="en-US" altLang="zh-CN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hift 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A</a:t>
            </a:r>
            <a:r>
              <a:rPr lang="en-US" altLang="zh-CN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rithmetic 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R</a:t>
            </a:r>
            <a:r>
              <a:rPr lang="en-US" altLang="zh-CN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ight)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065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SAR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1/CL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功能：将目的操作数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dest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右移一位或右移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中预置的位数，最低位移入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中，其他位依次右移，最高位用原数值的最高位补足。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SHR AL, 1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若在执行指令前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(AL)=0ECH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，则执行指令后：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(AL)=0FBH, CF=ZF=PF=0, SF=1,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不影响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OF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E8756BE-CD1D-4091-B3A8-D9EE485FF841}"/>
              </a:ext>
            </a:extLst>
          </p:cNvPr>
          <p:cNvGrpSpPr/>
          <p:nvPr/>
        </p:nvGrpSpPr>
        <p:grpSpPr>
          <a:xfrm>
            <a:off x="2293324" y="3084309"/>
            <a:ext cx="6115050" cy="1233487"/>
            <a:chOff x="1676400" y="4481513"/>
            <a:chExt cx="6115050" cy="1233487"/>
          </a:xfrm>
        </p:grpSpPr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A772C36A-9A93-4896-B708-1C836FE27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4495800"/>
              <a:ext cx="3581400" cy="533400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814F49BA-5710-4877-8E66-7253D0C12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7413" y="4757738"/>
              <a:ext cx="2058987" cy="0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8">
              <a:extLst>
                <a:ext uri="{FF2B5EF4-FFF2-40B4-BE49-F238E27FC236}">
                  <a16:creationId xmlns:a16="http://schemas.microsoft.com/office/drawing/2014/main" id="{706689C4-AE2E-4BF2-BB3D-8AF9A7F590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2200" y="4752975"/>
              <a:ext cx="9144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50705DC5-3013-445C-897E-8CB812EFE5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400" y="4772025"/>
              <a:ext cx="9144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Box 11">
              <a:extLst>
                <a:ext uri="{FF2B5EF4-FFF2-40B4-BE49-F238E27FC236}">
                  <a16:creationId xmlns:a16="http://schemas.microsoft.com/office/drawing/2014/main" id="{0365C67A-CB39-4ED0-A1A3-A47E89E33D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5650" y="4481513"/>
              <a:ext cx="685800" cy="544512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bg1"/>
                  </a:solidFill>
                </a:rPr>
                <a:t>CF</a:t>
              </a:r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DFF41A77-2F3E-40E0-8716-8C95F2134F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400" y="4800600"/>
              <a:ext cx="0" cy="91440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722441A7-3A07-4562-9FC4-1569733BF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400" y="5715000"/>
              <a:ext cx="12192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5F9C282C-93DD-4D7A-8D7E-C2DE3BBC12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5600" y="5029200"/>
              <a:ext cx="0" cy="68580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853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循环移位指令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979460"/>
            <a:ext cx="7849003" cy="5662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循环移位指令包括：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不带进位循环左移指令 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ROL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不带进位循环右移指令 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ROR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带进位循环左移指令 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RCL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带进位循环右移指令 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RCL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循环移位指令只影响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OF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总是最后一次被移入的值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移动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位时，如果指令执行前后操作数最高位发生变化，则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，移动多位时，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不确定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679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不带进位循环左移指令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ROL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97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ROL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1/CL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循环左移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位或左移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中预置的位数；最高位移入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的同时，也移入最低位，其他位依次左移；原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中的内容消失。</a:t>
            </a: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ROL AL, 1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在执行指令前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(AL)=82H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（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1000 0010B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），则执行指令后：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(AL)=05H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（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0000 0101B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），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CF=1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OF=1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40839F8-6B43-4FAC-A0A7-A6D66D36BECA}"/>
              </a:ext>
            </a:extLst>
          </p:cNvPr>
          <p:cNvGrpSpPr/>
          <p:nvPr/>
        </p:nvGrpSpPr>
        <p:grpSpPr>
          <a:xfrm>
            <a:off x="1509712" y="2933700"/>
            <a:ext cx="6124575" cy="990600"/>
            <a:chOff x="1676400" y="2514600"/>
            <a:chExt cx="6124575" cy="990600"/>
          </a:xfrm>
        </p:grpSpPr>
        <p:sp>
          <p:nvSpPr>
            <p:cNvPr id="21" name="Rectangle 13">
              <a:extLst>
                <a:ext uri="{FF2B5EF4-FFF2-40B4-BE49-F238E27FC236}">
                  <a16:creationId xmlns:a16="http://schemas.microsoft.com/office/drawing/2014/main" id="{815B9673-53A6-4057-9BAC-0CE760B2C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2514600"/>
              <a:ext cx="3581400" cy="533400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Text Box 17">
              <a:extLst>
                <a:ext uri="{FF2B5EF4-FFF2-40B4-BE49-F238E27FC236}">
                  <a16:creationId xmlns:a16="http://schemas.microsoft.com/office/drawing/2014/main" id="{F5DF89B5-7073-4FC1-82DF-CC5C58EFD1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2514600"/>
              <a:ext cx="685800" cy="544513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bg1"/>
                  </a:solidFill>
                </a:rPr>
                <a:t>CF</a:t>
              </a:r>
            </a:p>
          </p:txBody>
        </p:sp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F5A6106E-D5EE-4BD1-87A1-D60D96FDC4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6688" y="2743200"/>
              <a:ext cx="14287" cy="76200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9">
              <a:extLst>
                <a:ext uri="{FF2B5EF4-FFF2-40B4-BE49-F238E27FC236}">
                  <a16:creationId xmlns:a16="http://schemas.microsoft.com/office/drawing/2014/main" id="{820BCBA3-EF6B-49BB-9CF4-F019ACC28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4175" y="3505200"/>
              <a:ext cx="48768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0">
              <a:extLst>
                <a:ext uri="{FF2B5EF4-FFF2-40B4-BE49-F238E27FC236}">
                  <a16:creationId xmlns:a16="http://schemas.microsoft.com/office/drawing/2014/main" id="{17014A10-D210-460B-85DA-6E85E557E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4175" y="2819400"/>
              <a:ext cx="0" cy="68580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1">
              <a:extLst>
                <a:ext uri="{FF2B5EF4-FFF2-40B4-BE49-F238E27FC236}">
                  <a16:creationId xmlns:a16="http://schemas.microsoft.com/office/drawing/2014/main" id="{0EBEFE2E-E9BA-4585-A39B-8E844B87A2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4800" y="2770188"/>
              <a:ext cx="1903413" cy="0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2">
              <a:extLst>
                <a:ext uri="{FF2B5EF4-FFF2-40B4-BE49-F238E27FC236}">
                  <a16:creationId xmlns:a16="http://schemas.microsoft.com/office/drawing/2014/main" id="{C8B8877C-44CD-4A46-A029-ABED92FA5D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34200" y="2743200"/>
              <a:ext cx="8382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80B08366-0BC7-4E90-840F-9A1471113B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2200" y="2786063"/>
              <a:ext cx="979488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072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不带进位循环右移指令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ROR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97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ROR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1/CL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将目的操作数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dest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循环右移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位或右移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中预置的位数；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最低位移入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的同时，也移入最高位，其他位依次右移。</a:t>
            </a: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ROR AL, 1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在执行指令前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(AL)=82H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（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1000 0010B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），则执行指令后：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(AL)=41H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（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0100 0001B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），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CF=0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OF=1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73D0B83-495D-4DCF-9129-45B925F79DF7}"/>
              </a:ext>
            </a:extLst>
          </p:cNvPr>
          <p:cNvGrpSpPr/>
          <p:nvPr/>
        </p:nvGrpSpPr>
        <p:grpSpPr>
          <a:xfrm>
            <a:off x="2217124" y="2921000"/>
            <a:ext cx="6191250" cy="1016000"/>
            <a:chOff x="1581150" y="4419600"/>
            <a:chExt cx="6191250" cy="1016000"/>
          </a:xfrm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1C06ADDC-7525-450F-B516-06653304B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4419600"/>
              <a:ext cx="3581400" cy="533400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Line 6">
              <a:extLst>
                <a:ext uri="{FF2B5EF4-FFF2-40B4-BE49-F238E27FC236}">
                  <a16:creationId xmlns:a16="http://schemas.microsoft.com/office/drawing/2014/main" id="{305D0A3D-270A-4AC5-8DA1-6C06A95FD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2163" y="4681538"/>
              <a:ext cx="2058987" cy="0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7">
              <a:extLst>
                <a:ext uri="{FF2B5EF4-FFF2-40B4-BE49-F238E27FC236}">
                  <a16:creationId xmlns:a16="http://schemas.microsoft.com/office/drawing/2014/main" id="{FDB04B55-C4AD-407D-BD69-CB54EA4B4B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1238" y="4676775"/>
              <a:ext cx="985837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8">
              <a:extLst>
                <a:ext uri="{FF2B5EF4-FFF2-40B4-BE49-F238E27FC236}">
                  <a16:creationId xmlns:a16="http://schemas.microsoft.com/office/drawing/2014/main" id="{8561E5BA-EFA5-48AD-9139-E0C4E9661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1150" y="4695825"/>
              <a:ext cx="9144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9">
              <a:extLst>
                <a:ext uri="{FF2B5EF4-FFF2-40B4-BE49-F238E27FC236}">
                  <a16:creationId xmlns:a16="http://schemas.microsoft.com/office/drawing/2014/main" id="{9BC7149A-AC86-496E-9823-AE3CAE44FC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4419600"/>
              <a:ext cx="685800" cy="544513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bg1"/>
                  </a:solidFill>
                </a:rPr>
                <a:t>CF</a:t>
              </a:r>
            </a:p>
          </p:txBody>
        </p:sp>
        <p:sp>
          <p:nvSpPr>
            <p:cNvPr id="19" name="Line 10">
              <a:extLst>
                <a:ext uri="{FF2B5EF4-FFF2-40B4-BE49-F238E27FC236}">
                  <a16:creationId xmlns:a16="http://schemas.microsoft.com/office/drawing/2014/main" id="{4177AFA1-7A55-479F-A2C8-8CE60F7B5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1150" y="4724400"/>
              <a:ext cx="0" cy="68580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1">
              <a:extLst>
                <a:ext uri="{FF2B5EF4-FFF2-40B4-BE49-F238E27FC236}">
                  <a16:creationId xmlns:a16="http://schemas.microsoft.com/office/drawing/2014/main" id="{57725CF0-A29D-466E-B0BB-4055F23AA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725" y="5429250"/>
              <a:ext cx="48768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2">
              <a:extLst>
                <a:ext uri="{FF2B5EF4-FFF2-40B4-BE49-F238E27FC236}">
                  <a16:creationId xmlns:a16="http://schemas.microsoft.com/office/drawing/2014/main" id="{ECF6C11B-2BE7-43E2-AC78-DB241153C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05575" y="4676775"/>
              <a:ext cx="0" cy="758825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702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带进位循环左移指令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RCL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992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RCL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1/CL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连同进位标志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一起循环左移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位或左移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中预置的位数；将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移入最低位，其他位依次左移，原数值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dest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的最高位移入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中。</a:t>
            </a: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C50BF9E-8C49-4D4E-B9BF-61E897F7FC40}"/>
              </a:ext>
            </a:extLst>
          </p:cNvPr>
          <p:cNvGrpSpPr/>
          <p:nvPr/>
        </p:nvGrpSpPr>
        <p:grpSpPr>
          <a:xfrm>
            <a:off x="1270021" y="3854792"/>
            <a:ext cx="6780212" cy="990600"/>
            <a:chOff x="1023938" y="2514600"/>
            <a:chExt cx="6780212" cy="990600"/>
          </a:xfrm>
        </p:grpSpPr>
        <p:sp>
          <p:nvSpPr>
            <p:cNvPr id="21" name="Rectangle 12">
              <a:extLst>
                <a:ext uri="{FF2B5EF4-FFF2-40B4-BE49-F238E27FC236}">
                  <a16:creationId xmlns:a16="http://schemas.microsoft.com/office/drawing/2014/main" id="{E7B5D758-C266-4C5C-94DD-F585EC6C8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2514600"/>
              <a:ext cx="3581400" cy="533400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Text Box 13">
              <a:extLst>
                <a:ext uri="{FF2B5EF4-FFF2-40B4-BE49-F238E27FC236}">
                  <a16:creationId xmlns:a16="http://schemas.microsoft.com/office/drawing/2014/main" id="{D2A5D53E-83D8-4384-AD35-80811B85C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5463" y="2514600"/>
              <a:ext cx="685800" cy="544513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bg1"/>
                  </a:solidFill>
                </a:rPr>
                <a:t>CF</a:t>
              </a:r>
            </a:p>
          </p:txBody>
        </p:sp>
        <p:sp>
          <p:nvSpPr>
            <p:cNvPr id="23" name="Line 14">
              <a:extLst>
                <a:ext uri="{FF2B5EF4-FFF2-40B4-BE49-F238E27FC236}">
                  <a16:creationId xmlns:a16="http://schemas.microsoft.com/office/drawing/2014/main" id="{DD68A049-9A36-40E8-9180-2ABF2E8159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6688" y="2743200"/>
              <a:ext cx="14287" cy="76200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5">
              <a:extLst>
                <a:ext uri="{FF2B5EF4-FFF2-40B4-BE49-F238E27FC236}">
                  <a16:creationId xmlns:a16="http://schemas.microsoft.com/office/drawing/2014/main" id="{A2698BC4-E959-401A-B245-2A31B9AF5C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3938" y="3505200"/>
              <a:ext cx="6780212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6">
              <a:extLst>
                <a:ext uri="{FF2B5EF4-FFF2-40B4-BE49-F238E27FC236}">
                  <a16:creationId xmlns:a16="http://schemas.microsoft.com/office/drawing/2014/main" id="{88E91FBF-E154-4D71-9522-FF42AAEE0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463" y="2790825"/>
              <a:ext cx="0" cy="68580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7">
              <a:extLst>
                <a:ext uri="{FF2B5EF4-FFF2-40B4-BE49-F238E27FC236}">
                  <a16:creationId xmlns:a16="http://schemas.microsoft.com/office/drawing/2014/main" id="{0A750683-C304-4741-B538-3D712252C8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4800" y="2770188"/>
              <a:ext cx="1903413" cy="0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8">
              <a:extLst>
                <a:ext uri="{FF2B5EF4-FFF2-40B4-BE49-F238E27FC236}">
                  <a16:creationId xmlns:a16="http://schemas.microsoft.com/office/drawing/2014/main" id="{806A4D6D-EC9E-4D74-894D-FF1BE58486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34200" y="2743200"/>
              <a:ext cx="8382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9">
              <a:extLst>
                <a:ext uri="{FF2B5EF4-FFF2-40B4-BE49-F238E27FC236}">
                  <a16:creationId xmlns:a16="http://schemas.microsoft.com/office/drawing/2014/main" id="{D2935B7D-9ED8-4213-92AB-0997200C3E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03488" y="2786063"/>
              <a:ext cx="835025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21">
              <a:extLst>
                <a:ext uri="{FF2B5EF4-FFF2-40B4-BE49-F238E27FC236}">
                  <a16:creationId xmlns:a16="http://schemas.microsoft.com/office/drawing/2014/main" id="{43F5EF0A-4402-4D4D-84F5-1442FCE63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3938" y="2790825"/>
              <a:ext cx="758825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94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带进位循环右移指令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RCR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1977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RCR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1/CL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连同进位标志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一起循环右移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位或右移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中预置的位数；将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移入最高位，其他位依次右移，原数值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dest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的最低位移入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中。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CDDC1AC-2F1C-4E47-A5A1-90D0EF6E7FFA}"/>
              </a:ext>
            </a:extLst>
          </p:cNvPr>
          <p:cNvGrpSpPr/>
          <p:nvPr/>
        </p:nvGrpSpPr>
        <p:grpSpPr>
          <a:xfrm>
            <a:off x="1269227" y="3712164"/>
            <a:ext cx="6781800" cy="1023938"/>
            <a:chOff x="1066800" y="4267200"/>
            <a:chExt cx="6781800" cy="1023938"/>
          </a:xfrm>
        </p:grpSpPr>
        <p:sp>
          <p:nvSpPr>
            <p:cNvPr id="15" name="Rectangle 4">
              <a:extLst>
                <a:ext uri="{FF2B5EF4-FFF2-40B4-BE49-F238E27FC236}">
                  <a16:creationId xmlns:a16="http://schemas.microsoft.com/office/drawing/2014/main" id="{A38CD5BD-4652-460F-8B6B-213570B15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4267200"/>
              <a:ext cx="3581400" cy="533400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Line 5">
              <a:extLst>
                <a:ext uri="{FF2B5EF4-FFF2-40B4-BE49-F238E27FC236}">
                  <a16:creationId xmlns:a16="http://schemas.microsoft.com/office/drawing/2014/main" id="{3215B5DE-656D-4CF3-86D0-5828178CA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1613" y="4529138"/>
              <a:ext cx="2058987" cy="0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6">
              <a:extLst>
                <a:ext uri="{FF2B5EF4-FFF2-40B4-BE49-F238E27FC236}">
                  <a16:creationId xmlns:a16="http://schemas.microsoft.com/office/drawing/2014/main" id="{05483BE0-CF8F-4BE8-AD5F-CC7B50094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0688" y="4524375"/>
              <a:ext cx="835025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7">
              <a:extLst>
                <a:ext uri="{FF2B5EF4-FFF2-40B4-BE49-F238E27FC236}">
                  <a16:creationId xmlns:a16="http://schemas.microsoft.com/office/drawing/2014/main" id="{767223BC-7FC6-4769-9F70-9423CC94B6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800" y="4543425"/>
              <a:ext cx="8382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8">
              <a:extLst>
                <a:ext uri="{FF2B5EF4-FFF2-40B4-BE49-F238E27FC236}">
                  <a16:creationId xmlns:a16="http://schemas.microsoft.com/office/drawing/2014/main" id="{21DD12D1-CCA0-4AE9-9FE4-9A33C1BEA3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6513" y="4267200"/>
              <a:ext cx="685800" cy="544513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bg1"/>
                  </a:solidFill>
                </a:rPr>
                <a:t>CF</a:t>
              </a:r>
            </a:p>
          </p:txBody>
        </p:sp>
        <p:sp>
          <p:nvSpPr>
            <p:cNvPr id="29" name="Line 9">
              <a:extLst>
                <a:ext uri="{FF2B5EF4-FFF2-40B4-BE49-F238E27FC236}">
                  <a16:creationId xmlns:a16="http://schemas.microsoft.com/office/drawing/2014/main" id="{FCCF060F-C270-45DE-B852-D6F2DA9F78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800" y="4543425"/>
              <a:ext cx="0" cy="72390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0">
              <a:extLst>
                <a:ext uri="{FF2B5EF4-FFF2-40B4-BE49-F238E27FC236}">
                  <a16:creationId xmlns:a16="http://schemas.microsoft.com/office/drawing/2014/main" id="{7581ED63-8AD6-44E5-B7DB-5C31A4E21F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1088" y="5272088"/>
              <a:ext cx="6753225" cy="1905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1">
              <a:extLst>
                <a:ext uri="{FF2B5EF4-FFF2-40B4-BE49-F238E27FC236}">
                  <a16:creationId xmlns:a16="http://schemas.microsoft.com/office/drawing/2014/main" id="{E3A0A2E2-CA87-4ACF-B9EA-1DE1F2A085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8600" y="4524375"/>
              <a:ext cx="0" cy="758825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22">
              <a:extLst>
                <a:ext uri="{FF2B5EF4-FFF2-40B4-BE49-F238E27FC236}">
                  <a16:creationId xmlns:a16="http://schemas.microsoft.com/office/drawing/2014/main" id="{7C23D58F-3C45-4783-82CB-8577C83CB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89775" y="4524375"/>
              <a:ext cx="758825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547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47498" y="1131430"/>
            <a:ext cx="7849003" cy="358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STC	;CF=1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AL, -126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RCR AL, 1</a:t>
            </a: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在执行指令前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CF=1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(AL)=82H(1000 0010B)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，则执行指令后：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(AL)=0C1H (1100 0001B), CF=0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由于执行指令前后最高位未发生变化，故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OF=0</a:t>
            </a:r>
          </a:p>
        </p:txBody>
      </p:sp>
    </p:spTree>
    <p:extLst>
      <p:ext uri="{BB962C8B-B14F-4D97-AF65-F5344CB8AC3E}">
        <p14:creationId xmlns:p14="http://schemas.microsoft.com/office/powerpoint/2010/main" val="261474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循环移位指令应用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021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用于对某些位状态的测试；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高位部分和低位部分的交换；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与非循环移位指令一起组成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32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位或更长字长数的移位。</a:t>
            </a:r>
          </a:p>
        </p:txBody>
      </p:sp>
    </p:spTree>
    <p:extLst>
      <p:ext uri="{BB962C8B-B14F-4D97-AF65-F5344CB8AC3E}">
        <p14:creationId xmlns:p14="http://schemas.microsoft.com/office/powerpoint/2010/main" val="14493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764087"/>
            <a:ext cx="228780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指令格式和寻址方式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逻辑运算和移位循环指令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串操作指令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44039023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串操作指令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607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针对数据串的操作，一个数据串最长可达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64KB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唯一一条从内存到内存的指令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，默认源操作数在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DS:[SI]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中，目的操作数在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ES:[DI]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中，并支持段重设；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指令自动修改地址指针，修改方向由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决定：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时，增地址方向，字节串地址加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，字串地址加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时，减地址方向，字节串地址减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，字串地址减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数据串长度由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指定，自动重复前缀可以自动修改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内容。</a:t>
            </a:r>
          </a:p>
        </p:txBody>
      </p:sp>
    </p:spTree>
    <p:extLst>
      <p:ext uri="{BB962C8B-B14F-4D97-AF65-F5344CB8AC3E}">
        <p14:creationId xmlns:p14="http://schemas.microsoft.com/office/powerpoint/2010/main" val="46575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重复前缀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053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无条件重复前缀：</a:t>
            </a: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时重复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条件重复前缀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REPE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    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相等重复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REPZ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    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为零重复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REPNE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 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不相等重复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REPNZ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 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不为零重复</a:t>
            </a:r>
          </a:p>
        </p:txBody>
      </p:sp>
    </p:spTree>
    <p:extLst>
      <p:ext uri="{BB962C8B-B14F-4D97-AF65-F5344CB8AC3E}">
        <p14:creationId xmlns:p14="http://schemas.microsoft.com/office/powerpoint/2010/main" val="116767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串操作指令流程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1B079F3-5876-40E2-8C4A-BC2D22920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8426" y="5034865"/>
            <a:ext cx="3124200" cy="838200"/>
          </a:xfrm>
          <a:prstGeom prst="flowChartDecision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2880C0F-D880-45F0-ACF7-ECB097B43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6" y="1618565"/>
            <a:ext cx="22098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80CEEF5-0B52-414C-AFDB-C9E03E803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6" y="2761565"/>
            <a:ext cx="22098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44198183-8F21-4E94-98E9-F70322BE7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226" y="1694765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</a:rPr>
              <a:t>取源串地址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81FAD770-6D79-466C-A592-30662A909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026" y="2837765"/>
            <a:ext cx="2209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</a:rPr>
              <a:t>取目标串地址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CEE99710-7462-4062-BAD2-FF18234CF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6" y="3904565"/>
            <a:ext cx="22098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1DC2DE4A-7960-4CF5-931A-ACF511F29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426" y="3980765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</a:rPr>
              <a:t>设串长度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485CB557-6894-4554-BC98-620713B71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7026" y="1834465"/>
            <a:ext cx="27432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B868B6CE-1F2C-4768-978E-F305DA504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3226" y="191066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</a:rPr>
              <a:t>传送一个字节或字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18058BF0-C8DD-41AA-9ABB-5F8D125B1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7026" y="2901265"/>
            <a:ext cx="27432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61F8C94F-1FD8-43EC-991D-BAF453A23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1826" y="2977465"/>
            <a:ext cx="213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</a:rPr>
              <a:t>修改地址指针</a:t>
            </a: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9FEC218D-8310-483C-BF75-4F5FD6B55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7026" y="3968065"/>
            <a:ext cx="27432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AED4B731-98C8-453C-91C8-359E7EE06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1826" y="4044265"/>
            <a:ext cx="213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</a:rPr>
              <a:t>修改串长度值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57F43186-749F-4AC0-86C0-29DE89376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764" y="5234890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</a:rPr>
              <a:t>传送完否？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191E2673-96FD-4585-9AF0-BEA070FCE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2426" y="1377265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4361D48F-4661-4154-A9C9-ACEA0C5BC7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2426" y="2444065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8BE28AF5-118D-4F95-AC41-14E486AA7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2426" y="3510865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1F4D30D6-3C5E-429C-B58B-C6A4505025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2426" y="4577665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9F946ACB-F3DF-419E-9B73-ACF20D68A9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9251" y="5873065"/>
            <a:ext cx="17463" cy="395287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09E41787-9840-498A-83B0-96B33FF56C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2626" y="5463490"/>
            <a:ext cx="73025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A08CD273-1156-4401-9DC5-83DAFF8C46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4626" y="1377265"/>
            <a:ext cx="0" cy="4073525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3C87D964-6C9E-415B-B4CF-2000758CD5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12426" y="1377265"/>
            <a:ext cx="236855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F5E574D1-8CE5-4F91-BCA5-340B4C6366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2426" y="2228165"/>
            <a:ext cx="0" cy="5334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138B4193-B158-4D13-9377-61729BCBC7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2426" y="3371165"/>
            <a:ext cx="0" cy="5334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30A7189A-7B94-4693-834E-5FF5AB75A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2901" y="5682565"/>
            <a:ext cx="0" cy="2159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FF094C49-4EFD-4516-89F6-F419C7CAEA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2426" y="5898465"/>
            <a:ext cx="16002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421ACFAF-572E-436B-B578-014A98D7C4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99451" y="1389965"/>
            <a:ext cx="0" cy="45085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892B9B59-36E7-4FEB-846E-4DC9193746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2626" y="1389965"/>
            <a:ext cx="22098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Rectangle 31">
            <a:extLst>
              <a:ext uri="{FF2B5EF4-FFF2-40B4-BE49-F238E27FC236}">
                <a16:creationId xmlns:a16="http://schemas.microsoft.com/office/drawing/2014/main" id="{6DED37FA-C9FA-44D3-B9F6-8A4B76571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6026" y="1301065"/>
            <a:ext cx="4267200" cy="466883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312AFB14-FA97-4A14-BCDC-58E8C325E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6451" y="5034865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/>
              <a:t>N</a:t>
            </a:r>
          </a:p>
        </p:txBody>
      </p:sp>
      <p:sp>
        <p:nvSpPr>
          <p:cNvPr id="35" name="Text Box 33">
            <a:extLst>
              <a:ext uri="{FF2B5EF4-FFF2-40B4-BE49-F238E27FC236}">
                <a16:creationId xmlns:a16="http://schemas.microsoft.com/office/drawing/2014/main" id="{FC777F64-ACA9-40A7-855A-AE997F14A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7451" y="5782577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/>
              <a:t>Y</a:t>
            </a:r>
          </a:p>
        </p:txBody>
      </p:sp>
      <p:sp>
        <p:nvSpPr>
          <p:cNvPr id="36" name="Rectangle 34">
            <a:extLst>
              <a:ext uri="{FF2B5EF4-FFF2-40B4-BE49-F238E27FC236}">
                <a16:creationId xmlns:a16="http://schemas.microsoft.com/office/drawing/2014/main" id="{8108B9BD-576B-41AF-A3F7-7BB880101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39" y="5072965"/>
            <a:ext cx="22098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7" name="Text Box 35">
            <a:extLst>
              <a:ext uri="{FF2B5EF4-FFF2-40B4-BE49-F238E27FC236}">
                <a16:creationId xmlns:a16="http://schemas.microsoft.com/office/drawing/2014/main" id="{F9DA1F1C-ABB4-476B-B43C-B4F875736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639" y="5149165"/>
            <a:ext cx="163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</a:rPr>
              <a:t>设操作方向</a:t>
            </a:r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F1C7E0EC-3C6A-4F36-B523-C28FFF2B70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2901" y="4530040"/>
            <a:ext cx="0" cy="5334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12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500"/>
                            </p:stCondLst>
                            <p:childTnLst>
                              <p:par>
                                <p:cTn id="126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000"/>
                            </p:stCondLst>
                            <p:childTnLst>
                              <p:par>
                                <p:cTn id="13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35" presetClass="emph" presetSubtype="0" repeatCount="5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/>
      <p:bldP spid="33" grpId="0" animBg="1"/>
      <p:bldP spid="33" grpId="1" animBg="1"/>
      <p:bldP spid="34" grpId="0"/>
      <p:bldP spid="35" grpId="0"/>
      <p:bldP spid="36" grpId="0" animBg="1"/>
      <p:bldP spid="37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串指令的操作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170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执行规定的操作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SI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DI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自动增量或减量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若有重复前缀，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自动减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使用串指令前应设置：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方向标志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DF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源串指针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DS:SI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目的串指针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ES:DI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重复次数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endParaRPr lang="zh-CN" altLang="en-US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274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串操作指令种类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76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串传送 </a:t>
            </a: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串比较 </a:t>
            </a: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CMPS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串装入 </a:t>
            </a: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LODS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串送存 </a:t>
            </a: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STOS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串扫描 </a:t>
            </a: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SCAS</a:t>
            </a:r>
            <a:endParaRPr lang="zh-CN" altLang="en-US" sz="2000" dirty="0">
              <a:solidFill>
                <a:srgbClr val="0070C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984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串传送指令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MOVSB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900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MOVSB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将位于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DS:[SI]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存储单元的字节数据传送到位于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ES:[DI]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所指的存储单元中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DF = 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(DI) – 1 → (DI)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(SI) – 1 → (SI)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DF = 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(DI) + 1 → (DI)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(SI) + 1 → (SI)</a:t>
            </a:r>
          </a:p>
        </p:txBody>
      </p:sp>
    </p:spTree>
    <p:extLst>
      <p:ext uri="{BB962C8B-B14F-4D97-AF65-F5344CB8AC3E}">
        <p14:creationId xmlns:p14="http://schemas.microsoft.com/office/powerpoint/2010/main" val="90422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串传送指令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MOVSW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900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MOVSW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将位于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DS:[SI]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存储单元的字数据传送到位于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ES:[DI]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所指的存储单元中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DF = 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(DI) – 2 → (DI)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(SI) – 2 → (SI)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DF = 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(DI) + 2 → (DI)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(SI) + 2 → (SI)</a:t>
            </a:r>
          </a:p>
        </p:txBody>
      </p:sp>
    </p:spTree>
    <p:extLst>
      <p:ext uri="{BB962C8B-B14F-4D97-AF65-F5344CB8AC3E}">
        <p14:creationId xmlns:p14="http://schemas.microsoft.com/office/powerpoint/2010/main" val="272768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串传送指令注意事项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820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执行指令前：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设置源串地址指针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DS:SI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和目的串地址指针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ES:DI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设置传送方向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DF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若要重复执行，还需把重复次数放入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中，并使用重复前缀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串传送指令通常与重复前缀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联合使用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420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串传送指令示例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1048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编写程序完成以下操作：将存储器物理地址从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20300H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开始的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100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个字节数据复制到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20A00H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开始的存储单元中。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5B8B47-BE65-42BC-8A3E-D9A0E4E6FDD7}"/>
              </a:ext>
            </a:extLst>
          </p:cNvPr>
          <p:cNvSpPr/>
          <p:nvPr/>
        </p:nvSpPr>
        <p:spPr>
          <a:xfrm>
            <a:off x="2374127" y="2406162"/>
            <a:ext cx="4572000" cy="422269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333399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	</a:t>
            </a: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MOV AX, 2000H</a:t>
            </a:r>
          </a:p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	MOV DS, AX</a:t>
            </a:r>
          </a:p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	MOV ES, AX</a:t>
            </a:r>
          </a:p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	MOV SI, 0300H</a:t>
            </a:r>
          </a:p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	MOV DI, 0A00H</a:t>
            </a:r>
          </a:p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	MOV CX, 100</a:t>
            </a:r>
          </a:p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	CLD</a:t>
            </a:r>
          </a:p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REP	MOVSB</a:t>
            </a:r>
          </a:p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	…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05983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串传送指令示例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1ACE236-F827-403C-9F0B-C8333030AF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6646" y="1237354"/>
            <a:ext cx="9150646" cy="481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432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串比较指令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CMPSB/CMPSW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500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CMPSB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CMPSW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功能：比较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DS:SI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ES:DI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的字节或字数据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注意：串比较指令常与条件重复前缀连用，指令的执行不改变操作数，仅影响标志位。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REPZ CMPSB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;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寻找第一个不相等的字节数据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REPNZ CMPSB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 ;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寻找第一个相等的字节数据</a:t>
            </a:r>
          </a:p>
        </p:txBody>
      </p:sp>
    </p:spTree>
    <p:extLst>
      <p:ext uri="{BB962C8B-B14F-4D97-AF65-F5344CB8AC3E}">
        <p14:creationId xmlns:p14="http://schemas.microsoft.com/office/powerpoint/2010/main" val="108134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串装入指令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LODSB/LODSW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76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LODSB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LODSW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DS:SI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指向的存储单元数据送入寄存器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用于将内存某个区域的数据串依次装入累加器，以便显示或输出到接口。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LODS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指令一般不加重复前缀。</a:t>
            </a:r>
          </a:p>
        </p:txBody>
      </p:sp>
    </p:spTree>
    <p:extLst>
      <p:ext uri="{BB962C8B-B14F-4D97-AF65-F5344CB8AC3E}">
        <p14:creationId xmlns:p14="http://schemas.microsoft.com/office/powerpoint/2010/main" val="168521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串送存指令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STOSB/STOSW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877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STOSB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STOSW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功能：将寄存器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的内容送至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DS:SI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指向的存储单元。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常用于将内存某个区域置同样的值，此时：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将待送存的数据放入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（字节数）或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（字数据）；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确定操作方向（增地址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减地址）和区域大小（串长度）；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使用串存储指令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+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无条件重复前缀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REP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，实现数据传送。</a:t>
            </a:r>
          </a:p>
        </p:txBody>
      </p:sp>
    </p:spTree>
    <p:extLst>
      <p:ext uri="{BB962C8B-B14F-4D97-AF65-F5344CB8AC3E}">
        <p14:creationId xmlns:p14="http://schemas.microsoft.com/office/powerpoint/2010/main" val="2160847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串送存指令示例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40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把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6000H:1200H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开始的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100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个字节存储单元全部设置为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55H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706FC5-DFC6-4CAB-9E96-67C06E1C9224}"/>
              </a:ext>
            </a:extLst>
          </p:cNvPr>
          <p:cNvSpPr/>
          <p:nvPr/>
        </p:nvSpPr>
        <p:spPr>
          <a:xfrm>
            <a:off x="806584" y="1898331"/>
            <a:ext cx="7707086" cy="3918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 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AX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6000H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       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 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ES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AX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     </a:t>
            </a: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;ES←</a:t>
            </a:r>
            <a:r>
              <a:rPr lang="zh-CN" altLang="en-US" sz="2400" dirty="0">
                <a:solidFill>
                  <a:srgbClr val="008000"/>
                </a:solidFill>
                <a:latin typeface="Courier New" panose="02070309020205020404" pitchFamily="49" charset="0"/>
              </a:rPr>
              <a:t>目的串的段地址        </a:t>
            </a:r>
            <a:endParaRPr lang="en-US" altLang="zh-CN" sz="2400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 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DI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1200H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  </a:t>
            </a: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;DI←</a:t>
            </a:r>
            <a:r>
              <a:rPr lang="zh-CN" altLang="en-US" sz="2400" dirty="0">
                <a:solidFill>
                  <a:srgbClr val="008000"/>
                </a:solidFill>
                <a:latin typeface="Courier New" panose="02070309020205020404" pitchFamily="49" charset="0"/>
              </a:rPr>
              <a:t>目的串的偏移地址        </a:t>
            </a:r>
            <a:endParaRPr lang="en-US" altLang="zh-CN" sz="2400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 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CX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100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    </a:t>
            </a: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;CX←</a:t>
            </a:r>
            <a:r>
              <a:rPr lang="zh-CN" altLang="en-US" sz="2400" dirty="0">
                <a:solidFill>
                  <a:srgbClr val="008000"/>
                </a:solidFill>
                <a:latin typeface="Courier New" panose="02070309020205020404" pitchFamily="49" charset="0"/>
              </a:rPr>
              <a:t>串长度        </a:t>
            </a:r>
            <a:endParaRPr lang="en-US" altLang="zh-CN" sz="2400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CLD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             </a:t>
            </a: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;DF←0</a:t>
            </a:r>
            <a:r>
              <a:rPr lang="zh-CN" altLang="en-US" sz="2400" dirty="0">
                <a:solidFill>
                  <a:srgbClr val="008000"/>
                </a:solidFill>
                <a:latin typeface="Courier New" panose="02070309020205020404" pitchFamily="49" charset="0"/>
              </a:rPr>
              <a:t>，增地址方向         </a:t>
            </a:r>
            <a:endParaRPr lang="en-US" altLang="zh-CN" sz="2400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 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AL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55H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    </a:t>
            </a: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;AL←55H        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REP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 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STOSB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      </a:t>
            </a: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;</a:t>
            </a:r>
            <a:r>
              <a:rPr lang="zh-CN" altLang="en-US" sz="2400" dirty="0">
                <a:solidFill>
                  <a:srgbClr val="008000"/>
                </a:solidFill>
                <a:latin typeface="Courier New" panose="02070309020205020404" pitchFamily="49" charset="0"/>
              </a:rPr>
              <a:t>将</a:t>
            </a: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100</a:t>
            </a:r>
            <a:r>
              <a:rPr lang="zh-CN" altLang="en-US" sz="2400" dirty="0">
                <a:solidFill>
                  <a:srgbClr val="008000"/>
                </a:solidFill>
                <a:latin typeface="Courier New" panose="02070309020205020404" pitchFamily="49" charset="0"/>
              </a:rPr>
              <a:t>个单元都写入</a:t>
            </a: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55H</a:t>
            </a:r>
            <a:endParaRPr lang="en-US" altLang="zh-CN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0327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串检索指令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SCASB/SCASW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69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SCASB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SCASW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功能：执行与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CMPS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指令相似的操作，只是这里的源操作数是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常用于在指定存储区域中寻找某个关键字。</a:t>
            </a:r>
          </a:p>
        </p:txBody>
      </p:sp>
    </p:spTree>
    <p:extLst>
      <p:ext uri="{BB962C8B-B14F-4D97-AF65-F5344CB8AC3E}">
        <p14:creationId xmlns:p14="http://schemas.microsoft.com/office/powerpoint/2010/main" val="246709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串操作指令总结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4C45E7E7-15ED-44BA-8B22-71EF414F8A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0076414"/>
              </p:ext>
            </p:extLst>
          </p:nvPr>
        </p:nvGraphicFramePr>
        <p:xfrm>
          <a:off x="405492" y="1579897"/>
          <a:ext cx="8333016" cy="463423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88836">
                  <a:extLst>
                    <a:ext uri="{9D8B030D-6E8A-4147-A177-3AD203B41FA5}">
                      <a16:colId xmlns:a16="http://schemas.microsoft.com/office/drawing/2014/main" val="912227395"/>
                    </a:ext>
                  </a:extLst>
                </a:gridCol>
                <a:gridCol w="1077769">
                  <a:extLst>
                    <a:ext uri="{9D8B030D-6E8A-4147-A177-3AD203B41FA5}">
                      <a16:colId xmlns:a16="http://schemas.microsoft.com/office/drawing/2014/main" val="278817104"/>
                    </a:ext>
                  </a:extLst>
                </a:gridCol>
                <a:gridCol w="1699903">
                  <a:extLst>
                    <a:ext uri="{9D8B030D-6E8A-4147-A177-3AD203B41FA5}">
                      <a16:colId xmlns:a16="http://schemas.microsoft.com/office/drawing/2014/main" val="1378750537"/>
                    </a:ext>
                  </a:extLst>
                </a:gridCol>
                <a:gridCol w="1388836">
                  <a:extLst>
                    <a:ext uri="{9D8B030D-6E8A-4147-A177-3AD203B41FA5}">
                      <a16:colId xmlns:a16="http://schemas.microsoft.com/office/drawing/2014/main" val="3813568411"/>
                    </a:ext>
                  </a:extLst>
                </a:gridCol>
                <a:gridCol w="1388836">
                  <a:extLst>
                    <a:ext uri="{9D8B030D-6E8A-4147-A177-3AD203B41FA5}">
                      <a16:colId xmlns:a16="http://schemas.microsoft.com/office/drawing/2014/main" val="1179986853"/>
                    </a:ext>
                  </a:extLst>
                </a:gridCol>
                <a:gridCol w="1388836">
                  <a:extLst>
                    <a:ext uri="{9D8B030D-6E8A-4147-A177-3AD203B41FA5}">
                      <a16:colId xmlns:a16="http://schemas.microsoft.com/office/drawing/2014/main" val="3165685610"/>
                    </a:ext>
                  </a:extLst>
                </a:gridCol>
              </a:tblGrid>
              <a:tr h="578675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指令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源操作数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目的操作数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重复前缀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指针增减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0462735"/>
                  </a:ext>
                </a:extLst>
              </a:tr>
              <a:tr h="5786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0" dirty="0">
                          <a:effectLst/>
                          <a:latin typeface="Consolas" panose="020B0609020204030204" pitchFamily="49" charset="0"/>
                        </a:rPr>
                        <a:t>默认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0" dirty="0">
                          <a:effectLst/>
                          <a:latin typeface="Consolas" panose="020B0609020204030204" pitchFamily="49" charset="0"/>
                        </a:rPr>
                        <a:t>允许的段超越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50469"/>
                  </a:ext>
                </a:extLst>
              </a:tr>
              <a:tr h="6283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MOVSB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  <a:ea typeface="+mj-ea"/>
                        </a:rPr>
                        <a:t>MOVSW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DS:SI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ES，SS，CS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ES:DI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REP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altLang="zh-CN" sz="1800" kern="0">
                          <a:effectLst/>
                          <a:latin typeface="Consolas" panose="020B0609020204030204" pitchFamily="49" charset="0"/>
                        </a:rPr>
                        <a:t>DF=0:</a:t>
                      </a: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增量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altLang="zh-CN" sz="1800" kern="0">
                          <a:effectLst/>
                          <a:latin typeface="Consolas" panose="020B0609020204030204" pitchFamily="49" charset="0"/>
                        </a:rPr>
                        <a:t>DF=1:</a:t>
                      </a: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减量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字节：</a:t>
                      </a:r>
                      <a:r>
                        <a:rPr lang="en-US" altLang="zh-CN" sz="1800" kern="0">
                          <a:effectLst/>
                          <a:latin typeface="Consolas" panose="020B0609020204030204" pitchFamily="49" charset="0"/>
                        </a:rPr>
                        <a:t>±1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字：</a:t>
                      </a:r>
                      <a:r>
                        <a:rPr lang="en-US" altLang="zh-CN" sz="1800" kern="0">
                          <a:effectLst/>
                          <a:latin typeface="Consolas" panose="020B0609020204030204" pitchFamily="49" charset="0"/>
                        </a:rPr>
                        <a:t>±2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4351571"/>
                  </a:ext>
                </a:extLst>
              </a:tr>
              <a:tr h="769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CMPSB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  <a:ea typeface="+mj-ea"/>
                        </a:rPr>
                        <a:t>CMPSW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DS:SI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ES，SS，CS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ES:DI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REPZ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REPNZ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622172"/>
                  </a:ext>
                </a:extLst>
              </a:tr>
              <a:tr h="769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SCASB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  <a:ea typeface="+mj-ea"/>
                        </a:rPr>
                        <a:t>SCASW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AL/AX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ES:DI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REPZ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REPNZ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739022"/>
                  </a:ext>
                </a:extLst>
              </a:tr>
              <a:tr h="6283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LODSB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  <a:ea typeface="+mj-ea"/>
                        </a:rPr>
                        <a:t>LODSW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DS:SI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ES，SS，CS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AL/AX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937273"/>
                  </a:ext>
                </a:extLst>
              </a:tr>
              <a:tr h="6584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STOSB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  <a:ea typeface="+mj-ea"/>
                        </a:rPr>
                        <a:t>STOSW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AL/AX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ES:DI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REP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473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96086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使用串操作指令的一般程序结构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8260093" cy="4053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设置源串指针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DS:SI</a:t>
            </a:r>
            <a:endParaRPr lang="zh-CN" altLang="en-US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设置目的串指针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ES:DI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       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设置重复操作次数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CX--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仅执行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次时可省略       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设置操作方向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       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重复前缀（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REP/REPZ/REPNZ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）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--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仅执行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次时可省略       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串操作指令（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MOVS/CMPS/SCAS/LODS/STOS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84472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764087"/>
            <a:ext cx="228780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指令格式和寻址方式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逻辑运算和移位循环指令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串操作指令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338673779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移位指令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76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概述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无条件转移指令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过程调用和返回指令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条件转移指令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循环控制指令</a:t>
            </a:r>
          </a:p>
        </p:txBody>
      </p:sp>
    </p:spTree>
    <p:extLst>
      <p:ext uri="{BB962C8B-B14F-4D97-AF65-F5344CB8AC3E}">
        <p14:creationId xmlns:p14="http://schemas.microsoft.com/office/powerpoint/2010/main" val="249704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程序的执行方向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8260093" cy="3816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程序控制类指令的本质是：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修改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，或同时修改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以控制程序的执行方向。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控制程序执行方向的方法：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仅修改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，则程序将改变当前的执行顺序，转向本代码段内其它某处执行，即段内转移；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同时修改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，则程序转向另一个代码段执行，即段间转移。</a:t>
            </a:r>
          </a:p>
        </p:txBody>
      </p:sp>
    </p:spTree>
    <p:extLst>
      <p:ext uri="{BB962C8B-B14F-4D97-AF65-F5344CB8AC3E}">
        <p14:creationId xmlns:p14="http://schemas.microsoft.com/office/powerpoint/2010/main" val="16064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段内转移和段间转移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8260093" cy="5047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nsolas" panose="020B0609020204030204" pitchFamily="49" charset="0"/>
                <a:ea typeface="黑体" panose="02010609060101010101" pitchFamily="49" charset="-122"/>
              </a:rPr>
              <a:t>段内转移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转移的目标地址与当前地址在同一个代码段内，仅需改变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即可实现转移，而不用改变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的值；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又称“近转移”，转移范围为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-32768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32767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nsolas" panose="020B0609020204030204" pitchFamily="49" charset="0"/>
                <a:ea typeface="黑体" panose="02010609060101010101" pitchFamily="49" charset="-122"/>
              </a:rPr>
              <a:t>段间转移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转移的目标地址与当前地址不在同一个代码段内，需要同时改变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，才可转移到新地址；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又称“远转移”，转移范围可超过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64KB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720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直接转移和间接转移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8260093" cy="4431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nsolas" panose="020B0609020204030204" pitchFamily="49" charset="0"/>
                <a:ea typeface="黑体" panose="02010609060101010101" pitchFamily="49" charset="-122"/>
              </a:rPr>
              <a:t>直接转移：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在指令的操作数中直接给出转移的目标地址（标号）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 LAB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nsolas" panose="020B0609020204030204" pitchFamily="49" charset="0"/>
                <a:ea typeface="黑体" panose="02010609060101010101" pitchFamily="49" charset="-122"/>
              </a:rPr>
              <a:t>间接转移：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转移的目标地址存放在寄存器或内存单元中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BX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WORD PTR [BX]</a:t>
            </a:r>
          </a:p>
        </p:txBody>
      </p:sp>
    </p:spTree>
    <p:extLst>
      <p:ext uri="{BB962C8B-B14F-4D97-AF65-F5344CB8AC3E}">
        <p14:creationId xmlns:p14="http://schemas.microsoft.com/office/powerpoint/2010/main" val="405363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无条件段内直接转移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793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近标号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不变；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变成目标指令处的偏移地址，从而实现程序的跳转。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尽管指令中给出的是标号，实际上编译程序会计算出相对偏移量放在操作码后；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所以该指令实际执行的操作是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: (IP)←(IP)+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相对偏移量；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如果相对偏移量在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-128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127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之间，则该指令为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字节指令；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如果相对偏移量在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-32768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32767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之间，则为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字节指令。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4D96C6-9041-40CF-A36E-E939BACE9632}"/>
              </a:ext>
            </a:extLst>
          </p:cNvPr>
          <p:cNvSpPr txBox="1"/>
          <p:nvPr/>
        </p:nvSpPr>
        <p:spPr>
          <a:xfrm>
            <a:off x="3409662" y="6151034"/>
            <a:ext cx="2324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P93</a:t>
            </a:r>
            <a:r>
              <a:rPr lang="zh-CN" altLang="en-US" sz="2400" dirty="0">
                <a:solidFill>
                  <a:srgbClr val="FF0000"/>
                </a:solidFill>
              </a:rPr>
              <a:t>例</a:t>
            </a:r>
            <a:r>
              <a:rPr lang="en-US" altLang="zh-CN" sz="2400" dirty="0">
                <a:solidFill>
                  <a:srgbClr val="FF0000"/>
                </a:solidFill>
              </a:rPr>
              <a:t>3.68,3.69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35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无条件段内间接转移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874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不变；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的内容送至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，从而实现程序跳转；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为寄存器或存储器操作数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BX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WORD PTR [1000H]</a:t>
            </a:r>
          </a:p>
        </p:txBody>
      </p:sp>
    </p:spTree>
    <p:extLst>
      <p:ext uri="{BB962C8B-B14F-4D97-AF65-F5344CB8AC3E}">
        <p14:creationId xmlns:p14="http://schemas.microsoft.com/office/powerpoint/2010/main" val="58405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无条件段间直接转移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505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远标号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变成目标地址处的段地址；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变成目标地址处的偏移地址，从而实现程序的跳转。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BX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WORD PTR [1000H]</a:t>
            </a:r>
          </a:p>
        </p:txBody>
      </p:sp>
    </p:spTree>
    <p:extLst>
      <p:ext uri="{BB962C8B-B14F-4D97-AF65-F5344CB8AC3E}">
        <p14:creationId xmlns:p14="http://schemas.microsoft.com/office/powerpoint/2010/main" val="415651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无条件段间间接转移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259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目标地址的段基址和偏移地址存放于存储器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个连续地址中；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前两个字节→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后两个字节→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(CS)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为存放目标地址的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个连续字节首地址的偏移地址。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DWORD PTR [SI]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如果指令执行前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(SI)=3080H,(DS)=2000H,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且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23080H:230843H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存储单元的内容依次为：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34H,0F5H,0A8H,43H,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则指令执行后：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(CS)=43A8H, (IP)=0F434H</a:t>
            </a:r>
          </a:p>
        </p:txBody>
      </p:sp>
    </p:spTree>
    <p:extLst>
      <p:ext uri="{BB962C8B-B14F-4D97-AF65-F5344CB8AC3E}">
        <p14:creationId xmlns:p14="http://schemas.microsoft.com/office/powerpoint/2010/main" val="2984864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过程调用和返回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8260093" cy="1344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子过程由程序员预先设计并装入内存；         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子过程执行结束后要返回原调用处。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0377110C-19F4-4488-8872-581D044C1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7558" y="2845211"/>
            <a:ext cx="1368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/>
              <a:t>调用程序</a:t>
            </a:r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3E45A877-884C-41A2-83F3-815F7091B5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5420" y="3292886"/>
            <a:ext cx="6350" cy="90805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8564E07C-6BB1-4C5C-B0F7-36164D6538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1770" y="3591336"/>
            <a:ext cx="914400" cy="6096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9A60894F-6689-4BBC-A271-1B3C11796E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6170" y="3667536"/>
            <a:ext cx="0" cy="19050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80724A5B-71DE-40DE-9F8E-62D3C59DE2B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01770" y="4429536"/>
            <a:ext cx="914400" cy="11430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F2B4882C-D86D-4EA2-ADCC-ED3F9265C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1770" y="4429536"/>
            <a:ext cx="0" cy="1219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Oval 13">
            <a:extLst>
              <a:ext uri="{FF2B5EF4-FFF2-40B4-BE49-F238E27FC236}">
                <a16:creationId xmlns:a16="http://schemas.microsoft.com/office/drawing/2014/main" id="{DF244F10-9AEB-40D0-AAD0-060BBAD44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0320" y="4277136"/>
            <a:ext cx="457200" cy="457200"/>
          </a:xfrm>
          <a:prstGeom prst="ellipse">
            <a:avLst/>
          </a:prstGeom>
          <a:noFill/>
          <a:ln w="25400">
            <a:solidFill>
              <a:schemeClr val="tx1"/>
            </a:solidFill>
            <a:prstDash val="dash"/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" name="AutoShape 14">
            <a:extLst>
              <a:ext uri="{FF2B5EF4-FFF2-40B4-BE49-F238E27FC236}">
                <a16:creationId xmlns:a16="http://schemas.microsoft.com/office/drawing/2014/main" id="{6FA8EAA8-0FE6-4A93-AD5F-699B9C9B7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586" y="5648736"/>
            <a:ext cx="784226" cy="922971"/>
          </a:xfrm>
          <a:prstGeom prst="wedgeRoundRectCallout">
            <a:avLst>
              <a:gd name="adj1" fmla="val 116532"/>
              <a:gd name="adj2" fmla="val -165306"/>
              <a:gd name="adj3" fmla="val 16667"/>
            </a:avLst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chemeClr val="bg1"/>
                </a:solidFill>
              </a:rPr>
              <a:t>断点</a:t>
            </a:r>
          </a:p>
        </p:txBody>
      </p:sp>
      <p:sp>
        <p:nvSpPr>
          <p:cNvPr id="13" name="Oval 15">
            <a:extLst>
              <a:ext uri="{FF2B5EF4-FFF2-40B4-BE49-F238E27FC236}">
                <a16:creationId xmlns:a16="http://schemas.microsoft.com/office/drawing/2014/main" id="{0BDADDDD-38A5-4295-A5F8-B4F82B4D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7083" y="3453223"/>
            <a:ext cx="457200" cy="457200"/>
          </a:xfrm>
          <a:prstGeom prst="ellipse">
            <a:avLst/>
          </a:prstGeom>
          <a:noFill/>
          <a:ln w="25400">
            <a:solidFill>
              <a:schemeClr val="tx1"/>
            </a:solidFill>
            <a:prstDash val="dash"/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444465BE-E23B-47CD-8ADC-28D86821A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9744" y="3637373"/>
            <a:ext cx="815975" cy="1672524"/>
          </a:xfrm>
          <a:prstGeom prst="wedgeRoundRectCallout">
            <a:avLst>
              <a:gd name="adj1" fmla="val -109602"/>
              <a:gd name="adj2" fmla="val -35463"/>
              <a:gd name="adj3" fmla="val 16667"/>
            </a:avLst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</a:rPr>
              <a:t>入口地址</a:t>
            </a:r>
          </a:p>
        </p:txBody>
      </p:sp>
      <p:sp>
        <p:nvSpPr>
          <p:cNvPr id="15" name="Oval 18">
            <a:extLst>
              <a:ext uri="{FF2B5EF4-FFF2-40B4-BE49-F238E27FC236}">
                <a16:creationId xmlns:a16="http://schemas.microsoft.com/office/drawing/2014/main" id="{1503A84C-A37C-4200-91B3-46248B42B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3670" y="4154898"/>
            <a:ext cx="73025" cy="73025"/>
          </a:xfrm>
          <a:prstGeom prst="ellipse">
            <a:avLst/>
          </a:prstGeom>
          <a:solidFill>
            <a:schemeClr val="tx1"/>
          </a:solidFill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" name="Text Box 23">
            <a:extLst>
              <a:ext uri="{FF2B5EF4-FFF2-40B4-BE49-F238E27FC236}">
                <a16:creationId xmlns:a16="http://schemas.microsoft.com/office/drawing/2014/main" id="{661D7641-26FE-444C-A6CD-A5D0C0001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8658" y="2859498"/>
            <a:ext cx="1152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/>
              <a:t>子程序</a:t>
            </a:r>
          </a:p>
        </p:txBody>
      </p:sp>
    </p:spTree>
    <p:extLst>
      <p:ext uri="{BB962C8B-B14F-4D97-AF65-F5344CB8AC3E}">
        <p14:creationId xmlns:p14="http://schemas.microsoft.com/office/powerpoint/2010/main" val="135941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3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25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" dur="25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33" dur="25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10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1" presetClass="entr" presetSubtype="4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1" presetClass="entr" presetSubtype="4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animBg="1"/>
      <p:bldP spid="12" grpId="0" animBg="1"/>
      <p:bldP spid="13" grpId="0" animBg="1"/>
      <p:bldP spid="14" grpId="0" animBg="1"/>
      <p:bldP spid="15" grpId="0" animBg="1"/>
      <p:bldP spid="15" grpId="1" animBg="1"/>
      <p:bldP spid="16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调用指令的执行过程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23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保护断点：将调用指令的下一条指令地址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断点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压入堆栈；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获取子过程入口地址，即子过程第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条指令的偏移地址；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执行子过程，含相应参数的保存及恢复；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恢复断点：将断点偏移地址由堆栈弹出；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返回原程序。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28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过程调用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816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nsolas" panose="020B0609020204030204" pitchFamily="49" charset="0"/>
                <a:ea typeface="黑体" panose="02010609060101010101" pitchFamily="49" charset="-122"/>
              </a:rPr>
              <a:t>段内调用</a:t>
            </a:r>
            <a:endParaRPr lang="en-US" altLang="zh-CN" sz="2200" b="1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段内直接调用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段内间接调用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nsolas" panose="020B0609020204030204" pitchFamily="49" charset="0"/>
                <a:ea typeface="黑体" panose="02010609060101010101" pitchFamily="49" charset="-122"/>
              </a:rPr>
              <a:t>段间调用</a:t>
            </a:r>
            <a:endParaRPr lang="en-US" altLang="zh-CN" sz="2200" b="1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段间直接调用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段间间接调用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31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段内直接过程调用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793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CALL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子过程名（近过程）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把调用语句的下一条语句的偏移地址压栈，即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(SP)-2→(SP)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(IP)→((SP+1)(SP))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不变，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变成子过程处的偏移地址，从而实现程序的调用。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CALL SUBPRO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假设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SUBPRO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位于码段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2300H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处，上述指令位于同一码段的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1200H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处，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(SS)=2000H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(SP)=0100H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，执行该指令的过程如何？（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p96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例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3.73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40691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段内间接过程调用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716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CALL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把调用语句的下一条语句的偏移地址压栈，即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(SP)-2→(SP)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(IP)→(SP+1)(SP)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不变，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由当前地址变成由寄存器或存储器寻址的目标偏移地址，从而实现程序的调用。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CALL BX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假设在指令执行前，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(BX)=3780H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(IP)=3400H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(SS)=2000H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(SP)=0200H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，则执行该指令后：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BX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的值不变，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(SP)=01FEH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(IP)=3780H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2000H:01FFH=34H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2000H:01FEH=02H</a:t>
            </a:r>
          </a:p>
        </p:txBody>
      </p:sp>
    </p:spTree>
    <p:extLst>
      <p:ext uri="{BB962C8B-B14F-4D97-AF65-F5344CB8AC3E}">
        <p14:creationId xmlns:p14="http://schemas.microsoft.com/office/powerpoint/2010/main" val="383151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段间直接过程调用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255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CALL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子过程名（远过程）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把调用语句的下一条语句的地址压栈，即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(SP)-4→(SP)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(IP)→((SP+1)(SP))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(CS)→((SP+3)(SP+2))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变成子过程的段基址；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由当前地址变成子过程的偏移地址，从而实现程序的调用。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CALL SUBPRO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假设在指令执行前，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(SS)=5000H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(SP)=0100H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(CS)=2000H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(IP)=2248H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SUBPRO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存放在另一代码段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3000H:1200H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开始的位置，则指令执行过程和结果如何？（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p96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例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3.75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59246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段间间接过程调用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255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CALL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把调用语句的下一条语句的地址压栈，即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(SP)-4→(SP)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(IP)→((SP+1)(SP))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(CS)→((SP+3)(SP+2))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子过程的段基址和偏移地址存放于存储器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个连续地址中；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其中前两个字节→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，后两个字节→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(CS)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为存放目标地址的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个连续字节首地址的偏移地址。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CALL DWORD PTR [DI]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(DI)=34H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(DI+1)=5AH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(DI+2)=40H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(DI+3)=30H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，则指令执行后，将跳转到何处？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(p97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例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3.76)</a:t>
            </a:r>
            <a:endParaRPr lang="zh-CN" altLang="en-US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026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过程返回指令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439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如果是段内调用，将当前堆栈内容返回到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如果是段间调用，将当前堆栈内容依次返回到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段内或段间调用，由子程序定义语句决定。</a:t>
            </a:r>
          </a:p>
        </p:txBody>
      </p:sp>
    </p:spTree>
    <p:extLst>
      <p:ext uri="{BB962C8B-B14F-4D97-AF65-F5344CB8AC3E}">
        <p14:creationId xmlns:p14="http://schemas.microsoft.com/office/powerpoint/2010/main" val="429066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带立即数的过程返回指令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1977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RET 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执行完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RET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指令后，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(SP)+n→(SP)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，其中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n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为偶数；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相当于删除了堆栈中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n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个字节的内容。</a:t>
            </a:r>
          </a:p>
        </p:txBody>
      </p:sp>
    </p:spTree>
    <p:extLst>
      <p:ext uri="{BB962C8B-B14F-4D97-AF65-F5344CB8AC3E}">
        <p14:creationId xmlns:p14="http://schemas.microsoft.com/office/powerpoint/2010/main" val="266825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段间调用过程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76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将调用指令后的第一条指令地址的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依次入栈；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子过程段基址→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(CS)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，子过程偏移地址→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(IP)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执行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CS:IP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，直至遇到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RET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将堆栈内容出栈，内容依次给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执行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CS:IP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3564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条件转移指令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76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条件转移指令均是根据状态标志位的状态判断是否转移；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如果满足指令中所要求的条件，则产生转移，否则将继续向下执行后续的指令；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条件转移指令均为段内转移，即转移范围为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-128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127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当进行比较时，要区分是有符号数还是无符号数。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260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单一标志位置位转移指令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870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Jx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rel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其中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表示状态标志位，可以是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E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标志位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转移，其中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rel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是一字节补码，通常用标号代替；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如果满足条件，则 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 + 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rel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 → (IP)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JZ NNN ;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如果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ZF=1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，跳到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NNN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标号处执行</a:t>
            </a:r>
            <a:endParaRPr lang="en-US" altLang="zh-CN" sz="2000" dirty="0">
              <a:solidFill>
                <a:srgbClr val="0070C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JC YYY ;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如果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CF=1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，跳到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YYY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标号处执行</a:t>
            </a:r>
            <a:endParaRPr lang="en-US" altLang="zh-CN" sz="2000" dirty="0">
              <a:solidFill>
                <a:srgbClr val="0070C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505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单一标志位复位转移指令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870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JNx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rel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其中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表示状态标志位，可以是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E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标志位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转移，其中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rel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是一字节补码，通常用标号代替；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如果满足条件，则 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 + 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rel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 → (IP)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JNP NNN ;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如果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PF=0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，执行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NNN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标号处的语句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JNO YYY ;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如果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OF=0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，执行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YYY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标号处的语句</a:t>
            </a:r>
          </a:p>
        </p:txBody>
      </p:sp>
    </p:spTree>
    <p:extLst>
      <p:ext uri="{BB962C8B-B14F-4D97-AF65-F5344CB8AC3E}">
        <p14:creationId xmlns:p14="http://schemas.microsoft.com/office/powerpoint/2010/main" val="146044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多标志位综合判断指令</a:t>
            </a:r>
          </a:p>
        </p:txBody>
      </p:sp>
      <p:pic>
        <p:nvPicPr>
          <p:cNvPr id="5" name="内容占位符 2">
            <a:extLst>
              <a:ext uri="{FF2B5EF4-FFF2-40B4-BE49-F238E27FC236}">
                <a16:creationId xmlns:a16="http://schemas.microsoft.com/office/drawing/2014/main" id="{0A94626D-F6C8-4BB7-8FC9-7A0E62809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28" y="1884976"/>
            <a:ext cx="8797343" cy="3088047"/>
          </a:xfrm>
        </p:spPr>
      </p:pic>
    </p:spTree>
    <p:extLst>
      <p:ext uri="{BB962C8B-B14F-4D97-AF65-F5344CB8AC3E}">
        <p14:creationId xmlns:p14="http://schemas.microsoft.com/office/powerpoint/2010/main" val="6066634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循环控制指令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298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转移范围：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-128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127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循环次数由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制定；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无条件循环指令：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LOOP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条件循环指令：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LOOPZ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LOOPE</a:t>
            </a: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LOOPNZ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LOOPNE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867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LOOP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585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LOOP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(CX)-1→(CX)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(CX)≠0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，则转移到语句标号处继续循环；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否则结束循环向下顺序执行程序。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189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LOOPE/LOOPZ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49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LOOPE/LOOPZ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(CX)-1→(CX)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(CX)≠0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且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，则转移到标号处继续循环；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否则结束循环向下顺序执行程序。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是否为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并不影响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是由该循环控制命令前面的指令决定的。</a:t>
            </a:r>
          </a:p>
        </p:txBody>
      </p:sp>
    </p:spTree>
    <p:extLst>
      <p:ext uri="{BB962C8B-B14F-4D97-AF65-F5344CB8AC3E}">
        <p14:creationId xmlns:p14="http://schemas.microsoft.com/office/powerpoint/2010/main" val="30728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LOOPNE/LOOPNZ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585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LOOPNE/LOOPNZ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(CX)-1→(CX)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(CX)≠0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且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，则转移到标号处继续循环；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否则结束循环向下顺序执行程序。</a:t>
            </a:r>
          </a:p>
        </p:txBody>
      </p:sp>
    </p:spTree>
    <p:extLst>
      <p:ext uri="{BB962C8B-B14F-4D97-AF65-F5344CB8AC3E}">
        <p14:creationId xmlns:p14="http://schemas.microsoft.com/office/powerpoint/2010/main" val="133754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JCXZ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877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JCXZ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(CX)=0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，则转移到语句标号处；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否则，向下顺序执行程序。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该指令不对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进行操作，且循环控制条件与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LOOP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指令相反。</a:t>
            </a:r>
          </a:p>
        </p:txBody>
      </p:sp>
    </p:spTree>
    <p:extLst>
      <p:ext uri="{BB962C8B-B14F-4D97-AF65-F5344CB8AC3E}">
        <p14:creationId xmlns:p14="http://schemas.microsoft.com/office/powerpoint/2010/main" val="395888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处理器控制类指令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内容占位符 4">
                <a:extLst>
                  <a:ext uri="{FF2B5EF4-FFF2-40B4-BE49-F238E27FC236}">
                    <a16:creationId xmlns:a16="http://schemas.microsoft.com/office/drawing/2014/main" id="{CD4589B3-F5C4-44EE-805D-F042C5DD42B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66471246"/>
                  </p:ext>
                </p:extLst>
              </p:nvPr>
            </p:nvGraphicFramePr>
            <p:xfrm>
              <a:off x="383473" y="1401429"/>
              <a:ext cx="7793037" cy="4337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97679">
                      <a:extLst>
                        <a:ext uri="{9D8B030D-6E8A-4147-A177-3AD203B41FA5}">
                          <a16:colId xmlns:a16="http://schemas.microsoft.com/office/drawing/2014/main" val="77688056"/>
                        </a:ext>
                      </a:extLst>
                    </a:gridCol>
                    <a:gridCol w="2597679">
                      <a:extLst>
                        <a:ext uri="{9D8B030D-6E8A-4147-A177-3AD203B41FA5}">
                          <a16:colId xmlns:a16="http://schemas.microsoft.com/office/drawing/2014/main" val="1179371257"/>
                        </a:ext>
                      </a:extLst>
                    </a:gridCol>
                    <a:gridCol w="2597679">
                      <a:extLst>
                        <a:ext uri="{9D8B030D-6E8A-4147-A177-3AD203B41FA5}">
                          <a16:colId xmlns:a16="http://schemas.microsoft.com/office/drawing/2014/main" val="2495426023"/>
                        </a:ext>
                      </a:extLst>
                    </a:gridCol>
                  </a:tblGrid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800000"/>
                              </a:solidFill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指令名称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800000"/>
                              </a:solidFill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指令格式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800000"/>
                              </a:solidFill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指令功能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41625038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清除进位标志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CLC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CF=0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06838734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进位标志置位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STC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CF=1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5420244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进位标志取反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CMC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200" i="0" smtClean="0">
                                    <a:latin typeface="Cambria Math" panose="02040503050406030204" pitchFamily="18" charset="0"/>
                                    <a:ea typeface="+mj-ea"/>
                                  </a:rPr>
                                  <m:t>CF</m:t>
                                </m:r>
                                <m:r>
                                  <a:rPr lang="en-US" altLang="zh-CN" sz="2200" i="0" smtClean="0">
                                    <a:latin typeface="Cambria Math" panose="02040503050406030204" pitchFamily="18" charset="0"/>
                                    <a:ea typeface="+mj-ea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 i="0" smtClean="0"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CF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i="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5686179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清除方向标志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CLD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DF=0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6742088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方向标志置位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STD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DF=1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9189520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清除中断标志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CLI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IF=0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5637873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中断标志置位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STI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IF=1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786473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内容占位符 4">
                <a:extLst>
                  <a:ext uri="{FF2B5EF4-FFF2-40B4-BE49-F238E27FC236}">
                    <a16:creationId xmlns:a16="http://schemas.microsoft.com/office/drawing/2014/main" id="{CD4589B3-F5C4-44EE-805D-F042C5DD42B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66471246"/>
                  </p:ext>
                </p:extLst>
              </p:nvPr>
            </p:nvGraphicFramePr>
            <p:xfrm>
              <a:off x="383473" y="1401429"/>
              <a:ext cx="7793037" cy="4337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97679">
                      <a:extLst>
                        <a:ext uri="{9D8B030D-6E8A-4147-A177-3AD203B41FA5}">
                          <a16:colId xmlns:a16="http://schemas.microsoft.com/office/drawing/2014/main" val="77688056"/>
                        </a:ext>
                      </a:extLst>
                    </a:gridCol>
                    <a:gridCol w="2597679">
                      <a:extLst>
                        <a:ext uri="{9D8B030D-6E8A-4147-A177-3AD203B41FA5}">
                          <a16:colId xmlns:a16="http://schemas.microsoft.com/office/drawing/2014/main" val="1179371257"/>
                        </a:ext>
                      </a:extLst>
                    </a:gridCol>
                    <a:gridCol w="2597679">
                      <a:extLst>
                        <a:ext uri="{9D8B030D-6E8A-4147-A177-3AD203B41FA5}">
                          <a16:colId xmlns:a16="http://schemas.microsoft.com/office/drawing/2014/main" val="2495426023"/>
                        </a:ext>
                      </a:extLst>
                    </a:gridCol>
                  </a:tblGrid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800000"/>
                              </a:solidFill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指令名称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800000"/>
                              </a:solidFill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指令格式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800000"/>
                              </a:solidFill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指令功能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41625038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清除进位标志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CLC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CF=0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06838734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进位标志置位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STC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CF=1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5420244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进位标志取反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CMC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297778" r="-937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5686179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清除方向标志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CLD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DF=0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6742088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方向标志置位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STD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DF=1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9189520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清除中断标志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CLI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IF=0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5637873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中断标志置位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STI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IF=1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786473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4951994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暂停指令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HLT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200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HLT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用软件的方法使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处于暂停状态，等待硬件中断；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硬件中断的进入，使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退出暂停状态，待硬件中断服务程序执行完，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继续执行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HLT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后下一条指令。</a:t>
            </a:r>
          </a:p>
        </p:txBody>
      </p:sp>
    </p:spTree>
    <p:extLst>
      <p:ext uri="{BB962C8B-B14F-4D97-AF65-F5344CB8AC3E}">
        <p14:creationId xmlns:p14="http://schemas.microsoft.com/office/powerpoint/2010/main" val="241152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等待指令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WAIT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735626" y="1168501"/>
                <a:ext cx="7849003" cy="2585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200" dirty="0">
                    <a:latin typeface="Consolas" panose="020B0609020204030204" pitchFamily="49" charset="0"/>
                    <a:ea typeface="黑体" panose="02010609060101010101" pitchFamily="49" charset="-122"/>
                  </a:rPr>
                  <a:t>格式：</a:t>
                </a:r>
                <a:r>
                  <a:rPr lang="en-US" altLang="zh-CN" sz="2200" dirty="0">
                    <a:solidFill>
                      <a:srgbClr val="5B9BD5"/>
                    </a:solidFill>
                    <a:latin typeface="Consolas" panose="020B0609020204030204" pitchFamily="49" charset="0"/>
                    <a:ea typeface="黑体" panose="02010609060101010101" pitchFamily="49" charset="-122"/>
                  </a:rPr>
                  <a:t>WAIT</a:t>
                </a:r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200" dirty="0">
                    <a:latin typeface="Consolas" panose="020B0609020204030204" pitchFamily="49" charset="0"/>
                    <a:ea typeface="黑体" panose="02010609060101010101" pitchFamily="49" charset="-122"/>
                  </a:rPr>
                  <a:t>功能：</a:t>
                </a:r>
                <a:endParaRPr lang="en-US" altLang="zh-CN" sz="2200" dirty="0">
                  <a:latin typeface="Consolas" panose="020B0609020204030204" pitchFamily="49" charset="0"/>
                  <a:ea typeface="黑体" panose="02010609060101010101" pitchFamily="49" charset="-122"/>
                </a:endParaRPr>
              </a:p>
              <a:p>
                <a:pPr marL="800100" lvl="1" indent="-342900">
                  <a:lnSpc>
                    <a:spcPct val="20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onsolas" panose="020B0609020204030204" pitchFamily="49" charset="0"/>
                    <a:ea typeface="黑体" panose="02010609060101010101" pitchFamily="49" charset="-122"/>
                  </a:rPr>
                  <a:t>CPU</a:t>
                </a:r>
                <a:r>
                  <a:rPr lang="zh-CN" altLang="en-US" sz="2000" dirty="0">
                    <a:latin typeface="Consolas" panose="020B0609020204030204" pitchFamily="49" charset="0"/>
                    <a:ea typeface="黑体" panose="02010609060101010101" pitchFamily="49" charset="-122"/>
                  </a:rPr>
                  <a:t>进入等待状态，直至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TEST</m:t>
                        </m:r>
                      </m:e>
                    </m:acc>
                  </m:oMath>
                </a14:m>
                <a:r>
                  <a:rPr lang="zh-CN" altLang="en-US" sz="2000" dirty="0">
                    <a:latin typeface="Consolas" panose="020B0609020204030204" pitchFamily="49" charset="0"/>
                    <a:ea typeface="黑体" panose="02010609060101010101" pitchFamily="49" charset="-122"/>
                  </a:rPr>
                  <a:t> 引脚上的信号有效为止</a:t>
                </a:r>
              </a:p>
              <a:p>
                <a:pPr marL="800100" lvl="1" indent="-342900">
                  <a:lnSpc>
                    <a:spcPct val="20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Consolas" panose="020B0609020204030204" pitchFamily="49" charset="0"/>
                    <a:ea typeface="黑体" panose="02010609060101010101" pitchFamily="49" charset="-122"/>
                  </a:rPr>
                  <a:t>常用于使</a:t>
                </a:r>
                <a:r>
                  <a:rPr lang="en-US" altLang="zh-CN" sz="2000" dirty="0">
                    <a:latin typeface="Consolas" panose="020B0609020204030204" pitchFamily="49" charset="0"/>
                    <a:ea typeface="黑体" panose="02010609060101010101" pitchFamily="49" charset="-122"/>
                  </a:rPr>
                  <a:t>CPU</a:t>
                </a:r>
                <a:r>
                  <a:rPr lang="zh-CN" altLang="en-US" sz="2000" dirty="0">
                    <a:latin typeface="Consolas" panose="020B0609020204030204" pitchFamily="49" charset="0"/>
                    <a:ea typeface="黑体" panose="02010609060101010101" pitchFamily="49" charset="-122"/>
                  </a:rPr>
                  <a:t>和外设同步。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26" y="1168501"/>
                <a:ext cx="7849003" cy="2585195"/>
              </a:xfrm>
              <a:prstGeom prst="rect">
                <a:avLst/>
              </a:prstGeom>
              <a:blipFill>
                <a:blip r:embed="rId3"/>
                <a:stretch>
                  <a:fillRect l="-932" b="-3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49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总线封锁指令前缀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LOCK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021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LOCK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不是单独的指令，而是指令前缀；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带有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LOCK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前缀的指令，在其执行过程中都禁止其他协处理器占用总线。</a:t>
            </a:r>
          </a:p>
        </p:txBody>
      </p:sp>
    </p:spTree>
    <p:extLst>
      <p:ext uri="{BB962C8B-B14F-4D97-AF65-F5344CB8AC3E}">
        <p14:creationId xmlns:p14="http://schemas.microsoft.com/office/powerpoint/2010/main" val="320595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空操作指令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NOP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585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NOP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空操作指令，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不进行任何有效操作；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执行一次该指令要占用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个时钟周期，常用来做延时。</a:t>
            </a:r>
          </a:p>
        </p:txBody>
      </p:sp>
    </p:spTree>
    <p:extLst>
      <p:ext uri="{BB962C8B-B14F-4D97-AF65-F5344CB8AC3E}">
        <p14:creationId xmlns:p14="http://schemas.microsoft.com/office/powerpoint/2010/main" val="71439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本章重点掌握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021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指令的格式及寻址方式；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指令对操作数的要求及对标志位的影响；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指令的应用。</a:t>
            </a:r>
          </a:p>
        </p:txBody>
      </p:sp>
    </p:spTree>
    <p:extLst>
      <p:ext uri="{BB962C8B-B14F-4D97-AF65-F5344CB8AC3E}">
        <p14:creationId xmlns:p14="http://schemas.microsoft.com/office/powerpoint/2010/main" val="298042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8113</TotalTime>
  <Words>8340</Words>
  <Application>Microsoft Office PowerPoint</Application>
  <PresentationFormat>全屏显示(4:3)</PresentationFormat>
  <Paragraphs>1216</Paragraphs>
  <Slides>133</Slides>
  <Notes>126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133</vt:i4>
      </vt:variant>
    </vt:vector>
  </HeadingPairs>
  <TitlesOfParts>
    <vt:vector size="147" baseType="lpstr">
      <vt:lpstr>等线</vt:lpstr>
      <vt:lpstr>等线 Light</vt:lpstr>
      <vt:lpstr>黑体</vt:lpstr>
      <vt:lpstr>宋体</vt:lpstr>
      <vt:lpstr>微软雅黑</vt:lpstr>
      <vt:lpstr>Arial</vt:lpstr>
      <vt:lpstr>Calibri</vt:lpstr>
      <vt:lpstr>Calibri Light</vt:lpstr>
      <vt:lpstr>Cambria Math</vt:lpstr>
      <vt:lpstr>Consolas</vt:lpstr>
      <vt:lpstr>Courier New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jihui han</dc:creator>
  <cp:lastModifiedBy>许 刚</cp:lastModifiedBy>
  <cp:revision>308</cp:revision>
  <dcterms:created xsi:type="dcterms:W3CDTF">2020-09-09T01:52:22Z</dcterms:created>
  <dcterms:modified xsi:type="dcterms:W3CDTF">2023-01-10T01:26:49Z</dcterms:modified>
</cp:coreProperties>
</file>