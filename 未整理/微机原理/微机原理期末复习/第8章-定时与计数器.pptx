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8"/>
  </p:notesMasterIdLst>
  <p:sldIdLst>
    <p:sldId id="769" r:id="rId2"/>
    <p:sldId id="770" r:id="rId3"/>
    <p:sldId id="1193" r:id="rId4"/>
    <p:sldId id="1418" r:id="rId5"/>
    <p:sldId id="1419" r:id="rId6"/>
    <p:sldId id="1470" r:id="rId7"/>
    <p:sldId id="1471" r:id="rId8"/>
    <p:sldId id="1421" r:id="rId9"/>
    <p:sldId id="1420" r:id="rId10"/>
    <p:sldId id="1423" r:id="rId11"/>
    <p:sldId id="1424" r:id="rId12"/>
    <p:sldId id="1425" r:id="rId13"/>
    <p:sldId id="1426" r:id="rId14"/>
    <p:sldId id="1427" r:id="rId15"/>
    <p:sldId id="1428" r:id="rId16"/>
    <p:sldId id="1429" r:id="rId17"/>
    <p:sldId id="1432" r:id="rId18"/>
    <p:sldId id="1433" r:id="rId19"/>
    <p:sldId id="1434" r:id="rId20"/>
    <p:sldId id="1435" r:id="rId21"/>
    <p:sldId id="1436" r:id="rId22"/>
    <p:sldId id="1472" r:id="rId23"/>
    <p:sldId id="1437" r:id="rId24"/>
    <p:sldId id="1473" r:id="rId25"/>
    <p:sldId id="1440" r:id="rId26"/>
    <p:sldId id="1441" r:id="rId27"/>
    <p:sldId id="1474" r:id="rId28"/>
    <p:sldId id="1444" r:id="rId29"/>
    <p:sldId id="1445" r:id="rId30"/>
    <p:sldId id="1450" r:id="rId31"/>
    <p:sldId id="1475" r:id="rId32"/>
    <p:sldId id="1448" r:id="rId33"/>
    <p:sldId id="1449" r:id="rId34"/>
    <p:sldId id="1476" r:id="rId35"/>
    <p:sldId id="1477" r:id="rId36"/>
    <p:sldId id="1478" r:id="rId37"/>
    <p:sldId id="1479" r:id="rId38"/>
    <p:sldId id="1462" r:id="rId39"/>
    <p:sldId id="1463" r:id="rId40"/>
    <p:sldId id="1464" r:id="rId41"/>
    <p:sldId id="1465" r:id="rId42"/>
    <p:sldId id="1466" r:id="rId43"/>
    <p:sldId id="1467" r:id="rId44"/>
    <p:sldId id="1468" r:id="rId45"/>
    <p:sldId id="1469" r:id="rId46"/>
    <p:sldId id="1480" r:id="rId4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800000"/>
    <a:srgbClr val="00E4A8"/>
    <a:srgbClr val="FFCCCC"/>
    <a:srgbClr val="FF6B08"/>
    <a:srgbClr val="FFC000"/>
    <a:srgbClr val="A04141"/>
    <a:srgbClr val="A3A3E0"/>
    <a:srgbClr val="5454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441" autoAdjust="0"/>
  </p:normalViewPr>
  <p:slideViewPr>
    <p:cSldViewPr snapToGrid="0">
      <p:cViewPr varScale="1">
        <p:scale>
          <a:sx n="68" d="100"/>
          <a:sy n="68" d="100"/>
        </p:scale>
        <p:origin x="92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8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857D1-FC0F-4FEF-BD1C-3F19BFFCF70A}" type="datetimeFigureOut">
              <a:rPr lang="zh-CN" altLang="en-US" smtClean="0"/>
              <a:t>2023/1/9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BB649-6269-4EF7-8145-34953C605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89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1274EB9-A46A-40F1-BE7F-CA5787881F75}" type="slidenum">
              <a:rPr kumimoji="0" lang="zh-CN" altLang="en-US" sz="1200"/>
              <a:pPr/>
              <a:t>1</a:t>
            </a:fld>
            <a:endParaRPr kumimoji="0" lang="en-US" altLang="zh-CN" sz="1200"/>
          </a:p>
        </p:txBody>
      </p:sp>
      <p:sp>
        <p:nvSpPr>
          <p:cNvPr id="1012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2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338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795F51C-5FA4-4883-BAE3-ABDA4787E02E}" type="slidenum">
              <a:rPr kumimoji="0" lang="zh-CN" altLang="en-US" sz="1200"/>
              <a:pPr/>
              <a:t>2</a:t>
            </a:fld>
            <a:endParaRPr kumimoji="0" lang="en-US" altLang="zh-CN" sz="1200"/>
          </a:p>
        </p:txBody>
      </p:sp>
      <p:sp>
        <p:nvSpPr>
          <p:cNvPr id="1013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650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现在微机系统中，通常采用可编程集成电路实现定时和计数功能，可以通过编程来改变计数功能，十分灵活方便，如</a:t>
            </a:r>
            <a:r>
              <a:rPr lang="en-US" altLang="zh-CN" sz="1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403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121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初值寄存器和计数寄存器具有相同端口地址，存放计数初值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779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04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735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六种方式都遵循：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）当控制字写入计数器时，所有电路复位，输出端</a:t>
            </a:r>
            <a:r>
              <a:rPr lang="en-US" altLang="zh-CN" dirty="0"/>
              <a:t>OUT</a:t>
            </a:r>
            <a:r>
              <a:rPr lang="zh-CN" altLang="en-US" dirty="0"/>
              <a:t>进入初始状态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）初始值写入后，在门控信号有效的情况下，在</a:t>
            </a:r>
            <a:r>
              <a:rPr lang="en-US" altLang="zh-CN" dirty="0"/>
              <a:t>CLK</a:t>
            </a:r>
            <a:r>
              <a:rPr lang="zh-CN" altLang="en-US" dirty="0"/>
              <a:t>的下降沿，计数器从计数初值开始减一计数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748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输出信号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初始状态为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门控信号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时，计数器才能减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计数，在计数过程中，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信号一直为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计数器减到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信号由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计数器脱离工作状态，直到新的计数初值输入，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变低，计数器才又开始减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346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在计数过程中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信号变为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时，计数暂停，计数值保持不变；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信号再为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，计数器继续减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966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在计数过程中，输入新的初始值，立即停止前面的计数，以新的计数初值开始减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计数。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191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输出信号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初始状态为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门控信号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上升沿触发计数器减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计数，在计数过程中，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信号一直为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计数器减到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信号由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，计数器脱离工作状态，直到新的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信号上升沿到来，计数器才又开始减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计数一旦启动，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端即使变低也不会影响计数；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可重复触发，当计数结束后，不用再次写入计数初值，只要再次出现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上升沿，即可产生一个同样宽度的负脉冲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829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在计数过程中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又出现上升沿，计数器从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的下降沿处开始重新减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431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在计数过程中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又出现上升沿，计数器从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的下降沿处开始重新减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383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在计数过程中，输入新的初始值，不影响本次计数。只有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信号的上升沿到来，计数器才以新的初值减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计数。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227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输出信号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初始状态为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门控信号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时，计数器减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计数，计数到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宽度的低电平，接着又重新开始计数，重复输出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宽度的高电平和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宽度的低电平周期信号；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可输出频率为</a:t>
            </a:r>
            <a:r>
              <a:rPr lang="en-US" altLang="zh-CN" dirty="0"/>
              <a:t>1/N</a:t>
            </a:r>
            <a:r>
              <a:rPr lang="en-US" altLang="zh-CN" baseline="0" dirty="0"/>
              <a:t> CLK</a:t>
            </a:r>
            <a:r>
              <a:rPr lang="zh-CN" altLang="en-US" baseline="0" dirty="0"/>
              <a:t>脉冲频率的连续方波信号</a:t>
            </a:r>
            <a:endParaRPr lang="en-US" altLang="zh-CN" baseline="0" dirty="0"/>
          </a:p>
          <a:p>
            <a:r>
              <a:rPr lang="zh-CN" altLang="en-US" baseline="0" dirty="0"/>
              <a:t>每</a:t>
            </a:r>
            <a:r>
              <a:rPr lang="en-US" altLang="zh-CN" baseline="0" dirty="0"/>
              <a:t>1</a:t>
            </a:r>
            <a:r>
              <a:rPr lang="zh-CN" altLang="en-US" baseline="0" dirty="0"/>
              <a:t>个</a:t>
            </a:r>
            <a:r>
              <a:rPr lang="en-US" altLang="zh-CN" baseline="0" dirty="0"/>
              <a:t>OUT</a:t>
            </a:r>
            <a:r>
              <a:rPr lang="zh-CN" altLang="en-US" baseline="0" dirty="0"/>
              <a:t>端脉冲中包含（</a:t>
            </a:r>
            <a:r>
              <a:rPr lang="en-US" altLang="zh-CN" baseline="0" dirty="0"/>
              <a:t>N-1</a:t>
            </a:r>
            <a:r>
              <a:rPr lang="zh-CN" altLang="en-US" baseline="0" dirty="0"/>
              <a:t>）*</a:t>
            </a:r>
            <a:r>
              <a:rPr lang="en-US" altLang="zh-CN" baseline="0" dirty="0"/>
              <a:t>CLK</a:t>
            </a:r>
            <a:r>
              <a:rPr lang="zh-CN" altLang="en-US" baseline="0" dirty="0"/>
              <a:t>的正脉冲，</a:t>
            </a:r>
            <a:r>
              <a:rPr lang="en-US" altLang="zh-CN" baseline="0" dirty="0"/>
              <a:t>1 CLK</a:t>
            </a:r>
            <a:r>
              <a:rPr lang="zh-CN" altLang="en-US" baseline="0" dirty="0"/>
              <a:t>的负脉冲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9750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在计数过程中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信号变为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，计数器停止计数，直到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信号变为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，计数器从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信号的下降沿处开始重新减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656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在计数过程中，输入新的初始值，不影响本次计数，只在下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个输出信号周期开始重新以新的初值计数。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2331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与方式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类似，只是方式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的输出信号为方波。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615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与方式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类似，输出信号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初始状态为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门控信号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时，计数器才能减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计数，在计数过程中，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信号一直为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计数器减到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信号输出一个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宽度的负脉冲，计数器脱离工作状态，直到新的计数初值输入，计数器才又开始减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4171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与方式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类似，输出信号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初始状态为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门控信号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上升沿触发计数器减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计数，在计数过程中，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信号一直为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计数器减到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后，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信号输出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宽度的负脉冲，计数器脱离工作状态，直到新的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信号上升沿到来，计数器才又开始减</a:t>
            </a:r>
            <a:r>
              <a: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计数；</a:t>
            </a:r>
            <a:endParaRPr lang="en-US" altLang="zh-CN" sz="1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5122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8494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电路图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4712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扩展一下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6635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408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/>
          <p:cNvSpPr>
            <a:spLocks noChangeArrowheads="1"/>
          </p:cNvSpPr>
          <p:nvPr/>
        </p:nvSpPr>
        <p:spPr bwMode="auto">
          <a:xfrm flipV="1">
            <a:off x="990600" y="3138489"/>
            <a:ext cx="7772400" cy="6523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980" name="Rectangle 12"/>
          <p:cNvSpPr>
            <a:spLocks noGrp="1" noChangeArrowheads="1"/>
          </p:cNvSpPr>
          <p:nvPr userDrawn="1"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11981" name="Rectangle 1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 userDrawn="1"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 userDrawn="1"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 userDrawn="1"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08B671-8216-4EF9-8434-627A322CDE0C}" type="slidenum">
              <a:rPr lang="zh-CN" altLang="en-US" smtClean="0">
                <a:solidFill>
                  <a:srgbClr val="1C1C1C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0522413"/>
      </p:ext>
    </p:extLst>
  </p:cSld>
  <p:clrMapOvr>
    <a:masterClrMapping/>
  </p:clrMapOvr>
  <p:transition spd="slow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7772400" cy="4896544"/>
          </a:xfrm>
        </p:spPr>
        <p:txBody>
          <a:bodyPr/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spcAft>
                <a:spcPts val="600"/>
              </a:spcAft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128234"/>
      </p:ext>
    </p:extLst>
  </p:cSld>
  <p:clrMapOvr>
    <a:masterClrMapping/>
  </p:clrMapOvr>
  <p:transition spd="slow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8" y="457200"/>
            <a:ext cx="8543041" cy="5492080"/>
          </a:xfrm>
        </p:spPr>
        <p:txBody>
          <a:bodyPr/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spcAft>
                <a:spcPts val="600"/>
              </a:spcAft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5944369"/>
      </p:ext>
    </p:extLst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769C75-8878-4114-8CBA-F72D9DCAF88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3473" y="141041"/>
            <a:ext cx="7793037" cy="6236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39822"/>
      </p:ext>
    </p:extLst>
  </p:cSld>
  <p:clrMapOvr>
    <a:masterClrMapping/>
  </p:clrMapOvr>
  <p:transition spd="slow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2795952"/>
      </p:ext>
    </p:extLst>
  </p:cSld>
  <p:clrMapOvr>
    <a:masterClrMapping/>
  </p:clrMapOvr>
  <p:transition spd="slow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3472" y="1052736"/>
            <a:ext cx="3960000" cy="4824536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8025" y="1055758"/>
            <a:ext cx="3960440" cy="4821514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72C5FA0-9562-4180-BE77-AA42E81C45F5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383473" y="141041"/>
            <a:ext cx="7793037" cy="6236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46214"/>
      </p:ext>
    </p:extLst>
  </p:cSld>
  <p:clrMapOvr>
    <a:masterClrMapping/>
  </p:clrMapOvr>
  <p:transition spd="slow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800F03A-9EB7-4654-98F7-F2372F7320B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2475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83473" y="141041"/>
            <a:ext cx="7793037" cy="62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2493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3472" y="1052736"/>
            <a:ext cx="77724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09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Tahom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612A3A-8E49-4F2E-A26F-49B27473F1B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86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9" r:id="rId3"/>
    <p:sldLayoutId id="2147483665" r:id="rId4"/>
    <p:sldLayoutId id="2147483666" r:id="rId5"/>
    <p:sldLayoutId id="2147483667" r:id="rId6"/>
    <p:sldLayoutId id="2147483670" r:id="rId7"/>
  </p:sldLayoutIdLst>
  <p:transition spd="slow">
    <p:zoom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60000"/>
        <a:buFont typeface="Wingdings" panose="05000000000000000000" pitchFamily="2" charset="2"/>
        <a:buChar char="l"/>
        <a:defRPr sz="2800" b="0">
          <a:solidFill>
            <a:schemeClr val="tx2"/>
          </a:solidFill>
          <a:latin typeface="+mj-ea"/>
          <a:ea typeface="+mj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hlink"/>
        </a:buClr>
        <a:buSzPct val="55000"/>
        <a:buFont typeface="Wingdings" panose="05000000000000000000" pitchFamily="2" charset="2"/>
        <a:buChar char="l"/>
        <a:defRPr sz="2400" b="0">
          <a:solidFill>
            <a:schemeClr val="tx1"/>
          </a:solidFill>
          <a:latin typeface="+mj-ea"/>
          <a:ea typeface="+mj-ea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5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3D1848C-B488-47E6-ADD5-6DB9AC70D883}" type="slidenum">
              <a:rPr kumimoji="0" lang="zh-CN" altLang="en-US" sz="1400">
                <a:solidFill>
                  <a:schemeClr val="bg2"/>
                </a:solidFill>
                <a:latin typeface="Tahoma" panose="020B0604030504040204" pitchFamily="34" charset="0"/>
              </a:rPr>
              <a:pPr/>
              <a:t>1</a:t>
            </a:fld>
            <a:endParaRPr kumimoji="0" lang="en-US" altLang="zh-CN" sz="1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34114" y="1037487"/>
            <a:ext cx="6264275" cy="2016125"/>
          </a:xfrm>
          <a:noFill/>
        </p:spPr>
        <p:txBody>
          <a:bodyPr lIns="92075" tIns="46038" rIns="92075" bIns="46038"/>
          <a:lstStyle/>
          <a:p>
            <a:pPr algn="ctr" eaLnBrk="1" hangingPunct="1">
              <a:lnSpc>
                <a:spcPct val="120000"/>
              </a:lnSpc>
              <a:spcBef>
                <a:spcPct val="20000"/>
              </a:spcBef>
              <a:spcAft>
                <a:spcPct val="30000"/>
              </a:spcAft>
            </a:pPr>
            <a:r>
              <a:rPr lang="zh-CN" altLang="zh-CN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44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章</a:t>
            </a: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 定时与计数器</a:t>
            </a:r>
            <a:endParaRPr lang="zh-CN" altLang="zh-CN"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1018732"/>
      </p:ext>
    </p:extLst>
  </p:cSld>
  <p:clrMapOvr>
    <a:masterClrMapping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重点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Aft>
                <a:spcPct val="20000"/>
              </a:spcAft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8253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引线功能及计数启动方法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Aft>
                <a:spcPct val="20000"/>
              </a:spcAft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种工作方式及其输出波形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Aft>
                <a:spcPct val="200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应用：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50000"/>
              </a:lnSpc>
              <a:spcAft>
                <a:spcPct val="20000"/>
              </a:spcAft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芯片与系统的连接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50000"/>
              </a:lnSpc>
              <a:spcAft>
                <a:spcPct val="20000"/>
              </a:spcAft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芯片的初始化编程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793D533-8A95-413E-951C-DFE1E7D6C6AD}" type="slidenum">
              <a:rPr kumimoji="0" lang="zh-CN" altLang="en-US" sz="1400">
                <a:latin typeface="Tahoma" panose="020B0604030504040204" pitchFamily="34" charset="0"/>
              </a:rPr>
              <a:pPr/>
              <a:t>2</a:t>
            </a:fld>
            <a:endParaRPr kumimoji="0" lang="en-US" altLang="zh-CN" sz="1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8778"/>
      </p:ext>
    </p:extLst>
  </p:cSld>
  <p:clrMapOvr>
    <a:masterClrMapping/>
  </p:clrMapOvr>
  <p:transition spd="slow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定时与计数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592618"/>
            <a:ext cx="8183012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在微机系统中，常需要用到定时功能：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系统时钟的时间基准；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DRAM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的定时刷新；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扬声器的发声信号源；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实时控制系统中周期性采样、外部事件定时计数；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946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定时与计数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094986"/>
            <a:ext cx="8471769" cy="346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实现定时功能主要有：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软件定时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不需要额外硬件支持；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需要执行定时程序，降低了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使用效率。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硬件定时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利用额外的硬件电路实现定时和计数；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计时精确稳定，提高了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的使用效率。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249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的工作原理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094986"/>
            <a:ext cx="8471769" cy="3436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芯片特点：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可编程的逻辑器件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可实现定时和计数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工作方式：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减法计数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计数值减为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时输出相应控制信号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输出控制信号的形式可以通过软件设置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70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83474" y="141041"/>
            <a:ext cx="5078864" cy="623665"/>
          </a:xfrm>
        </p:spPr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的引脚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连接系统端的主要引线：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D0~D7</a:t>
            </a:r>
          </a:p>
          <a:p>
            <a:pPr lvl="1"/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#RD</a:t>
            </a:r>
          </a:p>
          <a:p>
            <a:pPr lvl="1"/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#WR</a:t>
            </a:r>
          </a:p>
          <a:p>
            <a:pPr lvl="1"/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#CS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A1</a:t>
            </a:r>
          </a:p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每个计数器引线：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CLK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时钟脉冲输入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门控信号输入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OUT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定时输出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72C5FA0-9562-4180-BE77-AA42E81C45F5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180" y="1041728"/>
            <a:ext cx="4668030" cy="520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5355"/>
      </p:ext>
    </p:extLst>
  </p:cSld>
  <p:clrMapOvr>
    <a:masterClrMapping/>
  </p:clrMapOvr>
  <p:transition spd="slow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的引脚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094986"/>
            <a:ext cx="8471769" cy="54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控制信号功能表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383473" y="1899862"/>
              <a:ext cx="7793036" cy="43593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3291">
                      <a:extLst>
                        <a:ext uri="{9D8B030D-6E8A-4147-A177-3AD203B41FA5}">
                          <a16:colId xmlns:a16="http://schemas.microsoft.com/office/drawing/2014/main" val="3941695049"/>
                        </a:ext>
                      </a:extLst>
                    </a:gridCol>
                    <a:gridCol w="1113291">
                      <a:extLst>
                        <a:ext uri="{9D8B030D-6E8A-4147-A177-3AD203B41FA5}">
                          <a16:colId xmlns:a16="http://schemas.microsoft.com/office/drawing/2014/main" val="1002689726"/>
                        </a:ext>
                      </a:extLst>
                    </a:gridCol>
                    <a:gridCol w="1113291">
                      <a:extLst>
                        <a:ext uri="{9D8B030D-6E8A-4147-A177-3AD203B41FA5}">
                          <a16:colId xmlns:a16="http://schemas.microsoft.com/office/drawing/2014/main" val="1082426823"/>
                        </a:ext>
                      </a:extLst>
                    </a:gridCol>
                    <a:gridCol w="1113291">
                      <a:extLst>
                        <a:ext uri="{9D8B030D-6E8A-4147-A177-3AD203B41FA5}">
                          <a16:colId xmlns:a16="http://schemas.microsoft.com/office/drawing/2014/main" val="29115151"/>
                        </a:ext>
                      </a:extLst>
                    </a:gridCol>
                    <a:gridCol w="3339872">
                      <a:extLst>
                        <a:ext uri="{9D8B030D-6E8A-4147-A177-3AD203B41FA5}">
                          <a16:colId xmlns:a16="http://schemas.microsoft.com/office/drawing/2014/main" val="2647443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80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 smtClean="0">
                                        <a:solidFill>
                                          <a:srgbClr val="80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CS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rgbClr val="8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80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 smtClean="0">
                                        <a:solidFill>
                                          <a:srgbClr val="80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RD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rgbClr val="8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000" i="1" smtClean="0">
                                        <a:solidFill>
                                          <a:srgbClr val="80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1" smtClean="0">
                                        <a:solidFill>
                                          <a:srgbClr val="80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WR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rgbClr val="8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rgbClr val="8000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A</a:t>
                          </a:r>
                          <a:r>
                            <a:rPr lang="en-US" altLang="zh-CN" sz="2000" baseline="-25000" dirty="0">
                              <a:solidFill>
                                <a:srgbClr val="8000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r>
                            <a:rPr lang="en-US" altLang="zh-CN" sz="2000" dirty="0">
                              <a:solidFill>
                                <a:srgbClr val="8000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A</a:t>
                          </a:r>
                          <a:r>
                            <a:rPr lang="en-US" altLang="zh-CN" sz="2000" baseline="-25000" dirty="0">
                              <a:solidFill>
                                <a:srgbClr val="8000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baseline="-25000" dirty="0">
                            <a:solidFill>
                              <a:srgbClr val="8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rgbClr val="8000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36033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写入计数器</a:t>
                          </a:r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9796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写入计数器</a:t>
                          </a:r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58337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写入计数器</a:t>
                          </a:r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2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04979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写入控制字寄存器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238032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读计数器</a:t>
                          </a:r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05644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读计数器</a:t>
                          </a:r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9591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读计数器</a:t>
                          </a:r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2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489584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无操作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145861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×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×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××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禁止使用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98456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××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无操作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29786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83473" y="1899862"/>
              <a:ext cx="7793036" cy="43593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3291">
                      <a:extLst>
                        <a:ext uri="{9D8B030D-6E8A-4147-A177-3AD203B41FA5}">
                          <a16:colId xmlns:a16="http://schemas.microsoft.com/office/drawing/2014/main" val="3941695049"/>
                        </a:ext>
                      </a:extLst>
                    </a:gridCol>
                    <a:gridCol w="1113291">
                      <a:extLst>
                        <a:ext uri="{9D8B030D-6E8A-4147-A177-3AD203B41FA5}">
                          <a16:colId xmlns:a16="http://schemas.microsoft.com/office/drawing/2014/main" val="1002689726"/>
                        </a:ext>
                      </a:extLst>
                    </a:gridCol>
                    <a:gridCol w="1113291">
                      <a:extLst>
                        <a:ext uri="{9D8B030D-6E8A-4147-A177-3AD203B41FA5}">
                          <a16:colId xmlns:a16="http://schemas.microsoft.com/office/drawing/2014/main" val="1082426823"/>
                        </a:ext>
                      </a:extLst>
                    </a:gridCol>
                    <a:gridCol w="1113291">
                      <a:extLst>
                        <a:ext uri="{9D8B030D-6E8A-4147-A177-3AD203B41FA5}">
                          <a16:colId xmlns:a16="http://schemas.microsoft.com/office/drawing/2014/main" val="29115151"/>
                        </a:ext>
                      </a:extLst>
                    </a:gridCol>
                    <a:gridCol w="3339872">
                      <a:extLst>
                        <a:ext uri="{9D8B030D-6E8A-4147-A177-3AD203B41FA5}">
                          <a16:colId xmlns:a16="http://schemas.microsoft.com/office/drawing/2014/main" val="2647443870"/>
                        </a:ext>
                      </a:extLst>
                    </a:gridCol>
                  </a:tblGrid>
                  <a:tr h="39693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692" r="-601639" b="-10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46" t="-7692" r="-501639" b="-10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46" t="-7692" r="-401639" b="-10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solidFill>
                                <a:srgbClr val="8000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A</a:t>
                          </a:r>
                          <a:r>
                            <a:rPr lang="en-US" altLang="zh-CN" sz="2000" baseline="-25000" dirty="0" smtClean="0">
                              <a:solidFill>
                                <a:srgbClr val="8000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r>
                            <a:rPr lang="en-US" altLang="zh-CN" sz="2000" dirty="0" smtClean="0">
                              <a:solidFill>
                                <a:srgbClr val="8000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A</a:t>
                          </a:r>
                          <a:r>
                            <a:rPr lang="en-US" altLang="zh-CN" sz="2000" baseline="-25000" dirty="0" smtClean="0">
                              <a:solidFill>
                                <a:srgbClr val="8000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baseline="-25000" dirty="0">
                            <a:solidFill>
                              <a:srgbClr val="8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solidFill>
                                <a:srgbClr val="800000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功能</a:t>
                          </a:r>
                          <a:endParaRPr lang="zh-CN" altLang="en-US" sz="2000" dirty="0">
                            <a:solidFill>
                              <a:srgbClr val="800000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3603309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写入计数器</a:t>
                          </a:r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979645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写入计数器</a:t>
                          </a:r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583373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写入计数器</a:t>
                          </a:r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2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04979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写入控制字寄存器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2380328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读计数器</a:t>
                          </a:r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056441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读计数器</a:t>
                          </a:r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595919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读计数器</a:t>
                          </a:r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2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4895846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无操作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145861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×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×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××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禁止使用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984561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××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 smtClean="0"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无操作</a:t>
                          </a:r>
                          <a:endParaRPr lang="zh-CN" altLang="en-US" sz="2000" dirty="0">
                            <a:latin typeface="黑体" panose="02010609060101010101" pitchFamily="49" charset="-122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2978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89035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的内部结构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04173" y="1098177"/>
            <a:ext cx="6735653" cy="5293143"/>
            <a:chOff x="1908211" y="1676401"/>
            <a:chExt cx="5209000" cy="4795837"/>
          </a:xfrm>
        </p:grpSpPr>
        <p:grpSp>
          <p:nvGrpSpPr>
            <p:cNvPr id="5" name="Group 68"/>
            <p:cNvGrpSpPr>
              <a:grpSpLocks/>
            </p:cNvGrpSpPr>
            <p:nvPr/>
          </p:nvGrpSpPr>
          <p:grpSpPr bwMode="auto">
            <a:xfrm>
              <a:off x="1908211" y="1676401"/>
              <a:ext cx="5209000" cy="4795837"/>
              <a:chOff x="2426" y="1027"/>
              <a:chExt cx="3259" cy="3220"/>
            </a:xfrm>
          </p:grpSpPr>
          <p:sp>
            <p:nvSpPr>
              <p:cNvPr id="6" name="Rectangle 67"/>
              <p:cNvSpPr>
                <a:spLocks noChangeArrowheads="1"/>
              </p:cNvSpPr>
              <p:nvPr/>
            </p:nvSpPr>
            <p:spPr bwMode="auto">
              <a:xfrm>
                <a:off x="2426" y="1027"/>
                <a:ext cx="3221" cy="322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" name="Group 5"/>
              <p:cNvGrpSpPr>
                <a:grpSpLocks/>
              </p:cNvGrpSpPr>
              <p:nvPr/>
            </p:nvGrpSpPr>
            <p:grpSpPr bwMode="auto">
              <a:xfrm>
                <a:off x="2517" y="1071"/>
                <a:ext cx="3168" cy="3135"/>
                <a:chOff x="2640" y="1200"/>
                <a:chExt cx="3168" cy="3135"/>
              </a:xfrm>
            </p:grpSpPr>
            <p:sp>
              <p:nvSpPr>
                <p:cNvPr id="8" name="Rectangle 6"/>
                <p:cNvSpPr>
                  <a:spLocks noChangeArrowheads="1"/>
                </p:cNvSpPr>
                <p:nvPr/>
              </p:nvSpPr>
              <p:spPr bwMode="auto">
                <a:xfrm>
                  <a:off x="3264" y="1536"/>
                  <a:ext cx="528" cy="624"/>
                </a:xfrm>
                <a:prstGeom prst="rect">
                  <a:avLst/>
                </a:prstGeom>
                <a:solidFill>
                  <a:srgbClr val="99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600" dirty="0">
                      <a:solidFill>
                        <a:schemeClr val="bg2"/>
                      </a:solidFill>
                    </a:rPr>
                    <a:t>数据总线</a:t>
                  </a:r>
                  <a:endParaRPr lang="en-US" altLang="zh-CN" sz="1600" dirty="0">
                    <a:solidFill>
                      <a:schemeClr val="bg2"/>
                    </a:solidFill>
                  </a:endParaRPr>
                </a:p>
                <a:p>
                  <a:pPr algn="ctr"/>
                  <a:r>
                    <a:rPr lang="zh-CN" altLang="en-US" sz="1600" dirty="0">
                      <a:solidFill>
                        <a:schemeClr val="bg2"/>
                      </a:solidFill>
                    </a:rPr>
                    <a:t>缓冲器</a:t>
                  </a:r>
                </a:p>
              </p:txBody>
            </p:sp>
            <p:sp>
              <p:nvSpPr>
                <p:cNvPr id="10" name="Rectangle 7"/>
                <p:cNvSpPr>
                  <a:spLocks noChangeArrowheads="1"/>
                </p:cNvSpPr>
                <p:nvPr/>
              </p:nvSpPr>
              <p:spPr bwMode="auto">
                <a:xfrm>
                  <a:off x="4560" y="1578"/>
                  <a:ext cx="384" cy="528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600" dirty="0">
                      <a:solidFill>
                        <a:schemeClr val="bg2"/>
                      </a:solidFill>
                    </a:rPr>
                    <a:t>计数器</a:t>
                  </a:r>
                </a:p>
                <a:p>
                  <a:pPr algn="ctr"/>
                  <a:r>
                    <a:rPr lang="en-US" altLang="zh-CN" sz="1600" dirty="0">
                      <a:solidFill>
                        <a:schemeClr val="bg2"/>
                      </a:solidFill>
                    </a:rPr>
                    <a:t>0</a:t>
                  </a:r>
                </a:p>
              </p:txBody>
            </p:sp>
            <p:sp>
              <p:nvSpPr>
                <p:cNvPr id="12" name="AutoShape 8"/>
                <p:cNvSpPr>
                  <a:spLocks noChangeArrowheads="1"/>
                </p:cNvSpPr>
                <p:nvPr/>
              </p:nvSpPr>
              <p:spPr bwMode="auto">
                <a:xfrm>
                  <a:off x="2928" y="1776"/>
                  <a:ext cx="336" cy="240"/>
                </a:xfrm>
                <a:prstGeom prst="leftRightArrow">
                  <a:avLst>
                    <a:gd name="adj1" fmla="val 50000"/>
                    <a:gd name="adj2" fmla="val 28000"/>
                  </a:avLst>
                </a:prstGeom>
                <a:solidFill>
                  <a:srgbClr val="FF006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AutoShape 9"/>
                <p:cNvSpPr>
                  <a:spLocks noChangeArrowheads="1"/>
                </p:cNvSpPr>
                <p:nvPr/>
              </p:nvSpPr>
              <p:spPr bwMode="auto">
                <a:xfrm>
                  <a:off x="3792" y="1776"/>
                  <a:ext cx="336" cy="240"/>
                </a:xfrm>
                <a:prstGeom prst="leftRightArrow">
                  <a:avLst>
                    <a:gd name="adj1" fmla="val 50000"/>
                    <a:gd name="adj2" fmla="val 28000"/>
                  </a:avLst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Rectangle 12"/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528" cy="624"/>
                </a:xfrm>
                <a:prstGeom prst="rect">
                  <a:avLst/>
                </a:prstGeom>
                <a:solidFill>
                  <a:srgbClr val="CC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1600">
                      <a:solidFill>
                        <a:schemeClr val="bg2"/>
                      </a:solidFill>
                    </a:rPr>
                    <a:t>读</a:t>
                  </a:r>
                  <a:r>
                    <a:rPr lang="en-US" altLang="zh-CN" sz="1600">
                      <a:solidFill>
                        <a:schemeClr val="bg2"/>
                      </a:solidFill>
                    </a:rPr>
                    <a:t>/</a:t>
                  </a:r>
                  <a:r>
                    <a:rPr lang="zh-CN" altLang="en-US" sz="1600">
                      <a:solidFill>
                        <a:schemeClr val="bg2"/>
                      </a:solidFill>
                    </a:rPr>
                    <a:t>写</a:t>
                  </a:r>
                </a:p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1600">
                      <a:solidFill>
                        <a:schemeClr val="bg2"/>
                      </a:solidFill>
                    </a:rPr>
                    <a:t>逻辑</a:t>
                  </a:r>
                </a:p>
              </p:txBody>
            </p:sp>
            <p:sp>
              <p:nvSpPr>
                <p:cNvPr id="17" name="Rectangle 13"/>
                <p:cNvSpPr>
                  <a:spLocks noChangeArrowheads="1"/>
                </p:cNvSpPr>
                <p:nvPr/>
              </p:nvSpPr>
              <p:spPr bwMode="auto">
                <a:xfrm>
                  <a:off x="3264" y="3216"/>
                  <a:ext cx="528" cy="624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1600">
                      <a:solidFill>
                        <a:schemeClr val="bg2"/>
                      </a:solidFill>
                    </a:rPr>
                    <a:t>控制字</a:t>
                  </a:r>
                </a:p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1600">
                      <a:solidFill>
                        <a:schemeClr val="bg2"/>
                      </a:solidFill>
                    </a:rPr>
                    <a:t>寄存器</a:t>
                  </a:r>
                </a:p>
              </p:txBody>
            </p:sp>
            <p:sp>
              <p:nvSpPr>
                <p:cNvPr id="18" name="Rectangle 14"/>
                <p:cNvSpPr>
                  <a:spLocks noChangeArrowheads="1"/>
                </p:cNvSpPr>
                <p:nvPr/>
              </p:nvSpPr>
              <p:spPr bwMode="auto">
                <a:xfrm>
                  <a:off x="4560" y="2400"/>
                  <a:ext cx="384" cy="528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zh-CN" sz="1600" dirty="0">
                    <a:solidFill>
                      <a:schemeClr val="bg2"/>
                    </a:solidFill>
                  </a:endParaRPr>
                </a:p>
                <a:p>
                  <a:pPr algn="ctr"/>
                  <a:endParaRPr lang="en-US" altLang="zh-CN" sz="1600" dirty="0">
                    <a:solidFill>
                      <a:schemeClr val="bg2"/>
                    </a:solidFill>
                  </a:endParaRPr>
                </a:p>
                <a:p>
                  <a:pPr algn="ctr"/>
                  <a:r>
                    <a:rPr lang="zh-CN" altLang="en-US" sz="1600" dirty="0">
                      <a:solidFill>
                        <a:schemeClr val="bg2"/>
                      </a:solidFill>
                    </a:rPr>
                    <a:t>计数器</a:t>
                  </a:r>
                </a:p>
                <a:p>
                  <a:pPr algn="ctr"/>
                  <a:r>
                    <a:rPr lang="en-US" altLang="zh-CN" sz="1600" dirty="0">
                      <a:solidFill>
                        <a:schemeClr val="bg2"/>
                      </a:solidFill>
                    </a:rPr>
                    <a:t>1</a:t>
                  </a:r>
                </a:p>
                <a:p>
                  <a:pPr algn="ctr"/>
                  <a:endParaRPr lang="en-US" altLang="zh-CN" dirty="0"/>
                </a:p>
              </p:txBody>
            </p:sp>
            <p:sp>
              <p:nvSpPr>
                <p:cNvPr id="19" name="Rectangle 15"/>
                <p:cNvSpPr>
                  <a:spLocks noChangeArrowheads="1"/>
                </p:cNvSpPr>
                <p:nvPr/>
              </p:nvSpPr>
              <p:spPr bwMode="auto">
                <a:xfrm>
                  <a:off x="4560" y="3264"/>
                  <a:ext cx="384" cy="528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zh-CN" sz="1600">
                    <a:solidFill>
                      <a:schemeClr val="bg2"/>
                    </a:solidFill>
                  </a:endParaRPr>
                </a:p>
                <a:p>
                  <a:pPr algn="ctr"/>
                  <a:endParaRPr lang="en-US" altLang="zh-CN" sz="1600">
                    <a:solidFill>
                      <a:schemeClr val="bg2"/>
                    </a:solidFill>
                  </a:endParaRPr>
                </a:p>
                <a:p>
                  <a:pPr algn="ctr"/>
                  <a:r>
                    <a:rPr lang="zh-CN" altLang="en-US" sz="1600">
                      <a:solidFill>
                        <a:schemeClr val="bg2"/>
                      </a:solidFill>
                    </a:rPr>
                    <a:t>计数器</a:t>
                  </a:r>
                </a:p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</a:rPr>
                    <a:t>2</a:t>
                  </a:r>
                </a:p>
                <a:p>
                  <a:pPr algn="ctr"/>
                  <a:endParaRPr lang="en-US" altLang="zh-CN"/>
                </a:p>
              </p:txBody>
            </p:sp>
            <p:sp>
              <p:nvSpPr>
                <p:cNvPr id="20" name="AutoShape 16"/>
                <p:cNvSpPr>
                  <a:spLocks noChangeArrowheads="1"/>
                </p:cNvSpPr>
                <p:nvPr/>
              </p:nvSpPr>
              <p:spPr bwMode="auto">
                <a:xfrm>
                  <a:off x="3792" y="3408"/>
                  <a:ext cx="336" cy="288"/>
                </a:xfrm>
                <a:prstGeom prst="leftArrow">
                  <a:avLst>
                    <a:gd name="adj1" fmla="val 50000"/>
                    <a:gd name="adj2" fmla="val 29167"/>
                  </a:avLst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AutoShape 17"/>
                <p:cNvSpPr>
                  <a:spLocks noChangeArrowheads="1"/>
                </p:cNvSpPr>
                <p:nvPr/>
              </p:nvSpPr>
              <p:spPr bwMode="auto">
                <a:xfrm>
                  <a:off x="4272" y="1776"/>
                  <a:ext cx="288" cy="240"/>
                </a:xfrm>
                <a:prstGeom prst="leftRightArrow">
                  <a:avLst>
                    <a:gd name="adj1" fmla="val 50000"/>
                    <a:gd name="adj2" fmla="val 20000"/>
                  </a:avLst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AutoShape 18"/>
                <p:cNvSpPr>
                  <a:spLocks noChangeArrowheads="1"/>
                </p:cNvSpPr>
                <p:nvPr/>
              </p:nvSpPr>
              <p:spPr bwMode="auto">
                <a:xfrm>
                  <a:off x="4272" y="2544"/>
                  <a:ext cx="288" cy="240"/>
                </a:xfrm>
                <a:prstGeom prst="leftRightArrow">
                  <a:avLst>
                    <a:gd name="adj1" fmla="val 50000"/>
                    <a:gd name="adj2" fmla="val 24000"/>
                  </a:avLst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AutoShape 19"/>
                <p:cNvSpPr>
                  <a:spLocks noChangeArrowheads="1"/>
                </p:cNvSpPr>
                <p:nvPr/>
              </p:nvSpPr>
              <p:spPr bwMode="auto">
                <a:xfrm>
                  <a:off x="4272" y="3456"/>
                  <a:ext cx="288" cy="240"/>
                </a:xfrm>
                <a:prstGeom prst="leftRightArrow">
                  <a:avLst>
                    <a:gd name="adj1" fmla="val 50000"/>
                    <a:gd name="adj2" fmla="val 24000"/>
                  </a:avLst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20"/>
                <p:cNvSpPr>
                  <a:spLocks noChangeShapeType="1"/>
                </p:cNvSpPr>
                <p:nvPr/>
              </p:nvSpPr>
              <p:spPr bwMode="auto">
                <a:xfrm>
                  <a:off x="3504" y="2160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cxnSp>
              <p:nvCxnSpPr>
                <p:cNvPr id="25" name="AutoShape 21"/>
                <p:cNvCxnSpPr>
                  <a:cxnSpLocks noChangeShapeType="1"/>
                </p:cNvCxnSpPr>
                <p:nvPr/>
              </p:nvCxnSpPr>
              <p:spPr bwMode="auto">
                <a:xfrm>
                  <a:off x="3792" y="2832"/>
                  <a:ext cx="144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6" name="Line 22"/>
                <p:cNvSpPr>
                  <a:spLocks noChangeShapeType="1"/>
                </p:cNvSpPr>
                <p:nvPr/>
              </p:nvSpPr>
              <p:spPr bwMode="auto">
                <a:xfrm>
                  <a:off x="2928" y="2928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Line 23"/>
                <p:cNvSpPr>
                  <a:spLocks noChangeShapeType="1"/>
                </p:cNvSpPr>
                <p:nvPr/>
              </p:nvSpPr>
              <p:spPr bwMode="auto">
                <a:xfrm>
                  <a:off x="2928" y="2784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Line 24"/>
                <p:cNvSpPr>
                  <a:spLocks noChangeShapeType="1"/>
                </p:cNvSpPr>
                <p:nvPr/>
              </p:nvSpPr>
              <p:spPr bwMode="auto">
                <a:xfrm>
                  <a:off x="2928" y="2640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Line 25"/>
                <p:cNvSpPr>
                  <a:spLocks noChangeShapeType="1"/>
                </p:cNvSpPr>
                <p:nvPr/>
              </p:nvSpPr>
              <p:spPr bwMode="auto">
                <a:xfrm>
                  <a:off x="2928" y="249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cxnSp>
              <p:nvCxnSpPr>
                <p:cNvPr id="30" name="AutoShape 26"/>
                <p:cNvCxnSpPr>
                  <a:cxnSpLocks noChangeShapeType="1"/>
                  <a:stCxn id="23" idx="1"/>
                  <a:endCxn id="22" idx="5"/>
                </p:cNvCxnSpPr>
                <p:nvPr/>
              </p:nvCxnSpPr>
              <p:spPr bwMode="auto">
                <a:xfrm flipV="1">
                  <a:off x="4416" y="2724"/>
                  <a:ext cx="0" cy="792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1" name="AutoShape 27"/>
                <p:cNvCxnSpPr>
                  <a:cxnSpLocks noChangeShapeType="1"/>
                  <a:endCxn id="23" idx="5"/>
                </p:cNvCxnSpPr>
                <p:nvPr/>
              </p:nvCxnSpPr>
              <p:spPr bwMode="auto">
                <a:xfrm flipV="1">
                  <a:off x="4416" y="3636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2" name="AutoShape 28"/>
                <p:cNvCxnSpPr>
                  <a:cxnSpLocks noChangeShapeType="1"/>
                </p:cNvCxnSpPr>
                <p:nvPr/>
              </p:nvCxnSpPr>
              <p:spPr bwMode="auto">
                <a:xfrm>
                  <a:off x="3504" y="3936"/>
                  <a:ext cx="1248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3" name="AutoShape 29"/>
                <p:cNvCxnSpPr>
                  <a:cxnSpLocks noChangeShapeType="1"/>
                </p:cNvCxnSpPr>
                <p:nvPr/>
              </p:nvCxnSpPr>
              <p:spPr bwMode="auto">
                <a:xfrm>
                  <a:off x="3504" y="3840"/>
                  <a:ext cx="0" cy="96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4" name="AutoShape 30"/>
                <p:cNvCxnSpPr>
                  <a:cxnSpLocks noChangeShapeType="1"/>
                </p:cNvCxnSpPr>
                <p:nvPr/>
              </p:nvCxnSpPr>
              <p:spPr bwMode="auto">
                <a:xfrm>
                  <a:off x="3792" y="3312"/>
                  <a:ext cx="144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5" name="AutoShape 31"/>
                <p:cNvCxnSpPr>
                  <a:cxnSpLocks noChangeShapeType="1"/>
                </p:cNvCxnSpPr>
                <p:nvPr/>
              </p:nvCxnSpPr>
              <p:spPr bwMode="auto">
                <a:xfrm>
                  <a:off x="3936" y="2832"/>
                  <a:ext cx="0" cy="48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6" name="AutoShape 32"/>
                <p:cNvCxnSpPr>
                  <a:cxnSpLocks noChangeShapeType="1"/>
                  <a:stCxn id="19" idx="2"/>
                </p:cNvCxnSpPr>
                <p:nvPr/>
              </p:nvCxnSpPr>
              <p:spPr bwMode="auto">
                <a:xfrm>
                  <a:off x="4752" y="3792"/>
                  <a:ext cx="1" cy="144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7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4416" y="225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Line 34"/>
                <p:cNvSpPr>
                  <a:spLocks noChangeShapeType="1"/>
                </p:cNvSpPr>
                <p:nvPr/>
              </p:nvSpPr>
              <p:spPr bwMode="auto">
                <a:xfrm>
                  <a:off x="4416" y="2256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4704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Line 36"/>
                <p:cNvSpPr>
                  <a:spLocks noChangeShapeType="1"/>
                </p:cNvSpPr>
                <p:nvPr/>
              </p:nvSpPr>
              <p:spPr bwMode="auto">
                <a:xfrm>
                  <a:off x="4416" y="3072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4704" y="292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AutoShape 38"/>
                <p:cNvSpPr>
                  <a:spLocks noChangeArrowheads="1"/>
                </p:cNvSpPr>
                <p:nvPr/>
              </p:nvSpPr>
              <p:spPr bwMode="auto">
                <a:xfrm>
                  <a:off x="3525" y="3024"/>
                  <a:ext cx="48" cy="48"/>
                </a:xfrm>
                <a:prstGeom prst="flowChartConnector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3552" y="307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Line 40"/>
                <p:cNvSpPr>
                  <a:spLocks noChangeShapeType="1"/>
                </p:cNvSpPr>
                <p:nvPr/>
              </p:nvSpPr>
              <p:spPr bwMode="auto">
                <a:xfrm>
                  <a:off x="2976" y="3168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Line 41"/>
                <p:cNvSpPr>
                  <a:spLocks noChangeShapeType="1"/>
                </p:cNvSpPr>
                <p:nvPr/>
              </p:nvSpPr>
              <p:spPr bwMode="auto">
                <a:xfrm>
                  <a:off x="4944" y="167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Line 42"/>
                <p:cNvSpPr>
                  <a:spLocks noChangeShapeType="1"/>
                </p:cNvSpPr>
                <p:nvPr/>
              </p:nvSpPr>
              <p:spPr bwMode="auto">
                <a:xfrm>
                  <a:off x="4944" y="181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Line 43"/>
                <p:cNvSpPr>
                  <a:spLocks noChangeShapeType="1"/>
                </p:cNvSpPr>
                <p:nvPr/>
              </p:nvSpPr>
              <p:spPr bwMode="auto">
                <a:xfrm>
                  <a:off x="4944" y="2010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Line 44"/>
                <p:cNvSpPr>
                  <a:spLocks noChangeShapeType="1"/>
                </p:cNvSpPr>
                <p:nvPr/>
              </p:nvSpPr>
              <p:spPr bwMode="auto">
                <a:xfrm>
                  <a:off x="4944" y="249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Line 45"/>
                <p:cNvSpPr>
                  <a:spLocks noChangeShapeType="1"/>
                </p:cNvSpPr>
                <p:nvPr/>
              </p:nvSpPr>
              <p:spPr bwMode="auto">
                <a:xfrm>
                  <a:off x="4944" y="2640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Line 46"/>
                <p:cNvSpPr>
                  <a:spLocks noChangeShapeType="1"/>
                </p:cNvSpPr>
                <p:nvPr/>
              </p:nvSpPr>
              <p:spPr bwMode="auto">
                <a:xfrm>
                  <a:off x="4944" y="283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Line 47"/>
                <p:cNvSpPr>
                  <a:spLocks noChangeShapeType="1"/>
                </p:cNvSpPr>
                <p:nvPr/>
              </p:nvSpPr>
              <p:spPr bwMode="auto">
                <a:xfrm>
                  <a:off x="4944" y="350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Line 48"/>
                <p:cNvSpPr>
                  <a:spLocks noChangeShapeType="1"/>
                </p:cNvSpPr>
                <p:nvPr/>
              </p:nvSpPr>
              <p:spPr bwMode="auto">
                <a:xfrm>
                  <a:off x="4944" y="3360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Line 49"/>
                <p:cNvSpPr>
                  <a:spLocks noChangeShapeType="1"/>
                </p:cNvSpPr>
                <p:nvPr/>
              </p:nvSpPr>
              <p:spPr bwMode="auto">
                <a:xfrm>
                  <a:off x="4944" y="369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5136" y="1530"/>
                  <a:ext cx="480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/>
                    <a:t>CLK0</a:t>
                  </a:r>
                </a:p>
              </p:txBody>
            </p:sp>
            <p:sp>
              <p:nvSpPr>
                <p:cNvPr id="55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5136" y="2352"/>
                  <a:ext cx="480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/>
                    <a:t>CLK1</a:t>
                  </a:r>
                </a:p>
              </p:txBody>
            </p:sp>
            <p:sp>
              <p:nvSpPr>
                <p:cNvPr id="56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5136" y="3264"/>
                  <a:ext cx="480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/>
                    <a:t>CLK2</a:t>
                  </a:r>
                </a:p>
              </p:txBody>
            </p:sp>
            <p:sp>
              <p:nvSpPr>
                <p:cNvPr id="57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5136" y="1721"/>
                  <a:ext cx="672" cy="2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/>
                    <a:t>GATE0</a:t>
                  </a:r>
                  <a:endParaRPr lang="en-US" altLang="zh-CN"/>
                </a:p>
              </p:txBody>
            </p:sp>
            <p:sp>
              <p:nvSpPr>
                <p:cNvPr id="58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5116" y="2523"/>
                  <a:ext cx="577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 dirty="0"/>
                    <a:t>GATE1</a:t>
                  </a:r>
                  <a:endParaRPr lang="en-US" altLang="zh-CN" dirty="0"/>
                </a:p>
              </p:txBody>
            </p:sp>
            <p:sp>
              <p:nvSpPr>
                <p:cNvPr id="59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5134" y="3407"/>
                  <a:ext cx="577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 dirty="0"/>
                    <a:t>GATE2</a:t>
                  </a:r>
                  <a:endParaRPr lang="en-US" altLang="zh-CN" dirty="0"/>
                </a:p>
              </p:txBody>
            </p:sp>
            <p:sp>
              <p:nvSpPr>
                <p:cNvPr id="60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5136" y="1914"/>
                  <a:ext cx="528" cy="2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 dirty="0"/>
                    <a:t>OUT0</a:t>
                  </a:r>
                  <a:endParaRPr lang="en-US" altLang="zh-CN" dirty="0"/>
                </a:p>
              </p:txBody>
            </p:sp>
            <p:sp>
              <p:nvSpPr>
                <p:cNvPr id="61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5088" y="2736"/>
                  <a:ext cx="528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/>
                    <a:t>OUT1</a:t>
                  </a:r>
                  <a:endParaRPr lang="en-US" altLang="zh-CN"/>
                </a:p>
              </p:txBody>
            </p:sp>
            <p:sp>
              <p:nvSpPr>
                <p:cNvPr id="62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5134" y="3573"/>
                  <a:ext cx="528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 dirty="0"/>
                    <a:t>OUT2</a:t>
                  </a:r>
                  <a:endParaRPr lang="en-US" altLang="zh-CN" dirty="0"/>
                </a:p>
              </p:txBody>
            </p:sp>
            <p:sp>
              <p:nvSpPr>
                <p:cNvPr id="63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2688" y="1968"/>
                  <a:ext cx="672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/>
                    <a:t>D7 ~ D0</a:t>
                  </a:r>
                  <a:endParaRPr lang="en-US" altLang="zh-CN"/>
                </a:p>
              </p:txBody>
            </p:sp>
            <p:sp>
              <p:nvSpPr>
                <p:cNvPr id="64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2640" y="2399"/>
                  <a:ext cx="385" cy="7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600"/>
                    <a:t>RD</a:t>
                  </a:r>
                </a:p>
                <a:p>
                  <a:r>
                    <a:rPr lang="en-US" altLang="zh-CN" sz="1600"/>
                    <a:t>WR</a:t>
                  </a:r>
                </a:p>
                <a:p>
                  <a:r>
                    <a:rPr lang="en-US" altLang="zh-CN" sz="1600"/>
                    <a:t>A0</a:t>
                  </a:r>
                </a:p>
                <a:p>
                  <a:r>
                    <a:rPr lang="en-US" altLang="zh-CN" sz="1600"/>
                    <a:t>A1</a:t>
                  </a:r>
                  <a:endParaRPr lang="en-US" altLang="zh-CN"/>
                </a:p>
              </p:txBody>
            </p:sp>
            <p:sp>
              <p:nvSpPr>
                <p:cNvPr id="65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2688" y="3072"/>
                  <a:ext cx="337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/>
                    <a:t>CS</a:t>
                  </a:r>
                  <a:endParaRPr lang="en-US" altLang="zh-CN"/>
                </a:p>
              </p:txBody>
            </p:sp>
            <p:sp>
              <p:nvSpPr>
                <p:cNvPr id="66" name="Line 62"/>
                <p:cNvSpPr>
                  <a:spLocks noChangeShapeType="1"/>
                </p:cNvSpPr>
                <p:nvPr/>
              </p:nvSpPr>
              <p:spPr bwMode="auto">
                <a:xfrm>
                  <a:off x="2688" y="244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2736" y="3120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Line 64"/>
                <p:cNvSpPr>
                  <a:spLocks noChangeShapeType="1"/>
                </p:cNvSpPr>
                <p:nvPr/>
              </p:nvSpPr>
              <p:spPr bwMode="auto">
                <a:xfrm>
                  <a:off x="2688" y="259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3264" y="4089"/>
                  <a:ext cx="1919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800"/>
                    <a:t>8253</a:t>
                  </a:r>
                  <a:r>
                    <a:rPr lang="zh-CN" altLang="en-US" sz="1800"/>
                    <a:t>内部结构</a:t>
                  </a:r>
                  <a:endParaRPr lang="zh-CN" altLang="en-US"/>
                </a:p>
              </p:txBody>
            </p:sp>
            <p:sp>
              <p:nvSpPr>
                <p:cNvPr id="70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3744" y="1200"/>
                  <a:ext cx="1104" cy="2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dirty="0"/>
                    <a:t>内部数据总线</a:t>
                  </a:r>
                  <a:endParaRPr lang="zh-CN" altLang="en-US" dirty="0"/>
                </a:p>
              </p:txBody>
            </p:sp>
          </p:grpSp>
        </p:grpSp>
        <p:sp>
          <p:nvSpPr>
            <p:cNvPr id="2" name="矩形 1"/>
            <p:cNvSpPr/>
            <p:nvPr/>
          </p:nvSpPr>
          <p:spPr bwMode="auto">
            <a:xfrm>
              <a:off x="4443350" y="2091079"/>
              <a:ext cx="222170" cy="3546238"/>
            </a:xfrm>
            <a:prstGeom prst="rect">
              <a:avLst/>
            </a:prstGeom>
            <a:solidFill>
              <a:srgbClr val="FF00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3856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的结构特点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691447"/>
            <a:ext cx="8471769" cy="2679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内部具有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个独立的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位计数器通道；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每个计数器通道均可按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种不同的方式工作；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都可以按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进制或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进制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(BCD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格式进行计数；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最高计数频率能达到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2MHz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1424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的内部结构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094986"/>
            <a:ext cx="8471769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计数通道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内部包含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个功能相同的计数器（计数器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、计数器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、计数器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），对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个通道的操作完全独立。每个通道都包含：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一个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位计数初值寄存器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一个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位减一计数器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一个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位计数输出锁存器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219" y="3258281"/>
            <a:ext cx="3395337" cy="3157187"/>
          </a:xfrm>
          <a:prstGeom prst="rect">
            <a:avLst/>
          </a:prstGeom>
        </p:spPr>
      </p:pic>
      <p:sp>
        <p:nvSpPr>
          <p:cNvPr id="70" name="椭圆 69"/>
          <p:cNvSpPr/>
          <p:nvPr/>
        </p:nvSpPr>
        <p:spPr bwMode="auto">
          <a:xfrm>
            <a:off x="7134726" y="3306409"/>
            <a:ext cx="757990" cy="2985357"/>
          </a:xfrm>
          <a:prstGeom prst="ellipse">
            <a:avLst/>
          </a:prstGeom>
          <a:noFill/>
          <a:ln w="127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0283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的内部结构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094986"/>
            <a:ext cx="8471769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计数通道（续）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计数初值寄存器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用来保存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送来的计数初值；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减一计数器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是实际执行部件，按照输入的时钟频率做减一运算，可以通过编程来确定是按照二进制还是十进制（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BCD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码）减法计数；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输出锁存器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用来锁存计数器当前的值，供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读取；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是计数器能够设置的最大计数初值。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8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的内部结构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094986"/>
            <a:ext cx="847176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计数通道（续）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每个计数器都各有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个引脚：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时钟脉冲输入端，最高频率为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2MHz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门控信号，决定是否允许计数；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输出信号，不同的工作方式有不同的输出信号；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1647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的内部结构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83473" y="936397"/>
                <a:ext cx="8471769" cy="34195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200000"/>
                  </a:lnSpc>
                  <a:buAutoNum type="arabicPeriod"/>
                </a:pPr>
                <a:r>
                  <a:rPr lang="zh-CN" altLang="en-US" sz="2200" dirty="0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计数通道（续）</a:t>
                </a:r>
                <a:endParaRPr lang="en-US" altLang="zh-CN" sz="220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22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8253</a:t>
                </a: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工作过程：</a:t>
                </a:r>
                <a:endParaRPr lang="en-US" altLang="zh-CN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写入控制字；</a:t>
                </a:r>
                <a:endParaRPr lang="en-US" altLang="zh-CN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写入计数初值；</a:t>
                </a:r>
                <a:endParaRPr lang="en-US" altLang="zh-CN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定时时间</m:t>
                      </m:r>
                      <m:r>
                        <a:rPr lang="en-US" altLang="zh-CN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计数</m:t>
                      </m:r>
                      <m:r>
                        <a:rPr lang="zh-CN" altLang="en-US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初值</m:t>
                      </m:r>
                      <m:r>
                        <a:rPr lang="en-US" altLang="zh-CN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时钟</m:t>
                      </m:r>
                      <m:r>
                        <a:rPr lang="zh-CN" alt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脉冲</m:t>
                      </m:r>
                      <m:r>
                        <a:rPr lang="zh-CN" altLang="en-US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周期</m:t>
                      </m:r>
                    </m:oMath>
                  </m:oMathPara>
                </a14:m>
                <a:endParaRPr lang="en-US" altLang="zh-CN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73" y="936397"/>
                <a:ext cx="8471769" cy="3419526"/>
              </a:xfrm>
              <a:prstGeom prst="rect">
                <a:avLst/>
              </a:prstGeom>
              <a:blipFill>
                <a:blip r:embed="rId2"/>
                <a:stretch>
                  <a:fillRect l="-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l="17408" t="20017" r="19033" b="43214"/>
          <a:stretch/>
        </p:blipFill>
        <p:spPr>
          <a:xfrm>
            <a:off x="2286070" y="4751722"/>
            <a:ext cx="4666574" cy="149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27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的内部结构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094986"/>
            <a:ext cx="847176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 startAt="2"/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控制字寄存器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个计数器的编程都是通过控制字寄存器来完成的，控制字寄存器只能写入，不能读出，可以用来设置：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计数器的工作方式；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计数初值的输入格式；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计数值的读出格式；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计数器计数进制等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912" y="3314236"/>
            <a:ext cx="3395766" cy="3158002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 bwMode="auto">
          <a:xfrm>
            <a:off x="5872467" y="5095385"/>
            <a:ext cx="757990" cy="1148253"/>
          </a:xfrm>
          <a:prstGeom prst="ellipse">
            <a:avLst/>
          </a:prstGeom>
          <a:noFill/>
          <a:ln w="127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3526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的内部结构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094986"/>
            <a:ext cx="8471769" cy="403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 startAt="3"/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数据总线缓冲器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双向三态的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位数据缓冲器，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通过该缓冲器和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进行数据的传送，如：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写入控制字；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写入计数初值；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读出计数值。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456" y="2838893"/>
            <a:ext cx="3906897" cy="363334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 bwMode="auto">
          <a:xfrm>
            <a:off x="5354053" y="2995304"/>
            <a:ext cx="902368" cy="1215749"/>
          </a:xfrm>
          <a:prstGeom prst="ellipse">
            <a:avLst/>
          </a:prstGeom>
          <a:noFill/>
          <a:ln w="127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8813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的内部结构</a:t>
            </a:r>
          </a:p>
        </p:txBody>
      </p:sp>
      <p:sp>
        <p:nvSpPr>
          <p:cNvPr id="11" name="矩形 10"/>
          <p:cNvSpPr/>
          <p:nvPr/>
        </p:nvSpPr>
        <p:spPr>
          <a:xfrm>
            <a:off x="213352" y="903600"/>
            <a:ext cx="8471769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读写控制逻辑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接收控制信号和地址信号：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写信号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#WR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有效时，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可以接收控制字和计数初值；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读信号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#RD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有效时，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可以读取计数器当前的计数值；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#CS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组合决定了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的地址空间：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077" y="3306726"/>
            <a:ext cx="3389074" cy="3151151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 bwMode="auto">
          <a:xfrm>
            <a:off x="6148136" y="4343400"/>
            <a:ext cx="894013" cy="901619"/>
          </a:xfrm>
          <a:prstGeom prst="ellipse">
            <a:avLst/>
          </a:prstGeom>
          <a:noFill/>
          <a:ln w="1270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52" y="4004003"/>
            <a:ext cx="2847535" cy="175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48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的初始化编程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573451"/>
            <a:ext cx="8471769" cy="2443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在使用之前，必须用程序把它们初始化为所需的特定模式。初始化编程按下列步骤进行：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写入控制字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写入计数初值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6889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的初始化编程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360800"/>
            <a:ext cx="8471769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写入控制字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指令向控制字寄存器写入一个控制字，以选定计数器通道，设置该计数器的工作方式和计数格式。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写入控制字还起到复位作用，使输出端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变为规定的初始状态，并使计数器清零。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0608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的初始化编程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840420"/>
            <a:ext cx="847176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2"/>
                </a:solidFill>
                <a:latin typeface="+mn-ea"/>
              </a:rPr>
              <a:t>8253</a:t>
            </a:r>
            <a:r>
              <a:rPr lang="zh-CN" altLang="en-US" sz="2200" dirty="0">
                <a:solidFill>
                  <a:schemeClr val="tx2"/>
                </a:solidFill>
                <a:latin typeface="+mn-ea"/>
              </a:rPr>
              <a:t>控制字寄存器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t="10858"/>
          <a:stretch/>
        </p:blipFill>
        <p:spPr>
          <a:xfrm>
            <a:off x="383473" y="1516298"/>
            <a:ext cx="8352244" cy="457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520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的初始化编程</a:t>
            </a:r>
          </a:p>
        </p:txBody>
      </p:sp>
      <p:sp>
        <p:nvSpPr>
          <p:cNvPr id="11" name="矩形 10"/>
          <p:cNvSpPr/>
          <p:nvPr/>
        </p:nvSpPr>
        <p:spPr>
          <a:xfrm>
            <a:off x="383473" y="1094986"/>
            <a:ext cx="8471769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写入计数初值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指令向选中的计数器端口地址中写入一个计数初值，初值可以是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位数据，也可以是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位数据；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若是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位数据，只需要一条输出指令就可完成初值的设置；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如果是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位数，则必须用两条输出指令来完成，且先送低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位数据，后送高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位数据。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6058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的初始化编程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21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527"/>
            <a:ext cx="9159258" cy="57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58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8253</a:t>
            </a:r>
            <a:r>
              <a:rPr lang="zh-CN" altLang="en-US" dirty="0"/>
              <a:t>计数启动方式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10" y="1437747"/>
            <a:ext cx="7772400" cy="3314727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启动方式由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端信号的形式决定</a:t>
            </a:r>
            <a:endParaRPr lang="en-US" altLang="zh-CN" sz="2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软件启动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端为高电平</a:t>
            </a:r>
            <a:endParaRPr lang="en-US" altLang="zh-CN" sz="2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硬件启动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端有一个上升沿（正脉冲）</a:t>
            </a:r>
            <a:endParaRPr lang="en-US" altLang="zh-CN" sz="2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200000"/>
              </a:lnSpc>
              <a:buNone/>
            </a:pPr>
            <a:endParaRPr lang="zh-CN" altLang="en-US" sz="2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9232495"/>
      </p:ext>
    </p:extLst>
  </p:cSld>
  <p:clrMapOvr>
    <a:masterClrMapping/>
  </p:clrMapOvr>
  <p:transition spd="slow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：计数结束产生中断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：硬件可重触发单稳态方式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：周期性负脉冲输出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：周期性方波输出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：软件触发单次负脉冲输出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：硬件触发单次负脉冲输出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264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932420"/>
            <a:ext cx="7772400" cy="199044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（计数结束产生中断）：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软件启动，不自动重复计数；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计数结束输出高电平。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24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63625"/>
            <a:ext cx="9144000" cy="32226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502288" y="5818005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（计数结束产生中断）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 flipV="1">
            <a:off x="6166886" y="5021785"/>
            <a:ext cx="542258" cy="933514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chemeClr val="tx2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1688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25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0972"/>
            <a:ext cx="9144000" cy="286639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83473" y="1226955"/>
            <a:ext cx="354937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门控信号的影响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3873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26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2599"/>
            <a:ext cx="9144000" cy="284314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83473" y="1226955"/>
            <a:ext cx="383149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初值再装入的影响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6677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932420"/>
            <a:ext cx="7772400" cy="189500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（硬件可重触发单稳态方式）：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硬件启动，不自动重复计数；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计数开始输出低电平，结束后又变高。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27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49" y="3024671"/>
            <a:ext cx="8766808" cy="321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5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28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04" y="2043604"/>
            <a:ext cx="8769391" cy="29211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83473" y="1226955"/>
            <a:ext cx="540404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重新启动门控</a:t>
            </a:r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对输出的影响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82984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29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04" y="2158867"/>
            <a:ext cx="8769391" cy="269060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83473" y="1226955"/>
            <a:ext cx="681468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计数过程中重新启动门控</a:t>
            </a:r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GATE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对输出的影响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5347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30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0" y="2158866"/>
            <a:ext cx="9063938" cy="293049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83473" y="1226955"/>
            <a:ext cx="439575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重装初值对输出的影响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7422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932420"/>
            <a:ext cx="7772400" cy="190703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（周期性负脉冲输出）：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软件启动，自动重复计数；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计数到最后一个脉冲时输出低电平。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31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" y="2892581"/>
            <a:ext cx="8554453" cy="329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3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32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0601"/>
            <a:ext cx="9144000" cy="28013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83473" y="1226955"/>
            <a:ext cx="354937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门控信号的影响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2078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33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00" y="2356295"/>
            <a:ext cx="8782150" cy="28013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83473" y="1226955"/>
            <a:ext cx="439575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kern="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重装初值对输出的影响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14752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932420"/>
            <a:ext cx="7772400" cy="283543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（周期性方波输出）：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软件启动，自动重复计数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输出对称方波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当计数初值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为偶数时，输出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N/2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个高电平，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N/2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个低电平；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为奇数时，输出（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N+1)/2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个高电平，（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N-1)/2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个低电平。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34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1" y="3240487"/>
            <a:ext cx="8947150" cy="286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6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932420"/>
            <a:ext cx="7772400" cy="185890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（软件触发单次负脉冲输出）：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软件启动，不自动重复计数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计数结束输出一个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宽度的低电平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95" y="2957174"/>
            <a:ext cx="8717855" cy="328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0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932420"/>
            <a:ext cx="7772400" cy="172655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（硬件触发单次负脉冲输出）：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硬件启动，不自动重复计数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波形与方式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相同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36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1" y="2845439"/>
            <a:ext cx="8760527" cy="321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3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的工作方式小结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93791" y="1304648"/>
            <a:ext cx="7772400" cy="4109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需要两个写脉冲（两次写操作）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个写脉冲写入控制字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个写脉冲写入计数初值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不同的工作方式，有不同的计数启动方法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可根据对输出波形的要求，选择不同的工作方式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能输出连续波形的只有方式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和方式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59233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的工作方式小结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932420"/>
            <a:ext cx="7772400" cy="53961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，写入控制字后，输出端变低，计数结束，输出端由低变高，常用该信号作为中断源。其余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种方式写入控制字后，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均变高；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用来产生单脉冲信号；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用来产生负脉冲序列，负脉冲宽度与时钟信号周期相同；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类似方式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，也是产生负脉冲序列，只是序列为方波；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和方式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的输出波形相同，都是在计数器减为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时，在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OUT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端输出一个负脉冲，其宽度等于一个时钟周期。区别是，方式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由软件触发计数，方式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由硬件触发计数；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中方式中，方式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，计数初值仅一次有效，继续计数还需再次输入计数初值，其他方式计数初值重复有效。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55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的应用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1517211"/>
            <a:ext cx="7978474" cy="419247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8.3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：某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8086 CPU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系统中使用了一片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8253,3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个计数器所用的时钟频率均为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1MHz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的端口地址为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310H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312H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314H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316H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，要求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个计数器通道分别完成以下功能：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通道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工作于方式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，输出频率为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2kHz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的方波；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通道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当门控信号上升沿到来时，产生宽度为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320μs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负的单脉冲；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通道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用硬件方式触发，输出一个时钟周期的负脉冲，要求时间间隔常数设置为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45.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67370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的应用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40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96" y="1103202"/>
            <a:ext cx="7387389" cy="550290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E534191-2176-4756-9C88-13583782FA70}"/>
              </a:ext>
            </a:extLst>
          </p:cNvPr>
          <p:cNvSpPr txBox="1"/>
          <p:nvPr/>
        </p:nvSpPr>
        <p:spPr>
          <a:xfrm flipH="1">
            <a:off x="6213274" y="6074361"/>
            <a:ext cx="2069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时间间隔常数为</a:t>
            </a: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45</a:t>
            </a:r>
            <a:endParaRPr lang="zh-CN" altLang="en-US" sz="16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85933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的应用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932420"/>
            <a:ext cx="7978474" cy="121535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工作于方式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，计数初值为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1MHz/2kHz=500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，如果采用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BCD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计数，则控制字为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00100111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27H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181859" y="2803084"/>
            <a:ext cx="6196263" cy="2808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316H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控制字端口地址为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316H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AL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27H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计数器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0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的控制字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OUT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输出控制字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310H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计数器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0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的端口地址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AL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05H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计数器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0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初值的高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8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位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OUT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输出计数器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0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  <a:cs typeface="DejaVu Sans Mono" panose="020B0609030804020204" pitchFamily="49" charset="0"/>
              </a:rPr>
              <a:t>的初值</a:t>
            </a:r>
            <a:endParaRPr lang="zh-CN" altLang="en-US" sz="2000" dirty="0">
              <a:effectLst/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7097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的应用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932420"/>
            <a:ext cx="7978474" cy="117344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工作于方式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，计数初值为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1MHz×320μs=320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，如果采用二进制计数，则控制字为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01110010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72H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181859" y="2510524"/>
            <a:ext cx="619626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316H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控制字端口地址为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316H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72H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计数器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的控制字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输出控制字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312H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计数器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的端口地址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320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计数器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的初值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输出初值的低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位</a:t>
            </a:r>
            <a:endParaRPr lang="en-US" altLang="zh-CN" sz="2000" dirty="0">
              <a:solidFill>
                <a:srgbClr val="008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AH</a:t>
            </a:r>
            <a:endParaRPr lang="en-US" altLang="zh-CN" sz="2000" dirty="0">
              <a:solidFill>
                <a:srgbClr val="008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输出初值的高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位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471398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的应用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932420"/>
            <a:ext cx="7978474" cy="123908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工作于方式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，如果采用二进制计数，则控制字为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10011010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9AH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181859" y="2803084"/>
            <a:ext cx="6196263" cy="2808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316H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控制字端口地址为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316H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9AH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计数器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的控制字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输出控制字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314H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计数器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的端口地址</a:t>
            </a:r>
            <a:r>
              <a:rPr lang="zh-CN" altLang="en-US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45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计数器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的初值</a:t>
            </a:r>
            <a:endParaRPr lang="en-US" altLang="zh-CN" sz="20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20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		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输出计数器</a:t>
            </a:r>
            <a:r>
              <a:rPr lang="en-US" altLang="zh-CN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的初值</a:t>
            </a:r>
            <a:endParaRPr lang="en-US" altLang="zh-CN" sz="2000" dirty="0">
              <a:solidFill>
                <a:srgbClr val="008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96378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8253</a:t>
            </a:r>
            <a:r>
              <a:rPr lang="zh-CN" altLang="en-US" dirty="0">
                <a:latin typeface="+mj-ea"/>
              </a:rPr>
              <a:t>的应用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932420"/>
            <a:ext cx="7978474" cy="39050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8.4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：计数器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的时钟信号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CLK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1MHz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，需要输出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10Hz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的方波信号给中断控制器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8259A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，设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的地址为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80H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83H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，试完成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的初始化程序设计。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计数初值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=1MHz/10Hz=10 0000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，超出单个计数器的最大计数值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65536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，必须用两个计数器完成计数。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控制字：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00110110=36H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控制字：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01010110=56H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4469865" y="3267797"/>
            <a:ext cx="4477285" cy="156966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16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36H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计数器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的控制字</a:t>
            </a:r>
            <a:r>
              <a:rPr lang="zh-CN" altLang="en-US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83H</a:t>
            </a:r>
            <a:r>
              <a:rPr lang="en-US" altLang="zh-CN" sz="16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将控制字输出至控制字端口</a:t>
            </a:r>
            <a:r>
              <a:rPr lang="zh-CN" altLang="en-US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AX</a:t>
            </a:r>
            <a:r>
              <a:rPr lang="en-US" altLang="zh-CN" sz="16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1000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计数器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的初值</a:t>
            </a:r>
            <a:r>
              <a:rPr lang="zh-CN" altLang="en-US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80H</a:t>
            </a:r>
            <a:r>
              <a:rPr lang="en-US" altLang="zh-CN" sz="16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将初值的低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位输出至计数器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16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AH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80H</a:t>
            </a:r>
            <a:r>
              <a:rPr lang="en-US" altLang="zh-CN" sz="16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将初值的高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位输出至计数器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0</a:t>
            </a:r>
            <a:endParaRPr lang="zh-CN" altLang="en-US" sz="1600" dirty="0">
              <a:effectLst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69865" y="5001938"/>
            <a:ext cx="4475747" cy="10772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16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56H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计数器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的控制字</a:t>
            </a:r>
            <a:r>
              <a:rPr lang="zh-CN" altLang="en-US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83H</a:t>
            </a:r>
            <a:r>
              <a:rPr lang="en-US" altLang="zh-CN" sz="16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将控制字输出至控制字端口</a:t>
            </a:r>
            <a:r>
              <a:rPr lang="zh-CN" altLang="en-US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MOV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AX</a:t>
            </a:r>
            <a:r>
              <a:rPr lang="en-US" altLang="zh-CN" sz="16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100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计数器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的初值</a:t>
            </a:r>
            <a:r>
              <a:rPr lang="zh-CN" altLang="en-US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DejaVu Sans Mono" panose="020B0609030804020204" pitchFamily="49" charset="0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OUT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81H</a:t>
            </a:r>
            <a:r>
              <a:rPr lang="en-US" altLang="zh-CN" sz="1600" b="1" dirty="0">
                <a:solidFill>
                  <a:srgbClr val="00008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8080FF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AL</a:t>
            </a:r>
            <a:r>
              <a:rPr lang="en-US" altLang="zh-CN" sz="1600" dirty="0">
                <a:solidFill>
                  <a:srgbClr val="000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将初值的低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位输出至计数器</a:t>
            </a:r>
            <a:r>
              <a:rPr lang="en-US" altLang="zh-CN" sz="1600" dirty="0">
                <a:solidFill>
                  <a:srgbClr val="008000"/>
                </a:solidFill>
                <a:latin typeface="DejaVu Sans Mono" panose="020B0609030804020204" pitchFamily="49" charset="0"/>
                <a:ea typeface="微软雅黑" panose="020B0503020204020204" pitchFamily="34" charset="-122"/>
              </a:rPr>
              <a:t>1</a:t>
            </a:r>
            <a:endParaRPr lang="zh-CN" altLang="en-US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4623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8.2 8253</a:t>
            </a:r>
            <a:r>
              <a:rPr lang="zh-CN" altLang="en-US" dirty="0">
                <a:latin typeface="+mj-ea"/>
              </a:rPr>
              <a:t>的应用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1421518"/>
            <a:ext cx="7978474" cy="290593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PC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中的应用：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用于时钟定时（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40H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用于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DRAM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刷新定时（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41H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用于扬声器声调控制（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42H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19947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本章总结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1421518"/>
            <a:ext cx="7978474" cy="29059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内部结构和引脚功能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的工作方式和初始化编程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8253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的应用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3036881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t3zu5psa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12793</TotalTime>
  <Words>3065</Words>
  <Application>Microsoft Office PowerPoint</Application>
  <PresentationFormat>全屏显示(4:3)</PresentationFormat>
  <Paragraphs>424</Paragraphs>
  <Slides>46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7" baseType="lpstr">
      <vt:lpstr>等线</vt:lpstr>
      <vt:lpstr>仿宋</vt:lpstr>
      <vt:lpstr>黑体</vt:lpstr>
      <vt:lpstr>Microsoft YaHei</vt:lpstr>
      <vt:lpstr>Arial</vt:lpstr>
      <vt:lpstr>Cambria Math</vt:lpstr>
      <vt:lpstr>DejaVu Sans Mono</vt:lpstr>
      <vt:lpstr>Tahoma</vt:lpstr>
      <vt:lpstr>Times New Roman</vt:lpstr>
      <vt:lpstr>Wingdings</vt:lpstr>
      <vt:lpstr>Blends</vt:lpstr>
      <vt:lpstr>第8章 定时与计数器</vt:lpstr>
      <vt:lpstr>重点</vt:lpstr>
      <vt:lpstr>定时与计数</vt:lpstr>
      <vt:lpstr>定时与计数</vt:lpstr>
      <vt:lpstr>8253的工作原理</vt:lpstr>
      <vt:lpstr>8253的引脚</vt:lpstr>
      <vt:lpstr>8253的引脚</vt:lpstr>
      <vt:lpstr>8253的内部结构</vt:lpstr>
      <vt:lpstr>8253的结构特点</vt:lpstr>
      <vt:lpstr>8253的内部结构</vt:lpstr>
      <vt:lpstr>8253的内部结构</vt:lpstr>
      <vt:lpstr>8253的内部结构</vt:lpstr>
      <vt:lpstr>8253的内部结构</vt:lpstr>
      <vt:lpstr>8253的内部结构</vt:lpstr>
      <vt:lpstr>8253的内部结构</vt:lpstr>
      <vt:lpstr>8253的内部结构</vt:lpstr>
      <vt:lpstr>8253的初始化编程</vt:lpstr>
      <vt:lpstr>8253的初始化编程</vt:lpstr>
      <vt:lpstr>8253的初始化编程</vt:lpstr>
      <vt:lpstr>8253的初始化编程</vt:lpstr>
      <vt:lpstr>8253的初始化编程</vt:lpstr>
      <vt:lpstr>8253计数启动方式</vt:lpstr>
      <vt:lpstr>8253的工作方式</vt:lpstr>
      <vt:lpstr>8253的工作方式</vt:lpstr>
      <vt:lpstr>8253的工作方式</vt:lpstr>
      <vt:lpstr>8253的工作方式</vt:lpstr>
      <vt:lpstr>8253的工作方式</vt:lpstr>
      <vt:lpstr>8253的工作方式</vt:lpstr>
      <vt:lpstr>8253的工作方式</vt:lpstr>
      <vt:lpstr>8253的工作方式</vt:lpstr>
      <vt:lpstr>8253的工作方式</vt:lpstr>
      <vt:lpstr>8253的工作方式</vt:lpstr>
      <vt:lpstr>8253的工作方式</vt:lpstr>
      <vt:lpstr>8253的工作方式</vt:lpstr>
      <vt:lpstr>8253的工作方式</vt:lpstr>
      <vt:lpstr>8253的工作方式</vt:lpstr>
      <vt:lpstr>8253的工作方式小结</vt:lpstr>
      <vt:lpstr>8253的工作方式小结</vt:lpstr>
      <vt:lpstr>8253的应用</vt:lpstr>
      <vt:lpstr>8253的应用</vt:lpstr>
      <vt:lpstr>8253的应用</vt:lpstr>
      <vt:lpstr>8253的应用</vt:lpstr>
      <vt:lpstr>8253的应用</vt:lpstr>
      <vt:lpstr>8253的应用</vt:lpstr>
      <vt:lpstr>8.2 8253的应用</vt:lpstr>
      <vt:lpstr>本章总结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微机原理及应用</dc:title>
  <dc:creator>han jihui</dc:creator>
  <cp:lastModifiedBy>许 刚</cp:lastModifiedBy>
  <cp:revision>810</cp:revision>
  <dcterms:created xsi:type="dcterms:W3CDTF">2018-08-29T00:41:07Z</dcterms:created>
  <dcterms:modified xsi:type="dcterms:W3CDTF">2023-01-09T13:25:16Z</dcterms:modified>
</cp:coreProperties>
</file>