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07"/>
  </p:notesMasterIdLst>
  <p:sldIdLst>
    <p:sldId id="256" r:id="rId3"/>
    <p:sldId id="387" r:id="rId4"/>
    <p:sldId id="522" r:id="rId5"/>
    <p:sldId id="523" r:id="rId6"/>
    <p:sldId id="524" r:id="rId7"/>
    <p:sldId id="525" r:id="rId8"/>
    <p:sldId id="526" r:id="rId9"/>
    <p:sldId id="528" r:id="rId10"/>
    <p:sldId id="527" r:id="rId11"/>
    <p:sldId id="529" r:id="rId12"/>
    <p:sldId id="530" r:id="rId13"/>
    <p:sldId id="531" r:id="rId14"/>
    <p:sldId id="532" r:id="rId15"/>
    <p:sldId id="533" r:id="rId16"/>
    <p:sldId id="534" r:id="rId17"/>
    <p:sldId id="535" r:id="rId18"/>
    <p:sldId id="536" r:id="rId19"/>
    <p:sldId id="537" r:id="rId20"/>
    <p:sldId id="538" r:id="rId21"/>
    <p:sldId id="539" r:id="rId22"/>
    <p:sldId id="540" r:id="rId23"/>
    <p:sldId id="541" r:id="rId24"/>
    <p:sldId id="542" r:id="rId25"/>
    <p:sldId id="543" r:id="rId26"/>
    <p:sldId id="544" r:id="rId27"/>
    <p:sldId id="545" r:id="rId28"/>
    <p:sldId id="546" r:id="rId29"/>
    <p:sldId id="547" r:id="rId30"/>
    <p:sldId id="548" r:id="rId31"/>
    <p:sldId id="549" r:id="rId32"/>
    <p:sldId id="550" r:id="rId33"/>
    <p:sldId id="551" r:id="rId34"/>
    <p:sldId id="552" r:id="rId35"/>
    <p:sldId id="553" r:id="rId36"/>
    <p:sldId id="554" r:id="rId37"/>
    <p:sldId id="555" r:id="rId38"/>
    <p:sldId id="556" r:id="rId39"/>
    <p:sldId id="557" r:id="rId40"/>
    <p:sldId id="558" r:id="rId41"/>
    <p:sldId id="559" r:id="rId42"/>
    <p:sldId id="560" r:id="rId43"/>
    <p:sldId id="561" r:id="rId44"/>
    <p:sldId id="562" r:id="rId45"/>
    <p:sldId id="563" r:id="rId46"/>
    <p:sldId id="564" r:id="rId47"/>
    <p:sldId id="565" r:id="rId48"/>
    <p:sldId id="566" r:id="rId49"/>
    <p:sldId id="567" r:id="rId50"/>
    <p:sldId id="568" r:id="rId51"/>
    <p:sldId id="569" r:id="rId52"/>
    <p:sldId id="570" r:id="rId53"/>
    <p:sldId id="571" r:id="rId54"/>
    <p:sldId id="572" r:id="rId55"/>
    <p:sldId id="573" r:id="rId56"/>
    <p:sldId id="575" r:id="rId57"/>
    <p:sldId id="576" r:id="rId58"/>
    <p:sldId id="577" r:id="rId59"/>
    <p:sldId id="578" r:id="rId60"/>
    <p:sldId id="579" r:id="rId61"/>
    <p:sldId id="580" r:id="rId62"/>
    <p:sldId id="590" r:id="rId63"/>
    <p:sldId id="581" r:id="rId64"/>
    <p:sldId id="582" r:id="rId65"/>
    <p:sldId id="583" r:id="rId66"/>
    <p:sldId id="584" r:id="rId67"/>
    <p:sldId id="585" r:id="rId68"/>
    <p:sldId id="587" r:id="rId69"/>
    <p:sldId id="586" r:id="rId70"/>
    <p:sldId id="588" r:id="rId71"/>
    <p:sldId id="589" r:id="rId72"/>
    <p:sldId id="591" r:id="rId73"/>
    <p:sldId id="592" r:id="rId74"/>
    <p:sldId id="593" r:id="rId75"/>
    <p:sldId id="594" r:id="rId76"/>
    <p:sldId id="595" r:id="rId77"/>
    <p:sldId id="596" r:id="rId78"/>
    <p:sldId id="597" r:id="rId79"/>
    <p:sldId id="598" r:id="rId80"/>
    <p:sldId id="599" r:id="rId81"/>
    <p:sldId id="600" r:id="rId82"/>
    <p:sldId id="601" r:id="rId83"/>
    <p:sldId id="602" r:id="rId84"/>
    <p:sldId id="603" r:id="rId85"/>
    <p:sldId id="1187" r:id="rId86"/>
    <p:sldId id="1183" r:id="rId87"/>
    <p:sldId id="1164" r:id="rId88"/>
    <p:sldId id="1167" r:id="rId89"/>
    <p:sldId id="1168" r:id="rId90"/>
    <p:sldId id="1169" r:id="rId91"/>
    <p:sldId id="1170" r:id="rId92"/>
    <p:sldId id="1171" r:id="rId93"/>
    <p:sldId id="1185" r:id="rId94"/>
    <p:sldId id="1172" r:id="rId95"/>
    <p:sldId id="1184" r:id="rId96"/>
    <p:sldId id="1173" r:id="rId97"/>
    <p:sldId id="1174" r:id="rId98"/>
    <p:sldId id="1175" r:id="rId99"/>
    <p:sldId id="1186" r:id="rId100"/>
    <p:sldId id="1176" r:id="rId101"/>
    <p:sldId id="1177" r:id="rId102"/>
    <p:sldId id="1178" r:id="rId103"/>
    <p:sldId id="1179" r:id="rId104"/>
    <p:sldId id="1180" r:id="rId105"/>
    <p:sldId id="520" r:id="rId10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3724" autoAdjust="0"/>
  </p:normalViewPr>
  <p:slideViewPr>
    <p:cSldViewPr snapToGrid="0">
      <p:cViewPr varScale="1">
        <p:scale>
          <a:sx n="66" d="100"/>
          <a:sy n="66" d="100"/>
        </p:scale>
        <p:origin x="12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presProps" Target="pres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viewProps" Target="viewProp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7AF06-B910-4FC9-9BDF-444651DFDC50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81490-3D7F-4885-8672-336239E0E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475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系统自检、系统初始化、输入输出驱动程序等大多数都是汇编语言编写的。</a:t>
            </a:r>
            <a:endParaRPr lang="en-US" altLang="zh-CN" dirty="0"/>
          </a:p>
          <a:p>
            <a:pPr eaLnBrk="1" hangingPunct="1"/>
            <a:r>
              <a:rPr lang="zh-CN" altLang="en-US" dirty="0"/>
              <a:t>目标代码小，执行速度快，效率高，实时性强，通常用在实时通信程序或实时控制程序等。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54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转换过程中有语法错误，提示修改，直至无语法错误为止。</a:t>
            </a:r>
            <a:endParaRPr lang="en-US" altLang="zh-CN" dirty="0"/>
          </a:p>
          <a:p>
            <a:pPr eaLnBrk="1" hangingPunct="1"/>
            <a:r>
              <a:rPr lang="zh-CN" altLang="en-US" dirty="0"/>
              <a:t>目标程序需要经过连接形成可执行程序，确定指令地址，多目标文件连接，和其他高级语言目标程序进行连接。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625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320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30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862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538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latin typeface="+mn-ea"/>
                <a:ea typeface="+mn-ea"/>
              </a:rPr>
              <a:t>EXE</a:t>
            </a:r>
            <a:r>
              <a:rPr lang="zh-CN" altLang="en-US" sz="1200" dirty="0">
                <a:latin typeface="+mn-ea"/>
                <a:ea typeface="+mn-ea"/>
              </a:rPr>
              <a:t>文件由文件头和程序本身的二进制代码两部分组成。</a:t>
            </a:r>
            <a:endParaRPr lang="en-US" altLang="zh-CN" sz="12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latin typeface="+mn-ea"/>
                <a:ea typeface="+mn-ea"/>
              </a:rPr>
              <a:t>文件头也称程序段前缀</a:t>
            </a:r>
            <a:r>
              <a:rPr lang="en-US" altLang="zh-CN" sz="1200" dirty="0">
                <a:latin typeface="+mn-ea"/>
                <a:ea typeface="+mn-ea"/>
              </a:rPr>
              <a:t>PSP</a:t>
            </a:r>
            <a:r>
              <a:rPr lang="zh-CN" altLang="en-US" sz="1200" dirty="0">
                <a:latin typeface="+mn-ea"/>
                <a:ea typeface="+mn-ea"/>
              </a:rPr>
              <a:t>，占</a:t>
            </a:r>
            <a:r>
              <a:rPr lang="en-US" altLang="zh-CN" sz="1200" dirty="0">
                <a:latin typeface="+mn-ea"/>
                <a:ea typeface="+mn-ea"/>
              </a:rPr>
              <a:t>256B</a:t>
            </a:r>
            <a:r>
              <a:rPr lang="zh-CN" altLang="en-US" sz="1200" dirty="0">
                <a:latin typeface="+mn-ea"/>
                <a:ea typeface="+mn-ea"/>
              </a:rPr>
              <a:t>，其内容是</a:t>
            </a:r>
            <a:r>
              <a:rPr lang="en-US" altLang="zh-CN" sz="1200" dirty="0">
                <a:latin typeface="+mn-ea"/>
                <a:ea typeface="+mn-ea"/>
              </a:rPr>
              <a:t>DOS</a:t>
            </a:r>
            <a:r>
              <a:rPr lang="zh-CN" altLang="en-US" sz="1200" dirty="0">
                <a:latin typeface="+mn-ea"/>
                <a:ea typeface="+mn-ea"/>
              </a:rPr>
              <a:t>装载可执行文件时自动生成的，</a:t>
            </a:r>
            <a:r>
              <a:rPr lang="en-US" altLang="zh-CN" sz="1200" dirty="0">
                <a:latin typeface="+mn-ea"/>
                <a:ea typeface="+mn-ea"/>
              </a:rPr>
              <a:t>DOS</a:t>
            </a:r>
            <a:r>
              <a:rPr lang="zh-CN" altLang="en-US" sz="1200" dirty="0">
                <a:latin typeface="+mn-ea"/>
                <a:ea typeface="+mn-ea"/>
              </a:rPr>
              <a:t>通过</a:t>
            </a:r>
            <a:r>
              <a:rPr lang="en-US" altLang="zh-CN" sz="1200" dirty="0">
                <a:latin typeface="+mn-ea"/>
                <a:ea typeface="+mn-ea"/>
              </a:rPr>
              <a:t>PSP</a:t>
            </a:r>
            <a:r>
              <a:rPr lang="zh-CN" altLang="en-US" sz="1200" dirty="0">
                <a:latin typeface="+mn-ea"/>
                <a:ea typeface="+mn-ea"/>
              </a:rPr>
              <a:t>管理用户程序。</a:t>
            </a:r>
            <a:endParaRPr lang="en-US" altLang="zh-CN" sz="12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latin typeface="+mn-ea"/>
                <a:ea typeface="+mn-ea"/>
              </a:rPr>
              <a:t>程序结束返回</a:t>
            </a:r>
            <a:r>
              <a:rPr lang="en-US" altLang="zh-CN" sz="1200" dirty="0">
                <a:latin typeface="+mn-ea"/>
                <a:ea typeface="+mn-ea"/>
              </a:rPr>
              <a:t>DOS</a:t>
            </a:r>
            <a:r>
              <a:rPr lang="zh-CN" altLang="en-US" sz="1200" dirty="0">
                <a:latin typeface="+mn-ea"/>
                <a:ea typeface="+mn-ea"/>
              </a:rPr>
              <a:t>后，</a:t>
            </a:r>
            <a:r>
              <a:rPr lang="en-US" altLang="zh-CN" sz="1200" dirty="0">
                <a:latin typeface="+mn-ea"/>
                <a:ea typeface="+mn-ea"/>
              </a:rPr>
              <a:t>PSP</a:t>
            </a:r>
            <a:r>
              <a:rPr lang="zh-CN" altLang="en-US" sz="1200" dirty="0">
                <a:latin typeface="+mn-ea"/>
                <a:ea typeface="+mn-ea"/>
              </a:rPr>
              <a:t>和用户程序所占用的空间均被释放。</a:t>
            </a:r>
            <a:endParaRPr lang="en-US" altLang="zh-CN" sz="12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latin typeface="+mn-ea"/>
                <a:ea typeface="+mn-ea"/>
              </a:rPr>
              <a:t>DS</a:t>
            </a:r>
            <a:r>
              <a:rPr lang="zh-CN" altLang="en-US" sz="1200" dirty="0">
                <a:latin typeface="+mn-ea"/>
                <a:ea typeface="+mn-ea"/>
              </a:rPr>
              <a:t>，</a:t>
            </a:r>
            <a:r>
              <a:rPr lang="en-US" altLang="zh-CN" sz="1200" dirty="0">
                <a:latin typeface="+mn-ea"/>
                <a:ea typeface="+mn-ea"/>
              </a:rPr>
              <a:t>ES</a:t>
            </a:r>
            <a:r>
              <a:rPr lang="zh-CN" altLang="en-US" sz="1200" dirty="0">
                <a:latin typeface="+mn-ea"/>
                <a:ea typeface="+mn-ea"/>
              </a:rPr>
              <a:t>，</a:t>
            </a:r>
            <a:r>
              <a:rPr lang="en-US" altLang="zh-CN" sz="1200" dirty="0">
                <a:latin typeface="+mn-ea"/>
                <a:ea typeface="+mn-ea"/>
              </a:rPr>
              <a:t>SS</a:t>
            </a:r>
            <a:r>
              <a:rPr lang="zh-CN" altLang="en-US" sz="1200" dirty="0">
                <a:latin typeface="+mn-ea"/>
                <a:ea typeface="+mn-ea"/>
              </a:rPr>
              <a:t>和</a:t>
            </a:r>
            <a:r>
              <a:rPr lang="en-US" altLang="zh-CN" sz="1200" dirty="0">
                <a:latin typeface="+mn-ea"/>
                <a:ea typeface="+mn-ea"/>
              </a:rPr>
              <a:t>CS</a:t>
            </a:r>
            <a:r>
              <a:rPr lang="zh-CN" altLang="en-US" sz="1200" dirty="0">
                <a:latin typeface="+mn-ea"/>
                <a:ea typeface="+mn-ea"/>
              </a:rPr>
              <a:t>由</a:t>
            </a:r>
            <a:r>
              <a:rPr lang="en-US" altLang="zh-CN" sz="1200" dirty="0">
                <a:latin typeface="+mn-ea"/>
                <a:ea typeface="+mn-ea"/>
              </a:rPr>
              <a:t>DOS</a:t>
            </a:r>
            <a:r>
              <a:rPr lang="zh-CN" altLang="en-US" sz="1200" dirty="0">
                <a:latin typeface="+mn-ea"/>
                <a:ea typeface="+mn-ea"/>
              </a:rPr>
              <a:t>自动赋值。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123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连接程序会将类别相同的段连续存放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109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如寄存器名（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AX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SI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等），伪指令（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SEGMENT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DB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等），指令助记符（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ADD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等），运算符（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GE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LT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等）和属性操作符（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PTR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OFFSET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等）。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578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195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454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925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186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常把具有一定功能的程序段设计成过程，供主程序调用，以避免重复编程，简化程序结构，便于阅读和修改。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551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0315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652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PSP</a:t>
            </a:r>
            <a:r>
              <a:rPr lang="zh-CN" altLang="en-US" dirty="0"/>
              <a:t>开始处安排了</a:t>
            </a:r>
            <a:r>
              <a:rPr lang="en-US" altLang="zh-CN" dirty="0"/>
              <a:t>INT 20H</a:t>
            </a:r>
            <a:r>
              <a:rPr lang="zh-CN" altLang="en-US" dirty="0"/>
              <a:t>中断指令，用于返回</a:t>
            </a:r>
            <a:r>
              <a:rPr lang="en-US" altLang="zh-CN" dirty="0"/>
              <a:t>DOS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638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网</a:t>
            </a:r>
            <a:r>
              <a:rPr lang="zh-CN" altLang="en-US"/>
              <a:t>工网开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332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4603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5588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685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5901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8894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假设</a:t>
            </a:r>
            <a:r>
              <a:rPr lang="en-US" altLang="zh-CN" dirty="0"/>
              <a:t>DATA</a:t>
            </a:r>
            <a:r>
              <a:rPr lang="zh-CN" altLang="en-US" dirty="0"/>
              <a:t>段起始于</a:t>
            </a:r>
            <a:r>
              <a:rPr lang="en-US" altLang="zh-CN" dirty="0"/>
              <a:t>32000H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0911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0465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0307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4378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6306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4643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9738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7647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6504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9593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5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8282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6830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1224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0636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1634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2147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+mn-ea"/>
              </a:rPr>
              <a:t>表达式必须具有常量值，如常数、地址表达式的偏移量等，不能对存储器或寄存器操作数进行分离。</a:t>
            </a: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0406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3308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+mn-ea"/>
              </a:rPr>
              <a:t>PTR</a:t>
            </a:r>
            <a:r>
              <a:rPr lang="zh-CN" altLang="en-US" sz="1200" dirty="0">
                <a:latin typeface="+mn-ea"/>
              </a:rPr>
              <a:t>本身不分配存储单元，仅对已分配的存储单元赋予新的属性；</a:t>
            </a:r>
          </a:p>
          <a:p>
            <a:pPr marL="342900" indent="-3429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常与类</a:t>
            </a:r>
            <a:r>
              <a:rPr lang="en-US" altLang="zh-CN" sz="1200" dirty="0">
                <a:latin typeface="+mn-ea"/>
              </a:rPr>
              <a:t>BYTE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WORD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DWORD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NEAR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FAR</a:t>
            </a:r>
            <a:r>
              <a:rPr lang="zh-CN" altLang="en-US" sz="1200" dirty="0">
                <a:latin typeface="+mn-ea"/>
              </a:rPr>
              <a:t>等连用。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8059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zh-CN" altLang="en-US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2800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zh-CN" altLang="en-US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0094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200" dirty="0">
                <a:latin typeface="+mn-ea"/>
              </a:rPr>
              <a:t>在 </a:t>
            </a:r>
            <a:r>
              <a:rPr lang="en-US" altLang="zh-CN" sz="1200" dirty="0">
                <a:latin typeface="+mn-ea"/>
              </a:rPr>
              <a:t>EQU </a:t>
            </a:r>
            <a:r>
              <a:rPr lang="zh-CN" altLang="en-US" sz="1200" dirty="0">
                <a:latin typeface="+mn-ea"/>
              </a:rPr>
              <a:t>语句右边表达式中的变量或标号，必须预先定义</a:t>
            </a: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2683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200" dirty="0">
                <a:latin typeface="+mn-ea"/>
              </a:rPr>
              <a:t>等价于：</a:t>
            </a:r>
            <a:r>
              <a:rPr lang="en-US" altLang="zh-CN" sz="1200" dirty="0">
                <a:latin typeface="+mn-ea"/>
              </a:rPr>
              <a:t>EQU THIS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1548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7779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200" dirty="0">
                <a:latin typeface="+mn-ea"/>
              </a:rPr>
              <a:t>01H, 00H, 02H, 00H, 07H, 10H, 02H, 10H, 34H, 12H, BBH, AAH, 0CH, 00H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0047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37343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2580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1351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63412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4364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1348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200" dirty="0">
                <a:latin typeface="+mn-ea"/>
              </a:rPr>
              <a:t>子程序参数传递方式：</a:t>
            </a:r>
            <a:endParaRPr lang="en-US" altLang="zh-CN" sz="1200" dirty="0">
              <a:latin typeface="+mn-ea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200" dirty="0">
                <a:latin typeface="+mn-ea"/>
              </a:rPr>
              <a:t>参数较少且精度要求低，一般通过寄存器传递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200" dirty="0">
                <a:latin typeface="+mn-ea"/>
              </a:rPr>
              <a:t>参数较多或要求精度较高，一般通过数据段的数据区传递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200" dirty="0">
                <a:latin typeface="+mn-ea"/>
              </a:rPr>
              <a:t>参数较多且子程序嵌套调用或递归调用时，通常用堆栈传递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2354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4276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27145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86327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86510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8820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可以由多个形参，形参可以是操作码，也可以是操作码一部分（用</a:t>
            </a:r>
            <a:r>
              <a:rPr lang="en-US" altLang="zh-CN" dirty="0"/>
              <a:t>&amp;</a:t>
            </a:r>
            <a:r>
              <a:rPr lang="zh-CN" altLang="en-US" dirty="0"/>
              <a:t>加在形参前以示区别）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60684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43088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25088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45021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88174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02798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0101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12907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29006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71179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95110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65686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73504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52564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67939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73617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63883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ABB649-6269-4EF7-8145-34953C6059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50055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here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ABB649-6269-4EF7-8145-34953C6059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36585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ABB649-6269-4EF7-8145-34953C6059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3088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97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81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47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94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81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48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1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29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326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40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213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/>
          <p:cNvSpPr>
            <a:spLocks noChangeArrowheads="1"/>
          </p:cNvSpPr>
          <p:nvPr/>
        </p:nvSpPr>
        <p:spPr bwMode="auto">
          <a:xfrm flipV="1">
            <a:off x="990600" y="3138489"/>
            <a:ext cx="7772400" cy="6523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980" name="Rectangle 12"/>
          <p:cNvSpPr>
            <a:spLocks noGrp="1" noChangeArrowheads="1"/>
          </p:cNvSpPr>
          <p:nvPr userDrawn="1"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11981" name="Rectangle 1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 userDrawn="1"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 userDrawn="1"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 userDrawn="1"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08B671-8216-4EF9-8434-627A322CDE0C}" type="slidenum">
              <a:rPr lang="zh-CN" altLang="en-US" smtClean="0">
                <a:solidFill>
                  <a:srgbClr val="1C1C1C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966349"/>
      </p:ext>
    </p:extLst>
  </p:cSld>
  <p:clrMapOvr>
    <a:masterClrMapping/>
  </p:clrMapOvr>
  <p:transition spd="slow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7772400" cy="4896544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spcAft>
                <a:spcPts val="600"/>
              </a:spcAft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482256"/>
      </p:ext>
    </p:extLst>
  </p:cSld>
  <p:clrMapOvr>
    <a:masterClrMapping/>
  </p:clrMapOvr>
  <p:transition spd="slow"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457200"/>
            <a:ext cx="8543041" cy="5492080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spcAft>
                <a:spcPts val="600"/>
              </a:spcAft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4719926"/>
      </p:ext>
    </p:extLst>
  </p:cSld>
  <p:clrMapOvr>
    <a:masterClrMapping/>
  </p:clrMapOvr>
  <p:transition spd="slow"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769C75-8878-4114-8CBA-F72D9DCAF88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3473" y="141041"/>
            <a:ext cx="7793037" cy="6236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663378"/>
      </p:ext>
    </p:extLst>
  </p:cSld>
  <p:clrMapOvr>
    <a:masterClrMapping/>
  </p:clrMapOvr>
  <p:transition spd="slow"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7561879"/>
      </p:ext>
    </p:extLst>
  </p:cSld>
  <p:clrMapOvr>
    <a:masterClrMapping/>
  </p:clrMapOvr>
  <p:transition spd="slow"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3472" y="1052736"/>
            <a:ext cx="3960000" cy="4824536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8025" y="1055758"/>
            <a:ext cx="3960440" cy="4821514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72C5FA0-9562-4180-BE77-AA42E81C45F5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383473" y="141041"/>
            <a:ext cx="7793037" cy="6236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863719"/>
      </p:ext>
    </p:extLst>
  </p:cSld>
  <p:clrMapOvr>
    <a:masterClrMapping/>
  </p:clrMapOvr>
  <p:transition spd="slow"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BE0765F-06A5-43C1-862E-10815676DC43}" type="datetime10">
              <a:rPr lang="zh-CN" altLang="en-US"/>
              <a:pPr/>
              <a:t>16:01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36F8B4B-BCA2-4B44-B766-8837114863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26841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81BCD-E550-44B9-AAE1-9BB76BE53C8A}" type="datetimeFigureOut">
              <a:rPr lang="zh-CN" altLang="en-US" smtClean="0"/>
              <a:t>2022-10-14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3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83473" y="141041"/>
            <a:ext cx="7793037" cy="62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249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3472" y="1052736"/>
            <a:ext cx="77724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09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Tahom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612A3A-8E49-4F2E-A26F-49B27473F1B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376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transition spd="slow">
    <p:zoom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60000"/>
        <a:buFont typeface="Wingdings" panose="05000000000000000000" pitchFamily="2" charset="2"/>
        <a:buChar char="l"/>
        <a:defRPr sz="2800" b="0">
          <a:solidFill>
            <a:schemeClr val="tx2"/>
          </a:solidFill>
          <a:latin typeface="+mj-ea"/>
          <a:ea typeface="+mj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hlink"/>
        </a:buClr>
        <a:buSzPct val="55000"/>
        <a:buFont typeface="Wingdings" panose="05000000000000000000" pitchFamily="2" charset="2"/>
        <a:buChar char="l"/>
        <a:defRPr sz="2400" b="0">
          <a:solidFill>
            <a:schemeClr val="tx1"/>
          </a:solidFill>
          <a:latin typeface="+mj-ea"/>
          <a:ea typeface="+mj-ea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5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813514"/>
            <a:ext cx="439094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汇编语言程序设计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汇编程序设计概述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汇编程序结构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汇编程序格式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汇编程序设计基本方法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系统功能调用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汇编程序编译与调试</a:t>
            </a:r>
          </a:p>
        </p:txBody>
      </p:sp>
    </p:spTree>
    <p:extLst>
      <p:ext uri="{BB962C8B-B14F-4D97-AF65-F5344CB8AC3E}">
        <p14:creationId xmlns:p14="http://schemas.microsoft.com/office/powerpoint/2010/main" val="135610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汇编语言特点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2443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符号化的机器指令，与硬件紧密相关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系统自检、初始化、输入输出驱动程序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目标代码小、效率高、速度快、实时性强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直接调用操作系统的中断处理程序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C3C1ED-ACC6-4C26-8A83-E588F5E52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238" y="4125643"/>
            <a:ext cx="5009524" cy="2114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065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汇编程序编译过程</a:t>
            </a:r>
          </a:p>
        </p:txBody>
      </p:sp>
      <p:sp>
        <p:nvSpPr>
          <p:cNvPr id="13" name="圆角矩形 3">
            <a:extLst>
              <a:ext uri="{FF2B5EF4-FFF2-40B4-BE49-F238E27FC236}">
                <a16:creationId xmlns:a16="http://schemas.microsoft.com/office/drawing/2014/main" id="{D9298371-4B95-46CE-9D93-BF6DBE99ADFD}"/>
              </a:ext>
            </a:extLst>
          </p:cNvPr>
          <p:cNvSpPr/>
          <p:nvPr/>
        </p:nvSpPr>
        <p:spPr bwMode="auto">
          <a:xfrm>
            <a:off x="2901094" y="1312359"/>
            <a:ext cx="2626760" cy="808775"/>
          </a:xfrm>
          <a:prstGeom prst="roundRect">
            <a:avLst/>
          </a:prstGeom>
          <a:solidFill>
            <a:srgbClr val="00E4A8"/>
          </a:solidFill>
          <a:ln w="12700" cap="sq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汇编语言源程序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.ASM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8">
            <a:extLst>
              <a:ext uri="{FF2B5EF4-FFF2-40B4-BE49-F238E27FC236}">
                <a16:creationId xmlns:a16="http://schemas.microsoft.com/office/drawing/2014/main" id="{AB939267-DC5C-4DE0-8663-FDB97A3FC39E}"/>
              </a:ext>
            </a:extLst>
          </p:cNvPr>
          <p:cNvSpPr/>
          <p:nvPr/>
        </p:nvSpPr>
        <p:spPr bwMode="auto">
          <a:xfrm>
            <a:off x="2901094" y="3374469"/>
            <a:ext cx="2626760" cy="808775"/>
          </a:xfrm>
          <a:prstGeom prst="roundRect">
            <a:avLst/>
          </a:prstGeom>
          <a:solidFill>
            <a:srgbClr val="00E4A8"/>
          </a:solidFill>
          <a:ln w="12700" cap="sq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目标程序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.OBJ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9">
            <a:extLst>
              <a:ext uri="{FF2B5EF4-FFF2-40B4-BE49-F238E27FC236}">
                <a16:creationId xmlns:a16="http://schemas.microsoft.com/office/drawing/2014/main" id="{B7E53FDF-4359-4FF4-A965-7B3CD4DFBD50}"/>
              </a:ext>
            </a:extLst>
          </p:cNvPr>
          <p:cNvSpPr/>
          <p:nvPr/>
        </p:nvSpPr>
        <p:spPr bwMode="auto">
          <a:xfrm>
            <a:off x="2901094" y="5436578"/>
            <a:ext cx="2626760" cy="808775"/>
          </a:xfrm>
          <a:prstGeom prst="roundRect">
            <a:avLst/>
          </a:prstGeom>
          <a:solidFill>
            <a:srgbClr val="00E4A8"/>
          </a:solidFill>
          <a:ln w="12700" cap="sq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可执行程序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.EXE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1300BF6-2517-4D7C-81F7-E7C377E8D2F3}"/>
              </a:ext>
            </a:extLst>
          </p:cNvPr>
          <p:cNvCxnSpPr>
            <a:stCxn id="13" idx="2"/>
            <a:endCxn id="14" idx="0"/>
          </p:cNvCxnSpPr>
          <p:nvPr/>
        </p:nvCxnSpPr>
        <p:spPr bwMode="auto">
          <a:xfrm>
            <a:off x="4214474" y="2121134"/>
            <a:ext cx="0" cy="1253335"/>
          </a:xfrm>
          <a:prstGeom prst="straightConnector1">
            <a:avLst/>
          </a:prstGeom>
          <a:solidFill>
            <a:srgbClr val="00E4A8"/>
          </a:solidFill>
          <a:ln w="38100" cap="sq" cmpd="sng" algn="ctr">
            <a:solidFill>
              <a:srgbClr val="000000"/>
            </a:solidFill>
            <a:prstDash val="solid"/>
            <a:round/>
            <a:headEnd type="none" w="sm" len="sm"/>
            <a:tailEnd type="triangle" w="lg" len="lg"/>
          </a:ln>
          <a:effectLst/>
        </p:spPr>
      </p:cxnSp>
      <p:sp>
        <p:nvSpPr>
          <p:cNvPr id="17" name="圆角矩形 22">
            <a:extLst>
              <a:ext uri="{FF2B5EF4-FFF2-40B4-BE49-F238E27FC236}">
                <a16:creationId xmlns:a16="http://schemas.microsoft.com/office/drawing/2014/main" id="{B1CE0578-1CD7-468E-B43C-33E1FEEED3A6}"/>
              </a:ext>
            </a:extLst>
          </p:cNvPr>
          <p:cNvSpPr/>
          <p:nvPr/>
        </p:nvSpPr>
        <p:spPr bwMode="auto">
          <a:xfrm>
            <a:off x="4415390" y="2470105"/>
            <a:ext cx="2626760" cy="555391"/>
          </a:xfrm>
          <a:prstGeom prst="roundRect">
            <a:avLst/>
          </a:prstGeom>
          <a:noFill/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MASM.EXE</a:t>
            </a: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4332E45-DFFD-415B-8B2A-C1094B6C7E6B}"/>
              </a:ext>
            </a:extLst>
          </p:cNvPr>
          <p:cNvCxnSpPr/>
          <p:nvPr/>
        </p:nvCxnSpPr>
        <p:spPr bwMode="auto">
          <a:xfrm>
            <a:off x="4214474" y="4183244"/>
            <a:ext cx="0" cy="1253335"/>
          </a:xfrm>
          <a:prstGeom prst="straightConnector1">
            <a:avLst/>
          </a:prstGeom>
          <a:solidFill>
            <a:srgbClr val="00E4A8"/>
          </a:solidFill>
          <a:ln w="38100" cap="sq" cmpd="sng" algn="ctr">
            <a:solidFill>
              <a:srgbClr val="000000"/>
            </a:solidFill>
            <a:prstDash val="solid"/>
            <a:round/>
            <a:headEnd type="none" w="sm" len="sm"/>
            <a:tailEnd type="triangle" w="lg" len="lg"/>
          </a:ln>
          <a:effectLst/>
        </p:spPr>
      </p:cxnSp>
      <p:sp>
        <p:nvSpPr>
          <p:cNvPr id="19" name="圆角矩形 24">
            <a:extLst>
              <a:ext uri="{FF2B5EF4-FFF2-40B4-BE49-F238E27FC236}">
                <a16:creationId xmlns:a16="http://schemas.microsoft.com/office/drawing/2014/main" id="{ECCF8553-F1C3-48CA-BDEF-16E14A3A98D8}"/>
              </a:ext>
            </a:extLst>
          </p:cNvPr>
          <p:cNvSpPr/>
          <p:nvPr/>
        </p:nvSpPr>
        <p:spPr bwMode="auto">
          <a:xfrm>
            <a:off x="4415390" y="4532215"/>
            <a:ext cx="2626760" cy="555391"/>
          </a:xfrm>
          <a:prstGeom prst="roundRect">
            <a:avLst/>
          </a:prstGeom>
          <a:noFill/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LINK.EXE</a:t>
            </a: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4064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汇编语言语句分类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3059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语句是汇编语言程序的基本组成单位，在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8086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宏汇编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MASM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中使用的语句有以下三类：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指令语句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伪指令语句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宏指令语句</a:t>
            </a:r>
          </a:p>
        </p:txBody>
      </p:sp>
    </p:spTree>
    <p:extLst>
      <p:ext uri="{BB962C8B-B14F-4D97-AF65-F5344CB8AC3E}">
        <p14:creationId xmlns:p14="http://schemas.microsoft.com/office/powerpoint/2010/main" val="324674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指令语句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1212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8086/8088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指令系统中的各条指令；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每条指令都对应机器语言目标代码，也即对应着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的一种操作。</a:t>
            </a:r>
          </a:p>
        </p:txBody>
      </p:sp>
    </p:spTree>
    <p:extLst>
      <p:ext uri="{BB962C8B-B14F-4D97-AF65-F5344CB8AC3E}">
        <p14:creationId xmlns:p14="http://schemas.microsoft.com/office/powerpoint/2010/main" val="363240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伪指令语句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3059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不产生机器语言目标代码；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指示、引导汇编程序在汇编过程中做一些操作，如数据定义，存储区分配，段定义，段分配，指示程序结束等功能；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在汇编程序运行时执行，在汇编阶段已经全部完成，目标程序中不存在伪指令语句。</a:t>
            </a:r>
          </a:p>
        </p:txBody>
      </p:sp>
    </p:spTree>
    <p:extLst>
      <p:ext uri="{BB962C8B-B14F-4D97-AF65-F5344CB8AC3E}">
        <p14:creationId xmlns:p14="http://schemas.microsoft.com/office/powerpoint/2010/main" val="119005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宏指令语句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2443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用户设计的若干指令的集合；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一条指令代替多条指令，简化程序；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汇编过程中，将其展开；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依赖宏汇编程序。</a:t>
            </a:r>
          </a:p>
        </p:txBody>
      </p:sp>
    </p:spTree>
    <p:extLst>
      <p:ext uri="{BB962C8B-B14F-4D97-AF65-F5344CB8AC3E}">
        <p14:creationId xmlns:p14="http://schemas.microsoft.com/office/powerpoint/2010/main" val="251105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813514"/>
            <a:ext cx="439094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汇编语言程序设计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汇编程序设计概述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汇编程序结构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汇编程序格式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汇编程序设计基本方法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系统功能调用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汇编程序编译与调试</a:t>
            </a:r>
          </a:p>
        </p:txBody>
      </p:sp>
    </p:spTree>
    <p:extLst>
      <p:ext uri="{BB962C8B-B14F-4D97-AF65-F5344CB8AC3E}">
        <p14:creationId xmlns:p14="http://schemas.microsoft.com/office/powerpoint/2010/main" val="3452585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DOS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装入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EXE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文件后内存的结构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C27FA3C-08C5-42D6-9875-B25D58059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006" y="1088586"/>
            <a:ext cx="5085969" cy="5303939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08144D8-6576-4476-9603-D4C5479774B3}"/>
              </a:ext>
            </a:extLst>
          </p:cNvPr>
          <p:cNvCxnSpPr/>
          <p:nvPr/>
        </p:nvCxnSpPr>
        <p:spPr bwMode="auto">
          <a:xfrm flipH="1">
            <a:off x="4901609" y="1796902"/>
            <a:ext cx="1318438" cy="733647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triangle"/>
          </a:ln>
          <a:effectLst/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00A3B73-56F9-43DB-8103-AC12DBB48B0A}"/>
              </a:ext>
            </a:extLst>
          </p:cNvPr>
          <p:cNvSpPr txBox="1"/>
          <p:nvPr/>
        </p:nvSpPr>
        <p:spPr>
          <a:xfrm>
            <a:off x="6220047" y="161223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文件头</a:t>
            </a:r>
            <a:r>
              <a:rPr lang="en-US" altLang="zh-CN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PSP)</a:t>
            </a:r>
            <a:endParaRPr lang="zh-CN" altLang="en-US" dirty="0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AF447E-1D0B-4529-A3EF-498AA850E26E}"/>
              </a:ext>
            </a:extLst>
          </p:cNvPr>
          <p:cNvSpPr txBox="1"/>
          <p:nvPr/>
        </p:nvSpPr>
        <p:spPr>
          <a:xfrm>
            <a:off x="6303610" y="230544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二进制代码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2CA2772-A4BC-463E-B391-470AB5990608}"/>
              </a:ext>
            </a:extLst>
          </p:cNvPr>
          <p:cNvCxnSpPr/>
          <p:nvPr/>
        </p:nvCxnSpPr>
        <p:spPr bwMode="auto">
          <a:xfrm flipH="1">
            <a:off x="5071731" y="2540767"/>
            <a:ext cx="1231879" cy="698098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9243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汇编程序结构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597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汇编语言源程序采用分段结构，一个完整的源程可以包含多个逻辑段。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94C90B8-E2C1-4259-A6FE-26F0DAF9F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626" y="2167772"/>
            <a:ext cx="7772400" cy="17122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600" b="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段名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SEGMENT  </a:t>
            </a: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[</a:t>
            </a:r>
            <a:r>
              <a:rPr kumimoji="0" lang="en-GB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定位类型</a:t>
            </a: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]   [</a:t>
            </a:r>
            <a:r>
              <a:rPr kumimoji="0" lang="en-GB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组合类型</a:t>
            </a: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]   [</a:t>
            </a:r>
            <a:r>
              <a:rPr kumimoji="0" lang="en-GB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类别</a:t>
            </a:r>
            <a:r>
              <a:rPr lang="en-GB" altLang="en-US" sz="2000" kern="0" dirty="0">
                <a:solidFill>
                  <a:srgbClr val="333399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]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       ┇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段名 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ENDS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BB2CE8-DFD9-45EC-9D69-3B7E639ED529}"/>
              </a:ext>
            </a:extLst>
          </p:cNvPr>
          <p:cNvSpPr/>
          <p:nvPr/>
        </p:nvSpPr>
        <p:spPr>
          <a:xfrm>
            <a:off x="735626" y="4119932"/>
            <a:ext cx="7818893" cy="2328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SEGMENT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ENDS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分别表示逻辑段的开始和结束，两者必须成对出现，且段名一致。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定位类型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：说明逻辑段的起点符合的条件。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组合类型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：说明不同模块中同名段的组合连接方式。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类别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：说明逻辑段的类型，如“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CODE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”，“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STACK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”，“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DATA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767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段名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429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段名是用户为逻辑段所起的名字，必须是符合汇编语言规则的合法标识符：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由字母、数字和 “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?”, “@”, “_”, “.”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等字符组成；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数字不能作为第一个字符；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单独的问号 “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?”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不能作为名字；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最大有效字符不能超过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个；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不能使用系统保留字。</a:t>
            </a:r>
          </a:p>
        </p:txBody>
      </p:sp>
    </p:spTree>
    <p:extLst>
      <p:ext uri="{BB962C8B-B14F-4D97-AF65-F5344CB8AC3E}">
        <p14:creationId xmlns:p14="http://schemas.microsoft.com/office/powerpoint/2010/main" val="404120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定位类型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2462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PARA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 段的起点从节边界开始（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个字节为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节，默认定位类型）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BYTE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 段的起点从存储器任何地址开始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WORD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 段的起点从偶地址开始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PAGE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 段的起点从页边界开始（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256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个字节为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页）</a:t>
            </a:r>
          </a:p>
        </p:txBody>
      </p:sp>
    </p:spTree>
    <p:extLst>
      <p:ext uri="{BB962C8B-B14F-4D97-AF65-F5344CB8AC3E}">
        <p14:creationId xmlns:p14="http://schemas.microsoft.com/office/powerpoint/2010/main" val="243288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组合类型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429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与其它模块中的同名段在满足定位类型的前提下具有的组合方式：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NONE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      不组合（默认）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PUBLIC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    依次连接（顺序由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LINK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程序确定）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COMMON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    覆盖连接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STACK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     堆栈段的依次连接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AT</a:t>
            </a: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表达式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  段从表达式指定的地址开始装入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MEMORY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    相应段在同名段的最高地址处。</a:t>
            </a:r>
          </a:p>
        </p:txBody>
      </p:sp>
    </p:spTree>
    <p:extLst>
      <p:ext uri="{BB962C8B-B14F-4D97-AF65-F5344CB8AC3E}">
        <p14:creationId xmlns:p14="http://schemas.microsoft.com/office/powerpoint/2010/main" val="173621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段定义示例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BB4180E-634E-49BA-A6BC-64149469E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541" y="2260058"/>
            <a:ext cx="4779677" cy="30094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600" b="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DATA  SEGMENT 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     MEM1  DB  11H，22H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     MEM2  DB  ‘Hello!’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     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MEM3  DW  2 DUP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（？）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DATA  ENDS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94FC33E6-58CD-4474-8BE6-7E271D6B3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7" y="3639065"/>
            <a:ext cx="2153284" cy="1511300"/>
          </a:xfrm>
          <a:prstGeom prst="wedgeRoundRectCallout">
            <a:avLst>
              <a:gd name="adj1" fmla="val 98500"/>
              <a:gd name="adj2" fmla="val -75049"/>
              <a:gd name="adj3" fmla="val 16667"/>
            </a:avLst>
          </a:prstGeom>
          <a:solidFill>
            <a:srgbClr val="FFFFFF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10000"/>
              </a:lnSpc>
              <a:spcBef>
                <a:spcPct val="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变量在逻辑段中的位置就代表了它的偏移地址</a:t>
            </a: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203B9CE1-2AD7-4512-80DF-112989346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6" y="1476097"/>
            <a:ext cx="2153285" cy="871687"/>
          </a:xfrm>
          <a:prstGeom prst="wedgeRoundRectCallout">
            <a:avLst>
              <a:gd name="adj1" fmla="val 63750"/>
              <a:gd name="adj2" fmla="val 58407"/>
              <a:gd name="adj3" fmla="val 16667"/>
            </a:avLst>
          </a:prstGeom>
          <a:solidFill>
            <a:srgbClr val="FFFFFF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10000"/>
              </a:lnSpc>
              <a:spcBef>
                <a:spcPct val="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表示变量所在逻辑段的段地址</a:t>
            </a: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2B66FC27-4418-4F5B-9B11-63E7D0B44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934" y="1695643"/>
            <a:ext cx="2153284" cy="432594"/>
          </a:xfrm>
          <a:prstGeom prst="wedgeRoundRectCallout">
            <a:avLst>
              <a:gd name="adj1" fmla="val -70874"/>
              <a:gd name="adj2" fmla="val 251526"/>
              <a:gd name="adj3" fmla="val 16667"/>
            </a:avLst>
          </a:prstGeom>
          <a:solidFill>
            <a:srgbClr val="FFFFFF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10000"/>
              </a:lnSpc>
              <a:spcBef>
                <a:spcPct val="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表示变量的类型</a:t>
            </a:r>
          </a:p>
        </p:txBody>
      </p:sp>
    </p:spTree>
    <p:extLst>
      <p:ext uri="{BB962C8B-B14F-4D97-AF65-F5344CB8AC3E}">
        <p14:creationId xmlns:p14="http://schemas.microsoft.com/office/powerpoint/2010/main" val="154834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段寻址伪指令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ASSUME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49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ASSUME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段寄存器名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: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段名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[,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段寄存器名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: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段名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…]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功能：说明逻辑段应通过哪一个段寄存器去寻址。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ASSUME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只给出了段名和段寄存器的对应关系，但并不会给段寄存器赋值；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欲将段基址装入段寄存器，必须通过指令实现。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891C8E-09D2-4D7D-8EA7-FCE0A102BBD7}"/>
              </a:ext>
            </a:extLst>
          </p:cNvPr>
          <p:cNvSpPr/>
          <p:nvPr/>
        </p:nvSpPr>
        <p:spPr>
          <a:xfrm>
            <a:off x="1223319" y="4572413"/>
            <a:ext cx="6697361" cy="18909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CODE  SEGMENT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ASSUME CS:CODE, DS:DATA, SS:STACK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...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CODE ENDS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31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过程定义伪指令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PROC/ENDP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470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过程名在开始和结束要匹配，过程名是过程入口的符号地址；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过程内至少有一条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RET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指令，过程执行的最后一条指令是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RET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NEAR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过程仅供段内调用（默认），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FAR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过程可供段间调用。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891C8E-09D2-4D7D-8EA7-FCE0A102BBD7}"/>
              </a:ext>
            </a:extLst>
          </p:cNvPr>
          <p:cNvSpPr/>
          <p:nvPr/>
        </p:nvSpPr>
        <p:spPr>
          <a:xfrm>
            <a:off x="1223319" y="1730360"/>
            <a:ext cx="6697361" cy="18862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过程名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PROC	[NEAR/FAR]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	...(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过程内部语句）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	RET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过程名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ENDP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30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过程定义伪指令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PROC/ENDP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1DF6B17-AB24-44EF-A831-E4C199051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771" y="1998325"/>
            <a:ext cx="4214812" cy="4000791"/>
          </a:xfr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/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DELAY   PROC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PUSH BX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PUSH CX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</a:t>
            </a:r>
            <a:r>
              <a:rPr lang="en-US" altLang="zh-CN" sz="2000" dirty="0">
                <a:solidFill>
                  <a:schemeClr val="tx2"/>
                </a:solidFill>
                <a:latin typeface="Consolas" panose="020B0609020204030204" pitchFamily="49" charset="0"/>
              </a:rPr>
              <a:t>MOV  BL</a:t>
            </a:r>
            <a:r>
              <a:rPr lang="zh-CN" alt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  <a:latin typeface="Consolas" panose="020B0609020204030204" pitchFamily="49" charset="0"/>
              </a:rPr>
              <a:t>2</a:t>
            </a:r>
            <a:endParaRPr lang="zh-CN" altLang="en-US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nsolas" panose="020B0609020204030204" pitchFamily="49" charset="0"/>
              </a:rPr>
              <a:t>NEXT</a:t>
            </a:r>
            <a:r>
              <a:rPr lang="zh-CN" alt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：  </a:t>
            </a:r>
            <a:r>
              <a:rPr lang="en-US" altLang="zh-CN" sz="2000" dirty="0">
                <a:solidFill>
                  <a:schemeClr val="tx2"/>
                </a:solidFill>
                <a:latin typeface="Consolas" panose="020B0609020204030204" pitchFamily="49" charset="0"/>
              </a:rPr>
              <a:t>MOV  CX</a:t>
            </a:r>
            <a:r>
              <a:rPr lang="zh-CN" alt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  <a:latin typeface="Consolas" panose="020B0609020204030204" pitchFamily="49" charset="0"/>
              </a:rPr>
              <a:t>4167</a:t>
            </a:r>
            <a:endParaRPr lang="zh-CN" altLang="en-US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nsolas" panose="020B0609020204030204" pitchFamily="49" charset="0"/>
              </a:rPr>
              <a:t>W10M</a:t>
            </a:r>
            <a:r>
              <a:rPr lang="zh-CN" alt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：  </a:t>
            </a:r>
            <a:r>
              <a:rPr lang="en-US" altLang="zh-CN" sz="2000" dirty="0">
                <a:solidFill>
                  <a:schemeClr val="tx2"/>
                </a:solidFill>
                <a:latin typeface="Consolas" panose="020B0609020204030204" pitchFamily="49" charset="0"/>
              </a:rPr>
              <a:t>LOOP W10M</a:t>
            </a:r>
            <a:endParaRPr lang="zh-CN" altLang="en-US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nsolas" panose="020B0609020204030204" pitchFamily="49" charset="0"/>
              </a:rPr>
              <a:t>        DEC  BL</a:t>
            </a:r>
            <a:endParaRPr lang="zh-CN" altLang="en-US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solidFill>
                  <a:schemeClr val="tx2"/>
                </a:solidFill>
                <a:latin typeface="Consolas" panose="020B0609020204030204" pitchFamily="49" charset="0"/>
              </a:rPr>
              <a:t>        JNZ  NEXT</a:t>
            </a:r>
            <a:endParaRPr lang="zh-CN" altLang="en-US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POP  CX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POP  BX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RET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GB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DELAY  ENDP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25E93C9-3C80-442C-A6F3-BD989D86C72E}"/>
              </a:ext>
            </a:extLst>
          </p:cNvPr>
          <p:cNvSpPr txBox="1">
            <a:spLocks/>
          </p:cNvSpPr>
          <p:nvPr/>
        </p:nvSpPr>
        <p:spPr bwMode="auto">
          <a:xfrm>
            <a:off x="5599408" y="3706332"/>
            <a:ext cx="3214688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1">
              <a:lnSpc>
                <a:spcPct val="110000"/>
              </a:lnSpc>
              <a:spcBef>
                <a:spcPts val="100"/>
              </a:spcBef>
              <a:spcAft>
                <a:spcPct val="5000"/>
              </a:spcAft>
              <a:buClr>
                <a:schemeClr val="folHlink"/>
              </a:buClr>
              <a:buSzPct val="60000"/>
              <a:defRPr/>
            </a:pPr>
            <a:r>
              <a:rPr lang="en-US" sz="2000" kern="0" dirty="0">
                <a:latin typeface="Consolas" panose="020B0609020204030204" pitchFamily="49" charset="0"/>
              </a:rPr>
              <a:t>CALL  DELAY   </a:t>
            </a:r>
            <a:endParaRPr lang="zh-CN" altLang="en-US" sz="2000" kern="0" dirty="0">
              <a:latin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92E194-E26F-4C01-AA76-0AF1E8BD19E8}"/>
              </a:ext>
            </a:extLst>
          </p:cNvPr>
          <p:cNvSpPr/>
          <p:nvPr/>
        </p:nvSpPr>
        <p:spPr>
          <a:xfrm>
            <a:off x="1591630" y="1542676"/>
            <a:ext cx="21210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定义延时子程序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A51064-C9AE-42A9-9D68-E3C8A8195209}"/>
              </a:ext>
            </a:extLst>
          </p:cNvPr>
          <p:cNvSpPr/>
          <p:nvPr/>
        </p:nvSpPr>
        <p:spPr>
          <a:xfrm>
            <a:off x="6216737" y="330622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调用延时子程序</a:t>
            </a:r>
          </a:p>
        </p:txBody>
      </p:sp>
    </p:spTree>
    <p:extLst>
      <p:ext uri="{BB962C8B-B14F-4D97-AF65-F5344CB8AC3E}">
        <p14:creationId xmlns:p14="http://schemas.microsoft.com/office/powerpoint/2010/main" val="78487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结束伪指令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END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079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任何一个汇编程序都必须用结束伪指令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END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作为最后一条语句，表示源程序结束。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891C8E-09D2-4D7D-8EA7-FCE0A102BBD7}"/>
              </a:ext>
            </a:extLst>
          </p:cNvPr>
          <p:cNvSpPr/>
          <p:nvPr/>
        </p:nvSpPr>
        <p:spPr>
          <a:xfrm>
            <a:off x="1223319" y="2928991"/>
            <a:ext cx="6697361" cy="5000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END  [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地址表达式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]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BF03D2-8952-4301-BF3D-FF50D2CABAD5}"/>
              </a:ext>
            </a:extLst>
          </p:cNvPr>
          <p:cNvSpPr/>
          <p:nvPr/>
        </p:nvSpPr>
        <p:spPr>
          <a:xfrm>
            <a:off x="1223318" y="4408166"/>
            <a:ext cx="6697361" cy="5000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END  START; 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表明该程序的启动地址为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234193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返回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DOS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的方式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8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将主程序定义为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FAR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过程，最后一条指令为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RET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，然后在主程序开始执行时首先执行以下指令：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DOS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系统功能调用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4CH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，在用户程序结束后插入以下语句：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891C8E-09D2-4D7D-8EA7-FCE0A102BBD7}"/>
              </a:ext>
            </a:extLst>
          </p:cNvPr>
          <p:cNvSpPr/>
          <p:nvPr/>
        </p:nvSpPr>
        <p:spPr>
          <a:xfrm>
            <a:off x="1136819" y="2248443"/>
            <a:ext cx="6697361" cy="14278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PUSH DS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XOR AX, AX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PUSH AX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BF03D2-8952-4301-BF3D-FF50D2CABAD5}"/>
              </a:ext>
            </a:extLst>
          </p:cNvPr>
          <p:cNvSpPr/>
          <p:nvPr/>
        </p:nvSpPr>
        <p:spPr>
          <a:xfrm>
            <a:off x="1136819" y="4756276"/>
            <a:ext cx="6697361" cy="9662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AH, 4CH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INT 21H</a:t>
            </a:r>
          </a:p>
        </p:txBody>
      </p:sp>
    </p:spTree>
    <p:extLst>
      <p:ext uri="{BB962C8B-B14F-4D97-AF65-F5344CB8AC3E}">
        <p14:creationId xmlns:p14="http://schemas.microsoft.com/office/powerpoint/2010/main" val="397397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5891C8E-09D2-4D7D-8EA7-FCE0A102BBD7}"/>
              </a:ext>
            </a:extLst>
          </p:cNvPr>
          <p:cNvSpPr/>
          <p:nvPr/>
        </p:nvSpPr>
        <p:spPr>
          <a:xfrm>
            <a:off x="160639" y="57276"/>
            <a:ext cx="8810366" cy="67434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rIns="0" anchor="ctr">
            <a:spAutoFit/>
          </a:bodyPr>
          <a:lstStyle/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SEGMENT	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数据段开始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X DB 6	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定义变量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X, Y, SUM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Y DB 8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SUM DB ?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ENDS	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数据段结束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STACK SEGMENT STACK ‘STACK’   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堆栈段开始，组合类型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STACK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一定要有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DB 100 DUP(?)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定义堆栈段大小为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100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个字节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STACK ENDS	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堆栈段结束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CODE SEGMENT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ASSUME CS:CODE, DS:DATA, SS:STACK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段寻址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BEGIN: MOV AX, DATA		;BEGIN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为主过程开始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 MOV DS, AX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为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赋值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 MOV AL, X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将变量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存入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 MOV BL, Y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将变量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存入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BL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 ADD AL, BL		;AL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的内容加上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BL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 MOV SUM, AL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加法结果存入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SUM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 MOV AH, 4CH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返回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DOS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	 INT 21H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CODE  ENDS</a:t>
            </a:r>
          </a:p>
          <a:p>
            <a:pPr marL="0" lvl="1">
              <a:lnSpc>
                <a:spcPts val="26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    END BEGIN</a:t>
            </a:r>
          </a:p>
        </p:txBody>
      </p:sp>
    </p:spTree>
    <p:extLst>
      <p:ext uri="{BB962C8B-B14F-4D97-AF65-F5344CB8AC3E}">
        <p14:creationId xmlns:p14="http://schemas.microsoft.com/office/powerpoint/2010/main" val="318313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813514"/>
            <a:ext cx="439094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汇编语言程序设计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汇编程序设计概述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汇编程序结构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汇编程序格式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汇编程序设计基本方法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系统功能调用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汇编程序编译与调试</a:t>
            </a:r>
          </a:p>
        </p:txBody>
      </p:sp>
    </p:spTree>
    <p:extLst>
      <p:ext uri="{BB962C8B-B14F-4D97-AF65-F5344CB8AC3E}">
        <p14:creationId xmlns:p14="http://schemas.microsoft.com/office/powerpoint/2010/main" val="3926685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常量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00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数字常量：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字符串常量：用单引号引起的字符或字符串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891C8E-09D2-4D7D-8EA7-FCE0A102BBD7}"/>
              </a:ext>
            </a:extLst>
          </p:cNvPr>
          <p:cNvSpPr/>
          <p:nvPr/>
        </p:nvSpPr>
        <p:spPr>
          <a:xfrm>
            <a:off x="1025607" y="1743305"/>
            <a:ext cx="6697361" cy="2351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10100001B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76Q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98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876AH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0FE65H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BF03D2-8952-4301-BF3D-FF50D2CABAD5}"/>
              </a:ext>
            </a:extLst>
          </p:cNvPr>
          <p:cNvSpPr/>
          <p:nvPr/>
        </p:nvSpPr>
        <p:spPr>
          <a:xfrm>
            <a:off x="1025606" y="4669330"/>
            <a:ext cx="6697361" cy="14278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‘A’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‘ABCD’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‘Hello World’</a:t>
            </a:r>
          </a:p>
        </p:txBody>
      </p:sp>
    </p:spTree>
    <p:extLst>
      <p:ext uri="{BB962C8B-B14F-4D97-AF65-F5344CB8AC3E}">
        <p14:creationId xmlns:p14="http://schemas.microsoft.com/office/powerpoint/2010/main" val="95505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变量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162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变量是用户为存放数据的内存单元所起的名字，实际上是符号地址，这些单元的数据可以随时修改；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数据定义伪指令为变量分配内存单元，同时可以预置初值。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格式：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数据定义伪指令：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DB 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定义字节型变量（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字节）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DW 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定义字类型变量（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字节）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DD 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定义双字型变量（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字节）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DQ 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字节型变量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DT 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字节型变量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891C8E-09D2-4D7D-8EA7-FCE0A102BBD7}"/>
              </a:ext>
            </a:extLst>
          </p:cNvPr>
          <p:cNvSpPr/>
          <p:nvPr/>
        </p:nvSpPr>
        <p:spPr>
          <a:xfrm>
            <a:off x="1998700" y="2584466"/>
            <a:ext cx="5715009" cy="5000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[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变量名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]  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伪指令助记符  数据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...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注释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E2531D-9136-4335-92BD-CDE5613EED7C}"/>
              </a:ext>
            </a:extLst>
          </p:cNvPr>
          <p:cNvSpPr/>
          <p:nvPr/>
        </p:nvSpPr>
        <p:spPr>
          <a:xfrm>
            <a:off x="5622324" y="4105023"/>
            <a:ext cx="2091385" cy="14278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  DB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3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  DW  300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  DB  ‘ABCD’</a:t>
            </a:r>
          </a:p>
        </p:txBody>
      </p:sp>
    </p:spTree>
    <p:extLst>
      <p:ext uri="{BB962C8B-B14F-4D97-AF65-F5344CB8AC3E}">
        <p14:creationId xmlns:p14="http://schemas.microsoft.com/office/powerpoint/2010/main" val="136760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数据定义伪指令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346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定义单个字节数据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定义多个字节数据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E2531D-9136-4335-92BD-CDE5613EED7C}"/>
              </a:ext>
            </a:extLst>
          </p:cNvPr>
          <p:cNvSpPr/>
          <p:nvPr/>
        </p:nvSpPr>
        <p:spPr>
          <a:xfrm>
            <a:off x="1127780" y="1778007"/>
            <a:ext cx="2091385" cy="9662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  DB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10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  DB  ?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ECE3D00-37AA-401F-9EF8-EE231533A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710183"/>
              </p:ext>
            </p:extLst>
          </p:nvPr>
        </p:nvGraphicFramePr>
        <p:xfrm>
          <a:off x="4572000" y="1799767"/>
          <a:ext cx="740664" cy="792480"/>
        </p:xfrm>
        <a:graphic>
          <a:graphicData uri="http://schemas.openxmlformats.org/drawingml/2006/table">
            <a:tbl>
              <a:tblPr firstRow="1" bandRow="1"/>
              <a:tblGrid>
                <a:gridCol w="740664">
                  <a:extLst>
                    <a:ext uri="{9D8B030D-6E8A-4147-A177-3AD203B41FA5}">
                      <a16:colId xmlns:a16="http://schemas.microsoft.com/office/drawing/2014/main" val="21266268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0AH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8742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XXH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76308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1663AB85-ED25-4E3E-BA92-D7C118DD7FBE}"/>
              </a:ext>
            </a:extLst>
          </p:cNvPr>
          <p:cNvSpPr/>
          <p:nvPr/>
        </p:nvSpPr>
        <p:spPr>
          <a:xfrm>
            <a:off x="4233445" y="1788998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CB8954-91B4-48EF-830C-DE270CC0F57D}"/>
              </a:ext>
            </a:extLst>
          </p:cNvPr>
          <p:cNvSpPr/>
          <p:nvPr/>
        </p:nvSpPr>
        <p:spPr>
          <a:xfrm>
            <a:off x="4247693" y="2145037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E920F0-C5DD-45F7-B4CB-01A14956E004}"/>
              </a:ext>
            </a:extLst>
          </p:cNvPr>
          <p:cNvSpPr/>
          <p:nvPr/>
        </p:nvSpPr>
        <p:spPr>
          <a:xfrm>
            <a:off x="1127780" y="3753394"/>
            <a:ext cx="3641928" cy="504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BUFFER  DB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3, 4, -5, -1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7E52B1B-20F4-493D-9E1A-2FAF7448E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657461"/>
              </p:ext>
            </p:extLst>
          </p:nvPr>
        </p:nvGraphicFramePr>
        <p:xfrm>
          <a:off x="6305993" y="3753394"/>
          <a:ext cx="741600" cy="1584960"/>
        </p:xfrm>
        <a:graphic>
          <a:graphicData uri="http://schemas.openxmlformats.org/drawingml/2006/table">
            <a:tbl>
              <a:tblPr firstRow="1" bandRow="1"/>
              <a:tblGrid>
                <a:gridCol w="741600">
                  <a:extLst>
                    <a:ext uri="{9D8B030D-6E8A-4147-A177-3AD203B41FA5}">
                      <a16:colId xmlns:a16="http://schemas.microsoft.com/office/drawing/2014/main" val="21266268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03H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8742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04H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7630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FBH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8227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FEH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33710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465344A-AD44-4929-AA7B-A1288C31D52C}"/>
              </a:ext>
            </a:extLst>
          </p:cNvPr>
          <p:cNvSpPr/>
          <p:nvPr/>
        </p:nvSpPr>
        <p:spPr>
          <a:xfrm>
            <a:off x="5312664" y="3737977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BUFFER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7075EE6-AD6D-4205-B54E-EF568FAB384F}"/>
              </a:ext>
            </a:extLst>
          </p:cNvPr>
          <p:cNvCxnSpPr/>
          <p:nvPr/>
        </p:nvCxnSpPr>
        <p:spPr>
          <a:xfrm>
            <a:off x="5755614" y="1959912"/>
            <a:ext cx="0" cy="468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A1D67AD-B802-4B05-BC3B-7607C5CAE17C}"/>
              </a:ext>
            </a:extLst>
          </p:cNvPr>
          <p:cNvSpPr/>
          <p:nvPr/>
        </p:nvSpPr>
        <p:spPr>
          <a:xfrm>
            <a:off x="5355505" y="1626299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低地址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2D0FBE-FC79-4ECE-AF26-595AC999DAC2}"/>
              </a:ext>
            </a:extLst>
          </p:cNvPr>
          <p:cNvSpPr/>
          <p:nvPr/>
        </p:nvSpPr>
        <p:spPr>
          <a:xfrm>
            <a:off x="5355505" y="2422970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高地址</a:t>
            </a:r>
          </a:p>
        </p:txBody>
      </p:sp>
    </p:spTree>
    <p:extLst>
      <p:ext uri="{BB962C8B-B14F-4D97-AF65-F5344CB8AC3E}">
        <p14:creationId xmlns:p14="http://schemas.microsoft.com/office/powerpoint/2010/main" val="33687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2" grpId="0"/>
      <p:bldP spid="13" grpId="0" animBg="1"/>
      <p:bldP spid="17" grpId="0"/>
      <p:bldP spid="19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数据定义伪指令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346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定义字符串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定义字型数据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E2531D-9136-4335-92BD-CDE5613EED7C}"/>
              </a:ext>
            </a:extLst>
          </p:cNvPr>
          <p:cNvSpPr/>
          <p:nvPr/>
        </p:nvSpPr>
        <p:spPr>
          <a:xfrm>
            <a:off x="1127780" y="2008839"/>
            <a:ext cx="2719804" cy="504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STRING  DB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‘ABCD’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E920F0-C5DD-45F7-B4CB-01A14956E004}"/>
              </a:ext>
            </a:extLst>
          </p:cNvPr>
          <p:cNvSpPr/>
          <p:nvPr/>
        </p:nvSpPr>
        <p:spPr>
          <a:xfrm>
            <a:off x="1127780" y="3753394"/>
            <a:ext cx="2719804" cy="504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  DW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1, 2, -2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7E52B1B-20F4-493D-9E1A-2FAF7448E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519852"/>
              </p:ext>
            </p:extLst>
          </p:nvPr>
        </p:nvGraphicFramePr>
        <p:xfrm>
          <a:off x="5763037" y="1349145"/>
          <a:ext cx="741600" cy="1584960"/>
        </p:xfrm>
        <a:graphic>
          <a:graphicData uri="http://schemas.openxmlformats.org/drawingml/2006/table">
            <a:tbl>
              <a:tblPr firstRow="1" bandRow="1"/>
              <a:tblGrid>
                <a:gridCol w="741600">
                  <a:extLst>
                    <a:ext uri="{9D8B030D-6E8A-4147-A177-3AD203B41FA5}">
                      <a16:colId xmlns:a16="http://schemas.microsoft.com/office/drawing/2014/main" val="21266268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41H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8742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42H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7630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43H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8227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44H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33710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465344A-AD44-4929-AA7B-A1288C31D52C}"/>
              </a:ext>
            </a:extLst>
          </p:cNvPr>
          <p:cNvSpPr/>
          <p:nvPr/>
        </p:nvSpPr>
        <p:spPr>
          <a:xfrm>
            <a:off x="4769708" y="133372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STRING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E5A16EB-C495-4DB2-8199-5D4A7196B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486957"/>
              </p:ext>
            </p:extLst>
          </p:nvPr>
        </p:nvGraphicFramePr>
        <p:xfrm>
          <a:off x="5763037" y="3753394"/>
          <a:ext cx="741600" cy="2377440"/>
        </p:xfrm>
        <a:graphic>
          <a:graphicData uri="http://schemas.openxmlformats.org/drawingml/2006/table">
            <a:tbl>
              <a:tblPr firstRow="1" bandRow="1"/>
              <a:tblGrid>
                <a:gridCol w="741600">
                  <a:extLst>
                    <a:ext uri="{9D8B030D-6E8A-4147-A177-3AD203B41FA5}">
                      <a16:colId xmlns:a16="http://schemas.microsoft.com/office/drawing/2014/main" val="21266268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01H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8742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7630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02H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8227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3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FEH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32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FFH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313296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B2E4D93C-3DE3-4A2D-9805-0C2B6CD85DF2}"/>
              </a:ext>
            </a:extLst>
          </p:cNvPr>
          <p:cNvSpPr/>
          <p:nvPr/>
        </p:nvSpPr>
        <p:spPr>
          <a:xfrm>
            <a:off x="5192900" y="3715192"/>
            <a:ext cx="6078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196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7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数据定义伪指令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351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以下定义有何区别？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DW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伪指令后的变量名表示变量的偏移地址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E2531D-9136-4335-92BD-CDE5613EED7C}"/>
              </a:ext>
            </a:extLst>
          </p:cNvPr>
          <p:cNvSpPr/>
          <p:nvPr/>
        </p:nvSpPr>
        <p:spPr>
          <a:xfrm>
            <a:off x="1127780" y="1778007"/>
            <a:ext cx="2719804" cy="9662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  DB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‘AB’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  DW  ‘AB’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E920F0-C5DD-45F7-B4CB-01A14956E004}"/>
              </a:ext>
            </a:extLst>
          </p:cNvPr>
          <p:cNvSpPr/>
          <p:nvPr/>
        </p:nvSpPr>
        <p:spPr>
          <a:xfrm>
            <a:off x="1127780" y="3614169"/>
            <a:ext cx="2719804" cy="2351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SEGMENT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X  DB  3, 4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Y  DW  -2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Z  DW Y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ENDS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7E52B1B-20F4-493D-9E1A-2FAF7448E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082651"/>
              </p:ext>
            </p:extLst>
          </p:nvPr>
        </p:nvGraphicFramePr>
        <p:xfrm>
          <a:off x="5763037" y="1349145"/>
          <a:ext cx="741600" cy="1584960"/>
        </p:xfrm>
        <a:graphic>
          <a:graphicData uri="http://schemas.openxmlformats.org/drawingml/2006/table">
            <a:tbl>
              <a:tblPr firstRow="1" bandRow="1"/>
              <a:tblGrid>
                <a:gridCol w="741600">
                  <a:extLst>
                    <a:ext uri="{9D8B030D-6E8A-4147-A177-3AD203B41FA5}">
                      <a16:colId xmlns:a16="http://schemas.microsoft.com/office/drawing/2014/main" val="21266268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41H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8742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42H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7630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42H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8227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41H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33710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465344A-AD44-4929-AA7B-A1288C31D52C}"/>
              </a:ext>
            </a:extLst>
          </p:cNvPr>
          <p:cNvSpPr/>
          <p:nvPr/>
        </p:nvSpPr>
        <p:spPr>
          <a:xfrm>
            <a:off x="5437307" y="1360661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E5A16EB-C495-4DB2-8199-5D4A7196B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405561"/>
              </p:ext>
            </p:extLst>
          </p:nvPr>
        </p:nvGraphicFramePr>
        <p:xfrm>
          <a:off x="5763037" y="3753394"/>
          <a:ext cx="1525903" cy="2377440"/>
        </p:xfrm>
        <a:graphic>
          <a:graphicData uri="http://schemas.openxmlformats.org/drawingml/2006/table">
            <a:tbl>
              <a:tblPr firstRow="1" bandRow="1"/>
              <a:tblGrid>
                <a:gridCol w="769903">
                  <a:extLst>
                    <a:ext uri="{9D8B030D-6E8A-4147-A177-3AD203B41FA5}">
                      <a16:colId xmlns:a16="http://schemas.microsoft.com/office/drawing/2014/main" val="21266268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54271722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03H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0000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8742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04H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0001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7630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FEH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0002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8227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FFH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0003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3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02H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0004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32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0005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313296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B2E4D93C-3DE3-4A2D-9805-0C2B6CD85DF2}"/>
              </a:ext>
            </a:extLst>
          </p:cNvPr>
          <p:cNvSpPr/>
          <p:nvPr/>
        </p:nvSpPr>
        <p:spPr>
          <a:xfrm>
            <a:off x="5437307" y="3753394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DD349B-4EF1-49E6-B75B-DEAF7BF49658}"/>
              </a:ext>
            </a:extLst>
          </p:cNvPr>
          <p:cNvSpPr/>
          <p:nvPr/>
        </p:nvSpPr>
        <p:spPr>
          <a:xfrm>
            <a:off x="5464213" y="2141780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BED1FB-A8D8-4D57-BBF0-CEFF4A22C8FC}"/>
              </a:ext>
            </a:extLst>
          </p:cNvPr>
          <p:cNvSpPr/>
          <p:nvPr/>
        </p:nvSpPr>
        <p:spPr>
          <a:xfrm>
            <a:off x="6525988" y="340085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数据段偏移地址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395FD2-9639-49C4-9AD7-F15899A4C3A9}"/>
              </a:ext>
            </a:extLst>
          </p:cNvPr>
          <p:cNvSpPr/>
          <p:nvPr/>
        </p:nvSpPr>
        <p:spPr>
          <a:xfrm>
            <a:off x="5437307" y="4550198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25A00F-BE78-43F4-8FD7-2F7678427FDD}"/>
              </a:ext>
            </a:extLst>
          </p:cNvPr>
          <p:cNvSpPr/>
          <p:nvPr/>
        </p:nvSpPr>
        <p:spPr>
          <a:xfrm>
            <a:off x="5437307" y="5347002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Z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279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7" grpId="0"/>
      <p:bldP spid="15" grpId="0"/>
      <p:bldP spid="10" grpId="0"/>
      <p:bldP spid="11" grpId="0"/>
      <p:bldP spid="12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数据定义伪指令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8850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双字型数据定义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DD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伪指令后的变量名表示变量的段地址和偏移地址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E2531D-9136-4335-92BD-CDE5613EED7C}"/>
              </a:ext>
            </a:extLst>
          </p:cNvPr>
          <p:cNvSpPr/>
          <p:nvPr/>
        </p:nvSpPr>
        <p:spPr>
          <a:xfrm>
            <a:off x="1127780" y="1760771"/>
            <a:ext cx="2719804" cy="504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  DD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123H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E920F0-C5DD-45F7-B4CB-01A14956E004}"/>
              </a:ext>
            </a:extLst>
          </p:cNvPr>
          <p:cNvSpPr/>
          <p:nvPr/>
        </p:nvSpPr>
        <p:spPr>
          <a:xfrm>
            <a:off x="1127780" y="3243076"/>
            <a:ext cx="2719804" cy="2351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SEGMENT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X  DB  3, 4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Y  DW  -2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Z  DD Y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ENDS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7E52B1B-20F4-493D-9E1A-2FAF7448E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414519"/>
              </p:ext>
            </p:extLst>
          </p:nvPr>
        </p:nvGraphicFramePr>
        <p:xfrm>
          <a:off x="5021437" y="771807"/>
          <a:ext cx="741600" cy="1584960"/>
        </p:xfrm>
        <a:graphic>
          <a:graphicData uri="http://schemas.openxmlformats.org/drawingml/2006/table">
            <a:tbl>
              <a:tblPr firstRow="1" bandRow="1"/>
              <a:tblGrid>
                <a:gridCol w="741600">
                  <a:extLst>
                    <a:ext uri="{9D8B030D-6E8A-4147-A177-3AD203B41FA5}">
                      <a16:colId xmlns:a16="http://schemas.microsoft.com/office/drawing/2014/main" val="21266268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23H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8742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01H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7630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8227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33710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465344A-AD44-4929-AA7B-A1288C31D52C}"/>
              </a:ext>
            </a:extLst>
          </p:cNvPr>
          <p:cNvSpPr/>
          <p:nvPr/>
        </p:nvSpPr>
        <p:spPr>
          <a:xfrm>
            <a:off x="4695707" y="783323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E5A16EB-C495-4DB2-8199-5D4A7196B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444242"/>
              </p:ext>
            </p:extLst>
          </p:nvPr>
        </p:nvGraphicFramePr>
        <p:xfrm>
          <a:off x="5021437" y="3242545"/>
          <a:ext cx="1669903" cy="3169920"/>
        </p:xfrm>
        <a:graphic>
          <a:graphicData uri="http://schemas.openxmlformats.org/drawingml/2006/table">
            <a:tbl>
              <a:tblPr firstRow="1" bandRow="1"/>
              <a:tblGrid>
                <a:gridCol w="769903">
                  <a:extLst>
                    <a:ext uri="{9D8B030D-6E8A-4147-A177-3AD203B41FA5}">
                      <a16:colId xmlns:a16="http://schemas.microsoft.com/office/drawing/2014/main" val="212662681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54271722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03H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8742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04H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0001H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7630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FEH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0002H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8227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FFH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0003H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3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02H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0004H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32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0005H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313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0006H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52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32H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0007H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25062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B2E4D93C-3DE3-4A2D-9805-0C2B6CD85DF2}"/>
              </a:ext>
            </a:extLst>
          </p:cNvPr>
          <p:cNvSpPr/>
          <p:nvPr/>
        </p:nvSpPr>
        <p:spPr>
          <a:xfrm>
            <a:off x="4695707" y="3242545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395FD2-9639-49C4-9AD7-F15899A4C3A9}"/>
              </a:ext>
            </a:extLst>
          </p:cNvPr>
          <p:cNvSpPr/>
          <p:nvPr/>
        </p:nvSpPr>
        <p:spPr>
          <a:xfrm>
            <a:off x="4695707" y="4039349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25A00F-BE78-43F4-8FD7-2F7678427FDD}"/>
              </a:ext>
            </a:extLst>
          </p:cNvPr>
          <p:cNvSpPr/>
          <p:nvPr/>
        </p:nvSpPr>
        <p:spPr>
          <a:xfrm>
            <a:off x="4695707" y="4836153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Z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256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7" grpId="0"/>
      <p:bldP spid="15" grpId="0"/>
      <p:bldP spid="12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数据定义伪指令练习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00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以下变量在内存中的存放形式如何？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E920F0-C5DD-45F7-B4CB-01A14956E004}"/>
              </a:ext>
            </a:extLst>
          </p:cNvPr>
          <p:cNvSpPr/>
          <p:nvPr/>
        </p:nvSpPr>
        <p:spPr>
          <a:xfrm>
            <a:off x="735625" y="1857551"/>
            <a:ext cx="7849003" cy="2351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SEGMENT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X  DB  11H, 22H, 33H, 44H, ‘A’, ‘BC’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Y  DW  11H, 22H, 3344H, ‘A’, ‘BC’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Z  DD  11H, 22H, 33445566H, ‘A’, ‘BC’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ENDS</a:t>
            </a:r>
          </a:p>
        </p:txBody>
      </p:sp>
    </p:spTree>
    <p:extLst>
      <p:ext uri="{BB962C8B-B14F-4D97-AF65-F5344CB8AC3E}">
        <p14:creationId xmlns:p14="http://schemas.microsoft.com/office/powerpoint/2010/main" val="271693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定义重复数据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00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重复定义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100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个字节数据，初值设为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E920F0-C5DD-45F7-B4CB-01A14956E004}"/>
              </a:ext>
            </a:extLst>
          </p:cNvPr>
          <p:cNvSpPr/>
          <p:nvPr/>
        </p:nvSpPr>
        <p:spPr>
          <a:xfrm>
            <a:off x="735625" y="1857551"/>
            <a:ext cx="7849003" cy="504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  DB  100 DUP(0)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48F17E-3F16-466B-9F0C-6653BF6E7CEF}"/>
              </a:ext>
            </a:extLst>
          </p:cNvPr>
          <p:cNvSpPr/>
          <p:nvPr/>
        </p:nvSpPr>
        <p:spPr>
          <a:xfrm>
            <a:off x="735626" y="2739950"/>
            <a:ext cx="7849003" cy="500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预留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100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个字节存储单元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D4ED70-B6BD-43A0-885F-EAED5412BFA9}"/>
              </a:ext>
            </a:extLst>
          </p:cNvPr>
          <p:cNvSpPr/>
          <p:nvPr/>
        </p:nvSpPr>
        <p:spPr>
          <a:xfrm>
            <a:off x="735625" y="3429000"/>
            <a:ext cx="7849003" cy="504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  DB  100 DUP(?)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92E392-8066-4FA6-BA98-0A8FE7322915}"/>
              </a:ext>
            </a:extLst>
          </p:cNvPr>
          <p:cNvSpPr/>
          <p:nvPr/>
        </p:nvSpPr>
        <p:spPr>
          <a:xfrm>
            <a:off x="735625" y="4311399"/>
            <a:ext cx="7849003" cy="500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嵌套使用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DUP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3D64C6-4DDE-4562-9A34-40163BC48FCE}"/>
              </a:ext>
            </a:extLst>
          </p:cNvPr>
          <p:cNvSpPr/>
          <p:nvPr/>
        </p:nvSpPr>
        <p:spPr>
          <a:xfrm>
            <a:off x="735624" y="5000449"/>
            <a:ext cx="7849003" cy="504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  DB  3 DUP(0, 2 DUP(5), -1)</a:t>
            </a:r>
          </a:p>
        </p:txBody>
      </p:sp>
    </p:spTree>
    <p:extLst>
      <p:ext uri="{BB962C8B-B14F-4D97-AF65-F5344CB8AC3E}">
        <p14:creationId xmlns:p14="http://schemas.microsoft.com/office/powerpoint/2010/main" val="185009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变量的属性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616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段属性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：变量所在段的段基址，为该段所对应的段寄存器的值；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偏移属性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：变量距段起始地址的字节数，为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位二进制无符号数；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类型属性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：变量在存储单元所占的字节长度，主要有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BYTE(1)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WORD(2)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DWORD(4)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DQ(8)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DT(10)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等。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567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标号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828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标号是用户为程序中某条指令所起的名字；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实际上是代码段中该指令所对应的目标代码在内存中的地址；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常在转移、调用指令中引用，作为程序转移的目标地址。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468D40-E698-428A-BDF0-8BC7C854695B}"/>
              </a:ext>
            </a:extLst>
          </p:cNvPr>
          <p:cNvSpPr/>
          <p:nvPr/>
        </p:nvSpPr>
        <p:spPr>
          <a:xfrm>
            <a:off x="999637" y="3288612"/>
            <a:ext cx="7320979" cy="14278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LOP:  MOVSB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    DEC CX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    JNZ LOP</a:t>
            </a:r>
          </a:p>
        </p:txBody>
      </p:sp>
    </p:spTree>
    <p:extLst>
      <p:ext uri="{BB962C8B-B14F-4D97-AF65-F5344CB8AC3E}">
        <p14:creationId xmlns:p14="http://schemas.microsoft.com/office/powerpoint/2010/main" val="221150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标号的属性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231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段属性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：标号所在段的段基址，为代码段寄存器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的值；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偏移属性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：标号所代表的指令相对于代码段首地址的字节数，为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位二进制无符号数；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类型属性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NEAR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FAR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，分别用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0FFFFH(-1)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0FFFEH(-2)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075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变量和标号区别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813301"/>
            <a:ext cx="7849003" cy="1615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变量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代表的是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数据存储单元的地址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342900" indent="-342900">
              <a:lnSpc>
                <a:spcPct val="200000"/>
              </a:lnSpc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代表的是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指令存储单元的地址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78095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汇编语言运算符和表达式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609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表达式在汇编时已经替换为其结果；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根据运算结果分为数值表达式和地址表达式；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构成表达式的运算符有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种：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算术运算符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逻辑运算符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关系运算符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分析运算符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合成运算符</a:t>
            </a:r>
          </a:p>
        </p:txBody>
      </p:sp>
    </p:spTree>
    <p:extLst>
      <p:ext uri="{BB962C8B-B14F-4D97-AF65-F5344CB8AC3E}">
        <p14:creationId xmlns:p14="http://schemas.microsoft.com/office/powerpoint/2010/main" val="31005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汇编语言运算符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ECD63C3-0A01-4C97-89E7-B87B9474D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172724"/>
              </p:ext>
            </p:extLst>
          </p:nvPr>
        </p:nvGraphicFramePr>
        <p:xfrm>
          <a:off x="300445" y="1107951"/>
          <a:ext cx="8543110" cy="5355364"/>
        </p:xfrm>
        <a:graphic>
          <a:graphicData uri="http://schemas.openxmlformats.org/drawingml/2006/table">
            <a:tbl>
              <a:tblPr/>
              <a:tblGrid>
                <a:gridCol w="1830667">
                  <a:extLst>
                    <a:ext uri="{9D8B030D-6E8A-4147-A177-3AD203B41FA5}">
                      <a16:colId xmlns:a16="http://schemas.microsoft.com/office/drawing/2014/main" val="1815935659"/>
                    </a:ext>
                  </a:extLst>
                </a:gridCol>
                <a:gridCol w="1158261">
                  <a:extLst>
                    <a:ext uri="{9D8B030D-6E8A-4147-A177-3AD203B41FA5}">
                      <a16:colId xmlns:a16="http://schemas.microsoft.com/office/drawing/2014/main" val="372812226"/>
                    </a:ext>
                  </a:extLst>
                </a:gridCol>
                <a:gridCol w="2328723">
                  <a:extLst>
                    <a:ext uri="{9D8B030D-6E8A-4147-A177-3AD203B41FA5}">
                      <a16:colId xmlns:a16="http://schemas.microsoft.com/office/drawing/2014/main" val="3546590652"/>
                    </a:ext>
                  </a:extLst>
                </a:gridCol>
                <a:gridCol w="3225459">
                  <a:extLst>
                    <a:ext uri="{9D8B030D-6E8A-4147-A177-3AD203B41FA5}">
                      <a16:colId xmlns:a16="http://schemas.microsoft.com/office/drawing/2014/main" val="74651069"/>
                    </a:ext>
                  </a:extLst>
                </a:gridCol>
              </a:tblGrid>
              <a:tr h="68503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类型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符号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名称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运算结果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072430"/>
                  </a:ext>
                </a:extLst>
              </a:tr>
              <a:tr h="290602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算术运算符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＋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－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*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/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MOD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SHL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SHR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加法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减法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乘法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除法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模除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左移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右移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和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差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乘积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商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余数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左移后二进制数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右移后二进制数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59951"/>
                  </a:ext>
                </a:extLst>
              </a:tr>
              <a:tr h="1764309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逻辑运算符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AND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OR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XOR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NOT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与运算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或运算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异或运算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非运算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逻辑与结果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逻辑或结果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逻辑异或结果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逻辑非结果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26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0763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汇编语言运算符（续）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012EA0E-C3CE-4B9A-B5E6-AFA80E4F0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300884"/>
              </p:ext>
            </p:extLst>
          </p:nvPr>
        </p:nvGraphicFramePr>
        <p:xfrm>
          <a:off x="374968" y="1044520"/>
          <a:ext cx="8394064" cy="5662632"/>
        </p:xfrm>
        <a:graphic>
          <a:graphicData uri="http://schemas.openxmlformats.org/drawingml/2006/table">
            <a:tbl>
              <a:tblPr/>
              <a:tblGrid>
                <a:gridCol w="1643481">
                  <a:extLst>
                    <a:ext uri="{9D8B030D-6E8A-4147-A177-3AD203B41FA5}">
                      <a16:colId xmlns:a16="http://schemas.microsoft.com/office/drawing/2014/main" val="1803484825"/>
                    </a:ext>
                  </a:extLst>
                </a:gridCol>
                <a:gridCol w="1384735">
                  <a:extLst>
                    <a:ext uri="{9D8B030D-6E8A-4147-A177-3AD203B41FA5}">
                      <a16:colId xmlns:a16="http://schemas.microsoft.com/office/drawing/2014/main" val="4056472404"/>
                    </a:ext>
                  </a:extLst>
                </a:gridCol>
                <a:gridCol w="2539275">
                  <a:extLst>
                    <a:ext uri="{9D8B030D-6E8A-4147-A177-3AD203B41FA5}">
                      <a16:colId xmlns:a16="http://schemas.microsoft.com/office/drawing/2014/main" val="2769436360"/>
                    </a:ext>
                  </a:extLst>
                </a:gridCol>
                <a:gridCol w="2826573">
                  <a:extLst>
                    <a:ext uri="{9D8B030D-6E8A-4147-A177-3AD203B41FA5}">
                      <a16:colId xmlns:a16="http://schemas.microsoft.com/office/drawing/2014/main" val="1246012949"/>
                    </a:ext>
                  </a:extLst>
                </a:gridCol>
              </a:tblGrid>
              <a:tr h="57823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类型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符号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名称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运算结果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27325"/>
                  </a:ext>
                </a:extLst>
              </a:tr>
              <a:tr h="235586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关系运算符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EQ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NE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LT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LE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GT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相等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不等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小于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小于等于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大于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大于等于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结果为真输出全“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1”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结果为假输出全“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0”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811993"/>
                  </a:ext>
                </a:extLst>
              </a:tr>
              <a:tr h="2472224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分析运算符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OFFSET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SEG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TYPE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LENGTH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SIZE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HIGH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LOW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返回偏移地址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返回段基址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返回元素字节数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返回变量单元数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返回变量总字节数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分离高字节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分离低字节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偏移地址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段基址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字节数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单元数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总字节数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高字节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低字节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011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7180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汇编语言运算符（续）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B33B763-879D-4516-8DCB-8B3F7AF7E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08745"/>
              </p:ext>
            </p:extLst>
          </p:nvPr>
        </p:nvGraphicFramePr>
        <p:xfrm>
          <a:off x="196396" y="1478475"/>
          <a:ext cx="8751207" cy="3381965"/>
        </p:xfrm>
        <a:graphic>
          <a:graphicData uri="http://schemas.openxmlformats.org/drawingml/2006/table">
            <a:tbl>
              <a:tblPr/>
              <a:tblGrid>
                <a:gridCol w="1696810">
                  <a:extLst>
                    <a:ext uri="{9D8B030D-6E8A-4147-A177-3AD203B41FA5}">
                      <a16:colId xmlns:a16="http://schemas.microsoft.com/office/drawing/2014/main" val="4054463833"/>
                    </a:ext>
                  </a:extLst>
                </a:gridCol>
                <a:gridCol w="1785261">
                  <a:extLst>
                    <a:ext uri="{9D8B030D-6E8A-4147-A177-3AD203B41FA5}">
                      <a16:colId xmlns:a16="http://schemas.microsoft.com/office/drawing/2014/main" val="709111888"/>
                    </a:ext>
                  </a:extLst>
                </a:gridCol>
                <a:gridCol w="2376797">
                  <a:extLst>
                    <a:ext uri="{9D8B030D-6E8A-4147-A177-3AD203B41FA5}">
                      <a16:colId xmlns:a16="http://schemas.microsoft.com/office/drawing/2014/main" val="1720926342"/>
                    </a:ext>
                  </a:extLst>
                </a:gridCol>
                <a:gridCol w="2892339">
                  <a:extLst>
                    <a:ext uri="{9D8B030D-6E8A-4147-A177-3AD203B41FA5}">
                      <a16:colId xmlns:a16="http://schemas.microsoft.com/office/drawing/2014/main" val="3517653552"/>
                    </a:ext>
                  </a:extLst>
                </a:gridCol>
              </a:tblGrid>
              <a:tr h="72730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类型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符号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名称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运算结果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25190"/>
                  </a:ext>
                </a:extLst>
              </a:tr>
              <a:tr h="265466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合成运算符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段寄存器名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PTR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THIS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SHORT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段前缀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修改类型属性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指定类型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/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距离属性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短转移说明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800" kern="120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修改段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修改后类型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指定后类型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－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128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127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字节间转移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225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8251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算术运算符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077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包括以下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种： 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+    -    *    /    MOD    SHL    SHR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所有的算术运算符均可以对数据进行运算，运算对象与运算结果都是整数；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若对地址运算，通常是在地址表达式上加或减某一个数字量，或两个地址表达式相减。</a:t>
            </a:r>
          </a:p>
        </p:txBody>
      </p:sp>
    </p:spTree>
    <p:extLst>
      <p:ext uri="{BB962C8B-B14F-4D97-AF65-F5344CB8AC3E}">
        <p14:creationId xmlns:p14="http://schemas.microsoft.com/office/powerpoint/2010/main" val="219935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算术运算符练习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汇编程序指令格式如下：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7C5EBE-492C-4E76-AE5B-3A67E150DCA5}"/>
              </a:ext>
            </a:extLst>
          </p:cNvPr>
          <p:cNvSpPr/>
          <p:nvPr/>
        </p:nvSpPr>
        <p:spPr>
          <a:xfrm>
            <a:off x="911510" y="1878447"/>
            <a:ext cx="7320979" cy="18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300-80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BX, 300 MOD 100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CX, 300/100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DH, 01100100B SHR 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B6652A-0F3D-4CE7-9070-EB45259FC40F}"/>
              </a:ext>
            </a:extLst>
          </p:cNvPr>
          <p:cNvSpPr/>
          <p:nvPr/>
        </p:nvSpPr>
        <p:spPr>
          <a:xfrm>
            <a:off x="735626" y="3862523"/>
            <a:ext cx="7849003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汇编时，计算表达式形成指令为：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136888-8B49-48D1-BCE9-44D89530A494}"/>
              </a:ext>
            </a:extLst>
          </p:cNvPr>
          <p:cNvSpPr/>
          <p:nvPr/>
        </p:nvSpPr>
        <p:spPr>
          <a:xfrm>
            <a:off x="911510" y="4572468"/>
            <a:ext cx="7320979" cy="18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220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BX, 0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CX, 3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DH, 19H</a:t>
            </a:r>
          </a:p>
        </p:txBody>
      </p:sp>
    </p:spTree>
    <p:extLst>
      <p:ext uri="{BB962C8B-B14F-4D97-AF65-F5344CB8AC3E}">
        <p14:creationId xmlns:p14="http://schemas.microsoft.com/office/powerpoint/2010/main" val="366040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算术运算符练习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已知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B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处的存储单元情况如图，求指令运行后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BX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的值：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7C5EBE-492C-4E76-AE5B-3A67E150DCA5}"/>
              </a:ext>
            </a:extLst>
          </p:cNvPr>
          <p:cNvSpPr/>
          <p:nvPr/>
        </p:nvSpPr>
        <p:spPr>
          <a:xfrm>
            <a:off x="876068" y="1878446"/>
            <a:ext cx="3784058" cy="2351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 DW 3, 7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 DW 21H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...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A+2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BX, B-4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B6652A-0F3D-4CE7-9070-EB45259FC40F}"/>
              </a:ext>
            </a:extLst>
          </p:cNvPr>
          <p:cNvSpPr/>
          <p:nvPr/>
        </p:nvSpPr>
        <p:spPr>
          <a:xfrm>
            <a:off x="735625" y="4395531"/>
            <a:ext cx="7849003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执行后：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136888-8B49-48D1-BCE9-44D89530A494}"/>
              </a:ext>
            </a:extLst>
          </p:cNvPr>
          <p:cNvSpPr/>
          <p:nvPr/>
        </p:nvSpPr>
        <p:spPr>
          <a:xfrm>
            <a:off x="876068" y="5010956"/>
            <a:ext cx="3784059" cy="9662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(AX)=7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(BX)=3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278F0F7-7DF4-402B-8D36-5CC18BBB3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034035"/>
              </p:ext>
            </p:extLst>
          </p:nvPr>
        </p:nvGraphicFramePr>
        <p:xfrm>
          <a:off x="6389591" y="1972967"/>
          <a:ext cx="1669903" cy="2377440"/>
        </p:xfrm>
        <a:graphic>
          <a:graphicData uri="http://schemas.openxmlformats.org/drawingml/2006/table">
            <a:tbl>
              <a:tblPr firstRow="1" bandRow="1"/>
              <a:tblGrid>
                <a:gridCol w="769903">
                  <a:extLst>
                    <a:ext uri="{9D8B030D-6E8A-4147-A177-3AD203B41FA5}">
                      <a16:colId xmlns:a16="http://schemas.microsoft.com/office/drawing/2014/main" val="212662681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54271722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03H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8742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7630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07H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8227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3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21H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32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00H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313296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0A8DACAD-1BB0-478E-AA88-8A4DE68C74E3}"/>
              </a:ext>
            </a:extLst>
          </p:cNvPr>
          <p:cNvSpPr/>
          <p:nvPr/>
        </p:nvSpPr>
        <p:spPr>
          <a:xfrm>
            <a:off x="6063861" y="1972967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9B9F28-DF95-40B5-9C33-5FF008B6AF2A}"/>
              </a:ext>
            </a:extLst>
          </p:cNvPr>
          <p:cNvSpPr/>
          <p:nvPr/>
        </p:nvSpPr>
        <p:spPr>
          <a:xfrm>
            <a:off x="6063861" y="3566575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856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算术运算符练习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汇编程序指令格式如下：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7C5EBE-492C-4E76-AE5B-3A67E150DCA5}"/>
              </a:ext>
            </a:extLst>
          </p:cNvPr>
          <p:cNvSpPr/>
          <p:nvPr/>
        </p:nvSpPr>
        <p:spPr>
          <a:xfrm>
            <a:off x="911510" y="1878448"/>
            <a:ext cx="7320979" cy="18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BUFF DW 1,2,3,4,5,6,7,8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BEND DW ?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...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CX, (BEND-BUFF)/2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B6652A-0F3D-4CE7-9070-EB45259FC40F}"/>
              </a:ext>
            </a:extLst>
          </p:cNvPr>
          <p:cNvSpPr/>
          <p:nvPr/>
        </p:nvSpPr>
        <p:spPr>
          <a:xfrm>
            <a:off x="735626" y="3862523"/>
            <a:ext cx="7849003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汇编时，最后一条指令变为：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136888-8B49-48D1-BCE9-44D89530A494}"/>
              </a:ext>
            </a:extLst>
          </p:cNvPr>
          <p:cNvSpPr/>
          <p:nvPr/>
        </p:nvSpPr>
        <p:spPr>
          <a:xfrm>
            <a:off x="911509" y="4684198"/>
            <a:ext cx="7320979" cy="504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CX, 8</a:t>
            </a:r>
          </a:p>
        </p:txBody>
      </p:sp>
    </p:spTree>
    <p:extLst>
      <p:ext uri="{BB962C8B-B14F-4D97-AF65-F5344CB8AC3E}">
        <p14:creationId xmlns:p14="http://schemas.microsoft.com/office/powerpoint/2010/main" val="97740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逻辑运算符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846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包括以下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种： 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AND    OR    NOT    XOR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按位运算，只能对数值型整数进行运算，得到结果也是整数。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注意：逻辑运算符和逻辑指令助记符的区别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4872D1-1712-4205-96C1-CB279097B2C2}"/>
              </a:ext>
            </a:extLst>
          </p:cNvPr>
          <p:cNvSpPr/>
          <p:nvPr/>
        </p:nvSpPr>
        <p:spPr>
          <a:xfrm>
            <a:off x="876070" y="3204073"/>
            <a:ext cx="3235872" cy="18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NOT 0F0H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BL, 0F0H AND 0CDH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AH, 8CH OR 73H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CH, 0FH XOR 0CDH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873800-6048-41D0-8131-D213F8551AF1}"/>
              </a:ext>
            </a:extLst>
          </p:cNvPr>
          <p:cNvSpPr/>
          <p:nvPr/>
        </p:nvSpPr>
        <p:spPr>
          <a:xfrm>
            <a:off x="5822893" y="3204073"/>
            <a:ext cx="2209000" cy="18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0FH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BL, 0C0H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AH, 0FFH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CH, 0C2H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C057F421-FF29-44B7-8240-E6FCA920FC4A}"/>
              </a:ext>
            </a:extLst>
          </p:cNvPr>
          <p:cNvSpPr/>
          <p:nvPr/>
        </p:nvSpPr>
        <p:spPr>
          <a:xfrm>
            <a:off x="4423719" y="3901715"/>
            <a:ext cx="1136822" cy="494271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44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关系运算符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077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包括以下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种： 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EQ    NE    LT    GT    LE    GE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关系运算符的两个操作数必须是常数，或是同一段内的两个存储单元的地址；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若结果为真，输出全是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0FFH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0FFFFH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若结果为假，输出全是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4872D1-1712-4205-96C1-CB279097B2C2}"/>
              </a:ext>
            </a:extLst>
          </p:cNvPr>
          <p:cNvSpPr/>
          <p:nvPr/>
        </p:nvSpPr>
        <p:spPr>
          <a:xfrm>
            <a:off x="1093973" y="4565487"/>
            <a:ext cx="2725926" cy="9616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10H GT 16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ADD BL, 6 EQ 0110B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873800-6048-41D0-8131-D213F8551AF1}"/>
              </a:ext>
            </a:extLst>
          </p:cNvPr>
          <p:cNvSpPr/>
          <p:nvPr/>
        </p:nvSpPr>
        <p:spPr>
          <a:xfrm>
            <a:off x="5670093" y="4563211"/>
            <a:ext cx="2209000" cy="9662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0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BL, 0FFH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C057F421-FF29-44B7-8240-E6FCA920FC4A}"/>
              </a:ext>
            </a:extLst>
          </p:cNvPr>
          <p:cNvSpPr/>
          <p:nvPr/>
        </p:nvSpPr>
        <p:spPr>
          <a:xfrm>
            <a:off x="4176585" y="4799189"/>
            <a:ext cx="1136822" cy="494271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71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分析运算符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012958" cy="4313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OFFSET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取变量或标号的偏移地址；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SEG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取变量或标号的段基址；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TYPE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返回变量或标号的类型属性；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LENGTH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定义变量时，若第一个参数使用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DUP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，则返回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DUP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前的单元数，否则返回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SIZE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用在变量前，返回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LENGTH×TYPE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HIGH/LOW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取字操作数的高位字节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低位字节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040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分析运算符练习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4872D1-1712-4205-96C1-CB279097B2C2}"/>
              </a:ext>
            </a:extLst>
          </p:cNvPr>
          <p:cNvSpPr/>
          <p:nvPr/>
        </p:nvSpPr>
        <p:spPr>
          <a:xfrm>
            <a:off x="364922" y="2422593"/>
            <a:ext cx="3235872" cy="41594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OFFSET Y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SEG Z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AH, TYPE X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LENGTH X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SIZE X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AH, TYPE Y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LENGTH Y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SIZE Y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SIZE Z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CL, HIGH (SEG X)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C057F421-FF29-44B7-8240-E6FCA920FC4A}"/>
              </a:ext>
            </a:extLst>
          </p:cNvPr>
          <p:cNvSpPr/>
          <p:nvPr/>
        </p:nvSpPr>
        <p:spPr>
          <a:xfrm>
            <a:off x="3906364" y="4255160"/>
            <a:ext cx="1136822" cy="494271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15B6D2-3234-4CDB-AE9B-4D19546EAD61}"/>
              </a:ext>
            </a:extLst>
          </p:cNvPr>
          <p:cNvSpPr/>
          <p:nvPr/>
        </p:nvSpPr>
        <p:spPr>
          <a:xfrm>
            <a:off x="364922" y="189500"/>
            <a:ext cx="5059693" cy="21075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SETMENT   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假设段地址为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1000H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X DW 5 DUP(?)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Y DW 1,2,3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Z DB ‘ABCD’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ENDS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909194-E562-472E-8D87-5E8D4E403B45}"/>
              </a:ext>
            </a:extLst>
          </p:cNvPr>
          <p:cNvSpPr/>
          <p:nvPr/>
        </p:nvSpPr>
        <p:spPr>
          <a:xfrm>
            <a:off x="5348756" y="2422593"/>
            <a:ext cx="3235872" cy="41594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</a:t>
            </a:r>
            <a:r>
              <a:rPr lang="en-US" altLang="zh-CN" sz="200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10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1000H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AH, 2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5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10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AH, 2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1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2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1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CL, 10H</a:t>
            </a:r>
          </a:p>
        </p:txBody>
      </p:sp>
    </p:spTree>
    <p:extLst>
      <p:ext uri="{BB962C8B-B14F-4D97-AF65-F5344CB8AC3E}">
        <p14:creationId xmlns:p14="http://schemas.microsoft.com/office/powerpoint/2010/main" val="9797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合成运算符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012958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在程序运行过程中，修改变量或标号的属性：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PTR   THIS   SHORT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PTR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PTR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左边的类型属性赋给右边的变量或标号；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130DB7-D36D-4E67-9CEE-A66055F87196}"/>
              </a:ext>
            </a:extLst>
          </p:cNvPr>
          <p:cNvSpPr/>
          <p:nvPr/>
        </p:nvSpPr>
        <p:spPr>
          <a:xfrm>
            <a:off x="1152861" y="2130175"/>
            <a:ext cx="7431767" cy="466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类型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PTR  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变量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E40ED7-56C3-4F60-93F9-9AD814F524CC}"/>
              </a:ext>
            </a:extLst>
          </p:cNvPr>
          <p:cNvSpPr/>
          <p:nvPr/>
        </p:nvSpPr>
        <p:spPr>
          <a:xfrm>
            <a:off x="1152861" y="2718828"/>
            <a:ext cx="7431766" cy="37444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SEGMENT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X  DB  15H, 36H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Y  DW  1122H, 3344H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ENDS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WORD PTR X 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看作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WORD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类型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BL, BYTE PTR Y 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看作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BYTE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类型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BYTE PTR [BX], 10H 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将字节数据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10H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存入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[BX]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WORD PTR [BX], 10H 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将字数据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0010H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存入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[BX+1][BX]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FAR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PTR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LAB 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将标号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LAB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看作远标号，实现段间转移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26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合成运算符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7656C5-443C-4776-AC1B-D9D365A25A47}"/>
              </a:ext>
            </a:extLst>
          </p:cNvPr>
          <p:cNvSpPr/>
          <p:nvPr/>
        </p:nvSpPr>
        <p:spPr>
          <a:xfrm>
            <a:off x="735626" y="1160695"/>
            <a:ext cx="7849002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4472C4">
                    <a:lumMod val="75000"/>
                  </a:srgb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THIS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EQU THIS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右边的类型属性赋给左边的变量或标号，该变量或标号的段地址和偏移地址与下一个存储单元的地址相同；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73A57-37FE-4E90-9987-4CC32CDEA3E1}"/>
              </a:ext>
            </a:extLst>
          </p:cNvPr>
          <p:cNvSpPr/>
          <p:nvPr/>
        </p:nvSpPr>
        <p:spPr>
          <a:xfrm>
            <a:off x="1152862" y="2232768"/>
            <a:ext cx="7255514" cy="466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变量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EQU THIS  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类型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5962D6-0F6B-4318-8420-4777B4C5040E}"/>
              </a:ext>
            </a:extLst>
          </p:cNvPr>
          <p:cNvSpPr/>
          <p:nvPr/>
        </p:nvSpPr>
        <p:spPr>
          <a:xfrm>
            <a:off x="1152862" y="3429000"/>
            <a:ext cx="7255514" cy="8719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  EQU  THIS BYTE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  DW  200 DUP(?)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9DD534-24C1-4FDD-AF80-335DAF8A7244}"/>
              </a:ext>
            </a:extLst>
          </p:cNvPr>
          <p:cNvSpPr/>
          <p:nvPr/>
        </p:nvSpPr>
        <p:spPr>
          <a:xfrm>
            <a:off x="1152862" y="4467535"/>
            <a:ext cx="7255514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的偏移地址值与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的偏移地址值相同，区别在于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变量为字节类型，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为字类型。</a:t>
            </a:r>
          </a:p>
        </p:txBody>
      </p:sp>
    </p:spTree>
    <p:extLst>
      <p:ext uri="{BB962C8B-B14F-4D97-AF65-F5344CB8AC3E}">
        <p14:creationId xmlns:p14="http://schemas.microsoft.com/office/powerpoint/2010/main" val="395170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合成运算符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500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4472C4">
                    <a:lumMod val="75000"/>
                  </a:srgb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SHORT 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说明转移类指令中转向地址的属性为短转移：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-128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+127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23DE40-CBA1-4B19-B274-46904E8989F4}"/>
              </a:ext>
            </a:extLst>
          </p:cNvPr>
          <p:cNvSpPr/>
          <p:nvPr/>
        </p:nvSpPr>
        <p:spPr>
          <a:xfrm>
            <a:off x="1152862" y="1846647"/>
            <a:ext cx="7537622" cy="466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SHORT  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E98990-A263-46D6-A718-D5589C520E7A}"/>
              </a:ext>
            </a:extLst>
          </p:cNvPr>
          <p:cNvSpPr/>
          <p:nvPr/>
        </p:nvSpPr>
        <p:spPr>
          <a:xfrm>
            <a:off x="1152862" y="3017760"/>
            <a:ext cx="7537622" cy="1282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NEXT:  XOR AX, AX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...</a:t>
            </a:r>
          </a:p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SHORT NEXT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转移的目标地址距当前地址在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-128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127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之间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923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其他常用伪指令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4472C4">
                    <a:lumMod val="75000"/>
                  </a:srgb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符号定义伪指令 </a:t>
            </a:r>
            <a:r>
              <a:rPr lang="en-US" altLang="zh-CN" sz="2000" dirty="0">
                <a:solidFill>
                  <a:srgbClr val="4472C4">
                    <a:lumMod val="75000"/>
                  </a:srgb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EQU/=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：给变量、标号、常数、指令、表达式定义一个符号名，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EQU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不能重新定义，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可以重新定义。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23DE40-CBA1-4B19-B274-46904E8989F4}"/>
              </a:ext>
            </a:extLst>
          </p:cNvPr>
          <p:cNvSpPr/>
          <p:nvPr/>
        </p:nvSpPr>
        <p:spPr>
          <a:xfrm>
            <a:off x="1152862" y="2332295"/>
            <a:ext cx="7537622" cy="466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符号名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EQU/=  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表达式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E98990-A263-46D6-A718-D5589C520E7A}"/>
              </a:ext>
            </a:extLst>
          </p:cNvPr>
          <p:cNvSpPr/>
          <p:nvPr/>
        </p:nvSpPr>
        <p:spPr>
          <a:xfrm>
            <a:off x="1152862" y="3219769"/>
            <a:ext cx="7537622" cy="2812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COUNT  EQU  100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常数值赋给符号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COUNT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 EQU  COUNT+2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表达式值赋给符号名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</a:t>
            </a:r>
            <a:b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A1  EQU  [BX+SI]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存储单元内容赋给符号名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A1</a:t>
            </a:r>
            <a:b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B1  EQU  OFFSET A1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偏移地址值赋给符号名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B1</a:t>
            </a:r>
            <a:b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C1  EQU  ADD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加法指令赋给符号名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C1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C1  =  SUB		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重新定义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C1</a:t>
            </a:r>
          </a:p>
        </p:txBody>
      </p:sp>
    </p:spTree>
    <p:extLst>
      <p:ext uri="{BB962C8B-B14F-4D97-AF65-F5344CB8AC3E}">
        <p14:creationId xmlns:p14="http://schemas.microsoft.com/office/powerpoint/2010/main" val="166914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其他常用伪指令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500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4472C4">
                    <a:lumMod val="75000"/>
                  </a:srgb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类型定义伪指令 </a:t>
            </a:r>
            <a:r>
              <a:rPr lang="en-US" altLang="zh-CN" sz="2000" dirty="0">
                <a:solidFill>
                  <a:srgbClr val="4472C4">
                    <a:lumMod val="75000"/>
                  </a:srgb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LABEL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：功能与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THIS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运算符类似。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23DE40-CBA1-4B19-B274-46904E8989F4}"/>
              </a:ext>
            </a:extLst>
          </p:cNvPr>
          <p:cNvSpPr/>
          <p:nvPr/>
        </p:nvSpPr>
        <p:spPr>
          <a:xfrm>
            <a:off x="1152862" y="1881952"/>
            <a:ext cx="7537622" cy="466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变量  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LABEL  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类型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E98990-A263-46D6-A718-D5589C520E7A}"/>
              </a:ext>
            </a:extLst>
          </p:cNvPr>
          <p:cNvSpPr/>
          <p:nvPr/>
        </p:nvSpPr>
        <p:spPr>
          <a:xfrm>
            <a:off x="1152862" y="2960277"/>
            <a:ext cx="7537622" cy="23466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BUFB LABEL BYTE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BUFW DW 1, 2, 3, 4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...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BUFB + 3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取一个字节，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(AL) = 00H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BUFW + 3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取一个字，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(AX) = 0300H</a:t>
            </a:r>
          </a:p>
        </p:txBody>
      </p:sp>
    </p:spTree>
    <p:extLst>
      <p:ext uri="{BB962C8B-B14F-4D97-AF65-F5344CB8AC3E}">
        <p14:creationId xmlns:p14="http://schemas.microsoft.com/office/powerpoint/2010/main" val="377514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其他常用伪指令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4472C4">
                    <a:lumMod val="75000"/>
                  </a:srgb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定位伪指令 </a:t>
            </a:r>
            <a:r>
              <a:rPr lang="en-US" altLang="zh-CN" sz="2000" dirty="0">
                <a:solidFill>
                  <a:srgbClr val="4472C4">
                    <a:lumMod val="75000"/>
                  </a:srgb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ORG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：指定下一个可用内存单元的偏移地址为常数表达式，可用于数据段和代码段。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23DE40-CBA1-4B19-B274-46904E8989F4}"/>
              </a:ext>
            </a:extLst>
          </p:cNvPr>
          <p:cNvSpPr/>
          <p:nvPr/>
        </p:nvSpPr>
        <p:spPr>
          <a:xfrm>
            <a:off x="1152862" y="2353765"/>
            <a:ext cx="7537622" cy="466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ts val="32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ORG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常数表达式</a:t>
            </a:r>
            <a:endParaRPr lang="en-US" altLang="zh-CN" sz="2000" dirty="0">
              <a:solidFill>
                <a:srgbClr val="00206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E98990-A263-46D6-A718-D5589C520E7A}"/>
              </a:ext>
            </a:extLst>
          </p:cNvPr>
          <p:cNvSpPr/>
          <p:nvPr/>
        </p:nvSpPr>
        <p:spPr>
          <a:xfrm>
            <a:off x="1152862" y="3020826"/>
            <a:ext cx="7537622" cy="2812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SEGMENT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  ORG 0100H 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由于用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ORG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指令定位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BUF DB 20 DUP('A’)  ;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因此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的偏移地址为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0100H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  ORG 0200H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BUF1 DW 10 DUP(?)  ;BUF1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的偏移地址为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0200H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ENDS</a:t>
            </a:r>
          </a:p>
        </p:txBody>
      </p:sp>
    </p:spTree>
    <p:extLst>
      <p:ext uri="{BB962C8B-B14F-4D97-AF65-F5344CB8AC3E}">
        <p14:creationId xmlns:p14="http://schemas.microsoft.com/office/powerpoint/2010/main" val="200323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其他常用伪指令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500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4472C4">
                    <a:lumMod val="75000"/>
                  </a:srgb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地址计数器 </a:t>
            </a:r>
            <a:r>
              <a:rPr lang="en-US" altLang="zh-CN" sz="2000" dirty="0">
                <a:solidFill>
                  <a:srgbClr val="4472C4">
                    <a:lumMod val="75000"/>
                  </a:srgbClr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$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：表示下一个可用单元的偏移地址。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E98990-A263-46D6-A718-D5589C520E7A}"/>
              </a:ext>
            </a:extLst>
          </p:cNvPr>
          <p:cNvSpPr/>
          <p:nvPr/>
        </p:nvSpPr>
        <p:spPr>
          <a:xfrm>
            <a:off x="1047006" y="2103675"/>
            <a:ext cx="7537622" cy="2351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SEGMENT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  ORG 1000H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X DW 1, 2, $+3, $-4, 1234H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Y DW 0AABBH, $-X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DATA ENDS</a:t>
            </a:r>
          </a:p>
        </p:txBody>
      </p:sp>
    </p:spTree>
    <p:extLst>
      <p:ext uri="{BB962C8B-B14F-4D97-AF65-F5344CB8AC3E}">
        <p14:creationId xmlns:p14="http://schemas.microsoft.com/office/powerpoint/2010/main" val="307989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813514"/>
            <a:ext cx="439094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汇编语言程序设计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汇编程序设计概述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汇编程序结构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汇编程序格式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汇编程序设计基本方法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系统功能调用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汇编程序编译与调试</a:t>
            </a:r>
          </a:p>
        </p:txBody>
      </p:sp>
    </p:spTree>
    <p:extLst>
      <p:ext uri="{BB962C8B-B14F-4D97-AF65-F5344CB8AC3E}">
        <p14:creationId xmlns:p14="http://schemas.microsoft.com/office/powerpoint/2010/main" val="9709070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汇编程序设计步骤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3077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分析问题，绘制程序流程图；</a:t>
            </a:r>
          </a:p>
          <a:p>
            <a:pPr marL="457200" lvl="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分配存储空间，确定寄存器主要作用；</a:t>
            </a:r>
          </a:p>
          <a:p>
            <a:pPr marL="457200" lvl="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编写程序；</a:t>
            </a:r>
          </a:p>
          <a:p>
            <a:pPr marL="457200" lvl="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静态检查，上机调试；</a:t>
            </a:r>
          </a:p>
          <a:p>
            <a:pPr marL="457200" lvl="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程序运行，结果分析。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87790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6817" y="180358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顺序结构示例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B94886D-82D3-4106-BB28-A36348D6B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11" y="1055487"/>
            <a:ext cx="7793037" cy="64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600" b="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计算字节变量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和与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的和，并存放在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SUM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单元中。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46F142-0FF0-4889-BF4F-1BAD9F42BEA6}"/>
              </a:ext>
            </a:extLst>
          </p:cNvPr>
          <p:cNvSpPr/>
          <p:nvPr/>
        </p:nvSpPr>
        <p:spPr>
          <a:xfrm>
            <a:off x="236311" y="1700833"/>
            <a:ext cx="3482249" cy="21137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DATA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SEGMENT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X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DB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Y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DB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SUM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DB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?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DATA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ENDS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4E95EC-D455-4FE8-8DF5-7990A937045C}"/>
              </a:ext>
            </a:extLst>
          </p:cNvPr>
          <p:cNvSpPr/>
          <p:nvPr/>
        </p:nvSpPr>
        <p:spPr>
          <a:xfrm>
            <a:off x="3952789" y="1700406"/>
            <a:ext cx="5080000" cy="46106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CODE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SEGMENT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ASSUME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CS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CODE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DATA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STACK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BEGIN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AX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DATA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AX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X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ADD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Y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SUM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AH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4CH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INT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21H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CODE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ENDS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END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BEGIN</a:t>
            </a:r>
            <a:endParaRPr lang="en-US" altLang="zh-CN" dirty="0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2EEF74-D530-403E-BC5D-D6FAA34C575A}"/>
              </a:ext>
            </a:extLst>
          </p:cNvPr>
          <p:cNvSpPr/>
          <p:nvPr/>
        </p:nvSpPr>
        <p:spPr>
          <a:xfrm>
            <a:off x="236311" y="5070393"/>
            <a:ext cx="3482249" cy="12827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STACK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SEGMENT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STACK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DB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100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DUP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8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?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STACK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ENDS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723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6817" y="180358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分支结构示例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B94886D-82D3-4106-BB28-A36348D6B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18" y="869522"/>
            <a:ext cx="3226246" cy="64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600" b="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lvl="0" indent="0" eaLnBrk="1" hangingPunct="1">
              <a:lnSpc>
                <a:spcPct val="150000"/>
              </a:lnSpc>
              <a:buClr>
                <a:srgbClr val="3333CC"/>
              </a:buClr>
              <a:buSzPct val="100000"/>
              <a:buNone/>
            </a:pP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编程实现以下函数的功能，其中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X,Y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为带符号的字变量。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4E95EC-D455-4FE8-8DF5-7990A937045C}"/>
              </a:ext>
            </a:extLst>
          </p:cNvPr>
          <p:cNvSpPr/>
          <p:nvPr/>
        </p:nvSpPr>
        <p:spPr>
          <a:xfrm>
            <a:off x="3393064" y="349759"/>
            <a:ext cx="5671751" cy="61584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CODE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SEGMENT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ASSUME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CODE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DATA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STACK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BEGIN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AX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DATA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AX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AX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X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将变量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X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放入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AX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CMP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AX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;AX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与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0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比较，结果影响标志位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JGE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BIGE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若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AX≥0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，转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BIGE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Y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-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;AX&lt;0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，则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Y=-1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JMP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EXIT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转向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EXIT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BIGE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JNZ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BIG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;AX≠0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，转向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BIG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Y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;AX=0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，则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Y=0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JMP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EXIT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转向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EXIT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BIG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Y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;AX&gt;0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，则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Y=1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EXIT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AH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4CH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程序结束，返回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DOS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INT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21H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CODE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ENDS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END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BEGIN</a:t>
            </a:r>
            <a:endParaRPr lang="en-US" altLang="zh-CN" dirty="0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2EEF74-D530-403E-BC5D-D6FAA34C575A}"/>
              </a:ext>
            </a:extLst>
          </p:cNvPr>
          <p:cNvSpPr/>
          <p:nvPr/>
        </p:nvSpPr>
        <p:spPr>
          <a:xfrm>
            <a:off x="236308" y="5225453"/>
            <a:ext cx="3025873" cy="12827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STACK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SEGMENT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STACK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DB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100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DUP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8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?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STACK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ENDS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F8D3F43-37BF-49A0-A826-581E0B3A1C99}"/>
                  </a:ext>
                </a:extLst>
              </p:cNvPr>
              <p:cNvSpPr/>
              <p:nvPr/>
            </p:nvSpPr>
            <p:spPr>
              <a:xfrm>
                <a:off x="409611" y="1795426"/>
                <a:ext cx="1875257" cy="9766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F8D3F43-37BF-49A0-A826-581E0B3A1C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11" y="1795426"/>
                <a:ext cx="1875257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FCAFA212-6021-40C7-AAF6-C746CADB5D76}"/>
              </a:ext>
            </a:extLst>
          </p:cNvPr>
          <p:cNvSpPr/>
          <p:nvPr/>
        </p:nvSpPr>
        <p:spPr>
          <a:xfrm>
            <a:off x="236308" y="3149604"/>
            <a:ext cx="3025873" cy="16982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DATA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SEGMENT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X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DW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0AB23H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Y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DW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?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DATA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ENDS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765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6817" y="180358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循环结构示例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B94886D-82D3-4106-BB28-A36348D6B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18" y="869522"/>
            <a:ext cx="8754760" cy="64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600" b="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lvl="0" indent="0" eaLnBrk="1" hangingPunct="1">
              <a:lnSpc>
                <a:spcPct val="150000"/>
              </a:lnSpc>
              <a:buClr>
                <a:srgbClr val="3333CC"/>
              </a:buClr>
              <a:buSzPct val="100000"/>
              <a:buNone/>
            </a:pP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已知从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BUF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单元开始存放一个字节型数组，编程统计其中正数和负数的个数。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2EEF74-D530-403E-BC5D-D6FAA34C575A}"/>
              </a:ext>
            </a:extLst>
          </p:cNvPr>
          <p:cNvSpPr/>
          <p:nvPr/>
        </p:nvSpPr>
        <p:spPr>
          <a:xfrm>
            <a:off x="236307" y="4471691"/>
            <a:ext cx="8685271" cy="12827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STACK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SEGMENT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STACK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DB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100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DUP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8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?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STACK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ENDS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AFA212-6021-40C7-AAF6-C746CADB5D76}"/>
              </a:ext>
            </a:extLst>
          </p:cNvPr>
          <p:cNvSpPr/>
          <p:nvPr/>
        </p:nvSpPr>
        <p:spPr>
          <a:xfrm>
            <a:off x="236307" y="1618830"/>
            <a:ext cx="8685271" cy="25292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DATA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SEGMENT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BUF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DB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-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56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,-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46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7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,-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5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49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,-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37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字节型数组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COUNT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EQU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$-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BUF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数组元素个数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PLUS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DB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?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存放正数个数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 MINUS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DB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?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存放负数个数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DATA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ENDS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263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CAFA212-6021-40C7-AAF6-C746CADB5D76}"/>
              </a:ext>
            </a:extLst>
          </p:cNvPr>
          <p:cNvSpPr/>
          <p:nvPr/>
        </p:nvSpPr>
        <p:spPr>
          <a:xfrm>
            <a:off x="229364" y="151308"/>
            <a:ext cx="8685271" cy="65553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CODE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SEGMENT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ASSUME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CODE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DATA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STACK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BEGIN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AX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DATA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AX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LEA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SI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BUF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;BUF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的偏移地址赋给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SI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CX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COUNT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设置计数个数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XOR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BX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BX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正负数个数的寄存器清零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LOP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	</a:t>
            </a: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AL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SI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]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取一个操作数进行判断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CMP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AL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JGE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BIG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若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AX≥0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，转向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BIG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INC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BL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若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AX&lt;0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，负数，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BL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内容加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JMP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NEXT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转向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NEXT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BIG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	</a:t>
            </a: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INC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BH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正数，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BH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内容加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NEXT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</a:t>
            </a: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INC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SI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偏移地址加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DEC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CX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计数个数减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JNZ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LOP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没判断完继续循环判断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PLUS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BH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正数个数放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PLUS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单元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MINUS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BL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负数个数放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MINUS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单元</a:t>
            </a:r>
            <a:r>
              <a:rPr lang="zh-CN" altLang="en-US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MOV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AH</a:t>
            </a:r>
            <a:r>
              <a:rPr lang="en-US" altLang="zh-CN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4CH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	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返回</a:t>
            </a:r>
            <a:r>
              <a:rPr lang="en-US" altLang="zh-CN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DOS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INT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21H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CODE </a:t>
            </a: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ENDS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ts val="2300"/>
              </a:lnSpc>
            </a:pPr>
            <a:r>
              <a:rPr lang="en-US" altLang="zh-CN" dirty="0">
                <a:solidFill>
                  <a:srgbClr val="0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END</a:t>
            </a:r>
            <a:r>
              <a:rPr lang="en-US" altLang="zh-CN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BEGIN</a:t>
            </a:r>
            <a:endParaRPr lang="en-US" altLang="zh-CN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582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子程序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401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子程序的定义由 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PROC/ENDP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实现；</a:t>
            </a: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定义子程序，一般给出以下内容：</a:t>
            </a: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子程序名字</a:t>
            </a: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子程序的功能说明</a:t>
            </a: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子程序的入口参数：说明子程序运行时需要的参数及存放位置</a:t>
            </a: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子程序的出口参数：说明子程序运行结束后的结果存放的位置</a:t>
            </a: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子程序示例，包括输入输出的数据类型和说明</a:t>
            </a:r>
          </a:p>
        </p:txBody>
      </p:sp>
    </p:spTree>
    <p:extLst>
      <p:ext uri="{BB962C8B-B14F-4D97-AF65-F5344CB8AC3E}">
        <p14:creationId xmlns:p14="http://schemas.microsoft.com/office/powerpoint/2010/main" val="116749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子程序示例</a:t>
            </a:r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340B4B52-71F4-4FFB-9EE0-1E8F9710F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736" y="1332103"/>
            <a:ext cx="8760527" cy="419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449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813514"/>
            <a:ext cx="439094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汇编语言程序设计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汇编程序设计概述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汇编程序结构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汇编程序格式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汇编程序设计基本方法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宏指令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系统功能调用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汇编程序编译与调试</a:t>
            </a:r>
          </a:p>
        </p:txBody>
      </p:sp>
    </p:spTree>
    <p:extLst>
      <p:ext uri="{BB962C8B-B14F-4D97-AF65-F5344CB8AC3E}">
        <p14:creationId xmlns:p14="http://schemas.microsoft.com/office/powerpoint/2010/main" val="37760677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宏指令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3456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代替出现多次的功能相同的语句段，简化书写。</a:t>
            </a: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宏指令使用包括以下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个步骤：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宏定义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：用标识符（宏名）来代替在程序中反复出现的语句段；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宏调用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：程序中如果出现宏定义的语句段，可以直接用宏名来代替；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宏展开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：编译系统生成目标代码时，在宏调用处会产生原来语句段应生成的目标代码。</a:t>
            </a:r>
          </a:p>
        </p:txBody>
      </p:sp>
    </p:spTree>
    <p:extLst>
      <p:ext uri="{BB962C8B-B14F-4D97-AF65-F5344CB8AC3E}">
        <p14:creationId xmlns:p14="http://schemas.microsoft.com/office/powerpoint/2010/main" val="50913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宏指令与子程序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3456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宏指令和子程序功能类似，都可以简化编程</a:t>
            </a: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不同之处在于：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汇编时，宏调用处均用原来的语句段替代，并未缩短目标代码长度；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而子程序目标代码仅有一份，多次调用可显著减少目标代码的长度；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但子程序调用需保护断点、现场和恢复现场，需要更多的运行时间；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因此，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宏指令有着较快的运行速度，而子程序有着较短的目标代码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6569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宏定义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16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宏定义格式如下：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MACRO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ENDM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必须成对出现，宏名只出现一次；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凡程序中出现宏名处，均视为宏调用，实际上是执行宏定义内的语句段。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891C8E-09D2-4D7D-8EA7-FCE0A102BBD7}"/>
              </a:ext>
            </a:extLst>
          </p:cNvPr>
          <p:cNvSpPr/>
          <p:nvPr/>
        </p:nvSpPr>
        <p:spPr>
          <a:xfrm>
            <a:off x="1025605" y="1814896"/>
            <a:ext cx="6697361" cy="142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DejaVu Sans Mono" panose="020B0609030804020204"/>
                <a:ea typeface="黑体" panose="02010609060101010101" pitchFamily="49" charset="-122"/>
              </a:rPr>
              <a:t>宏名 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/>
                <a:ea typeface="黑体" panose="02010609060101010101" pitchFamily="49" charset="-122"/>
              </a:rPr>
              <a:t>	</a:t>
            </a:r>
            <a:r>
              <a:rPr lang="en-US" altLang="zh-CN" sz="2000" dirty="0">
                <a:solidFill>
                  <a:srgbClr val="0080FF"/>
                </a:solidFill>
                <a:latin typeface="DejaVu Sans Mono" panose="020B0609030804020204"/>
                <a:ea typeface="黑体" panose="02010609060101010101" pitchFamily="49" charset="-122"/>
              </a:rPr>
              <a:t>MACRO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/>
                <a:ea typeface="黑体" panose="02010609060101010101" pitchFamily="49" charset="-122"/>
              </a:rPr>
              <a:t>[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/>
                <a:ea typeface="黑体" panose="02010609060101010101" pitchFamily="49" charset="-122"/>
              </a:rPr>
              <a:t>参数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/>
                <a:ea typeface="黑体" panose="02010609060101010101" pitchFamily="49" charset="-122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/>
                <a:ea typeface="黑体" panose="02010609060101010101" pitchFamily="49" charset="-122"/>
              </a:rPr>
              <a:t>...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/>
                <a:ea typeface="黑体" panose="02010609060101010101" pitchFamily="49" charset="-122"/>
              </a:rPr>
              <a:t>]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/>
                <a:ea typeface="黑体" panose="02010609060101010101" pitchFamily="49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/>
                <a:ea typeface="黑体" panose="02010609060101010101" pitchFamily="49" charset="-122"/>
              </a:rPr>
              <a:t>	...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/>
                <a:ea typeface="黑体" panose="02010609060101010101" pitchFamily="49" charset="-122"/>
              </a:rPr>
              <a:t>（语句段）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80FF"/>
                </a:solidFill>
                <a:latin typeface="DejaVu Sans Mono" panose="020B0609030804020204"/>
                <a:ea typeface="黑体" panose="02010609060101010101" pitchFamily="49" charset="-122"/>
              </a:rPr>
              <a:t>	ENDM</a:t>
            </a:r>
            <a:endParaRPr lang="zh-CN" altLang="en-US" sz="2000" dirty="0">
              <a:latin typeface="DejaVu Sans Mono" panose="020B0609030804020204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898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宏定义示例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1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891C8E-09D2-4D7D-8EA7-FCE0A102BBD7}"/>
              </a:ext>
            </a:extLst>
          </p:cNvPr>
          <p:cNvSpPr/>
          <p:nvPr/>
        </p:nvSpPr>
        <p:spPr>
          <a:xfrm>
            <a:off x="3404283" y="1429712"/>
            <a:ext cx="2335433" cy="18882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SHLAL2 </a:t>
            </a:r>
            <a:r>
              <a:rPr lang="en-US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MACRO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CL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SHL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AL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CL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ENDM</a:t>
            </a:r>
            <a:endParaRPr lang="en-US" altLang="zh-CN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BBC39A-73FA-4347-9528-EA5871D8CE0E}"/>
              </a:ext>
            </a:extLst>
          </p:cNvPr>
          <p:cNvSpPr/>
          <p:nvPr/>
        </p:nvSpPr>
        <p:spPr>
          <a:xfrm>
            <a:off x="1822618" y="3716621"/>
            <a:ext cx="2335433" cy="142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AL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[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SI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]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SHLAL2 </a:t>
            </a:r>
          </a:p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[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DI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],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AL</a:t>
            </a:r>
            <a:endParaRPr lang="it-IT" altLang="zh-CN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D4C771-3348-48D8-BE79-E77ABF8A54D7}"/>
              </a:ext>
            </a:extLst>
          </p:cNvPr>
          <p:cNvSpPr/>
          <p:nvPr/>
        </p:nvSpPr>
        <p:spPr>
          <a:xfrm>
            <a:off x="5333573" y="3490890"/>
            <a:ext cx="2335433" cy="18767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AL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[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SI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]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it-IT" altLang="zh-CN" sz="2000" b="1" u="heavy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MOV</a:t>
            </a:r>
            <a:r>
              <a:rPr lang="it-IT" altLang="zh-CN" sz="2000" u="heavy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 </a:t>
            </a:r>
            <a:r>
              <a:rPr lang="it-IT" altLang="zh-CN" sz="2000" b="1" u="heavy" dirty="0">
                <a:solidFill>
                  <a:srgbClr val="8080FF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CL</a:t>
            </a:r>
            <a:r>
              <a:rPr lang="it-IT" altLang="zh-CN" sz="2000" b="1" u="heavy" dirty="0">
                <a:solidFill>
                  <a:srgbClr val="00008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,</a:t>
            </a:r>
            <a:r>
              <a:rPr lang="it-IT" altLang="zh-CN" sz="2000" u="heavy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 </a:t>
            </a:r>
            <a:r>
              <a:rPr lang="it-IT" altLang="zh-CN" sz="2000" u="heavy" dirty="0">
                <a:solidFill>
                  <a:srgbClr val="FF800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2</a:t>
            </a:r>
            <a:endParaRPr lang="it-IT" altLang="zh-CN" sz="2000" u="heavy" dirty="0">
              <a:solidFill>
                <a:srgbClr val="000000"/>
              </a:solidFill>
              <a:uFill>
                <a:solidFill>
                  <a:srgbClr val="FF0000"/>
                </a:solidFill>
              </a:uFill>
              <a:latin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it-IT" altLang="zh-CN" sz="2000" b="1" u="heavy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SHL</a:t>
            </a:r>
            <a:r>
              <a:rPr lang="it-IT" altLang="zh-CN" sz="2000" u="heavy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 </a:t>
            </a:r>
            <a:r>
              <a:rPr lang="it-IT" altLang="zh-CN" sz="2000" b="1" u="heavy" dirty="0">
                <a:solidFill>
                  <a:srgbClr val="8080FF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AL</a:t>
            </a:r>
            <a:r>
              <a:rPr lang="it-IT" altLang="zh-CN" sz="2000" b="1" u="heavy" dirty="0">
                <a:solidFill>
                  <a:srgbClr val="00008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,</a:t>
            </a:r>
            <a:r>
              <a:rPr lang="it-IT" altLang="zh-CN" sz="2000" u="heavy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 </a:t>
            </a:r>
            <a:r>
              <a:rPr lang="it-IT" altLang="zh-CN" sz="2000" b="1" u="heavy" dirty="0">
                <a:solidFill>
                  <a:srgbClr val="8080FF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CL</a:t>
            </a:r>
            <a:endParaRPr lang="it-IT" altLang="zh-CN" sz="2000" u="heavy" dirty="0">
              <a:solidFill>
                <a:srgbClr val="000000"/>
              </a:solidFill>
              <a:uFill>
                <a:solidFill>
                  <a:srgbClr val="FF0000"/>
                </a:solidFill>
              </a:uFill>
              <a:latin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[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DI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],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AL</a:t>
            </a:r>
            <a:endParaRPr lang="it-IT" altLang="zh-CN" sz="2000" dirty="0">
              <a:solidFill>
                <a:srgbClr val="000000"/>
              </a:solidFill>
              <a:latin typeface="DejaVu Sans Mono" panose="020B0609030804020204" pitchFamily="49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6F53869-E33A-47AC-9E3B-C1D94B5C75A1}"/>
              </a:ext>
            </a:extLst>
          </p:cNvPr>
          <p:cNvSpPr/>
          <p:nvPr/>
        </p:nvSpPr>
        <p:spPr>
          <a:xfrm>
            <a:off x="4344217" y="4237725"/>
            <a:ext cx="803189" cy="3830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64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宏定义示例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2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891C8E-09D2-4D7D-8EA7-FCE0A102BBD7}"/>
              </a:ext>
            </a:extLst>
          </p:cNvPr>
          <p:cNvSpPr/>
          <p:nvPr/>
        </p:nvSpPr>
        <p:spPr>
          <a:xfrm>
            <a:off x="3404283" y="1429712"/>
            <a:ext cx="2335433" cy="18882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SHLAL </a:t>
            </a:r>
            <a:r>
              <a:rPr lang="pt-BR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MACRO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N </a:t>
            </a:r>
          </a:p>
          <a:p>
            <a:pPr>
              <a:lnSpc>
                <a:spcPct val="150000"/>
              </a:lnSpc>
            </a:pPr>
            <a:r>
              <a:rPr lang="pt-BR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  MOV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CL</a:t>
            </a:r>
            <a:r>
              <a:rPr lang="pt-BR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N </a:t>
            </a:r>
          </a:p>
          <a:p>
            <a:pPr>
              <a:lnSpc>
                <a:spcPct val="150000"/>
              </a:lnSpc>
            </a:pPr>
            <a:r>
              <a:rPr lang="pt-BR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  SHL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AL</a:t>
            </a:r>
            <a:r>
              <a:rPr lang="pt-BR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CL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pt-BR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ENDM</a:t>
            </a:r>
            <a:endParaRPr lang="pt-BR" altLang="zh-CN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BBC39A-73FA-4347-9528-EA5871D8CE0E}"/>
              </a:ext>
            </a:extLst>
          </p:cNvPr>
          <p:cNvSpPr/>
          <p:nvPr/>
        </p:nvSpPr>
        <p:spPr>
          <a:xfrm>
            <a:off x="1822618" y="3716621"/>
            <a:ext cx="2335433" cy="142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AL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[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SI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]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SHLAL  3</a:t>
            </a:r>
          </a:p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[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DI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],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AL</a:t>
            </a:r>
            <a:endParaRPr lang="it-IT" altLang="zh-CN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D4C771-3348-48D8-BE79-E77ABF8A54D7}"/>
              </a:ext>
            </a:extLst>
          </p:cNvPr>
          <p:cNvSpPr/>
          <p:nvPr/>
        </p:nvSpPr>
        <p:spPr>
          <a:xfrm>
            <a:off x="5333573" y="3490890"/>
            <a:ext cx="2335433" cy="18767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AL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[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SI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]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it-IT" altLang="zh-CN" sz="2000" b="1" u="heavy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MOV</a:t>
            </a:r>
            <a:r>
              <a:rPr lang="it-IT" altLang="zh-CN" sz="2000" u="heavy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 </a:t>
            </a:r>
            <a:r>
              <a:rPr lang="it-IT" altLang="zh-CN" sz="2000" b="1" u="heavy" dirty="0">
                <a:solidFill>
                  <a:srgbClr val="8080FF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CL</a:t>
            </a:r>
            <a:r>
              <a:rPr lang="it-IT" altLang="zh-CN" sz="2000" b="1" u="heavy" dirty="0">
                <a:solidFill>
                  <a:srgbClr val="00008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,</a:t>
            </a:r>
            <a:r>
              <a:rPr lang="it-IT" altLang="zh-CN" sz="2000" u="heavy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 </a:t>
            </a:r>
            <a:r>
              <a:rPr lang="it-IT" altLang="zh-CN" sz="2000" u="heavy" dirty="0">
                <a:solidFill>
                  <a:srgbClr val="FF800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3</a:t>
            </a:r>
            <a:endParaRPr lang="it-IT" altLang="zh-CN" sz="2000" u="heavy" dirty="0">
              <a:solidFill>
                <a:srgbClr val="000000"/>
              </a:solidFill>
              <a:uFill>
                <a:solidFill>
                  <a:srgbClr val="FF0000"/>
                </a:solidFill>
              </a:uFill>
              <a:latin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it-IT" altLang="zh-CN" sz="2000" b="1" u="heavy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SHL</a:t>
            </a:r>
            <a:r>
              <a:rPr lang="it-IT" altLang="zh-CN" sz="2000" u="heavy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 </a:t>
            </a:r>
            <a:r>
              <a:rPr lang="it-IT" altLang="zh-CN" sz="2000" b="1" u="heavy" dirty="0">
                <a:solidFill>
                  <a:srgbClr val="8080FF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AL</a:t>
            </a:r>
            <a:r>
              <a:rPr lang="it-IT" altLang="zh-CN" sz="2000" b="1" u="heavy" dirty="0">
                <a:solidFill>
                  <a:srgbClr val="00008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,</a:t>
            </a:r>
            <a:r>
              <a:rPr lang="it-IT" altLang="zh-CN" sz="2000" u="heavy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 </a:t>
            </a:r>
            <a:r>
              <a:rPr lang="it-IT" altLang="zh-CN" sz="2000" b="1" u="heavy" dirty="0">
                <a:solidFill>
                  <a:srgbClr val="8080FF"/>
                </a:solidFill>
                <a:uFill>
                  <a:solidFill>
                    <a:srgbClr val="FF0000"/>
                  </a:solidFill>
                </a:uFill>
                <a:latin typeface="DejaVu Sans Mono" panose="020B0609030804020204" pitchFamily="49" charset="0"/>
              </a:rPr>
              <a:t>CL</a:t>
            </a:r>
            <a:endParaRPr lang="it-IT" altLang="zh-CN" sz="2000" u="heavy" dirty="0">
              <a:solidFill>
                <a:srgbClr val="000000"/>
              </a:solidFill>
              <a:uFill>
                <a:solidFill>
                  <a:srgbClr val="FF0000"/>
                </a:solidFill>
              </a:uFill>
              <a:latin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[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DI</a:t>
            </a:r>
            <a:r>
              <a:rPr lang="it-IT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],</a:t>
            </a:r>
            <a:r>
              <a:rPr lang="it-IT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it-IT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AL</a:t>
            </a:r>
            <a:endParaRPr lang="it-IT" altLang="zh-CN" sz="2000" dirty="0">
              <a:solidFill>
                <a:srgbClr val="000000"/>
              </a:solidFill>
              <a:latin typeface="DejaVu Sans Mono" panose="020B0609030804020204" pitchFamily="49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6F53869-E33A-47AC-9E3B-C1D94B5C75A1}"/>
              </a:ext>
            </a:extLst>
          </p:cNvPr>
          <p:cNvSpPr/>
          <p:nvPr/>
        </p:nvSpPr>
        <p:spPr>
          <a:xfrm>
            <a:off x="4344217" y="4237725"/>
            <a:ext cx="803189" cy="3830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11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取消宏名伪指令 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PURGE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1DA2F9-440F-4C5D-A055-24BB30DF9216}"/>
              </a:ext>
            </a:extLst>
          </p:cNvPr>
          <p:cNvSpPr/>
          <p:nvPr/>
        </p:nvSpPr>
        <p:spPr>
          <a:xfrm>
            <a:off x="383473" y="1572093"/>
            <a:ext cx="3749744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PURGE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宏名</a:t>
            </a:r>
            <a:r>
              <a:rPr lang="en-US" altLang="zh-CN" sz="2000" dirty="0">
                <a:solidFill>
                  <a:srgbClr val="FF8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[,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宏名</a:t>
            </a:r>
            <a:r>
              <a:rPr lang="en-US" altLang="zh-CN" sz="2000" dirty="0">
                <a:solidFill>
                  <a:srgbClr val="FF8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en-US" altLang="zh-CN" sz="2000" b="1" dirty="0">
                <a:solidFill>
                  <a:srgbClr val="00008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...</a:t>
            </a:r>
            <a:r>
              <a:rPr lang="en-US" altLang="zh-CN" sz="2000" b="1" dirty="0">
                <a:solidFill>
                  <a:srgbClr val="00008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]</a:t>
            </a:r>
            <a:endParaRPr lang="zh-CN" altLang="en-US" sz="2000" dirty="0">
              <a:effectLst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4896B9-F933-47F1-9099-55E93BAF2349}"/>
              </a:ext>
            </a:extLst>
          </p:cNvPr>
          <p:cNvSpPr/>
          <p:nvPr/>
        </p:nvSpPr>
        <p:spPr>
          <a:xfrm>
            <a:off x="383473" y="2587124"/>
            <a:ext cx="3808516" cy="28115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SHIFT </a:t>
            </a:r>
            <a:r>
              <a:rPr lang="pt-BR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MACRO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X, N,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pt-BR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MOV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pt-BR" altLang="zh-CN" sz="2000" b="1" dirty="0">
                <a:solidFill>
                  <a:srgbClr val="00008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N </a:t>
            </a:r>
          </a:p>
          <a:p>
            <a:pPr>
              <a:lnSpc>
                <a:spcPct val="150000"/>
              </a:lnSpc>
            </a:pPr>
            <a:r>
              <a:rPr lang="pt-BR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SH&amp;D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pt-BR" altLang="zh-CN" sz="2000" b="1" dirty="0">
                <a:solidFill>
                  <a:srgbClr val="00008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pt-BR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ENDM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…(</a:t>
            </a:r>
            <a:r>
              <a:rPr lang="zh-CN" altLang="en-US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语句段）</a:t>
            </a:r>
            <a:endParaRPr lang="pt-BR" altLang="zh-CN" sz="2000" dirty="0">
              <a:solidFill>
                <a:srgbClr val="0080FF"/>
              </a:solidFill>
              <a:effectLst/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PURGE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SHIFT</a:t>
            </a:r>
            <a:endParaRPr lang="en-US" altLang="zh-CN" sz="2000" dirty="0">
              <a:effectLst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4F062C-EC92-462D-8087-CAD38FAACAFD}"/>
              </a:ext>
            </a:extLst>
          </p:cNvPr>
          <p:cNvSpPr/>
          <p:nvPr/>
        </p:nvSpPr>
        <p:spPr>
          <a:xfrm>
            <a:off x="4739346" y="1432289"/>
            <a:ext cx="3845283" cy="512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SHLAL2 </a:t>
            </a:r>
            <a:r>
              <a:rPr lang="en-US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MACRO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en-US" altLang="zh-CN" sz="2000" b="1" dirty="0">
                <a:solidFill>
                  <a:srgbClr val="00008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en-US" altLang="zh-CN" sz="2000" b="1" dirty="0">
                <a:solidFill>
                  <a:srgbClr val="00008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ENDM</a:t>
            </a:r>
          </a:p>
          <a:p>
            <a:pPr lvl="0">
              <a:lnSpc>
                <a:spcPct val="15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SHIFT </a:t>
            </a:r>
            <a:r>
              <a:rPr lang="pt-BR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MACRO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X, N,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pt-BR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MOV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pt-BR" altLang="zh-CN" sz="2000" b="1" dirty="0">
                <a:solidFill>
                  <a:srgbClr val="00008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N </a:t>
            </a:r>
          </a:p>
          <a:p>
            <a:pPr lvl="0">
              <a:lnSpc>
                <a:spcPct val="150000"/>
              </a:lnSpc>
            </a:pPr>
            <a:r>
              <a:rPr lang="pt-BR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 SH&amp;D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pt-BR" altLang="zh-CN" sz="2000" b="1" dirty="0">
                <a:solidFill>
                  <a:srgbClr val="00008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pt-BR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ENDM</a:t>
            </a:r>
          </a:p>
          <a:p>
            <a:pPr lvl="0">
              <a:lnSpc>
                <a:spcPct val="150000"/>
              </a:lnSpc>
            </a:pPr>
            <a:r>
              <a:rPr lang="en-US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…(</a:t>
            </a:r>
            <a:r>
              <a:rPr lang="zh-CN" altLang="en-US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语句段）</a:t>
            </a:r>
            <a:endParaRPr lang="pt-BR" altLang="zh-CN" sz="2000" dirty="0">
              <a:solidFill>
                <a:srgbClr val="0080FF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2000" dirty="0">
                <a:solidFill>
                  <a:srgbClr val="0080FF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PURGE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SHLAL2, SHIFT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effectLst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289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宏标号定义语句 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LOCAL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1DA2F9-440F-4C5D-A055-24BB30DF9216}"/>
              </a:ext>
            </a:extLst>
          </p:cNvPr>
          <p:cNvSpPr/>
          <p:nvPr/>
        </p:nvSpPr>
        <p:spPr>
          <a:xfrm>
            <a:off x="735626" y="1250004"/>
            <a:ext cx="428835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该宏定义在调用的时候有什么问题？</a:t>
            </a:r>
            <a:endParaRPr lang="zh-CN" altLang="en-US" sz="2000" dirty="0">
              <a:effectLst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4896B9-F933-47F1-9099-55E93BAF2349}"/>
              </a:ext>
            </a:extLst>
          </p:cNvPr>
          <p:cNvSpPr/>
          <p:nvPr/>
        </p:nvSpPr>
        <p:spPr>
          <a:xfrm>
            <a:off x="849477" y="1793039"/>
            <a:ext cx="7612767" cy="32719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SHLDW </a:t>
            </a:r>
            <a:r>
              <a:rPr lang="es-ES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MACRO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X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Y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N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MOV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CX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N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 L1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:	</a:t>
            </a: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SAL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X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1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RCL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Y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1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DEC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CX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JNZ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L1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ENDM</a:t>
            </a:r>
            <a:endParaRPr lang="en-US" altLang="zh-CN" sz="2000" dirty="0">
              <a:effectLst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C989D0-F325-4504-A891-31CEDA7A578C}"/>
              </a:ext>
            </a:extLst>
          </p:cNvPr>
          <p:cNvSpPr/>
          <p:nvPr/>
        </p:nvSpPr>
        <p:spPr>
          <a:xfrm>
            <a:off x="849477" y="5207885"/>
            <a:ext cx="7735152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若该宏名在同一程序中被多次调用，会产生多个相同的语句标号。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标号实际上是符号地址，不能重复，否则程序运行会出错。</a:t>
            </a:r>
          </a:p>
        </p:txBody>
      </p:sp>
    </p:spTree>
    <p:extLst>
      <p:ext uri="{BB962C8B-B14F-4D97-AF65-F5344CB8AC3E}">
        <p14:creationId xmlns:p14="http://schemas.microsoft.com/office/powerpoint/2010/main" val="339302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31DA2F9-440F-4C5D-A055-24BB30DF9216}"/>
              </a:ext>
            </a:extLst>
          </p:cNvPr>
          <p:cNvSpPr/>
          <p:nvPr/>
        </p:nvSpPr>
        <p:spPr>
          <a:xfrm>
            <a:off x="708691" y="654799"/>
            <a:ext cx="7726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在宏体开始处使用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LOCAL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定义标号可避免标号重复问题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4896B9-F933-47F1-9099-55E93BAF2349}"/>
              </a:ext>
            </a:extLst>
          </p:cNvPr>
          <p:cNvSpPr/>
          <p:nvPr/>
        </p:nvSpPr>
        <p:spPr>
          <a:xfrm>
            <a:off x="822542" y="1054909"/>
            <a:ext cx="7612767" cy="35796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SHLDW </a:t>
            </a:r>
            <a:r>
              <a:rPr lang="es-ES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MACRO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X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Y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N </a:t>
            </a:r>
          </a:p>
          <a:p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</a:t>
            </a:r>
            <a:r>
              <a:rPr lang="en-US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LOCAL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L1</a:t>
            </a:r>
            <a:endParaRPr lang="es-ES" altLang="zh-CN" sz="2000" dirty="0">
              <a:solidFill>
                <a:srgbClr val="0000FF"/>
              </a:solidFill>
              <a:latin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MOV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CX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N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 </a:t>
            </a:r>
            <a:r>
              <a:rPr lang="es-ES" altLang="zh-CN" sz="2000">
                <a:solidFill>
                  <a:srgbClr val="000000"/>
                </a:solidFill>
                <a:latin typeface="DejaVu Sans Mono" panose="020B0609030804020204" pitchFamily="49" charset="0"/>
              </a:rPr>
              <a:t>L1</a:t>
            </a:r>
            <a:r>
              <a:rPr lang="es-ES" altLang="zh-CN" sz="2000">
                <a:solidFill>
                  <a:srgbClr val="000080"/>
                </a:solidFill>
                <a:latin typeface="DejaVu Sans Mono" panose="020B0609030804020204" pitchFamily="49" charset="0"/>
              </a:rPr>
              <a:t>:	</a:t>
            </a:r>
            <a:r>
              <a:rPr lang="es-ES" altLang="zh-CN" sz="2000">
                <a:solidFill>
                  <a:srgbClr val="0000FF"/>
                </a:solidFill>
                <a:latin typeface="DejaVu Sans Mono" panose="020B0609030804020204" pitchFamily="49" charset="0"/>
              </a:rPr>
              <a:t>SAL</a:t>
            </a:r>
            <a:r>
              <a:rPr lang="es-ES" altLang="zh-CN" sz="200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X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1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RCL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Y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1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DEC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CX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JNZ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L1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ENDM</a:t>
            </a:r>
            <a:endParaRPr lang="en-US" altLang="zh-CN" sz="2000" dirty="0">
              <a:effectLst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C989D0-F325-4504-A891-31CEDA7A578C}"/>
              </a:ext>
            </a:extLst>
          </p:cNvPr>
          <p:cNvSpPr/>
          <p:nvPr/>
        </p:nvSpPr>
        <p:spPr>
          <a:xfrm>
            <a:off x="822541" y="4723468"/>
            <a:ext cx="7612767" cy="1423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LOCAL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仅在宏定义中使用，且必须是宏体中的第一条语句；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实际上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LOCAL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是将标号变为形参，在宏展开时用实参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??0000, ??0001, ??0002…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等进行替换</a:t>
            </a:r>
          </a:p>
        </p:txBody>
      </p:sp>
    </p:spTree>
    <p:extLst>
      <p:ext uri="{BB962C8B-B14F-4D97-AF65-F5344CB8AC3E}">
        <p14:creationId xmlns:p14="http://schemas.microsoft.com/office/powerpoint/2010/main" val="344187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33F6FD6-5E6F-4D55-9EEE-29688F3DBDE5}"/>
              </a:ext>
            </a:extLst>
          </p:cNvPr>
          <p:cNvSpPr/>
          <p:nvPr/>
        </p:nvSpPr>
        <p:spPr>
          <a:xfrm>
            <a:off x="3846792" y="176571"/>
            <a:ext cx="5117359" cy="65048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	   ...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 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CX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3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??0000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:</a:t>
            </a: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SAL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AX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</a:rPr>
              <a:t>标号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</a:rPr>
              <a:t>L1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</a:rPr>
              <a:t>首次出现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 RCL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DX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 DEC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CX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 JNZ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??0000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	   ...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	   ...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 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CX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4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??0001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:</a:t>
            </a: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SAL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AX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</a:rPr>
              <a:t>标号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</a:rPr>
              <a:t>L1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</a:rPr>
              <a:t>第二次出现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 RCL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DX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 DEC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CX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 JNZ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??0001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	   ...</a:t>
            </a:r>
            <a:endParaRPr lang="en-US" altLang="zh-CN" sz="2000" dirty="0">
              <a:effectLst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DCACAB-7A43-44A2-AA86-9B88A39CCA72}"/>
              </a:ext>
            </a:extLst>
          </p:cNvPr>
          <p:cNvSpPr/>
          <p:nvPr/>
        </p:nvSpPr>
        <p:spPr>
          <a:xfrm>
            <a:off x="204563" y="176571"/>
            <a:ext cx="3481961" cy="37348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SHLDW </a:t>
            </a:r>
            <a:r>
              <a:rPr lang="es-ES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MACRO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X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Y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N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</a:t>
            </a:r>
            <a:r>
              <a:rPr lang="en-US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LOCAL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L1</a:t>
            </a:r>
            <a:endParaRPr lang="es-ES" altLang="zh-CN" sz="2000" dirty="0">
              <a:solidFill>
                <a:srgbClr val="0000FF"/>
              </a:solidFill>
              <a:latin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MOV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CX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N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 L1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: </a:t>
            </a: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SAL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X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1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RCL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Y</a:t>
            </a:r>
            <a:r>
              <a:rPr lang="es-E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1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DEC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s-E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CX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00FF"/>
                </a:solidFill>
                <a:latin typeface="DejaVu Sans Mono" panose="020B0609030804020204" pitchFamily="49" charset="0"/>
              </a:rPr>
              <a:t>	JNZ</a:t>
            </a:r>
            <a:r>
              <a:rPr lang="es-E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L1 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rgbClr val="0080FF"/>
                </a:solidFill>
                <a:latin typeface="DejaVu Sans Mono" panose="020B0609030804020204" pitchFamily="49" charset="0"/>
              </a:rPr>
              <a:t>ENDM</a:t>
            </a:r>
            <a:endParaRPr lang="es-ES" altLang="zh-CN" sz="2000" dirty="0">
              <a:effectLst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F5B4A4-3DBE-4008-8DFB-522E42AE6939}"/>
              </a:ext>
            </a:extLst>
          </p:cNvPr>
          <p:cNvSpPr/>
          <p:nvPr/>
        </p:nvSpPr>
        <p:spPr>
          <a:xfrm>
            <a:off x="204563" y="4213884"/>
            <a:ext cx="2574166" cy="142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SHLDW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AX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DX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3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...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SHLDW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BX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</a:rPr>
              <a:t>DX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4</a:t>
            </a:r>
            <a:endParaRPr lang="en-US" altLang="zh-CN" sz="2000" dirty="0">
              <a:effectLst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2BA6257-E9FB-4418-8536-9C5BB4B04382}"/>
              </a:ext>
            </a:extLst>
          </p:cNvPr>
          <p:cNvCxnSpPr>
            <a:cxnSpLocks/>
          </p:cNvCxnSpPr>
          <p:nvPr/>
        </p:nvCxnSpPr>
        <p:spPr bwMode="auto">
          <a:xfrm flipV="1">
            <a:off x="2696179" y="1791730"/>
            <a:ext cx="1875821" cy="2659929"/>
          </a:xfrm>
          <a:prstGeom prst="straightConnector1">
            <a:avLst/>
          </a:prstGeom>
          <a:solidFill>
            <a:schemeClr val="accent1"/>
          </a:solidFill>
          <a:ln w="31750" cap="sq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0B466C2-17FE-4E90-BF66-F3034CABBF01}"/>
              </a:ext>
            </a:extLst>
          </p:cNvPr>
          <p:cNvCxnSpPr>
            <a:cxnSpLocks/>
          </p:cNvCxnSpPr>
          <p:nvPr/>
        </p:nvCxnSpPr>
        <p:spPr bwMode="auto">
          <a:xfrm flipV="1">
            <a:off x="2696179" y="4927156"/>
            <a:ext cx="1875821" cy="472748"/>
          </a:xfrm>
          <a:prstGeom prst="straightConnector1">
            <a:avLst/>
          </a:prstGeom>
          <a:solidFill>
            <a:schemeClr val="accent1"/>
          </a:solidFill>
          <a:ln w="31750" cap="sq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6203322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813514"/>
            <a:ext cx="439094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汇编语言程序设计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汇编程序设计概述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汇编程序结构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汇编程序格式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汇编程序设计基本方法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系统功能调用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汇编程序编译与调试</a:t>
            </a:r>
          </a:p>
        </p:txBody>
      </p:sp>
    </p:spTree>
    <p:extLst>
      <p:ext uri="{BB962C8B-B14F-4D97-AF65-F5344CB8AC3E}">
        <p14:creationId xmlns:p14="http://schemas.microsoft.com/office/powerpoint/2010/main" val="30202119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DOS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系统功能调用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2466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包含多个子功能的功能包；</a:t>
            </a: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用软中断指令调用，中断类型码固定为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21H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各子功能采用功能号来区分。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调用格式：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176A8C-9F8A-4B40-8D39-96886D39DC53}"/>
              </a:ext>
            </a:extLst>
          </p:cNvPr>
          <p:cNvSpPr/>
          <p:nvPr/>
        </p:nvSpPr>
        <p:spPr>
          <a:xfrm>
            <a:off x="2613454" y="3429000"/>
            <a:ext cx="2557850" cy="14150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[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设置相应参数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]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endParaRPr lang="en-US" altLang="zh-CN" sz="2000" dirty="0">
              <a:solidFill>
                <a:srgbClr val="0000FF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lvl="0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AH</a:t>
            </a:r>
            <a:r>
              <a:rPr lang="en-US" altLang="zh-CN" sz="2000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4CH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lvl="0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21H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03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DOS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系统功能调用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4071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DOS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系统功能调用是通过中断指令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INT 21H 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来进行，通过功能号确定不同功能的调用。提供给用户的功能号为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00H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62H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DOS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系统功能调用步骤：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置入口参数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功能号送 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AH 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寄存器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执行中断指令 </a:t>
            </a:r>
            <a:r>
              <a:rPr lang="en-US" altLang="zh-CN" dirty="0">
                <a:solidFill>
                  <a:srgbClr val="00B05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INT 21H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调用结束后若有出口参数，一般存放在指定的寄存器中，或由屏幕显示。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67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常用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DOS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系统功能表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BD6327B-EF29-42A9-8BA4-57E708411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895945"/>
              </p:ext>
            </p:extLst>
          </p:nvPr>
        </p:nvGraphicFramePr>
        <p:xfrm>
          <a:off x="461962" y="1146133"/>
          <a:ext cx="8220075" cy="50400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048802">
                  <a:extLst>
                    <a:ext uri="{9D8B030D-6E8A-4147-A177-3AD203B41FA5}">
                      <a16:colId xmlns:a16="http://schemas.microsoft.com/office/drawing/2014/main" val="3014283342"/>
                    </a:ext>
                  </a:extLst>
                </a:gridCol>
                <a:gridCol w="2648197">
                  <a:extLst>
                    <a:ext uri="{9D8B030D-6E8A-4147-A177-3AD203B41FA5}">
                      <a16:colId xmlns:a16="http://schemas.microsoft.com/office/drawing/2014/main" val="3812777205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1735452512"/>
                    </a:ext>
                  </a:extLst>
                </a:gridCol>
                <a:gridCol w="1649247">
                  <a:extLst>
                    <a:ext uri="{9D8B030D-6E8A-4147-A177-3AD203B41FA5}">
                      <a16:colId xmlns:a16="http://schemas.microsoft.com/office/drawing/2014/main" val="3785415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功能号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功能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入口参数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出口参数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58251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1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键入字符并回显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 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AL=</a:t>
                      </a: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字符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574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2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显示字符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DL=</a:t>
                      </a: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字符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 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6649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7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键入字符不回显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AL=</a:t>
                      </a: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字符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64832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9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显示字符串</a:t>
                      </a:r>
                      <a:r>
                        <a:rPr lang="en-US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lang="zh-CN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不含</a:t>
                      </a:r>
                      <a:r>
                        <a:rPr lang="en-US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’$’)</a:t>
                      </a:r>
                      <a:endParaRPr lang="zh-CN" sz="2000" kern="100" dirty="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DS</a:t>
                      </a:r>
                      <a:r>
                        <a:rPr lang="zh-CN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：</a:t>
                      </a:r>
                      <a:r>
                        <a:rPr lang="en-US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DX=</a:t>
                      </a:r>
                      <a:r>
                        <a:rPr lang="zh-CN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串首地址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67548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0A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键入字符串至内存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DS</a:t>
                      </a:r>
                      <a:r>
                        <a:rPr lang="zh-CN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：</a:t>
                      </a:r>
                      <a:r>
                        <a:rPr lang="en-US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DX=</a:t>
                      </a:r>
                      <a:r>
                        <a:rPr lang="zh-CN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缓冲区首地址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0236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4C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返回</a:t>
                      </a: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DOS</a:t>
                      </a: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（带返回码）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AL=</a:t>
                      </a: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返回码</a:t>
                      </a: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</a:endParaRPr>
                    </a:p>
                  </a:txBody>
                  <a:tcPr marL="63786" marR="637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99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9297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单字符输入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4678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功能号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01H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扫描键盘，等待按键；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若有键按下，将相应键的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ASCII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码读入，并判断是否是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CTRL+C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键；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如是，则退出命令的执行；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否则将键值送入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寄存器，同时送显示器显示。</a:t>
            </a: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功能号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07H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从标准键盘输入字符到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，无回显不检测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CTRL+C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键，属于直接控制台输入，通常用来输入密码。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70208A-3C4D-41BC-B945-636624D489A0}"/>
              </a:ext>
            </a:extLst>
          </p:cNvPr>
          <p:cNvSpPr/>
          <p:nvPr/>
        </p:nvSpPr>
        <p:spPr>
          <a:xfrm>
            <a:off x="4807199" y="1423870"/>
            <a:ext cx="2285578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AH</a:t>
            </a:r>
            <a:r>
              <a:rPr lang="pt-BR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01H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r>
              <a:rPr lang="pt-BR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INT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21H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en-US" altLang="zh-CN" sz="2000" dirty="0">
                <a:solidFill>
                  <a:srgbClr val="FF8000"/>
                </a:solidFill>
                <a:effectLst/>
                <a:latin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[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SI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]</a:t>
            </a:r>
            <a:r>
              <a:rPr lang="en-US" altLang="zh-CN" sz="2000" dirty="0">
                <a:solidFill>
                  <a:srgbClr val="FF8000"/>
                </a:solidFill>
                <a:effectLst/>
                <a:latin typeface="DejaVu Sans Mono" panose="020B0609030804020204" pitchFamily="49" charset="0"/>
              </a:rPr>
              <a:t>, AL</a:t>
            </a:r>
            <a:endParaRPr lang="pt-BR" altLang="zh-CN" sz="2000" dirty="0">
              <a:effectLst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5984B5-03FD-4174-82FC-138612200BFE}"/>
              </a:ext>
            </a:extLst>
          </p:cNvPr>
          <p:cNvSpPr/>
          <p:nvPr/>
        </p:nvSpPr>
        <p:spPr>
          <a:xfrm>
            <a:off x="4807199" y="5324542"/>
            <a:ext cx="2285579" cy="11387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altLang="zh-CN" sz="22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pt-BR" altLang="zh-CN" sz="22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2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AH</a:t>
            </a:r>
            <a:r>
              <a:rPr lang="pt-BR" altLang="zh-CN" sz="22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pt-BR" altLang="zh-CN" sz="22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200" dirty="0">
                <a:solidFill>
                  <a:srgbClr val="FF8000"/>
                </a:solidFill>
                <a:latin typeface="DejaVu Sans Mono" panose="020B0609030804020204" pitchFamily="49" charset="0"/>
              </a:rPr>
              <a:t>07H</a:t>
            </a:r>
            <a:r>
              <a:rPr lang="pt-BR" altLang="zh-CN" sz="22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r>
              <a:rPr lang="pt-BR" altLang="zh-CN" sz="22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INT</a:t>
            </a:r>
            <a:r>
              <a:rPr lang="pt-BR" altLang="zh-CN" sz="22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200" dirty="0">
                <a:solidFill>
                  <a:srgbClr val="FF8000"/>
                </a:solidFill>
                <a:latin typeface="DejaVu Sans Mono" panose="020B0609030804020204" pitchFamily="49" charset="0"/>
              </a:rPr>
              <a:t>21H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en-US" altLang="zh-CN" sz="2200" dirty="0">
                <a:solidFill>
                  <a:srgbClr val="FF8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[</a:t>
            </a:r>
            <a:r>
              <a:rPr lang="en-US" altLang="zh-CN" sz="24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SI</a:t>
            </a:r>
            <a:r>
              <a:rPr lang="en-US" altLang="zh-CN" sz="24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]</a:t>
            </a:r>
            <a:r>
              <a:rPr lang="en-US" altLang="zh-CN" sz="2200" dirty="0">
                <a:solidFill>
                  <a:srgbClr val="FF8000"/>
                </a:solidFill>
                <a:latin typeface="DejaVu Sans Mono" panose="020B0609030804020204" pitchFamily="49" charset="0"/>
              </a:rPr>
              <a:t>, AL</a:t>
            </a:r>
            <a:endParaRPr lang="pt-BR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17354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单字符输入示例：交互式应答程序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2529F5A-7B92-47CF-B4B1-7298813BD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26" y="1825389"/>
            <a:ext cx="5060302" cy="355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336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字符串输入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3446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功能号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0AH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从键盘接收字符串到用户定义的输入缓冲区，直到输入回车符为止；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缓冲区第一个字节指出缓冲区所接收的最大字符数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含回车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，第二个字节存放实际输入字符数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不含回车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，从第三个字节开始存放输入的字符；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调用时要使 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DS:DX 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指向输入缓冲区首址。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727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用户自定义缓冲区格式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38EF336-0721-4DC3-B452-7E9A4F824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646" y="2084388"/>
            <a:ext cx="7162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FFC7831A-6760-4A4E-8847-E1298F7BF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8646" y="2084388"/>
            <a:ext cx="0" cy="6096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54BA2668-1490-40B2-A612-26790C174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0646" y="2084388"/>
            <a:ext cx="0" cy="6096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0A70CFA5-4CA6-4993-9AEF-46D56EBC4E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5046" y="2084388"/>
            <a:ext cx="0" cy="6096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4B318418-D9C8-4B59-A562-0C48F790D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246" y="2160588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DH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358B7CF6-66BD-45F1-8857-CFE38719B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59" y="216058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N1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3F0CB13B-E0FF-4435-A30E-AC5AA5A6D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2946" y="2160588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N2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37B09E4B-34FC-459E-B1A8-B942202D001A}"/>
              </a:ext>
            </a:extLst>
          </p:cNvPr>
          <p:cNvSpPr>
            <a:spLocks/>
          </p:cNvSpPr>
          <p:nvPr/>
        </p:nvSpPr>
        <p:spPr bwMode="auto">
          <a:xfrm rot="16197450" flipV="1">
            <a:off x="4609709" y="989013"/>
            <a:ext cx="357187" cy="5453063"/>
          </a:xfrm>
          <a:prstGeom prst="leftBrace">
            <a:avLst>
              <a:gd name="adj1" fmla="val 127222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F2A55FE8-DF4E-43FD-819E-5BDAECC76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2184" y="3986213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Consolas" panose="020B0609020204030204" pitchFamily="49" charset="0"/>
                <a:ea typeface="黑体" panose="02010609060101010101" pitchFamily="49" charset="-122"/>
              </a:rPr>
              <a:t>整个缓冲区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CDF2A048-08E7-4781-87F4-D1041928414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446" y="2919413"/>
            <a:ext cx="0" cy="2659063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25CFDE3C-2CD2-43C3-9E5C-730B83219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446" y="5583238"/>
            <a:ext cx="609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F97DEE48-CE69-41CE-B73B-6733DE670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5846" y="2905126"/>
            <a:ext cx="0" cy="204787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64417150-F323-4ECE-9F8E-5156491122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5846" y="4948238"/>
            <a:ext cx="11430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B4A7B7B1-9FD5-4E66-84EF-93FC75782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246" y="5389563"/>
            <a:ext cx="31547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最大可键入字符数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含回车）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451D9E0C-812F-4006-AC80-748289A5D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1858" y="4741863"/>
            <a:ext cx="331152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实际键入字符数（不含回车）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BCC3F1B5-4366-4746-BC54-10463AF94AF3}"/>
              </a:ext>
            </a:extLst>
          </p:cNvPr>
          <p:cNvSpPr>
            <a:spLocks/>
          </p:cNvSpPr>
          <p:nvPr/>
        </p:nvSpPr>
        <p:spPr bwMode="auto">
          <a:xfrm rot="16197450" flipV="1">
            <a:off x="4110440" y="686594"/>
            <a:ext cx="357188" cy="4537075"/>
          </a:xfrm>
          <a:prstGeom prst="leftBrace">
            <a:avLst>
              <a:gd name="adj1" fmla="val 105852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4F2F5AFA-2522-4E75-BFC7-C8FD54F72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921" y="3151188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Consolas" panose="020B0609020204030204" pitchFamily="49" charset="0"/>
                <a:ea typeface="黑体" panose="02010609060101010101" pitchFamily="49" charset="-122"/>
              </a:rPr>
              <a:t>存放键入的字符</a:t>
            </a: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55969C8D-6306-4920-A2E8-FEBE8DFCC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21" y="1644651"/>
            <a:ext cx="3382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存放字符个数：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≤255</a:t>
            </a:r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C752FCEE-6E48-41EC-9C44-E1D97053A9D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860554" y="4540190"/>
            <a:ext cx="22834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字符串以回车结束</a:t>
            </a:r>
          </a:p>
        </p:txBody>
      </p:sp>
      <p:sp>
        <p:nvSpPr>
          <p:cNvPr id="24" name="Line 16">
            <a:extLst>
              <a:ext uri="{FF2B5EF4-FFF2-40B4-BE49-F238E27FC236}">
                <a16:creationId xmlns:a16="http://schemas.microsoft.com/office/drawing/2014/main" id="{A1F48668-4B93-4999-864A-00C52BB622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2277" y="2407009"/>
            <a:ext cx="0" cy="204787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25" name="Line 16">
            <a:extLst>
              <a:ext uri="{FF2B5EF4-FFF2-40B4-BE49-F238E27FC236}">
                <a16:creationId xmlns:a16="http://schemas.microsoft.com/office/drawing/2014/main" id="{4F8B43CA-1345-4A7F-8450-CEA98A62813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819666" y="2224397"/>
            <a:ext cx="0" cy="365221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646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/>
      <p:bldP spid="11" grpId="0"/>
      <p:bldP spid="12" grpId="0" animBg="1"/>
      <p:bldP spid="13" grpId="0"/>
      <p:bldP spid="18" grpId="0"/>
      <p:bldP spid="19" grpId="0"/>
      <p:bldP spid="20" grpId="0" animBg="1"/>
      <p:bldP spid="21" grpId="0"/>
      <p:bldP spid="22" grpId="0"/>
      <p:bldP spid="2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缓冲区定义示例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067E4D6-FBCE-4144-9485-434BB02F4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5" y="1723778"/>
            <a:ext cx="5791956" cy="2664085"/>
          </a:xfrm>
          <a:prstGeom prst="rect">
            <a:avLst/>
          </a:prstGeom>
        </p:spPr>
      </p:pic>
      <p:sp>
        <p:nvSpPr>
          <p:cNvPr id="27" name="Rectangle 4">
            <a:extLst>
              <a:ext uri="{FF2B5EF4-FFF2-40B4-BE49-F238E27FC236}">
                <a16:creationId xmlns:a16="http://schemas.microsoft.com/office/drawing/2014/main" id="{59FB9B53-A00F-4E3B-9E4A-AF5346E52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5990" y="2203118"/>
            <a:ext cx="1828800" cy="38862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834D9040-9577-44EA-AD6F-B7014A4A1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5990" y="2660318"/>
            <a:ext cx="1828800" cy="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CC431D58-F97E-4B49-ACEA-8CB16BC82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5990" y="3041318"/>
            <a:ext cx="1828800" cy="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0" name="Line 7">
            <a:extLst>
              <a:ext uri="{FF2B5EF4-FFF2-40B4-BE49-F238E27FC236}">
                <a16:creationId xmlns:a16="http://schemas.microsoft.com/office/drawing/2014/main" id="{FEB156E6-819A-47E0-BA00-731B328BB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5990" y="3422318"/>
            <a:ext cx="1828800" cy="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1" name="Line 8">
            <a:extLst>
              <a:ext uri="{FF2B5EF4-FFF2-40B4-BE49-F238E27FC236}">
                <a16:creationId xmlns:a16="http://schemas.microsoft.com/office/drawing/2014/main" id="{6C47A532-3AC0-4372-BCD6-1BE128E88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5990" y="4793918"/>
            <a:ext cx="1828800" cy="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2" name="Line 9">
            <a:extLst>
              <a:ext uri="{FF2B5EF4-FFF2-40B4-BE49-F238E27FC236}">
                <a16:creationId xmlns:a16="http://schemas.microsoft.com/office/drawing/2014/main" id="{C4D9BFBD-3C6A-4DE0-B042-A0F2A1843D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5990" y="5174918"/>
            <a:ext cx="1828800" cy="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E27A3CE6-AAF0-424A-B4BB-38EEF946A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3190" y="2622218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14H</a:t>
            </a:r>
          </a:p>
        </p:txBody>
      </p:sp>
      <p:sp>
        <p:nvSpPr>
          <p:cNvPr id="34" name="AutoShape 12">
            <a:extLst>
              <a:ext uri="{FF2B5EF4-FFF2-40B4-BE49-F238E27FC236}">
                <a16:creationId xmlns:a16="http://schemas.microsoft.com/office/drawing/2014/main" id="{C41A2D9C-E55D-49EB-98F9-FC4E75E77A02}"/>
              </a:ext>
            </a:extLst>
          </p:cNvPr>
          <p:cNvSpPr>
            <a:spLocks/>
          </p:cNvSpPr>
          <p:nvPr/>
        </p:nvSpPr>
        <p:spPr bwMode="auto">
          <a:xfrm flipH="1">
            <a:off x="6474990" y="3426616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5" name="Text Box 13">
            <a:extLst>
              <a:ext uri="{FF2B5EF4-FFF2-40B4-BE49-F238E27FC236}">
                <a16:creationId xmlns:a16="http://schemas.microsoft.com/office/drawing/2014/main" id="{1ABF4571-B56B-46BF-B0B6-11DEAECD2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3040" y="3006393"/>
            <a:ext cx="673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 ？</a:t>
            </a:r>
          </a:p>
        </p:txBody>
      </p:sp>
      <p:sp>
        <p:nvSpPr>
          <p:cNvPr id="36" name="Text Box 14">
            <a:extLst>
              <a:ext uri="{FF2B5EF4-FFF2-40B4-BE49-F238E27FC236}">
                <a16:creationId xmlns:a16="http://schemas.microsoft.com/office/drawing/2014/main" id="{CA4D0489-83B5-444B-99B4-9F8545A8FEC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103390" y="4074316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</a:rPr>
              <a:t>20个字节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7" name="Text Box 15">
            <a:extLst>
              <a:ext uri="{FF2B5EF4-FFF2-40B4-BE49-F238E27FC236}">
                <a16:creationId xmlns:a16="http://schemas.microsoft.com/office/drawing/2014/main" id="{CEAB0C81-AE32-4699-B5A5-F5CB3A399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610" y="1084316"/>
            <a:ext cx="2243560" cy="866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spcAft>
                <a:spcPct val="20000"/>
              </a:spcAft>
            </a:pPr>
            <a:r>
              <a:rPr lang="zh-CN" altLang="en-US" sz="2200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定义后的输入缓冲区初始状态：</a:t>
            </a:r>
          </a:p>
        </p:txBody>
      </p:sp>
    </p:spTree>
    <p:extLst>
      <p:ext uri="{BB962C8B-B14F-4D97-AF65-F5344CB8AC3E}">
        <p14:creationId xmlns:p14="http://schemas.microsoft.com/office/powerpoint/2010/main" val="229803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3" grpId="0"/>
      <p:bldP spid="34" grpId="0" animBg="1"/>
      <p:bldP spid="35" grpId="0"/>
      <p:bldP spid="3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字符串输入示例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154E4AB-6C39-4FD7-AD51-B6FEA4B96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41" y="1153102"/>
            <a:ext cx="7748317" cy="531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195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单字符显示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1732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功能号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02H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  <a:endParaRPr lang="en-US" altLang="zh-CN" sz="2000" dirty="0">
              <a:solidFill>
                <a:prstClr val="black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在屏幕的光标处显示单个字符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入口参数：要显示字符的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ASCII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码值送入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DL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中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5984B5-03FD-4174-82FC-138612200BFE}"/>
              </a:ext>
            </a:extLst>
          </p:cNvPr>
          <p:cNvSpPr/>
          <p:nvPr/>
        </p:nvSpPr>
        <p:spPr>
          <a:xfrm>
            <a:off x="1792151" y="3594596"/>
            <a:ext cx="2656281" cy="142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DL</a:t>
            </a:r>
            <a:r>
              <a:rPr lang="pt-BR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dirty="0">
                <a:solidFill>
                  <a:srgbClr val="808000"/>
                </a:solidFill>
                <a:latin typeface="DejaVu Sans Mono" panose="020B0609030804020204" pitchFamily="49" charset="0"/>
              </a:rPr>
              <a:t>'A'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pt-BR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AH</a:t>
            </a:r>
            <a:r>
              <a:rPr lang="pt-BR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2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pt-BR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INT</a:t>
            </a:r>
            <a:r>
              <a:rPr lang="pt-BR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pt-BR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21H</a:t>
            </a:r>
            <a:endParaRPr lang="pt-BR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82226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字符串显示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1230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功能号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09H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：在屏幕上当前光标处输出存储在内存数据段的一串字符串，该字符串必须以‘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$’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结束；要求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DS:DX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指向串地址首址。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00C849-9ABB-433D-AD58-DE4CA3FCF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26" y="2700885"/>
            <a:ext cx="7974038" cy="356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3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返回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DOS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3208F-A000-4B6C-BF03-DBDEA1787397}"/>
              </a:ext>
            </a:extLst>
          </p:cNvPr>
          <p:cNvSpPr/>
          <p:nvPr/>
        </p:nvSpPr>
        <p:spPr>
          <a:xfrm>
            <a:off x="735626" y="1291563"/>
            <a:ext cx="7849002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功能号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4CH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：返回</a:t>
            </a:r>
            <a:r>
              <a: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DOS</a:t>
            </a:r>
            <a:r>
              <a:rPr lang="zh-CN" altLang="en-US" sz="2000" dirty="0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系统。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19B48F-1D45-4181-952E-E7DE0055ED15}"/>
              </a:ext>
            </a:extLst>
          </p:cNvPr>
          <p:cNvSpPr/>
          <p:nvPr/>
        </p:nvSpPr>
        <p:spPr>
          <a:xfrm>
            <a:off x="3243859" y="2715728"/>
            <a:ext cx="2656281" cy="964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</a:rPr>
              <a:t>AH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4CH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</a:rPr>
              <a:t>21H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99607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813514"/>
            <a:ext cx="439094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汇编语言程序设计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汇编程序设计概述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汇编程序结构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汇编程序格式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汇编程序设计基本方法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系统功能调用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汇编程序编译与调试</a:t>
            </a:r>
          </a:p>
        </p:txBody>
      </p:sp>
    </p:spTree>
    <p:extLst>
      <p:ext uri="{BB962C8B-B14F-4D97-AF65-F5344CB8AC3E}">
        <p14:creationId xmlns:p14="http://schemas.microsoft.com/office/powerpoint/2010/main" val="42430458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汇编语言的上机过程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79D83D-EEBB-406E-BFD3-99024EC8B8F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1864" name="Text Box 24"/>
          <p:cNvSpPr txBox="1">
            <a:spLocks noChangeArrowheads="1"/>
          </p:cNvSpPr>
          <p:nvPr/>
        </p:nvSpPr>
        <p:spPr bwMode="auto">
          <a:xfrm>
            <a:off x="489799" y="1204503"/>
            <a:ext cx="6913562" cy="5278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、上机步骤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编辑源程序，生成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.ASM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文件；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.ASM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文件，生成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.OBJ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文件；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连接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.OBJ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文件，生成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.EXE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文件；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调试可执行的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.EXE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文件，检查其正确性；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运行可执行的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.EXE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文件，得到程序运行的结果。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、调试步骤：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语法检查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MASM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LINK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程序检查，生成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.EXE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文件。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）逻辑功能检查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通过调试工具检查功能的正确性。</a:t>
            </a:r>
          </a:p>
        </p:txBody>
      </p:sp>
    </p:spTree>
    <p:extLst>
      <p:ext uri="{BB962C8B-B14F-4D97-AF65-F5344CB8AC3E}">
        <p14:creationId xmlns:p14="http://schemas.microsoft.com/office/powerpoint/2010/main" val="3536022708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18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18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18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18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18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18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18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918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918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918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汇编程序的调试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0A0266-6FE4-4C2C-BD20-24880308501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83473" y="993815"/>
            <a:ext cx="7345362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、简介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面向汇编语言的动态调试工具。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通过跟踪、测试对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.EXE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.COM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文件动态跟踪调试。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查找文件中的错误及运行结果。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可以直接编写、调试小程序。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DEBUG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的启动方式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）在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DOS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状态下直接输入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DEBUG ADD.EXE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）在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DOS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状态下输入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DEBUG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-NADD.EXE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-L</a:t>
            </a:r>
          </a:p>
        </p:txBody>
      </p:sp>
    </p:spTree>
    <p:extLst>
      <p:ext uri="{BB962C8B-B14F-4D97-AF65-F5344CB8AC3E}">
        <p14:creationId xmlns:p14="http://schemas.microsoft.com/office/powerpoint/2010/main" val="4154014698"/>
      </p:ext>
    </p:extLst>
  </p:cSld>
  <p:clrMapOvr>
    <a:masterClrMapping/>
  </p:clrMapOvr>
  <p:transition spd="slow">
    <p:zo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汇编程序的调试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4550EA-0DB0-407D-B97A-4E573C59D8F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3892" name="Text Box 4"/>
          <p:cNvSpPr txBox="1">
            <a:spLocks noChangeArrowheads="1"/>
          </p:cNvSpPr>
          <p:nvPr/>
        </p:nvSpPr>
        <p:spPr bwMode="auto">
          <a:xfrm>
            <a:off x="383473" y="991103"/>
            <a:ext cx="80645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DEBUG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命令的说明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）所有命令都是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个字母。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）命令和参数用空格或“，”分隔，但仅仅在两个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进制数之间才是必要的。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-DCS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100 111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-DCS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-D CS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-D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100 111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默认数据是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进制，不需要写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）每个命令由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ENTER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结束，并返回到“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—”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提示符下。</a:t>
            </a:r>
          </a:p>
        </p:txBody>
      </p:sp>
      <p:sp>
        <p:nvSpPr>
          <p:cNvPr id="293893" name="Line 5"/>
          <p:cNvSpPr>
            <a:spLocks noChangeShapeType="1"/>
          </p:cNvSpPr>
          <p:nvPr/>
        </p:nvSpPr>
        <p:spPr bwMode="auto">
          <a:xfrm flipH="1">
            <a:off x="3477830" y="3055716"/>
            <a:ext cx="214493" cy="1514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3895" name="Line 7"/>
          <p:cNvSpPr>
            <a:spLocks noChangeShapeType="1"/>
          </p:cNvSpPr>
          <p:nvPr/>
        </p:nvSpPr>
        <p:spPr bwMode="auto">
          <a:xfrm flipH="1">
            <a:off x="3110977" y="3539181"/>
            <a:ext cx="2889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3896" name="Line 8"/>
          <p:cNvSpPr>
            <a:spLocks noChangeShapeType="1"/>
          </p:cNvSpPr>
          <p:nvPr/>
        </p:nvSpPr>
        <p:spPr bwMode="auto">
          <a:xfrm flipH="1">
            <a:off x="3255440" y="4115443"/>
            <a:ext cx="21590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3897" name="Line 9"/>
          <p:cNvSpPr>
            <a:spLocks noChangeShapeType="1"/>
          </p:cNvSpPr>
          <p:nvPr/>
        </p:nvSpPr>
        <p:spPr bwMode="auto">
          <a:xfrm flipH="1">
            <a:off x="3110977" y="4691706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6634885"/>
      </p:ext>
    </p:extLst>
  </p:cSld>
  <p:clrMapOvr>
    <a:masterClrMapping/>
  </p:clrMapOvr>
  <p:transition spd="slow">
    <p:zo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D396C0-8DFC-46FD-9545-19CAF11540A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4919" name="Text Box 7"/>
          <p:cNvSpPr txBox="1">
            <a:spLocks noChangeArrowheads="1"/>
          </p:cNvSpPr>
          <p:nvPr/>
        </p:nvSpPr>
        <p:spPr bwMode="auto">
          <a:xfrm>
            <a:off x="827088" y="692150"/>
            <a:ext cx="65532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）可以检查输入指令的语法错误。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Wingdings" panose="05000000000000000000" pitchFamily="2" charset="2"/>
              </a:rPr>
              <a:t>1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-DCS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100.111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ERROR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该输入不应该有“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.”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2 -A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154E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0008 MOV AX 2000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ERROR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后面应该有“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）命令提示符为“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294920" name="Line 8"/>
          <p:cNvSpPr>
            <a:spLocks noChangeShapeType="1"/>
          </p:cNvSpPr>
          <p:nvPr/>
        </p:nvSpPr>
        <p:spPr bwMode="auto">
          <a:xfrm flipH="1">
            <a:off x="3908707" y="1461164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4921" name="Line 9"/>
          <p:cNvSpPr>
            <a:spLocks noChangeShapeType="1"/>
          </p:cNvSpPr>
          <p:nvPr/>
        </p:nvSpPr>
        <p:spPr bwMode="auto">
          <a:xfrm flipH="1">
            <a:off x="4909654" y="3194613"/>
            <a:ext cx="379975" cy="2982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634022"/>
      </p:ext>
    </p:extLst>
  </p:cSld>
  <p:clrMapOvr>
    <a:masterClrMapping/>
  </p:clrMapOvr>
  <p:transition spd="slow">
    <p:zo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B7AE2D-5D00-44F1-86EE-3F2AB0D2E3B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5938" name="Rectangle 2"/>
          <p:cNvSpPr>
            <a:spLocks noChangeArrowheads="1"/>
          </p:cNvSpPr>
          <p:nvPr/>
        </p:nvSpPr>
        <p:spPr bwMode="auto">
          <a:xfrm>
            <a:off x="684213" y="1412875"/>
            <a:ext cx="7848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汇编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A[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内存地址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功能：从内存指定地址开始输入汇编指令，并汇编成机器码，相继存放在由指定地址开始的内存单元中。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注意：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）不允许出现伪指令、宏指令、标号、变量。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）输入的数据以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进制表示。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）远返回的助记符为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RETF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）内存地址在“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[]”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中，否则默认为立即数。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）默认段为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295939" name="Rectangle 3"/>
          <p:cNvSpPr>
            <a:spLocks noChangeArrowheads="1"/>
          </p:cNvSpPr>
          <p:nvPr/>
        </p:nvSpPr>
        <p:spPr bwMode="auto">
          <a:xfrm>
            <a:off x="1752600" y="685800"/>
            <a:ext cx="641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DEBUG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命令及使用简介</a:t>
            </a:r>
          </a:p>
        </p:txBody>
      </p:sp>
    </p:spTree>
    <p:extLst>
      <p:ext uri="{BB962C8B-B14F-4D97-AF65-F5344CB8AC3E}">
        <p14:creationId xmlns:p14="http://schemas.microsoft.com/office/powerpoint/2010/main" val="1588610312"/>
      </p:ext>
    </p:extLst>
  </p:cSld>
  <p:clrMapOvr>
    <a:masterClrMapping/>
  </p:clrMapOvr>
  <p:transition spd="slow">
    <p:zo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0F91FC-A109-4756-9055-3D190EEDD7B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6978" name="Text Box 18"/>
          <p:cNvSpPr txBox="1">
            <a:spLocks noChangeArrowheads="1"/>
          </p:cNvSpPr>
          <p:nvPr/>
        </p:nvSpPr>
        <p:spPr bwMode="auto">
          <a:xfrm>
            <a:off x="900113" y="404813"/>
            <a:ext cx="7343775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反汇编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U[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U[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结束地址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U[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功能：对内存的机器码指令进行反汇编。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）默认字节数为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）起始地址中可以只包含有效地址，默认段为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）结束地址只包含有效地址。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1547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0000 52    PUSH 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1547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0001  2BC0  SUB AX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-U1547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  111            -U1547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  L12</a:t>
            </a:r>
          </a:p>
        </p:txBody>
      </p:sp>
      <p:sp>
        <p:nvSpPr>
          <p:cNvPr id="296979" name="Line 19"/>
          <p:cNvSpPr>
            <a:spLocks noChangeShapeType="1"/>
          </p:cNvSpPr>
          <p:nvPr/>
        </p:nvSpPr>
        <p:spPr bwMode="auto">
          <a:xfrm flipH="1">
            <a:off x="2020345" y="4539245"/>
            <a:ext cx="144463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6980" name="AutoShape 20"/>
          <p:cNvSpPr>
            <a:spLocks noChangeArrowheads="1"/>
          </p:cNvSpPr>
          <p:nvPr/>
        </p:nvSpPr>
        <p:spPr bwMode="auto">
          <a:xfrm>
            <a:off x="3899163" y="6012949"/>
            <a:ext cx="719137" cy="144462"/>
          </a:xfrm>
          <a:prstGeom prst="leftRightArrow">
            <a:avLst>
              <a:gd name="adj1" fmla="val 50000"/>
              <a:gd name="adj2" fmla="val 9956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94882"/>
      </p:ext>
    </p:extLst>
  </p:cSld>
  <p:clrMapOvr>
    <a:masterClrMapping/>
  </p:clrMapOvr>
  <p:transition spd="slow">
    <p:zoom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BB3739-CA69-482D-ACEF-CE27DCEFF0A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7990" name="Text Box 6"/>
          <p:cNvSpPr txBox="1">
            <a:spLocks noChangeArrowheads="1"/>
          </p:cNvSpPr>
          <p:nvPr/>
        </p:nvSpPr>
        <p:spPr bwMode="auto">
          <a:xfrm>
            <a:off x="447153" y="244989"/>
            <a:ext cx="799306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执行程序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G[=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G[=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断点地址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，断点地址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….]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：从起始地址开始执行程序，执行到断点时停止，并显示所有寄存器及标志位的值，同时指出下一条要执行的指令地址及指令。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）地址缺省时，从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开始连续执行。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）如果起始地址中只包含有效地址，默认段为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）最多可设置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个断点，次序任意，按照地址从小到大顺序执行。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不能省略，区分起始地址和断点地址。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）起始地址必须指向真正的程序指令。</a:t>
            </a:r>
          </a:p>
        </p:txBody>
      </p:sp>
    </p:spTree>
    <p:extLst>
      <p:ext uri="{BB962C8B-B14F-4D97-AF65-F5344CB8AC3E}">
        <p14:creationId xmlns:p14="http://schemas.microsoft.com/office/powerpoint/2010/main" val="2953857921"/>
      </p:ext>
    </p:extLst>
  </p:cSld>
  <p:clrMapOvr>
    <a:masterClrMapping/>
  </p:clrMapOvr>
  <p:transition spd="slow">
    <p:zoom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6DCC75-E80A-41B7-988C-A11F796BC35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1761" y="1309936"/>
            <a:ext cx="73904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-G=0  08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AX=004B  BX=0000 CX=001B DX=0000 SP=000C BP=0000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SI=0000 DI=0000 DS=2E5E ES=2E5E SS=2E6E CS=2E6F IP=0008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NV UP DI PL NZ NA PE NC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2E6F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0008 0442  ADD AL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176216863"/>
      </p:ext>
    </p:extLst>
  </p:cSld>
  <p:clrMapOvr>
    <a:masterClrMapping/>
  </p:clrMapOvr>
  <p:transition spd="slow">
    <p:zo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829F63-AA0E-4044-A7FF-073B672C93A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9012" name="Text Box 4"/>
          <p:cNvSpPr txBox="1">
            <a:spLocks noChangeArrowheads="1"/>
          </p:cNvSpPr>
          <p:nvPr/>
        </p:nvSpPr>
        <p:spPr bwMode="auto">
          <a:xfrm>
            <a:off x="576021" y="334993"/>
            <a:ext cx="77809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单步跟踪指令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T[=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T[=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指令条数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功能：从起始地址开始，逐条跟踪指令的执行。执行完设定的指令条数后就停止程序的执行。屏幕显示各个寄存器的内容和标志位的状态。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）没有指定指令条数，每次只执行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条语句，即单步执行。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）如果没有指定地址，从当前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开始执行或接着上次的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命令的下一条指令执行。</a:t>
            </a:r>
          </a:p>
        </p:txBody>
      </p:sp>
    </p:spTree>
    <p:extLst>
      <p:ext uri="{BB962C8B-B14F-4D97-AF65-F5344CB8AC3E}">
        <p14:creationId xmlns:p14="http://schemas.microsoft.com/office/powerpoint/2010/main" val="3969735236"/>
      </p:ext>
    </p:extLst>
  </p:cSld>
  <p:clrMapOvr>
    <a:masterClrMapping/>
  </p:clrMapOvr>
  <p:transition spd="slow">
    <p:zo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6DCC75-E80A-41B7-988C-A11F796BC35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6179" y="355947"/>
            <a:ext cx="700847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：单步执行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条指令：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—T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AX=004B BX=0000 CX=0014 DX=0023 SP=1200 BP=1300 SI=0000 DI=0000 DS=2E5E ES=2E5E SS=2E6E CS=2E6F 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IP=0008 NV UP DI PL NZ NA PE NC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2E6F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0008 0442 ADD AL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42</a:t>
            </a:r>
          </a:p>
        </p:txBody>
      </p:sp>
      <p:sp>
        <p:nvSpPr>
          <p:cNvPr id="4" name="矩形 3"/>
          <p:cNvSpPr/>
          <p:nvPr/>
        </p:nvSpPr>
        <p:spPr>
          <a:xfrm>
            <a:off x="986179" y="4196782"/>
            <a:ext cx="554194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：从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CS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0004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开始执行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条指令。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-T=4 3</a:t>
            </a:r>
          </a:p>
        </p:txBody>
      </p:sp>
    </p:spTree>
    <p:extLst>
      <p:ext uri="{BB962C8B-B14F-4D97-AF65-F5344CB8AC3E}">
        <p14:creationId xmlns:p14="http://schemas.microsoft.com/office/powerpoint/2010/main" val="4185232685"/>
      </p:ext>
    </p:extLst>
  </p:cSld>
  <p:clrMapOvr>
    <a:masterClrMapping/>
  </p:clrMapOvr>
  <p:transition spd="slow">
    <p:zoom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6B90F-C39E-4D70-A485-ED1E0936FFF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0038" name="Rectangle 6"/>
          <p:cNvSpPr>
            <a:spLocks noChangeArrowheads="1"/>
          </p:cNvSpPr>
          <p:nvPr/>
        </p:nvSpPr>
        <p:spPr bwMode="auto">
          <a:xfrm>
            <a:off x="755650" y="836613"/>
            <a:ext cx="7561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0039" name="Text Box 7"/>
          <p:cNvSpPr txBox="1">
            <a:spLocks noChangeArrowheads="1"/>
          </p:cNvSpPr>
          <p:nvPr/>
        </p:nvSpPr>
        <p:spPr bwMode="auto">
          <a:xfrm>
            <a:off x="450056" y="378262"/>
            <a:ext cx="8172450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显示内存单元的内容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D[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D[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结束地址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D[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：显示指定内存单元的内容。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）默认段为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，显示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个字节。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）如果没有指定地址，则从上次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命令显示的下一显示单元开始；否则从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）结束地址只能包含偏移地址。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-D0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0000H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显示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个字节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-D0 000F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0000H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开始显示到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000FH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，共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个字节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-D0 L15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0000H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显示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个字节</a:t>
            </a:r>
          </a:p>
        </p:txBody>
      </p:sp>
    </p:spTree>
    <p:extLst>
      <p:ext uri="{BB962C8B-B14F-4D97-AF65-F5344CB8AC3E}">
        <p14:creationId xmlns:p14="http://schemas.microsoft.com/office/powerpoint/2010/main" val="3646416735"/>
      </p:ext>
    </p:extLst>
  </p:cSld>
  <p:clrMapOvr>
    <a:masterClrMapping/>
  </p:clrMapOvr>
  <p:transition spd="slow">
    <p:zo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74AAA6-4F27-4A32-B2AD-3FB077A7DC0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1069" name="Text Box 13"/>
          <p:cNvSpPr txBox="1">
            <a:spLocks noChangeArrowheads="1"/>
          </p:cNvSpPr>
          <p:nvPr/>
        </p:nvSpPr>
        <p:spPr bwMode="auto">
          <a:xfrm>
            <a:off x="383271" y="514832"/>
            <a:ext cx="7704137" cy="558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显示或修改寄存器的内容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R[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寄存器名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功能：显示或修改指定寄存器的内容，如不指定寄存器则显示所有寄存器的内容、标志位的状态以及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所对应指令的机器码和汇编指令。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：检查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的内容，按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ENTER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则不修改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-RAX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 0000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：检查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的内容，并修改为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-RDX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DX 0000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：显示修改标志寄存器内容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-RF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：显示所有寄存器内容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AX=004B BX=0000 CX=0014 DX=0023 SP=1200 BP=1300 SI=0000 DI=0000 DS=2E5E ES=2E5E SS=2E6E CS=2E6F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IP=0008 NV UP DI PL NZ NA PE NC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2E6F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0008 0442 ADD AL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666977613"/>
      </p:ext>
    </p:extLst>
  </p:cSld>
  <p:clrMapOvr>
    <a:masterClrMapping/>
  </p:clrMapOvr>
  <p:transition spd="slow">
    <p:zo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48A10C-3E54-456C-8854-6788A03E698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2088" name="Text Box 8"/>
          <p:cNvSpPr txBox="1">
            <a:spLocks noChangeArrowheads="1"/>
          </p:cNvSpPr>
          <p:nvPr/>
        </p:nvSpPr>
        <p:spPr bwMode="auto">
          <a:xfrm>
            <a:off x="608434" y="552529"/>
            <a:ext cx="7991475" cy="4654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修改存储单元的内容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[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值表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     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功能：修改指定存储单元的内容，如果值表参数缺省，只能修改显示一个字节。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：将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单元开始的内容改为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5B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-EES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100 34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AB”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5B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：将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单元内容改为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36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-E100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1547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0100 33.36</a:t>
            </a:r>
          </a:p>
        </p:txBody>
      </p:sp>
    </p:spTree>
    <p:extLst>
      <p:ext uri="{BB962C8B-B14F-4D97-AF65-F5344CB8AC3E}">
        <p14:creationId xmlns:p14="http://schemas.microsoft.com/office/powerpoint/2010/main" val="731904979"/>
      </p:ext>
    </p:extLst>
  </p:cSld>
  <p:clrMapOvr>
    <a:masterClrMapping/>
  </p:clrMapOvr>
  <p:transition spd="slow">
    <p:zo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6DCC75-E80A-41B7-988C-A11F796BC35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6097" y="593885"/>
            <a:ext cx="7714526" cy="3731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填充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终止地址 值表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字节数 值表     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功能：用值表内容修改指定存储单元的内容，如果值表数小于指定字节数，则重复使用值表；如果值表数大于指定字节数，则忽略多余的值表。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-F1542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100 106 1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，‘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ABCD’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-FDS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  L15 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9318154"/>
      </p:ext>
    </p:extLst>
  </p:cSld>
  <p:clrMapOvr>
    <a:masterClrMapping/>
  </p:clrMapOvr>
  <p:transition spd="slow">
    <p:zoom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1594D-73C9-42FC-AAF4-53E792B4464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3111" name="Text Box 7"/>
          <p:cNvSpPr txBox="1">
            <a:spLocks noChangeArrowheads="1"/>
          </p:cNvSpPr>
          <p:nvPr/>
        </p:nvSpPr>
        <p:spPr bwMode="auto">
          <a:xfrm>
            <a:off x="395970" y="199571"/>
            <a:ext cx="7273925" cy="6501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命名命令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文件路径及名字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功能：在内存文件控制块中定义文件名。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读磁盘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L[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][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驱动器号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][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扇区号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][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扇区数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如果在使用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DEBUG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时没有输入文件名，必须用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命令定义文件名，再用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命令装入该文件。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DEBUG ADD.EXE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DEBUG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-NADD.EXE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-L</a:t>
            </a:r>
          </a:p>
        </p:txBody>
      </p:sp>
    </p:spTree>
    <p:extLst>
      <p:ext uri="{BB962C8B-B14F-4D97-AF65-F5344CB8AC3E}">
        <p14:creationId xmlns:p14="http://schemas.microsoft.com/office/powerpoint/2010/main" val="1254642462"/>
      </p:ext>
    </p:extLst>
  </p:cSld>
  <p:clrMapOvr>
    <a:masterClrMapping/>
  </p:clrMapOvr>
  <p:transition spd="slow">
    <p:zo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A3EB43-EA9E-4B47-B439-F1B8A286443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4130" name="Text Box 2"/>
          <p:cNvSpPr txBox="1">
            <a:spLocks noChangeArrowheads="1"/>
          </p:cNvSpPr>
          <p:nvPr/>
        </p:nvSpPr>
        <p:spPr bwMode="auto">
          <a:xfrm>
            <a:off x="762000" y="6096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4133" name="Text Box 5"/>
          <p:cNvSpPr txBox="1">
            <a:spLocks noChangeArrowheads="1"/>
          </p:cNvSpPr>
          <p:nvPr/>
        </p:nvSpPr>
        <p:spPr bwMode="auto">
          <a:xfrm>
            <a:off x="574554" y="158187"/>
            <a:ext cx="7420096" cy="670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外部端口地址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功能：从指定端口读数据并显示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-I 2F8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2F8H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外部端口读数据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外部端口地址 字节数据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功能：向指定端口输出一个字节数据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-O 2F8 2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2F8H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外部端口输出字节数据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          MOV DX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2F8H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          MOV AL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02H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          OUT DX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4137" name="Text Box 9"/>
          <p:cNvSpPr txBox="1">
            <a:spLocks noChangeArrowheads="1"/>
          </p:cNvSpPr>
          <p:nvPr/>
        </p:nvSpPr>
        <p:spPr bwMode="auto">
          <a:xfrm>
            <a:off x="4442690" y="1694204"/>
            <a:ext cx="2303462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MOV DX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2F8H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IN AL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DX</a:t>
            </a:r>
          </a:p>
        </p:txBody>
      </p:sp>
    </p:spTree>
    <p:extLst>
      <p:ext uri="{BB962C8B-B14F-4D97-AF65-F5344CB8AC3E}">
        <p14:creationId xmlns:p14="http://schemas.microsoft.com/office/powerpoint/2010/main" val="1907753751"/>
      </p:ext>
    </p:extLst>
  </p:cSld>
  <p:clrMapOvr>
    <a:masterClrMapping/>
  </p:clrMapOvr>
  <p:transition spd="slow">
    <p:zo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4E7083-0757-4931-8506-7F08944EAC7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5203" name="Text Box 51"/>
          <p:cNvSpPr txBox="1">
            <a:spLocks noChangeArrowheads="1"/>
          </p:cNvSpPr>
          <p:nvPr/>
        </p:nvSpPr>
        <p:spPr bwMode="auto">
          <a:xfrm>
            <a:off x="711341" y="195986"/>
            <a:ext cx="7784477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运算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功能：两个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进制数加减运算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-H 0A 2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0C  08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传送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结束地址   目的地址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字节数   目的地址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功能：把指定内存区域的内容传送到另一个区域。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）默认段为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）目的地址只能包含偏移地址。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-MCS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 LB 100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635173"/>
      </p:ext>
    </p:extLst>
  </p:cSld>
  <p:clrMapOvr>
    <a:masterClrMapping/>
  </p:clrMapOvr>
  <p:transition spd="slow">
    <p:zo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B3EEF-7BC9-410C-AEA0-ADA74F54C0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6213" name="Text Box 37"/>
          <p:cNvSpPr txBox="1">
            <a:spLocks noChangeArrowheads="1"/>
          </p:cNvSpPr>
          <p:nvPr/>
        </p:nvSpPr>
        <p:spPr bwMode="auto">
          <a:xfrm>
            <a:off x="516118" y="225415"/>
            <a:ext cx="7910252" cy="6632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检索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结束地址   值表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字节数   值表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功能：在指定内存范围内检索值表指定的字符，如果找到，则显示检索到的单元地址；如果没找到，则显示提示符。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 设内存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0000H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开始存入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’A’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 ‘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B’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 ‘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A’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 ‘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B’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要求检索字符‘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A’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 ‘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B’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 ‘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F’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-SDS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 06 ‘A’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1542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0003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1542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0005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-SDS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 06 ‘B’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1542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0004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1542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0006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-SDS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 06 ‘F’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888085369"/>
      </p:ext>
    </p:extLst>
  </p:cSld>
  <p:clrMapOvr>
    <a:masterClrMapping/>
  </p:clrMapOvr>
  <p:transition spd="slow">
    <p:zoom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09F9C5-BABB-4CF7-9D8A-7A1B5D7AE1D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7204" name="Text Box 4"/>
          <p:cNvSpPr txBox="1">
            <a:spLocks noChangeArrowheads="1"/>
          </p:cNvSpPr>
          <p:nvPr/>
        </p:nvSpPr>
        <p:spPr bwMode="auto">
          <a:xfrm>
            <a:off x="591576" y="350476"/>
            <a:ext cx="6985000" cy="580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比较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结束地址   目的地址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起始地址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字节数   目的地址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功能：比较两个数据块内容，如果不相同，则显示其内容和地址。默认为数据段，目的地址只包含偏移地址。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例：把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个字节内容与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开始的区域进行比较，找出与之不同的内容。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-CES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 LA DS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执行结果：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82DD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0000 03  2D 82CD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82DD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0002 00  02 82CD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102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82DD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0003 05  09 82CD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103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82DD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0008 04  66 82CD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108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退出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-Q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功能：退出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DEBUG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命令。</a:t>
            </a:r>
          </a:p>
        </p:txBody>
      </p:sp>
    </p:spTree>
    <p:extLst>
      <p:ext uri="{BB962C8B-B14F-4D97-AF65-F5344CB8AC3E}">
        <p14:creationId xmlns:p14="http://schemas.microsoft.com/office/powerpoint/2010/main" val="3778801911"/>
      </p:ext>
    </p:extLst>
  </p:cSld>
  <p:clrMapOvr>
    <a:masterClrMapping/>
  </p:clrMapOvr>
  <p:transition spd="slow">
    <p:zoom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本章重点掌握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704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汇编语言程序格式和结构；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汇编语言常用运算符；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汇编语言常用伪指令；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汇编语言编译与调试。</a:t>
            </a:r>
          </a:p>
        </p:txBody>
      </p:sp>
    </p:spTree>
    <p:extLst>
      <p:ext uri="{BB962C8B-B14F-4D97-AF65-F5344CB8AC3E}">
        <p14:creationId xmlns:p14="http://schemas.microsoft.com/office/powerpoint/2010/main" val="298042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5459</TotalTime>
  <Words>7751</Words>
  <Application>Microsoft Office PowerPoint</Application>
  <PresentationFormat>全屏显示(4:3)</PresentationFormat>
  <Paragraphs>1289</Paragraphs>
  <Slides>104</Slides>
  <Notes>82</Notes>
  <HiddenSlides>2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104</vt:i4>
      </vt:variant>
    </vt:vector>
  </HeadingPairs>
  <TitlesOfParts>
    <vt:vector size="120" baseType="lpstr">
      <vt:lpstr>DejaVu Sans Mono</vt:lpstr>
      <vt:lpstr>等线</vt:lpstr>
      <vt:lpstr>黑体</vt:lpstr>
      <vt:lpstr>微软雅黑</vt:lpstr>
      <vt:lpstr>Arial</vt:lpstr>
      <vt:lpstr>Arial Black</vt:lpstr>
      <vt:lpstr>Calibri</vt:lpstr>
      <vt:lpstr>Calibri Light</vt:lpstr>
      <vt:lpstr>Cambria Math</vt:lpstr>
      <vt:lpstr>Consolas</vt:lpstr>
      <vt:lpstr>Lucida Console</vt:lpstr>
      <vt:lpstr>Tahoma</vt:lpstr>
      <vt:lpstr>Times New Roman</vt:lpstr>
      <vt:lpstr>Wingdings</vt:lpstr>
      <vt:lpstr>Office 主题​​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汇编语言的上机过程</vt:lpstr>
      <vt:lpstr>汇编程序的调试</vt:lpstr>
      <vt:lpstr>汇编程序的调试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jihui han</dc:creator>
  <cp:lastModifiedBy>jihui han</cp:lastModifiedBy>
  <cp:revision>389</cp:revision>
  <dcterms:created xsi:type="dcterms:W3CDTF">2020-09-09T01:52:22Z</dcterms:created>
  <dcterms:modified xsi:type="dcterms:W3CDTF">2022-10-14T09:37:22Z</dcterms:modified>
</cp:coreProperties>
</file>