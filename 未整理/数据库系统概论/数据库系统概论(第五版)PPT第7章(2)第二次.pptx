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0"/>
  </p:notesMasterIdLst>
  <p:sldIdLst>
    <p:sldId id="258" r:id="rId2"/>
    <p:sldId id="511" r:id="rId3"/>
    <p:sldId id="391" r:id="rId4"/>
    <p:sldId id="617" r:id="rId5"/>
    <p:sldId id="618" r:id="rId6"/>
    <p:sldId id="619" r:id="rId7"/>
    <p:sldId id="620" r:id="rId8"/>
    <p:sldId id="621" r:id="rId9"/>
    <p:sldId id="622" r:id="rId10"/>
    <p:sldId id="608" r:id="rId11"/>
    <p:sldId id="607" r:id="rId12"/>
    <p:sldId id="513" r:id="rId13"/>
    <p:sldId id="413" r:id="rId14"/>
    <p:sldId id="420" r:id="rId15"/>
    <p:sldId id="424" r:id="rId16"/>
    <p:sldId id="425" r:id="rId17"/>
    <p:sldId id="427" r:id="rId18"/>
    <p:sldId id="514" r:id="rId19"/>
    <p:sldId id="431" r:id="rId20"/>
    <p:sldId id="432" r:id="rId21"/>
    <p:sldId id="434" r:id="rId22"/>
    <p:sldId id="437" r:id="rId23"/>
    <p:sldId id="515" r:id="rId24"/>
    <p:sldId id="445" r:id="rId25"/>
    <p:sldId id="446" r:id="rId26"/>
    <p:sldId id="644" r:id="rId27"/>
    <p:sldId id="623" r:id="rId28"/>
    <p:sldId id="624" r:id="rId29"/>
    <p:sldId id="625" r:id="rId30"/>
    <p:sldId id="645" r:id="rId31"/>
    <p:sldId id="640" r:id="rId32"/>
    <p:sldId id="626" r:id="rId33"/>
    <p:sldId id="627" r:id="rId34"/>
    <p:sldId id="639" r:id="rId35"/>
    <p:sldId id="519" r:id="rId36"/>
    <p:sldId id="520" r:id="rId37"/>
    <p:sldId id="614" r:id="rId38"/>
    <p:sldId id="615" r:id="rId39"/>
    <p:sldId id="521" r:id="rId40"/>
    <p:sldId id="493" r:id="rId41"/>
    <p:sldId id="494" r:id="rId42"/>
    <p:sldId id="495" r:id="rId43"/>
    <p:sldId id="496" r:id="rId44"/>
    <p:sldId id="522" r:id="rId45"/>
    <p:sldId id="498" r:id="rId46"/>
    <p:sldId id="499" r:id="rId47"/>
    <p:sldId id="500" r:id="rId48"/>
    <p:sldId id="501" r:id="rId49"/>
    <p:sldId id="502" r:id="rId50"/>
    <p:sldId id="503" r:id="rId51"/>
    <p:sldId id="505" r:id="rId52"/>
    <p:sldId id="506" r:id="rId53"/>
    <p:sldId id="507" r:id="rId54"/>
    <p:sldId id="523" r:id="rId55"/>
    <p:sldId id="509" r:id="rId56"/>
    <p:sldId id="611" r:id="rId57"/>
    <p:sldId id="510" r:id="rId58"/>
    <p:sldId id="616" r:id="rId59"/>
  </p:sldIdLst>
  <p:sldSz cx="9144000" cy="6858000" type="screen4x3"/>
  <p:notesSz cx="6834188" cy="9979025"/>
  <p:defaultTextStyle>
    <a:defPPr>
      <a:defRPr lang="zh-CN"/>
    </a:defPPr>
    <a:lvl1pPr algn="l" rtl="0" fontAlgn="base">
      <a:spcBef>
        <a:spcPct val="0"/>
      </a:spcBef>
      <a:spcAft>
        <a:spcPct val="0"/>
      </a:spcAft>
      <a:buFont typeface="Arial" pitchFamily="34" charset="0"/>
      <a:defRPr kern="1200">
        <a:solidFill>
          <a:schemeClr val="tx1"/>
        </a:solidFill>
        <a:latin typeface="Arial" pitchFamily="34" charset="0"/>
        <a:ea typeface="宋体" pitchFamily="2" charset="-122"/>
        <a:cs typeface="+mn-cs"/>
      </a:defRPr>
    </a:lvl1pPr>
    <a:lvl2pPr marL="457200" algn="l" rtl="0" fontAlgn="base">
      <a:spcBef>
        <a:spcPct val="0"/>
      </a:spcBef>
      <a:spcAft>
        <a:spcPct val="0"/>
      </a:spcAft>
      <a:buFont typeface="Arial" pitchFamily="34" charset="0"/>
      <a:defRPr kern="1200">
        <a:solidFill>
          <a:schemeClr val="tx1"/>
        </a:solidFill>
        <a:latin typeface="Arial" pitchFamily="34" charset="0"/>
        <a:ea typeface="宋体" pitchFamily="2" charset="-122"/>
        <a:cs typeface="+mn-cs"/>
      </a:defRPr>
    </a:lvl2pPr>
    <a:lvl3pPr marL="914400" algn="l" rtl="0" fontAlgn="base">
      <a:spcBef>
        <a:spcPct val="0"/>
      </a:spcBef>
      <a:spcAft>
        <a:spcPct val="0"/>
      </a:spcAft>
      <a:buFont typeface="Arial" pitchFamily="34" charset="0"/>
      <a:defRPr kern="1200">
        <a:solidFill>
          <a:schemeClr val="tx1"/>
        </a:solidFill>
        <a:latin typeface="Arial" pitchFamily="34" charset="0"/>
        <a:ea typeface="宋体" pitchFamily="2" charset="-122"/>
        <a:cs typeface="+mn-cs"/>
      </a:defRPr>
    </a:lvl3pPr>
    <a:lvl4pPr marL="1371600" algn="l" rtl="0" fontAlgn="base">
      <a:spcBef>
        <a:spcPct val="0"/>
      </a:spcBef>
      <a:spcAft>
        <a:spcPct val="0"/>
      </a:spcAft>
      <a:buFont typeface="Arial" pitchFamily="34" charset="0"/>
      <a:defRPr kern="1200">
        <a:solidFill>
          <a:schemeClr val="tx1"/>
        </a:solidFill>
        <a:latin typeface="Arial" pitchFamily="34" charset="0"/>
        <a:ea typeface="宋体" pitchFamily="2" charset="-122"/>
        <a:cs typeface="+mn-cs"/>
      </a:defRPr>
    </a:lvl4pPr>
    <a:lvl5pPr marL="1828800" algn="l" rtl="0" fontAlgn="base">
      <a:spcBef>
        <a:spcPct val="0"/>
      </a:spcBef>
      <a:spcAft>
        <a:spcPct val="0"/>
      </a:spcAft>
      <a:buFont typeface="Arial" pitchFamily="34" charset="0"/>
      <a:defRPr kern="1200">
        <a:solidFill>
          <a:schemeClr val="tx1"/>
        </a:solidFill>
        <a:latin typeface="Arial" pitchFamily="34" charset="0"/>
        <a:ea typeface="宋体" pitchFamily="2" charset="-122"/>
        <a:cs typeface="+mn-cs"/>
      </a:defRPr>
    </a:lvl5pPr>
    <a:lvl6pPr marL="2286000" algn="l" defTabSz="914400" rtl="0" eaLnBrk="1" latinLnBrk="0" hangingPunct="1">
      <a:defRPr kern="1200">
        <a:solidFill>
          <a:schemeClr val="tx1"/>
        </a:solidFill>
        <a:latin typeface="Arial" pitchFamily="34" charset="0"/>
        <a:ea typeface="宋体" pitchFamily="2" charset="-122"/>
        <a:cs typeface="+mn-cs"/>
      </a:defRPr>
    </a:lvl6pPr>
    <a:lvl7pPr marL="2743200" algn="l" defTabSz="914400" rtl="0" eaLnBrk="1" latinLnBrk="0" hangingPunct="1">
      <a:defRPr kern="1200">
        <a:solidFill>
          <a:schemeClr val="tx1"/>
        </a:solidFill>
        <a:latin typeface="Arial" pitchFamily="34" charset="0"/>
        <a:ea typeface="宋体" pitchFamily="2" charset="-122"/>
        <a:cs typeface="+mn-cs"/>
      </a:defRPr>
    </a:lvl7pPr>
    <a:lvl8pPr marL="3200400" algn="l" defTabSz="914400" rtl="0" eaLnBrk="1" latinLnBrk="0" hangingPunct="1">
      <a:defRPr kern="1200">
        <a:solidFill>
          <a:schemeClr val="tx1"/>
        </a:solidFill>
        <a:latin typeface="Arial" pitchFamily="34" charset="0"/>
        <a:ea typeface="宋体" pitchFamily="2" charset="-122"/>
        <a:cs typeface="+mn-cs"/>
      </a:defRPr>
    </a:lvl8pPr>
    <a:lvl9pPr marL="3657600" algn="l" defTabSz="914400" rtl="0" eaLnBrk="1" latinLnBrk="0" hangingPunct="1">
      <a:defRPr kern="1200">
        <a:solidFill>
          <a:schemeClr val="tx1"/>
        </a:solidFill>
        <a:latin typeface="Arial" pitchFamily="34" charset="0"/>
        <a:ea typeface="宋体" pitchFamily="2" charset="-122"/>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FF"/>
    <a:srgbClr val="006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aximized">
    <p:restoredLeft sz="15620"/>
    <p:restoredTop sz="94660"/>
  </p:normalViewPr>
  <p:slideViewPr>
    <p:cSldViewPr snapToObjects="1">
      <p:cViewPr varScale="1">
        <p:scale>
          <a:sx n="64" d="100"/>
          <a:sy n="64" d="100"/>
        </p:scale>
        <p:origin x="656" y="-32"/>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19026"/>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hdr" sz="quarter"/>
          </p:nvPr>
        </p:nvSpPr>
        <p:spPr bwMode="auto">
          <a:xfrm>
            <a:off x="0" y="0"/>
            <a:ext cx="2960688" cy="498475"/>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eaLnBrk="0" hangingPunct="0">
              <a:defRPr sz="1200"/>
            </a:lvl1pPr>
          </a:lstStyle>
          <a:p>
            <a:pPr>
              <a:defRPr/>
            </a:pPr>
            <a:endParaRPr lang="zh-CN" altLang="en-US"/>
          </a:p>
        </p:txBody>
      </p:sp>
      <p:sp>
        <p:nvSpPr>
          <p:cNvPr id="2051" name="Rectangle 3"/>
          <p:cNvSpPr>
            <a:spLocks noGrp="1" noChangeArrowheads="1"/>
          </p:cNvSpPr>
          <p:nvPr>
            <p:ph type="dt" idx="1"/>
          </p:nvPr>
        </p:nvSpPr>
        <p:spPr bwMode="auto">
          <a:xfrm>
            <a:off x="3870325" y="0"/>
            <a:ext cx="2962275" cy="498475"/>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r" eaLnBrk="0" hangingPunct="0">
              <a:defRPr sz="1200"/>
            </a:lvl1pPr>
          </a:lstStyle>
          <a:p>
            <a:pPr>
              <a:defRPr/>
            </a:pPr>
            <a:fld id="{33EC61CB-C061-4162-ADE7-7D84624F22C5}" type="datetimeFigureOut">
              <a:rPr lang="zh-CN" altLang="en-US"/>
              <a:pPr>
                <a:defRPr/>
              </a:pPr>
              <a:t>2023/5/4</a:t>
            </a:fld>
            <a:endParaRPr lang="en-US"/>
          </a:p>
        </p:txBody>
      </p:sp>
      <p:sp>
        <p:nvSpPr>
          <p:cNvPr id="89092" name="Rectangle 4"/>
          <p:cNvSpPr>
            <a:spLocks noGrp="1" noRot="1" noChangeAspect="1" noChangeArrowheads="1"/>
          </p:cNvSpPr>
          <p:nvPr>
            <p:ph type="sldImg" idx="2"/>
          </p:nvPr>
        </p:nvSpPr>
        <p:spPr bwMode="auto">
          <a:xfrm>
            <a:off x="1138238" y="747713"/>
            <a:ext cx="4556125" cy="3741737"/>
          </a:xfrm>
          <a:prstGeom prst="rect">
            <a:avLst/>
          </a:prstGeom>
          <a:noFill/>
          <a:ln w="9525">
            <a:noFill/>
            <a:miter lim="800000"/>
            <a:headEnd/>
            <a:tailEnd/>
          </a:ln>
        </p:spPr>
      </p:sp>
      <p:sp>
        <p:nvSpPr>
          <p:cNvPr id="2053" name="Rectangle 5"/>
          <p:cNvSpPr>
            <a:spLocks noGrp="1" noChangeArrowheads="1"/>
          </p:cNvSpPr>
          <p:nvPr>
            <p:ph type="body" sz="quarter" idx="3"/>
          </p:nvPr>
        </p:nvSpPr>
        <p:spPr bwMode="auto">
          <a:xfrm>
            <a:off x="682625" y="4740275"/>
            <a:ext cx="5467350" cy="4489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zh-CN" altLang="en-US" noProof="0" smtClean="0"/>
              <a:t>单击此处编辑母版文本样式</a:t>
            </a:r>
          </a:p>
          <a:p>
            <a:pPr lvl="1"/>
            <a:r>
              <a:rPr lang="zh-CN" altLang="en-US" noProof="0" smtClean="0"/>
              <a:t>第二级</a:t>
            </a:r>
          </a:p>
          <a:p>
            <a:pPr lvl="2"/>
            <a:r>
              <a:rPr lang="zh-CN" altLang="en-US" noProof="0" smtClean="0"/>
              <a:t>第三级</a:t>
            </a:r>
          </a:p>
          <a:p>
            <a:pPr lvl="3"/>
            <a:r>
              <a:rPr lang="zh-CN" altLang="en-US" noProof="0" smtClean="0"/>
              <a:t>第四级</a:t>
            </a:r>
          </a:p>
          <a:p>
            <a:pPr lvl="4"/>
            <a:r>
              <a:rPr lang="zh-CN" altLang="en-US" noProof="0" smtClean="0"/>
              <a:t>第五级</a:t>
            </a:r>
          </a:p>
        </p:txBody>
      </p:sp>
      <p:sp>
        <p:nvSpPr>
          <p:cNvPr id="2054" name="Rectangle 6"/>
          <p:cNvSpPr>
            <a:spLocks noGrp="1" noChangeArrowheads="1"/>
          </p:cNvSpPr>
          <p:nvPr>
            <p:ph type="ftr" sz="quarter" idx="4"/>
          </p:nvPr>
        </p:nvSpPr>
        <p:spPr bwMode="auto">
          <a:xfrm>
            <a:off x="0" y="9477375"/>
            <a:ext cx="2960688" cy="500063"/>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lvl1pPr eaLnBrk="0" hangingPunct="0">
              <a:defRPr sz="1200"/>
            </a:lvl1pPr>
          </a:lstStyle>
          <a:p>
            <a:pPr>
              <a:defRPr/>
            </a:pPr>
            <a:endParaRPr lang="en-US"/>
          </a:p>
        </p:txBody>
      </p:sp>
      <p:sp>
        <p:nvSpPr>
          <p:cNvPr id="2055" name="Rectangle 7"/>
          <p:cNvSpPr>
            <a:spLocks noGrp="1" noChangeArrowheads="1"/>
          </p:cNvSpPr>
          <p:nvPr>
            <p:ph type="sldNum" sz="quarter" idx="5"/>
          </p:nvPr>
        </p:nvSpPr>
        <p:spPr bwMode="auto">
          <a:xfrm>
            <a:off x="3870325" y="9477375"/>
            <a:ext cx="2962275" cy="500063"/>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lvl1pPr algn="r" eaLnBrk="0" hangingPunct="0">
              <a:defRPr sz="1200"/>
            </a:lvl1pPr>
          </a:lstStyle>
          <a:p>
            <a:pPr>
              <a:defRPr/>
            </a:pPr>
            <a:fld id="{41D38F39-A85B-41D3-A747-D72F5D0CCC3C}" type="slidenum">
              <a:rPr lang="zh-CN" altLang="en-US"/>
              <a:pPr>
                <a:defRPr/>
              </a:pPr>
              <a:t>‹#›</a:t>
            </a:fld>
            <a:endParaRPr 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itchFamily="34" charset="0"/>
        <a:ea typeface="宋体" pitchFamily="2" charset="-122"/>
        <a:cs typeface="+mn-cs"/>
      </a:defRPr>
    </a:lvl1pPr>
    <a:lvl2pPr marL="457200" algn="l" rtl="0" eaLnBrk="0" fontAlgn="base" hangingPunct="0">
      <a:spcBef>
        <a:spcPct val="30000"/>
      </a:spcBef>
      <a:spcAft>
        <a:spcPct val="0"/>
      </a:spcAft>
      <a:defRPr sz="1200" kern="1200">
        <a:solidFill>
          <a:schemeClr val="tx1"/>
        </a:solidFill>
        <a:latin typeface="Calibri" pitchFamily="34" charset="0"/>
        <a:ea typeface="宋体" pitchFamily="2" charset="-122"/>
        <a:cs typeface="+mn-cs"/>
      </a:defRPr>
    </a:lvl2pPr>
    <a:lvl3pPr marL="914400" algn="l" rtl="0" eaLnBrk="0" fontAlgn="base" hangingPunct="0">
      <a:spcBef>
        <a:spcPct val="30000"/>
      </a:spcBef>
      <a:spcAft>
        <a:spcPct val="0"/>
      </a:spcAft>
      <a:defRPr sz="1200" kern="1200">
        <a:solidFill>
          <a:schemeClr val="tx1"/>
        </a:solidFill>
        <a:latin typeface="Calibri" pitchFamily="34" charset="0"/>
        <a:ea typeface="宋体" pitchFamily="2" charset="-122"/>
        <a:cs typeface="+mn-cs"/>
      </a:defRPr>
    </a:lvl3pPr>
    <a:lvl4pPr marL="1371600" algn="l" rtl="0" eaLnBrk="0" fontAlgn="base" hangingPunct="0">
      <a:spcBef>
        <a:spcPct val="30000"/>
      </a:spcBef>
      <a:spcAft>
        <a:spcPct val="0"/>
      </a:spcAft>
      <a:defRPr sz="1200" kern="1200">
        <a:solidFill>
          <a:schemeClr val="tx1"/>
        </a:solidFill>
        <a:latin typeface="Calibri" pitchFamily="34" charset="0"/>
        <a:ea typeface="宋体" pitchFamily="2" charset="-122"/>
        <a:cs typeface="+mn-cs"/>
      </a:defRPr>
    </a:lvl4pPr>
    <a:lvl5pPr marL="1828800" algn="l" rtl="0" eaLnBrk="0" fontAlgn="base" hangingPunct="0">
      <a:spcBef>
        <a:spcPct val="30000"/>
      </a:spcBef>
      <a:spcAft>
        <a:spcPct val="0"/>
      </a:spcAft>
      <a:defRPr sz="1200" kern="1200">
        <a:solidFill>
          <a:schemeClr val="tx1"/>
        </a:solidFill>
        <a:latin typeface="Calibri" pitchFamily="34" charset="0"/>
        <a:ea typeface="宋体"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2130425"/>
            <a:ext cx="7772400" cy="1470025"/>
          </a:xfrm>
        </p:spPr>
        <p:txBody>
          <a:body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smtClean="0"/>
              <a:t>单击此处编辑母版副标题样式</a:t>
            </a:r>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单击此处编辑母版文本样式</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457200" y="1339850"/>
            <a:ext cx="4038600" cy="48545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339850"/>
            <a:ext cx="4038600" cy="48545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smtClean="0"/>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38100"/>
            <a:ext cx="2057400" cy="6232525"/>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457200" y="-38100"/>
            <a:ext cx="6019800" cy="6232525"/>
          </a:xfrm>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1026" name="Picture 2" descr="未命名_副本"/>
          <p:cNvPicPr>
            <a:picLocks noChangeAspect="1" noChangeArrowheads="1"/>
          </p:cNvPicPr>
          <p:nvPr userDrawn="1"/>
        </p:nvPicPr>
        <p:blipFill>
          <a:blip r:embed="rId13"/>
          <a:srcRect l="1405" t="12910" r="2878" b="10757"/>
          <a:stretch>
            <a:fillRect/>
          </a:stretch>
        </p:blipFill>
        <p:spPr bwMode="auto">
          <a:xfrm>
            <a:off x="-20638" y="838200"/>
            <a:ext cx="9159876" cy="5784850"/>
          </a:xfrm>
          <a:prstGeom prst="rect">
            <a:avLst/>
          </a:prstGeom>
          <a:noFill/>
          <a:ln w="9525">
            <a:noFill/>
            <a:miter lim="800000"/>
            <a:headEnd/>
            <a:tailEnd/>
          </a:ln>
        </p:spPr>
      </p:pic>
      <p:pic>
        <p:nvPicPr>
          <p:cNvPr id="1027" name="Picture 3" descr="图片2"/>
          <p:cNvPicPr>
            <a:picLocks noChangeAspect="1" noChangeArrowheads="1"/>
          </p:cNvPicPr>
          <p:nvPr userDrawn="1"/>
        </p:nvPicPr>
        <p:blipFill>
          <a:blip r:embed="rId14"/>
          <a:srcRect/>
          <a:stretch>
            <a:fillRect/>
          </a:stretch>
        </p:blipFill>
        <p:spPr bwMode="auto">
          <a:xfrm>
            <a:off x="-20638" y="6453188"/>
            <a:ext cx="9164638" cy="398462"/>
          </a:xfrm>
          <a:prstGeom prst="rect">
            <a:avLst/>
          </a:prstGeom>
          <a:noFill/>
          <a:ln w="9525">
            <a:noFill/>
            <a:miter lim="800000"/>
            <a:headEnd/>
            <a:tailEnd/>
          </a:ln>
        </p:spPr>
      </p:pic>
      <p:pic>
        <p:nvPicPr>
          <p:cNvPr id="1028" name="Picture 4" descr="图片2"/>
          <p:cNvPicPr>
            <a:picLocks noChangeAspect="1" noChangeArrowheads="1"/>
          </p:cNvPicPr>
          <p:nvPr userDrawn="1"/>
        </p:nvPicPr>
        <p:blipFill>
          <a:blip r:embed="rId14"/>
          <a:srcRect/>
          <a:stretch>
            <a:fillRect/>
          </a:stretch>
        </p:blipFill>
        <p:spPr bwMode="auto">
          <a:xfrm>
            <a:off x="-20638" y="-26988"/>
            <a:ext cx="9164638" cy="865188"/>
          </a:xfrm>
          <a:prstGeom prst="rect">
            <a:avLst/>
          </a:prstGeom>
          <a:noFill/>
          <a:ln w="9525">
            <a:noFill/>
            <a:miter lim="800000"/>
            <a:headEnd/>
            <a:tailEnd/>
          </a:ln>
        </p:spPr>
      </p:pic>
      <p:sp>
        <p:nvSpPr>
          <p:cNvPr id="1029" name="Rectangle 2"/>
          <p:cNvSpPr>
            <a:spLocks noGrp="1" noChangeArrowheads="1"/>
          </p:cNvSpPr>
          <p:nvPr>
            <p:ph type="title"/>
          </p:nvPr>
        </p:nvSpPr>
        <p:spPr bwMode="auto">
          <a:xfrm>
            <a:off x="457200" y="-38100"/>
            <a:ext cx="8229600" cy="11366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zh-CN" smtClean="0"/>
              <a:t>单击此处编辑母版标题样式</a:t>
            </a:r>
          </a:p>
        </p:txBody>
      </p:sp>
      <p:sp>
        <p:nvSpPr>
          <p:cNvPr id="1030" name="Rectangle 3"/>
          <p:cNvSpPr>
            <a:spLocks noGrp="1" noChangeArrowheads="1"/>
          </p:cNvSpPr>
          <p:nvPr>
            <p:ph type="body" idx="1"/>
          </p:nvPr>
        </p:nvSpPr>
        <p:spPr bwMode="auto">
          <a:xfrm>
            <a:off x="457200" y="1339850"/>
            <a:ext cx="8229600" cy="4854575"/>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zh-CN" smtClean="0"/>
              <a:t>单击此处编辑母版文本样式</a:t>
            </a:r>
          </a:p>
          <a:p>
            <a:pPr lvl="1"/>
            <a:r>
              <a:rPr lang="zh-CN" smtClean="0"/>
              <a:t>第二级</a:t>
            </a:r>
          </a:p>
          <a:p>
            <a:pPr lvl="2"/>
            <a:r>
              <a:rPr lang="zh-CN" smtClean="0"/>
              <a:t>第三级</a:t>
            </a:r>
          </a:p>
          <a:p>
            <a:pPr lvl="3"/>
            <a:r>
              <a:rPr lang="zh-CN" smtClean="0"/>
              <a:t>第四级</a:t>
            </a:r>
          </a:p>
          <a:p>
            <a:pPr lvl="4"/>
            <a:r>
              <a:rPr lang="zh-CN" smtClean="0"/>
              <a:t>第五级</a:t>
            </a:r>
          </a:p>
        </p:txBody>
      </p:sp>
      <p:sp>
        <p:nvSpPr>
          <p:cNvPr id="1031" name="Text Box 7"/>
          <p:cNvSpPr txBox="1">
            <a:spLocks noChangeArrowheads="1"/>
          </p:cNvSpPr>
          <p:nvPr userDrawn="1"/>
        </p:nvSpPr>
        <p:spPr bwMode="auto">
          <a:xfrm>
            <a:off x="5510213" y="6454775"/>
            <a:ext cx="4103687" cy="334963"/>
          </a:xfrm>
          <a:prstGeom prst="rect">
            <a:avLst/>
          </a:prstGeom>
          <a:noFill/>
          <a:ln w="9525">
            <a:noFill/>
            <a:miter lim="800000"/>
            <a:headEnd/>
            <a:tailEnd/>
          </a:ln>
        </p:spPr>
        <p:txBody>
          <a:bodyPr>
            <a:spAutoFit/>
          </a:bodyPr>
          <a:lstStyle/>
          <a:p>
            <a:r>
              <a:rPr lang="en-US" altLang="zh-CN" sz="1600" b="1">
                <a:solidFill>
                  <a:schemeClr val="bg1"/>
                </a:solidFill>
              </a:rPr>
              <a:t>An Introduction to Database System</a:t>
            </a:r>
          </a:p>
        </p:txBody>
      </p:sp>
      <p:sp>
        <p:nvSpPr>
          <p:cNvPr id="1032" name="WordArt 8"/>
          <p:cNvSpPr>
            <a:spLocks noChangeArrowheads="1" noChangeShapeType="1"/>
          </p:cNvSpPr>
          <p:nvPr userDrawn="1"/>
        </p:nvSpPr>
        <p:spPr bwMode="auto">
          <a:xfrm rot="-1980000">
            <a:off x="1908175" y="2205038"/>
            <a:ext cx="5337175" cy="2976562"/>
          </a:xfrm>
          <a:prstGeom prst="rect">
            <a:avLst/>
          </a:prstGeom>
        </p:spPr>
        <p:txBody>
          <a:bodyPr wrap="none" fromWordArt="1">
            <a:prstTxWarp prst="textPlain">
              <a:avLst>
                <a:gd name="adj" fmla="val 50000"/>
              </a:avLst>
            </a:prstTxWarp>
          </a:bodyPr>
          <a:lstStyle/>
          <a:p>
            <a:pPr algn="ctr"/>
            <a:r>
              <a:rPr lang="zh-CN" altLang="en-US" sz="3600" kern="10">
                <a:ln w="9525">
                  <a:solidFill>
                    <a:schemeClr val="bg1"/>
                  </a:solidFill>
                  <a:round/>
                  <a:headEnd/>
                  <a:tailEnd/>
                </a:ln>
                <a:noFill/>
                <a:latin typeface="华文琥珀"/>
                <a:ea typeface="华文琥珀"/>
              </a:rPr>
              <a:t>中国人民大学</a:t>
            </a:r>
          </a:p>
          <a:p>
            <a:pPr algn="ctr"/>
            <a:endParaRPr lang="zh-CN" altLang="en-US" sz="3600" kern="10">
              <a:ln w="9525">
                <a:solidFill>
                  <a:schemeClr val="bg1"/>
                </a:solidFill>
                <a:round/>
                <a:headEnd/>
                <a:tailEnd/>
              </a:ln>
              <a:noFill/>
              <a:latin typeface="华文琥珀"/>
              <a:ea typeface="华文琥珀"/>
            </a:endParaRPr>
          </a:p>
          <a:p>
            <a:pPr algn="ctr"/>
            <a:endParaRPr lang="zh-CN" altLang="en-US" sz="3600" kern="10">
              <a:ln w="9525">
                <a:solidFill>
                  <a:schemeClr val="bg1"/>
                </a:solidFill>
                <a:round/>
                <a:headEnd/>
                <a:tailEnd/>
              </a:ln>
              <a:noFill/>
              <a:latin typeface="华文琥珀"/>
              <a:ea typeface="华文琥珀"/>
            </a:endParaRPr>
          </a:p>
          <a:p>
            <a:pPr algn="ctr"/>
            <a:r>
              <a:rPr lang="zh-CN" altLang="en-US" sz="3600" kern="10">
                <a:ln w="9525">
                  <a:solidFill>
                    <a:schemeClr val="bg1"/>
                  </a:solidFill>
                  <a:round/>
                  <a:headEnd/>
                  <a:tailEnd/>
                </a:ln>
                <a:noFill/>
                <a:latin typeface="华文琥珀"/>
                <a:ea typeface="华文琥珀"/>
              </a:rPr>
              <a:t>数据库系统概论</a:t>
            </a:r>
          </a:p>
        </p:txBody>
      </p:sp>
      <p:pic>
        <p:nvPicPr>
          <p:cNvPr id="1033" name="Picture 9" descr="图片3"/>
          <p:cNvPicPr>
            <a:picLocks noChangeAspect="1" noChangeArrowheads="1"/>
          </p:cNvPicPr>
          <p:nvPr userDrawn="1"/>
        </p:nvPicPr>
        <p:blipFill>
          <a:blip r:embed="rId15"/>
          <a:srcRect/>
          <a:stretch>
            <a:fillRect/>
          </a:stretch>
        </p:blipFill>
        <p:spPr bwMode="auto">
          <a:xfrm>
            <a:off x="7516813" y="4797425"/>
            <a:ext cx="1528762" cy="2198688"/>
          </a:xfrm>
          <a:prstGeom prst="rect">
            <a:avLst/>
          </a:prstGeom>
          <a:noFill/>
          <a:ln w="9525">
            <a:noFill/>
            <a:miter lim="800000"/>
            <a:headEnd/>
            <a:tailEnd/>
          </a:ln>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itchFamily="34" charset="0"/>
          <a:ea typeface="宋体" pitchFamily="2" charset="-122"/>
        </a:defRPr>
      </a:lvl2pPr>
      <a:lvl3pPr algn="ctr" rtl="0" eaLnBrk="0" fontAlgn="base" hangingPunct="0">
        <a:spcBef>
          <a:spcPct val="0"/>
        </a:spcBef>
        <a:spcAft>
          <a:spcPct val="0"/>
        </a:spcAft>
        <a:defRPr sz="4000" b="1">
          <a:solidFill>
            <a:schemeClr val="bg1"/>
          </a:solidFill>
          <a:latin typeface="Arial" pitchFamily="34" charset="0"/>
          <a:ea typeface="宋体" pitchFamily="2" charset="-122"/>
        </a:defRPr>
      </a:lvl3pPr>
      <a:lvl4pPr algn="ctr" rtl="0" eaLnBrk="0" fontAlgn="base" hangingPunct="0">
        <a:spcBef>
          <a:spcPct val="0"/>
        </a:spcBef>
        <a:spcAft>
          <a:spcPct val="0"/>
        </a:spcAft>
        <a:defRPr sz="4000" b="1">
          <a:solidFill>
            <a:schemeClr val="bg1"/>
          </a:solidFill>
          <a:latin typeface="Arial" pitchFamily="34" charset="0"/>
          <a:ea typeface="宋体" pitchFamily="2" charset="-122"/>
        </a:defRPr>
      </a:lvl4pPr>
      <a:lvl5pPr algn="ctr" rtl="0" eaLnBrk="0" fontAlgn="base" hangingPunct="0">
        <a:spcBef>
          <a:spcPct val="0"/>
        </a:spcBef>
        <a:spcAft>
          <a:spcPct val="0"/>
        </a:spcAft>
        <a:defRPr sz="4000" b="1">
          <a:solidFill>
            <a:schemeClr val="bg1"/>
          </a:solidFill>
          <a:latin typeface="Arial" pitchFamily="34" charset="0"/>
          <a:ea typeface="宋体" pitchFamily="2" charset="-122"/>
        </a:defRPr>
      </a:lvl5pPr>
      <a:lvl6pPr marL="457200" algn="ctr" rtl="0" eaLnBrk="0" fontAlgn="base" hangingPunct="0">
        <a:spcBef>
          <a:spcPct val="0"/>
        </a:spcBef>
        <a:spcAft>
          <a:spcPct val="0"/>
        </a:spcAft>
        <a:defRPr sz="4000" b="1">
          <a:solidFill>
            <a:schemeClr val="bg1"/>
          </a:solidFill>
          <a:latin typeface="Arial" pitchFamily="34" charset="0"/>
          <a:ea typeface="宋体" pitchFamily="2" charset="-122"/>
        </a:defRPr>
      </a:lvl6pPr>
      <a:lvl7pPr marL="914400" algn="ctr" rtl="0" eaLnBrk="0" fontAlgn="base" hangingPunct="0">
        <a:spcBef>
          <a:spcPct val="0"/>
        </a:spcBef>
        <a:spcAft>
          <a:spcPct val="0"/>
        </a:spcAft>
        <a:defRPr sz="4000" b="1">
          <a:solidFill>
            <a:schemeClr val="bg1"/>
          </a:solidFill>
          <a:latin typeface="Arial" pitchFamily="34" charset="0"/>
          <a:ea typeface="宋体" pitchFamily="2" charset="-122"/>
        </a:defRPr>
      </a:lvl7pPr>
      <a:lvl8pPr marL="1371600" algn="ctr" rtl="0" eaLnBrk="0" fontAlgn="base" hangingPunct="0">
        <a:spcBef>
          <a:spcPct val="0"/>
        </a:spcBef>
        <a:spcAft>
          <a:spcPct val="0"/>
        </a:spcAft>
        <a:defRPr sz="4000" b="1">
          <a:solidFill>
            <a:schemeClr val="bg1"/>
          </a:solidFill>
          <a:latin typeface="Arial" pitchFamily="34" charset="0"/>
          <a:ea typeface="宋体" pitchFamily="2" charset="-122"/>
        </a:defRPr>
      </a:lvl8pPr>
      <a:lvl9pPr marL="1828800" algn="ctr" rtl="0" eaLnBrk="0" fontAlgn="base" hangingPunct="0">
        <a:spcBef>
          <a:spcPct val="0"/>
        </a:spcBef>
        <a:spcAft>
          <a:spcPct val="0"/>
        </a:spcAft>
        <a:defRPr sz="4000" b="1">
          <a:solidFill>
            <a:schemeClr val="bg1"/>
          </a:solidFill>
          <a:latin typeface="Arial" pitchFamily="34" charset="0"/>
          <a:ea typeface="宋体" pitchFamily="2" charset="-122"/>
        </a:defRPr>
      </a:lvl9pPr>
    </p:titleStyle>
    <p:bodyStyle>
      <a:lvl1pPr marL="342900" indent="-342900" algn="l" rtl="0" eaLnBrk="0" fontAlgn="base" hangingPunct="0">
        <a:spcBef>
          <a:spcPct val="20000"/>
        </a:spcBef>
        <a:spcAft>
          <a:spcPct val="0"/>
        </a:spcAft>
        <a:buSzPct val="100000"/>
        <a:buFont typeface="Wingdings"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itchFamily="34" charset="0"/>
        <a:buChar char="•"/>
        <a:defRPr sz="2200" b="1">
          <a:solidFill>
            <a:schemeClr val="tx1"/>
          </a:solidFill>
          <a:latin typeface="+mn-lt"/>
          <a:ea typeface="+mn-ea"/>
        </a:defRPr>
      </a:lvl3pPr>
      <a:lvl4pPr marL="1600200" indent="-228600" algn="l" rtl="0" eaLnBrk="0" fontAlgn="base" hangingPunct="0">
        <a:spcBef>
          <a:spcPct val="20000"/>
        </a:spcBef>
        <a:spcAft>
          <a:spcPct val="0"/>
        </a:spcAft>
        <a:buFont typeface="Arial"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itchFamily="34" charset="0"/>
        <a:buChar char="»"/>
        <a:defRPr sz="2000" b="1">
          <a:solidFill>
            <a:schemeClr val="tx1"/>
          </a:solidFill>
          <a:latin typeface="+mn-lt"/>
          <a:ea typeface="+mn-ea"/>
        </a:defRPr>
      </a:lvl5pPr>
      <a:lvl6pPr marL="2514600" indent="-228600" algn="l" rtl="0" eaLnBrk="0" fontAlgn="base" hangingPunct="0">
        <a:spcBef>
          <a:spcPct val="20000"/>
        </a:spcBef>
        <a:spcAft>
          <a:spcPct val="0"/>
        </a:spcAft>
        <a:buFont typeface="Arial" pitchFamily="34" charset="0"/>
        <a:buChar char="»"/>
        <a:defRPr b="1">
          <a:solidFill>
            <a:schemeClr val="tx1"/>
          </a:solidFill>
          <a:latin typeface="+mn-lt"/>
          <a:ea typeface="+mn-ea"/>
        </a:defRPr>
      </a:lvl6pPr>
      <a:lvl7pPr marL="2971800" indent="-228600" algn="l" rtl="0" eaLnBrk="0" fontAlgn="base" hangingPunct="0">
        <a:spcBef>
          <a:spcPct val="20000"/>
        </a:spcBef>
        <a:spcAft>
          <a:spcPct val="0"/>
        </a:spcAft>
        <a:buFont typeface="Arial" pitchFamily="34" charset="0"/>
        <a:buChar char="»"/>
        <a:defRPr b="1">
          <a:solidFill>
            <a:schemeClr val="tx1"/>
          </a:solidFill>
          <a:latin typeface="+mn-lt"/>
          <a:ea typeface="+mn-ea"/>
        </a:defRPr>
      </a:lvl7pPr>
      <a:lvl8pPr marL="3429000" indent="-228600" algn="l" rtl="0" eaLnBrk="0" fontAlgn="base" hangingPunct="0">
        <a:spcBef>
          <a:spcPct val="20000"/>
        </a:spcBef>
        <a:spcAft>
          <a:spcPct val="0"/>
        </a:spcAft>
        <a:buFont typeface="Arial" pitchFamily="34" charset="0"/>
        <a:buChar char="»"/>
        <a:defRPr b="1">
          <a:solidFill>
            <a:schemeClr val="tx1"/>
          </a:solidFill>
          <a:latin typeface="+mn-lt"/>
          <a:ea typeface="+mn-ea"/>
        </a:defRPr>
      </a:lvl8pPr>
      <a:lvl9pPr marL="3886200" indent="-228600" algn="l" rtl="0" eaLnBrk="0" fontAlgn="base" hangingPunct="0">
        <a:spcBef>
          <a:spcPct val="20000"/>
        </a:spcBef>
        <a:spcAft>
          <a:spcPct val="0"/>
        </a:spcAft>
        <a:buFont typeface="Arial" pitchFamily="34" charset="0"/>
        <a:buChar char="»"/>
        <a:defRPr b="1">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标题 1"/>
          <p:cNvSpPr>
            <a:spLocks noGrp="1"/>
          </p:cNvSpPr>
          <p:nvPr>
            <p:ph type="ctrTitle" idx="4294967295"/>
          </p:nvPr>
        </p:nvSpPr>
        <p:spPr>
          <a:xfrm>
            <a:off x="685800" y="2130425"/>
            <a:ext cx="7772400" cy="1470025"/>
          </a:xfrm>
        </p:spPr>
        <p:txBody>
          <a:bodyPr/>
          <a:lstStyle/>
          <a:p>
            <a:endParaRPr lang="zh-CN" altLang="zh-CN" smtClean="0"/>
          </a:p>
        </p:txBody>
      </p:sp>
      <p:sp>
        <p:nvSpPr>
          <p:cNvPr id="2051" name="副标题 2"/>
          <p:cNvSpPr>
            <a:spLocks noGrp="1"/>
          </p:cNvSpPr>
          <p:nvPr>
            <p:ph type="subTitle" idx="4294967295"/>
          </p:nvPr>
        </p:nvSpPr>
        <p:spPr>
          <a:xfrm>
            <a:off x="1371600" y="3886200"/>
            <a:ext cx="6400800" cy="1752600"/>
          </a:xfrm>
        </p:spPr>
        <p:txBody>
          <a:bodyPr/>
          <a:lstStyle/>
          <a:p>
            <a:pPr marL="0" indent="0" algn="ctr">
              <a:buFont typeface="Wingdings" pitchFamily="2" charset="2"/>
              <a:buNone/>
            </a:pPr>
            <a:endParaRPr lang="zh-CN" altLang="zh-CN" smtClean="0"/>
          </a:p>
        </p:txBody>
      </p:sp>
      <p:pic>
        <p:nvPicPr>
          <p:cNvPr id="2052" name="Picture 3"/>
          <p:cNvPicPr>
            <a:picLocks noChangeAspect="1" noChangeArrowheads="1"/>
          </p:cNvPicPr>
          <p:nvPr/>
        </p:nvPicPr>
        <p:blipFill>
          <a:blip r:embed="rId2">
            <a:lum bright="4000" contrast="-2000"/>
          </a:blip>
          <a:srcRect/>
          <a:stretch>
            <a:fillRect/>
          </a:stretch>
        </p:blipFill>
        <p:spPr bwMode="auto">
          <a:xfrm>
            <a:off x="0" y="0"/>
            <a:ext cx="9144000" cy="6858000"/>
          </a:xfrm>
          <a:prstGeom prst="rect">
            <a:avLst/>
          </a:prstGeom>
          <a:noFill/>
          <a:ln w="9525">
            <a:noFill/>
            <a:miter lim="800000"/>
            <a:headEnd/>
            <a:tailEnd/>
          </a:ln>
        </p:spPr>
      </p:pic>
      <p:sp>
        <p:nvSpPr>
          <p:cNvPr id="2053" name="Rectangle 4"/>
          <p:cNvSpPr>
            <a:spLocks noChangeArrowheads="1"/>
          </p:cNvSpPr>
          <p:nvPr/>
        </p:nvSpPr>
        <p:spPr bwMode="auto">
          <a:xfrm>
            <a:off x="323850" y="1701800"/>
            <a:ext cx="8208963" cy="2663825"/>
          </a:xfrm>
          <a:prstGeom prst="rect">
            <a:avLst/>
          </a:prstGeom>
          <a:noFill/>
          <a:ln w="9525">
            <a:noFill/>
            <a:miter lim="800000"/>
            <a:headEnd/>
            <a:tailEnd/>
          </a:ln>
        </p:spPr>
        <p:txBody>
          <a:bodyPr anchor="ctr"/>
          <a:lstStyle/>
          <a:p>
            <a:pPr algn="ctr"/>
            <a:r>
              <a:rPr lang="zh-CN" altLang="en-US" sz="6000">
                <a:solidFill>
                  <a:schemeClr val="bg1"/>
                </a:solidFill>
                <a:latin typeface="黑体" pitchFamily="49" charset="-122"/>
                <a:ea typeface="黑体" pitchFamily="49" charset="-122"/>
                <a:sym typeface="宋体" pitchFamily="2" charset="-122"/>
              </a:rPr>
              <a:t>数据库系统概论</a:t>
            </a:r>
            <a:r>
              <a:rPr lang="zh-CN" altLang="en-US" sz="6000">
                <a:latin typeface="黑体" pitchFamily="49" charset="-122"/>
                <a:ea typeface="黑体" pitchFamily="49" charset="-122"/>
                <a:sym typeface="宋体" pitchFamily="2" charset="-122"/>
              </a:rPr>
              <a:t/>
            </a:r>
            <a:br>
              <a:rPr lang="zh-CN" altLang="en-US" sz="6000">
                <a:latin typeface="黑体" pitchFamily="49" charset="-122"/>
                <a:ea typeface="黑体" pitchFamily="49" charset="-122"/>
                <a:sym typeface="宋体" pitchFamily="2" charset="-122"/>
              </a:rPr>
            </a:br>
            <a:r>
              <a:rPr lang="en-US" altLang="zh-CN" sz="3600" b="1">
                <a:solidFill>
                  <a:schemeClr val="bg1"/>
                </a:solidFill>
                <a:latin typeface="Times New Roman" pitchFamily="18" charset="0"/>
                <a:sym typeface="宋体" pitchFamily="2" charset="-122"/>
              </a:rPr>
              <a:t>An Introduction to Database System</a:t>
            </a:r>
          </a:p>
          <a:p>
            <a:pPr algn="ctr"/>
            <a:endParaRPr lang="en-US" altLang="zh-CN" sz="3600" b="1">
              <a:solidFill>
                <a:schemeClr val="bg1"/>
              </a:solidFill>
              <a:latin typeface="Times New Roman" pitchFamily="18" charset="0"/>
              <a:sym typeface="宋体" pitchFamily="2" charset="-122"/>
            </a:endParaRPr>
          </a:p>
          <a:p>
            <a:pPr algn="ctr"/>
            <a:endParaRPr lang="en-US" altLang="zh-CN" sz="4800" b="1">
              <a:solidFill>
                <a:schemeClr val="bg1"/>
              </a:solidFill>
              <a:latin typeface="黑体" pitchFamily="49" charset="-122"/>
              <a:ea typeface="黑体" pitchFamily="49" charset="-122"/>
            </a:endParaRPr>
          </a:p>
          <a:p>
            <a:pPr algn="ctr"/>
            <a:r>
              <a:rPr lang="zh-CN" altLang="en-US" sz="4800" b="1">
                <a:solidFill>
                  <a:schemeClr val="bg1"/>
                </a:solidFill>
                <a:latin typeface="黑体" pitchFamily="49" charset="-122"/>
                <a:ea typeface="黑体" pitchFamily="49" charset="-122"/>
              </a:rPr>
              <a:t>第七章 数据库设计（续）</a:t>
            </a:r>
            <a:endParaRPr lang="en-US" altLang="zh-CN" sz="4800" b="1">
              <a:solidFill>
                <a:schemeClr val="bg1"/>
              </a:solidFill>
              <a:latin typeface="黑体" pitchFamily="49" charset="-122"/>
              <a:ea typeface="黑体" pitchFamily="49" charset="-122"/>
            </a:endParaRPr>
          </a:p>
          <a:p>
            <a:pPr algn="ctr"/>
            <a:endParaRPr lang="en-US" sz="3600" b="1">
              <a:solidFill>
                <a:schemeClr val="bg1"/>
              </a:solidFill>
              <a:latin typeface="Times New Roman" pitchFamily="18" charset="0"/>
              <a:sym typeface="宋体" pitchFamily="2" charset="-122"/>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title" idx="4294967295"/>
          </p:nvPr>
        </p:nvSpPr>
        <p:spPr/>
        <p:txBody>
          <a:bodyPr/>
          <a:lstStyle/>
          <a:p>
            <a:r>
              <a:rPr lang="zh-CN" smtClean="0"/>
              <a:t>第七章  数据库设计</a:t>
            </a:r>
          </a:p>
        </p:txBody>
      </p:sp>
      <p:sp>
        <p:nvSpPr>
          <p:cNvPr id="3075" name="Rectangle 3"/>
          <p:cNvSpPr>
            <a:spLocks noGrp="1" noChangeArrowheads="1"/>
          </p:cNvSpPr>
          <p:nvPr>
            <p:ph idx="4294967295"/>
          </p:nvPr>
        </p:nvSpPr>
        <p:spPr>
          <a:xfrm>
            <a:off x="827088" y="1098550"/>
            <a:ext cx="7859712" cy="4854575"/>
          </a:xfrm>
        </p:spPr>
        <p:txBody>
          <a:bodyPr/>
          <a:lstStyle/>
          <a:p>
            <a:pPr marL="0" indent="0">
              <a:lnSpc>
                <a:spcPct val="150000"/>
              </a:lnSpc>
              <a:buFont typeface="Wingdings" pitchFamily="2" charset="2"/>
              <a:buNone/>
            </a:pPr>
            <a:r>
              <a:rPr lang="en-US" altLang="zh-CN" smtClean="0"/>
              <a:t>7.1  </a:t>
            </a:r>
            <a:r>
              <a:rPr lang="zh-CN" altLang="en-US" smtClean="0"/>
              <a:t>数据库设计概述</a:t>
            </a:r>
          </a:p>
          <a:p>
            <a:pPr marL="0" indent="0">
              <a:lnSpc>
                <a:spcPct val="150000"/>
              </a:lnSpc>
              <a:buFont typeface="Wingdings" pitchFamily="2" charset="2"/>
              <a:buNone/>
            </a:pPr>
            <a:r>
              <a:rPr lang="en-US" altLang="zh-CN" smtClean="0"/>
              <a:t>7.2  </a:t>
            </a:r>
            <a:r>
              <a:rPr lang="zh-CN" altLang="en-US" smtClean="0"/>
              <a:t>需求分析</a:t>
            </a:r>
          </a:p>
          <a:p>
            <a:pPr marL="0" indent="0">
              <a:lnSpc>
                <a:spcPct val="150000"/>
              </a:lnSpc>
              <a:buFont typeface="Wingdings" pitchFamily="2" charset="2"/>
              <a:buNone/>
            </a:pPr>
            <a:r>
              <a:rPr lang="en-US" altLang="zh-CN" smtClean="0"/>
              <a:t>7.3  </a:t>
            </a:r>
            <a:r>
              <a:rPr lang="zh-CN" altLang="en-US" smtClean="0"/>
              <a:t>概念结构设计</a:t>
            </a:r>
          </a:p>
          <a:p>
            <a:pPr marL="0" indent="0">
              <a:lnSpc>
                <a:spcPct val="150000"/>
              </a:lnSpc>
              <a:buFont typeface="Wingdings" pitchFamily="2" charset="2"/>
              <a:buNone/>
            </a:pPr>
            <a:r>
              <a:rPr lang="en-US" altLang="zh-CN" smtClean="0">
                <a:solidFill>
                  <a:srgbClr val="0066FF"/>
                </a:solidFill>
              </a:rPr>
              <a:t>7.4  </a:t>
            </a:r>
            <a:r>
              <a:rPr lang="zh-CN" altLang="en-US" smtClean="0">
                <a:solidFill>
                  <a:srgbClr val="0066FF"/>
                </a:solidFill>
              </a:rPr>
              <a:t>逻辑结构设计</a:t>
            </a:r>
          </a:p>
          <a:p>
            <a:pPr marL="0" indent="0">
              <a:lnSpc>
                <a:spcPct val="150000"/>
              </a:lnSpc>
              <a:buFont typeface="Wingdings" pitchFamily="2" charset="2"/>
              <a:buNone/>
            </a:pPr>
            <a:r>
              <a:rPr lang="en-US" altLang="zh-CN" smtClean="0"/>
              <a:t>7.5  </a:t>
            </a:r>
            <a:r>
              <a:rPr lang="zh-CN" altLang="en-US" smtClean="0"/>
              <a:t>物理结构设计</a:t>
            </a:r>
          </a:p>
          <a:p>
            <a:pPr marL="0" indent="0">
              <a:lnSpc>
                <a:spcPct val="150000"/>
              </a:lnSpc>
              <a:buFont typeface="Wingdings" pitchFamily="2" charset="2"/>
              <a:buNone/>
            </a:pPr>
            <a:r>
              <a:rPr lang="en-US" altLang="zh-CN" smtClean="0"/>
              <a:t>7.6  </a:t>
            </a:r>
            <a:r>
              <a:rPr lang="zh-CN" altLang="en-US" smtClean="0"/>
              <a:t>数据库的实施和维护</a:t>
            </a:r>
          </a:p>
          <a:p>
            <a:pPr marL="0" indent="0">
              <a:lnSpc>
                <a:spcPct val="150000"/>
              </a:lnSpc>
              <a:buFont typeface="Wingdings" pitchFamily="2" charset="2"/>
              <a:buNone/>
            </a:pPr>
            <a:r>
              <a:rPr lang="en-US" altLang="zh-CN" smtClean="0"/>
              <a:t>7.7  </a:t>
            </a:r>
            <a:r>
              <a:rPr lang="zh-CN" altLang="en-US" smtClean="0"/>
              <a:t>小结</a:t>
            </a:r>
          </a:p>
        </p:txBody>
      </p:sp>
    </p:spTree>
  </p:cSld>
  <p:clrMapOvr>
    <a:masterClrMapping/>
  </p:clrMapOvr>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idx="4294967295"/>
          </p:nvPr>
        </p:nvSpPr>
        <p:spPr/>
        <p:txBody>
          <a:bodyPr/>
          <a:lstStyle/>
          <a:p>
            <a:r>
              <a:rPr lang="en-US" altLang="zh-CN" sz="3600" smtClean="0"/>
              <a:t>7.4  </a:t>
            </a:r>
            <a:r>
              <a:rPr lang="zh-CN" altLang="en-US" sz="3600" smtClean="0"/>
              <a:t>逻辑结构设计</a:t>
            </a:r>
          </a:p>
        </p:txBody>
      </p:sp>
      <p:sp>
        <p:nvSpPr>
          <p:cNvPr id="4099" name="Rectangle 3"/>
          <p:cNvSpPr>
            <a:spLocks noGrp="1" noChangeArrowheads="1"/>
          </p:cNvSpPr>
          <p:nvPr>
            <p:ph type="body" idx="4294967295"/>
          </p:nvPr>
        </p:nvSpPr>
        <p:spPr/>
        <p:txBody>
          <a:bodyPr/>
          <a:lstStyle/>
          <a:p>
            <a:pPr>
              <a:lnSpc>
                <a:spcPct val="150000"/>
              </a:lnSpc>
            </a:pPr>
            <a:r>
              <a:rPr lang="zh-CN" altLang="en-US" dirty="0" smtClean="0"/>
              <a:t>逻辑结构设计的任务</a:t>
            </a:r>
          </a:p>
          <a:p>
            <a:pPr lvl="1">
              <a:lnSpc>
                <a:spcPct val="150000"/>
              </a:lnSpc>
            </a:pPr>
            <a:r>
              <a:rPr lang="zh-CN" altLang="en-US" dirty="0" smtClean="0"/>
              <a:t>把概念结构设计阶段设计好的基本</a:t>
            </a:r>
            <a:r>
              <a:rPr lang="en-US" altLang="zh-CN" dirty="0" smtClean="0"/>
              <a:t>E-R</a:t>
            </a:r>
            <a:r>
              <a:rPr lang="zh-CN" altLang="en-US" dirty="0" smtClean="0"/>
              <a:t>图转换为与选用数据库管理系统产品所支持的数据模型相符合的逻辑结构</a:t>
            </a:r>
            <a:endParaRPr lang="en-US" altLang="zh-CN" dirty="0" smtClean="0"/>
          </a:p>
          <a:p>
            <a:pPr lvl="1">
              <a:lnSpc>
                <a:spcPct val="150000"/>
              </a:lnSpc>
              <a:buNone/>
            </a:pPr>
            <a:r>
              <a:rPr lang="zh-CN" altLang="en-US" sz="3600" dirty="0" smtClean="0">
                <a:solidFill>
                  <a:srgbClr val="FF0000"/>
                </a:solidFill>
              </a:rPr>
              <a:t>将</a:t>
            </a:r>
            <a:r>
              <a:rPr lang="en-US" altLang="zh-CN" sz="3600" dirty="0" smtClean="0">
                <a:solidFill>
                  <a:srgbClr val="FF0000"/>
                </a:solidFill>
              </a:rPr>
              <a:t>ER</a:t>
            </a:r>
            <a:r>
              <a:rPr lang="zh-CN" altLang="en-US" sz="3600" dirty="0" smtClean="0">
                <a:solidFill>
                  <a:srgbClr val="FF0000"/>
                </a:solidFill>
              </a:rPr>
              <a:t>图转换为表</a:t>
            </a:r>
          </a:p>
        </p:txBody>
      </p:sp>
    </p:spTree>
  </p:cSld>
  <p:clrMapOvr>
    <a:masterClrMapping/>
  </p:clrMapOvr>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2" name="Rectangle 2"/>
          <p:cNvSpPr>
            <a:spLocks noChangeArrowheads="1"/>
          </p:cNvSpPr>
          <p:nvPr/>
        </p:nvSpPr>
        <p:spPr bwMode="auto">
          <a:xfrm>
            <a:off x="457200" y="857232"/>
            <a:ext cx="8686800" cy="5229243"/>
          </a:xfrm>
          <a:prstGeom prst="rect">
            <a:avLst/>
          </a:prstGeom>
          <a:noFill/>
          <a:ln w="9525">
            <a:noFill/>
            <a:miter lim="800000"/>
            <a:headEnd/>
            <a:tailEnd/>
          </a:ln>
        </p:spPr>
        <p:txBody>
          <a:bodyPr/>
          <a:lstStyle/>
          <a:p>
            <a:pPr marL="342900" indent="-342900">
              <a:spcBef>
                <a:spcPct val="20000"/>
              </a:spcBef>
              <a:buClr>
                <a:schemeClr val="tx2"/>
              </a:buClr>
              <a:buFontTx/>
              <a:buChar char="•"/>
            </a:pPr>
            <a:r>
              <a:rPr lang="zh-CN" altLang="en-US" sz="3200" dirty="0" smtClean="0"/>
              <a:t>转换规则</a:t>
            </a:r>
            <a:endParaRPr lang="zh-CN" altLang="en-US" sz="1500" dirty="0">
              <a:solidFill>
                <a:schemeClr val="accent2"/>
              </a:solidFill>
            </a:endParaRPr>
          </a:p>
          <a:p>
            <a:pPr marL="742950" lvl="1" indent="-285750">
              <a:spcBef>
                <a:spcPct val="20000"/>
              </a:spcBef>
            </a:pPr>
            <a:r>
              <a:rPr lang="en-US" altLang="zh-CN" sz="2800" dirty="0">
                <a:ea typeface="ˎ̥"/>
                <a:cs typeface="ˎ̥"/>
              </a:rPr>
              <a:t>1) </a:t>
            </a:r>
            <a:r>
              <a:rPr lang="zh-CN" altLang="en-US" sz="2800" dirty="0"/>
              <a:t>一个实体型转换为一个关系模式。 </a:t>
            </a:r>
            <a:endParaRPr lang="zh-CN" altLang="en-US" sz="1500" dirty="0">
              <a:solidFill>
                <a:schemeClr val="accent2"/>
              </a:solidFill>
            </a:endParaRPr>
          </a:p>
          <a:p>
            <a:pPr marL="1143000" lvl="2" indent="-228600">
              <a:spcBef>
                <a:spcPct val="20000"/>
              </a:spcBef>
              <a:buClr>
                <a:schemeClr val="tx2"/>
              </a:buClr>
              <a:buFontTx/>
              <a:buChar char="•"/>
            </a:pPr>
            <a:r>
              <a:rPr lang="zh-CN" altLang="en-US" sz="2400" dirty="0"/>
              <a:t>实体的属性就是关系的属性， </a:t>
            </a:r>
            <a:endParaRPr lang="zh-CN" altLang="en-US" sz="1500" dirty="0">
              <a:solidFill>
                <a:schemeClr val="accent2"/>
              </a:solidFill>
            </a:endParaRPr>
          </a:p>
          <a:p>
            <a:pPr marL="1143000" lvl="2" indent="-228600">
              <a:spcBef>
                <a:spcPct val="20000"/>
              </a:spcBef>
              <a:buClr>
                <a:schemeClr val="tx2"/>
              </a:buClr>
              <a:buFontTx/>
              <a:buChar char="•"/>
            </a:pPr>
            <a:r>
              <a:rPr lang="zh-CN" altLang="en-US" sz="2400" dirty="0"/>
              <a:t>实体的码就是关系的码</a:t>
            </a:r>
          </a:p>
        </p:txBody>
      </p:sp>
      <p:sp>
        <p:nvSpPr>
          <p:cNvPr id="94213" name="Oval 3"/>
          <p:cNvSpPr>
            <a:spLocks noChangeArrowheads="1"/>
          </p:cNvSpPr>
          <p:nvPr/>
        </p:nvSpPr>
        <p:spPr bwMode="auto">
          <a:xfrm>
            <a:off x="3598863" y="4006848"/>
            <a:ext cx="863600"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400"/>
              <a:t>出生日期</a:t>
            </a:r>
            <a:endParaRPr kumimoji="1" lang="zh-CN" altLang="en-US" sz="2400">
              <a:latin typeface="Times New Roman" pitchFamily="18" charset="0"/>
            </a:endParaRPr>
          </a:p>
        </p:txBody>
      </p:sp>
      <p:sp>
        <p:nvSpPr>
          <p:cNvPr id="94214" name="Text Box 4"/>
          <p:cNvSpPr txBox="1">
            <a:spLocks noChangeArrowheads="1"/>
          </p:cNvSpPr>
          <p:nvPr/>
        </p:nvSpPr>
        <p:spPr bwMode="auto">
          <a:xfrm>
            <a:off x="3887788" y="3071810"/>
            <a:ext cx="784225" cy="400110"/>
          </a:xfrm>
          <a:prstGeom prst="rect">
            <a:avLst/>
          </a:prstGeom>
          <a:gradFill rotWithShape="0">
            <a:gsLst>
              <a:gs pos="0">
                <a:srgbClr val="03D4A8"/>
              </a:gs>
              <a:gs pos="25000">
                <a:srgbClr val="21D6E0"/>
              </a:gs>
              <a:gs pos="75000">
                <a:srgbClr val="0087E6"/>
              </a:gs>
              <a:gs pos="100000">
                <a:srgbClr val="005CBF"/>
              </a:gs>
            </a:gsLst>
            <a:lin ang="5400000" scaled="1"/>
          </a:gradFill>
          <a:ln w="9525">
            <a:noFill/>
            <a:miter lim="800000"/>
            <a:headEnd/>
            <a:tailEnd/>
          </a:ln>
        </p:spPr>
        <p:txBody>
          <a:bodyPr>
            <a:spAutoFit/>
          </a:bodyPr>
          <a:lstStyle/>
          <a:p>
            <a:pPr algn="ctr">
              <a:spcBef>
                <a:spcPct val="50000"/>
              </a:spcBef>
            </a:pPr>
            <a:r>
              <a:rPr kumimoji="1" lang="zh-CN" altLang="en-US" sz="2000" dirty="0">
                <a:solidFill>
                  <a:srgbClr val="FF0000"/>
                </a:solidFill>
                <a:latin typeface="Times New Roman" pitchFamily="18" charset="0"/>
              </a:rPr>
              <a:t>学生</a:t>
            </a:r>
            <a:endParaRPr kumimoji="1" lang="zh-CN" altLang="en-US" sz="2400" dirty="0">
              <a:solidFill>
                <a:srgbClr val="FF0000"/>
              </a:solidFill>
              <a:latin typeface="Times New Roman" pitchFamily="18" charset="0"/>
            </a:endParaRPr>
          </a:p>
        </p:txBody>
      </p:sp>
      <p:sp>
        <p:nvSpPr>
          <p:cNvPr id="94215" name="Oval 5"/>
          <p:cNvSpPr>
            <a:spLocks noChangeArrowheads="1"/>
          </p:cNvSpPr>
          <p:nvPr/>
        </p:nvSpPr>
        <p:spPr bwMode="auto">
          <a:xfrm>
            <a:off x="2735263" y="4006848"/>
            <a:ext cx="792162"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a:t>姓名</a:t>
            </a:r>
            <a:endParaRPr kumimoji="1" lang="zh-CN" altLang="en-US" sz="2400">
              <a:latin typeface="Times New Roman" pitchFamily="18" charset="0"/>
            </a:endParaRPr>
          </a:p>
        </p:txBody>
      </p:sp>
      <p:sp>
        <p:nvSpPr>
          <p:cNvPr id="94216" name="Line 6"/>
          <p:cNvSpPr>
            <a:spLocks noChangeShapeType="1"/>
          </p:cNvSpPr>
          <p:nvPr/>
        </p:nvSpPr>
        <p:spPr bwMode="auto">
          <a:xfrm flipH="1" flipV="1">
            <a:off x="4319588" y="3430585"/>
            <a:ext cx="1333500" cy="577850"/>
          </a:xfrm>
          <a:prstGeom prst="line">
            <a:avLst/>
          </a:prstGeom>
          <a:noFill/>
          <a:ln w="12700" cap="sq">
            <a:solidFill>
              <a:srgbClr val="336600"/>
            </a:solidFill>
            <a:round/>
            <a:headEnd/>
            <a:tailEnd/>
          </a:ln>
        </p:spPr>
        <p:txBody>
          <a:bodyPr wrap="none" anchor="ctr"/>
          <a:lstStyle/>
          <a:p>
            <a:endParaRPr lang="zh-CN" altLang="en-US"/>
          </a:p>
        </p:txBody>
      </p:sp>
      <p:sp>
        <p:nvSpPr>
          <p:cNvPr id="94217" name="Line 7"/>
          <p:cNvSpPr>
            <a:spLocks noChangeShapeType="1"/>
          </p:cNvSpPr>
          <p:nvPr/>
        </p:nvSpPr>
        <p:spPr bwMode="auto">
          <a:xfrm>
            <a:off x="4319588" y="3430585"/>
            <a:ext cx="2232025" cy="649288"/>
          </a:xfrm>
          <a:prstGeom prst="line">
            <a:avLst/>
          </a:prstGeom>
          <a:noFill/>
          <a:ln w="12700" cap="sq">
            <a:solidFill>
              <a:srgbClr val="336600"/>
            </a:solidFill>
            <a:round/>
            <a:headEnd/>
            <a:tailEnd/>
          </a:ln>
        </p:spPr>
        <p:txBody>
          <a:bodyPr wrap="none" anchor="ctr"/>
          <a:lstStyle/>
          <a:p>
            <a:endParaRPr lang="zh-CN" altLang="en-US"/>
          </a:p>
        </p:txBody>
      </p:sp>
      <p:sp>
        <p:nvSpPr>
          <p:cNvPr id="94218" name="Line 8"/>
          <p:cNvSpPr>
            <a:spLocks noChangeShapeType="1"/>
          </p:cNvSpPr>
          <p:nvPr/>
        </p:nvSpPr>
        <p:spPr bwMode="auto">
          <a:xfrm flipH="1">
            <a:off x="3167063" y="3430585"/>
            <a:ext cx="1152525" cy="649288"/>
          </a:xfrm>
          <a:prstGeom prst="line">
            <a:avLst/>
          </a:prstGeom>
          <a:noFill/>
          <a:ln w="12700" cap="sq">
            <a:solidFill>
              <a:srgbClr val="336600"/>
            </a:solidFill>
            <a:round/>
            <a:headEnd/>
            <a:tailEnd/>
          </a:ln>
        </p:spPr>
        <p:txBody>
          <a:bodyPr wrap="none" anchor="ctr"/>
          <a:lstStyle/>
          <a:p>
            <a:endParaRPr lang="zh-CN" altLang="en-US"/>
          </a:p>
        </p:txBody>
      </p:sp>
      <p:sp>
        <p:nvSpPr>
          <p:cNvPr id="94219" name="Oval 9"/>
          <p:cNvSpPr>
            <a:spLocks noChangeArrowheads="1"/>
          </p:cNvSpPr>
          <p:nvPr/>
        </p:nvSpPr>
        <p:spPr bwMode="auto">
          <a:xfrm>
            <a:off x="7127875" y="4079873"/>
            <a:ext cx="792163"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400"/>
              <a:t>平均成绩</a:t>
            </a:r>
            <a:endParaRPr kumimoji="1" lang="zh-CN" altLang="en-US" sz="2400">
              <a:latin typeface="Times New Roman" pitchFamily="18" charset="0"/>
            </a:endParaRPr>
          </a:p>
        </p:txBody>
      </p:sp>
      <p:sp>
        <p:nvSpPr>
          <p:cNvPr id="94220" name="Oval 10"/>
          <p:cNvSpPr>
            <a:spLocks noChangeArrowheads="1"/>
          </p:cNvSpPr>
          <p:nvPr/>
        </p:nvSpPr>
        <p:spPr bwMode="auto">
          <a:xfrm>
            <a:off x="6264275" y="4079873"/>
            <a:ext cx="741363"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a:t>年级</a:t>
            </a:r>
            <a:endParaRPr kumimoji="1" lang="zh-CN" altLang="en-US" sz="2400">
              <a:latin typeface="Times New Roman" pitchFamily="18" charset="0"/>
            </a:endParaRPr>
          </a:p>
        </p:txBody>
      </p:sp>
      <p:sp>
        <p:nvSpPr>
          <p:cNvPr id="94221" name="Oval 11"/>
          <p:cNvSpPr>
            <a:spLocks noChangeArrowheads="1"/>
          </p:cNvSpPr>
          <p:nvPr/>
        </p:nvSpPr>
        <p:spPr bwMode="auto">
          <a:xfrm>
            <a:off x="1943100" y="4006848"/>
            <a:ext cx="741363" cy="431800"/>
          </a:xfrm>
          <a:prstGeom prst="ellipse">
            <a:avLst/>
          </a:prstGeom>
          <a:solidFill>
            <a:srgbClr val="FC042D"/>
          </a:solidFill>
          <a:ln w="12700" cap="sq">
            <a:solidFill>
              <a:srgbClr val="FFFFFF"/>
            </a:solidFill>
            <a:round/>
            <a:headEnd/>
            <a:tailEnd/>
          </a:ln>
        </p:spPr>
        <p:txBody>
          <a:bodyPr wrap="none" anchor="ctr"/>
          <a:lstStyle/>
          <a:p>
            <a:pPr algn="ctr"/>
            <a:r>
              <a:rPr lang="zh-CN" altLang="en-US" sz="1600"/>
              <a:t>学号</a:t>
            </a:r>
            <a:endParaRPr kumimoji="1" lang="zh-CN" altLang="en-US" sz="2400">
              <a:latin typeface="Times New Roman" pitchFamily="18" charset="0"/>
            </a:endParaRPr>
          </a:p>
        </p:txBody>
      </p:sp>
      <p:sp>
        <p:nvSpPr>
          <p:cNvPr id="94222" name="Oval 12"/>
          <p:cNvSpPr>
            <a:spLocks noChangeArrowheads="1"/>
          </p:cNvSpPr>
          <p:nvPr/>
        </p:nvSpPr>
        <p:spPr bwMode="auto">
          <a:xfrm>
            <a:off x="5399088" y="4006848"/>
            <a:ext cx="741362" cy="504825"/>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dirty="0"/>
              <a:t>所在系</a:t>
            </a:r>
            <a:endParaRPr kumimoji="1" lang="zh-CN" altLang="en-US" sz="2400" dirty="0">
              <a:latin typeface="Times New Roman" pitchFamily="18" charset="0"/>
            </a:endParaRPr>
          </a:p>
        </p:txBody>
      </p:sp>
      <p:sp>
        <p:nvSpPr>
          <p:cNvPr id="94223" name="Line 13"/>
          <p:cNvSpPr>
            <a:spLocks noChangeShapeType="1"/>
          </p:cNvSpPr>
          <p:nvPr/>
        </p:nvSpPr>
        <p:spPr bwMode="auto">
          <a:xfrm flipV="1">
            <a:off x="4032250" y="3430585"/>
            <a:ext cx="287338" cy="576263"/>
          </a:xfrm>
          <a:prstGeom prst="line">
            <a:avLst/>
          </a:prstGeom>
          <a:noFill/>
          <a:ln w="12700" cap="sq">
            <a:solidFill>
              <a:srgbClr val="336600"/>
            </a:solidFill>
            <a:round/>
            <a:headEnd/>
            <a:tailEnd/>
          </a:ln>
        </p:spPr>
        <p:txBody>
          <a:bodyPr wrap="none" anchor="ctr"/>
          <a:lstStyle/>
          <a:p>
            <a:endParaRPr lang="zh-CN" altLang="en-US"/>
          </a:p>
        </p:txBody>
      </p:sp>
      <p:sp>
        <p:nvSpPr>
          <p:cNvPr id="94224" name="Line 14"/>
          <p:cNvSpPr>
            <a:spLocks noChangeShapeType="1"/>
          </p:cNvSpPr>
          <p:nvPr/>
        </p:nvSpPr>
        <p:spPr bwMode="auto">
          <a:xfrm flipH="1">
            <a:off x="2374900" y="3430585"/>
            <a:ext cx="1944688" cy="577850"/>
          </a:xfrm>
          <a:prstGeom prst="line">
            <a:avLst/>
          </a:prstGeom>
          <a:noFill/>
          <a:ln w="12700" cap="sq">
            <a:solidFill>
              <a:srgbClr val="336600"/>
            </a:solidFill>
            <a:round/>
            <a:headEnd/>
            <a:tailEnd/>
          </a:ln>
        </p:spPr>
        <p:txBody>
          <a:bodyPr wrap="none" anchor="ctr"/>
          <a:lstStyle/>
          <a:p>
            <a:endParaRPr lang="zh-CN" altLang="en-US"/>
          </a:p>
        </p:txBody>
      </p:sp>
      <p:sp>
        <p:nvSpPr>
          <p:cNvPr id="94225" name="Line 15"/>
          <p:cNvSpPr>
            <a:spLocks noChangeShapeType="1"/>
          </p:cNvSpPr>
          <p:nvPr/>
        </p:nvSpPr>
        <p:spPr bwMode="auto">
          <a:xfrm>
            <a:off x="4319588" y="3430585"/>
            <a:ext cx="3168650" cy="649288"/>
          </a:xfrm>
          <a:prstGeom prst="line">
            <a:avLst/>
          </a:prstGeom>
          <a:noFill/>
          <a:ln w="12700" cap="sq">
            <a:solidFill>
              <a:srgbClr val="336600"/>
            </a:solidFill>
            <a:round/>
            <a:headEnd/>
            <a:tailEnd/>
          </a:ln>
        </p:spPr>
        <p:txBody>
          <a:bodyPr wrap="none" anchor="ctr"/>
          <a:lstStyle/>
          <a:p>
            <a:endParaRPr lang="zh-CN" altLang="en-US"/>
          </a:p>
        </p:txBody>
      </p:sp>
      <p:sp>
        <p:nvSpPr>
          <p:cNvPr id="94226" name="AutoShape 16"/>
          <p:cNvSpPr>
            <a:spLocks noChangeArrowheads="1"/>
          </p:cNvSpPr>
          <p:nvPr/>
        </p:nvSpPr>
        <p:spPr bwMode="auto">
          <a:xfrm>
            <a:off x="684213" y="4878385"/>
            <a:ext cx="792162" cy="431800"/>
          </a:xfrm>
          <a:prstGeom prst="rightArrow">
            <a:avLst>
              <a:gd name="adj1" fmla="val 50000"/>
              <a:gd name="adj2" fmla="val 45864"/>
            </a:avLst>
          </a:prstGeom>
          <a:solidFill>
            <a:srgbClr val="F61902"/>
          </a:solidFill>
          <a:ln w="12700" cap="sq">
            <a:solidFill>
              <a:srgbClr val="FFFFFF"/>
            </a:solidFill>
            <a:miter lim="800000"/>
            <a:headEnd/>
            <a:tailEnd/>
          </a:ln>
        </p:spPr>
        <p:txBody>
          <a:bodyPr wrap="none" anchor="ctr"/>
          <a:lstStyle/>
          <a:p>
            <a:endParaRPr lang="zh-CN" altLang="en-US"/>
          </a:p>
        </p:txBody>
      </p:sp>
      <p:sp>
        <p:nvSpPr>
          <p:cNvPr id="94228" name="Text Box 18"/>
          <p:cNvSpPr txBox="1">
            <a:spLocks noChangeArrowheads="1"/>
          </p:cNvSpPr>
          <p:nvPr/>
        </p:nvSpPr>
        <p:spPr bwMode="auto">
          <a:xfrm>
            <a:off x="1671638" y="4878385"/>
            <a:ext cx="6169025" cy="366713"/>
          </a:xfrm>
          <a:prstGeom prst="rect">
            <a:avLst/>
          </a:prstGeom>
          <a:noFill/>
          <a:ln w="12700" cap="sq">
            <a:noFill/>
            <a:miter lim="800000"/>
            <a:headEnd/>
            <a:tailEnd/>
          </a:ln>
        </p:spPr>
        <p:txBody>
          <a:bodyPr wrap="none">
            <a:spAutoFit/>
          </a:bodyPr>
          <a:lstStyle/>
          <a:p>
            <a:pPr algn="ctr"/>
            <a:r>
              <a:rPr lang="zh-CN" altLang="en-US" b="1">
                <a:solidFill>
                  <a:srgbClr val="3333FF"/>
                </a:solidFill>
              </a:rPr>
              <a:t>学生（</a:t>
            </a:r>
            <a:r>
              <a:rPr lang="zh-CN" altLang="en-US" b="1" u="sng">
                <a:solidFill>
                  <a:srgbClr val="3333FF"/>
                </a:solidFill>
              </a:rPr>
              <a:t>学号</a:t>
            </a:r>
            <a:r>
              <a:rPr lang="zh-CN" altLang="en-US" b="1">
                <a:solidFill>
                  <a:srgbClr val="3333FF"/>
                </a:solidFill>
              </a:rPr>
              <a:t>，姓名，出生日期，所在系，年级，平均成绩）</a:t>
            </a:r>
            <a:endParaRPr kumimoji="1" lang="zh-CN" altLang="en-US" sz="2400">
              <a:solidFill>
                <a:srgbClr val="3333FF"/>
              </a:solidFill>
              <a:latin typeface="Times New Roman" pitchFamily="18" charset="0"/>
            </a:endParaRP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6" name="Rectangle 2"/>
          <p:cNvSpPr>
            <a:spLocks noChangeArrowheads="1"/>
          </p:cNvSpPr>
          <p:nvPr/>
        </p:nvSpPr>
        <p:spPr bwMode="auto">
          <a:xfrm>
            <a:off x="250825" y="857231"/>
            <a:ext cx="8642350" cy="5229243"/>
          </a:xfrm>
          <a:prstGeom prst="rect">
            <a:avLst/>
          </a:prstGeom>
          <a:noFill/>
          <a:ln w="9525">
            <a:noFill/>
            <a:miter lim="800000"/>
            <a:headEnd/>
            <a:tailEnd/>
          </a:ln>
        </p:spPr>
        <p:txBody>
          <a:bodyPr/>
          <a:lstStyle/>
          <a:p>
            <a:pPr marL="742950" lvl="1" indent="-285750">
              <a:spcBef>
                <a:spcPct val="20000"/>
              </a:spcBef>
            </a:pPr>
            <a:r>
              <a:rPr lang="en-US" altLang="zh-CN" sz="2800" dirty="0">
                <a:ea typeface="ˎ̥"/>
                <a:cs typeface="ˎ̥"/>
              </a:rPr>
              <a:t>2)</a:t>
            </a:r>
            <a:r>
              <a:rPr lang="zh-CN" altLang="en-US" sz="2800" dirty="0"/>
              <a:t>一个</a:t>
            </a:r>
            <a:r>
              <a:rPr lang="en-US" altLang="zh-CN" sz="2800" dirty="0">
                <a:ea typeface="ˎ̥"/>
                <a:cs typeface="ˎ̥"/>
              </a:rPr>
              <a:t>m:n</a:t>
            </a:r>
            <a:r>
              <a:rPr lang="zh-CN" altLang="en-US" sz="2800" dirty="0"/>
              <a:t>联系转换为一个关系模式。 </a:t>
            </a:r>
            <a:endParaRPr lang="zh-CN" altLang="en-US" sz="1500" dirty="0">
              <a:solidFill>
                <a:schemeClr val="accent2"/>
              </a:solidFill>
            </a:endParaRPr>
          </a:p>
          <a:p>
            <a:pPr marL="1143000" lvl="2" indent="-228600">
              <a:spcBef>
                <a:spcPct val="20000"/>
              </a:spcBef>
              <a:buClr>
                <a:schemeClr val="tx2"/>
              </a:buClr>
              <a:buFontTx/>
              <a:buChar char="•"/>
            </a:pPr>
            <a:r>
              <a:rPr lang="zh-CN" altLang="en-US" sz="2400" dirty="0"/>
              <a:t>与该联系相连的各实体的码以及联系本身的属性均转换为关系的属性； </a:t>
            </a:r>
            <a:endParaRPr lang="zh-CN" altLang="en-US" sz="1500" dirty="0">
              <a:solidFill>
                <a:schemeClr val="accent2"/>
              </a:solidFill>
            </a:endParaRPr>
          </a:p>
          <a:p>
            <a:pPr marL="1143000" lvl="2" indent="-228600">
              <a:spcBef>
                <a:spcPct val="20000"/>
              </a:spcBef>
              <a:buClr>
                <a:schemeClr val="tx2"/>
              </a:buClr>
              <a:buFontTx/>
              <a:buChar char="•"/>
            </a:pPr>
            <a:r>
              <a:rPr lang="zh-CN" altLang="en-US" sz="2400" dirty="0"/>
              <a:t>关系的</a:t>
            </a:r>
            <a:r>
              <a:rPr lang="zh-CN" altLang="en-US" sz="2400" dirty="0">
                <a:solidFill>
                  <a:srgbClr val="FF9933"/>
                </a:solidFill>
              </a:rPr>
              <a:t>码为各实体码的组合</a:t>
            </a:r>
            <a:r>
              <a:rPr lang="zh-CN" altLang="en-US" sz="2400" dirty="0"/>
              <a:t>。</a:t>
            </a:r>
            <a:r>
              <a:rPr lang="zh-CN" altLang="en-US" sz="2400" dirty="0">
                <a:ea typeface="ˎ̥"/>
                <a:cs typeface="ˎ̥"/>
              </a:rPr>
              <a:t> </a:t>
            </a:r>
            <a:endParaRPr lang="zh-CN" altLang="en-US" sz="1500" dirty="0">
              <a:solidFill>
                <a:schemeClr val="accent2"/>
              </a:solidFill>
            </a:endParaRPr>
          </a:p>
          <a:p>
            <a:pPr marL="1143000" lvl="2" indent="-228600">
              <a:spcBef>
                <a:spcPct val="20000"/>
              </a:spcBef>
              <a:buClr>
                <a:schemeClr val="tx2"/>
              </a:buClr>
              <a:buFontTx/>
              <a:buChar char="•"/>
            </a:pPr>
            <a:r>
              <a:rPr lang="zh-CN" altLang="en-US" sz="2400" dirty="0"/>
              <a:t>例：</a:t>
            </a:r>
          </a:p>
        </p:txBody>
      </p:sp>
      <p:sp>
        <p:nvSpPr>
          <p:cNvPr id="95237" name="Text Box 3"/>
          <p:cNvSpPr txBox="1">
            <a:spLocks noChangeArrowheads="1"/>
          </p:cNvSpPr>
          <p:nvPr/>
        </p:nvSpPr>
        <p:spPr bwMode="auto">
          <a:xfrm>
            <a:off x="3430588" y="4213225"/>
            <a:ext cx="784225" cy="395288"/>
          </a:xfrm>
          <a:prstGeom prst="rect">
            <a:avLst/>
          </a:prstGeom>
          <a:gradFill rotWithShape="0">
            <a:gsLst>
              <a:gs pos="0">
                <a:srgbClr val="03D4A8"/>
              </a:gs>
              <a:gs pos="25000">
                <a:srgbClr val="21D6E0"/>
              </a:gs>
              <a:gs pos="75000">
                <a:srgbClr val="0087E6"/>
              </a:gs>
              <a:gs pos="100000">
                <a:srgbClr val="005CBF"/>
              </a:gs>
            </a:gsLst>
            <a:lin ang="5400000" scaled="1"/>
          </a:gradFill>
          <a:ln w="9525">
            <a:noFill/>
            <a:miter lim="800000"/>
            <a:headEnd/>
            <a:tailEnd/>
          </a:ln>
        </p:spPr>
        <p:txBody>
          <a:bodyPr>
            <a:spAutoFit/>
          </a:bodyPr>
          <a:lstStyle/>
          <a:p>
            <a:endParaRPr kumimoji="1" lang="zh-CN" altLang="zh-CN" sz="2400">
              <a:latin typeface="Times New Roman" pitchFamily="18" charset="0"/>
            </a:endParaRPr>
          </a:p>
        </p:txBody>
      </p:sp>
      <p:sp>
        <p:nvSpPr>
          <p:cNvPr id="95238" name="Rectangle 4"/>
          <p:cNvSpPr>
            <a:spLocks noChangeArrowheads="1"/>
          </p:cNvSpPr>
          <p:nvPr/>
        </p:nvSpPr>
        <p:spPr bwMode="auto">
          <a:xfrm>
            <a:off x="3508375" y="4213225"/>
            <a:ext cx="692150" cy="396875"/>
          </a:xfrm>
          <a:prstGeom prst="rect">
            <a:avLst/>
          </a:prstGeom>
          <a:noFill/>
          <a:ln w="9525">
            <a:noFill/>
            <a:miter lim="800000"/>
            <a:headEnd/>
            <a:tailEnd/>
          </a:ln>
        </p:spPr>
        <p:txBody>
          <a:bodyPr wrap="none">
            <a:spAutoFit/>
          </a:bodyPr>
          <a:lstStyle/>
          <a:p>
            <a:r>
              <a:rPr kumimoji="1" lang="zh-CN" altLang="en-US" sz="2000">
                <a:solidFill>
                  <a:schemeClr val="hlink"/>
                </a:solidFill>
                <a:latin typeface="Times New Roman" pitchFamily="18" charset="0"/>
              </a:rPr>
              <a:t>班级</a:t>
            </a:r>
            <a:endParaRPr kumimoji="1" lang="zh-CN" altLang="en-US" sz="2400">
              <a:latin typeface="Times New Roman" pitchFamily="18" charset="0"/>
            </a:endParaRPr>
          </a:p>
        </p:txBody>
      </p:sp>
      <p:sp>
        <p:nvSpPr>
          <p:cNvPr id="95239" name="Text Box 5"/>
          <p:cNvSpPr txBox="1">
            <a:spLocks noChangeArrowheads="1"/>
          </p:cNvSpPr>
          <p:nvPr/>
        </p:nvSpPr>
        <p:spPr bwMode="auto">
          <a:xfrm>
            <a:off x="3430588" y="4213225"/>
            <a:ext cx="784225" cy="400110"/>
          </a:xfrm>
          <a:prstGeom prst="rect">
            <a:avLst/>
          </a:prstGeom>
          <a:gradFill rotWithShape="0">
            <a:gsLst>
              <a:gs pos="0">
                <a:srgbClr val="03D4A8"/>
              </a:gs>
              <a:gs pos="25000">
                <a:srgbClr val="21D6E0"/>
              </a:gs>
              <a:gs pos="75000">
                <a:srgbClr val="0087E6"/>
              </a:gs>
              <a:gs pos="100000">
                <a:srgbClr val="005CBF"/>
              </a:gs>
            </a:gsLst>
            <a:lin ang="5400000" scaled="1"/>
          </a:gradFill>
          <a:ln w="9525">
            <a:noFill/>
            <a:miter lim="800000"/>
            <a:headEnd/>
            <a:tailEnd/>
          </a:ln>
        </p:spPr>
        <p:txBody>
          <a:bodyPr>
            <a:spAutoFit/>
          </a:bodyPr>
          <a:lstStyle/>
          <a:p>
            <a:pPr algn="ctr">
              <a:spcBef>
                <a:spcPct val="50000"/>
              </a:spcBef>
            </a:pPr>
            <a:r>
              <a:rPr kumimoji="1" lang="zh-CN" altLang="en-US" sz="2000" dirty="0">
                <a:solidFill>
                  <a:schemeClr val="tx1">
                    <a:lumMod val="85000"/>
                    <a:lumOff val="15000"/>
                  </a:schemeClr>
                </a:solidFill>
                <a:latin typeface="Times New Roman" pitchFamily="18" charset="0"/>
              </a:rPr>
              <a:t>课程</a:t>
            </a:r>
            <a:endParaRPr kumimoji="1" lang="zh-CN" altLang="en-US" sz="2400" dirty="0">
              <a:solidFill>
                <a:schemeClr val="tx1">
                  <a:lumMod val="85000"/>
                  <a:lumOff val="15000"/>
                </a:schemeClr>
              </a:solidFill>
              <a:latin typeface="Times New Roman" pitchFamily="18" charset="0"/>
            </a:endParaRPr>
          </a:p>
        </p:txBody>
      </p:sp>
      <p:sp>
        <p:nvSpPr>
          <p:cNvPr id="95240" name="Text Box 6"/>
          <p:cNvSpPr txBox="1">
            <a:spLocks noChangeArrowheads="1"/>
          </p:cNvSpPr>
          <p:nvPr/>
        </p:nvSpPr>
        <p:spPr bwMode="auto">
          <a:xfrm>
            <a:off x="6488113" y="4183063"/>
            <a:ext cx="784225" cy="400110"/>
          </a:xfrm>
          <a:prstGeom prst="rect">
            <a:avLst/>
          </a:prstGeom>
          <a:gradFill rotWithShape="0">
            <a:gsLst>
              <a:gs pos="0">
                <a:srgbClr val="03D4A8"/>
              </a:gs>
              <a:gs pos="25000">
                <a:srgbClr val="21D6E0"/>
              </a:gs>
              <a:gs pos="75000">
                <a:srgbClr val="0087E6"/>
              </a:gs>
              <a:gs pos="100000">
                <a:srgbClr val="005CBF"/>
              </a:gs>
            </a:gsLst>
            <a:lin ang="5400000" scaled="1"/>
          </a:gradFill>
          <a:ln w="9525">
            <a:noFill/>
            <a:miter lim="800000"/>
            <a:headEnd/>
            <a:tailEnd/>
          </a:ln>
        </p:spPr>
        <p:txBody>
          <a:bodyPr>
            <a:spAutoFit/>
          </a:bodyPr>
          <a:lstStyle/>
          <a:p>
            <a:pPr algn="ctr">
              <a:spcBef>
                <a:spcPct val="50000"/>
              </a:spcBef>
            </a:pPr>
            <a:r>
              <a:rPr kumimoji="1" lang="zh-CN" altLang="en-US" sz="2000" dirty="0">
                <a:solidFill>
                  <a:schemeClr val="tx1">
                    <a:lumMod val="85000"/>
                    <a:lumOff val="15000"/>
                  </a:schemeClr>
                </a:solidFill>
                <a:latin typeface="Times New Roman" pitchFamily="18" charset="0"/>
              </a:rPr>
              <a:t>学生</a:t>
            </a:r>
            <a:endParaRPr kumimoji="1" lang="zh-CN" altLang="en-US" sz="2400" dirty="0">
              <a:solidFill>
                <a:schemeClr val="tx1">
                  <a:lumMod val="85000"/>
                  <a:lumOff val="15000"/>
                </a:schemeClr>
              </a:solidFill>
              <a:latin typeface="Times New Roman" pitchFamily="18" charset="0"/>
            </a:endParaRPr>
          </a:p>
        </p:txBody>
      </p:sp>
      <p:sp>
        <p:nvSpPr>
          <p:cNvPr id="95241" name="AutoShape 7"/>
          <p:cNvSpPr>
            <a:spLocks noChangeArrowheads="1"/>
          </p:cNvSpPr>
          <p:nvPr/>
        </p:nvSpPr>
        <p:spPr bwMode="auto">
          <a:xfrm>
            <a:off x="4572000" y="4068763"/>
            <a:ext cx="1260475" cy="503237"/>
          </a:xfrm>
          <a:prstGeom prst="diamond">
            <a:avLst/>
          </a:prstGeom>
          <a:gradFill rotWithShape="0">
            <a:gsLst>
              <a:gs pos="0">
                <a:srgbClr val="5E9EFF"/>
              </a:gs>
              <a:gs pos="39999">
                <a:srgbClr val="85C2FF"/>
              </a:gs>
              <a:gs pos="70000">
                <a:srgbClr val="C4D6EB"/>
              </a:gs>
              <a:gs pos="100000">
                <a:srgbClr val="FFEBFA"/>
              </a:gs>
            </a:gsLst>
            <a:lin ang="5400000" scaled="1"/>
          </a:gradFill>
          <a:ln w="9525">
            <a:solidFill>
              <a:srgbClr val="00FFCC"/>
            </a:solidFill>
            <a:miter lim="800000"/>
            <a:headEnd/>
            <a:tailEnd/>
          </a:ln>
        </p:spPr>
        <p:txBody>
          <a:bodyPr wrap="none" anchor="ctr"/>
          <a:lstStyle/>
          <a:p>
            <a:pPr algn="ctr">
              <a:spcBef>
                <a:spcPct val="20000"/>
              </a:spcBef>
            </a:pPr>
            <a:r>
              <a:rPr kumimoji="1" lang="zh-CN" altLang="en-US" sz="1600">
                <a:solidFill>
                  <a:srgbClr val="FF0000"/>
                </a:solidFill>
                <a:latin typeface="Times New Roman" pitchFamily="18" charset="0"/>
              </a:rPr>
              <a:t>选修</a:t>
            </a:r>
            <a:endParaRPr kumimoji="1" lang="zh-CN" altLang="en-US" sz="2400">
              <a:latin typeface="Times New Roman" pitchFamily="18" charset="0"/>
            </a:endParaRPr>
          </a:p>
        </p:txBody>
      </p:sp>
      <p:sp>
        <p:nvSpPr>
          <p:cNvPr id="95242" name="Line 8"/>
          <p:cNvSpPr>
            <a:spLocks noChangeShapeType="1"/>
          </p:cNvSpPr>
          <p:nvPr/>
        </p:nvSpPr>
        <p:spPr bwMode="auto">
          <a:xfrm>
            <a:off x="4176713" y="4357688"/>
            <a:ext cx="504825" cy="0"/>
          </a:xfrm>
          <a:prstGeom prst="line">
            <a:avLst/>
          </a:prstGeom>
          <a:noFill/>
          <a:ln w="12700" cap="sq">
            <a:solidFill>
              <a:srgbClr val="336600"/>
            </a:solidFill>
            <a:round/>
            <a:headEnd/>
            <a:tailEnd/>
          </a:ln>
        </p:spPr>
        <p:txBody>
          <a:bodyPr wrap="none" anchor="ctr"/>
          <a:lstStyle/>
          <a:p>
            <a:endParaRPr lang="zh-CN" altLang="en-US"/>
          </a:p>
        </p:txBody>
      </p:sp>
      <p:sp>
        <p:nvSpPr>
          <p:cNvPr id="95243" name="Line 9"/>
          <p:cNvSpPr>
            <a:spLocks noChangeShapeType="1"/>
          </p:cNvSpPr>
          <p:nvPr/>
        </p:nvSpPr>
        <p:spPr bwMode="auto">
          <a:xfrm>
            <a:off x="5834063" y="4357688"/>
            <a:ext cx="647700" cy="0"/>
          </a:xfrm>
          <a:prstGeom prst="line">
            <a:avLst/>
          </a:prstGeom>
          <a:noFill/>
          <a:ln w="12700" cap="sq">
            <a:solidFill>
              <a:srgbClr val="336600"/>
            </a:solidFill>
            <a:round/>
            <a:headEnd/>
            <a:tailEnd/>
          </a:ln>
        </p:spPr>
        <p:txBody>
          <a:bodyPr wrap="none" anchor="ctr"/>
          <a:lstStyle/>
          <a:p>
            <a:endParaRPr lang="zh-CN" altLang="en-US"/>
          </a:p>
        </p:txBody>
      </p:sp>
      <p:sp>
        <p:nvSpPr>
          <p:cNvPr id="95244" name="Text Box 10"/>
          <p:cNvSpPr txBox="1">
            <a:spLocks noChangeArrowheads="1"/>
          </p:cNvSpPr>
          <p:nvPr/>
        </p:nvSpPr>
        <p:spPr bwMode="auto">
          <a:xfrm>
            <a:off x="4176713" y="3997325"/>
            <a:ext cx="374650" cy="366713"/>
          </a:xfrm>
          <a:prstGeom prst="rect">
            <a:avLst/>
          </a:prstGeom>
          <a:noFill/>
          <a:ln w="12700" cap="sq">
            <a:noFill/>
            <a:miter lim="800000"/>
            <a:headEnd/>
            <a:tailEnd/>
          </a:ln>
        </p:spPr>
        <p:txBody>
          <a:bodyPr wrap="none">
            <a:spAutoFit/>
          </a:bodyPr>
          <a:lstStyle/>
          <a:p>
            <a:pPr algn="ctr"/>
            <a:r>
              <a:rPr lang="en-US" altLang="zh-CN">
                <a:solidFill>
                  <a:schemeClr val="bg1"/>
                </a:solidFill>
                <a:ea typeface="ˎ̥"/>
                <a:cs typeface="ˎ̥"/>
              </a:rPr>
              <a:t>m</a:t>
            </a:r>
            <a:endParaRPr kumimoji="1" lang="en-US" altLang="zh-CN" sz="2400">
              <a:latin typeface="Times New Roman" pitchFamily="18" charset="0"/>
            </a:endParaRPr>
          </a:p>
        </p:txBody>
      </p:sp>
      <p:sp>
        <p:nvSpPr>
          <p:cNvPr id="95245" name="Text Box 11"/>
          <p:cNvSpPr txBox="1">
            <a:spLocks noChangeArrowheads="1"/>
          </p:cNvSpPr>
          <p:nvPr/>
        </p:nvSpPr>
        <p:spPr bwMode="auto">
          <a:xfrm>
            <a:off x="5965825" y="4016375"/>
            <a:ext cx="311150" cy="366713"/>
          </a:xfrm>
          <a:prstGeom prst="rect">
            <a:avLst/>
          </a:prstGeom>
          <a:noFill/>
          <a:ln w="12700" cap="sq">
            <a:noFill/>
            <a:miter lim="800000"/>
            <a:headEnd/>
            <a:tailEnd/>
          </a:ln>
        </p:spPr>
        <p:txBody>
          <a:bodyPr wrap="none">
            <a:spAutoFit/>
          </a:bodyPr>
          <a:lstStyle/>
          <a:p>
            <a:pPr algn="ctr"/>
            <a:r>
              <a:rPr lang="en-US" altLang="zh-CN">
                <a:solidFill>
                  <a:schemeClr val="bg1"/>
                </a:solidFill>
                <a:ea typeface="ˎ̥"/>
                <a:cs typeface="ˎ̥"/>
              </a:rPr>
              <a:t>n</a:t>
            </a:r>
            <a:endParaRPr kumimoji="1" lang="en-US" altLang="zh-CN" sz="2400">
              <a:latin typeface="Times New Roman" pitchFamily="18" charset="0"/>
            </a:endParaRPr>
          </a:p>
        </p:txBody>
      </p:sp>
      <p:sp>
        <p:nvSpPr>
          <p:cNvPr id="95246" name="Oval 12"/>
          <p:cNvSpPr>
            <a:spLocks noChangeArrowheads="1"/>
          </p:cNvSpPr>
          <p:nvPr/>
        </p:nvSpPr>
        <p:spPr bwMode="auto">
          <a:xfrm>
            <a:off x="7754938" y="4140200"/>
            <a:ext cx="741362"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a:t>年级</a:t>
            </a:r>
            <a:endParaRPr kumimoji="1" lang="zh-CN" altLang="en-US" sz="2400">
              <a:latin typeface="Times New Roman" pitchFamily="18" charset="0"/>
            </a:endParaRPr>
          </a:p>
        </p:txBody>
      </p:sp>
      <p:sp>
        <p:nvSpPr>
          <p:cNvPr id="95247" name="Oval 13"/>
          <p:cNvSpPr>
            <a:spLocks noChangeArrowheads="1"/>
          </p:cNvSpPr>
          <p:nvPr/>
        </p:nvSpPr>
        <p:spPr bwMode="auto">
          <a:xfrm>
            <a:off x="5580063" y="3275013"/>
            <a:ext cx="741362" cy="431800"/>
          </a:xfrm>
          <a:prstGeom prst="ellipse">
            <a:avLst/>
          </a:prstGeom>
          <a:solidFill>
            <a:srgbClr val="FC042D"/>
          </a:solidFill>
          <a:ln w="12700" cap="sq">
            <a:solidFill>
              <a:srgbClr val="FFFFFF"/>
            </a:solidFill>
            <a:round/>
            <a:headEnd/>
            <a:tailEnd/>
          </a:ln>
        </p:spPr>
        <p:txBody>
          <a:bodyPr wrap="none" anchor="ctr"/>
          <a:lstStyle/>
          <a:p>
            <a:pPr algn="ctr"/>
            <a:r>
              <a:rPr lang="zh-CN" altLang="en-US" sz="1600"/>
              <a:t>学号</a:t>
            </a:r>
            <a:endParaRPr kumimoji="1" lang="zh-CN" altLang="en-US" sz="2400">
              <a:latin typeface="Times New Roman" pitchFamily="18" charset="0"/>
            </a:endParaRPr>
          </a:p>
        </p:txBody>
      </p:sp>
      <p:sp>
        <p:nvSpPr>
          <p:cNvPr id="95248" name="Oval 14"/>
          <p:cNvSpPr>
            <a:spLocks noChangeArrowheads="1"/>
          </p:cNvSpPr>
          <p:nvPr/>
        </p:nvSpPr>
        <p:spPr bwMode="auto">
          <a:xfrm>
            <a:off x="6300788" y="3275013"/>
            <a:ext cx="741362"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a:t>姓名</a:t>
            </a:r>
            <a:endParaRPr kumimoji="1" lang="zh-CN" altLang="en-US" sz="2400">
              <a:latin typeface="Times New Roman" pitchFamily="18" charset="0"/>
            </a:endParaRPr>
          </a:p>
        </p:txBody>
      </p:sp>
      <p:sp>
        <p:nvSpPr>
          <p:cNvPr id="95249" name="Oval 15"/>
          <p:cNvSpPr>
            <a:spLocks noChangeArrowheads="1"/>
          </p:cNvSpPr>
          <p:nvPr/>
        </p:nvSpPr>
        <p:spPr bwMode="auto">
          <a:xfrm>
            <a:off x="7019925" y="3275013"/>
            <a:ext cx="935038"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a:t>出生日期</a:t>
            </a:r>
            <a:endParaRPr kumimoji="1" lang="zh-CN" altLang="en-US" sz="2400">
              <a:latin typeface="Times New Roman" pitchFamily="18" charset="0"/>
            </a:endParaRPr>
          </a:p>
        </p:txBody>
      </p:sp>
      <p:sp>
        <p:nvSpPr>
          <p:cNvPr id="95250" name="Oval 16"/>
          <p:cNvSpPr>
            <a:spLocks noChangeArrowheads="1"/>
          </p:cNvSpPr>
          <p:nvPr/>
        </p:nvSpPr>
        <p:spPr bwMode="auto">
          <a:xfrm>
            <a:off x="7754938" y="3706813"/>
            <a:ext cx="741362"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a:t>所在系</a:t>
            </a:r>
            <a:endParaRPr kumimoji="1" lang="zh-CN" altLang="en-US" sz="2400">
              <a:latin typeface="Times New Roman" pitchFamily="18" charset="0"/>
            </a:endParaRPr>
          </a:p>
        </p:txBody>
      </p:sp>
      <p:sp>
        <p:nvSpPr>
          <p:cNvPr id="95251" name="Oval 17"/>
          <p:cNvSpPr>
            <a:spLocks noChangeArrowheads="1"/>
          </p:cNvSpPr>
          <p:nvPr/>
        </p:nvSpPr>
        <p:spPr bwMode="auto">
          <a:xfrm>
            <a:off x="7596188" y="4643438"/>
            <a:ext cx="900112"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a:t>平均成绩</a:t>
            </a:r>
            <a:endParaRPr kumimoji="1" lang="zh-CN" altLang="en-US" sz="2400">
              <a:latin typeface="Times New Roman" pitchFamily="18" charset="0"/>
            </a:endParaRPr>
          </a:p>
        </p:txBody>
      </p:sp>
      <p:sp>
        <p:nvSpPr>
          <p:cNvPr id="95252" name="Oval 18"/>
          <p:cNvSpPr>
            <a:spLocks noChangeArrowheads="1"/>
          </p:cNvSpPr>
          <p:nvPr/>
        </p:nvSpPr>
        <p:spPr bwMode="auto">
          <a:xfrm>
            <a:off x="2555875" y="3419475"/>
            <a:ext cx="741363" cy="431800"/>
          </a:xfrm>
          <a:prstGeom prst="ellipse">
            <a:avLst/>
          </a:prstGeom>
          <a:solidFill>
            <a:srgbClr val="FC042D"/>
          </a:solidFill>
          <a:ln w="12700" cap="sq">
            <a:solidFill>
              <a:srgbClr val="FFFFFF"/>
            </a:solidFill>
            <a:round/>
            <a:headEnd/>
            <a:tailEnd/>
          </a:ln>
        </p:spPr>
        <p:txBody>
          <a:bodyPr wrap="none" anchor="ctr"/>
          <a:lstStyle/>
          <a:p>
            <a:pPr algn="ctr"/>
            <a:r>
              <a:rPr lang="zh-CN" altLang="en-US" sz="1600"/>
              <a:t>课程号</a:t>
            </a:r>
            <a:endParaRPr kumimoji="1" lang="zh-CN" altLang="en-US" sz="2400">
              <a:latin typeface="Times New Roman" pitchFamily="18" charset="0"/>
            </a:endParaRPr>
          </a:p>
        </p:txBody>
      </p:sp>
      <p:sp>
        <p:nvSpPr>
          <p:cNvPr id="95253" name="Oval 19"/>
          <p:cNvSpPr>
            <a:spLocks noChangeArrowheads="1"/>
          </p:cNvSpPr>
          <p:nvPr/>
        </p:nvSpPr>
        <p:spPr bwMode="auto">
          <a:xfrm>
            <a:off x="3276600" y="3419475"/>
            <a:ext cx="741363"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a:t>课程名</a:t>
            </a:r>
            <a:endParaRPr kumimoji="1" lang="zh-CN" altLang="en-US" sz="2400">
              <a:latin typeface="Times New Roman" pitchFamily="18" charset="0"/>
            </a:endParaRPr>
          </a:p>
        </p:txBody>
      </p:sp>
      <p:sp>
        <p:nvSpPr>
          <p:cNvPr id="95254" name="Oval 20"/>
          <p:cNvSpPr>
            <a:spLocks noChangeArrowheads="1"/>
          </p:cNvSpPr>
          <p:nvPr/>
        </p:nvSpPr>
        <p:spPr bwMode="auto">
          <a:xfrm>
            <a:off x="4068763" y="3419475"/>
            <a:ext cx="741362"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a:t>学分</a:t>
            </a:r>
            <a:endParaRPr kumimoji="1" lang="zh-CN" altLang="en-US" sz="2400">
              <a:latin typeface="Times New Roman" pitchFamily="18" charset="0"/>
            </a:endParaRPr>
          </a:p>
        </p:txBody>
      </p:sp>
      <p:sp>
        <p:nvSpPr>
          <p:cNvPr id="95255" name="Oval 21"/>
          <p:cNvSpPr>
            <a:spLocks noChangeArrowheads="1"/>
          </p:cNvSpPr>
          <p:nvPr/>
        </p:nvSpPr>
        <p:spPr bwMode="auto">
          <a:xfrm>
            <a:off x="4860925" y="4716463"/>
            <a:ext cx="741363"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a:t>成绩</a:t>
            </a:r>
            <a:endParaRPr kumimoji="1" lang="zh-CN" altLang="en-US" sz="2400">
              <a:latin typeface="Times New Roman" pitchFamily="18" charset="0"/>
            </a:endParaRPr>
          </a:p>
        </p:txBody>
      </p:sp>
      <p:sp>
        <p:nvSpPr>
          <p:cNvPr id="95256" name="Line 22"/>
          <p:cNvSpPr>
            <a:spLocks noChangeShapeType="1"/>
          </p:cNvSpPr>
          <p:nvPr/>
        </p:nvSpPr>
        <p:spPr bwMode="auto">
          <a:xfrm>
            <a:off x="2916238" y="3851275"/>
            <a:ext cx="863600" cy="360363"/>
          </a:xfrm>
          <a:prstGeom prst="line">
            <a:avLst/>
          </a:prstGeom>
          <a:noFill/>
          <a:ln w="12700" cap="sq">
            <a:solidFill>
              <a:srgbClr val="336600"/>
            </a:solidFill>
            <a:round/>
            <a:headEnd/>
            <a:tailEnd/>
          </a:ln>
        </p:spPr>
        <p:txBody>
          <a:bodyPr wrap="none" anchor="ctr"/>
          <a:lstStyle/>
          <a:p>
            <a:endParaRPr lang="zh-CN" altLang="en-US"/>
          </a:p>
        </p:txBody>
      </p:sp>
      <p:sp>
        <p:nvSpPr>
          <p:cNvPr id="95257" name="Line 23"/>
          <p:cNvSpPr>
            <a:spLocks noChangeShapeType="1"/>
          </p:cNvSpPr>
          <p:nvPr/>
        </p:nvSpPr>
        <p:spPr bwMode="auto">
          <a:xfrm>
            <a:off x="3708400" y="3851275"/>
            <a:ext cx="71438" cy="360363"/>
          </a:xfrm>
          <a:prstGeom prst="line">
            <a:avLst/>
          </a:prstGeom>
          <a:noFill/>
          <a:ln w="12700" cap="sq">
            <a:solidFill>
              <a:srgbClr val="336600"/>
            </a:solidFill>
            <a:round/>
            <a:headEnd/>
            <a:tailEnd/>
          </a:ln>
        </p:spPr>
        <p:txBody>
          <a:bodyPr wrap="none" anchor="ctr"/>
          <a:lstStyle/>
          <a:p>
            <a:endParaRPr lang="zh-CN" altLang="en-US"/>
          </a:p>
        </p:txBody>
      </p:sp>
      <p:sp>
        <p:nvSpPr>
          <p:cNvPr id="95258" name="Line 24"/>
          <p:cNvSpPr>
            <a:spLocks noChangeShapeType="1"/>
          </p:cNvSpPr>
          <p:nvPr/>
        </p:nvSpPr>
        <p:spPr bwMode="auto">
          <a:xfrm flipH="1">
            <a:off x="3779838" y="3851275"/>
            <a:ext cx="649287" cy="360363"/>
          </a:xfrm>
          <a:prstGeom prst="line">
            <a:avLst/>
          </a:prstGeom>
          <a:noFill/>
          <a:ln w="12700" cap="sq">
            <a:solidFill>
              <a:srgbClr val="336600"/>
            </a:solidFill>
            <a:round/>
            <a:headEnd/>
            <a:tailEnd/>
          </a:ln>
        </p:spPr>
        <p:txBody>
          <a:bodyPr wrap="none" anchor="ctr"/>
          <a:lstStyle/>
          <a:p>
            <a:endParaRPr lang="zh-CN" altLang="en-US"/>
          </a:p>
        </p:txBody>
      </p:sp>
      <p:sp>
        <p:nvSpPr>
          <p:cNvPr id="95259" name="Line 25"/>
          <p:cNvSpPr>
            <a:spLocks noChangeShapeType="1"/>
          </p:cNvSpPr>
          <p:nvPr/>
        </p:nvSpPr>
        <p:spPr bwMode="auto">
          <a:xfrm>
            <a:off x="6011863" y="3706813"/>
            <a:ext cx="792162" cy="504825"/>
          </a:xfrm>
          <a:prstGeom prst="line">
            <a:avLst/>
          </a:prstGeom>
          <a:noFill/>
          <a:ln w="12700" cap="sq">
            <a:solidFill>
              <a:srgbClr val="336600"/>
            </a:solidFill>
            <a:round/>
            <a:headEnd/>
            <a:tailEnd/>
          </a:ln>
        </p:spPr>
        <p:txBody>
          <a:bodyPr wrap="none" anchor="ctr"/>
          <a:lstStyle/>
          <a:p>
            <a:endParaRPr lang="zh-CN" altLang="en-US"/>
          </a:p>
        </p:txBody>
      </p:sp>
      <p:sp>
        <p:nvSpPr>
          <p:cNvPr id="95260" name="Line 26"/>
          <p:cNvSpPr>
            <a:spLocks noChangeShapeType="1"/>
          </p:cNvSpPr>
          <p:nvPr/>
        </p:nvSpPr>
        <p:spPr bwMode="auto">
          <a:xfrm>
            <a:off x="6732588" y="3635375"/>
            <a:ext cx="71437" cy="576263"/>
          </a:xfrm>
          <a:prstGeom prst="line">
            <a:avLst/>
          </a:prstGeom>
          <a:noFill/>
          <a:ln w="12700" cap="sq">
            <a:solidFill>
              <a:srgbClr val="336600"/>
            </a:solidFill>
            <a:round/>
            <a:headEnd/>
            <a:tailEnd/>
          </a:ln>
        </p:spPr>
        <p:txBody>
          <a:bodyPr wrap="none" anchor="ctr"/>
          <a:lstStyle/>
          <a:p>
            <a:endParaRPr lang="zh-CN" altLang="en-US"/>
          </a:p>
        </p:txBody>
      </p:sp>
      <p:sp>
        <p:nvSpPr>
          <p:cNvPr id="95261" name="Line 27"/>
          <p:cNvSpPr>
            <a:spLocks noChangeShapeType="1"/>
          </p:cNvSpPr>
          <p:nvPr/>
        </p:nvSpPr>
        <p:spPr bwMode="auto">
          <a:xfrm flipH="1">
            <a:off x="6804025" y="3706813"/>
            <a:ext cx="649288" cy="504825"/>
          </a:xfrm>
          <a:prstGeom prst="line">
            <a:avLst/>
          </a:prstGeom>
          <a:noFill/>
          <a:ln w="12700" cap="sq">
            <a:solidFill>
              <a:srgbClr val="336600"/>
            </a:solidFill>
            <a:round/>
            <a:headEnd/>
            <a:tailEnd/>
          </a:ln>
        </p:spPr>
        <p:txBody>
          <a:bodyPr wrap="none" anchor="ctr"/>
          <a:lstStyle/>
          <a:p>
            <a:endParaRPr lang="zh-CN" altLang="en-US"/>
          </a:p>
        </p:txBody>
      </p:sp>
      <p:sp>
        <p:nvSpPr>
          <p:cNvPr id="95262" name="Line 28"/>
          <p:cNvSpPr>
            <a:spLocks noChangeShapeType="1"/>
          </p:cNvSpPr>
          <p:nvPr/>
        </p:nvSpPr>
        <p:spPr bwMode="auto">
          <a:xfrm flipH="1">
            <a:off x="6804025" y="3995738"/>
            <a:ext cx="936625" cy="215900"/>
          </a:xfrm>
          <a:prstGeom prst="line">
            <a:avLst/>
          </a:prstGeom>
          <a:noFill/>
          <a:ln w="12700" cap="sq">
            <a:solidFill>
              <a:srgbClr val="336600"/>
            </a:solidFill>
            <a:round/>
            <a:headEnd/>
            <a:tailEnd/>
          </a:ln>
        </p:spPr>
        <p:txBody>
          <a:bodyPr wrap="none" anchor="ctr"/>
          <a:lstStyle/>
          <a:p>
            <a:endParaRPr lang="zh-CN" altLang="en-US"/>
          </a:p>
        </p:txBody>
      </p:sp>
      <p:sp>
        <p:nvSpPr>
          <p:cNvPr id="95263" name="Line 29"/>
          <p:cNvSpPr>
            <a:spLocks noChangeShapeType="1"/>
          </p:cNvSpPr>
          <p:nvPr/>
        </p:nvSpPr>
        <p:spPr bwMode="auto">
          <a:xfrm flipH="1">
            <a:off x="7237413" y="4356100"/>
            <a:ext cx="503237" cy="0"/>
          </a:xfrm>
          <a:prstGeom prst="line">
            <a:avLst/>
          </a:prstGeom>
          <a:noFill/>
          <a:ln w="12700" cap="sq">
            <a:solidFill>
              <a:srgbClr val="336600"/>
            </a:solidFill>
            <a:round/>
            <a:headEnd/>
            <a:tailEnd/>
          </a:ln>
        </p:spPr>
        <p:txBody>
          <a:bodyPr wrap="none" anchor="ctr"/>
          <a:lstStyle/>
          <a:p>
            <a:endParaRPr lang="zh-CN" altLang="en-US"/>
          </a:p>
        </p:txBody>
      </p:sp>
      <p:sp>
        <p:nvSpPr>
          <p:cNvPr id="95264" name="Line 30"/>
          <p:cNvSpPr>
            <a:spLocks noChangeShapeType="1"/>
          </p:cNvSpPr>
          <p:nvPr/>
        </p:nvSpPr>
        <p:spPr bwMode="auto">
          <a:xfrm flipH="1" flipV="1">
            <a:off x="7237413" y="4427538"/>
            <a:ext cx="431800" cy="431800"/>
          </a:xfrm>
          <a:prstGeom prst="line">
            <a:avLst/>
          </a:prstGeom>
          <a:noFill/>
          <a:ln w="12700" cap="sq">
            <a:solidFill>
              <a:srgbClr val="336600"/>
            </a:solidFill>
            <a:round/>
            <a:headEnd/>
            <a:tailEnd/>
          </a:ln>
        </p:spPr>
        <p:txBody>
          <a:bodyPr wrap="none" anchor="ctr"/>
          <a:lstStyle/>
          <a:p>
            <a:endParaRPr lang="zh-CN" altLang="en-US"/>
          </a:p>
        </p:txBody>
      </p:sp>
      <p:sp>
        <p:nvSpPr>
          <p:cNvPr id="95265" name="Line 31"/>
          <p:cNvSpPr>
            <a:spLocks noChangeShapeType="1"/>
          </p:cNvSpPr>
          <p:nvPr/>
        </p:nvSpPr>
        <p:spPr bwMode="auto">
          <a:xfrm>
            <a:off x="5219700" y="4572000"/>
            <a:ext cx="0" cy="144463"/>
          </a:xfrm>
          <a:prstGeom prst="line">
            <a:avLst/>
          </a:prstGeom>
          <a:noFill/>
          <a:ln w="12700" cap="sq">
            <a:solidFill>
              <a:srgbClr val="336600"/>
            </a:solidFill>
            <a:round/>
            <a:headEnd/>
            <a:tailEnd/>
          </a:ln>
        </p:spPr>
        <p:txBody>
          <a:bodyPr wrap="none" anchor="ctr"/>
          <a:lstStyle/>
          <a:p>
            <a:endParaRPr lang="zh-CN" altLang="en-US"/>
          </a:p>
        </p:txBody>
      </p:sp>
      <p:sp>
        <p:nvSpPr>
          <p:cNvPr id="95266" name="AutoShape 32"/>
          <p:cNvSpPr>
            <a:spLocks noChangeArrowheads="1"/>
          </p:cNvSpPr>
          <p:nvPr/>
        </p:nvSpPr>
        <p:spPr bwMode="auto">
          <a:xfrm>
            <a:off x="900113" y="5507038"/>
            <a:ext cx="863600" cy="360362"/>
          </a:xfrm>
          <a:prstGeom prst="rightArrow">
            <a:avLst>
              <a:gd name="adj1" fmla="val 50000"/>
              <a:gd name="adj2" fmla="val 59912"/>
            </a:avLst>
          </a:prstGeom>
          <a:solidFill>
            <a:srgbClr val="F61902"/>
          </a:solidFill>
          <a:ln w="12700" cap="sq">
            <a:solidFill>
              <a:srgbClr val="FFFFFF"/>
            </a:solidFill>
            <a:miter lim="800000"/>
            <a:headEnd/>
            <a:tailEnd/>
          </a:ln>
        </p:spPr>
        <p:txBody>
          <a:bodyPr wrap="none" anchor="ctr"/>
          <a:lstStyle/>
          <a:p>
            <a:endParaRPr lang="zh-CN" altLang="en-US"/>
          </a:p>
        </p:txBody>
      </p:sp>
      <p:sp>
        <p:nvSpPr>
          <p:cNvPr id="95267" name="Text Box 33"/>
          <p:cNvSpPr txBox="1">
            <a:spLocks noChangeArrowheads="1"/>
          </p:cNvSpPr>
          <p:nvPr/>
        </p:nvSpPr>
        <p:spPr bwMode="auto">
          <a:xfrm>
            <a:off x="2195513" y="5473700"/>
            <a:ext cx="5329237" cy="396875"/>
          </a:xfrm>
          <a:prstGeom prst="rect">
            <a:avLst/>
          </a:prstGeom>
          <a:noFill/>
          <a:ln w="12700" cap="sq">
            <a:noFill/>
            <a:miter lim="800000"/>
            <a:headEnd/>
            <a:tailEnd/>
          </a:ln>
        </p:spPr>
        <p:txBody>
          <a:bodyPr>
            <a:spAutoFit/>
          </a:bodyPr>
          <a:lstStyle/>
          <a:p>
            <a:pPr algn="ctr"/>
            <a:r>
              <a:rPr lang="zh-CN" altLang="en-US" sz="2000" b="1">
                <a:solidFill>
                  <a:srgbClr val="3333FF"/>
                </a:solidFill>
              </a:rPr>
              <a:t>关系模式：</a:t>
            </a:r>
            <a:r>
              <a:rPr lang="zh-CN" altLang="en-US" sz="2000" b="1">
                <a:solidFill>
                  <a:srgbClr val="3333FF"/>
                </a:solidFill>
                <a:ea typeface="ˎ̥"/>
                <a:cs typeface="ˎ̥"/>
              </a:rPr>
              <a:t>  </a:t>
            </a:r>
            <a:r>
              <a:rPr lang="zh-CN" altLang="en-US" sz="2000" b="1">
                <a:solidFill>
                  <a:srgbClr val="3333FF"/>
                </a:solidFill>
              </a:rPr>
              <a:t>选修（</a:t>
            </a:r>
            <a:r>
              <a:rPr lang="zh-CN" altLang="en-US" sz="2000" b="1" u="sng">
                <a:solidFill>
                  <a:srgbClr val="3333FF"/>
                </a:solidFill>
              </a:rPr>
              <a:t>学号，课程号</a:t>
            </a:r>
            <a:r>
              <a:rPr lang="zh-CN" altLang="en-US" sz="2000" b="1">
                <a:solidFill>
                  <a:srgbClr val="3333FF"/>
                </a:solidFill>
              </a:rPr>
              <a:t>，成绩）</a:t>
            </a:r>
            <a:endParaRPr kumimoji="1" lang="zh-CN" altLang="en-US" sz="2000">
              <a:solidFill>
                <a:srgbClr val="3333FF"/>
              </a:solidFill>
              <a:latin typeface="Times New Roman" pitchFamily="18" charset="0"/>
            </a:endParaRP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60" name="Rectangle 2"/>
          <p:cNvSpPr>
            <a:spLocks noChangeArrowheads="1"/>
          </p:cNvSpPr>
          <p:nvPr/>
        </p:nvSpPr>
        <p:spPr bwMode="auto">
          <a:xfrm>
            <a:off x="0" y="857232"/>
            <a:ext cx="9144000" cy="2214578"/>
          </a:xfrm>
          <a:prstGeom prst="rect">
            <a:avLst/>
          </a:prstGeom>
          <a:noFill/>
          <a:ln w="9525">
            <a:noFill/>
            <a:miter lim="800000"/>
            <a:headEnd/>
            <a:tailEnd/>
          </a:ln>
        </p:spPr>
        <p:txBody>
          <a:bodyPr/>
          <a:lstStyle/>
          <a:p>
            <a:pPr marL="742950" lvl="1" indent="-285750">
              <a:spcBef>
                <a:spcPct val="20000"/>
              </a:spcBef>
            </a:pPr>
            <a:r>
              <a:rPr lang="en-US" altLang="zh-CN" sz="2800" dirty="0">
                <a:ea typeface="ˎ̥"/>
                <a:cs typeface="ˎ̥"/>
              </a:rPr>
              <a:t>3) </a:t>
            </a:r>
            <a:r>
              <a:rPr lang="zh-CN" altLang="en-US" sz="2800" dirty="0"/>
              <a:t>一个</a:t>
            </a:r>
            <a:r>
              <a:rPr lang="en-US" altLang="zh-CN" sz="2800" dirty="0">
                <a:ea typeface="ˎ̥"/>
                <a:cs typeface="ˎ̥"/>
              </a:rPr>
              <a:t>1:n</a:t>
            </a:r>
            <a:r>
              <a:rPr lang="zh-CN" altLang="en-US" sz="2800" dirty="0"/>
              <a:t>联系 </a:t>
            </a:r>
            <a:endParaRPr lang="zh-CN" altLang="en-US" sz="1500" dirty="0">
              <a:solidFill>
                <a:schemeClr val="accent2"/>
              </a:solidFill>
            </a:endParaRPr>
          </a:p>
          <a:p>
            <a:pPr marL="1143000" lvl="2" indent="-228600">
              <a:spcBef>
                <a:spcPct val="20000"/>
              </a:spcBef>
              <a:buClr>
                <a:schemeClr val="tx2"/>
              </a:buClr>
              <a:buFontTx/>
              <a:buChar char="•"/>
            </a:pPr>
            <a:r>
              <a:rPr lang="zh-CN" altLang="en-US" sz="2400" dirty="0"/>
              <a:t>可以转换为一个独立的关系模式，也可以与</a:t>
            </a:r>
            <a:r>
              <a:rPr lang="en-US" altLang="zh-CN" sz="2400" dirty="0">
                <a:ea typeface="ˎ̥"/>
                <a:cs typeface="ˎ̥"/>
              </a:rPr>
              <a:t>n</a:t>
            </a:r>
            <a:r>
              <a:rPr lang="zh-CN" altLang="en-US" sz="2400" dirty="0"/>
              <a:t>端对应的关系模式合并； </a:t>
            </a:r>
            <a:endParaRPr lang="zh-CN" altLang="en-US" sz="1500" dirty="0">
              <a:solidFill>
                <a:schemeClr val="accent2"/>
              </a:solidFill>
            </a:endParaRPr>
          </a:p>
          <a:p>
            <a:pPr marL="1143000" lvl="2" indent="-228600">
              <a:spcBef>
                <a:spcPct val="20000"/>
              </a:spcBef>
              <a:buClr>
                <a:schemeClr val="tx2"/>
              </a:buClr>
              <a:buFontTx/>
              <a:buChar char="•"/>
            </a:pPr>
            <a:r>
              <a:rPr lang="zh-CN" altLang="en-US" sz="2400" dirty="0" smtClean="0"/>
              <a:t>若</a:t>
            </a:r>
            <a:r>
              <a:rPr lang="zh-CN" altLang="en-US" sz="2400" dirty="0"/>
              <a:t>与</a:t>
            </a:r>
            <a:r>
              <a:rPr lang="en-US" altLang="zh-CN" sz="2400" dirty="0">
                <a:ea typeface="ˎ̥"/>
                <a:cs typeface="ˎ̥"/>
              </a:rPr>
              <a:t>n</a:t>
            </a:r>
            <a:r>
              <a:rPr lang="zh-CN" altLang="en-US" sz="2400" dirty="0"/>
              <a:t>端对应的关系模式合并，则需在该关系模式的属性中加入另一个关系模式的码和联系本身的属性 </a:t>
            </a:r>
            <a:endParaRPr lang="zh-CN" altLang="en-US" sz="1500" dirty="0">
              <a:solidFill>
                <a:schemeClr val="accent2"/>
              </a:solidFill>
            </a:endParaRPr>
          </a:p>
        </p:txBody>
      </p:sp>
      <p:sp>
        <p:nvSpPr>
          <p:cNvPr id="96261" name="Text Box 3"/>
          <p:cNvSpPr txBox="1">
            <a:spLocks noChangeArrowheads="1"/>
          </p:cNvSpPr>
          <p:nvPr/>
        </p:nvSpPr>
        <p:spPr bwMode="auto">
          <a:xfrm>
            <a:off x="2927350" y="4295775"/>
            <a:ext cx="784225" cy="395287"/>
          </a:xfrm>
          <a:prstGeom prst="rect">
            <a:avLst/>
          </a:prstGeom>
          <a:gradFill rotWithShape="0">
            <a:gsLst>
              <a:gs pos="0">
                <a:srgbClr val="03D4A8"/>
              </a:gs>
              <a:gs pos="25000">
                <a:srgbClr val="21D6E0"/>
              </a:gs>
              <a:gs pos="75000">
                <a:srgbClr val="0087E6"/>
              </a:gs>
              <a:gs pos="100000">
                <a:srgbClr val="005CBF"/>
              </a:gs>
            </a:gsLst>
            <a:lin ang="5400000" scaled="1"/>
          </a:gradFill>
          <a:ln w="9525">
            <a:noFill/>
            <a:miter lim="800000"/>
            <a:headEnd/>
            <a:tailEnd/>
          </a:ln>
        </p:spPr>
        <p:txBody>
          <a:bodyPr>
            <a:spAutoFit/>
          </a:bodyPr>
          <a:lstStyle/>
          <a:p>
            <a:endParaRPr kumimoji="1" lang="zh-CN" altLang="zh-CN" sz="2400">
              <a:latin typeface="Times New Roman" pitchFamily="18" charset="0"/>
            </a:endParaRPr>
          </a:p>
        </p:txBody>
      </p:sp>
      <p:sp>
        <p:nvSpPr>
          <p:cNvPr id="96262" name="Rectangle 4"/>
          <p:cNvSpPr>
            <a:spLocks noChangeArrowheads="1"/>
          </p:cNvSpPr>
          <p:nvPr/>
        </p:nvSpPr>
        <p:spPr bwMode="auto">
          <a:xfrm>
            <a:off x="3005138" y="4295775"/>
            <a:ext cx="692150" cy="396875"/>
          </a:xfrm>
          <a:prstGeom prst="rect">
            <a:avLst/>
          </a:prstGeom>
          <a:noFill/>
          <a:ln w="9525">
            <a:noFill/>
            <a:miter lim="800000"/>
            <a:headEnd/>
            <a:tailEnd/>
          </a:ln>
        </p:spPr>
        <p:txBody>
          <a:bodyPr wrap="none">
            <a:spAutoFit/>
          </a:bodyPr>
          <a:lstStyle/>
          <a:p>
            <a:r>
              <a:rPr kumimoji="1" lang="zh-CN" altLang="en-US" sz="2000">
                <a:solidFill>
                  <a:schemeClr val="hlink"/>
                </a:solidFill>
                <a:latin typeface="Times New Roman" pitchFamily="18" charset="0"/>
              </a:rPr>
              <a:t>班级</a:t>
            </a:r>
            <a:endParaRPr kumimoji="1" lang="zh-CN" altLang="en-US" sz="2400">
              <a:latin typeface="Times New Roman" pitchFamily="18" charset="0"/>
            </a:endParaRPr>
          </a:p>
        </p:txBody>
      </p:sp>
      <p:sp>
        <p:nvSpPr>
          <p:cNvPr id="96263" name="Text Box 5"/>
          <p:cNvSpPr txBox="1">
            <a:spLocks noChangeArrowheads="1"/>
          </p:cNvSpPr>
          <p:nvPr/>
        </p:nvSpPr>
        <p:spPr bwMode="auto">
          <a:xfrm>
            <a:off x="2927350" y="4295775"/>
            <a:ext cx="784225" cy="400110"/>
          </a:xfrm>
          <a:prstGeom prst="rect">
            <a:avLst/>
          </a:prstGeom>
          <a:gradFill rotWithShape="0">
            <a:gsLst>
              <a:gs pos="0">
                <a:srgbClr val="03D4A8"/>
              </a:gs>
              <a:gs pos="25000">
                <a:srgbClr val="21D6E0"/>
              </a:gs>
              <a:gs pos="75000">
                <a:srgbClr val="0087E6"/>
              </a:gs>
              <a:gs pos="100000">
                <a:srgbClr val="005CBF"/>
              </a:gs>
            </a:gsLst>
            <a:lin ang="5400000" scaled="1"/>
          </a:gradFill>
          <a:ln w="9525">
            <a:noFill/>
            <a:miter lim="800000"/>
            <a:headEnd/>
            <a:tailEnd/>
          </a:ln>
        </p:spPr>
        <p:txBody>
          <a:bodyPr>
            <a:spAutoFit/>
          </a:bodyPr>
          <a:lstStyle/>
          <a:p>
            <a:pPr algn="ctr">
              <a:spcBef>
                <a:spcPct val="50000"/>
              </a:spcBef>
            </a:pPr>
            <a:r>
              <a:rPr kumimoji="1" lang="zh-CN" altLang="en-US" sz="2000" b="1" dirty="0">
                <a:solidFill>
                  <a:schemeClr val="tx1">
                    <a:lumMod val="85000"/>
                    <a:lumOff val="15000"/>
                  </a:schemeClr>
                </a:solidFill>
                <a:latin typeface="Times New Roman" pitchFamily="18" charset="0"/>
              </a:rPr>
              <a:t>班级</a:t>
            </a:r>
            <a:endParaRPr kumimoji="1" lang="zh-CN" altLang="en-US" sz="2400" b="1" dirty="0">
              <a:solidFill>
                <a:schemeClr val="tx1">
                  <a:lumMod val="85000"/>
                  <a:lumOff val="15000"/>
                </a:schemeClr>
              </a:solidFill>
              <a:latin typeface="Times New Roman" pitchFamily="18" charset="0"/>
            </a:endParaRPr>
          </a:p>
        </p:txBody>
      </p:sp>
      <p:sp>
        <p:nvSpPr>
          <p:cNvPr id="96264" name="Text Box 6"/>
          <p:cNvSpPr txBox="1">
            <a:spLocks noChangeArrowheads="1"/>
          </p:cNvSpPr>
          <p:nvPr/>
        </p:nvSpPr>
        <p:spPr bwMode="auto">
          <a:xfrm>
            <a:off x="5984875" y="4265612"/>
            <a:ext cx="784225" cy="400110"/>
          </a:xfrm>
          <a:prstGeom prst="rect">
            <a:avLst/>
          </a:prstGeom>
          <a:gradFill rotWithShape="0">
            <a:gsLst>
              <a:gs pos="0">
                <a:srgbClr val="03D4A8"/>
              </a:gs>
              <a:gs pos="25000">
                <a:srgbClr val="21D6E0"/>
              </a:gs>
              <a:gs pos="75000">
                <a:srgbClr val="0087E6"/>
              </a:gs>
              <a:gs pos="100000">
                <a:srgbClr val="005CBF"/>
              </a:gs>
            </a:gsLst>
            <a:lin ang="5400000" scaled="1"/>
          </a:gradFill>
          <a:ln w="9525">
            <a:noFill/>
            <a:miter lim="800000"/>
            <a:headEnd/>
            <a:tailEnd/>
          </a:ln>
        </p:spPr>
        <p:txBody>
          <a:bodyPr>
            <a:spAutoFit/>
          </a:bodyPr>
          <a:lstStyle/>
          <a:p>
            <a:pPr algn="ctr">
              <a:spcBef>
                <a:spcPct val="50000"/>
              </a:spcBef>
            </a:pPr>
            <a:r>
              <a:rPr kumimoji="1" lang="zh-CN" altLang="en-US" sz="2000" b="1" dirty="0">
                <a:solidFill>
                  <a:schemeClr val="tx1">
                    <a:lumMod val="85000"/>
                    <a:lumOff val="15000"/>
                  </a:schemeClr>
                </a:solidFill>
                <a:latin typeface="Times New Roman" pitchFamily="18" charset="0"/>
              </a:rPr>
              <a:t>学生</a:t>
            </a:r>
            <a:endParaRPr kumimoji="1" lang="zh-CN" altLang="en-US" sz="2400" b="1" dirty="0">
              <a:solidFill>
                <a:schemeClr val="tx1">
                  <a:lumMod val="85000"/>
                  <a:lumOff val="15000"/>
                </a:schemeClr>
              </a:solidFill>
              <a:latin typeface="Times New Roman" pitchFamily="18" charset="0"/>
            </a:endParaRPr>
          </a:p>
        </p:txBody>
      </p:sp>
      <p:sp>
        <p:nvSpPr>
          <p:cNvPr id="96265" name="AutoShape 7"/>
          <p:cNvSpPr>
            <a:spLocks noChangeArrowheads="1"/>
          </p:cNvSpPr>
          <p:nvPr/>
        </p:nvSpPr>
        <p:spPr bwMode="auto">
          <a:xfrm>
            <a:off x="4068763" y="4151312"/>
            <a:ext cx="1260475" cy="503238"/>
          </a:xfrm>
          <a:prstGeom prst="diamond">
            <a:avLst/>
          </a:prstGeom>
          <a:gradFill rotWithShape="0">
            <a:gsLst>
              <a:gs pos="0">
                <a:srgbClr val="5E9EFF"/>
              </a:gs>
              <a:gs pos="39999">
                <a:srgbClr val="85C2FF"/>
              </a:gs>
              <a:gs pos="70000">
                <a:srgbClr val="C4D6EB"/>
              </a:gs>
              <a:gs pos="100000">
                <a:srgbClr val="FFEBFA"/>
              </a:gs>
            </a:gsLst>
            <a:lin ang="5400000" scaled="1"/>
          </a:gradFill>
          <a:ln w="9525">
            <a:solidFill>
              <a:srgbClr val="00FFCC"/>
            </a:solidFill>
            <a:miter lim="800000"/>
            <a:headEnd/>
            <a:tailEnd/>
          </a:ln>
        </p:spPr>
        <p:txBody>
          <a:bodyPr wrap="none" anchor="ctr"/>
          <a:lstStyle/>
          <a:p>
            <a:pPr algn="ctr">
              <a:spcBef>
                <a:spcPct val="20000"/>
              </a:spcBef>
            </a:pPr>
            <a:r>
              <a:rPr kumimoji="1" lang="zh-CN" altLang="en-US" sz="1600">
                <a:solidFill>
                  <a:srgbClr val="FF0000"/>
                </a:solidFill>
                <a:latin typeface="Times New Roman" pitchFamily="18" charset="0"/>
              </a:rPr>
              <a:t>组成</a:t>
            </a:r>
            <a:endParaRPr kumimoji="1" lang="zh-CN" altLang="en-US" sz="2400">
              <a:latin typeface="Times New Roman" pitchFamily="18" charset="0"/>
            </a:endParaRPr>
          </a:p>
        </p:txBody>
      </p:sp>
      <p:sp>
        <p:nvSpPr>
          <p:cNvPr id="96266" name="Line 8"/>
          <p:cNvSpPr>
            <a:spLocks noChangeShapeType="1"/>
          </p:cNvSpPr>
          <p:nvPr/>
        </p:nvSpPr>
        <p:spPr bwMode="auto">
          <a:xfrm>
            <a:off x="3673475" y="4440237"/>
            <a:ext cx="504825" cy="0"/>
          </a:xfrm>
          <a:prstGeom prst="line">
            <a:avLst/>
          </a:prstGeom>
          <a:noFill/>
          <a:ln w="12700" cap="sq">
            <a:solidFill>
              <a:srgbClr val="336600"/>
            </a:solidFill>
            <a:round/>
            <a:headEnd/>
            <a:tailEnd/>
          </a:ln>
        </p:spPr>
        <p:txBody>
          <a:bodyPr wrap="none" anchor="ctr"/>
          <a:lstStyle/>
          <a:p>
            <a:endParaRPr lang="zh-CN" altLang="en-US"/>
          </a:p>
        </p:txBody>
      </p:sp>
      <p:sp>
        <p:nvSpPr>
          <p:cNvPr id="96267" name="Line 9"/>
          <p:cNvSpPr>
            <a:spLocks noChangeShapeType="1"/>
          </p:cNvSpPr>
          <p:nvPr/>
        </p:nvSpPr>
        <p:spPr bwMode="auto">
          <a:xfrm>
            <a:off x="5330825" y="4440237"/>
            <a:ext cx="647700" cy="0"/>
          </a:xfrm>
          <a:prstGeom prst="line">
            <a:avLst/>
          </a:prstGeom>
          <a:noFill/>
          <a:ln w="12700" cap="sq">
            <a:solidFill>
              <a:srgbClr val="336600"/>
            </a:solidFill>
            <a:round/>
            <a:headEnd/>
            <a:tailEnd/>
          </a:ln>
        </p:spPr>
        <p:txBody>
          <a:bodyPr wrap="none" anchor="ctr"/>
          <a:lstStyle/>
          <a:p>
            <a:endParaRPr lang="zh-CN" altLang="en-US"/>
          </a:p>
        </p:txBody>
      </p:sp>
      <p:sp>
        <p:nvSpPr>
          <p:cNvPr id="96268" name="Text Box 10"/>
          <p:cNvSpPr txBox="1">
            <a:spLocks noChangeArrowheads="1"/>
          </p:cNvSpPr>
          <p:nvPr/>
        </p:nvSpPr>
        <p:spPr bwMode="auto">
          <a:xfrm>
            <a:off x="3705225" y="4079875"/>
            <a:ext cx="311150" cy="366712"/>
          </a:xfrm>
          <a:prstGeom prst="rect">
            <a:avLst/>
          </a:prstGeom>
          <a:noFill/>
          <a:ln w="12700" cap="sq">
            <a:noFill/>
            <a:miter lim="800000"/>
            <a:headEnd/>
            <a:tailEnd/>
          </a:ln>
        </p:spPr>
        <p:txBody>
          <a:bodyPr wrap="none">
            <a:spAutoFit/>
          </a:bodyPr>
          <a:lstStyle/>
          <a:p>
            <a:pPr algn="ctr"/>
            <a:r>
              <a:rPr lang="en-US" altLang="zh-CN">
                <a:solidFill>
                  <a:schemeClr val="accent2"/>
                </a:solidFill>
                <a:ea typeface="ˎ̥"/>
                <a:cs typeface="ˎ̥"/>
              </a:rPr>
              <a:t>1</a:t>
            </a:r>
            <a:endParaRPr kumimoji="1" lang="en-US" altLang="zh-CN" sz="2400">
              <a:solidFill>
                <a:schemeClr val="accent2"/>
              </a:solidFill>
              <a:latin typeface="Times New Roman" pitchFamily="18" charset="0"/>
            </a:endParaRPr>
          </a:p>
        </p:txBody>
      </p:sp>
      <p:sp>
        <p:nvSpPr>
          <p:cNvPr id="96269" name="Text Box 11"/>
          <p:cNvSpPr txBox="1">
            <a:spLocks noChangeArrowheads="1"/>
          </p:cNvSpPr>
          <p:nvPr/>
        </p:nvSpPr>
        <p:spPr bwMode="auto">
          <a:xfrm>
            <a:off x="5462588" y="4098925"/>
            <a:ext cx="356188" cy="461665"/>
          </a:xfrm>
          <a:prstGeom prst="rect">
            <a:avLst/>
          </a:prstGeom>
          <a:noFill/>
          <a:ln w="12700" cap="sq">
            <a:noFill/>
            <a:miter lim="800000"/>
            <a:headEnd/>
            <a:tailEnd/>
          </a:ln>
        </p:spPr>
        <p:txBody>
          <a:bodyPr wrap="none">
            <a:spAutoFit/>
          </a:bodyPr>
          <a:lstStyle/>
          <a:p>
            <a:pPr algn="ctr"/>
            <a:r>
              <a:rPr lang="en-US" altLang="zh-CN" sz="2400" dirty="0">
                <a:solidFill>
                  <a:schemeClr val="tx1">
                    <a:lumMod val="85000"/>
                    <a:lumOff val="15000"/>
                  </a:schemeClr>
                </a:solidFill>
                <a:ea typeface="ˎ̥"/>
                <a:cs typeface="ˎ̥"/>
              </a:rPr>
              <a:t>n</a:t>
            </a:r>
            <a:endParaRPr kumimoji="1" lang="en-US" altLang="zh-CN" sz="2400" dirty="0">
              <a:solidFill>
                <a:schemeClr val="tx1">
                  <a:lumMod val="85000"/>
                  <a:lumOff val="15000"/>
                </a:schemeClr>
              </a:solidFill>
              <a:latin typeface="Times New Roman" pitchFamily="18" charset="0"/>
            </a:endParaRPr>
          </a:p>
        </p:txBody>
      </p:sp>
      <p:sp>
        <p:nvSpPr>
          <p:cNvPr id="96270" name="Text Box 12"/>
          <p:cNvSpPr txBox="1">
            <a:spLocks noChangeArrowheads="1"/>
          </p:cNvSpPr>
          <p:nvPr/>
        </p:nvSpPr>
        <p:spPr bwMode="auto">
          <a:xfrm>
            <a:off x="1042988" y="5121284"/>
            <a:ext cx="8101012" cy="641350"/>
          </a:xfrm>
          <a:prstGeom prst="rect">
            <a:avLst/>
          </a:prstGeom>
          <a:noFill/>
          <a:ln w="12700" cap="sq">
            <a:noFill/>
            <a:miter lim="800000"/>
            <a:headEnd/>
            <a:tailEnd/>
          </a:ln>
        </p:spPr>
        <p:txBody>
          <a:bodyPr>
            <a:spAutoFit/>
          </a:bodyPr>
          <a:lstStyle/>
          <a:p>
            <a:r>
              <a:rPr lang="en-US" altLang="zh-CN" b="1">
                <a:solidFill>
                  <a:schemeClr val="bg1"/>
                </a:solidFill>
                <a:ea typeface="ˎ̥"/>
                <a:cs typeface="ˎ̥"/>
              </a:rPr>
              <a:t>               </a:t>
            </a:r>
            <a:r>
              <a:rPr lang="zh-CN" altLang="en-US" b="1"/>
              <a:t>组成（</a:t>
            </a:r>
            <a:r>
              <a:rPr lang="zh-CN" altLang="en-US" b="1" u="sng"/>
              <a:t>学号</a:t>
            </a:r>
            <a:r>
              <a:rPr lang="zh-CN" altLang="en-US" b="1"/>
              <a:t>，班级号） </a:t>
            </a:r>
            <a:endParaRPr kumimoji="1" lang="zh-CN" altLang="en-US" sz="2400">
              <a:latin typeface="Times New Roman" pitchFamily="18" charset="0"/>
              <a:ea typeface="ˎ̥"/>
              <a:cs typeface="ˎ̥"/>
            </a:endParaRPr>
          </a:p>
          <a:p>
            <a:pPr algn="ctr"/>
            <a:r>
              <a:rPr lang="zh-CN" altLang="en-US" b="1"/>
              <a:t>或：学生（</a:t>
            </a:r>
            <a:r>
              <a:rPr lang="zh-CN" altLang="en-US" b="1" u="sng"/>
              <a:t>学号</a:t>
            </a:r>
            <a:r>
              <a:rPr lang="zh-CN" altLang="en-US" b="1"/>
              <a:t>，姓名，出生日期，所在系，年级，</a:t>
            </a:r>
            <a:r>
              <a:rPr lang="zh-CN" altLang="en-US" b="1">
                <a:solidFill>
                  <a:srgbClr val="3333FF"/>
                </a:solidFill>
              </a:rPr>
              <a:t>班级号</a:t>
            </a:r>
            <a:r>
              <a:rPr lang="zh-CN" altLang="en-US" b="1"/>
              <a:t>，平均成绩）</a:t>
            </a:r>
            <a:endParaRPr kumimoji="1" lang="zh-CN" altLang="en-US" sz="2400">
              <a:latin typeface="Times New Roman" pitchFamily="18" charset="0"/>
            </a:endParaRPr>
          </a:p>
        </p:txBody>
      </p:sp>
      <p:sp>
        <p:nvSpPr>
          <p:cNvPr id="96271" name="Oval 13"/>
          <p:cNvSpPr>
            <a:spLocks noChangeArrowheads="1"/>
          </p:cNvSpPr>
          <p:nvPr/>
        </p:nvSpPr>
        <p:spPr bwMode="auto">
          <a:xfrm>
            <a:off x="7251700" y="4222750"/>
            <a:ext cx="741363"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a:t>年级</a:t>
            </a:r>
            <a:endParaRPr kumimoji="1" lang="zh-CN" altLang="en-US" sz="2400">
              <a:latin typeface="Times New Roman" pitchFamily="18" charset="0"/>
            </a:endParaRPr>
          </a:p>
        </p:txBody>
      </p:sp>
      <p:sp>
        <p:nvSpPr>
          <p:cNvPr id="96272" name="Oval 14"/>
          <p:cNvSpPr>
            <a:spLocks noChangeArrowheads="1"/>
          </p:cNvSpPr>
          <p:nvPr/>
        </p:nvSpPr>
        <p:spPr bwMode="auto">
          <a:xfrm>
            <a:off x="5076825" y="3357562"/>
            <a:ext cx="741363" cy="431800"/>
          </a:xfrm>
          <a:prstGeom prst="ellipse">
            <a:avLst/>
          </a:prstGeom>
          <a:solidFill>
            <a:srgbClr val="FC042D"/>
          </a:solidFill>
          <a:ln w="12700" cap="sq">
            <a:solidFill>
              <a:srgbClr val="FFFFFF"/>
            </a:solidFill>
            <a:round/>
            <a:headEnd/>
            <a:tailEnd/>
          </a:ln>
        </p:spPr>
        <p:txBody>
          <a:bodyPr wrap="none" anchor="ctr"/>
          <a:lstStyle/>
          <a:p>
            <a:pPr algn="ctr"/>
            <a:r>
              <a:rPr lang="zh-CN" altLang="en-US" sz="1600"/>
              <a:t>学号</a:t>
            </a:r>
            <a:endParaRPr kumimoji="1" lang="zh-CN" altLang="en-US" sz="2400">
              <a:latin typeface="Times New Roman" pitchFamily="18" charset="0"/>
            </a:endParaRPr>
          </a:p>
        </p:txBody>
      </p:sp>
      <p:sp>
        <p:nvSpPr>
          <p:cNvPr id="96273" name="Oval 15"/>
          <p:cNvSpPr>
            <a:spLocks noChangeArrowheads="1"/>
          </p:cNvSpPr>
          <p:nvPr/>
        </p:nvSpPr>
        <p:spPr bwMode="auto">
          <a:xfrm>
            <a:off x="5797550" y="3357562"/>
            <a:ext cx="741363"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a:t>姓名</a:t>
            </a:r>
            <a:endParaRPr kumimoji="1" lang="zh-CN" altLang="en-US" sz="2400">
              <a:latin typeface="Times New Roman" pitchFamily="18" charset="0"/>
            </a:endParaRPr>
          </a:p>
        </p:txBody>
      </p:sp>
      <p:sp>
        <p:nvSpPr>
          <p:cNvPr id="96274" name="Oval 16"/>
          <p:cNvSpPr>
            <a:spLocks noChangeArrowheads="1"/>
          </p:cNvSpPr>
          <p:nvPr/>
        </p:nvSpPr>
        <p:spPr bwMode="auto">
          <a:xfrm>
            <a:off x="6516688" y="3357562"/>
            <a:ext cx="935037"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a:t>出生日期</a:t>
            </a:r>
            <a:endParaRPr kumimoji="1" lang="zh-CN" altLang="en-US" sz="2400">
              <a:latin typeface="Times New Roman" pitchFamily="18" charset="0"/>
            </a:endParaRPr>
          </a:p>
        </p:txBody>
      </p:sp>
      <p:sp>
        <p:nvSpPr>
          <p:cNvPr id="96275" name="Oval 17"/>
          <p:cNvSpPr>
            <a:spLocks noChangeArrowheads="1"/>
          </p:cNvSpPr>
          <p:nvPr/>
        </p:nvSpPr>
        <p:spPr bwMode="auto">
          <a:xfrm>
            <a:off x="7251700" y="3789362"/>
            <a:ext cx="741363"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a:t>所在系</a:t>
            </a:r>
            <a:endParaRPr kumimoji="1" lang="zh-CN" altLang="en-US" sz="2400">
              <a:latin typeface="Times New Roman" pitchFamily="18" charset="0"/>
            </a:endParaRPr>
          </a:p>
        </p:txBody>
      </p:sp>
      <p:sp>
        <p:nvSpPr>
          <p:cNvPr id="96276" name="Oval 18"/>
          <p:cNvSpPr>
            <a:spLocks noChangeArrowheads="1"/>
          </p:cNvSpPr>
          <p:nvPr/>
        </p:nvSpPr>
        <p:spPr bwMode="auto">
          <a:xfrm>
            <a:off x="7092950" y="4725987"/>
            <a:ext cx="900113"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a:t>平均成绩</a:t>
            </a:r>
            <a:endParaRPr kumimoji="1" lang="zh-CN" altLang="en-US" sz="2400">
              <a:latin typeface="Times New Roman" pitchFamily="18" charset="0"/>
            </a:endParaRPr>
          </a:p>
        </p:txBody>
      </p:sp>
      <p:sp>
        <p:nvSpPr>
          <p:cNvPr id="96277" name="Oval 19"/>
          <p:cNvSpPr>
            <a:spLocks noChangeArrowheads="1"/>
          </p:cNvSpPr>
          <p:nvPr/>
        </p:nvSpPr>
        <p:spPr bwMode="auto">
          <a:xfrm>
            <a:off x="2052638" y="3502025"/>
            <a:ext cx="741362" cy="431800"/>
          </a:xfrm>
          <a:prstGeom prst="ellipse">
            <a:avLst/>
          </a:prstGeom>
          <a:solidFill>
            <a:srgbClr val="FC042D"/>
          </a:solidFill>
          <a:ln w="12700" cap="sq">
            <a:solidFill>
              <a:srgbClr val="FFFFFF"/>
            </a:solidFill>
            <a:round/>
            <a:headEnd/>
            <a:tailEnd/>
          </a:ln>
        </p:spPr>
        <p:txBody>
          <a:bodyPr wrap="none" anchor="ctr"/>
          <a:lstStyle/>
          <a:p>
            <a:pPr algn="ctr"/>
            <a:r>
              <a:rPr lang="zh-CN" altLang="en-US" sz="1600"/>
              <a:t>班级号</a:t>
            </a:r>
            <a:endParaRPr kumimoji="1" lang="zh-CN" altLang="en-US" sz="2400">
              <a:latin typeface="Times New Roman" pitchFamily="18" charset="0"/>
            </a:endParaRPr>
          </a:p>
        </p:txBody>
      </p:sp>
      <p:sp>
        <p:nvSpPr>
          <p:cNvPr id="96278" name="Oval 20"/>
          <p:cNvSpPr>
            <a:spLocks noChangeArrowheads="1"/>
          </p:cNvSpPr>
          <p:nvPr/>
        </p:nvSpPr>
        <p:spPr bwMode="auto">
          <a:xfrm>
            <a:off x="3205163" y="3502025"/>
            <a:ext cx="1101725"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a:t>学生人数</a:t>
            </a:r>
            <a:endParaRPr kumimoji="1" lang="zh-CN" altLang="en-US" sz="2400">
              <a:latin typeface="Times New Roman" pitchFamily="18" charset="0"/>
            </a:endParaRPr>
          </a:p>
        </p:txBody>
      </p:sp>
      <p:sp>
        <p:nvSpPr>
          <p:cNvPr id="96279" name="Line 21"/>
          <p:cNvSpPr>
            <a:spLocks noChangeShapeType="1"/>
          </p:cNvSpPr>
          <p:nvPr/>
        </p:nvSpPr>
        <p:spPr bwMode="auto">
          <a:xfrm>
            <a:off x="2413000" y="3933825"/>
            <a:ext cx="863600" cy="360362"/>
          </a:xfrm>
          <a:prstGeom prst="line">
            <a:avLst/>
          </a:prstGeom>
          <a:noFill/>
          <a:ln w="12700" cap="sq">
            <a:solidFill>
              <a:srgbClr val="336600"/>
            </a:solidFill>
            <a:round/>
            <a:headEnd/>
            <a:tailEnd/>
          </a:ln>
        </p:spPr>
        <p:txBody>
          <a:bodyPr wrap="none" anchor="ctr"/>
          <a:lstStyle/>
          <a:p>
            <a:endParaRPr lang="zh-CN" altLang="en-US"/>
          </a:p>
        </p:txBody>
      </p:sp>
      <p:sp>
        <p:nvSpPr>
          <p:cNvPr id="96280" name="Line 22"/>
          <p:cNvSpPr>
            <a:spLocks noChangeShapeType="1"/>
          </p:cNvSpPr>
          <p:nvPr/>
        </p:nvSpPr>
        <p:spPr bwMode="auto">
          <a:xfrm flipH="1">
            <a:off x="3276600" y="3933825"/>
            <a:ext cx="649288" cy="360362"/>
          </a:xfrm>
          <a:prstGeom prst="line">
            <a:avLst/>
          </a:prstGeom>
          <a:noFill/>
          <a:ln w="12700" cap="sq">
            <a:solidFill>
              <a:srgbClr val="336600"/>
            </a:solidFill>
            <a:round/>
            <a:headEnd/>
            <a:tailEnd/>
          </a:ln>
        </p:spPr>
        <p:txBody>
          <a:bodyPr wrap="none" anchor="ctr"/>
          <a:lstStyle/>
          <a:p>
            <a:endParaRPr lang="zh-CN" altLang="en-US"/>
          </a:p>
        </p:txBody>
      </p:sp>
      <p:sp>
        <p:nvSpPr>
          <p:cNvPr id="96281" name="Line 23"/>
          <p:cNvSpPr>
            <a:spLocks noChangeShapeType="1"/>
          </p:cNvSpPr>
          <p:nvPr/>
        </p:nvSpPr>
        <p:spPr bwMode="auto">
          <a:xfrm>
            <a:off x="5508625" y="3789362"/>
            <a:ext cx="792163" cy="504825"/>
          </a:xfrm>
          <a:prstGeom prst="line">
            <a:avLst/>
          </a:prstGeom>
          <a:noFill/>
          <a:ln w="12700" cap="sq">
            <a:solidFill>
              <a:srgbClr val="336600"/>
            </a:solidFill>
            <a:round/>
            <a:headEnd/>
            <a:tailEnd/>
          </a:ln>
        </p:spPr>
        <p:txBody>
          <a:bodyPr wrap="none" anchor="ctr"/>
          <a:lstStyle/>
          <a:p>
            <a:endParaRPr lang="zh-CN" altLang="en-US"/>
          </a:p>
        </p:txBody>
      </p:sp>
      <p:sp>
        <p:nvSpPr>
          <p:cNvPr id="96282" name="Line 24"/>
          <p:cNvSpPr>
            <a:spLocks noChangeShapeType="1"/>
          </p:cNvSpPr>
          <p:nvPr/>
        </p:nvSpPr>
        <p:spPr bwMode="auto">
          <a:xfrm>
            <a:off x="6229350" y="3717925"/>
            <a:ext cx="71438" cy="576262"/>
          </a:xfrm>
          <a:prstGeom prst="line">
            <a:avLst/>
          </a:prstGeom>
          <a:noFill/>
          <a:ln w="12700" cap="sq">
            <a:solidFill>
              <a:srgbClr val="336600"/>
            </a:solidFill>
            <a:round/>
            <a:headEnd/>
            <a:tailEnd/>
          </a:ln>
        </p:spPr>
        <p:txBody>
          <a:bodyPr wrap="none" anchor="ctr"/>
          <a:lstStyle/>
          <a:p>
            <a:endParaRPr lang="zh-CN" altLang="en-US"/>
          </a:p>
        </p:txBody>
      </p:sp>
      <p:sp>
        <p:nvSpPr>
          <p:cNvPr id="96283" name="Line 25"/>
          <p:cNvSpPr>
            <a:spLocks noChangeShapeType="1"/>
          </p:cNvSpPr>
          <p:nvPr/>
        </p:nvSpPr>
        <p:spPr bwMode="auto">
          <a:xfrm flipH="1">
            <a:off x="6300788" y="3789362"/>
            <a:ext cx="649287" cy="504825"/>
          </a:xfrm>
          <a:prstGeom prst="line">
            <a:avLst/>
          </a:prstGeom>
          <a:noFill/>
          <a:ln w="12700" cap="sq">
            <a:solidFill>
              <a:srgbClr val="336600"/>
            </a:solidFill>
            <a:round/>
            <a:headEnd/>
            <a:tailEnd/>
          </a:ln>
        </p:spPr>
        <p:txBody>
          <a:bodyPr wrap="none" anchor="ctr"/>
          <a:lstStyle/>
          <a:p>
            <a:endParaRPr lang="zh-CN" altLang="en-US"/>
          </a:p>
        </p:txBody>
      </p:sp>
      <p:sp>
        <p:nvSpPr>
          <p:cNvPr id="96284" name="Line 26"/>
          <p:cNvSpPr>
            <a:spLocks noChangeShapeType="1"/>
          </p:cNvSpPr>
          <p:nvPr/>
        </p:nvSpPr>
        <p:spPr bwMode="auto">
          <a:xfrm flipH="1">
            <a:off x="6300788" y="4078287"/>
            <a:ext cx="936625" cy="215900"/>
          </a:xfrm>
          <a:prstGeom prst="line">
            <a:avLst/>
          </a:prstGeom>
          <a:noFill/>
          <a:ln w="12700" cap="sq">
            <a:solidFill>
              <a:srgbClr val="336600"/>
            </a:solidFill>
            <a:round/>
            <a:headEnd/>
            <a:tailEnd/>
          </a:ln>
        </p:spPr>
        <p:txBody>
          <a:bodyPr wrap="none" anchor="ctr"/>
          <a:lstStyle/>
          <a:p>
            <a:endParaRPr lang="zh-CN" altLang="en-US"/>
          </a:p>
        </p:txBody>
      </p:sp>
      <p:sp>
        <p:nvSpPr>
          <p:cNvPr id="96285" name="Line 27"/>
          <p:cNvSpPr>
            <a:spLocks noChangeShapeType="1"/>
          </p:cNvSpPr>
          <p:nvPr/>
        </p:nvSpPr>
        <p:spPr bwMode="auto">
          <a:xfrm flipH="1">
            <a:off x="6734175" y="4438650"/>
            <a:ext cx="503238" cy="0"/>
          </a:xfrm>
          <a:prstGeom prst="line">
            <a:avLst/>
          </a:prstGeom>
          <a:noFill/>
          <a:ln w="12700" cap="sq">
            <a:solidFill>
              <a:srgbClr val="336600"/>
            </a:solidFill>
            <a:round/>
            <a:headEnd/>
            <a:tailEnd/>
          </a:ln>
        </p:spPr>
        <p:txBody>
          <a:bodyPr wrap="none" anchor="ctr"/>
          <a:lstStyle/>
          <a:p>
            <a:endParaRPr lang="zh-CN" altLang="en-US"/>
          </a:p>
        </p:txBody>
      </p:sp>
      <p:sp>
        <p:nvSpPr>
          <p:cNvPr id="96286" name="Line 28"/>
          <p:cNvSpPr>
            <a:spLocks noChangeShapeType="1"/>
          </p:cNvSpPr>
          <p:nvPr/>
        </p:nvSpPr>
        <p:spPr bwMode="auto">
          <a:xfrm flipH="1" flipV="1">
            <a:off x="6734175" y="4510087"/>
            <a:ext cx="431800" cy="431800"/>
          </a:xfrm>
          <a:prstGeom prst="line">
            <a:avLst/>
          </a:prstGeom>
          <a:noFill/>
          <a:ln w="12700" cap="sq">
            <a:solidFill>
              <a:srgbClr val="336600"/>
            </a:solidFill>
            <a:round/>
            <a:headEnd/>
            <a:tailEnd/>
          </a:ln>
        </p:spPr>
        <p:txBody>
          <a:bodyPr wrap="none" anchor="ctr"/>
          <a:lstStyle/>
          <a:p>
            <a:endParaRPr lang="zh-CN" altLang="en-US"/>
          </a:p>
        </p:txBody>
      </p:sp>
      <p:sp>
        <p:nvSpPr>
          <p:cNvPr id="96287" name="AutoShape 29"/>
          <p:cNvSpPr>
            <a:spLocks noChangeArrowheads="1"/>
          </p:cNvSpPr>
          <p:nvPr/>
        </p:nvSpPr>
        <p:spPr bwMode="auto">
          <a:xfrm>
            <a:off x="755650" y="5167312"/>
            <a:ext cx="863600" cy="360363"/>
          </a:xfrm>
          <a:prstGeom prst="rightArrow">
            <a:avLst>
              <a:gd name="adj1" fmla="val 50000"/>
              <a:gd name="adj2" fmla="val 59912"/>
            </a:avLst>
          </a:prstGeom>
          <a:solidFill>
            <a:srgbClr val="F61902"/>
          </a:solidFill>
          <a:ln w="12700" cap="sq">
            <a:solidFill>
              <a:srgbClr val="FFFFFF"/>
            </a:solidFill>
            <a:miter lim="800000"/>
            <a:headEnd/>
            <a:tailEnd/>
          </a:ln>
        </p:spPr>
        <p:txBody>
          <a:bodyPr wrap="none" anchor="ctr"/>
          <a:lstStyle/>
          <a:p>
            <a:endParaRPr lang="zh-CN" altLang="en-US"/>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4" name="Rectangle 2"/>
          <p:cNvSpPr>
            <a:spLocks noChangeArrowheads="1"/>
          </p:cNvSpPr>
          <p:nvPr/>
        </p:nvSpPr>
        <p:spPr bwMode="auto">
          <a:xfrm>
            <a:off x="301625" y="698500"/>
            <a:ext cx="9144000" cy="5546725"/>
          </a:xfrm>
          <a:prstGeom prst="rect">
            <a:avLst/>
          </a:prstGeom>
          <a:noFill/>
          <a:ln w="9525">
            <a:noFill/>
            <a:miter lim="800000"/>
            <a:headEnd/>
            <a:tailEnd/>
          </a:ln>
        </p:spPr>
        <p:txBody>
          <a:bodyPr/>
          <a:lstStyle/>
          <a:p>
            <a:pPr marL="742950" lvl="1" indent="-285750">
              <a:spcBef>
                <a:spcPct val="20000"/>
              </a:spcBef>
            </a:pPr>
            <a:r>
              <a:rPr lang="en-US" altLang="zh-CN" sz="2800" dirty="0">
                <a:ea typeface="ˎ̥"/>
                <a:cs typeface="ˎ̥"/>
              </a:rPr>
              <a:t>4) </a:t>
            </a:r>
            <a:r>
              <a:rPr lang="zh-CN" altLang="en-US" sz="2800" dirty="0"/>
              <a:t>一个</a:t>
            </a:r>
            <a:r>
              <a:rPr lang="en-US" altLang="zh-CN" sz="2800" dirty="0">
                <a:ea typeface="ˎ̥"/>
                <a:cs typeface="ˎ̥"/>
              </a:rPr>
              <a:t>1:1</a:t>
            </a:r>
            <a:r>
              <a:rPr lang="zh-CN" altLang="en-US" sz="2800" dirty="0"/>
              <a:t>联系 </a:t>
            </a:r>
            <a:endParaRPr lang="zh-CN" altLang="en-US" sz="1500" dirty="0">
              <a:solidFill>
                <a:schemeClr val="accent2"/>
              </a:solidFill>
            </a:endParaRPr>
          </a:p>
          <a:p>
            <a:pPr marL="1143000" lvl="2" indent="-228600">
              <a:spcBef>
                <a:spcPct val="20000"/>
              </a:spcBef>
              <a:buClr>
                <a:schemeClr val="tx2"/>
              </a:buClr>
              <a:buFontTx/>
              <a:buChar char="•"/>
            </a:pPr>
            <a:r>
              <a:rPr lang="zh-CN" altLang="en-US" sz="2400" dirty="0"/>
              <a:t>可以转换为一个独立的关系模式，也可以与任意一端对应的关系模式合并； </a:t>
            </a:r>
            <a:endParaRPr lang="zh-CN" altLang="en-US" sz="1500" dirty="0">
              <a:solidFill>
                <a:schemeClr val="accent2"/>
              </a:solidFill>
            </a:endParaRPr>
          </a:p>
          <a:p>
            <a:pPr marL="1143000" lvl="2" indent="-228600">
              <a:spcBef>
                <a:spcPct val="20000"/>
              </a:spcBef>
              <a:buClr>
                <a:schemeClr val="tx2"/>
              </a:buClr>
              <a:buFontTx/>
              <a:buChar char="•"/>
            </a:pPr>
            <a:r>
              <a:rPr lang="zh-CN" altLang="en-US" sz="2400" dirty="0" smtClean="0"/>
              <a:t>若</a:t>
            </a:r>
            <a:r>
              <a:rPr lang="zh-CN" altLang="en-US" sz="2400" dirty="0"/>
              <a:t>与某一端对应的关系模式合并，则需在该关系模式的属性中加入另一个关系模式的码和联系本身的属性。</a:t>
            </a:r>
            <a:r>
              <a:rPr lang="zh-CN" altLang="en-US" sz="2400" dirty="0">
                <a:ea typeface="ˎ̥"/>
                <a:cs typeface="ˎ̥"/>
              </a:rPr>
              <a:t> </a:t>
            </a:r>
            <a:endParaRPr lang="zh-CN" altLang="en-US" sz="2400" dirty="0"/>
          </a:p>
        </p:txBody>
      </p:sp>
      <p:sp>
        <p:nvSpPr>
          <p:cNvPr id="97285" name="Text Box 3"/>
          <p:cNvSpPr txBox="1">
            <a:spLocks noChangeArrowheads="1"/>
          </p:cNvSpPr>
          <p:nvPr/>
        </p:nvSpPr>
        <p:spPr bwMode="auto">
          <a:xfrm>
            <a:off x="2198688" y="4198935"/>
            <a:ext cx="1119187" cy="400110"/>
          </a:xfrm>
          <a:prstGeom prst="rect">
            <a:avLst/>
          </a:prstGeom>
          <a:gradFill rotWithShape="0">
            <a:gsLst>
              <a:gs pos="0">
                <a:srgbClr val="03D4A8"/>
              </a:gs>
              <a:gs pos="25000">
                <a:srgbClr val="21D6E0"/>
              </a:gs>
              <a:gs pos="75000">
                <a:srgbClr val="0087E6"/>
              </a:gs>
              <a:gs pos="100000">
                <a:srgbClr val="005CBF"/>
              </a:gs>
            </a:gsLst>
            <a:lin ang="5400000" scaled="1"/>
          </a:gradFill>
          <a:ln w="9525">
            <a:noFill/>
            <a:miter lim="800000"/>
            <a:headEnd/>
            <a:tailEnd/>
          </a:ln>
        </p:spPr>
        <p:txBody>
          <a:bodyPr>
            <a:spAutoFit/>
          </a:bodyPr>
          <a:lstStyle/>
          <a:p>
            <a:pPr algn="ctr">
              <a:spcBef>
                <a:spcPct val="50000"/>
              </a:spcBef>
            </a:pPr>
            <a:r>
              <a:rPr kumimoji="1" lang="zh-CN" altLang="en-US" sz="2000" b="1" dirty="0">
                <a:solidFill>
                  <a:schemeClr val="tx1">
                    <a:lumMod val="85000"/>
                    <a:lumOff val="15000"/>
                  </a:schemeClr>
                </a:solidFill>
                <a:latin typeface="Times New Roman" pitchFamily="18" charset="0"/>
              </a:rPr>
              <a:t>教师</a:t>
            </a:r>
            <a:endParaRPr kumimoji="1" lang="zh-CN" altLang="en-US" sz="2400" b="1" dirty="0">
              <a:solidFill>
                <a:schemeClr val="tx1">
                  <a:lumMod val="85000"/>
                  <a:lumOff val="15000"/>
                </a:schemeClr>
              </a:solidFill>
              <a:latin typeface="Times New Roman" pitchFamily="18" charset="0"/>
            </a:endParaRPr>
          </a:p>
        </p:txBody>
      </p:sp>
      <p:sp>
        <p:nvSpPr>
          <p:cNvPr id="97286" name="Text Box 4"/>
          <p:cNvSpPr txBox="1">
            <a:spLocks noChangeArrowheads="1"/>
          </p:cNvSpPr>
          <p:nvPr/>
        </p:nvSpPr>
        <p:spPr bwMode="auto">
          <a:xfrm>
            <a:off x="5734050" y="4224335"/>
            <a:ext cx="784225" cy="395287"/>
          </a:xfrm>
          <a:prstGeom prst="rect">
            <a:avLst/>
          </a:prstGeom>
          <a:gradFill rotWithShape="0">
            <a:gsLst>
              <a:gs pos="0">
                <a:srgbClr val="03D4A8"/>
              </a:gs>
              <a:gs pos="25000">
                <a:srgbClr val="21D6E0"/>
              </a:gs>
              <a:gs pos="75000">
                <a:srgbClr val="0087E6"/>
              </a:gs>
              <a:gs pos="100000">
                <a:srgbClr val="005CBF"/>
              </a:gs>
            </a:gsLst>
            <a:lin ang="5400000" scaled="1"/>
          </a:gradFill>
          <a:ln w="9525">
            <a:noFill/>
            <a:miter lim="800000"/>
            <a:headEnd/>
            <a:tailEnd/>
          </a:ln>
        </p:spPr>
        <p:txBody>
          <a:bodyPr>
            <a:spAutoFit/>
          </a:bodyPr>
          <a:lstStyle/>
          <a:p>
            <a:endParaRPr kumimoji="1" lang="zh-CN" altLang="zh-CN" sz="2400">
              <a:latin typeface="Times New Roman" pitchFamily="18" charset="0"/>
            </a:endParaRPr>
          </a:p>
        </p:txBody>
      </p:sp>
      <p:sp>
        <p:nvSpPr>
          <p:cNvPr id="97287" name="Rectangle 5"/>
          <p:cNvSpPr>
            <a:spLocks noChangeArrowheads="1"/>
          </p:cNvSpPr>
          <p:nvPr/>
        </p:nvSpPr>
        <p:spPr bwMode="auto">
          <a:xfrm>
            <a:off x="5811838" y="4224335"/>
            <a:ext cx="692150" cy="396875"/>
          </a:xfrm>
          <a:prstGeom prst="rect">
            <a:avLst/>
          </a:prstGeom>
          <a:noFill/>
          <a:ln w="9525">
            <a:noFill/>
            <a:miter lim="800000"/>
            <a:headEnd/>
            <a:tailEnd/>
          </a:ln>
        </p:spPr>
        <p:txBody>
          <a:bodyPr wrap="none">
            <a:spAutoFit/>
          </a:bodyPr>
          <a:lstStyle/>
          <a:p>
            <a:r>
              <a:rPr kumimoji="1" lang="zh-CN" altLang="en-US" sz="2000">
                <a:solidFill>
                  <a:schemeClr val="hlink"/>
                </a:solidFill>
                <a:latin typeface="Times New Roman" pitchFamily="18" charset="0"/>
              </a:rPr>
              <a:t>班级</a:t>
            </a:r>
            <a:endParaRPr kumimoji="1" lang="zh-CN" altLang="en-US" sz="2400">
              <a:latin typeface="Times New Roman" pitchFamily="18" charset="0"/>
            </a:endParaRPr>
          </a:p>
        </p:txBody>
      </p:sp>
      <p:sp>
        <p:nvSpPr>
          <p:cNvPr id="97288" name="Text Box 6"/>
          <p:cNvSpPr txBox="1">
            <a:spLocks noChangeArrowheads="1"/>
          </p:cNvSpPr>
          <p:nvPr/>
        </p:nvSpPr>
        <p:spPr bwMode="auto">
          <a:xfrm>
            <a:off x="5734050" y="4224335"/>
            <a:ext cx="784225" cy="400110"/>
          </a:xfrm>
          <a:prstGeom prst="rect">
            <a:avLst/>
          </a:prstGeom>
          <a:gradFill rotWithShape="0">
            <a:gsLst>
              <a:gs pos="0">
                <a:srgbClr val="03D4A8"/>
              </a:gs>
              <a:gs pos="25000">
                <a:srgbClr val="21D6E0"/>
              </a:gs>
              <a:gs pos="75000">
                <a:srgbClr val="0087E6"/>
              </a:gs>
              <a:gs pos="100000">
                <a:srgbClr val="005CBF"/>
              </a:gs>
            </a:gsLst>
            <a:lin ang="5400000" scaled="1"/>
          </a:gradFill>
          <a:ln w="9525">
            <a:noFill/>
            <a:miter lim="800000"/>
            <a:headEnd/>
            <a:tailEnd/>
          </a:ln>
        </p:spPr>
        <p:txBody>
          <a:bodyPr>
            <a:spAutoFit/>
          </a:bodyPr>
          <a:lstStyle/>
          <a:p>
            <a:pPr algn="ctr">
              <a:spcBef>
                <a:spcPct val="50000"/>
              </a:spcBef>
            </a:pPr>
            <a:r>
              <a:rPr kumimoji="1" lang="zh-CN" altLang="en-US" sz="2000" b="1" dirty="0">
                <a:solidFill>
                  <a:schemeClr val="tx1">
                    <a:lumMod val="85000"/>
                    <a:lumOff val="15000"/>
                  </a:schemeClr>
                </a:solidFill>
                <a:latin typeface="Times New Roman" pitchFamily="18" charset="0"/>
              </a:rPr>
              <a:t>班级</a:t>
            </a:r>
            <a:endParaRPr kumimoji="1" lang="zh-CN" altLang="en-US" sz="2400" b="1" dirty="0">
              <a:solidFill>
                <a:schemeClr val="tx1">
                  <a:lumMod val="85000"/>
                  <a:lumOff val="15000"/>
                </a:schemeClr>
              </a:solidFill>
              <a:latin typeface="Times New Roman" pitchFamily="18" charset="0"/>
            </a:endParaRPr>
          </a:p>
        </p:txBody>
      </p:sp>
      <p:sp>
        <p:nvSpPr>
          <p:cNvPr id="97289" name="AutoShape 7"/>
          <p:cNvSpPr>
            <a:spLocks noChangeArrowheads="1"/>
          </p:cNvSpPr>
          <p:nvPr/>
        </p:nvSpPr>
        <p:spPr bwMode="auto">
          <a:xfrm>
            <a:off x="3960813" y="4152897"/>
            <a:ext cx="1260475" cy="503238"/>
          </a:xfrm>
          <a:prstGeom prst="diamond">
            <a:avLst/>
          </a:prstGeom>
          <a:gradFill rotWithShape="0">
            <a:gsLst>
              <a:gs pos="0">
                <a:srgbClr val="5E9EFF"/>
              </a:gs>
              <a:gs pos="39999">
                <a:srgbClr val="85C2FF"/>
              </a:gs>
              <a:gs pos="70000">
                <a:srgbClr val="C4D6EB"/>
              </a:gs>
              <a:gs pos="100000">
                <a:srgbClr val="FFEBFA"/>
              </a:gs>
            </a:gsLst>
            <a:lin ang="5400000" scaled="1"/>
          </a:gradFill>
          <a:ln w="9525">
            <a:solidFill>
              <a:srgbClr val="00FFCC"/>
            </a:solidFill>
            <a:miter lim="800000"/>
            <a:headEnd/>
            <a:tailEnd/>
          </a:ln>
        </p:spPr>
        <p:txBody>
          <a:bodyPr wrap="none" anchor="ctr"/>
          <a:lstStyle/>
          <a:p>
            <a:pPr algn="ctr">
              <a:spcBef>
                <a:spcPct val="20000"/>
              </a:spcBef>
            </a:pPr>
            <a:r>
              <a:rPr kumimoji="1" lang="zh-CN" altLang="en-US" sz="1600">
                <a:solidFill>
                  <a:srgbClr val="FF0000"/>
                </a:solidFill>
                <a:latin typeface="Times New Roman" pitchFamily="18" charset="0"/>
              </a:rPr>
              <a:t>管理</a:t>
            </a:r>
            <a:endParaRPr kumimoji="1" lang="zh-CN" altLang="en-US" sz="2400">
              <a:latin typeface="Times New Roman" pitchFamily="18" charset="0"/>
            </a:endParaRPr>
          </a:p>
        </p:txBody>
      </p:sp>
      <p:sp>
        <p:nvSpPr>
          <p:cNvPr id="97290" name="Oval 8"/>
          <p:cNvSpPr>
            <a:spLocks noChangeArrowheads="1"/>
          </p:cNvSpPr>
          <p:nvPr/>
        </p:nvSpPr>
        <p:spPr bwMode="auto">
          <a:xfrm>
            <a:off x="4067175" y="3000372"/>
            <a:ext cx="1079500" cy="503238"/>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000"/>
              <a:t>是否优秀班主任</a:t>
            </a:r>
            <a:endParaRPr kumimoji="1" lang="zh-CN" altLang="en-US" sz="2400">
              <a:latin typeface="Times New Roman" pitchFamily="18" charset="0"/>
            </a:endParaRPr>
          </a:p>
        </p:txBody>
      </p:sp>
      <p:sp>
        <p:nvSpPr>
          <p:cNvPr id="97291" name="Line 9"/>
          <p:cNvSpPr>
            <a:spLocks noChangeShapeType="1"/>
          </p:cNvSpPr>
          <p:nvPr/>
        </p:nvSpPr>
        <p:spPr bwMode="auto">
          <a:xfrm flipV="1">
            <a:off x="2736850" y="3432172"/>
            <a:ext cx="1584325" cy="720725"/>
          </a:xfrm>
          <a:prstGeom prst="line">
            <a:avLst/>
          </a:prstGeom>
          <a:noFill/>
          <a:ln w="12700" cap="sq">
            <a:solidFill>
              <a:srgbClr val="336600"/>
            </a:solidFill>
            <a:round/>
            <a:headEnd/>
            <a:tailEnd/>
          </a:ln>
        </p:spPr>
        <p:txBody>
          <a:bodyPr wrap="none" anchor="ctr"/>
          <a:lstStyle/>
          <a:p>
            <a:endParaRPr lang="zh-CN" altLang="en-US"/>
          </a:p>
        </p:txBody>
      </p:sp>
      <p:sp>
        <p:nvSpPr>
          <p:cNvPr id="97292" name="Oval 10"/>
          <p:cNvSpPr>
            <a:spLocks noChangeArrowheads="1"/>
          </p:cNvSpPr>
          <p:nvPr/>
        </p:nvSpPr>
        <p:spPr bwMode="auto">
          <a:xfrm>
            <a:off x="1042988" y="3071810"/>
            <a:ext cx="741362" cy="431800"/>
          </a:xfrm>
          <a:prstGeom prst="ellipse">
            <a:avLst/>
          </a:prstGeom>
          <a:solidFill>
            <a:srgbClr val="FC042D"/>
          </a:solidFill>
          <a:ln w="12700" cap="sq">
            <a:solidFill>
              <a:srgbClr val="FFFFFF"/>
            </a:solidFill>
            <a:round/>
            <a:headEnd/>
            <a:tailEnd/>
          </a:ln>
        </p:spPr>
        <p:txBody>
          <a:bodyPr wrap="none" anchor="ctr"/>
          <a:lstStyle/>
          <a:p>
            <a:pPr algn="ctr"/>
            <a:r>
              <a:rPr lang="zh-CN" altLang="en-US" sz="1600" dirty="0"/>
              <a:t>职工号</a:t>
            </a:r>
            <a:endParaRPr kumimoji="1" lang="zh-CN" altLang="en-US" sz="2400" dirty="0">
              <a:latin typeface="Times New Roman" pitchFamily="18" charset="0"/>
            </a:endParaRPr>
          </a:p>
        </p:txBody>
      </p:sp>
      <p:sp>
        <p:nvSpPr>
          <p:cNvPr id="97293" name="Oval 11"/>
          <p:cNvSpPr>
            <a:spLocks noChangeArrowheads="1"/>
          </p:cNvSpPr>
          <p:nvPr/>
        </p:nvSpPr>
        <p:spPr bwMode="auto">
          <a:xfrm>
            <a:off x="1835150" y="3071810"/>
            <a:ext cx="792163"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a:t>姓名</a:t>
            </a:r>
            <a:endParaRPr kumimoji="1" lang="zh-CN" altLang="en-US" sz="2400">
              <a:latin typeface="Times New Roman" pitchFamily="18" charset="0"/>
            </a:endParaRPr>
          </a:p>
        </p:txBody>
      </p:sp>
      <p:sp>
        <p:nvSpPr>
          <p:cNvPr id="97294" name="Oval 12"/>
          <p:cNvSpPr>
            <a:spLocks noChangeArrowheads="1"/>
          </p:cNvSpPr>
          <p:nvPr/>
        </p:nvSpPr>
        <p:spPr bwMode="auto">
          <a:xfrm>
            <a:off x="5184775" y="3360735"/>
            <a:ext cx="741363" cy="431800"/>
          </a:xfrm>
          <a:prstGeom prst="ellipse">
            <a:avLst/>
          </a:prstGeom>
          <a:solidFill>
            <a:srgbClr val="FC042D"/>
          </a:solidFill>
          <a:ln w="12700" cap="sq">
            <a:solidFill>
              <a:srgbClr val="FFFFFF"/>
            </a:solidFill>
            <a:round/>
            <a:headEnd/>
            <a:tailEnd/>
          </a:ln>
        </p:spPr>
        <p:txBody>
          <a:bodyPr wrap="none" anchor="ctr"/>
          <a:lstStyle/>
          <a:p>
            <a:pPr algn="ctr"/>
            <a:r>
              <a:rPr lang="zh-CN" altLang="en-US" sz="1600"/>
              <a:t>班级号</a:t>
            </a:r>
            <a:endParaRPr kumimoji="1" lang="zh-CN" altLang="en-US" sz="2400">
              <a:latin typeface="Times New Roman" pitchFamily="18" charset="0"/>
            </a:endParaRPr>
          </a:p>
        </p:txBody>
      </p:sp>
      <p:sp>
        <p:nvSpPr>
          <p:cNvPr id="97295" name="Oval 13"/>
          <p:cNvSpPr>
            <a:spLocks noChangeArrowheads="1"/>
          </p:cNvSpPr>
          <p:nvPr/>
        </p:nvSpPr>
        <p:spPr bwMode="auto">
          <a:xfrm>
            <a:off x="6048375" y="3360735"/>
            <a:ext cx="863600"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400"/>
              <a:t>学生人数</a:t>
            </a:r>
            <a:endParaRPr kumimoji="1" lang="zh-CN" altLang="en-US" sz="2400">
              <a:latin typeface="Times New Roman" pitchFamily="18" charset="0"/>
            </a:endParaRPr>
          </a:p>
        </p:txBody>
      </p:sp>
      <p:sp>
        <p:nvSpPr>
          <p:cNvPr id="97296" name="Oval 14"/>
          <p:cNvSpPr>
            <a:spLocks noChangeArrowheads="1"/>
          </p:cNvSpPr>
          <p:nvPr/>
        </p:nvSpPr>
        <p:spPr bwMode="auto">
          <a:xfrm>
            <a:off x="2627313" y="3071810"/>
            <a:ext cx="741362"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a:t>性别</a:t>
            </a:r>
            <a:endParaRPr kumimoji="1" lang="zh-CN" altLang="en-US" sz="2400">
              <a:latin typeface="Times New Roman" pitchFamily="18" charset="0"/>
            </a:endParaRPr>
          </a:p>
        </p:txBody>
      </p:sp>
      <p:sp>
        <p:nvSpPr>
          <p:cNvPr id="97297" name="Line 15"/>
          <p:cNvSpPr>
            <a:spLocks noChangeShapeType="1"/>
          </p:cNvSpPr>
          <p:nvPr/>
        </p:nvSpPr>
        <p:spPr bwMode="auto">
          <a:xfrm>
            <a:off x="1403350" y="3432172"/>
            <a:ext cx="1260475" cy="720725"/>
          </a:xfrm>
          <a:prstGeom prst="line">
            <a:avLst/>
          </a:prstGeom>
          <a:noFill/>
          <a:ln w="12700" cap="sq">
            <a:solidFill>
              <a:srgbClr val="336600"/>
            </a:solidFill>
            <a:round/>
            <a:headEnd/>
            <a:tailEnd/>
          </a:ln>
        </p:spPr>
        <p:txBody>
          <a:bodyPr wrap="none" anchor="ctr"/>
          <a:lstStyle/>
          <a:p>
            <a:endParaRPr lang="zh-CN" altLang="en-US"/>
          </a:p>
        </p:txBody>
      </p:sp>
      <p:sp>
        <p:nvSpPr>
          <p:cNvPr id="97298" name="Line 16"/>
          <p:cNvSpPr>
            <a:spLocks noChangeShapeType="1"/>
          </p:cNvSpPr>
          <p:nvPr/>
        </p:nvSpPr>
        <p:spPr bwMode="auto">
          <a:xfrm>
            <a:off x="2266950" y="3432172"/>
            <a:ext cx="396875" cy="792163"/>
          </a:xfrm>
          <a:prstGeom prst="line">
            <a:avLst/>
          </a:prstGeom>
          <a:noFill/>
          <a:ln w="12700" cap="sq">
            <a:solidFill>
              <a:srgbClr val="336600"/>
            </a:solidFill>
            <a:round/>
            <a:headEnd/>
            <a:tailEnd/>
          </a:ln>
        </p:spPr>
        <p:txBody>
          <a:bodyPr wrap="none" anchor="ctr"/>
          <a:lstStyle/>
          <a:p>
            <a:endParaRPr lang="zh-CN" altLang="en-US"/>
          </a:p>
        </p:txBody>
      </p:sp>
      <p:sp>
        <p:nvSpPr>
          <p:cNvPr id="97299" name="Line 17"/>
          <p:cNvSpPr>
            <a:spLocks noChangeShapeType="1"/>
          </p:cNvSpPr>
          <p:nvPr/>
        </p:nvSpPr>
        <p:spPr bwMode="auto">
          <a:xfrm>
            <a:off x="5545138" y="3792535"/>
            <a:ext cx="576262" cy="431800"/>
          </a:xfrm>
          <a:prstGeom prst="line">
            <a:avLst/>
          </a:prstGeom>
          <a:noFill/>
          <a:ln w="12700" cap="sq">
            <a:solidFill>
              <a:srgbClr val="336600"/>
            </a:solidFill>
            <a:round/>
            <a:headEnd/>
            <a:tailEnd/>
          </a:ln>
        </p:spPr>
        <p:txBody>
          <a:bodyPr wrap="none" anchor="ctr"/>
          <a:lstStyle/>
          <a:p>
            <a:endParaRPr lang="zh-CN" altLang="en-US"/>
          </a:p>
        </p:txBody>
      </p:sp>
      <p:sp>
        <p:nvSpPr>
          <p:cNvPr id="97300" name="Line 18"/>
          <p:cNvSpPr>
            <a:spLocks noChangeShapeType="1"/>
          </p:cNvSpPr>
          <p:nvPr/>
        </p:nvSpPr>
        <p:spPr bwMode="auto">
          <a:xfrm flipV="1">
            <a:off x="6121400" y="3792535"/>
            <a:ext cx="358775" cy="431800"/>
          </a:xfrm>
          <a:prstGeom prst="line">
            <a:avLst/>
          </a:prstGeom>
          <a:noFill/>
          <a:ln w="12700" cap="sq">
            <a:solidFill>
              <a:srgbClr val="336600"/>
            </a:solidFill>
            <a:round/>
            <a:headEnd/>
            <a:tailEnd/>
          </a:ln>
        </p:spPr>
        <p:txBody>
          <a:bodyPr wrap="none" anchor="ctr"/>
          <a:lstStyle/>
          <a:p>
            <a:endParaRPr lang="zh-CN" altLang="en-US"/>
          </a:p>
        </p:txBody>
      </p:sp>
      <p:sp>
        <p:nvSpPr>
          <p:cNvPr id="97301" name="Line 19"/>
          <p:cNvSpPr>
            <a:spLocks noChangeShapeType="1"/>
          </p:cNvSpPr>
          <p:nvPr/>
        </p:nvSpPr>
        <p:spPr bwMode="auto">
          <a:xfrm flipH="1">
            <a:off x="2698750" y="3432172"/>
            <a:ext cx="1008063" cy="719138"/>
          </a:xfrm>
          <a:prstGeom prst="line">
            <a:avLst/>
          </a:prstGeom>
          <a:noFill/>
          <a:ln w="12700" cap="sq">
            <a:solidFill>
              <a:srgbClr val="336600"/>
            </a:solidFill>
            <a:round/>
            <a:headEnd/>
            <a:tailEnd/>
          </a:ln>
        </p:spPr>
        <p:txBody>
          <a:bodyPr wrap="none" anchor="ctr"/>
          <a:lstStyle/>
          <a:p>
            <a:endParaRPr lang="zh-CN" altLang="en-US"/>
          </a:p>
        </p:txBody>
      </p:sp>
      <p:sp>
        <p:nvSpPr>
          <p:cNvPr id="97302" name="Line 20"/>
          <p:cNvSpPr>
            <a:spLocks noChangeShapeType="1"/>
          </p:cNvSpPr>
          <p:nvPr/>
        </p:nvSpPr>
        <p:spPr bwMode="auto">
          <a:xfrm>
            <a:off x="3313113" y="4368797"/>
            <a:ext cx="647700" cy="0"/>
          </a:xfrm>
          <a:prstGeom prst="line">
            <a:avLst/>
          </a:prstGeom>
          <a:noFill/>
          <a:ln w="12700" cap="sq">
            <a:solidFill>
              <a:srgbClr val="336600"/>
            </a:solidFill>
            <a:round/>
            <a:headEnd/>
            <a:tailEnd/>
          </a:ln>
        </p:spPr>
        <p:txBody>
          <a:bodyPr wrap="none" anchor="ctr"/>
          <a:lstStyle/>
          <a:p>
            <a:endParaRPr lang="zh-CN" altLang="en-US"/>
          </a:p>
        </p:txBody>
      </p:sp>
      <p:sp>
        <p:nvSpPr>
          <p:cNvPr id="97303" name="Line 21"/>
          <p:cNvSpPr>
            <a:spLocks noChangeShapeType="1"/>
          </p:cNvSpPr>
          <p:nvPr/>
        </p:nvSpPr>
        <p:spPr bwMode="auto">
          <a:xfrm>
            <a:off x="5184775" y="4368797"/>
            <a:ext cx="576263" cy="0"/>
          </a:xfrm>
          <a:prstGeom prst="line">
            <a:avLst/>
          </a:prstGeom>
          <a:noFill/>
          <a:ln w="12700" cap="sq">
            <a:solidFill>
              <a:srgbClr val="336600"/>
            </a:solidFill>
            <a:round/>
            <a:headEnd/>
            <a:tailEnd/>
          </a:ln>
        </p:spPr>
        <p:txBody>
          <a:bodyPr wrap="none" anchor="ctr"/>
          <a:lstStyle/>
          <a:p>
            <a:endParaRPr lang="zh-CN" altLang="en-US"/>
          </a:p>
        </p:txBody>
      </p:sp>
      <p:sp>
        <p:nvSpPr>
          <p:cNvPr id="97304" name="Text Box 22"/>
          <p:cNvSpPr txBox="1">
            <a:spLocks noChangeArrowheads="1"/>
          </p:cNvSpPr>
          <p:nvPr/>
        </p:nvSpPr>
        <p:spPr bwMode="auto">
          <a:xfrm>
            <a:off x="3589338" y="4027485"/>
            <a:ext cx="312906" cy="461665"/>
          </a:xfrm>
          <a:prstGeom prst="rect">
            <a:avLst/>
          </a:prstGeom>
          <a:noFill/>
          <a:ln w="12700" cap="sq">
            <a:noFill/>
            <a:miter lim="800000"/>
            <a:headEnd/>
            <a:tailEnd/>
          </a:ln>
        </p:spPr>
        <p:txBody>
          <a:bodyPr wrap="none">
            <a:spAutoFit/>
          </a:bodyPr>
          <a:lstStyle/>
          <a:p>
            <a:pPr algn="ctr"/>
            <a:r>
              <a:rPr lang="en-US" altLang="zh-CN" b="1" dirty="0">
                <a:solidFill>
                  <a:schemeClr val="tx1">
                    <a:lumMod val="85000"/>
                    <a:lumOff val="15000"/>
                  </a:schemeClr>
                </a:solidFill>
                <a:ea typeface="ˎ̥"/>
                <a:cs typeface="ˎ̥"/>
              </a:rPr>
              <a:t>1</a:t>
            </a:r>
            <a:endParaRPr kumimoji="1" lang="en-US" altLang="zh-CN" sz="2400" b="1" dirty="0">
              <a:solidFill>
                <a:schemeClr val="tx1">
                  <a:lumMod val="85000"/>
                  <a:lumOff val="15000"/>
                </a:schemeClr>
              </a:solidFill>
              <a:latin typeface="Times New Roman" pitchFamily="18" charset="0"/>
            </a:endParaRPr>
          </a:p>
        </p:txBody>
      </p:sp>
      <p:sp>
        <p:nvSpPr>
          <p:cNvPr id="97305" name="Text Box 23"/>
          <p:cNvSpPr txBox="1">
            <a:spLocks noChangeArrowheads="1"/>
          </p:cNvSpPr>
          <p:nvPr/>
        </p:nvSpPr>
        <p:spPr bwMode="auto">
          <a:xfrm>
            <a:off x="5245100" y="4027485"/>
            <a:ext cx="312906" cy="461665"/>
          </a:xfrm>
          <a:prstGeom prst="rect">
            <a:avLst/>
          </a:prstGeom>
          <a:noFill/>
          <a:ln w="12700" cap="sq">
            <a:noFill/>
            <a:miter lim="800000"/>
            <a:headEnd/>
            <a:tailEnd/>
          </a:ln>
        </p:spPr>
        <p:txBody>
          <a:bodyPr wrap="none">
            <a:spAutoFit/>
          </a:bodyPr>
          <a:lstStyle/>
          <a:p>
            <a:pPr algn="ctr"/>
            <a:r>
              <a:rPr lang="en-US" altLang="zh-CN" dirty="0">
                <a:solidFill>
                  <a:schemeClr val="tx1">
                    <a:lumMod val="85000"/>
                    <a:lumOff val="15000"/>
                  </a:schemeClr>
                </a:solidFill>
                <a:ea typeface="ˎ̥"/>
                <a:cs typeface="ˎ̥"/>
              </a:rPr>
              <a:t>1</a:t>
            </a:r>
            <a:endParaRPr kumimoji="1" lang="en-US" altLang="zh-CN" sz="2400" dirty="0">
              <a:solidFill>
                <a:schemeClr val="tx1">
                  <a:lumMod val="85000"/>
                  <a:lumOff val="15000"/>
                </a:schemeClr>
              </a:solidFill>
              <a:latin typeface="Times New Roman" pitchFamily="18" charset="0"/>
            </a:endParaRPr>
          </a:p>
        </p:txBody>
      </p:sp>
      <p:sp>
        <p:nvSpPr>
          <p:cNvPr id="97306" name="Oval 24"/>
          <p:cNvSpPr>
            <a:spLocks noChangeArrowheads="1"/>
          </p:cNvSpPr>
          <p:nvPr/>
        </p:nvSpPr>
        <p:spPr bwMode="auto">
          <a:xfrm>
            <a:off x="3346450" y="3071810"/>
            <a:ext cx="720725"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a:t>职称</a:t>
            </a:r>
            <a:endParaRPr kumimoji="1" lang="zh-CN" altLang="en-US" sz="2400">
              <a:latin typeface="Times New Roman" pitchFamily="18" charset="0"/>
            </a:endParaRPr>
          </a:p>
        </p:txBody>
      </p:sp>
      <p:sp>
        <p:nvSpPr>
          <p:cNvPr id="97307" name="Line 25"/>
          <p:cNvSpPr>
            <a:spLocks noChangeShapeType="1"/>
          </p:cNvSpPr>
          <p:nvPr/>
        </p:nvSpPr>
        <p:spPr bwMode="auto">
          <a:xfrm flipH="1">
            <a:off x="2698750" y="3432172"/>
            <a:ext cx="288925" cy="719138"/>
          </a:xfrm>
          <a:prstGeom prst="line">
            <a:avLst/>
          </a:prstGeom>
          <a:noFill/>
          <a:ln w="12700" cap="sq">
            <a:solidFill>
              <a:srgbClr val="336600"/>
            </a:solidFill>
            <a:round/>
            <a:headEnd/>
            <a:tailEnd/>
          </a:ln>
        </p:spPr>
        <p:txBody>
          <a:bodyPr wrap="none" anchor="ctr"/>
          <a:lstStyle/>
          <a:p>
            <a:endParaRPr lang="zh-CN" altLang="en-US"/>
          </a:p>
        </p:txBody>
      </p:sp>
      <p:sp>
        <p:nvSpPr>
          <p:cNvPr id="97308" name="AutoShape 26"/>
          <p:cNvSpPr>
            <a:spLocks noChangeArrowheads="1"/>
          </p:cNvSpPr>
          <p:nvPr/>
        </p:nvSpPr>
        <p:spPr bwMode="auto">
          <a:xfrm>
            <a:off x="592138" y="5175247"/>
            <a:ext cx="685800" cy="381000"/>
          </a:xfrm>
          <a:prstGeom prst="rightArrow">
            <a:avLst>
              <a:gd name="adj1" fmla="val 50000"/>
              <a:gd name="adj2" fmla="val 45000"/>
            </a:avLst>
          </a:prstGeom>
          <a:solidFill>
            <a:srgbClr val="F61902"/>
          </a:solidFill>
          <a:ln w="12700" cap="sq">
            <a:solidFill>
              <a:srgbClr val="FFFFFF"/>
            </a:solidFill>
            <a:miter lim="800000"/>
            <a:headEnd/>
            <a:tailEnd/>
          </a:ln>
        </p:spPr>
        <p:txBody>
          <a:bodyPr wrap="none" anchor="ctr"/>
          <a:lstStyle/>
          <a:p>
            <a:endParaRPr lang="zh-CN" altLang="en-US"/>
          </a:p>
        </p:txBody>
      </p:sp>
      <p:sp>
        <p:nvSpPr>
          <p:cNvPr id="97309" name="Text Box 27"/>
          <p:cNvSpPr txBox="1">
            <a:spLocks noChangeArrowheads="1"/>
          </p:cNvSpPr>
          <p:nvPr/>
        </p:nvSpPr>
        <p:spPr bwMode="auto">
          <a:xfrm>
            <a:off x="1427163" y="4872035"/>
            <a:ext cx="6877050" cy="915987"/>
          </a:xfrm>
          <a:prstGeom prst="rect">
            <a:avLst/>
          </a:prstGeom>
          <a:noFill/>
          <a:ln w="12700" cap="sq">
            <a:noFill/>
            <a:miter lim="800000"/>
            <a:headEnd/>
            <a:tailEnd/>
          </a:ln>
        </p:spPr>
        <p:txBody>
          <a:bodyPr wrap="none">
            <a:spAutoFit/>
          </a:bodyPr>
          <a:lstStyle/>
          <a:p>
            <a:r>
              <a:rPr lang="zh-CN" altLang="en-US">
                <a:solidFill>
                  <a:srgbClr val="3333FF"/>
                </a:solidFill>
              </a:rPr>
              <a:t>管理（</a:t>
            </a:r>
            <a:r>
              <a:rPr lang="zh-CN" altLang="en-US" u="sng">
                <a:solidFill>
                  <a:srgbClr val="3333FF"/>
                </a:solidFill>
              </a:rPr>
              <a:t>职工号</a:t>
            </a:r>
            <a:r>
              <a:rPr lang="zh-CN" altLang="en-US">
                <a:solidFill>
                  <a:srgbClr val="3333FF"/>
                </a:solidFill>
              </a:rPr>
              <a:t>，班级号）</a:t>
            </a:r>
            <a:r>
              <a:rPr lang="zh-CN" altLang="en-US">
                <a:solidFill>
                  <a:srgbClr val="3333FF"/>
                </a:solidFill>
                <a:ea typeface="ˎ̥"/>
                <a:cs typeface="ˎ̥"/>
              </a:rPr>
              <a:t>       </a:t>
            </a:r>
            <a:r>
              <a:rPr lang="zh-CN" altLang="en-US">
                <a:solidFill>
                  <a:srgbClr val="3333FF"/>
                </a:solidFill>
              </a:rPr>
              <a:t>或</a:t>
            </a:r>
            <a:r>
              <a:rPr lang="zh-CN" altLang="en-US">
                <a:solidFill>
                  <a:srgbClr val="3333FF"/>
                </a:solidFill>
                <a:ea typeface="ˎ̥"/>
                <a:cs typeface="ˎ̥"/>
              </a:rPr>
              <a:t> </a:t>
            </a:r>
            <a:r>
              <a:rPr lang="zh-CN" altLang="en-US">
                <a:solidFill>
                  <a:srgbClr val="3333FF"/>
                </a:solidFill>
              </a:rPr>
              <a:t>管理（职工号，</a:t>
            </a:r>
            <a:r>
              <a:rPr lang="zh-CN" altLang="en-US" u="sng">
                <a:solidFill>
                  <a:srgbClr val="3333FF"/>
                </a:solidFill>
              </a:rPr>
              <a:t>班级号</a:t>
            </a:r>
            <a:r>
              <a:rPr lang="zh-CN" altLang="en-US">
                <a:solidFill>
                  <a:srgbClr val="3333FF"/>
                </a:solidFill>
              </a:rPr>
              <a:t>） </a:t>
            </a:r>
            <a:endParaRPr kumimoji="1" lang="zh-CN" altLang="en-US" sz="2400">
              <a:solidFill>
                <a:srgbClr val="3333FF"/>
              </a:solidFill>
              <a:latin typeface="Times New Roman" pitchFamily="18" charset="0"/>
              <a:ea typeface="ˎ̥"/>
              <a:cs typeface="ˎ̥"/>
            </a:endParaRPr>
          </a:p>
          <a:p>
            <a:r>
              <a:rPr lang="zh-CN" altLang="en-US">
                <a:solidFill>
                  <a:srgbClr val="3333FF"/>
                </a:solidFill>
              </a:rPr>
              <a:t>班级（</a:t>
            </a:r>
            <a:r>
              <a:rPr lang="zh-CN" altLang="en-US" u="sng">
                <a:solidFill>
                  <a:srgbClr val="3333FF"/>
                </a:solidFill>
              </a:rPr>
              <a:t>班级号</a:t>
            </a:r>
            <a:r>
              <a:rPr lang="zh-CN" altLang="en-US">
                <a:solidFill>
                  <a:srgbClr val="3333FF"/>
                </a:solidFill>
              </a:rPr>
              <a:t>，学生人数，职工号）</a:t>
            </a:r>
            <a:r>
              <a:rPr lang="zh-CN" altLang="en-US">
                <a:solidFill>
                  <a:srgbClr val="3333FF"/>
                </a:solidFill>
                <a:ea typeface="ˎ̥"/>
                <a:cs typeface="ˎ̥"/>
              </a:rPr>
              <a:t> </a:t>
            </a:r>
            <a:endParaRPr kumimoji="1" lang="zh-CN" altLang="en-US" sz="2400">
              <a:solidFill>
                <a:srgbClr val="3333FF"/>
              </a:solidFill>
              <a:latin typeface="Times New Roman" pitchFamily="18" charset="0"/>
              <a:ea typeface="ˎ̥"/>
              <a:cs typeface="ˎ̥"/>
            </a:endParaRPr>
          </a:p>
          <a:p>
            <a:r>
              <a:rPr lang="zh-CN" altLang="en-US">
                <a:solidFill>
                  <a:srgbClr val="3333FF"/>
                </a:solidFill>
              </a:rPr>
              <a:t>教师（</a:t>
            </a:r>
            <a:r>
              <a:rPr lang="zh-CN" altLang="en-US" u="sng">
                <a:solidFill>
                  <a:srgbClr val="3333FF"/>
                </a:solidFill>
              </a:rPr>
              <a:t>职工号</a:t>
            </a:r>
            <a:r>
              <a:rPr lang="zh-CN" altLang="en-US">
                <a:solidFill>
                  <a:srgbClr val="3333FF"/>
                </a:solidFill>
              </a:rPr>
              <a:t>，姓名，性别，职称，班级号，是否为优秀班主任）</a:t>
            </a:r>
            <a:r>
              <a:rPr lang="zh-CN" altLang="en-US">
                <a:ea typeface="ˎ̥"/>
                <a:cs typeface="ˎ̥"/>
              </a:rPr>
              <a:t> </a:t>
            </a:r>
            <a:endParaRPr kumimoji="1" lang="zh-CN" altLang="en-US" sz="2400">
              <a:latin typeface="Times New Roman" pitchFamily="18" charset="0"/>
            </a:endParaRP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8" name="Rectangle 2"/>
          <p:cNvSpPr>
            <a:spLocks noChangeArrowheads="1"/>
          </p:cNvSpPr>
          <p:nvPr/>
        </p:nvSpPr>
        <p:spPr bwMode="auto">
          <a:xfrm>
            <a:off x="1" y="857232"/>
            <a:ext cx="9144000" cy="5730893"/>
          </a:xfrm>
          <a:prstGeom prst="rect">
            <a:avLst/>
          </a:prstGeom>
          <a:noFill/>
          <a:ln w="9525">
            <a:noFill/>
            <a:miter lim="800000"/>
            <a:headEnd/>
            <a:tailEnd/>
          </a:ln>
        </p:spPr>
        <p:txBody>
          <a:bodyPr/>
          <a:lstStyle/>
          <a:p>
            <a:pPr marL="742950" lvl="1" indent="-285750">
              <a:spcBef>
                <a:spcPct val="20000"/>
              </a:spcBef>
            </a:pPr>
            <a:r>
              <a:rPr lang="en-US" altLang="zh-CN" sz="2800" dirty="0">
                <a:ea typeface="ˎ̥"/>
                <a:cs typeface="ˎ̥"/>
              </a:rPr>
              <a:t>5) </a:t>
            </a:r>
            <a:r>
              <a:rPr lang="zh-CN" altLang="en-US" sz="2800" dirty="0"/>
              <a:t>三个或三个以上实体间的一个多元联系转换为一个关系模式 </a:t>
            </a:r>
            <a:endParaRPr lang="zh-CN" altLang="en-US" sz="1500" dirty="0">
              <a:solidFill>
                <a:schemeClr val="accent2"/>
              </a:solidFill>
            </a:endParaRPr>
          </a:p>
          <a:p>
            <a:pPr marL="1143000" lvl="2" indent="-228600">
              <a:spcBef>
                <a:spcPct val="20000"/>
              </a:spcBef>
              <a:buClr>
                <a:schemeClr val="tx2"/>
              </a:buClr>
              <a:buFontTx/>
              <a:buChar char="•"/>
            </a:pPr>
            <a:r>
              <a:rPr lang="zh-CN" altLang="en-US" sz="2400" dirty="0"/>
              <a:t>与该多元联系相连的各实体的码以及联系本身的属性均转换为关系的属性</a:t>
            </a:r>
            <a:r>
              <a:rPr lang="zh-CN" altLang="en-US" sz="2400" dirty="0" smtClean="0"/>
              <a:t>。关系</a:t>
            </a:r>
            <a:r>
              <a:rPr lang="zh-CN" altLang="en-US" sz="2400" dirty="0"/>
              <a:t>的码为各实体码的组合。</a:t>
            </a:r>
          </a:p>
        </p:txBody>
      </p:sp>
      <p:sp>
        <p:nvSpPr>
          <p:cNvPr id="98309" name="AutoShape 3"/>
          <p:cNvSpPr>
            <a:spLocks noChangeArrowheads="1"/>
          </p:cNvSpPr>
          <p:nvPr/>
        </p:nvSpPr>
        <p:spPr bwMode="auto">
          <a:xfrm>
            <a:off x="4100483" y="4011606"/>
            <a:ext cx="1260475" cy="647700"/>
          </a:xfrm>
          <a:prstGeom prst="diamond">
            <a:avLst/>
          </a:prstGeom>
          <a:gradFill rotWithShape="0">
            <a:gsLst>
              <a:gs pos="0">
                <a:srgbClr val="5E9EFF"/>
              </a:gs>
              <a:gs pos="39999">
                <a:srgbClr val="85C2FF"/>
              </a:gs>
              <a:gs pos="70000">
                <a:srgbClr val="C4D6EB"/>
              </a:gs>
              <a:gs pos="100000">
                <a:srgbClr val="FFEBFA"/>
              </a:gs>
            </a:gsLst>
            <a:lin ang="5400000" scaled="1"/>
          </a:gradFill>
          <a:ln w="9525">
            <a:solidFill>
              <a:srgbClr val="00FFCC"/>
            </a:solidFill>
            <a:miter lim="800000"/>
            <a:headEnd/>
            <a:tailEnd/>
          </a:ln>
        </p:spPr>
        <p:txBody>
          <a:bodyPr wrap="none" anchor="ctr"/>
          <a:lstStyle/>
          <a:p>
            <a:pPr algn="ctr">
              <a:spcBef>
                <a:spcPct val="20000"/>
              </a:spcBef>
            </a:pPr>
            <a:r>
              <a:rPr kumimoji="1" lang="zh-CN" altLang="en-US" sz="1600">
                <a:solidFill>
                  <a:srgbClr val="FF0000"/>
                </a:solidFill>
                <a:latin typeface="Times New Roman" pitchFamily="18" charset="0"/>
              </a:rPr>
              <a:t>讲授</a:t>
            </a:r>
            <a:endParaRPr kumimoji="1" lang="zh-CN" altLang="en-US" sz="2400">
              <a:latin typeface="Times New Roman" pitchFamily="18" charset="0"/>
            </a:endParaRPr>
          </a:p>
        </p:txBody>
      </p:sp>
      <p:sp>
        <p:nvSpPr>
          <p:cNvPr id="98310" name="Text Box 4"/>
          <p:cNvSpPr txBox="1">
            <a:spLocks noChangeArrowheads="1"/>
          </p:cNvSpPr>
          <p:nvPr/>
        </p:nvSpPr>
        <p:spPr bwMode="auto">
          <a:xfrm>
            <a:off x="2300258" y="4083044"/>
            <a:ext cx="1079500" cy="396875"/>
          </a:xfrm>
          <a:prstGeom prst="rect">
            <a:avLst/>
          </a:prstGeom>
          <a:gradFill rotWithShape="0">
            <a:gsLst>
              <a:gs pos="0">
                <a:srgbClr val="03D4A8"/>
              </a:gs>
              <a:gs pos="25000">
                <a:srgbClr val="21D6E0"/>
              </a:gs>
              <a:gs pos="75000">
                <a:srgbClr val="0087E6"/>
              </a:gs>
              <a:gs pos="100000">
                <a:srgbClr val="005CBF"/>
              </a:gs>
            </a:gsLst>
            <a:lin ang="5400000" scaled="1"/>
          </a:gradFill>
          <a:ln w="9525">
            <a:noFill/>
            <a:miter lim="800000"/>
            <a:headEnd/>
            <a:tailEnd/>
          </a:ln>
        </p:spPr>
        <p:txBody>
          <a:bodyPr>
            <a:spAutoFit/>
          </a:bodyPr>
          <a:lstStyle/>
          <a:p>
            <a:pPr algn="ctr">
              <a:spcBef>
                <a:spcPct val="50000"/>
              </a:spcBef>
            </a:pPr>
            <a:r>
              <a:rPr kumimoji="1" lang="zh-CN" altLang="en-US" sz="2000">
                <a:solidFill>
                  <a:schemeClr val="hlink"/>
                </a:solidFill>
                <a:latin typeface="Times New Roman" pitchFamily="18" charset="0"/>
              </a:rPr>
              <a:t>教科书</a:t>
            </a:r>
            <a:endParaRPr kumimoji="1" lang="zh-CN" altLang="en-US" sz="2400">
              <a:latin typeface="Times New Roman" pitchFamily="18" charset="0"/>
            </a:endParaRPr>
          </a:p>
        </p:txBody>
      </p:sp>
      <p:sp>
        <p:nvSpPr>
          <p:cNvPr id="98311" name="Text Box 5"/>
          <p:cNvSpPr txBox="1">
            <a:spLocks noChangeArrowheads="1"/>
          </p:cNvSpPr>
          <p:nvPr/>
        </p:nvSpPr>
        <p:spPr bwMode="auto">
          <a:xfrm>
            <a:off x="6405533" y="4154481"/>
            <a:ext cx="936625" cy="396875"/>
          </a:xfrm>
          <a:prstGeom prst="rect">
            <a:avLst/>
          </a:prstGeom>
          <a:gradFill rotWithShape="0">
            <a:gsLst>
              <a:gs pos="0">
                <a:srgbClr val="03D4A8"/>
              </a:gs>
              <a:gs pos="25000">
                <a:srgbClr val="21D6E0"/>
              </a:gs>
              <a:gs pos="75000">
                <a:srgbClr val="0087E6"/>
              </a:gs>
              <a:gs pos="100000">
                <a:srgbClr val="005CBF"/>
              </a:gs>
            </a:gsLst>
            <a:lin ang="5400000" scaled="1"/>
          </a:gradFill>
          <a:ln w="9525">
            <a:noFill/>
            <a:miter lim="800000"/>
            <a:headEnd/>
            <a:tailEnd/>
          </a:ln>
        </p:spPr>
        <p:txBody>
          <a:bodyPr>
            <a:spAutoFit/>
          </a:bodyPr>
          <a:lstStyle/>
          <a:p>
            <a:pPr algn="ctr">
              <a:spcBef>
                <a:spcPct val="50000"/>
              </a:spcBef>
            </a:pPr>
            <a:r>
              <a:rPr kumimoji="1" lang="zh-CN" altLang="en-US" sz="2000">
                <a:solidFill>
                  <a:schemeClr val="hlink"/>
                </a:solidFill>
                <a:latin typeface="Times New Roman" pitchFamily="18" charset="0"/>
              </a:rPr>
              <a:t>教师</a:t>
            </a:r>
            <a:endParaRPr kumimoji="1" lang="zh-CN" altLang="en-US" sz="2400">
              <a:latin typeface="Times New Roman" pitchFamily="18" charset="0"/>
            </a:endParaRPr>
          </a:p>
        </p:txBody>
      </p:sp>
      <p:sp>
        <p:nvSpPr>
          <p:cNvPr id="98312" name="Oval 6"/>
          <p:cNvSpPr>
            <a:spLocks noChangeArrowheads="1"/>
          </p:cNvSpPr>
          <p:nvPr/>
        </p:nvSpPr>
        <p:spPr bwMode="auto">
          <a:xfrm>
            <a:off x="1365220" y="4946644"/>
            <a:ext cx="741363" cy="431800"/>
          </a:xfrm>
          <a:prstGeom prst="ellipse">
            <a:avLst/>
          </a:prstGeom>
          <a:solidFill>
            <a:srgbClr val="FC042D"/>
          </a:solidFill>
          <a:ln w="12700" cap="sq">
            <a:solidFill>
              <a:srgbClr val="FFFFFF"/>
            </a:solidFill>
            <a:round/>
            <a:headEnd/>
            <a:tailEnd/>
          </a:ln>
        </p:spPr>
        <p:txBody>
          <a:bodyPr wrap="none" anchor="ctr"/>
          <a:lstStyle/>
          <a:p>
            <a:pPr algn="ctr"/>
            <a:r>
              <a:rPr lang="zh-CN" altLang="en-US" sz="1600"/>
              <a:t>书号</a:t>
            </a:r>
            <a:endParaRPr kumimoji="1" lang="zh-CN" altLang="en-US" sz="2400">
              <a:latin typeface="Times New Roman" pitchFamily="18" charset="0"/>
            </a:endParaRPr>
          </a:p>
        </p:txBody>
      </p:sp>
      <p:sp>
        <p:nvSpPr>
          <p:cNvPr id="98313" name="Oval 7"/>
          <p:cNvSpPr>
            <a:spLocks noChangeArrowheads="1"/>
          </p:cNvSpPr>
          <p:nvPr/>
        </p:nvSpPr>
        <p:spPr bwMode="auto">
          <a:xfrm>
            <a:off x="2155795" y="4946644"/>
            <a:ext cx="741363"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a:t>书名</a:t>
            </a:r>
            <a:endParaRPr kumimoji="1" lang="zh-CN" altLang="en-US" sz="2400">
              <a:latin typeface="Times New Roman" pitchFamily="18" charset="0"/>
            </a:endParaRPr>
          </a:p>
        </p:txBody>
      </p:sp>
      <p:sp>
        <p:nvSpPr>
          <p:cNvPr id="98314" name="Oval 8"/>
          <p:cNvSpPr>
            <a:spLocks noChangeArrowheads="1"/>
          </p:cNvSpPr>
          <p:nvPr/>
        </p:nvSpPr>
        <p:spPr bwMode="auto">
          <a:xfrm>
            <a:off x="3092420" y="4946644"/>
            <a:ext cx="741363"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a:t>价钱</a:t>
            </a:r>
            <a:endParaRPr kumimoji="1" lang="zh-CN" altLang="en-US" sz="2400">
              <a:latin typeface="Times New Roman" pitchFamily="18" charset="0"/>
            </a:endParaRPr>
          </a:p>
        </p:txBody>
      </p:sp>
      <p:sp>
        <p:nvSpPr>
          <p:cNvPr id="98315" name="Oval 9"/>
          <p:cNvSpPr>
            <a:spLocks noChangeArrowheads="1"/>
          </p:cNvSpPr>
          <p:nvPr/>
        </p:nvSpPr>
        <p:spPr bwMode="auto">
          <a:xfrm>
            <a:off x="7772370" y="5018081"/>
            <a:ext cx="741363"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a:t>职称</a:t>
            </a:r>
            <a:endParaRPr kumimoji="1" lang="zh-CN" altLang="en-US" sz="2400">
              <a:latin typeface="Times New Roman" pitchFamily="18" charset="0"/>
            </a:endParaRPr>
          </a:p>
        </p:txBody>
      </p:sp>
      <p:sp>
        <p:nvSpPr>
          <p:cNvPr id="98316" name="Oval 10"/>
          <p:cNvSpPr>
            <a:spLocks noChangeArrowheads="1"/>
          </p:cNvSpPr>
          <p:nvPr/>
        </p:nvSpPr>
        <p:spPr bwMode="auto">
          <a:xfrm>
            <a:off x="6045170" y="5018081"/>
            <a:ext cx="741363"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a:t>姓名</a:t>
            </a:r>
            <a:endParaRPr kumimoji="1" lang="zh-CN" altLang="en-US" sz="2400">
              <a:latin typeface="Times New Roman" pitchFamily="18" charset="0"/>
            </a:endParaRPr>
          </a:p>
        </p:txBody>
      </p:sp>
      <p:sp>
        <p:nvSpPr>
          <p:cNvPr id="98317" name="Oval 11"/>
          <p:cNvSpPr>
            <a:spLocks noChangeArrowheads="1"/>
          </p:cNvSpPr>
          <p:nvPr/>
        </p:nvSpPr>
        <p:spPr bwMode="auto">
          <a:xfrm>
            <a:off x="5181570" y="5018081"/>
            <a:ext cx="741363" cy="431800"/>
          </a:xfrm>
          <a:prstGeom prst="ellipse">
            <a:avLst/>
          </a:prstGeom>
          <a:solidFill>
            <a:srgbClr val="FC042D"/>
          </a:solidFill>
          <a:ln w="12700" cap="sq">
            <a:solidFill>
              <a:srgbClr val="FFFFFF"/>
            </a:solidFill>
            <a:round/>
            <a:headEnd/>
            <a:tailEnd/>
          </a:ln>
        </p:spPr>
        <p:txBody>
          <a:bodyPr wrap="none" anchor="ctr"/>
          <a:lstStyle/>
          <a:p>
            <a:pPr algn="ctr"/>
            <a:r>
              <a:rPr lang="zh-CN" altLang="en-US" sz="1600"/>
              <a:t>职工号</a:t>
            </a:r>
            <a:endParaRPr kumimoji="1" lang="zh-CN" altLang="en-US" sz="2400">
              <a:latin typeface="Times New Roman" pitchFamily="18" charset="0"/>
            </a:endParaRPr>
          </a:p>
        </p:txBody>
      </p:sp>
      <p:sp>
        <p:nvSpPr>
          <p:cNvPr id="98318" name="Oval 12"/>
          <p:cNvSpPr>
            <a:spLocks noChangeArrowheads="1"/>
          </p:cNvSpPr>
          <p:nvPr/>
        </p:nvSpPr>
        <p:spPr bwMode="auto">
          <a:xfrm>
            <a:off x="6837333" y="5018081"/>
            <a:ext cx="863600"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a:t>性别</a:t>
            </a:r>
            <a:endParaRPr kumimoji="1" lang="zh-CN" altLang="en-US" sz="2400">
              <a:latin typeface="Times New Roman" pitchFamily="18" charset="0"/>
            </a:endParaRPr>
          </a:p>
        </p:txBody>
      </p:sp>
      <p:sp>
        <p:nvSpPr>
          <p:cNvPr id="98319" name="Line 13"/>
          <p:cNvSpPr>
            <a:spLocks noChangeShapeType="1"/>
          </p:cNvSpPr>
          <p:nvPr/>
        </p:nvSpPr>
        <p:spPr bwMode="auto">
          <a:xfrm flipH="1">
            <a:off x="1723995" y="4443406"/>
            <a:ext cx="1152525" cy="504825"/>
          </a:xfrm>
          <a:prstGeom prst="line">
            <a:avLst/>
          </a:prstGeom>
          <a:noFill/>
          <a:ln w="12700" cap="sq">
            <a:solidFill>
              <a:srgbClr val="336600"/>
            </a:solidFill>
            <a:round/>
            <a:headEnd/>
            <a:tailEnd/>
          </a:ln>
        </p:spPr>
        <p:txBody>
          <a:bodyPr wrap="none" anchor="ctr"/>
          <a:lstStyle/>
          <a:p>
            <a:endParaRPr lang="zh-CN" altLang="en-US"/>
          </a:p>
        </p:txBody>
      </p:sp>
      <p:sp>
        <p:nvSpPr>
          <p:cNvPr id="98320" name="Line 14"/>
          <p:cNvSpPr>
            <a:spLocks noChangeShapeType="1"/>
          </p:cNvSpPr>
          <p:nvPr/>
        </p:nvSpPr>
        <p:spPr bwMode="auto">
          <a:xfrm flipH="1">
            <a:off x="2516158" y="4514844"/>
            <a:ext cx="288925" cy="431800"/>
          </a:xfrm>
          <a:prstGeom prst="line">
            <a:avLst/>
          </a:prstGeom>
          <a:noFill/>
          <a:ln w="12700" cap="sq">
            <a:solidFill>
              <a:srgbClr val="336600"/>
            </a:solidFill>
            <a:round/>
            <a:headEnd/>
            <a:tailEnd/>
          </a:ln>
        </p:spPr>
        <p:txBody>
          <a:bodyPr wrap="none" anchor="ctr"/>
          <a:lstStyle/>
          <a:p>
            <a:endParaRPr lang="zh-CN" altLang="en-US"/>
          </a:p>
        </p:txBody>
      </p:sp>
      <p:sp>
        <p:nvSpPr>
          <p:cNvPr id="98321" name="Line 15"/>
          <p:cNvSpPr>
            <a:spLocks noChangeShapeType="1"/>
          </p:cNvSpPr>
          <p:nvPr/>
        </p:nvSpPr>
        <p:spPr bwMode="auto">
          <a:xfrm>
            <a:off x="2805083" y="4443406"/>
            <a:ext cx="647700" cy="504825"/>
          </a:xfrm>
          <a:prstGeom prst="line">
            <a:avLst/>
          </a:prstGeom>
          <a:noFill/>
          <a:ln w="12700" cap="sq">
            <a:solidFill>
              <a:srgbClr val="336600"/>
            </a:solidFill>
            <a:round/>
            <a:headEnd/>
            <a:tailEnd/>
          </a:ln>
        </p:spPr>
        <p:txBody>
          <a:bodyPr wrap="none" anchor="ctr"/>
          <a:lstStyle/>
          <a:p>
            <a:endParaRPr lang="zh-CN" altLang="en-US"/>
          </a:p>
        </p:txBody>
      </p:sp>
      <p:sp>
        <p:nvSpPr>
          <p:cNvPr id="98322" name="Line 16"/>
          <p:cNvSpPr>
            <a:spLocks noChangeShapeType="1"/>
          </p:cNvSpPr>
          <p:nvPr/>
        </p:nvSpPr>
        <p:spPr bwMode="auto">
          <a:xfrm flipH="1">
            <a:off x="5613370" y="4514844"/>
            <a:ext cx="1223963" cy="503237"/>
          </a:xfrm>
          <a:prstGeom prst="line">
            <a:avLst/>
          </a:prstGeom>
          <a:noFill/>
          <a:ln w="12700" cap="sq">
            <a:solidFill>
              <a:srgbClr val="336600"/>
            </a:solidFill>
            <a:round/>
            <a:headEnd/>
            <a:tailEnd/>
          </a:ln>
        </p:spPr>
        <p:txBody>
          <a:bodyPr wrap="none" anchor="ctr"/>
          <a:lstStyle/>
          <a:p>
            <a:endParaRPr lang="zh-CN" altLang="en-US"/>
          </a:p>
        </p:txBody>
      </p:sp>
      <p:sp>
        <p:nvSpPr>
          <p:cNvPr id="98323" name="Line 17"/>
          <p:cNvSpPr>
            <a:spLocks noChangeShapeType="1"/>
          </p:cNvSpPr>
          <p:nvPr/>
        </p:nvSpPr>
        <p:spPr bwMode="auto">
          <a:xfrm flipH="1">
            <a:off x="6476970" y="4514844"/>
            <a:ext cx="360363" cy="503237"/>
          </a:xfrm>
          <a:prstGeom prst="line">
            <a:avLst/>
          </a:prstGeom>
          <a:noFill/>
          <a:ln w="12700" cap="sq">
            <a:solidFill>
              <a:srgbClr val="336600"/>
            </a:solidFill>
            <a:round/>
            <a:headEnd/>
            <a:tailEnd/>
          </a:ln>
        </p:spPr>
        <p:txBody>
          <a:bodyPr wrap="none" anchor="ctr"/>
          <a:lstStyle/>
          <a:p>
            <a:endParaRPr lang="zh-CN" altLang="en-US"/>
          </a:p>
        </p:txBody>
      </p:sp>
      <p:sp>
        <p:nvSpPr>
          <p:cNvPr id="98324" name="Line 18"/>
          <p:cNvSpPr>
            <a:spLocks noChangeShapeType="1"/>
          </p:cNvSpPr>
          <p:nvPr/>
        </p:nvSpPr>
        <p:spPr bwMode="auto">
          <a:xfrm>
            <a:off x="6908770" y="4514844"/>
            <a:ext cx="358775" cy="503237"/>
          </a:xfrm>
          <a:prstGeom prst="line">
            <a:avLst/>
          </a:prstGeom>
          <a:noFill/>
          <a:ln w="12700" cap="sq">
            <a:solidFill>
              <a:srgbClr val="336600"/>
            </a:solidFill>
            <a:round/>
            <a:headEnd/>
            <a:tailEnd/>
          </a:ln>
        </p:spPr>
        <p:txBody>
          <a:bodyPr wrap="none" anchor="ctr"/>
          <a:lstStyle/>
          <a:p>
            <a:endParaRPr lang="zh-CN" altLang="en-US"/>
          </a:p>
        </p:txBody>
      </p:sp>
      <p:sp>
        <p:nvSpPr>
          <p:cNvPr id="98325" name="Line 19"/>
          <p:cNvSpPr>
            <a:spLocks noChangeShapeType="1"/>
          </p:cNvSpPr>
          <p:nvPr/>
        </p:nvSpPr>
        <p:spPr bwMode="auto">
          <a:xfrm>
            <a:off x="6837333" y="4514844"/>
            <a:ext cx="1295400" cy="504825"/>
          </a:xfrm>
          <a:prstGeom prst="line">
            <a:avLst/>
          </a:prstGeom>
          <a:noFill/>
          <a:ln w="12700" cap="sq">
            <a:solidFill>
              <a:srgbClr val="336600"/>
            </a:solidFill>
            <a:round/>
            <a:headEnd/>
            <a:tailEnd/>
          </a:ln>
        </p:spPr>
        <p:txBody>
          <a:bodyPr wrap="none" anchor="ctr"/>
          <a:lstStyle/>
          <a:p>
            <a:endParaRPr lang="zh-CN" altLang="en-US"/>
          </a:p>
        </p:txBody>
      </p:sp>
      <p:sp>
        <p:nvSpPr>
          <p:cNvPr id="98326" name="Line 20"/>
          <p:cNvSpPr>
            <a:spLocks noChangeShapeType="1"/>
          </p:cNvSpPr>
          <p:nvPr/>
        </p:nvSpPr>
        <p:spPr bwMode="auto">
          <a:xfrm flipV="1">
            <a:off x="5324445" y="4370381"/>
            <a:ext cx="1081088" cy="1588"/>
          </a:xfrm>
          <a:prstGeom prst="line">
            <a:avLst/>
          </a:prstGeom>
          <a:noFill/>
          <a:ln w="12700" cap="sq">
            <a:solidFill>
              <a:srgbClr val="336600"/>
            </a:solidFill>
            <a:round/>
            <a:headEnd/>
            <a:tailEnd/>
          </a:ln>
        </p:spPr>
        <p:txBody>
          <a:bodyPr wrap="none" anchor="ctr"/>
          <a:lstStyle/>
          <a:p>
            <a:endParaRPr lang="zh-CN" altLang="en-US"/>
          </a:p>
        </p:txBody>
      </p:sp>
      <p:sp>
        <p:nvSpPr>
          <p:cNvPr id="98327" name="Text Box 21"/>
          <p:cNvSpPr txBox="1">
            <a:spLocks noChangeArrowheads="1"/>
          </p:cNvSpPr>
          <p:nvPr/>
        </p:nvSpPr>
        <p:spPr bwMode="auto">
          <a:xfrm>
            <a:off x="4821208" y="3722681"/>
            <a:ext cx="311150" cy="366713"/>
          </a:xfrm>
          <a:prstGeom prst="rect">
            <a:avLst/>
          </a:prstGeom>
          <a:noFill/>
          <a:ln w="12700" cap="sq">
            <a:noFill/>
            <a:miter lim="800000"/>
            <a:headEnd/>
            <a:tailEnd/>
          </a:ln>
        </p:spPr>
        <p:txBody>
          <a:bodyPr wrap="none">
            <a:spAutoFit/>
          </a:bodyPr>
          <a:lstStyle/>
          <a:p>
            <a:pPr algn="ctr"/>
            <a:r>
              <a:rPr lang="en-US" altLang="zh-CN">
                <a:solidFill>
                  <a:schemeClr val="bg1"/>
                </a:solidFill>
                <a:ea typeface="ˎ̥"/>
                <a:cs typeface="ˎ̥"/>
              </a:rPr>
              <a:t>1</a:t>
            </a:r>
            <a:endParaRPr kumimoji="1" lang="en-US" altLang="zh-CN" sz="2400">
              <a:latin typeface="Times New Roman" pitchFamily="18" charset="0"/>
            </a:endParaRPr>
          </a:p>
        </p:txBody>
      </p:sp>
      <p:sp>
        <p:nvSpPr>
          <p:cNvPr id="98328" name="Line 22"/>
          <p:cNvSpPr>
            <a:spLocks noChangeShapeType="1"/>
          </p:cNvSpPr>
          <p:nvPr/>
        </p:nvSpPr>
        <p:spPr bwMode="auto">
          <a:xfrm>
            <a:off x="3381345" y="4298944"/>
            <a:ext cx="792163" cy="0"/>
          </a:xfrm>
          <a:prstGeom prst="line">
            <a:avLst/>
          </a:prstGeom>
          <a:noFill/>
          <a:ln w="12700" cap="sq">
            <a:solidFill>
              <a:srgbClr val="336600"/>
            </a:solidFill>
            <a:round/>
            <a:headEnd/>
            <a:tailEnd/>
          </a:ln>
        </p:spPr>
        <p:txBody>
          <a:bodyPr wrap="none" anchor="ctr"/>
          <a:lstStyle/>
          <a:p>
            <a:endParaRPr lang="zh-CN" altLang="en-US"/>
          </a:p>
        </p:txBody>
      </p:sp>
      <p:sp>
        <p:nvSpPr>
          <p:cNvPr id="98329" name="Text Box 23"/>
          <p:cNvSpPr txBox="1">
            <a:spLocks noChangeArrowheads="1"/>
          </p:cNvSpPr>
          <p:nvPr/>
        </p:nvSpPr>
        <p:spPr bwMode="auto">
          <a:xfrm>
            <a:off x="5684808" y="4011606"/>
            <a:ext cx="311150" cy="366713"/>
          </a:xfrm>
          <a:prstGeom prst="rect">
            <a:avLst/>
          </a:prstGeom>
          <a:noFill/>
          <a:ln w="12700" cap="sq">
            <a:noFill/>
            <a:miter lim="800000"/>
            <a:headEnd/>
            <a:tailEnd/>
          </a:ln>
        </p:spPr>
        <p:txBody>
          <a:bodyPr wrap="none">
            <a:spAutoFit/>
          </a:bodyPr>
          <a:lstStyle/>
          <a:p>
            <a:pPr algn="ctr"/>
            <a:r>
              <a:rPr lang="en-US" altLang="zh-CN">
                <a:solidFill>
                  <a:schemeClr val="bg1"/>
                </a:solidFill>
                <a:ea typeface="ˎ̥"/>
                <a:cs typeface="ˎ̥"/>
              </a:rPr>
              <a:t>n</a:t>
            </a:r>
            <a:endParaRPr kumimoji="1" lang="en-US" altLang="zh-CN" sz="2400">
              <a:latin typeface="Times New Roman" pitchFamily="18" charset="0"/>
            </a:endParaRPr>
          </a:p>
        </p:txBody>
      </p:sp>
      <p:sp>
        <p:nvSpPr>
          <p:cNvPr id="98330" name="Text Box 24"/>
          <p:cNvSpPr txBox="1">
            <a:spLocks noChangeArrowheads="1"/>
          </p:cNvSpPr>
          <p:nvPr/>
        </p:nvSpPr>
        <p:spPr bwMode="auto">
          <a:xfrm>
            <a:off x="4327495" y="3365494"/>
            <a:ext cx="784225" cy="395287"/>
          </a:xfrm>
          <a:prstGeom prst="rect">
            <a:avLst/>
          </a:prstGeom>
          <a:gradFill rotWithShape="0">
            <a:gsLst>
              <a:gs pos="0">
                <a:srgbClr val="03D4A8"/>
              </a:gs>
              <a:gs pos="25000">
                <a:srgbClr val="21D6E0"/>
              </a:gs>
              <a:gs pos="75000">
                <a:srgbClr val="0087E6"/>
              </a:gs>
              <a:gs pos="100000">
                <a:srgbClr val="005CBF"/>
              </a:gs>
            </a:gsLst>
            <a:lin ang="5400000" scaled="1"/>
          </a:gradFill>
          <a:ln w="9525">
            <a:noFill/>
            <a:miter lim="800000"/>
            <a:headEnd/>
            <a:tailEnd/>
          </a:ln>
        </p:spPr>
        <p:txBody>
          <a:bodyPr>
            <a:spAutoFit/>
          </a:bodyPr>
          <a:lstStyle/>
          <a:p>
            <a:endParaRPr kumimoji="1" lang="zh-CN" altLang="zh-CN" sz="2400">
              <a:latin typeface="Times New Roman" pitchFamily="18" charset="0"/>
            </a:endParaRPr>
          </a:p>
        </p:txBody>
      </p:sp>
      <p:sp>
        <p:nvSpPr>
          <p:cNvPr id="98331" name="Rectangle 25"/>
          <p:cNvSpPr>
            <a:spLocks noChangeArrowheads="1"/>
          </p:cNvSpPr>
          <p:nvPr/>
        </p:nvSpPr>
        <p:spPr bwMode="auto">
          <a:xfrm>
            <a:off x="4405283" y="3365494"/>
            <a:ext cx="692150" cy="396875"/>
          </a:xfrm>
          <a:prstGeom prst="rect">
            <a:avLst/>
          </a:prstGeom>
          <a:noFill/>
          <a:ln w="9525">
            <a:noFill/>
            <a:miter lim="800000"/>
            <a:headEnd/>
            <a:tailEnd/>
          </a:ln>
        </p:spPr>
        <p:txBody>
          <a:bodyPr wrap="none">
            <a:spAutoFit/>
          </a:bodyPr>
          <a:lstStyle/>
          <a:p>
            <a:r>
              <a:rPr kumimoji="1" lang="zh-CN" altLang="en-US" sz="2000">
                <a:solidFill>
                  <a:schemeClr val="hlink"/>
                </a:solidFill>
                <a:latin typeface="Times New Roman" pitchFamily="18" charset="0"/>
              </a:rPr>
              <a:t>班级</a:t>
            </a:r>
            <a:endParaRPr kumimoji="1" lang="zh-CN" altLang="en-US" sz="2400">
              <a:latin typeface="Times New Roman" pitchFamily="18" charset="0"/>
            </a:endParaRPr>
          </a:p>
        </p:txBody>
      </p:sp>
      <p:sp>
        <p:nvSpPr>
          <p:cNvPr id="98332" name="Text Box 26"/>
          <p:cNvSpPr txBox="1">
            <a:spLocks noChangeArrowheads="1"/>
          </p:cNvSpPr>
          <p:nvPr/>
        </p:nvSpPr>
        <p:spPr bwMode="auto">
          <a:xfrm>
            <a:off x="4327495" y="3365494"/>
            <a:ext cx="784225" cy="395287"/>
          </a:xfrm>
          <a:prstGeom prst="rect">
            <a:avLst/>
          </a:prstGeom>
          <a:gradFill rotWithShape="0">
            <a:gsLst>
              <a:gs pos="0">
                <a:srgbClr val="03D4A8"/>
              </a:gs>
              <a:gs pos="25000">
                <a:srgbClr val="21D6E0"/>
              </a:gs>
              <a:gs pos="75000">
                <a:srgbClr val="0087E6"/>
              </a:gs>
              <a:gs pos="100000">
                <a:srgbClr val="005CBF"/>
              </a:gs>
            </a:gsLst>
            <a:lin ang="5400000" scaled="1"/>
          </a:gradFill>
          <a:ln w="9525">
            <a:noFill/>
            <a:miter lim="800000"/>
            <a:headEnd/>
            <a:tailEnd/>
          </a:ln>
        </p:spPr>
        <p:txBody>
          <a:bodyPr>
            <a:spAutoFit/>
          </a:bodyPr>
          <a:lstStyle/>
          <a:p>
            <a:pPr algn="ctr">
              <a:spcBef>
                <a:spcPct val="50000"/>
              </a:spcBef>
            </a:pPr>
            <a:r>
              <a:rPr kumimoji="1" lang="zh-CN" altLang="en-US" sz="2000">
                <a:solidFill>
                  <a:schemeClr val="hlink"/>
                </a:solidFill>
                <a:latin typeface="Times New Roman" pitchFamily="18" charset="0"/>
              </a:rPr>
              <a:t>课程</a:t>
            </a:r>
            <a:endParaRPr kumimoji="1" lang="zh-CN" altLang="en-US" sz="2400">
              <a:latin typeface="Times New Roman" pitchFamily="18" charset="0"/>
            </a:endParaRPr>
          </a:p>
        </p:txBody>
      </p:sp>
      <p:sp>
        <p:nvSpPr>
          <p:cNvPr id="98333" name="Line 27"/>
          <p:cNvSpPr>
            <a:spLocks noChangeShapeType="1"/>
          </p:cNvSpPr>
          <p:nvPr/>
        </p:nvSpPr>
        <p:spPr bwMode="auto">
          <a:xfrm flipH="1">
            <a:off x="4749770" y="3722681"/>
            <a:ext cx="0" cy="288925"/>
          </a:xfrm>
          <a:prstGeom prst="line">
            <a:avLst/>
          </a:prstGeom>
          <a:noFill/>
          <a:ln w="12700" cap="sq">
            <a:solidFill>
              <a:srgbClr val="336600"/>
            </a:solidFill>
            <a:round/>
            <a:headEnd/>
            <a:tailEnd/>
          </a:ln>
        </p:spPr>
        <p:txBody>
          <a:bodyPr wrap="none" anchor="ctr"/>
          <a:lstStyle/>
          <a:p>
            <a:endParaRPr lang="zh-CN" altLang="en-US"/>
          </a:p>
        </p:txBody>
      </p:sp>
      <p:sp>
        <p:nvSpPr>
          <p:cNvPr id="98334" name="Text Box 28"/>
          <p:cNvSpPr txBox="1">
            <a:spLocks noChangeArrowheads="1"/>
          </p:cNvSpPr>
          <p:nvPr/>
        </p:nvSpPr>
        <p:spPr bwMode="auto">
          <a:xfrm>
            <a:off x="3597245" y="4011606"/>
            <a:ext cx="395288" cy="366713"/>
          </a:xfrm>
          <a:prstGeom prst="rect">
            <a:avLst/>
          </a:prstGeom>
          <a:noFill/>
          <a:ln w="12700" cap="sq">
            <a:noFill/>
            <a:miter lim="800000"/>
            <a:headEnd/>
            <a:tailEnd/>
          </a:ln>
        </p:spPr>
        <p:txBody>
          <a:bodyPr>
            <a:spAutoFit/>
          </a:bodyPr>
          <a:lstStyle/>
          <a:p>
            <a:pPr algn="ctr"/>
            <a:r>
              <a:rPr lang="en-US" altLang="zh-CN">
                <a:solidFill>
                  <a:schemeClr val="bg1"/>
                </a:solidFill>
                <a:ea typeface="ˎ̥"/>
                <a:cs typeface="ˎ̥"/>
              </a:rPr>
              <a:t>1</a:t>
            </a:r>
            <a:endParaRPr kumimoji="1" lang="en-US" altLang="zh-CN" sz="2400">
              <a:latin typeface="Times New Roman" pitchFamily="18" charset="0"/>
            </a:endParaRPr>
          </a:p>
        </p:txBody>
      </p:sp>
      <p:sp>
        <p:nvSpPr>
          <p:cNvPr id="98335" name="Oval 29"/>
          <p:cNvSpPr>
            <a:spLocks noChangeArrowheads="1"/>
          </p:cNvSpPr>
          <p:nvPr/>
        </p:nvSpPr>
        <p:spPr bwMode="auto">
          <a:xfrm>
            <a:off x="3452783" y="2571744"/>
            <a:ext cx="741362" cy="431800"/>
          </a:xfrm>
          <a:prstGeom prst="ellipse">
            <a:avLst/>
          </a:prstGeom>
          <a:solidFill>
            <a:srgbClr val="FC042D"/>
          </a:solidFill>
          <a:ln w="12700" cap="sq">
            <a:solidFill>
              <a:srgbClr val="FFFFFF"/>
            </a:solidFill>
            <a:round/>
            <a:headEnd/>
            <a:tailEnd/>
          </a:ln>
        </p:spPr>
        <p:txBody>
          <a:bodyPr wrap="none" anchor="ctr"/>
          <a:lstStyle/>
          <a:p>
            <a:pPr algn="ctr"/>
            <a:r>
              <a:rPr lang="zh-CN" altLang="en-US" sz="1600"/>
              <a:t>课程号</a:t>
            </a:r>
            <a:endParaRPr kumimoji="1" lang="zh-CN" altLang="en-US" sz="2400">
              <a:latin typeface="Times New Roman" pitchFamily="18" charset="0"/>
            </a:endParaRPr>
          </a:p>
        </p:txBody>
      </p:sp>
      <p:sp>
        <p:nvSpPr>
          <p:cNvPr id="98336" name="Oval 30"/>
          <p:cNvSpPr>
            <a:spLocks noChangeArrowheads="1"/>
          </p:cNvSpPr>
          <p:nvPr/>
        </p:nvSpPr>
        <p:spPr bwMode="auto">
          <a:xfrm>
            <a:off x="4173508" y="2571744"/>
            <a:ext cx="741362"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a:t>课程名</a:t>
            </a:r>
            <a:endParaRPr kumimoji="1" lang="zh-CN" altLang="en-US" sz="2400">
              <a:latin typeface="Times New Roman" pitchFamily="18" charset="0"/>
            </a:endParaRPr>
          </a:p>
        </p:txBody>
      </p:sp>
      <p:sp>
        <p:nvSpPr>
          <p:cNvPr id="98337" name="Oval 31"/>
          <p:cNvSpPr>
            <a:spLocks noChangeArrowheads="1"/>
          </p:cNvSpPr>
          <p:nvPr/>
        </p:nvSpPr>
        <p:spPr bwMode="auto">
          <a:xfrm>
            <a:off x="4965670" y="2571744"/>
            <a:ext cx="741363" cy="431800"/>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600"/>
              <a:t>学分</a:t>
            </a:r>
            <a:endParaRPr kumimoji="1" lang="zh-CN" altLang="en-US" sz="2400">
              <a:latin typeface="Times New Roman" pitchFamily="18" charset="0"/>
            </a:endParaRPr>
          </a:p>
        </p:txBody>
      </p:sp>
      <p:sp>
        <p:nvSpPr>
          <p:cNvPr id="98338" name="Line 32"/>
          <p:cNvSpPr>
            <a:spLocks noChangeShapeType="1"/>
          </p:cNvSpPr>
          <p:nvPr/>
        </p:nvSpPr>
        <p:spPr bwMode="auto">
          <a:xfrm>
            <a:off x="3813145" y="3003544"/>
            <a:ext cx="863600" cy="360362"/>
          </a:xfrm>
          <a:prstGeom prst="line">
            <a:avLst/>
          </a:prstGeom>
          <a:noFill/>
          <a:ln w="12700" cap="sq">
            <a:solidFill>
              <a:srgbClr val="336600"/>
            </a:solidFill>
            <a:round/>
            <a:headEnd/>
            <a:tailEnd/>
          </a:ln>
        </p:spPr>
        <p:txBody>
          <a:bodyPr wrap="none" anchor="ctr"/>
          <a:lstStyle/>
          <a:p>
            <a:endParaRPr lang="zh-CN" altLang="en-US"/>
          </a:p>
        </p:txBody>
      </p:sp>
      <p:sp>
        <p:nvSpPr>
          <p:cNvPr id="98339" name="Line 33"/>
          <p:cNvSpPr>
            <a:spLocks noChangeShapeType="1"/>
          </p:cNvSpPr>
          <p:nvPr/>
        </p:nvSpPr>
        <p:spPr bwMode="auto">
          <a:xfrm>
            <a:off x="4605308" y="3003544"/>
            <a:ext cx="71437" cy="360362"/>
          </a:xfrm>
          <a:prstGeom prst="line">
            <a:avLst/>
          </a:prstGeom>
          <a:noFill/>
          <a:ln w="12700" cap="sq">
            <a:solidFill>
              <a:srgbClr val="336600"/>
            </a:solidFill>
            <a:round/>
            <a:headEnd/>
            <a:tailEnd/>
          </a:ln>
        </p:spPr>
        <p:txBody>
          <a:bodyPr wrap="none" anchor="ctr"/>
          <a:lstStyle/>
          <a:p>
            <a:endParaRPr lang="zh-CN" altLang="en-US"/>
          </a:p>
        </p:txBody>
      </p:sp>
      <p:sp>
        <p:nvSpPr>
          <p:cNvPr id="98340" name="Line 34"/>
          <p:cNvSpPr>
            <a:spLocks noChangeShapeType="1"/>
          </p:cNvSpPr>
          <p:nvPr/>
        </p:nvSpPr>
        <p:spPr bwMode="auto">
          <a:xfrm flipH="1">
            <a:off x="4676745" y="3003544"/>
            <a:ext cx="649288" cy="360362"/>
          </a:xfrm>
          <a:prstGeom prst="line">
            <a:avLst/>
          </a:prstGeom>
          <a:noFill/>
          <a:ln w="12700" cap="sq">
            <a:solidFill>
              <a:srgbClr val="336600"/>
            </a:solidFill>
            <a:round/>
            <a:headEnd/>
            <a:tailEnd/>
          </a:ln>
        </p:spPr>
        <p:txBody>
          <a:bodyPr wrap="none" anchor="ctr"/>
          <a:lstStyle/>
          <a:p>
            <a:endParaRPr lang="zh-CN" altLang="en-US"/>
          </a:p>
        </p:txBody>
      </p:sp>
      <p:sp>
        <p:nvSpPr>
          <p:cNvPr id="98341" name="Oval 35"/>
          <p:cNvSpPr>
            <a:spLocks noChangeArrowheads="1"/>
          </p:cNvSpPr>
          <p:nvPr/>
        </p:nvSpPr>
        <p:spPr bwMode="auto">
          <a:xfrm>
            <a:off x="7737445" y="4298944"/>
            <a:ext cx="1079500" cy="503237"/>
          </a:xfrm>
          <a:prstGeom prst="ellipse">
            <a:avLst/>
          </a:prstGeom>
          <a:gradFill rotWithShape="1">
            <a:gsLst>
              <a:gs pos="0">
                <a:srgbClr val="FFCC00"/>
              </a:gs>
              <a:gs pos="100000">
                <a:srgbClr val="808000"/>
              </a:gs>
            </a:gsLst>
            <a:lin ang="5400000" scaled="1"/>
          </a:gradFill>
          <a:ln w="12700" cap="sq">
            <a:solidFill>
              <a:srgbClr val="FFFFFF"/>
            </a:solidFill>
            <a:round/>
            <a:headEnd/>
            <a:tailEnd/>
          </a:ln>
        </p:spPr>
        <p:txBody>
          <a:bodyPr wrap="none" anchor="ctr"/>
          <a:lstStyle/>
          <a:p>
            <a:pPr algn="ctr"/>
            <a:r>
              <a:rPr lang="zh-CN" altLang="en-US" sz="1000"/>
              <a:t>是否优秀班主任</a:t>
            </a:r>
            <a:endParaRPr kumimoji="1" lang="zh-CN" altLang="en-US" sz="2400">
              <a:latin typeface="Times New Roman" pitchFamily="18" charset="0"/>
            </a:endParaRPr>
          </a:p>
        </p:txBody>
      </p:sp>
      <p:sp>
        <p:nvSpPr>
          <p:cNvPr id="98342" name="Line 36"/>
          <p:cNvSpPr>
            <a:spLocks noChangeShapeType="1"/>
          </p:cNvSpPr>
          <p:nvPr/>
        </p:nvSpPr>
        <p:spPr bwMode="auto">
          <a:xfrm>
            <a:off x="6908770" y="4514844"/>
            <a:ext cx="865188" cy="73025"/>
          </a:xfrm>
          <a:prstGeom prst="line">
            <a:avLst/>
          </a:prstGeom>
          <a:noFill/>
          <a:ln w="12700" cap="sq">
            <a:solidFill>
              <a:srgbClr val="336600"/>
            </a:solidFill>
            <a:round/>
            <a:headEnd/>
            <a:tailEnd/>
          </a:ln>
        </p:spPr>
        <p:txBody>
          <a:bodyPr wrap="none" anchor="ctr"/>
          <a:lstStyle/>
          <a:p>
            <a:endParaRPr lang="zh-CN" altLang="en-US"/>
          </a:p>
        </p:txBody>
      </p:sp>
      <p:sp>
        <p:nvSpPr>
          <p:cNvPr id="98343" name="AutoShape 37"/>
          <p:cNvSpPr>
            <a:spLocks noChangeArrowheads="1"/>
          </p:cNvSpPr>
          <p:nvPr/>
        </p:nvSpPr>
        <p:spPr bwMode="auto">
          <a:xfrm>
            <a:off x="357158" y="5667369"/>
            <a:ext cx="1079500" cy="360362"/>
          </a:xfrm>
          <a:prstGeom prst="rightArrow">
            <a:avLst>
              <a:gd name="adj1" fmla="val 50000"/>
              <a:gd name="adj2" fmla="val 74890"/>
            </a:avLst>
          </a:prstGeom>
          <a:solidFill>
            <a:srgbClr val="F61902"/>
          </a:solidFill>
          <a:ln w="12700" cap="sq">
            <a:solidFill>
              <a:srgbClr val="FFFFFF"/>
            </a:solidFill>
            <a:miter lim="800000"/>
            <a:headEnd/>
            <a:tailEnd/>
          </a:ln>
        </p:spPr>
        <p:txBody>
          <a:bodyPr wrap="none" anchor="ctr"/>
          <a:lstStyle/>
          <a:p>
            <a:endParaRPr lang="zh-CN" altLang="en-US"/>
          </a:p>
        </p:txBody>
      </p:sp>
      <p:sp>
        <p:nvSpPr>
          <p:cNvPr id="98344" name="Text Box 38"/>
          <p:cNvSpPr txBox="1">
            <a:spLocks noChangeArrowheads="1"/>
          </p:cNvSpPr>
          <p:nvPr/>
        </p:nvSpPr>
        <p:spPr bwMode="auto">
          <a:xfrm>
            <a:off x="2084358" y="5640381"/>
            <a:ext cx="3889375" cy="396875"/>
          </a:xfrm>
          <a:prstGeom prst="rect">
            <a:avLst/>
          </a:prstGeom>
          <a:noFill/>
          <a:ln w="12700" cap="sq">
            <a:noFill/>
            <a:miter lim="800000"/>
            <a:headEnd/>
            <a:tailEnd/>
          </a:ln>
        </p:spPr>
        <p:txBody>
          <a:bodyPr>
            <a:spAutoFit/>
          </a:bodyPr>
          <a:lstStyle/>
          <a:p>
            <a:r>
              <a:rPr lang="zh-CN" altLang="en-US" sz="2000">
                <a:solidFill>
                  <a:srgbClr val="3333FF"/>
                </a:solidFill>
              </a:rPr>
              <a:t>讲授（</a:t>
            </a:r>
            <a:r>
              <a:rPr lang="zh-CN" altLang="en-US" sz="2000" u="sng">
                <a:solidFill>
                  <a:srgbClr val="3333FF"/>
                </a:solidFill>
              </a:rPr>
              <a:t>课程号，职工号，书号</a:t>
            </a:r>
            <a:r>
              <a:rPr lang="zh-CN" altLang="en-US" sz="2000">
                <a:solidFill>
                  <a:srgbClr val="3333FF"/>
                </a:solidFill>
              </a:rPr>
              <a:t>）</a:t>
            </a:r>
            <a:r>
              <a:rPr lang="zh-CN" altLang="en-US">
                <a:ea typeface="ˎ̥"/>
                <a:cs typeface="ˎ̥"/>
              </a:rPr>
              <a:t> </a:t>
            </a:r>
            <a:endParaRPr kumimoji="1" lang="zh-CN" altLang="en-US" sz="2400">
              <a:latin typeface="Times New Roman" pitchFamily="18" charset="0"/>
            </a:endParaRP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日期占位符 3"/>
          <p:cNvSpPr>
            <a:spLocks noGrp="1"/>
          </p:cNvSpPr>
          <p:nvPr>
            <p:ph type="dt" sz="quarter" idx="4294967295"/>
          </p:nvPr>
        </p:nvSpPr>
        <p:spPr>
          <a:xfrm>
            <a:off x="301625" y="6245225"/>
            <a:ext cx="2289175" cy="476250"/>
          </a:xfrm>
          <a:prstGeom prst="rect">
            <a:avLst/>
          </a:prstGeom>
          <a:noFill/>
        </p:spPr>
        <p:txBody>
          <a:bodyPr/>
          <a:lstStyle/>
          <a:p>
            <a:fld id="{028AF37B-E6B1-485D-A874-5395C647869D}" type="datetime1">
              <a:rPr lang="zh-CN" altLang="en-US"/>
              <a:pPr/>
              <a:t>2023/5/4</a:t>
            </a:fld>
            <a:endParaRPr lang="en-US" altLang="zh-CN"/>
          </a:p>
        </p:txBody>
      </p:sp>
      <p:sp>
        <p:nvSpPr>
          <p:cNvPr id="99331" name="灯片编号占位符 5"/>
          <p:cNvSpPr>
            <a:spLocks noGrp="1"/>
          </p:cNvSpPr>
          <p:nvPr>
            <p:ph type="sldNum" sz="quarter" idx="4294967295"/>
          </p:nvPr>
        </p:nvSpPr>
        <p:spPr>
          <a:xfrm>
            <a:off x="6553200" y="6245225"/>
            <a:ext cx="2289175" cy="476250"/>
          </a:xfrm>
          <a:prstGeom prst="rect">
            <a:avLst/>
          </a:prstGeom>
          <a:noFill/>
        </p:spPr>
        <p:txBody>
          <a:bodyPr/>
          <a:lstStyle/>
          <a:p>
            <a:fld id="{184AFAAB-9404-4E54-8732-F5CB69971E37}" type="slidenum">
              <a:rPr lang="en-US" altLang="zh-CN"/>
              <a:pPr/>
              <a:t>9</a:t>
            </a:fld>
            <a:endParaRPr lang="en-US" altLang="zh-CN"/>
          </a:p>
        </p:txBody>
      </p:sp>
      <p:sp>
        <p:nvSpPr>
          <p:cNvPr id="99332" name="Rectangle 2"/>
          <p:cNvSpPr>
            <a:spLocks noChangeArrowheads="1"/>
          </p:cNvSpPr>
          <p:nvPr/>
        </p:nvSpPr>
        <p:spPr bwMode="auto">
          <a:xfrm>
            <a:off x="250825" y="5075238"/>
            <a:ext cx="8569325" cy="1585912"/>
          </a:xfrm>
          <a:prstGeom prst="rect">
            <a:avLst/>
          </a:prstGeom>
          <a:solidFill>
            <a:srgbClr val="D8EDB1"/>
          </a:solidFill>
          <a:ln w="12700" cap="sq">
            <a:solidFill>
              <a:srgbClr val="FFFFFF"/>
            </a:solidFill>
            <a:miter lim="800000"/>
            <a:headEnd/>
            <a:tailEnd/>
          </a:ln>
        </p:spPr>
        <p:txBody>
          <a:bodyPr wrap="none" anchor="ctr"/>
          <a:lstStyle/>
          <a:p>
            <a:endParaRPr lang="zh-CN" altLang="en-US"/>
          </a:p>
        </p:txBody>
      </p:sp>
      <p:sp>
        <p:nvSpPr>
          <p:cNvPr id="99333" name="Rectangle 3"/>
          <p:cNvSpPr>
            <a:spLocks noChangeArrowheads="1"/>
          </p:cNvSpPr>
          <p:nvPr/>
        </p:nvSpPr>
        <p:spPr bwMode="auto">
          <a:xfrm>
            <a:off x="544513" y="1763713"/>
            <a:ext cx="8064500" cy="1150937"/>
          </a:xfrm>
          <a:prstGeom prst="rect">
            <a:avLst/>
          </a:prstGeom>
          <a:solidFill>
            <a:srgbClr val="D8EDB1"/>
          </a:solidFill>
          <a:ln w="12700" cap="sq">
            <a:solidFill>
              <a:srgbClr val="FFFFFF"/>
            </a:solidFill>
            <a:miter lim="800000"/>
            <a:headEnd/>
            <a:tailEnd/>
          </a:ln>
        </p:spPr>
        <p:txBody>
          <a:bodyPr wrap="none" anchor="ctr"/>
          <a:lstStyle/>
          <a:p>
            <a:endParaRPr lang="zh-CN" altLang="en-US"/>
          </a:p>
        </p:txBody>
      </p:sp>
      <p:sp>
        <p:nvSpPr>
          <p:cNvPr id="99334" name="Rectangle 4"/>
          <p:cNvSpPr>
            <a:spLocks noChangeArrowheads="1"/>
          </p:cNvSpPr>
          <p:nvPr/>
        </p:nvSpPr>
        <p:spPr bwMode="auto">
          <a:xfrm>
            <a:off x="152400" y="857231"/>
            <a:ext cx="8763000" cy="5307031"/>
          </a:xfrm>
          <a:prstGeom prst="rect">
            <a:avLst/>
          </a:prstGeom>
          <a:noFill/>
          <a:ln w="57150" cmpd="thickThin">
            <a:noFill/>
            <a:miter lim="800000"/>
            <a:headEnd/>
            <a:tailEnd/>
          </a:ln>
        </p:spPr>
        <p:txBody>
          <a:bodyPr/>
          <a:lstStyle/>
          <a:p>
            <a:pPr marL="742950" lvl="1" indent="-285750">
              <a:spcBef>
                <a:spcPct val="20000"/>
              </a:spcBef>
            </a:pPr>
            <a:r>
              <a:rPr lang="en-US" altLang="zh-CN" sz="2800" dirty="0">
                <a:ea typeface="ˎ̥"/>
                <a:cs typeface="ˎ̥"/>
              </a:rPr>
              <a:t>6) </a:t>
            </a:r>
            <a:r>
              <a:rPr lang="zh-CN" altLang="en-US" sz="2800" dirty="0"/>
              <a:t>同一实体集的实体间的联系，自联系。 </a:t>
            </a:r>
            <a:endParaRPr lang="zh-CN" altLang="en-US" sz="1500" dirty="0">
              <a:solidFill>
                <a:schemeClr val="accent2"/>
              </a:solidFill>
            </a:endParaRPr>
          </a:p>
          <a:p>
            <a:pPr marL="742950" lvl="1" indent="-285750">
              <a:spcBef>
                <a:spcPct val="20000"/>
              </a:spcBef>
            </a:pPr>
            <a:r>
              <a:rPr lang="zh-CN" altLang="en-US" sz="2800" dirty="0"/>
              <a:t> </a:t>
            </a:r>
            <a:endParaRPr lang="zh-CN" altLang="en-US" sz="1500" dirty="0">
              <a:solidFill>
                <a:schemeClr val="accent2"/>
              </a:solidFill>
            </a:endParaRPr>
          </a:p>
          <a:p>
            <a:pPr marL="742950" lvl="1" indent="-285750">
              <a:spcBef>
                <a:spcPct val="20000"/>
              </a:spcBef>
            </a:pPr>
            <a:r>
              <a:rPr lang="zh-CN" altLang="en-US" sz="2800" dirty="0"/>
              <a:t> </a:t>
            </a:r>
            <a:endParaRPr lang="zh-CN" altLang="en-US" sz="1500" dirty="0">
              <a:solidFill>
                <a:schemeClr val="accent2"/>
              </a:solidFill>
            </a:endParaRPr>
          </a:p>
          <a:p>
            <a:pPr marL="742950" lvl="1" indent="-285750">
              <a:spcBef>
                <a:spcPct val="20000"/>
              </a:spcBef>
            </a:pPr>
            <a:r>
              <a:rPr lang="zh-CN" altLang="en-US" sz="2800" dirty="0"/>
              <a:t> </a:t>
            </a:r>
            <a:endParaRPr lang="zh-CN" altLang="en-US" sz="1500" dirty="0">
              <a:solidFill>
                <a:schemeClr val="accent2"/>
              </a:solidFill>
            </a:endParaRPr>
          </a:p>
          <a:p>
            <a:pPr marL="742950" lvl="1" indent="-285750">
              <a:spcBef>
                <a:spcPct val="20000"/>
              </a:spcBef>
            </a:pPr>
            <a:endParaRPr lang="zh-CN" altLang="en-US" sz="2800" dirty="0">
              <a:ea typeface="ˎ̥"/>
              <a:cs typeface="ˎ̥"/>
            </a:endParaRPr>
          </a:p>
          <a:p>
            <a:pPr marL="742950" lvl="1" indent="-285750">
              <a:spcBef>
                <a:spcPct val="20000"/>
              </a:spcBef>
            </a:pPr>
            <a:r>
              <a:rPr lang="en-US" altLang="zh-CN" sz="2800" dirty="0">
                <a:ea typeface="ˎ̥"/>
                <a:cs typeface="ˎ̥"/>
              </a:rPr>
              <a:t>7)</a:t>
            </a:r>
            <a:r>
              <a:rPr lang="zh-CN" altLang="en-US" sz="2800" dirty="0"/>
              <a:t>具有相同码的关系模式可合并。</a:t>
            </a:r>
            <a:r>
              <a:rPr lang="zh-CN" altLang="en-US" sz="2800" dirty="0">
                <a:ea typeface="ˎ̥"/>
                <a:cs typeface="ˎ̥"/>
              </a:rPr>
              <a:t> </a:t>
            </a:r>
            <a:endParaRPr lang="zh-CN" altLang="en-US" sz="1500" dirty="0">
              <a:solidFill>
                <a:schemeClr val="accent2"/>
              </a:solidFill>
            </a:endParaRPr>
          </a:p>
          <a:p>
            <a:pPr marL="1143000" lvl="2" indent="-228600">
              <a:spcBef>
                <a:spcPct val="20000"/>
              </a:spcBef>
              <a:buClr>
                <a:schemeClr val="tx2"/>
              </a:buClr>
              <a:buFontTx/>
              <a:buChar char="•"/>
            </a:pPr>
            <a:r>
              <a:rPr lang="zh-CN" altLang="en-US" sz="2400" dirty="0"/>
              <a:t>合并方法是将其中一个关系模式的全部属性加入到另一个关系模式中，然后去掉其中的同义属性（可能同名也可能不同名），并适当调整属性的次序。</a:t>
            </a:r>
            <a:r>
              <a:rPr lang="zh-CN" altLang="en-US" dirty="0">
                <a:solidFill>
                  <a:srgbClr val="FFCC00"/>
                </a:solidFill>
              </a:rPr>
              <a:t> </a:t>
            </a:r>
            <a:endParaRPr lang="zh-CN" altLang="en-US" sz="2400" dirty="0"/>
          </a:p>
        </p:txBody>
      </p:sp>
      <p:grpSp>
        <p:nvGrpSpPr>
          <p:cNvPr id="2" name="Group 5"/>
          <p:cNvGrpSpPr>
            <a:grpSpLocks/>
          </p:cNvGrpSpPr>
          <p:nvPr/>
        </p:nvGrpSpPr>
        <p:grpSpPr bwMode="auto">
          <a:xfrm>
            <a:off x="976313" y="2211388"/>
            <a:ext cx="868362" cy="685800"/>
            <a:chOff x="4080" y="2832"/>
            <a:chExt cx="528" cy="432"/>
          </a:xfrm>
        </p:grpSpPr>
        <p:sp>
          <p:nvSpPr>
            <p:cNvPr id="99341" name="AutoShape 6"/>
            <p:cNvSpPr>
              <a:spLocks noChangeArrowheads="1"/>
            </p:cNvSpPr>
            <p:nvPr/>
          </p:nvSpPr>
          <p:spPr bwMode="auto">
            <a:xfrm>
              <a:off x="4128" y="3072"/>
              <a:ext cx="432" cy="192"/>
            </a:xfrm>
            <a:prstGeom prst="diamond">
              <a:avLst/>
            </a:prstGeom>
            <a:gradFill rotWithShape="0">
              <a:gsLst>
                <a:gs pos="0">
                  <a:srgbClr val="765E5E"/>
                </a:gs>
                <a:gs pos="50000">
                  <a:srgbClr val="FFCCCC"/>
                </a:gs>
                <a:gs pos="100000">
                  <a:srgbClr val="765E5E"/>
                </a:gs>
              </a:gsLst>
              <a:lin ang="5400000" scaled="1"/>
            </a:gradFill>
            <a:ln w="19050">
              <a:solidFill>
                <a:srgbClr val="33CCCC"/>
              </a:solidFill>
              <a:miter lim="800000"/>
              <a:headEnd/>
              <a:tailEnd/>
            </a:ln>
          </p:spPr>
          <p:txBody>
            <a:bodyPr wrap="none" anchor="ctr"/>
            <a:lstStyle/>
            <a:p>
              <a:pPr algn="ctr"/>
              <a:r>
                <a:rPr kumimoji="1" lang="zh-CN" altLang="en-US" sz="1600">
                  <a:solidFill>
                    <a:srgbClr val="FF0000"/>
                  </a:solidFill>
                  <a:latin typeface="Tahoma" pitchFamily="34" charset="0"/>
                </a:rPr>
                <a:t>领导</a:t>
              </a:r>
              <a:endParaRPr kumimoji="1" lang="zh-CN" altLang="en-US" sz="2400">
                <a:latin typeface="Times New Roman" pitchFamily="18" charset="0"/>
              </a:endParaRPr>
            </a:p>
          </p:txBody>
        </p:sp>
        <p:sp>
          <p:nvSpPr>
            <p:cNvPr id="99342" name="Line 7"/>
            <p:cNvSpPr>
              <a:spLocks noChangeShapeType="1"/>
            </p:cNvSpPr>
            <p:nvPr/>
          </p:nvSpPr>
          <p:spPr bwMode="auto">
            <a:xfrm>
              <a:off x="4272" y="2880"/>
              <a:ext cx="0" cy="240"/>
            </a:xfrm>
            <a:prstGeom prst="line">
              <a:avLst/>
            </a:prstGeom>
            <a:noFill/>
            <a:ln w="19050">
              <a:solidFill>
                <a:srgbClr val="808000"/>
              </a:solidFill>
              <a:miter lim="800000"/>
              <a:headEnd/>
              <a:tailEnd/>
            </a:ln>
          </p:spPr>
          <p:txBody>
            <a:bodyPr wrap="none"/>
            <a:lstStyle/>
            <a:p>
              <a:endParaRPr lang="zh-CN" altLang="en-US"/>
            </a:p>
          </p:txBody>
        </p:sp>
        <p:sp>
          <p:nvSpPr>
            <p:cNvPr id="99343" name="Line 8"/>
            <p:cNvSpPr>
              <a:spLocks noChangeShapeType="1"/>
            </p:cNvSpPr>
            <p:nvPr/>
          </p:nvSpPr>
          <p:spPr bwMode="auto">
            <a:xfrm>
              <a:off x="4416" y="2880"/>
              <a:ext cx="0" cy="240"/>
            </a:xfrm>
            <a:prstGeom prst="line">
              <a:avLst/>
            </a:prstGeom>
            <a:noFill/>
            <a:ln w="19050">
              <a:solidFill>
                <a:srgbClr val="808000"/>
              </a:solidFill>
              <a:miter lim="800000"/>
              <a:headEnd/>
              <a:tailEnd/>
            </a:ln>
          </p:spPr>
          <p:txBody>
            <a:bodyPr wrap="none"/>
            <a:lstStyle/>
            <a:p>
              <a:endParaRPr lang="zh-CN" altLang="en-US"/>
            </a:p>
          </p:txBody>
        </p:sp>
        <p:sp>
          <p:nvSpPr>
            <p:cNvPr id="99344" name="Text Box 9"/>
            <p:cNvSpPr txBox="1">
              <a:spLocks noChangeArrowheads="1"/>
            </p:cNvSpPr>
            <p:nvPr/>
          </p:nvSpPr>
          <p:spPr bwMode="auto">
            <a:xfrm>
              <a:off x="4080" y="2832"/>
              <a:ext cx="240" cy="288"/>
            </a:xfrm>
            <a:prstGeom prst="rect">
              <a:avLst/>
            </a:prstGeom>
            <a:noFill/>
            <a:ln w="9525">
              <a:noFill/>
              <a:miter lim="800000"/>
              <a:headEnd/>
              <a:tailEnd/>
            </a:ln>
          </p:spPr>
          <p:txBody>
            <a:bodyPr>
              <a:spAutoFit/>
            </a:bodyPr>
            <a:lstStyle/>
            <a:p>
              <a:pPr>
                <a:spcBef>
                  <a:spcPct val="50000"/>
                </a:spcBef>
              </a:pPr>
              <a:r>
                <a:rPr kumimoji="1" lang="en-US" altLang="zh-CN" sz="2400">
                  <a:solidFill>
                    <a:schemeClr val="bg1"/>
                  </a:solidFill>
                  <a:latin typeface="Tahoma" pitchFamily="34" charset="0"/>
                  <a:ea typeface="ˎ̥"/>
                  <a:cs typeface="ˎ̥"/>
                </a:rPr>
                <a:t>1</a:t>
              </a:r>
              <a:endParaRPr kumimoji="1" lang="en-US" altLang="zh-CN" sz="2400">
                <a:latin typeface="Times New Roman" pitchFamily="18" charset="0"/>
              </a:endParaRPr>
            </a:p>
          </p:txBody>
        </p:sp>
        <p:sp>
          <p:nvSpPr>
            <p:cNvPr id="99345" name="Text Box 10"/>
            <p:cNvSpPr txBox="1">
              <a:spLocks noChangeArrowheads="1"/>
            </p:cNvSpPr>
            <p:nvPr/>
          </p:nvSpPr>
          <p:spPr bwMode="auto">
            <a:xfrm>
              <a:off x="4368" y="2832"/>
              <a:ext cx="240" cy="288"/>
            </a:xfrm>
            <a:prstGeom prst="rect">
              <a:avLst/>
            </a:prstGeom>
            <a:noFill/>
            <a:ln w="9525">
              <a:noFill/>
              <a:miter lim="800000"/>
              <a:headEnd/>
              <a:tailEnd/>
            </a:ln>
          </p:spPr>
          <p:txBody>
            <a:bodyPr>
              <a:spAutoFit/>
            </a:bodyPr>
            <a:lstStyle/>
            <a:p>
              <a:pPr>
                <a:spcBef>
                  <a:spcPct val="50000"/>
                </a:spcBef>
              </a:pPr>
              <a:r>
                <a:rPr kumimoji="1" lang="en-US" altLang="zh-CN" sz="2400">
                  <a:solidFill>
                    <a:schemeClr val="bg1"/>
                  </a:solidFill>
                  <a:latin typeface="Tahoma" pitchFamily="34" charset="0"/>
                  <a:ea typeface="ˎ̥"/>
                  <a:cs typeface="ˎ̥"/>
                </a:rPr>
                <a:t>n</a:t>
              </a:r>
              <a:endParaRPr kumimoji="1" lang="en-US" altLang="zh-CN" sz="2400">
                <a:latin typeface="Times New Roman" pitchFamily="18" charset="0"/>
              </a:endParaRPr>
            </a:p>
          </p:txBody>
        </p:sp>
      </p:grpSp>
      <p:sp>
        <p:nvSpPr>
          <p:cNvPr id="99336" name="Rectangle 11"/>
          <p:cNvSpPr>
            <a:spLocks noChangeArrowheads="1"/>
          </p:cNvSpPr>
          <p:nvPr/>
        </p:nvSpPr>
        <p:spPr bwMode="auto">
          <a:xfrm>
            <a:off x="971550" y="1906588"/>
            <a:ext cx="717550" cy="396875"/>
          </a:xfrm>
          <a:prstGeom prst="rect">
            <a:avLst/>
          </a:prstGeom>
          <a:gradFill rotWithShape="0">
            <a:gsLst>
              <a:gs pos="0">
                <a:srgbClr val="3399FF"/>
              </a:gs>
              <a:gs pos="100000">
                <a:srgbClr val="184776"/>
              </a:gs>
            </a:gsLst>
            <a:lin ang="5400000" scaled="1"/>
          </a:gradFill>
          <a:ln w="9525">
            <a:noFill/>
            <a:miter lim="800000"/>
            <a:headEnd/>
            <a:tailEnd/>
          </a:ln>
        </p:spPr>
        <p:txBody>
          <a:bodyPr>
            <a:spAutoFit/>
          </a:bodyPr>
          <a:lstStyle/>
          <a:p>
            <a:r>
              <a:rPr kumimoji="1" lang="zh-CN" altLang="en-US" sz="2000" dirty="0">
                <a:solidFill>
                  <a:schemeClr val="tx1">
                    <a:lumMod val="85000"/>
                    <a:lumOff val="15000"/>
                  </a:schemeClr>
                </a:solidFill>
                <a:latin typeface="Times New Roman" pitchFamily="18" charset="0"/>
              </a:rPr>
              <a:t>学生</a:t>
            </a:r>
            <a:endParaRPr kumimoji="1" lang="zh-CN" altLang="en-US" sz="2400" dirty="0">
              <a:solidFill>
                <a:schemeClr val="tx1">
                  <a:lumMod val="85000"/>
                  <a:lumOff val="15000"/>
                </a:schemeClr>
              </a:solidFill>
              <a:latin typeface="Times New Roman" pitchFamily="18" charset="0"/>
            </a:endParaRPr>
          </a:p>
        </p:txBody>
      </p:sp>
      <p:sp>
        <p:nvSpPr>
          <p:cNvPr id="99337" name="AutoShape 12"/>
          <p:cNvSpPr>
            <a:spLocks noChangeArrowheads="1"/>
          </p:cNvSpPr>
          <p:nvPr/>
        </p:nvSpPr>
        <p:spPr bwMode="auto">
          <a:xfrm>
            <a:off x="323850" y="6011863"/>
            <a:ext cx="914400" cy="381000"/>
          </a:xfrm>
          <a:prstGeom prst="rightArrow">
            <a:avLst>
              <a:gd name="adj1" fmla="val 50000"/>
              <a:gd name="adj2" fmla="val 60000"/>
            </a:avLst>
          </a:prstGeom>
          <a:solidFill>
            <a:srgbClr val="FC042D"/>
          </a:solidFill>
          <a:ln w="12700" cap="sq">
            <a:solidFill>
              <a:srgbClr val="FFFFFF"/>
            </a:solidFill>
            <a:miter lim="800000"/>
            <a:headEnd/>
            <a:tailEnd/>
          </a:ln>
        </p:spPr>
        <p:txBody>
          <a:bodyPr wrap="none" anchor="ctr"/>
          <a:lstStyle/>
          <a:p>
            <a:endParaRPr lang="zh-CN" altLang="en-US"/>
          </a:p>
        </p:txBody>
      </p:sp>
      <p:sp>
        <p:nvSpPr>
          <p:cNvPr id="99338" name="Text Box 13"/>
          <p:cNvSpPr txBox="1">
            <a:spLocks noChangeArrowheads="1"/>
          </p:cNvSpPr>
          <p:nvPr/>
        </p:nvSpPr>
        <p:spPr bwMode="auto">
          <a:xfrm>
            <a:off x="1258888" y="5075238"/>
            <a:ext cx="7672387" cy="641350"/>
          </a:xfrm>
          <a:prstGeom prst="rect">
            <a:avLst/>
          </a:prstGeom>
          <a:noFill/>
          <a:ln w="12700" cap="sq">
            <a:noFill/>
            <a:miter lim="800000"/>
            <a:headEnd/>
            <a:tailEnd/>
          </a:ln>
        </p:spPr>
        <p:txBody>
          <a:bodyPr wrap="none">
            <a:spAutoFit/>
          </a:bodyPr>
          <a:lstStyle/>
          <a:p>
            <a:pPr lvl="2"/>
            <a:r>
              <a:rPr lang="zh-CN" altLang="en-US">
                <a:solidFill>
                  <a:srgbClr val="3333FF"/>
                </a:solidFill>
              </a:rPr>
              <a:t>例：拥有（</a:t>
            </a:r>
            <a:r>
              <a:rPr lang="zh-CN" altLang="en-US" u="sng">
                <a:solidFill>
                  <a:srgbClr val="3333FF"/>
                </a:solidFill>
              </a:rPr>
              <a:t>学号</a:t>
            </a:r>
            <a:r>
              <a:rPr lang="zh-CN" altLang="en-US">
                <a:solidFill>
                  <a:srgbClr val="3333FF"/>
                </a:solidFill>
              </a:rPr>
              <a:t>，性别） </a:t>
            </a:r>
            <a:endParaRPr kumimoji="1" lang="zh-CN" altLang="en-US" sz="2400">
              <a:solidFill>
                <a:srgbClr val="3333FF"/>
              </a:solidFill>
              <a:latin typeface="Times New Roman" pitchFamily="18" charset="0"/>
              <a:ea typeface="ˎ̥"/>
              <a:cs typeface="ˎ̥"/>
            </a:endParaRPr>
          </a:p>
          <a:p>
            <a:pPr lvl="2"/>
            <a:r>
              <a:rPr lang="zh-CN" altLang="en-US">
                <a:solidFill>
                  <a:srgbClr val="3333FF"/>
                </a:solidFill>
                <a:ea typeface="ˎ̥"/>
                <a:cs typeface="ˎ̥"/>
              </a:rPr>
              <a:t>       </a:t>
            </a:r>
            <a:r>
              <a:rPr lang="zh-CN" altLang="en-US">
                <a:solidFill>
                  <a:srgbClr val="3333FF"/>
                </a:solidFill>
              </a:rPr>
              <a:t>学生</a:t>
            </a:r>
            <a:r>
              <a:rPr lang="zh-CN" altLang="en-US" b="1">
                <a:solidFill>
                  <a:srgbClr val="3333FF"/>
                </a:solidFill>
              </a:rPr>
              <a:t>（</a:t>
            </a:r>
            <a:r>
              <a:rPr lang="zh-CN" altLang="en-US" b="1" u="sng">
                <a:solidFill>
                  <a:srgbClr val="3333FF"/>
                </a:solidFill>
              </a:rPr>
              <a:t>学号</a:t>
            </a:r>
            <a:r>
              <a:rPr lang="en-US" altLang="zh-CN" b="1">
                <a:solidFill>
                  <a:srgbClr val="3333FF"/>
                </a:solidFill>
                <a:ea typeface="ˎ̥"/>
                <a:cs typeface="ˎ̥"/>
              </a:rPr>
              <a:t>, </a:t>
            </a:r>
            <a:r>
              <a:rPr lang="zh-CN" altLang="en-US" b="1">
                <a:solidFill>
                  <a:srgbClr val="3333FF"/>
                </a:solidFill>
              </a:rPr>
              <a:t>姓名</a:t>
            </a:r>
            <a:r>
              <a:rPr lang="en-US" altLang="zh-CN" b="1">
                <a:solidFill>
                  <a:srgbClr val="3333FF"/>
                </a:solidFill>
                <a:ea typeface="ˎ̥"/>
                <a:cs typeface="ˎ̥"/>
              </a:rPr>
              <a:t>, </a:t>
            </a:r>
            <a:r>
              <a:rPr lang="zh-CN" altLang="en-US" b="1">
                <a:solidFill>
                  <a:srgbClr val="3333FF"/>
                </a:solidFill>
              </a:rPr>
              <a:t>出生日期</a:t>
            </a:r>
            <a:r>
              <a:rPr lang="en-US" altLang="zh-CN" b="1">
                <a:solidFill>
                  <a:srgbClr val="3333FF"/>
                </a:solidFill>
                <a:ea typeface="ˎ̥"/>
                <a:cs typeface="ˎ̥"/>
              </a:rPr>
              <a:t>, </a:t>
            </a:r>
            <a:r>
              <a:rPr lang="zh-CN" altLang="en-US" b="1">
                <a:solidFill>
                  <a:srgbClr val="3333FF"/>
                </a:solidFill>
              </a:rPr>
              <a:t>所在系</a:t>
            </a:r>
            <a:r>
              <a:rPr lang="en-US" altLang="zh-CN" b="1">
                <a:solidFill>
                  <a:srgbClr val="3333FF"/>
                </a:solidFill>
                <a:ea typeface="ˎ̥"/>
                <a:cs typeface="ˎ̥"/>
              </a:rPr>
              <a:t>, </a:t>
            </a:r>
            <a:r>
              <a:rPr lang="zh-CN" altLang="en-US" b="1">
                <a:solidFill>
                  <a:srgbClr val="3333FF"/>
                </a:solidFill>
              </a:rPr>
              <a:t>年级</a:t>
            </a:r>
            <a:r>
              <a:rPr lang="en-US" altLang="zh-CN" b="1">
                <a:solidFill>
                  <a:srgbClr val="3333FF"/>
                </a:solidFill>
                <a:ea typeface="ˎ̥"/>
                <a:cs typeface="ˎ̥"/>
              </a:rPr>
              <a:t>, </a:t>
            </a:r>
            <a:r>
              <a:rPr lang="zh-CN" altLang="en-US" b="1">
                <a:solidFill>
                  <a:srgbClr val="3333FF"/>
                </a:solidFill>
              </a:rPr>
              <a:t>班级号</a:t>
            </a:r>
            <a:r>
              <a:rPr lang="en-US" altLang="zh-CN" b="1">
                <a:solidFill>
                  <a:srgbClr val="3333FF"/>
                </a:solidFill>
                <a:ea typeface="ˎ̥"/>
                <a:cs typeface="ˎ̥"/>
              </a:rPr>
              <a:t>, </a:t>
            </a:r>
            <a:r>
              <a:rPr lang="zh-CN" altLang="en-US" b="1">
                <a:solidFill>
                  <a:srgbClr val="3333FF"/>
                </a:solidFill>
              </a:rPr>
              <a:t>平均成绩</a:t>
            </a:r>
            <a:r>
              <a:rPr lang="en-US" altLang="zh-CN" b="1">
                <a:solidFill>
                  <a:srgbClr val="3333FF"/>
                </a:solidFill>
                <a:ea typeface="ˎ̥"/>
                <a:cs typeface="ˎ̥"/>
              </a:rPr>
              <a:t>)</a:t>
            </a:r>
            <a:endParaRPr kumimoji="1" lang="en-US" altLang="zh-CN" sz="2400">
              <a:solidFill>
                <a:srgbClr val="3333FF"/>
              </a:solidFill>
              <a:latin typeface="Times New Roman" pitchFamily="18" charset="0"/>
            </a:endParaRPr>
          </a:p>
        </p:txBody>
      </p:sp>
      <p:sp>
        <p:nvSpPr>
          <p:cNvPr id="99339" name="Text Box 14"/>
          <p:cNvSpPr txBox="1">
            <a:spLocks noChangeArrowheads="1"/>
          </p:cNvSpPr>
          <p:nvPr/>
        </p:nvSpPr>
        <p:spPr bwMode="auto">
          <a:xfrm>
            <a:off x="1457325" y="6083300"/>
            <a:ext cx="7004050" cy="366713"/>
          </a:xfrm>
          <a:prstGeom prst="rect">
            <a:avLst/>
          </a:prstGeom>
          <a:noFill/>
          <a:ln w="12700" cap="sq">
            <a:noFill/>
            <a:miter lim="800000"/>
            <a:headEnd/>
            <a:tailEnd/>
          </a:ln>
        </p:spPr>
        <p:txBody>
          <a:bodyPr wrap="none">
            <a:spAutoFit/>
          </a:bodyPr>
          <a:lstStyle/>
          <a:p>
            <a:pPr algn="ctr"/>
            <a:r>
              <a:rPr lang="zh-CN" altLang="en-US">
                <a:solidFill>
                  <a:srgbClr val="F61902"/>
                </a:solidFill>
              </a:rPr>
              <a:t>学生</a:t>
            </a:r>
            <a:r>
              <a:rPr lang="zh-CN" altLang="en-US" b="1">
                <a:solidFill>
                  <a:srgbClr val="F61902"/>
                </a:solidFill>
              </a:rPr>
              <a:t>（</a:t>
            </a:r>
            <a:r>
              <a:rPr lang="zh-CN" altLang="en-US" b="1" u="sng">
                <a:solidFill>
                  <a:srgbClr val="F61902"/>
                </a:solidFill>
              </a:rPr>
              <a:t>学号</a:t>
            </a:r>
            <a:r>
              <a:rPr lang="en-US" altLang="zh-CN" b="1">
                <a:solidFill>
                  <a:srgbClr val="F61902"/>
                </a:solidFill>
                <a:ea typeface="ˎ̥"/>
                <a:cs typeface="ˎ̥"/>
              </a:rPr>
              <a:t>, </a:t>
            </a:r>
            <a:r>
              <a:rPr lang="zh-CN" altLang="en-US" b="1">
                <a:solidFill>
                  <a:srgbClr val="F61902"/>
                </a:solidFill>
              </a:rPr>
              <a:t>姓名</a:t>
            </a:r>
            <a:r>
              <a:rPr lang="en-US" altLang="zh-CN" b="1">
                <a:solidFill>
                  <a:srgbClr val="F61902"/>
                </a:solidFill>
                <a:ea typeface="ˎ̥"/>
                <a:cs typeface="ˎ̥"/>
              </a:rPr>
              <a:t>, </a:t>
            </a:r>
            <a:r>
              <a:rPr lang="zh-CN" altLang="en-US" b="1">
                <a:solidFill>
                  <a:srgbClr val="F61902"/>
                </a:solidFill>
              </a:rPr>
              <a:t>性别，出生日期</a:t>
            </a:r>
            <a:r>
              <a:rPr lang="en-US" altLang="zh-CN" b="1">
                <a:solidFill>
                  <a:srgbClr val="F61902"/>
                </a:solidFill>
                <a:ea typeface="ˎ̥"/>
                <a:cs typeface="ˎ̥"/>
              </a:rPr>
              <a:t>, </a:t>
            </a:r>
            <a:r>
              <a:rPr lang="zh-CN" altLang="en-US" b="1">
                <a:solidFill>
                  <a:srgbClr val="F61902"/>
                </a:solidFill>
              </a:rPr>
              <a:t>所在系</a:t>
            </a:r>
            <a:r>
              <a:rPr lang="en-US" altLang="zh-CN" b="1">
                <a:solidFill>
                  <a:srgbClr val="F61902"/>
                </a:solidFill>
                <a:ea typeface="ˎ̥"/>
                <a:cs typeface="ˎ̥"/>
              </a:rPr>
              <a:t>, </a:t>
            </a:r>
            <a:r>
              <a:rPr lang="zh-CN" altLang="en-US" b="1">
                <a:solidFill>
                  <a:srgbClr val="F61902"/>
                </a:solidFill>
              </a:rPr>
              <a:t>年级</a:t>
            </a:r>
            <a:r>
              <a:rPr lang="en-US" altLang="zh-CN" b="1">
                <a:solidFill>
                  <a:srgbClr val="F61902"/>
                </a:solidFill>
                <a:ea typeface="ˎ̥"/>
                <a:cs typeface="ˎ̥"/>
              </a:rPr>
              <a:t>, </a:t>
            </a:r>
            <a:r>
              <a:rPr lang="zh-CN" altLang="en-US" b="1">
                <a:solidFill>
                  <a:srgbClr val="F61902"/>
                </a:solidFill>
              </a:rPr>
              <a:t>班级号</a:t>
            </a:r>
            <a:r>
              <a:rPr lang="en-US" altLang="zh-CN" b="1">
                <a:solidFill>
                  <a:srgbClr val="F61902"/>
                </a:solidFill>
                <a:ea typeface="ˎ̥"/>
                <a:cs typeface="ˎ̥"/>
              </a:rPr>
              <a:t>, </a:t>
            </a:r>
            <a:r>
              <a:rPr lang="zh-CN" altLang="en-US" b="1">
                <a:solidFill>
                  <a:srgbClr val="F61902"/>
                </a:solidFill>
              </a:rPr>
              <a:t>平均成绩</a:t>
            </a:r>
            <a:r>
              <a:rPr lang="en-US" altLang="zh-CN" b="1">
                <a:solidFill>
                  <a:srgbClr val="F61902"/>
                </a:solidFill>
                <a:ea typeface="ˎ̥"/>
                <a:cs typeface="ˎ̥"/>
              </a:rPr>
              <a:t>)</a:t>
            </a:r>
            <a:endParaRPr kumimoji="1" lang="en-US" altLang="zh-CN" sz="2400">
              <a:latin typeface="Times New Roman" pitchFamily="18" charset="0"/>
            </a:endParaRPr>
          </a:p>
        </p:txBody>
      </p:sp>
      <p:sp>
        <p:nvSpPr>
          <p:cNvPr id="99340" name="Text Box 15"/>
          <p:cNvSpPr txBox="1">
            <a:spLocks noChangeArrowheads="1"/>
          </p:cNvSpPr>
          <p:nvPr/>
        </p:nvSpPr>
        <p:spPr bwMode="auto">
          <a:xfrm>
            <a:off x="2419350" y="1906588"/>
            <a:ext cx="5962650" cy="641350"/>
          </a:xfrm>
          <a:prstGeom prst="rect">
            <a:avLst/>
          </a:prstGeom>
          <a:noFill/>
          <a:ln w="12700" cap="sq">
            <a:noFill/>
            <a:miter lim="800000"/>
            <a:headEnd/>
            <a:tailEnd/>
          </a:ln>
        </p:spPr>
        <p:txBody>
          <a:bodyPr wrap="none">
            <a:spAutoFit/>
          </a:bodyPr>
          <a:lstStyle/>
          <a:p>
            <a:pPr algn="ctr"/>
            <a:r>
              <a:rPr lang="zh-CN" altLang="en-US" dirty="0">
                <a:solidFill>
                  <a:srgbClr val="3333FF"/>
                </a:solidFill>
              </a:rPr>
              <a:t>将领导联系与学生实体合并，增设班长属性存放班长学号</a:t>
            </a:r>
            <a:r>
              <a:rPr lang="zh-CN" altLang="en-US" dirty="0">
                <a:solidFill>
                  <a:schemeClr val="bg1"/>
                </a:solidFill>
              </a:rPr>
              <a:t> </a:t>
            </a:r>
            <a:endParaRPr kumimoji="1" lang="zh-CN" altLang="en-US" sz="2400" dirty="0">
              <a:latin typeface="Times New Roman" pitchFamily="18" charset="0"/>
              <a:ea typeface="ˎ̥"/>
              <a:cs typeface="ˎ̥"/>
            </a:endParaRPr>
          </a:p>
          <a:p>
            <a:pPr algn="ctr"/>
            <a:r>
              <a:rPr lang="zh-CN" altLang="en-US" dirty="0">
                <a:solidFill>
                  <a:srgbClr val="F61902"/>
                </a:solidFill>
              </a:rPr>
              <a:t>学生</a:t>
            </a:r>
            <a:r>
              <a:rPr lang="zh-CN" altLang="en-US" b="1" dirty="0">
                <a:solidFill>
                  <a:srgbClr val="F61902"/>
                </a:solidFill>
              </a:rPr>
              <a:t>（</a:t>
            </a:r>
            <a:r>
              <a:rPr lang="zh-CN" altLang="en-US" b="1" u="sng" dirty="0">
                <a:solidFill>
                  <a:srgbClr val="F61902"/>
                </a:solidFill>
              </a:rPr>
              <a:t>学号</a:t>
            </a:r>
            <a:r>
              <a:rPr lang="en-US" altLang="zh-CN" b="1" dirty="0">
                <a:solidFill>
                  <a:srgbClr val="F61902"/>
                </a:solidFill>
                <a:ea typeface="ˎ̥"/>
                <a:cs typeface="ˎ̥"/>
              </a:rPr>
              <a:t>, </a:t>
            </a:r>
            <a:r>
              <a:rPr lang="zh-CN" altLang="en-US" b="1" dirty="0">
                <a:solidFill>
                  <a:srgbClr val="F61902"/>
                </a:solidFill>
              </a:rPr>
              <a:t>姓名</a:t>
            </a:r>
            <a:r>
              <a:rPr lang="en-US" altLang="zh-CN" b="1" dirty="0">
                <a:solidFill>
                  <a:srgbClr val="F61902"/>
                </a:solidFill>
                <a:ea typeface="ˎ̥"/>
                <a:cs typeface="ˎ̥"/>
              </a:rPr>
              <a:t>, </a:t>
            </a:r>
            <a:r>
              <a:rPr lang="zh-CN" altLang="en-US" b="1" dirty="0">
                <a:solidFill>
                  <a:srgbClr val="F61902"/>
                </a:solidFill>
              </a:rPr>
              <a:t>班长</a:t>
            </a:r>
            <a:r>
              <a:rPr lang="zh-CN" altLang="en-US" b="1" dirty="0">
                <a:solidFill>
                  <a:srgbClr val="F61902"/>
                </a:solidFill>
                <a:ea typeface="ˎ̥"/>
                <a:cs typeface="ˎ̥"/>
              </a:rPr>
              <a:t> </a:t>
            </a:r>
            <a:r>
              <a:rPr lang="en-US" altLang="zh-CN" b="1" dirty="0">
                <a:solidFill>
                  <a:srgbClr val="F61902"/>
                </a:solidFill>
                <a:ea typeface="ˎ̥"/>
                <a:cs typeface="ˎ̥"/>
              </a:rPr>
              <a:t>…)</a:t>
            </a:r>
            <a:endParaRPr kumimoji="1" lang="en-US" altLang="zh-CN" sz="2400" dirty="0">
              <a:latin typeface="Times New Roman" pitchFamily="18" charset="0"/>
            </a:endParaRP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idx="4294967295"/>
          </p:nvPr>
        </p:nvSpPr>
        <p:spPr/>
        <p:txBody>
          <a:bodyPr/>
          <a:lstStyle/>
          <a:p>
            <a:r>
              <a:rPr lang="en-US" altLang="zh-CN" sz="3600" smtClean="0"/>
              <a:t>E-R</a:t>
            </a:r>
            <a:r>
              <a:rPr lang="zh-CN" altLang="en-US" sz="3600" smtClean="0"/>
              <a:t>图向关系模型的转换（续）</a:t>
            </a:r>
          </a:p>
        </p:txBody>
      </p:sp>
      <p:sp>
        <p:nvSpPr>
          <p:cNvPr id="15363" name="矩形 4"/>
          <p:cNvSpPr>
            <a:spLocks noChangeArrowheads="1"/>
          </p:cNvSpPr>
          <p:nvPr/>
        </p:nvSpPr>
        <p:spPr bwMode="auto">
          <a:xfrm>
            <a:off x="909638" y="4654550"/>
            <a:ext cx="7777162" cy="979488"/>
          </a:xfrm>
          <a:prstGeom prst="rect">
            <a:avLst/>
          </a:prstGeom>
          <a:noFill/>
          <a:ln w="9525">
            <a:noFill/>
            <a:miter lim="800000"/>
            <a:headEnd/>
            <a:tailEnd/>
          </a:ln>
        </p:spPr>
        <p:txBody>
          <a:bodyPr>
            <a:spAutoFit/>
          </a:bodyPr>
          <a:lstStyle/>
          <a:p>
            <a:pPr>
              <a:lnSpc>
                <a:spcPct val="120000"/>
              </a:lnSpc>
            </a:pPr>
            <a:r>
              <a:rPr lang="zh-CN" altLang="zh-CN" sz="2400" b="1"/>
              <a:t>图</a:t>
            </a:r>
            <a:r>
              <a:rPr lang="en-US" altLang="zh-CN" sz="2400" b="1"/>
              <a:t>7.28</a:t>
            </a:r>
            <a:r>
              <a:rPr lang="zh-CN" altLang="zh-CN" sz="2400" b="1"/>
              <a:t>中虚线上部的</a:t>
            </a:r>
            <a:r>
              <a:rPr lang="en-US" altLang="zh-CN" sz="2400" b="1"/>
              <a:t>E-R</a:t>
            </a:r>
            <a:r>
              <a:rPr lang="zh-CN" altLang="zh-CN" sz="2400" b="1"/>
              <a:t>图转换为关系模型。</a:t>
            </a:r>
            <a:endParaRPr lang="en-US" altLang="zh-CN" sz="2400" b="1"/>
          </a:p>
          <a:p>
            <a:pPr>
              <a:lnSpc>
                <a:spcPct val="120000"/>
              </a:lnSpc>
            </a:pPr>
            <a:r>
              <a:rPr lang="zh-CN" altLang="zh-CN" sz="2400" b="1"/>
              <a:t>关系的码用下横线标出。</a:t>
            </a:r>
          </a:p>
        </p:txBody>
      </p:sp>
      <p:pic>
        <p:nvPicPr>
          <p:cNvPr id="15364" name="Picture 3"/>
          <p:cNvPicPr>
            <a:picLocks noChangeAspect="1" noChangeArrowheads="1"/>
          </p:cNvPicPr>
          <p:nvPr/>
        </p:nvPicPr>
        <p:blipFill>
          <a:blip r:embed="rId2"/>
          <a:srcRect/>
          <a:stretch>
            <a:fillRect/>
          </a:stretch>
        </p:blipFill>
        <p:spPr bwMode="auto">
          <a:xfrm>
            <a:off x="1162050" y="1428750"/>
            <a:ext cx="6819900" cy="2400300"/>
          </a:xfrm>
          <a:prstGeom prst="rect">
            <a:avLst/>
          </a:prstGeom>
          <a:noFill/>
          <a:ln w="9525">
            <a:noFill/>
            <a:miter lim="800000"/>
            <a:headEnd/>
            <a:tailEnd/>
          </a:ln>
        </p:spPr>
      </p:pic>
      <p:pic>
        <p:nvPicPr>
          <p:cNvPr id="5" name="图片 3"/>
          <p:cNvPicPr>
            <a:picLocks noChangeAspect="1" noChangeArrowheads="1"/>
          </p:cNvPicPr>
          <p:nvPr/>
        </p:nvPicPr>
        <p:blipFill>
          <a:blip r:embed="rId3"/>
          <a:srcRect/>
          <a:stretch>
            <a:fillRect/>
          </a:stretch>
        </p:blipFill>
        <p:spPr bwMode="auto">
          <a:xfrm>
            <a:off x="900113" y="1144588"/>
            <a:ext cx="7192962" cy="4810125"/>
          </a:xfrm>
          <a:prstGeom prst="rect">
            <a:avLst/>
          </a:prstGeom>
          <a:noFill/>
          <a:ln w="9525">
            <a:noFill/>
            <a:miter lim="800000"/>
            <a:headEnd/>
            <a:tailEnd/>
          </a:ln>
        </p:spPr>
      </p:pic>
    </p:spTree>
  </p:cSld>
  <p:clrMapOvr>
    <a:masterClrMapping/>
  </p:clrMapOvr>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idx="4294967295"/>
          </p:nvPr>
        </p:nvSpPr>
        <p:spPr/>
        <p:txBody>
          <a:bodyPr/>
          <a:lstStyle/>
          <a:p>
            <a:r>
              <a:rPr lang="en-US" altLang="zh-CN" sz="3600" smtClean="0"/>
              <a:t>E-R</a:t>
            </a:r>
            <a:r>
              <a:rPr lang="zh-CN" altLang="en-US" sz="3600" smtClean="0"/>
              <a:t>图向关系模型的转换（续）</a:t>
            </a:r>
          </a:p>
        </p:txBody>
      </p:sp>
      <p:sp>
        <p:nvSpPr>
          <p:cNvPr id="14339" name="Rectangle 3"/>
          <p:cNvSpPr>
            <a:spLocks noGrp="1" noChangeArrowheads="1"/>
          </p:cNvSpPr>
          <p:nvPr>
            <p:ph idx="4294967295"/>
          </p:nvPr>
        </p:nvSpPr>
        <p:spPr>
          <a:xfrm>
            <a:off x="684213" y="1098550"/>
            <a:ext cx="8002587" cy="5095875"/>
          </a:xfrm>
        </p:spPr>
        <p:txBody>
          <a:bodyPr/>
          <a:lstStyle/>
          <a:p>
            <a:pPr>
              <a:lnSpc>
                <a:spcPct val="120000"/>
              </a:lnSpc>
              <a:buSzPct val="87000"/>
              <a:buFont typeface="Wingdings" pitchFamily="2" charset="2"/>
              <a:buChar char="n"/>
              <a:defRPr/>
            </a:pPr>
            <a:r>
              <a:rPr lang="zh-CN" altLang="zh-CN" sz="2400" dirty="0" smtClean="0"/>
              <a:t>部门（</a:t>
            </a:r>
            <a:r>
              <a:rPr lang="zh-CN" altLang="zh-CN" sz="2400" u="sng" dirty="0" smtClean="0"/>
              <a:t>部门号</a:t>
            </a:r>
            <a:r>
              <a:rPr lang="zh-CN" altLang="zh-CN" sz="2400" dirty="0" smtClean="0"/>
              <a:t>，部门名，经理的职工号，…）</a:t>
            </a:r>
          </a:p>
          <a:p>
            <a:pPr>
              <a:lnSpc>
                <a:spcPct val="120000"/>
              </a:lnSpc>
              <a:buSzPct val="87000"/>
              <a:buFont typeface="Wingdings" pitchFamily="2" charset="2"/>
              <a:buChar char="n"/>
              <a:defRPr/>
            </a:pPr>
            <a:r>
              <a:rPr lang="zh-CN" altLang="zh-CN" sz="2400" dirty="0" smtClean="0"/>
              <a:t>职工（</a:t>
            </a:r>
            <a:r>
              <a:rPr lang="zh-CN" altLang="zh-CN" sz="2400" u="sng" dirty="0" smtClean="0"/>
              <a:t>职工号</a:t>
            </a:r>
            <a:r>
              <a:rPr lang="zh-CN" altLang="zh-CN" sz="2400" dirty="0" smtClean="0"/>
              <a:t>、部门号，职工名，职务，…）</a:t>
            </a:r>
          </a:p>
          <a:p>
            <a:pPr>
              <a:lnSpc>
                <a:spcPct val="120000"/>
              </a:lnSpc>
              <a:buSzPct val="87000"/>
              <a:buFont typeface="Wingdings" pitchFamily="2" charset="2"/>
              <a:buChar char="n"/>
              <a:defRPr/>
            </a:pPr>
            <a:r>
              <a:rPr lang="zh-CN" altLang="zh-CN" sz="2400" dirty="0" smtClean="0"/>
              <a:t>产品（</a:t>
            </a:r>
            <a:r>
              <a:rPr lang="zh-CN" altLang="zh-CN" sz="2400" u="sng" dirty="0" smtClean="0"/>
              <a:t>产品号</a:t>
            </a:r>
            <a:r>
              <a:rPr lang="zh-CN" altLang="zh-CN" sz="2400" dirty="0" smtClean="0"/>
              <a:t>，产品名，产品组长的职工号，…）</a:t>
            </a:r>
          </a:p>
          <a:p>
            <a:pPr>
              <a:lnSpc>
                <a:spcPct val="120000"/>
              </a:lnSpc>
              <a:buSzPct val="87000"/>
              <a:buFont typeface="Wingdings" pitchFamily="2" charset="2"/>
              <a:buChar char="n"/>
              <a:defRPr/>
            </a:pPr>
            <a:r>
              <a:rPr lang="zh-CN" altLang="zh-CN" sz="2400" dirty="0" smtClean="0"/>
              <a:t>供应商（</a:t>
            </a:r>
            <a:r>
              <a:rPr lang="zh-CN" altLang="zh-CN" sz="2400" u="sng" dirty="0" smtClean="0"/>
              <a:t>供应商号</a:t>
            </a:r>
            <a:r>
              <a:rPr lang="zh-CN" altLang="zh-CN" sz="2400" dirty="0" smtClean="0"/>
              <a:t>，姓名，…）</a:t>
            </a:r>
          </a:p>
          <a:p>
            <a:pPr>
              <a:lnSpc>
                <a:spcPct val="120000"/>
              </a:lnSpc>
              <a:buSzPct val="87000"/>
              <a:buFont typeface="Wingdings" pitchFamily="2" charset="2"/>
              <a:buChar char="n"/>
              <a:defRPr/>
            </a:pPr>
            <a:r>
              <a:rPr lang="zh-CN" altLang="zh-CN" sz="2400" dirty="0" smtClean="0"/>
              <a:t>零件（</a:t>
            </a:r>
            <a:r>
              <a:rPr lang="zh-CN" altLang="zh-CN" sz="2400" u="sng" dirty="0" smtClean="0"/>
              <a:t>零件号</a:t>
            </a:r>
            <a:r>
              <a:rPr lang="zh-CN" altLang="zh-CN" sz="2400" dirty="0" smtClean="0"/>
              <a:t>，零件名，…）</a:t>
            </a:r>
          </a:p>
          <a:p>
            <a:pPr>
              <a:lnSpc>
                <a:spcPct val="120000"/>
              </a:lnSpc>
              <a:buSzPct val="87000"/>
              <a:buFont typeface="Wingdings" pitchFamily="2" charset="2"/>
              <a:buChar char="n"/>
              <a:defRPr/>
            </a:pPr>
            <a:r>
              <a:rPr lang="zh-CN" altLang="zh-CN" sz="2400" dirty="0" smtClean="0"/>
              <a:t>职工工作（</a:t>
            </a:r>
            <a:r>
              <a:rPr lang="zh-CN" altLang="zh-CN" sz="2400" u="sng" dirty="0" smtClean="0"/>
              <a:t>职工号，产品号</a:t>
            </a:r>
            <a:r>
              <a:rPr lang="zh-CN" altLang="zh-CN" sz="2400" dirty="0" smtClean="0"/>
              <a:t>，工作天数，…）</a:t>
            </a:r>
          </a:p>
          <a:p>
            <a:pPr>
              <a:lnSpc>
                <a:spcPct val="120000"/>
              </a:lnSpc>
              <a:buSzPct val="87000"/>
              <a:buFont typeface="Wingdings" pitchFamily="2" charset="2"/>
              <a:buChar char="n"/>
              <a:defRPr/>
            </a:pPr>
            <a:r>
              <a:rPr lang="zh-CN" altLang="zh-CN" sz="2400" dirty="0" smtClean="0"/>
              <a:t>供应（</a:t>
            </a:r>
            <a:r>
              <a:rPr lang="zh-CN" altLang="zh-CN" sz="2400" u="sng" dirty="0" smtClean="0"/>
              <a:t>产品号，供应商号，零件号</a:t>
            </a:r>
            <a:r>
              <a:rPr lang="zh-CN" altLang="zh-CN" sz="2400" dirty="0" smtClean="0"/>
              <a:t>，供应量）</a:t>
            </a:r>
          </a:p>
          <a:p>
            <a:pPr lvl="1">
              <a:defRPr/>
            </a:pPr>
            <a:endParaRPr lang="en-US" dirty="0" smtClean="0"/>
          </a:p>
          <a:p>
            <a:pPr lvl="1">
              <a:defRPr/>
            </a:pPr>
            <a:endParaRPr lang="en-US" dirty="0" smtClean="0"/>
          </a:p>
          <a:p>
            <a:pPr marL="0" indent="0">
              <a:defRPr/>
            </a:pPr>
            <a:endParaRPr lang="zh-CN" altLang="en-US" dirty="0" smtClean="0"/>
          </a:p>
        </p:txBody>
      </p:sp>
    </p:spTree>
  </p:cSld>
  <p:clrMapOvr>
    <a:masterClrMapping/>
  </p:clrMapOvr>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idx="4294967295"/>
          </p:nvPr>
        </p:nvSpPr>
        <p:spPr/>
        <p:txBody>
          <a:bodyPr/>
          <a:lstStyle/>
          <a:p>
            <a:r>
              <a:rPr lang="en-US" altLang="zh-CN" sz="3600" smtClean="0"/>
              <a:t>7.4  </a:t>
            </a:r>
            <a:r>
              <a:rPr lang="zh-CN" altLang="en-US" sz="3600" smtClean="0"/>
              <a:t>逻辑结构设计</a:t>
            </a:r>
          </a:p>
        </p:txBody>
      </p:sp>
      <p:sp>
        <p:nvSpPr>
          <p:cNvPr id="17411" name="Rectangle 3"/>
          <p:cNvSpPr>
            <a:spLocks noGrp="1" noChangeArrowheads="1"/>
          </p:cNvSpPr>
          <p:nvPr>
            <p:ph type="body" idx="4294967295"/>
          </p:nvPr>
        </p:nvSpPr>
        <p:spPr>
          <a:xfrm>
            <a:off x="755650" y="1339850"/>
            <a:ext cx="7931150" cy="4854575"/>
          </a:xfrm>
        </p:spPr>
        <p:txBody>
          <a:bodyPr/>
          <a:lstStyle/>
          <a:p>
            <a:pPr marL="0" indent="0">
              <a:lnSpc>
                <a:spcPct val="150000"/>
              </a:lnSpc>
              <a:buFont typeface="Wingdings" pitchFamily="2" charset="2"/>
              <a:buNone/>
            </a:pPr>
            <a:r>
              <a:rPr lang="en-US" altLang="zh-CN" smtClean="0"/>
              <a:t>7.4.1  E-R</a:t>
            </a:r>
            <a:r>
              <a:rPr lang="zh-CN" altLang="en-US" smtClean="0"/>
              <a:t>图向关系模型的转换</a:t>
            </a:r>
          </a:p>
          <a:p>
            <a:pPr marL="0" indent="0">
              <a:lnSpc>
                <a:spcPct val="150000"/>
              </a:lnSpc>
              <a:buFont typeface="Wingdings" pitchFamily="2" charset="2"/>
              <a:buNone/>
            </a:pPr>
            <a:r>
              <a:rPr lang="en-US" altLang="zh-CN" smtClean="0">
                <a:solidFill>
                  <a:srgbClr val="00B050"/>
                </a:solidFill>
              </a:rPr>
              <a:t>7.4.2  </a:t>
            </a:r>
            <a:r>
              <a:rPr lang="zh-CN" altLang="en-US" smtClean="0">
                <a:solidFill>
                  <a:srgbClr val="00B050"/>
                </a:solidFill>
              </a:rPr>
              <a:t>数据模型的优化</a:t>
            </a:r>
            <a:endParaRPr lang="en-US" smtClean="0">
              <a:solidFill>
                <a:srgbClr val="00B050"/>
              </a:solidFill>
            </a:endParaRPr>
          </a:p>
          <a:p>
            <a:pPr marL="0" indent="0">
              <a:lnSpc>
                <a:spcPct val="150000"/>
              </a:lnSpc>
              <a:buFont typeface="Wingdings" pitchFamily="2" charset="2"/>
              <a:buNone/>
            </a:pPr>
            <a:r>
              <a:rPr lang="en-US" altLang="zh-CN" smtClean="0"/>
              <a:t>7.4.3  </a:t>
            </a:r>
            <a:r>
              <a:rPr lang="zh-CN" altLang="en-US" smtClean="0"/>
              <a:t>设计用户子模式</a:t>
            </a:r>
          </a:p>
        </p:txBody>
      </p:sp>
    </p:spTree>
  </p:cSld>
  <p:clrMapOvr>
    <a:masterClrMapping/>
  </p:clrMapOvr>
  <p:transition/>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idx="4294967295"/>
          </p:nvPr>
        </p:nvSpPr>
        <p:spPr/>
        <p:txBody>
          <a:bodyPr/>
          <a:lstStyle/>
          <a:p>
            <a:r>
              <a:rPr lang="zh-CN" altLang="en-US" sz="3600" smtClean="0"/>
              <a:t>数据模型的优化（续）</a:t>
            </a:r>
          </a:p>
        </p:txBody>
      </p:sp>
      <p:sp>
        <p:nvSpPr>
          <p:cNvPr id="20483" name="Rectangle 3"/>
          <p:cNvSpPr>
            <a:spLocks noGrp="1" noChangeArrowheads="1"/>
          </p:cNvSpPr>
          <p:nvPr>
            <p:ph idx="4294967295"/>
          </p:nvPr>
        </p:nvSpPr>
        <p:spPr>
          <a:xfrm>
            <a:off x="457200" y="1098550"/>
            <a:ext cx="8229600" cy="5095875"/>
          </a:xfrm>
        </p:spPr>
        <p:txBody>
          <a:bodyPr/>
          <a:lstStyle/>
          <a:p>
            <a:pPr>
              <a:lnSpc>
                <a:spcPct val="150000"/>
              </a:lnSpc>
              <a:buFont typeface="Wingdings" pitchFamily="2" charset="2"/>
              <a:buNone/>
            </a:pPr>
            <a:r>
              <a:rPr lang="zh-CN" altLang="en-US" dirty="0" smtClean="0"/>
              <a:t>优化数据模型的方法</a:t>
            </a:r>
            <a:r>
              <a:rPr lang="en-US" altLang="zh-CN" dirty="0" smtClean="0"/>
              <a:t>:</a:t>
            </a:r>
          </a:p>
          <a:p>
            <a:pPr>
              <a:lnSpc>
                <a:spcPct val="150000"/>
              </a:lnSpc>
              <a:buFont typeface="Wingdings" pitchFamily="2" charset="2"/>
              <a:buNone/>
            </a:pPr>
            <a:r>
              <a:rPr lang="zh-CN" altLang="en-US" dirty="0" smtClean="0"/>
              <a:t>（</a:t>
            </a:r>
            <a:r>
              <a:rPr lang="en-US" altLang="zh-CN" dirty="0" smtClean="0"/>
              <a:t>1</a:t>
            </a:r>
            <a:r>
              <a:rPr lang="zh-CN" altLang="en-US" dirty="0" smtClean="0"/>
              <a:t>）判定设计的关系模式（表）属于几范式</a:t>
            </a:r>
            <a:endParaRPr lang="en-US" altLang="zh-CN" dirty="0" smtClean="0"/>
          </a:p>
          <a:p>
            <a:pPr>
              <a:lnSpc>
                <a:spcPct val="150000"/>
              </a:lnSpc>
              <a:buFont typeface="Wingdings" pitchFamily="2" charset="2"/>
              <a:buNone/>
            </a:pPr>
            <a:r>
              <a:rPr lang="en-US" altLang="zh-CN" dirty="0" smtClean="0"/>
              <a:t>         3NF</a:t>
            </a:r>
            <a:r>
              <a:rPr lang="zh-CN" altLang="en-US" dirty="0" smtClean="0"/>
              <a:t>我们认为就是比较规范的</a:t>
            </a:r>
            <a:endParaRPr lang="en-US" altLang="zh-CN" dirty="0" smtClean="0"/>
          </a:p>
          <a:p>
            <a:pPr>
              <a:lnSpc>
                <a:spcPct val="150000"/>
              </a:lnSpc>
              <a:buFont typeface="Wingdings" pitchFamily="2" charset="2"/>
              <a:buNone/>
            </a:pPr>
            <a:r>
              <a:rPr lang="zh-CN" altLang="en-US" dirty="0" smtClean="0"/>
              <a:t>（</a:t>
            </a:r>
            <a:r>
              <a:rPr lang="en-US" altLang="zh-CN" dirty="0" smtClean="0"/>
              <a:t>2</a:t>
            </a:r>
            <a:r>
              <a:rPr lang="zh-CN" altLang="en-US" dirty="0" smtClean="0"/>
              <a:t>）如果达不到范式要求就进行模式分解</a:t>
            </a:r>
            <a:endParaRPr lang="en-US" altLang="zh-CN" dirty="0" smtClean="0"/>
          </a:p>
          <a:p>
            <a:pPr>
              <a:lnSpc>
                <a:spcPct val="150000"/>
              </a:lnSpc>
              <a:buFont typeface="Wingdings" pitchFamily="2" charset="2"/>
              <a:buNone/>
            </a:pPr>
            <a:r>
              <a:rPr lang="en-US" altLang="zh-CN" dirty="0" smtClean="0"/>
              <a:t>         </a:t>
            </a:r>
            <a:r>
              <a:rPr lang="zh-CN" altLang="en-US" dirty="0" smtClean="0"/>
              <a:t>大表分解为小表	</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20483">
                                            <p:txEl>
                                              <p:pRg st="1" end="1"/>
                                            </p:txEl>
                                          </p:spTgt>
                                        </p:tgtEl>
                                        <p:attrNameLst>
                                          <p:attrName>style.visibility</p:attrName>
                                        </p:attrNameLst>
                                      </p:cBhvr>
                                      <p:to>
                                        <p:strVal val="visible"/>
                                      </p:to>
                                    </p:set>
                                    <p:animEffect transition="in" filter="blinds(horizontal)">
                                      <p:cBhvr>
                                        <p:cTn id="7" dur="500"/>
                                        <p:tgtEl>
                                          <p:spTgt spid="20483">
                                            <p:txEl>
                                              <p:pRg st="1" end="1"/>
                                            </p:txEl>
                                          </p:spTgt>
                                        </p:tgtEl>
                                      </p:cBhvr>
                                    </p:animEffect>
                                  </p:childTnLst>
                                </p:cTn>
                              </p:par>
                              <p:par>
                                <p:cTn id="8" presetID="3" presetClass="entr" presetSubtype="10" fill="hold" nodeType="withEffect">
                                  <p:stCondLst>
                                    <p:cond delay="0"/>
                                  </p:stCondLst>
                                  <p:childTnLst>
                                    <p:set>
                                      <p:cBhvr>
                                        <p:cTn id="9" dur="1" fill="hold">
                                          <p:stCondLst>
                                            <p:cond delay="0"/>
                                          </p:stCondLst>
                                        </p:cTn>
                                        <p:tgtEl>
                                          <p:spTgt spid="20483">
                                            <p:txEl>
                                              <p:pRg st="2" end="2"/>
                                            </p:txEl>
                                          </p:spTgt>
                                        </p:tgtEl>
                                        <p:attrNameLst>
                                          <p:attrName>style.visibility</p:attrName>
                                        </p:attrNameLst>
                                      </p:cBhvr>
                                      <p:to>
                                        <p:strVal val="visible"/>
                                      </p:to>
                                    </p:set>
                                    <p:animEffect transition="in" filter="blinds(horizontal)">
                                      <p:cBhvr>
                                        <p:cTn id="10" dur="500"/>
                                        <p:tgtEl>
                                          <p:spTgt spid="20483">
                                            <p:txEl>
                                              <p:pRg st="2" end="2"/>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4" presetClass="entr" presetSubtype="16" fill="hold" nodeType="clickEffect">
                                  <p:stCondLst>
                                    <p:cond delay="0"/>
                                  </p:stCondLst>
                                  <p:childTnLst>
                                    <p:set>
                                      <p:cBhvr>
                                        <p:cTn id="14" dur="1" fill="hold">
                                          <p:stCondLst>
                                            <p:cond delay="0"/>
                                          </p:stCondLst>
                                        </p:cTn>
                                        <p:tgtEl>
                                          <p:spTgt spid="20483">
                                            <p:txEl>
                                              <p:pRg st="3" end="3"/>
                                            </p:txEl>
                                          </p:spTgt>
                                        </p:tgtEl>
                                        <p:attrNameLst>
                                          <p:attrName>style.visibility</p:attrName>
                                        </p:attrNameLst>
                                      </p:cBhvr>
                                      <p:to>
                                        <p:strVal val="visible"/>
                                      </p:to>
                                    </p:set>
                                    <p:animEffect transition="in" filter="box(in)">
                                      <p:cBhvr>
                                        <p:cTn id="15" dur="500"/>
                                        <p:tgtEl>
                                          <p:spTgt spid="20483">
                                            <p:txEl>
                                              <p:pRg st="3" end="3"/>
                                            </p:txEl>
                                          </p:spTgt>
                                        </p:tgtEl>
                                      </p:cBhvr>
                                    </p:animEffect>
                                  </p:childTnLst>
                                </p:cTn>
                              </p:par>
                              <p:par>
                                <p:cTn id="16" presetID="4" presetClass="entr" presetSubtype="16" fill="hold" nodeType="withEffect">
                                  <p:stCondLst>
                                    <p:cond delay="0"/>
                                  </p:stCondLst>
                                  <p:childTnLst>
                                    <p:set>
                                      <p:cBhvr>
                                        <p:cTn id="17" dur="1" fill="hold">
                                          <p:stCondLst>
                                            <p:cond delay="0"/>
                                          </p:stCondLst>
                                        </p:cTn>
                                        <p:tgtEl>
                                          <p:spTgt spid="20483">
                                            <p:txEl>
                                              <p:pRg st="4" end="4"/>
                                            </p:txEl>
                                          </p:spTgt>
                                        </p:tgtEl>
                                        <p:attrNameLst>
                                          <p:attrName>style.visibility</p:attrName>
                                        </p:attrNameLst>
                                      </p:cBhvr>
                                      <p:to>
                                        <p:strVal val="visible"/>
                                      </p:to>
                                    </p:set>
                                    <p:animEffect transition="in" filter="box(in)">
                                      <p:cBhvr>
                                        <p:cTn id="18" dur="500"/>
                                        <p:tgtEl>
                                          <p:spTgt spid="2048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idx="4294967295"/>
          </p:nvPr>
        </p:nvSpPr>
        <p:spPr/>
        <p:txBody>
          <a:bodyPr/>
          <a:lstStyle/>
          <a:p>
            <a:r>
              <a:rPr lang="zh-CN" altLang="en-US" sz="3600" smtClean="0"/>
              <a:t>数据模型的优化（续）</a:t>
            </a:r>
          </a:p>
        </p:txBody>
      </p:sp>
      <p:sp>
        <p:nvSpPr>
          <p:cNvPr id="22531" name="Rectangle 3"/>
          <p:cNvSpPr>
            <a:spLocks noGrp="1" noChangeArrowheads="1"/>
          </p:cNvSpPr>
          <p:nvPr>
            <p:ph idx="4294967295"/>
          </p:nvPr>
        </p:nvSpPr>
        <p:spPr>
          <a:xfrm>
            <a:off x="457200" y="1098550"/>
            <a:ext cx="8229600" cy="5095875"/>
          </a:xfrm>
        </p:spPr>
        <p:txBody>
          <a:bodyPr/>
          <a:lstStyle/>
          <a:p>
            <a:pPr lvl="1">
              <a:lnSpc>
                <a:spcPct val="150000"/>
              </a:lnSpc>
            </a:pPr>
            <a:r>
              <a:rPr lang="zh-CN" altLang="en-US" sz="2800" dirty="0" smtClean="0">
                <a:solidFill>
                  <a:srgbClr val="FF0000"/>
                </a:solidFill>
              </a:rPr>
              <a:t>并不是规范化程度越高的关系就越优</a:t>
            </a:r>
          </a:p>
          <a:p>
            <a:pPr lvl="2">
              <a:lnSpc>
                <a:spcPct val="150000"/>
              </a:lnSpc>
              <a:buSzPct val="87000"/>
              <a:buFont typeface="Wingdings" pitchFamily="2" charset="2"/>
              <a:buChar char="l"/>
            </a:pPr>
            <a:r>
              <a:rPr lang="zh-CN" altLang="en-US" sz="2400" dirty="0" smtClean="0"/>
              <a:t>当查询经常涉及两个或多个关系模式的属性时，系统必须经常地进行连接运算</a:t>
            </a:r>
            <a:endParaRPr lang="en-US" altLang="zh-CN" sz="2400" dirty="0" smtClean="0"/>
          </a:p>
          <a:p>
            <a:pPr lvl="2">
              <a:lnSpc>
                <a:spcPct val="150000"/>
              </a:lnSpc>
              <a:buSzPct val="87000"/>
              <a:buFont typeface="Wingdings" pitchFamily="2" charset="2"/>
              <a:buChar char="l"/>
            </a:pPr>
            <a:r>
              <a:rPr lang="zh-CN" altLang="en-US" sz="2400" dirty="0" smtClean="0"/>
              <a:t>连接运算的代价是相当高的</a:t>
            </a:r>
            <a:endParaRPr lang="en-US" altLang="zh-CN" sz="2400" dirty="0" smtClean="0"/>
          </a:p>
          <a:p>
            <a:pPr lvl="2">
              <a:lnSpc>
                <a:spcPct val="150000"/>
              </a:lnSpc>
              <a:buSzPct val="87000"/>
              <a:buFont typeface="Wingdings" pitchFamily="2" charset="2"/>
              <a:buChar char="l"/>
            </a:pPr>
            <a:r>
              <a:rPr lang="zh-CN" altLang="en-US" sz="2400" dirty="0" smtClean="0"/>
              <a:t>因此在这种情况下，第二范式甚至第一范式也许是适合的。</a:t>
            </a:r>
            <a:endParaRPr lang="en-US" altLang="zh-CN" sz="2400" dirty="0" smtClean="0"/>
          </a:p>
          <a:p>
            <a:pPr lvl="2">
              <a:lnSpc>
                <a:spcPct val="150000"/>
              </a:lnSpc>
              <a:buSzPct val="87000"/>
              <a:buNone/>
            </a:pPr>
            <a:r>
              <a:rPr lang="zh-CN" altLang="en-US" sz="4000" dirty="0" smtClean="0">
                <a:solidFill>
                  <a:srgbClr val="FF0000"/>
                </a:solidFill>
              </a:rPr>
              <a:t>空间换时间原则</a:t>
            </a:r>
          </a:p>
        </p:txBody>
      </p:sp>
    </p:spTree>
  </p:cSld>
  <p:clrMapOvr>
    <a:masterClrMapping/>
  </p:clrMapOvr>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zh-CN" altLang="en-US" sz="3600" smtClean="0"/>
              <a:t>数据模型的优化（续）</a:t>
            </a:r>
          </a:p>
        </p:txBody>
      </p:sp>
      <p:sp>
        <p:nvSpPr>
          <p:cNvPr id="24579" name="内容占位符 3"/>
          <p:cNvSpPr>
            <a:spLocks noGrp="1"/>
          </p:cNvSpPr>
          <p:nvPr>
            <p:ph idx="1"/>
          </p:nvPr>
        </p:nvSpPr>
        <p:spPr/>
        <p:txBody>
          <a:bodyPr/>
          <a:lstStyle/>
          <a:p>
            <a:pPr>
              <a:lnSpc>
                <a:spcPct val="150000"/>
              </a:lnSpc>
              <a:buFont typeface="Wingdings" pitchFamily="2" charset="2"/>
              <a:buNone/>
            </a:pPr>
            <a:r>
              <a:rPr lang="zh-CN" altLang="en-US" dirty="0" smtClean="0"/>
              <a:t>    对关系模式进行必要分解，提高数据操作效率和存储空间的利用率。</a:t>
            </a:r>
            <a:endParaRPr lang="en-US" dirty="0" smtClean="0"/>
          </a:p>
          <a:p>
            <a:pPr lvl="1">
              <a:lnSpc>
                <a:spcPct val="150000"/>
              </a:lnSpc>
            </a:pPr>
            <a:r>
              <a:rPr lang="zh-CN" altLang="en-US" dirty="0" smtClean="0"/>
              <a:t>常用分解方法</a:t>
            </a:r>
          </a:p>
          <a:p>
            <a:pPr lvl="2">
              <a:lnSpc>
                <a:spcPct val="150000"/>
              </a:lnSpc>
              <a:buSzPct val="87000"/>
              <a:buFont typeface="Wingdings" pitchFamily="2" charset="2"/>
              <a:buChar char="l"/>
            </a:pPr>
            <a:r>
              <a:rPr lang="zh-CN" altLang="en-US" dirty="0" smtClean="0"/>
              <a:t>水平分解</a:t>
            </a:r>
          </a:p>
          <a:p>
            <a:pPr lvl="2">
              <a:lnSpc>
                <a:spcPct val="150000"/>
              </a:lnSpc>
              <a:buSzPct val="87000"/>
              <a:buFont typeface="Wingdings" pitchFamily="2" charset="2"/>
              <a:buChar char="l"/>
            </a:pPr>
            <a:r>
              <a:rPr lang="zh-CN" altLang="en-US" dirty="0" smtClean="0"/>
              <a:t>垂直分解</a:t>
            </a:r>
          </a:p>
          <a:p>
            <a:pPr>
              <a:lnSpc>
                <a:spcPct val="150000"/>
              </a:lnSpc>
            </a:pPr>
            <a:endParaRPr lang="zh-CN" altLang="en-US" dirty="0" smtClean="0"/>
          </a:p>
        </p:txBody>
      </p:sp>
    </p:spTree>
  </p:cSld>
  <p:clrMapOvr>
    <a:masterClrMapping/>
  </p:clrMapOvr>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idx="4294967295"/>
          </p:nvPr>
        </p:nvSpPr>
        <p:spPr/>
        <p:txBody>
          <a:bodyPr/>
          <a:lstStyle/>
          <a:p>
            <a:r>
              <a:rPr lang="zh-CN" altLang="en-US" sz="3600" smtClean="0"/>
              <a:t>数据模型的优化（续）</a:t>
            </a:r>
          </a:p>
        </p:txBody>
      </p:sp>
      <p:sp>
        <p:nvSpPr>
          <p:cNvPr id="25603" name="Rectangle 3"/>
          <p:cNvSpPr>
            <a:spLocks noGrp="1" noChangeArrowheads="1"/>
          </p:cNvSpPr>
          <p:nvPr>
            <p:ph idx="4294967295"/>
          </p:nvPr>
        </p:nvSpPr>
        <p:spPr>
          <a:xfrm>
            <a:off x="457200" y="1098550"/>
            <a:ext cx="8229600" cy="5095875"/>
          </a:xfrm>
        </p:spPr>
        <p:txBody>
          <a:bodyPr/>
          <a:lstStyle/>
          <a:p>
            <a:pPr lvl="1">
              <a:lnSpc>
                <a:spcPct val="120000"/>
              </a:lnSpc>
            </a:pPr>
            <a:r>
              <a:rPr lang="zh-CN" altLang="en-US" sz="2800" dirty="0" smtClean="0"/>
              <a:t>水平分解</a:t>
            </a:r>
          </a:p>
          <a:p>
            <a:pPr lvl="2">
              <a:lnSpc>
                <a:spcPct val="120000"/>
              </a:lnSpc>
              <a:buSzPct val="87000"/>
              <a:buFont typeface="Wingdings" pitchFamily="2" charset="2"/>
              <a:buChar char="l"/>
            </a:pPr>
            <a:r>
              <a:rPr lang="zh-CN" altLang="en-US" sz="2400" dirty="0" smtClean="0"/>
              <a:t>什么是水平分解</a:t>
            </a:r>
          </a:p>
          <a:p>
            <a:pPr lvl="3">
              <a:lnSpc>
                <a:spcPct val="120000"/>
              </a:lnSpc>
              <a:buSzPct val="87000"/>
              <a:buFont typeface="Wingdings" pitchFamily="2" charset="2"/>
              <a:buChar char="Ø"/>
            </a:pPr>
            <a:r>
              <a:rPr lang="zh-CN" altLang="en-US" sz="2200" dirty="0" smtClean="0"/>
              <a:t>把</a:t>
            </a:r>
            <a:r>
              <a:rPr lang="en-US" altLang="zh-CN" sz="2200" dirty="0" smtClean="0"/>
              <a:t>(</a:t>
            </a:r>
            <a:r>
              <a:rPr lang="zh-CN" altLang="en-US" sz="2200" dirty="0" smtClean="0"/>
              <a:t>基本</a:t>
            </a:r>
            <a:r>
              <a:rPr lang="en-US" altLang="zh-CN" sz="2200" dirty="0" smtClean="0"/>
              <a:t>)</a:t>
            </a:r>
            <a:r>
              <a:rPr lang="zh-CN" altLang="en-US" sz="2200" dirty="0" smtClean="0"/>
              <a:t>关系的元组分为若干子集合，定义每个子集合为一个子关系，以提高系统的效率。</a:t>
            </a:r>
          </a:p>
          <a:p>
            <a:pPr lvl="2">
              <a:lnSpc>
                <a:spcPct val="120000"/>
              </a:lnSpc>
              <a:buSzPct val="87000"/>
              <a:buFont typeface="Wingdings" pitchFamily="2" charset="2"/>
              <a:buChar char="l"/>
            </a:pPr>
            <a:r>
              <a:rPr lang="zh-CN" altLang="en-US" sz="2400" dirty="0" smtClean="0"/>
              <a:t>如何分解</a:t>
            </a:r>
            <a:endParaRPr lang="en-US" altLang="zh-CN" sz="2400" dirty="0" smtClean="0"/>
          </a:p>
          <a:p>
            <a:pPr lvl="3" eaLnBrk="1" hangingPunct="1">
              <a:lnSpc>
                <a:spcPct val="120000"/>
              </a:lnSpc>
              <a:spcBef>
                <a:spcPct val="10000"/>
              </a:spcBef>
              <a:buFont typeface="Wingdings" pitchFamily="2" charset="2"/>
              <a:buChar char="ü"/>
            </a:pPr>
            <a:r>
              <a:rPr lang="zh-CN" altLang="en-US" sz="2400" dirty="0" smtClean="0"/>
              <a:t>对符合</a:t>
            </a:r>
            <a:r>
              <a:rPr lang="en-US" altLang="zh-CN" sz="2200" dirty="0" smtClean="0"/>
              <a:t>80/20</a:t>
            </a:r>
            <a:r>
              <a:rPr lang="zh-CN" altLang="en-US" sz="2200" dirty="0" smtClean="0"/>
              <a:t>的，把经常被使用的数据（约</a:t>
            </a:r>
            <a:r>
              <a:rPr lang="en-US" altLang="zh-CN" sz="2200" dirty="0" smtClean="0"/>
              <a:t>20%</a:t>
            </a:r>
            <a:r>
              <a:rPr lang="zh-CN" altLang="en-US" sz="2200" dirty="0" smtClean="0"/>
              <a:t>）</a:t>
            </a:r>
            <a:endParaRPr lang="en-US" altLang="zh-CN" sz="2200" dirty="0" smtClean="0"/>
          </a:p>
          <a:p>
            <a:pPr lvl="3" algn="just" eaLnBrk="1" hangingPunct="1">
              <a:lnSpc>
                <a:spcPct val="120000"/>
              </a:lnSpc>
              <a:buFont typeface="Arial" pitchFamily="34" charset="0"/>
              <a:buNone/>
            </a:pPr>
            <a:r>
              <a:rPr lang="zh-CN" altLang="en-US" sz="2200" dirty="0" smtClean="0"/>
              <a:t>水平分解出来，形成一个子关系。</a:t>
            </a:r>
            <a:endParaRPr lang="en-US" altLang="zh-CN" sz="2200" dirty="0" smtClean="0"/>
          </a:p>
          <a:p>
            <a:pPr lvl="3">
              <a:lnSpc>
                <a:spcPct val="120000"/>
              </a:lnSpc>
              <a:buSzPct val="87000"/>
              <a:buFont typeface="Wingdings" pitchFamily="2" charset="2"/>
              <a:buChar char="ü"/>
            </a:pPr>
            <a:r>
              <a:rPr lang="zh-CN" altLang="en-US" sz="2400" dirty="0" smtClean="0"/>
              <a:t>水平</a:t>
            </a:r>
            <a:r>
              <a:rPr lang="zh-CN" altLang="en-US" sz="2200" dirty="0" smtClean="0"/>
              <a:t>分解为若干子关系，使每个事务存取的数据对应一个子关系。</a:t>
            </a:r>
          </a:p>
          <a:p>
            <a:pPr lvl="3">
              <a:lnSpc>
                <a:spcPct val="120000"/>
              </a:lnSpc>
              <a:buSzPct val="87000"/>
              <a:buFont typeface="Wingdings" pitchFamily="2" charset="2"/>
              <a:buChar char="Ø"/>
            </a:pPr>
            <a:endParaRPr lang="zh-CN" altLang="en-US" sz="2200" dirty="0" smtClean="0"/>
          </a:p>
        </p:txBody>
      </p:sp>
    </p:spTree>
  </p:cSld>
  <p:clrMapOvr>
    <a:masterClrMapping/>
  </p:clrMapOvr>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idx="4294967295"/>
          </p:nvPr>
        </p:nvSpPr>
        <p:spPr/>
        <p:txBody>
          <a:bodyPr/>
          <a:lstStyle/>
          <a:p>
            <a:r>
              <a:rPr lang="zh-CN" altLang="en-US" sz="3600" smtClean="0"/>
              <a:t>数据模型的优化（续）</a:t>
            </a:r>
          </a:p>
        </p:txBody>
      </p:sp>
      <p:sp>
        <p:nvSpPr>
          <p:cNvPr id="26627" name="Rectangle 3"/>
          <p:cNvSpPr>
            <a:spLocks noGrp="1" noChangeArrowheads="1"/>
          </p:cNvSpPr>
          <p:nvPr>
            <p:ph idx="4294967295"/>
          </p:nvPr>
        </p:nvSpPr>
        <p:spPr>
          <a:xfrm>
            <a:off x="-36513" y="950913"/>
            <a:ext cx="8723313" cy="5286375"/>
          </a:xfrm>
        </p:spPr>
        <p:txBody>
          <a:bodyPr/>
          <a:lstStyle/>
          <a:p>
            <a:pPr lvl="1">
              <a:lnSpc>
                <a:spcPct val="120000"/>
              </a:lnSpc>
            </a:pPr>
            <a:r>
              <a:rPr lang="zh-CN" altLang="en-US" smtClean="0"/>
              <a:t>垂直分解</a:t>
            </a:r>
          </a:p>
          <a:p>
            <a:pPr lvl="2">
              <a:lnSpc>
                <a:spcPct val="120000"/>
              </a:lnSpc>
              <a:buSzPct val="87000"/>
              <a:buFont typeface="Wingdings" pitchFamily="2" charset="2"/>
              <a:buChar char="l"/>
            </a:pPr>
            <a:r>
              <a:rPr lang="zh-CN" altLang="en-US" smtClean="0"/>
              <a:t>什么是垂直分解</a:t>
            </a:r>
          </a:p>
          <a:p>
            <a:pPr lvl="3">
              <a:lnSpc>
                <a:spcPct val="120000"/>
              </a:lnSpc>
              <a:buSzPct val="87000"/>
              <a:buFont typeface="Wingdings" pitchFamily="2" charset="2"/>
              <a:buChar char="Ø"/>
            </a:pPr>
            <a:r>
              <a:rPr lang="zh-CN" altLang="en-US" sz="2200" smtClean="0"/>
              <a:t>把关系模式</a:t>
            </a:r>
            <a:r>
              <a:rPr lang="en-US" altLang="zh-CN" sz="2200" smtClean="0"/>
              <a:t>R</a:t>
            </a:r>
            <a:r>
              <a:rPr lang="zh-CN" altLang="en-US" sz="2200" smtClean="0"/>
              <a:t>的属性分解为若干子集合，形成若干子关系模式。</a:t>
            </a:r>
          </a:p>
          <a:p>
            <a:pPr lvl="2">
              <a:lnSpc>
                <a:spcPct val="120000"/>
              </a:lnSpc>
              <a:buSzPct val="87000"/>
              <a:buFont typeface="Wingdings" pitchFamily="2" charset="2"/>
              <a:buChar char="l"/>
            </a:pPr>
            <a:r>
              <a:rPr lang="zh-CN" altLang="en-US" smtClean="0"/>
              <a:t>垂直分解的原则</a:t>
            </a:r>
          </a:p>
          <a:p>
            <a:pPr lvl="3">
              <a:lnSpc>
                <a:spcPct val="120000"/>
              </a:lnSpc>
              <a:buSzPct val="87000"/>
              <a:buFont typeface="Wingdings" pitchFamily="2" charset="2"/>
              <a:buChar char="Ø"/>
            </a:pPr>
            <a:r>
              <a:rPr lang="zh-CN" altLang="en-US" sz="2200" smtClean="0"/>
              <a:t>经常在一起使用的属性从</a:t>
            </a:r>
            <a:r>
              <a:rPr lang="en-US" altLang="zh-CN" sz="2200" smtClean="0"/>
              <a:t>R</a:t>
            </a:r>
            <a:r>
              <a:rPr lang="zh-CN" altLang="en-US" sz="2200" smtClean="0"/>
              <a:t>中分解出来形成一个子关系模式</a:t>
            </a:r>
            <a:endParaRPr lang="en-US" altLang="zh-CN" sz="2200" smtClean="0"/>
          </a:p>
          <a:p>
            <a:pPr lvl="2">
              <a:lnSpc>
                <a:spcPct val="120000"/>
              </a:lnSpc>
              <a:buSzPct val="87000"/>
              <a:buFont typeface="Wingdings" pitchFamily="2" charset="2"/>
              <a:buChar char="l"/>
            </a:pPr>
            <a:r>
              <a:rPr lang="zh-CN" altLang="en-US" smtClean="0"/>
              <a:t>垂直分解的优点</a:t>
            </a:r>
          </a:p>
          <a:p>
            <a:pPr lvl="3">
              <a:lnSpc>
                <a:spcPct val="120000"/>
              </a:lnSpc>
              <a:buSzPct val="87000"/>
              <a:buFont typeface="Wingdings" pitchFamily="2" charset="2"/>
              <a:buChar char="Ø"/>
            </a:pPr>
            <a:r>
              <a:rPr lang="zh-CN" altLang="en-US" sz="2200" smtClean="0"/>
              <a:t>可以提高某些事务的效率</a:t>
            </a:r>
            <a:endParaRPr lang="en-US" altLang="zh-CN" sz="2200" smtClean="0"/>
          </a:p>
          <a:p>
            <a:pPr lvl="2">
              <a:lnSpc>
                <a:spcPct val="120000"/>
              </a:lnSpc>
              <a:buSzPct val="87000"/>
              <a:buFont typeface="Wingdings" pitchFamily="2" charset="2"/>
              <a:buChar char="l"/>
            </a:pPr>
            <a:r>
              <a:rPr lang="zh-CN" altLang="en-US" smtClean="0"/>
              <a:t>垂直分解的缺点</a:t>
            </a:r>
          </a:p>
          <a:p>
            <a:pPr lvl="3">
              <a:lnSpc>
                <a:spcPct val="120000"/>
              </a:lnSpc>
              <a:buSzPct val="87000"/>
              <a:buFont typeface="Wingdings" pitchFamily="2" charset="2"/>
              <a:buChar char="Ø"/>
            </a:pPr>
            <a:r>
              <a:rPr lang="zh-CN" altLang="en-US" sz="2200" smtClean="0"/>
              <a:t>可能使另一些事务不得不执行连接操作，降低了效率</a:t>
            </a:r>
          </a:p>
        </p:txBody>
      </p:sp>
    </p:spTree>
  </p:cSld>
  <p:clrMapOvr>
    <a:masterClrMapping/>
  </p:clrMapOvr>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idx="4294967295"/>
          </p:nvPr>
        </p:nvSpPr>
        <p:spPr/>
        <p:txBody>
          <a:bodyPr/>
          <a:lstStyle/>
          <a:p>
            <a:r>
              <a:rPr lang="en-US" altLang="zh-CN" sz="3600" smtClean="0"/>
              <a:t>7.4  </a:t>
            </a:r>
            <a:r>
              <a:rPr lang="zh-CN" altLang="en-US" sz="3600" smtClean="0"/>
              <a:t>逻辑结构设计</a:t>
            </a:r>
          </a:p>
        </p:txBody>
      </p:sp>
      <p:sp>
        <p:nvSpPr>
          <p:cNvPr id="28675" name="Rectangle 3"/>
          <p:cNvSpPr>
            <a:spLocks noGrp="1" noChangeArrowheads="1"/>
          </p:cNvSpPr>
          <p:nvPr>
            <p:ph type="body" idx="4294967295"/>
          </p:nvPr>
        </p:nvSpPr>
        <p:spPr>
          <a:xfrm>
            <a:off x="755650" y="1339850"/>
            <a:ext cx="7931150" cy="4854575"/>
          </a:xfrm>
        </p:spPr>
        <p:txBody>
          <a:bodyPr/>
          <a:lstStyle/>
          <a:p>
            <a:pPr marL="0" indent="0">
              <a:lnSpc>
                <a:spcPct val="150000"/>
              </a:lnSpc>
              <a:buFont typeface="Wingdings" pitchFamily="2" charset="2"/>
              <a:buNone/>
            </a:pPr>
            <a:r>
              <a:rPr lang="en-US" altLang="zh-CN" smtClean="0"/>
              <a:t>7.4.1  E-R</a:t>
            </a:r>
            <a:r>
              <a:rPr lang="zh-CN" altLang="en-US" smtClean="0"/>
              <a:t>图向关系模型的转换</a:t>
            </a:r>
          </a:p>
          <a:p>
            <a:pPr marL="0" indent="0">
              <a:lnSpc>
                <a:spcPct val="150000"/>
              </a:lnSpc>
              <a:buFont typeface="Wingdings" pitchFamily="2" charset="2"/>
              <a:buNone/>
            </a:pPr>
            <a:r>
              <a:rPr lang="en-US" altLang="zh-CN" smtClean="0"/>
              <a:t>7.4.2  </a:t>
            </a:r>
            <a:r>
              <a:rPr lang="zh-CN" altLang="en-US" smtClean="0"/>
              <a:t>数据模型的优化</a:t>
            </a:r>
            <a:endParaRPr lang="en-US" smtClean="0"/>
          </a:p>
          <a:p>
            <a:pPr marL="0" indent="0">
              <a:lnSpc>
                <a:spcPct val="150000"/>
              </a:lnSpc>
              <a:buFont typeface="Wingdings" pitchFamily="2" charset="2"/>
              <a:buNone/>
            </a:pPr>
            <a:r>
              <a:rPr lang="en-US" altLang="zh-CN" smtClean="0">
                <a:solidFill>
                  <a:srgbClr val="00B050"/>
                </a:solidFill>
              </a:rPr>
              <a:t>7.4.3  </a:t>
            </a:r>
            <a:r>
              <a:rPr lang="zh-CN" altLang="en-US" smtClean="0">
                <a:solidFill>
                  <a:srgbClr val="00B050"/>
                </a:solidFill>
              </a:rPr>
              <a:t>设计用户子模式</a:t>
            </a:r>
          </a:p>
        </p:txBody>
      </p:sp>
    </p:spTree>
  </p:cSld>
  <p:clrMapOvr>
    <a:masterClrMapping/>
  </p:clrMapOvr>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idx="4294967295"/>
          </p:nvPr>
        </p:nvSpPr>
        <p:spPr/>
        <p:txBody>
          <a:bodyPr/>
          <a:lstStyle/>
          <a:p>
            <a:r>
              <a:rPr lang="en-US" altLang="zh-CN" sz="3600" smtClean="0"/>
              <a:t>7.4.3  </a:t>
            </a:r>
            <a:r>
              <a:rPr lang="zh-CN" altLang="en-US" sz="3600" smtClean="0"/>
              <a:t>设计用户子模式</a:t>
            </a:r>
          </a:p>
        </p:txBody>
      </p:sp>
      <p:sp>
        <p:nvSpPr>
          <p:cNvPr id="29699" name="Rectangle 3"/>
          <p:cNvSpPr>
            <a:spLocks noGrp="1" noChangeArrowheads="1"/>
          </p:cNvSpPr>
          <p:nvPr>
            <p:ph idx="4294967295"/>
          </p:nvPr>
        </p:nvSpPr>
        <p:spPr/>
        <p:txBody>
          <a:bodyPr/>
          <a:lstStyle/>
          <a:p>
            <a:pPr>
              <a:lnSpc>
                <a:spcPct val="120000"/>
              </a:lnSpc>
            </a:pPr>
            <a:r>
              <a:rPr lang="zh-CN" dirty="0" smtClean="0"/>
              <a:t>定义数据库模式主要是从系统的时间效率、空间效率、易维护等角度出发。</a:t>
            </a:r>
            <a:endParaRPr lang="en-US" altLang="zh-CN" dirty="0" smtClean="0"/>
          </a:p>
          <a:p>
            <a:pPr>
              <a:lnSpc>
                <a:spcPct val="120000"/>
              </a:lnSpc>
              <a:buNone/>
            </a:pPr>
            <a:r>
              <a:rPr lang="en-US" altLang="zh-CN" dirty="0" smtClean="0"/>
              <a:t>    </a:t>
            </a:r>
            <a:r>
              <a:rPr lang="zh-CN" altLang="en-US" dirty="0" smtClean="0">
                <a:solidFill>
                  <a:srgbClr val="FF0000"/>
                </a:solidFill>
              </a:rPr>
              <a:t>建立模式的子集，也就是视图</a:t>
            </a:r>
            <a:endParaRPr lang="zh-CN" dirty="0" smtClean="0">
              <a:solidFill>
                <a:srgbClr val="FF0000"/>
              </a:solidFill>
            </a:endParaRPr>
          </a:p>
          <a:p>
            <a:pPr>
              <a:lnSpc>
                <a:spcPct val="120000"/>
              </a:lnSpc>
            </a:pPr>
            <a:r>
              <a:rPr lang="zh-CN" dirty="0" smtClean="0"/>
              <a:t>定义用户外模式时应该更注重考虑用户的习惯与方便。包括三个方面：</a:t>
            </a:r>
          </a:p>
          <a:p>
            <a:pPr>
              <a:buFont typeface="Wingdings" pitchFamily="2" charset="2"/>
              <a:buNone/>
            </a:pPr>
            <a:endParaRPr lang="zh-CN" altLang="zh-CN" dirty="0" smtClean="0"/>
          </a:p>
        </p:txBody>
      </p:sp>
    </p:spTree>
  </p:cSld>
  <p:clrMapOvr>
    <a:masterClrMapping/>
  </p:clrMapOvr>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idx="4294967295"/>
          </p:nvPr>
        </p:nvSpPr>
        <p:spPr/>
        <p:txBody>
          <a:bodyPr/>
          <a:lstStyle/>
          <a:p>
            <a:r>
              <a:rPr lang="zh-CN" altLang="en-US" sz="3600" smtClean="0"/>
              <a:t>设计用户子模式（续）</a:t>
            </a:r>
          </a:p>
        </p:txBody>
      </p:sp>
      <p:sp>
        <p:nvSpPr>
          <p:cNvPr id="30723" name="Rectangle 3"/>
          <p:cNvSpPr>
            <a:spLocks noGrp="1" noChangeArrowheads="1"/>
          </p:cNvSpPr>
          <p:nvPr>
            <p:ph idx="4294967295"/>
          </p:nvPr>
        </p:nvSpPr>
        <p:spPr>
          <a:xfrm>
            <a:off x="323850" y="1141413"/>
            <a:ext cx="8362950" cy="5095875"/>
          </a:xfrm>
        </p:spPr>
        <p:txBody>
          <a:bodyPr/>
          <a:lstStyle/>
          <a:p>
            <a:pPr marL="400050" lvl="1" indent="0">
              <a:lnSpc>
                <a:spcPct val="120000"/>
              </a:lnSpc>
              <a:buFont typeface="Wingdings" pitchFamily="2" charset="2"/>
              <a:buNone/>
            </a:pPr>
            <a:r>
              <a:rPr lang="zh-CN" altLang="en-US" dirty="0" smtClean="0"/>
              <a:t>（</a:t>
            </a:r>
            <a:r>
              <a:rPr lang="en-US" altLang="zh-CN" dirty="0" smtClean="0"/>
              <a:t>1</a:t>
            </a:r>
            <a:r>
              <a:rPr lang="zh-CN" altLang="en-US" dirty="0" smtClean="0"/>
              <a:t>）使用更符合用户习惯的别名</a:t>
            </a:r>
          </a:p>
          <a:p>
            <a:pPr lvl="2">
              <a:lnSpc>
                <a:spcPct val="120000"/>
              </a:lnSpc>
              <a:buSzPct val="87000"/>
              <a:buFont typeface="Wingdings" pitchFamily="2" charset="2"/>
              <a:buChar char="l"/>
            </a:pPr>
            <a:r>
              <a:rPr lang="zh-CN" altLang="zh-CN" dirty="0" smtClean="0"/>
              <a:t>用视图机制可以在设计用户视图时</a:t>
            </a:r>
            <a:r>
              <a:rPr lang="zh-CN" altLang="en-US" dirty="0" smtClean="0"/>
              <a:t>可以</a:t>
            </a:r>
            <a:r>
              <a:rPr lang="zh-CN" altLang="zh-CN" dirty="0" smtClean="0"/>
              <a:t>重新定义某些属性名，使其与用户习惯一致，以方便使用。</a:t>
            </a:r>
            <a:endParaRPr lang="zh-CN" altLang="en-US" dirty="0" smtClean="0"/>
          </a:p>
        </p:txBody>
      </p:sp>
    </p:spTree>
  </p:cSld>
  <p:clrMapOvr>
    <a:masterClrMapping/>
  </p:clrMapOvr>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idx="4294967295"/>
          </p:nvPr>
        </p:nvSpPr>
        <p:spPr/>
        <p:txBody>
          <a:bodyPr/>
          <a:lstStyle/>
          <a:p>
            <a:r>
              <a:rPr lang="zh-CN" altLang="en-US" sz="3600" smtClean="0"/>
              <a:t>设计用户子模式（续）</a:t>
            </a:r>
          </a:p>
        </p:txBody>
      </p:sp>
      <p:sp>
        <p:nvSpPr>
          <p:cNvPr id="31747" name="Rectangle 3"/>
          <p:cNvSpPr>
            <a:spLocks noGrp="1" noChangeArrowheads="1"/>
          </p:cNvSpPr>
          <p:nvPr>
            <p:ph idx="4294967295"/>
          </p:nvPr>
        </p:nvSpPr>
        <p:spPr>
          <a:xfrm>
            <a:off x="457200" y="1098550"/>
            <a:ext cx="8229600" cy="5095875"/>
          </a:xfrm>
        </p:spPr>
        <p:txBody>
          <a:bodyPr/>
          <a:lstStyle/>
          <a:p>
            <a:pPr marL="400050" lvl="1" indent="0">
              <a:buFont typeface="Wingdings" pitchFamily="2" charset="2"/>
              <a:buNone/>
            </a:pPr>
            <a:r>
              <a:rPr lang="zh-CN" altLang="en-US" dirty="0" smtClean="0"/>
              <a:t>（</a:t>
            </a:r>
            <a:r>
              <a:rPr lang="en-US" altLang="zh-CN" dirty="0" smtClean="0"/>
              <a:t>2</a:t>
            </a:r>
            <a:r>
              <a:rPr lang="zh-CN" altLang="en-US" dirty="0" smtClean="0"/>
              <a:t>）针对不同级别的用户定义不同的视图，以保证系统的安全性。</a:t>
            </a:r>
            <a:endParaRPr lang="en-US" dirty="0" smtClean="0"/>
          </a:p>
          <a:p>
            <a:pPr lvl="2">
              <a:lnSpc>
                <a:spcPct val="120000"/>
              </a:lnSpc>
              <a:buSzPct val="87000"/>
              <a:buFont typeface="Wingdings" pitchFamily="2" charset="2"/>
              <a:buChar char="l"/>
            </a:pPr>
            <a:r>
              <a:rPr lang="zh-CN" altLang="en-US" dirty="0" smtClean="0"/>
              <a:t>假设有关系模式产品（产品号，产品名，规格，单价，生产车间，生产负责人，产品成本，产品合格率，质量等级），可以在产品关系上建立两个视图：</a:t>
            </a:r>
          </a:p>
          <a:p>
            <a:pPr lvl="3">
              <a:lnSpc>
                <a:spcPct val="120000"/>
              </a:lnSpc>
              <a:buSzPct val="87000"/>
              <a:buFont typeface="Wingdings" pitchFamily="2" charset="2"/>
              <a:buChar char="Ø"/>
            </a:pPr>
            <a:r>
              <a:rPr lang="zh-CN" altLang="en-US" sz="2200" dirty="0" smtClean="0"/>
              <a:t>为一般顾客建立视图：</a:t>
            </a:r>
            <a:r>
              <a:rPr lang="en-US" sz="2200" dirty="0" smtClean="0"/>
              <a:t/>
            </a:r>
            <a:br>
              <a:rPr lang="en-US" sz="2200" dirty="0" smtClean="0"/>
            </a:br>
            <a:r>
              <a:rPr lang="zh-CN" altLang="en-US" sz="2200" dirty="0" smtClean="0"/>
              <a:t>    产品</a:t>
            </a:r>
            <a:r>
              <a:rPr lang="en-US" altLang="zh-CN" sz="2200" dirty="0" smtClean="0"/>
              <a:t>1</a:t>
            </a:r>
            <a:r>
              <a:rPr lang="zh-CN" altLang="en-US" sz="2200" dirty="0" smtClean="0"/>
              <a:t>（产品号，产品名，规格，单价）</a:t>
            </a:r>
          </a:p>
          <a:p>
            <a:pPr lvl="3">
              <a:lnSpc>
                <a:spcPct val="120000"/>
              </a:lnSpc>
              <a:buSzPct val="87000"/>
              <a:buFont typeface="Wingdings" pitchFamily="2" charset="2"/>
              <a:buChar char="Ø"/>
            </a:pPr>
            <a:r>
              <a:rPr lang="zh-CN" altLang="en-US" sz="2200" dirty="0" smtClean="0"/>
              <a:t>为产品销售部门建立视图：</a:t>
            </a:r>
            <a:r>
              <a:rPr lang="en-US" sz="2200" dirty="0" smtClean="0"/>
              <a:t/>
            </a:r>
            <a:br>
              <a:rPr lang="en-US" sz="2200" dirty="0" smtClean="0"/>
            </a:br>
            <a:r>
              <a:rPr lang="zh-CN" altLang="en-US" sz="2200" dirty="0" smtClean="0"/>
              <a:t>    产品</a:t>
            </a:r>
            <a:r>
              <a:rPr lang="en-US" altLang="zh-CN" sz="2200" dirty="0" smtClean="0"/>
              <a:t>2</a:t>
            </a:r>
            <a:r>
              <a:rPr lang="zh-CN" altLang="en-US" sz="2200" dirty="0" smtClean="0"/>
              <a:t>（产品号，产品名，规格，单价，车间，</a:t>
            </a:r>
            <a:endParaRPr lang="en-US" altLang="zh-CN" sz="2200" dirty="0" smtClean="0"/>
          </a:p>
          <a:p>
            <a:pPr lvl="3">
              <a:lnSpc>
                <a:spcPct val="120000"/>
              </a:lnSpc>
              <a:buSzPct val="87000"/>
              <a:buFont typeface="Arial" pitchFamily="34" charset="0"/>
              <a:buNone/>
            </a:pPr>
            <a:r>
              <a:rPr lang="en-US" altLang="zh-CN" sz="2200" dirty="0" smtClean="0"/>
              <a:t>                    </a:t>
            </a:r>
            <a:r>
              <a:rPr lang="zh-CN" altLang="en-US" sz="2200" dirty="0" smtClean="0"/>
              <a:t>生产负责人）</a:t>
            </a:r>
          </a:p>
          <a:p>
            <a:pPr marL="0" indent="0"/>
            <a:endParaRPr lang="zh-CN" altLang="en-US" dirty="0" smtClean="0"/>
          </a:p>
          <a:p>
            <a:pPr marL="0" indent="0"/>
            <a:endParaRPr lang="en-US" altLang="zh-CN" dirty="0" smtClean="0"/>
          </a:p>
        </p:txBody>
      </p:sp>
    </p:spTree>
  </p:cSld>
  <p:clrMapOvr>
    <a:masterClrMapping/>
  </p:clrMapOvr>
  <p:transition/>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idx="4294967295"/>
          </p:nvPr>
        </p:nvSpPr>
        <p:spPr/>
        <p:txBody>
          <a:bodyPr/>
          <a:lstStyle/>
          <a:p>
            <a:r>
              <a:rPr lang="zh-CN" altLang="en-US" sz="3600" smtClean="0"/>
              <a:t>设计用户子模式（续）</a:t>
            </a:r>
          </a:p>
        </p:txBody>
      </p:sp>
      <p:sp>
        <p:nvSpPr>
          <p:cNvPr id="32771" name="Rectangle 3"/>
          <p:cNvSpPr>
            <a:spLocks noGrp="1" noChangeArrowheads="1"/>
          </p:cNvSpPr>
          <p:nvPr>
            <p:ph idx="4294967295"/>
          </p:nvPr>
        </p:nvSpPr>
        <p:spPr>
          <a:xfrm>
            <a:off x="457200" y="1098550"/>
            <a:ext cx="8229600" cy="5095875"/>
          </a:xfrm>
        </p:spPr>
        <p:txBody>
          <a:bodyPr/>
          <a:lstStyle/>
          <a:p>
            <a:pPr marL="400050" lvl="1" indent="0">
              <a:lnSpc>
                <a:spcPct val="150000"/>
              </a:lnSpc>
              <a:buFont typeface="Wingdings" pitchFamily="2" charset="2"/>
              <a:buNone/>
            </a:pPr>
            <a:r>
              <a:rPr lang="zh-CN" altLang="en-US" smtClean="0"/>
              <a:t>（</a:t>
            </a:r>
            <a:r>
              <a:rPr lang="en-US" altLang="zh-CN" smtClean="0"/>
              <a:t>3</a:t>
            </a:r>
            <a:r>
              <a:rPr lang="zh-CN" altLang="en-US" smtClean="0"/>
              <a:t>）简化用户对系统的使用</a:t>
            </a:r>
          </a:p>
          <a:p>
            <a:pPr lvl="2">
              <a:lnSpc>
                <a:spcPct val="150000"/>
              </a:lnSpc>
              <a:buSzPct val="87000"/>
              <a:buFont typeface="Wingdings" pitchFamily="2" charset="2"/>
              <a:buChar char="l"/>
            </a:pPr>
            <a:r>
              <a:rPr lang="zh-CN" altLang="en-US" smtClean="0"/>
              <a:t>如果某些局部应用中经常要使用某些很复杂的查询，为了方便用户，可以将这些复杂查询定义为视图。</a:t>
            </a:r>
          </a:p>
        </p:txBody>
      </p:sp>
    </p:spTree>
  </p:cSld>
  <p:clrMapOvr>
    <a:masterClrMapping/>
  </p:clrMapOvr>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p:cNvSpPr>
            <a:spLocks noGrp="1" noChangeArrowheads="1"/>
          </p:cNvSpPr>
          <p:nvPr>
            <p:ph type="title" idx="4294967295"/>
          </p:nvPr>
        </p:nvSpPr>
        <p:spPr/>
        <p:txBody>
          <a:bodyPr/>
          <a:lstStyle/>
          <a:p>
            <a:r>
              <a:rPr lang="zh-CN" smtClean="0"/>
              <a:t>第七章  数据库设计</a:t>
            </a:r>
          </a:p>
        </p:txBody>
      </p:sp>
      <p:sp>
        <p:nvSpPr>
          <p:cNvPr id="33795" name="Rectangle 3"/>
          <p:cNvSpPr>
            <a:spLocks noGrp="1" noChangeArrowheads="1"/>
          </p:cNvSpPr>
          <p:nvPr>
            <p:ph idx="4294967295"/>
          </p:nvPr>
        </p:nvSpPr>
        <p:spPr>
          <a:xfrm>
            <a:off x="755650" y="1098550"/>
            <a:ext cx="7931150" cy="4854575"/>
          </a:xfrm>
        </p:spPr>
        <p:txBody>
          <a:bodyPr/>
          <a:lstStyle/>
          <a:p>
            <a:pPr marL="0" indent="0">
              <a:lnSpc>
                <a:spcPct val="150000"/>
              </a:lnSpc>
              <a:buFont typeface="Wingdings" pitchFamily="2" charset="2"/>
              <a:buNone/>
            </a:pPr>
            <a:r>
              <a:rPr lang="en-US" altLang="zh-CN" dirty="0" smtClean="0"/>
              <a:t>7.1  </a:t>
            </a:r>
            <a:r>
              <a:rPr lang="zh-CN" altLang="en-US" dirty="0" smtClean="0"/>
              <a:t>数据库设计概述</a:t>
            </a:r>
          </a:p>
          <a:p>
            <a:pPr marL="0" indent="0">
              <a:lnSpc>
                <a:spcPct val="150000"/>
              </a:lnSpc>
              <a:buFont typeface="Wingdings" pitchFamily="2" charset="2"/>
              <a:buNone/>
            </a:pPr>
            <a:r>
              <a:rPr lang="en-US" altLang="zh-CN" dirty="0" smtClean="0"/>
              <a:t>7.2  </a:t>
            </a:r>
            <a:r>
              <a:rPr lang="zh-CN" altLang="en-US" dirty="0" smtClean="0"/>
              <a:t>需求分析</a:t>
            </a:r>
          </a:p>
          <a:p>
            <a:pPr marL="0" indent="0">
              <a:lnSpc>
                <a:spcPct val="150000"/>
              </a:lnSpc>
              <a:buFont typeface="Wingdings" pitchFamily="2" charset="2"/>
              <a:buNone/>
            </a:pPr>
            <a:r>
              <a:rPr lang="en-US" altLang="zh-CN" dirty="0" smtClean="0"/>
              <a:t>7.3  </a:t>
            </a:r>
            <a:r>
              <a:rPr lang="zh-CN" altLang="en-US" dirty="0" smtClean="0"/>
              <a:t>概念结构设计</a:t>
            </a:r>
          </a:p>
          <a:p>
            <a:pPr marL="0" indent="0">
              <a:lnSpc>
                <a:spcPct val="150000"/>
              </a:lnSpc>
              <a:buFont typeface="Wingdings" pitchFamily="2" charset="2"/>
              <a:buNone/>
            </a:pPr>
            <a:r>
              <a:rPr lang="en-US" altLang="zh-CN" dirty="0" smtClean="0"/>
              <a:t>7.4  </a:t>
            </a:r>
            <a:r>
              <a:rPr lang="zh-CN" altLang="en-US" dirty="0" smtClean="0"/>
              <a:t>逻辑结构设计</a:t>
            </a:r>
          </a:p>
          <a:p>
            <a:pPr marL="0" indent="0">
              <a:lnSpc>
                <a:spcPct val="150000"/>
              </a:lnSpc>
              <a:buFont typeface="Wingdings" pitchFamily="2" charset="2"/>
              <a:buNone/>
            </a:pPr>
            <a:r>
              <a:rPr lang="en-US" altLang="zh-CN" dirty="0" smtClean="0">
                <a:solidFill>
                  <a:srgbClr val="0066FF"/>
                </a:solidFill>
              </a:rPr>
              <a:t>7.5  </a:t>
            </a:r>
            <a:r>
              <a:rPr lang="zh-CN" altLang="en-US" dirty="0" smtClean="0">
                <a:solidFill>
                  <a:srgbClr val="0066FF"/>
                </a:solidFill>
              </a:rPr>
              <a:t>物理结构设计</a:t>
            </a:r>
          </a:p>
          <a:p>
            <a:pPr marL="0" indent="0">
              <a:lnSpc>
                <a:spcPct val="150000"/>
              </a:lnSpc>
              <a:buFont typeface="Wingdings" pitchFamily="2" charset="2"/>
              <a:buNone/>
            </a:pPr>
            <a:r>
              <a:rPr lang="en-US" altLang="zh-CN" dirty="0" smtClean="0"/>
              <a:t>7.6  </a:t>
            </a:r>
            <a:r>
              <a:rPr lang="zh-CN" altLang="en-US" dirty="0" smtClean="0"/>
              <a:t>数据库的实施和维护</a:t>
            </a:r>
          </a:p>
          <a:p>
            <a:pPr marL="0" indent="0">
              <a:lnSpc>
                <a:spcPct val="150000"/>
              </a:lnSpc>
              <a:buFont typeface="Wingdings" pitchFamily="2" charset="2"/>
              <a:buNone/>
            </a:pPr>
            <a:r>
              <a:rPr lang="en-US" altLang="zh-CN" dirty="0" smtClean="0"/>
              <a:t>7.7  </a:t>
            </a:r>
            <a:r>
              <a:rPr lang="zh-CN" altLang="en-US" dirty="0" smtClean="0"/>
              <a:t>小结</a:t>
            </a:r>
          </a:p>
        </p:txBody>
      </p:sp>
    </p:spTree>
  </p:cSld>
  <p:clrMapOvr>
    <a:masterClrMapping/>
  </p:clrMapOvr>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idx="4294967295"/>
          </p:nvPr>
        </p:nvSpPr>
        <p:spPr/>
        <p:txBody>
          <a:bodyPr/>
          <a:lstStyle/>
          <a:p>
            <a:r>
              <a:rPr lang="en-US" altLang="zh-CN" sz="3600" smtClean="0"/>
              <a:t>7.5  </a:t>
            </a:r>
            <a:r>
              <a:rPr lang="zh-CN" altLang="en-US" sz="3600" smtClean="0"/>
              <a:t>数据库的物理设计</a:t>
            </a:r>
          </a:p>
        </p:txBody>
      </p:sp>
      <p:sp>
        <p:nvSpPr>
          <p:cNvPr id="34819" name="Rectangle 3"/>
          <p:cNvSpPr>
            <a:spLocks noGrp="1" noChangeArrowheads="1"/>
          </p:cNvSpPr>
          <p:nvPr>
            <p:ph idx="4294967295"/>
          </p:nvPr>
        </p:nvSpPr>
        <p:spPr>
          <a:xfrm>
            <a:off x="457200" y="1196975"/>
            <a:ext cx="8229600" cy="4997450"/>
          </a:xfrm>
        </p:spPr>
        <p:txBody>
          <a:bodyPr/>
          <a:lstStyle/>
          <a:p>
            <a:pPr>
              <a:lnSpc>
                <a:spcPct val="150000"/>
              </a:lnSpc>
            </a:pPr>
            <a:r>
              <a:rPr lang="zh-CN" altLang="en-US" dirty="0" smtClean="0"/>
              <a:t>什么是数据库的物理设计</a:t>
            </a:r>
          </a:p>
          <a:p>
            <a:pPr lvl="1">
              <a:lnSpc>
                <a:spcPct val="150000"/>
              </a:lnSpc>
            </a:pPr>
            <a:r>
              <a:rPr lang="zh-CN" altLang="en-US" dirty="0" smtClean="0"/>
              <a:t>数据库在物理设备上的存储结构与存取方法称为数据库的物理结构，它依赖于选定的数据库管理系统。</a:t>
            </a:r>
          </a:p>
          <a:p>
            <a:pPr lvl="1">
              <a:lnSpc>
                <a:spcPct val="150000"/>
              </a:lnSpc>
            </a:pPr>
            <a:r>
              <a:rPr lang="zh-CN" altLang="en-US" dirty="0" smtClean="0"/>
              <a:t>为一个给定的逻辑数据模型选取一个最适合应用要求的物理结构的过程，就是数据库的物理设计。</a:t>
            </a:r>
          </a:p>
        </p:txBody>
      </p:sp>
    </p:spTree>
  </p:cSld>
  <p:clrMapOvr>
    <a:masterClrMapping/>
  </p:clrMapOvr>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idx="4294967295"/>
          </p:nvPr>
        </p:nvSpPr>
        <p:spPr/>
        <p:txBody>
          <a:bodyPr/>
          <a:lstStyle/>
          <a:p>
            <a:r>
              <a:rPr lang="zh-CN" altLang="en-US" sz="3600" smtClean="0"/>
              <a:t>数据库的物理设计（续）</a:t>
            </a:r>
          </a:p>
        </p:txBody>
      </p:sp>
      <p:sp>
        <p:nvSpPr>
          <p:cNvPr id="35843" name="Rectangle 3"/>
          <p:cNvSpPr>
            <a:spLocks noGrp="1" noChangeArrowheads="1"/>
          </p:cNvSpPr>
          <p:nvPr>
            <p:ph idx="4294967295"/>
          </p:nvPr>
        </p:nvSpPr>
        <p:spPr/>
        <p:txBody>
          <a:bodyPr/>
          <a:lstStyle/>
          <a:p>
            <a:pPr>
              <a:lnSpc>
                <a:spcPct val="120000"/>
              </a:lnSpc>
            </a:pPr>
            <a:r>
              <a:rPr lang="zh-CN" altLang="en-US" dirty="0" smtClean="0"/>
              <a:t>数据库物理设计的步骤</a:t>
            </a:r>
          </a:p>
          <a:p>
            <a:pPr marL="457200" lvl="1" indent="0">
              <a:lnSpc>
                <a:spcPct val="120000"/>
              </a:lnSpc>
            </a:pPr>
            <a:r>
              <a:rPr lang="zh-CN" altLang="en-US" dirty="0" smtClean="0"/>
              <a:t> 确定数据库的物理结构</a:t>
            </a:r>
            <a:endParaRPr lang="en-US" dirty="0" smtClean="0"/>
          </a:p>
          <a:p>
            <a:pPr lvl="2">
              <a:lnSpc>
                <a:spcPct val="120000"/>
              </a:lnSpc>
              <a:buSzPct val="87000"/>
              <a:buFont typeface="Wingdings" pitchFamily="2" charset="2"/>
              <a:buChar char="l"/>
            </a:pPr>
            <a:r>
              <a:rPr lang="zh-CN" altLang="en-US" dirty="0" smtClean="0"/>
              <a:t>在关系数据库中主要指存取方法和存储结构</a:t>
            </a:r>
            <a:r>
              <a:rPr lang="en-US" altLang="zh-CN" dirty="0" smtClean="0"/>
              <a:t>;</a:t>
            </a:r>
            <a:endParaRPr lang="zh-CN" altLang="en-US" dirty="0" smtClean="0"/>
          </a:p>
          <a:p>
            <a:pPr marL="457200" lvl="1" indent="0">
              <a:lnSpc>
                <a:spcPct val="120000"/>
              </a:lnSpc>
            </a:pPr>
            <a:r>
              <a:rPr lang="zh-CN" altLang="en-US" dirty="0" smtClean="0"/>
              <a:t> 对物理结构进行评价</a:t>
            </a:r>
            <a:endParaRPr lang="en-US" dirty="0" smtClean="0"/>
          </a:p>
          <a:p>
            <a:pPr lvl="2">
              <a:lnSpc>
                <a:spcPct val="120000"/>
              </a:lnSpc>
              <a:buSzPct val="87000"/>
              <a:buFont typeface="Wingdings" pitchFamily="2" charset="2"/>
              <a:buChar char="l"/>
            </a:pPr>
            <a:r>
              <a:rPr lang="zh-CN" altLang="en-US" dirty="0" smtClean="0"/>
              <a:t>评价的重点是时间和空间效率</a:t>
            </a:r>
          </a:p>
        </p:txBody>
      </p:sp>
    </p:spTree>
  </p:cSld>
  <p:clrMapOvr>
    <a:masterClrMapping/>
  </p:clrMapOvr>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r>
              <a:rPr lang="zh-CN" altLang="en-US" sz="3600"/>
              <a:t>一、 确定数据库的物理结构</a:t>
            </a:r>
          </a:p>
        </p:txBody>
      </p:sp>
      <p:sp>
        <p:nvSpPr>
          <p:cNvPr id="8195" name="Rectangle 3"/>
          <p:cNvSpPr>
            <a:spLocks noGrp="1" noChangeArrowheads="1"/>
          </p:cNvSpPr>
          <p:nvPr>
            <p:ph type="body" idx="1"/>
          </p:nvPr>
        </p:nvSpPr>
        <p:spPr/>
        <p:txBody>
          <a:bodyPr/>
          <a:lstStyle/>
          <a:p>
            <a:r>
              <a:rPr lang="en-US" altLang="zh-CN" dirty="0" smtClean="0"/>
              <a:t>1. </a:t>
            </a:r>
            <a:r>
              <a:rPr lang="zh-CN" altLang="en-US" dirty="0"/>
              <a:t>确定数据的存储结构 </a:t>
            </a:r>
          </a:p>
          <a:p>
            <a:r>
              <a:rPr lang="en-US" altLang="zh-CN" dirty="0" smtClean="0"/>
              <a:t>2. </a:t>
            </a:r>
            <a:r>
              <a:rPr lang="zh-CN" altLang="en-US" dirty="0" smtClean="0"/>
              <a:t>确定数据的存取路径</a:t>
            </a:r>
            <a:endParaRPr lang="en-US" altLang="zh-CN" dirty="0" smtClean="0"/>
          </a:p>
          <a:p>
            <a:r>
              <a:rPr lang="en-US" altLang="zh-CN" dirty="0" smtClean="0"/>
              <a:t>3. </a:t>
            </a:r>
            <a:r>
              <a:rPr lang="zh-CN" altLang="en-US" dirty="0" smtClean="0"/>
              <a:t>确定数据的存放位置</a:t>
            </a:r>
            <a:endParaRPr lang="en-US" altLang="zh-CN" dirty="0"/>
          </a:p>
        </p:txBody>
      </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r>
              <a:rPr lang="zh-CN" altLang="en-US" sz="3600"/>
              <a:t>一、 确定数据库的物理结构</a:t>
            </a:r>
          </a:p>
        </p:txBody>
      </p:sp>
      <p:sp>
        <p:nvSpPr>
          <p:cNvPr id="8195" name="Rectangle 3"/>
          <p:cNvSpPr>
            <a:spLocks noGrp="1" noChangeArrowheads="1"/>
          </p:cNvSpPr>
          <p:nvPr>
            <p:ph type="body" idx="1"/>
          </p:nvPr>
        </p:nvSpPr>
        <p:spPr/>
        <p:txBody>
          <a:bodyPr/>
          <a:lstStyle/>
          <a:p>
            <a:r>
              <a:rPr lang="en-US" altLang="zh-CN" dirty="0"/>
              <a:t>⒈ </a:t>
            </a:r>
            <a:r>
              <a:rPr lang="zh-CN" altLang="en-US" dirty="0"/>
              <a:t>确定数据的存储结构 </a:t>
            </a:r>
          </a:p>
          <a:p>
            <a:pPr lvl="1"/>
            <a:r>
              <a:rPr lang="zh-CN" altLang="en-US" dirty="0"/>
              <a:t> 确定数据库存储结构时要综合考虑存取时间、存储空间利用率和维护代价三方面的因素。</a:t>
            </a:r>
          </a:p>
          <a:p>
            <a:pPr lvl="2"/>
            <a:r>
              <a:rPr lang="zh-CN" altLang="en-US" dirty="0"/>
              <a:t>这三个方面常常是相互矛盾的，例如消除一切冗余数据虽然能够节约存储空间，但往往会导致检索代价的增加，因此必须进行权衡，选择一个折中方案。 </a:t>
            </a:r>
          </a:p>
          <a:p>
            <a:endParaRPr lang="en-US" altLang="zh-CN" dirty="0"/>
          </a:p>
        </p:txBody>
      </p: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endParaRPr lang="zh-CN" altLang="zh-CN"/>
          </a:p>
        </p:txBody>
      </p:sp>
      <p:sp>
        <p:nvSpPr>
          <p:cNvPr id="9219" name="Rectangle 3"/>
          <p:cNvSpPr>
            <a:spLocks noGrp="1" noChangeArrowheads="1"/>
          </p:cNvSpPr>
          <p:nvPr>
            <p:ph type="body" idx="1"/>
          </p:nvPr>
        </p:nvSpPr>
        <p:spPr/>
        <p:txBody>
          <a:bodyPr/>
          <a:lstStyle/>
          <a:p>
            <a:r>
              <a:rPr lang="zh-CN" altLang="en-US" sz="2600" dirty="0"/>
              <a:t>聚簇就是为了提高查询速度，把在一个（或一组）属性上具有相同值的元组集中地存放在一个物理块中。如果存放不下，可以存放在相邻的物理块中。其中，这个（或这组）属性称为聚簇码。</a:t>
            </a:r>
          </a:p>
          <a:p>
            <a:r>
              <a:rPr lang="zh-CN" altLang="en-US" sz="2600" dirty="0"/>
              <a:t>为什么要使用聚簇呢？</a:t>
            </a:r>
          </a:p>
          <a:p>
            <a:pPr lvl="1"/>
            <a:r>
              <a:rPr lang="zh-CN" altLang="en-US" sz="2200" dirty="0"/>
              <a:t>①使用聚簇以后，聚簇码相同的元组集中在一起了，因而聚簇值不必在每个元组中重复存储，只要在一组中存储一次即可，因此可以节省存储空间。</a:t>
            </a:r>
          </a:p>
          <a:p>
            <a:pPr lvl="1"/>
            <a:r>
              <a:rPr lang="zh-CN" altLang="en-US" sz="2200" dirty="0"/>
              <a:t>②聚簇功能可以大大提高按聚簇码进行查询的效率。</a:t>
            </a:r>
          </a:p>
        </p:txBody>
      </p:sp>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endParaRPr lang="zh-CN" altLang="zh-CN"/>
          </a:p>
        </p:txBody>
      </p:sp>
      <p:sp>
        <p:nvSpPr>
          <p:cNvPr id="10243" name="Rectangle 3"/>
          <p:cNvSpPr>
            <a:spLocks noGrp="1" noChangeArrowheads="1"/>
          </p:cNvSpPr>
          <p:nvPr>
            <p:ph type="body" idx="1"/>
          </p:nvPr>
        </p:nvSpPr>
        <p:spPr/>
        <p:txBody>
          <a:bodyPr/>
          <a:lstStyle/>
          <a:p>
            <a:r>
              <a:rPr lang="en-US" altLang="zh-CN" dirty="0"/>
              <a:t>⒉ </a:t>
            </a:r>
            <a:r>
              <a:rPr lang="zh-CN" altLang="en-US" dirty="0"/>
              <a:t>设计数据的存取路径 </a:t>
            </a:r>
          </a:p>
          <a:p>
            <a:pPr lvl="1"/>
            <a:r>
              <a:rPr lang="zh-CN" altLang="en-US" dirty="0"/>
              <a:t> 在关系数据库中，选择存取路径主要是指确定如何建立索引。</a:t>
            </a:r>
          </a:p>
          <a:p>
            <a:pPr lvl="2"/>
            <a:r>
              <a:rPr lang="zh-CN" altLang="en-US" dirty="0"/>
              <a:t>例如，应把</a:t>
            </a:r>
            <a:r>
              <a:rPr lang="zh-CN" altLang="en-US" dirty="0" smtClean="0"/>
              <a:t>哪些字段作为次索引字段，</a:t>
            </a:r>
            <a:r>
              <a:rPr lang="zh-CN" altLang="en-US" dirty="0"/>
              <a:t>建立单码索引还是组合索引，建立多少个为合适，是否建立聚集索引等。 </a:t>
            </a:r>
          </a:p>
          <a:p>
            <a:endParaRPr lang="en-US" altLang="zh-CN" dirty="0"/>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p:txBody>
          <a:bodyPr/>
          <a:lstStyle/>
          <a:p>
            <a:endParaRPr lang="zh-CN" altLang="zh-CN"/>
          </a:p>
        </p:txBody>
      </p:sp>
      <p:sp>
        <p:nvSpPr>
          <p:cNvPr id="29699" name="Rectangle 3"/>
          <p:cNvSpPr>
            <a:spLocks noGrp="1" noChangeArrowheads="1"/>
          </p:cNvSpPr>
          <p:nvPr>
            <p:ph type="body" idx="1"/>
          </p:nvPr>
        </p:nvSpPr>
        <p:spPr>
          <a:xfrm>
            <a:off x="0" y="857232"/>
            <a:ext cx="9144000" cy="5040313"/>
          </a:xfrm>
        </p:spPr>
        <p:txBody>
          <a:bodyPr/>
          <a:lstStyle/>
          <a:p>
            <a:pPr>
              <a:lnSpc>
                <a:spcPct val="115000"/>
              </a:lnSpc>
            </a:pPr>
            <a:r>
              <a:rPr lang="zh-CN" altLang="en-US" sz="2600" dirty="0"/>
              <a:t>建立索引参照以下原则： </a:t>
            </a:r>
          </a:p>
          <a:p>
            <a:pPr lvl="1">
              <a:lnSpc>
                <a:spcPct val="115000"/>
              </a:lnSpc>
            </a:pPr>
            <a:r>
              <a:rPr lang="zh-CN" altLang="en-US" sz="2200" dirty="0"/>
              <a:t>在经常检索的列上创建索引（如经常在</a:t>
            </a:r>
            <a:r>
              <a:rPr lang="en-US" altLang="zh-CN" sz="2200" dirty="0"/>
              <a:t>where</a:t>
            </a:r>
            <a:r>
              <a:rPr lang="zh-CN" altLang="en-US" sz="2200" dirty="0"/>
              <a:t>子句中出现得列）。</a:t>
            </a:r>
            <a:endParaRPr lang="zh-CN" altLang="en-US" sz="2200" dirty="0">
              <a:sym typeface="Wingdings" pitchFamily="2" charset="2"/>
            </a:endParaRPr>
          </a:p>
          <a:p>
            <a:pPr lvl="1">
              <a:lnSpc>
                <a:spcPct val="115000"/>
              </a:lnSpc>
            </a:pPr>
            <a:r>
              <a:rPr lang="zh-CN" altLang="en-US" sz="2200" dirty="0"/>
              <a:t>在表的主键、外键上创建索引。</a:t>
            </a:r>
            <a:endParaRPr lang="zh-CN" altLang="en-US" sz="2200" dirty="0">
              <a:sym typeface="Wingdings" pitchFamily="2" charset="2"/>
            </a:endParaRPr>
          </a:p>
          <a:p>
            <a:pPr lvl="1">
              <a:lnSpc>
                <a:spcPct val="115000"/>
              </a:lnSpc>
            </a:pPr>
            <a:r>
              <a:rPr lang="zh-CN" altLang="en-US" sz="2200" dirty="0"/>
              <a:t>在经常用于表间连接的字段上建立索引。</a:t>
            </a:r>
          </a:p>
          <a:p>
            <a:pPr>
              <a:lnSpc>
                <a:spcPct val="115000"/>
              </a:lnSpc>
            </a:pPr>
            <a:r>
              <a:rPr lang="zh-CN" altLang="en-US" sz="2600" dirty="0"/>
              <a:t>一般而言，如下情况的列不考虑在其上创建索引：</a:t>
            </a:r>
            <a:endParaRPr lang="zh-CN" altLang="en-US" sz="2600" dirty="0">
              <a:sym typeface="Wingdings" pitchFamily="2" charset="2"/>
            </a:endParaRPr>
          </a:p>
          <a:p>
            <a:pPr lvl="1">
              <a:lnSpc>
                <a:spcPct val="115000"/>
              </a:lnSpc>
            </a:pPr>
            <a:r>
              <a:rPr lang="zh-CN" altLang="en-US" sz="2200" dirty="0"/>
              <a:t>在查询中几乎不涉及的列。</a:t>
            </a:r>
            <a:endParaRPr lang="zh-CN" altLang="en-US" sz="2200" dirty="0">
              <a:sym typeface="Wingdings" pitchFamily="2" charset="2"/>
            </a:endParaRPr>
          </a:p>
          <a:p>
            <a:pPr lvl="1">
              <a:lnSpc>
                <a:spcPct val="115000"/>
              </a:lnSpc>
            </a:pPr>
            <a:r>
              <a:rPr lang="zh-CN" altLang="en-US" sz="2200" dirty="0"/>
              <a:t>很少有唯一值的列（即包含太多重复值得列，如性别字段）。</a:t>
            </a:r>
            <a:endParaRPr lang="zh-CN" altLang="en-US" sz="2200" dirty="0">
              <a:sym typeface="Wingdings" pitchFamily="2" charset="2"/>
            </a:endParaRPr>
          </a:p>
          <a:p>
            <a:pPr lvl="1">
              <a:lnSpc>
                <a:spcPct val="115000"/>
              </a:lnSpc>
            </a:pPr>
            <a:r>
              <a:rPr lang="zh-CN" altLang="en-US" sz="2200" dirty="0"/>
              <a:t>数据类型为</a:t>
            </a:r>
            <a:r>
              <a:rPr lang="en-US" altLang="zh-CN" sz="2200" dirty="0"/>
              <a:t>text</a:t>
            </a:r>
            <a:r>
              <a:rPr lang="zh-CN" altLang="en-US" sz="2200" dirty="0"/>
              <a:t>、</a:t>
            </a:r>
            <a:r>
              <a:rPr lang="en-US" altLang="zh-CN" sz="2200" dirty="0" err="1"/>
              <a:t>ntext</a:t>
            </a:r>
            <a:r>
              <a:rPr lang="zh-CN" altLang="en-US" sz="2200" dirty="0"/>
              <a:t>或</a:t>
            </a:r>
            <a:r>
              <a:rPr lang="en-US" altLang="zh-CN" sz="2200" dirty="0"/>
              <a:t>image</a:t>
            </a:r>
            <a:r>
              <a:rPr lang="zh-CN" altLang="en-US" sz="2200" dirty="0"/>
              <a:t>的列。</a:t>
            </a:r>
            <a:endParaRPr lang="zh-CN" altLang="en-US" sz="2200" dirty="0">
              <a:sym typeface="Wingdings" pitchFamily="2" charset="2"/>
            </a:endParaRPr>
          </a:p>
          <a:p>
            <a:pPr lvl="1">
              <a:lnSpc>
                <a:spcPct val="115000"/>
              </a:lnSpc>
            </a:pPr>
            <a:r>
              <a:rPr lang="zh-CN" altLang="en-US" sz="2200" dirty="0"/>
              <a:t>只有较少行数的表没有必要创建索引。</a:t>
            </a:r>
            <a:endParaRPr lang="zh-CN" altLang="en-US" sz="2200" dirty="0">
              <a:sym typeface="Wingdings" pitchFamily="2" charset="2"/>
            </a:endParaRPr>
          </a:p>
          <a:p>
            <a:pPr lvl="1">
              <a:lnSpc>
                <a:spcPct val="115000"/>
              </a:lnSpc>
            </a:pPr>
            <a:r>
              <a:rPr lang="zh-CN" altLang="en-US" sz="2200" dirty="0"/>
              <a:t>当写的性能比查询更重要时，应少建或不建索引。</a:t>
            </a:r>
          </a:p>
        </p:txBody>
      </p:sp>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altLang="en-US" sz="3200" dirty="0" err="1" smtClean="0"/>
              <a:t>数据</a:t>
            </a:r>
            <a:r>
              <a:rPr lang="zh-CN" altLang="en-US" sz="3200" dirty="0" smtClean="0"/>
              <a:t>存取路径</a:t>
            </a:r>
            <a:endParaRPr lang="zh-CN" altLang="en-US" sz="3200" dirty="0"/>
          </a:p>
        </p:txBody>
      </p:sp>
      <p:sp>
        <p:nvSpPr>
          <p:cNvPr id="20483" name="Rectangle 3"/>
          <p:cNvSpPr>
            <a:spLocks noGrp="1" noChangeArrowheads="1"/>
          </p:cNvSpPr>
          <p:nvPr>
            <p:ph type="body" idx="1"/>
          </p:nvPr>
        </p:nvSpPr>
        <p:spPr/>
        <p:txBody>
          <a:bodyPr/>
          <a:lstStyle/>
          <a:p>
            <a:pPr>
              <a:lnSpc>
                <a:spcPct val="115000"/>
              </a:lnSpc>
            </a:pPr>
            <a:r>
              <a:rPr lang="zh-CN" altLang="en-US" sz="2800" dirty="0"/>
              <a:t>数据库管理系统一般都提供多种存取方式。常用的存取方法有三类。</a:t>
            </a:r>
          </a:p>
          <a:p>
            <a:pPr lvl="1">
              <a:lnSpc>
                <a:spcPct val="115000"/>
              </a:lnSpc>
            </a:pPr>
            <a:r>
              <a:rPr lang="zh-CN" altLang="en-US" sz="2400" dirty="0"/>
              <a:t>第一类是索引方法，目前主要是</a:t>
            </a:r>
            <a:r>
              <a:rPr lang="en-US" altLang="zh-CN" sz="2400" dirty="0"/>
              <a:t>B+</a:t>
            </a:r>
            <a:r>
              <a:rPr lang="zh-CN" altLang="en-US" sz="2400" dirty="0"/>
              <a:t>树索引方法；</a:t>
            </a:r>
          </a:p>
          <a:p>
            <a:pPr lvl="1">
              <a:lnSpc>
                <a:spcPct val="115000"/>
              </a:lnSpc>
            </a:pPr>
            <a:r>
              <a:rPr lang="zh-CN" altLang="en-US" sz="2400" dirty="0"/>
              <a:t>第二类是聚簇方法；</a:t>
            </a:r>
          </a:p>
          <a:p>
            <a:pPr lvl="1">
              <a:lnSpc>
                <a:spcPct val="115000"/>
              </a:lnSpc>
            </a:pPr>
            <a:r>
              <a:rPr lang="zh-CN" altLang="en-US" sz="2400" dirty="0"/>
              <a:t>第三类是</a:t>
            </a:r>
            <a:r>
              <a:rPr lang="en-US" altLang="zh-CN" sz="2400" dirty="0"/>
              <a:t>HASH</a:t>
            </a:r>
            <a:r>
              <a:rPr lang="zh-CN" altLang="en-US" sz="2400" dirty="0"/>
              <a:t>方法。 </a:t>
            </a:r>
          </a:p>
        </p:txBody>
      </p:sp>
    </p:spTree>
  </p:cSld>
  <p:clrMapOvr>
    <a:masterClrMapping/>
  </p:clrMapOvr>
  <p:transition/>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endParaRPr lang="zh-CN" altLang="zh-CN"/>
          </a:p>
        </p:txBody>
      </p:sp>
      <p:sp>
        <p:nvSpPr>
          <p:cNvPr id="11267" name="Rectangle 3"/>
          <p:cNvSpPr>
            <a:spLocks noGrp="1" noChangeArrowheads="1"/>
          </p:cNvSpPr>
          <p:nvPr>
            <p:ph type="body" idx="1"/>
          </p:nvPr>
        </p:nvSpPr>
        <p:spPr/>
        <p:txBody>
          <a:bodyPr/>
          <a:lstStyle/>
          <a:p>
            <a:r>
              <a:rPr lang="en-US" altLang="zh-CN" dirty="0"/>
              <a:t>3.</a:t>
            </a:r>
            <a:r>
              <a:rPr lang="zh-CN" altLang="en-US" dirty="0"/>
              <a:t>确定数据的存放位置 </a:t>
            </a:r>
          </a:p>
          <a:p>
            <a:pPr lvl="1"/>
            <a:r>
              <a:rPr lang="zh-CN" altLang="en-US" dirty="0"/>
              <a:t> 为了提高系统性能，数据应该根据应用情况将易变部分与稳定部分、经常存取部分和存取频率较低部分分开存放。 </a:t>
            </a:r>
          </a:p>
          <a:p>
            <a:pPr lvl="2"/>
            <a:r>
              <a:rPr lang="zh-CN" altLang="en-US" dirty="0"/>
              <a:t>例如，数据库数据备份、日志文件备份等由于只在故障恢复时才使用，而且数据量很大，可以考虑存放</a:t>
            </a:r>
            <a:r>
              <a:rPr lang="zh-CN" altLang="en-US" dirty="0" smtClean="0"/>
              <a:t>在其他地方。</a:t>
            </a:r>
            <a:endParaRPr lang="zh-CN" altLang="en-US" dirty="0"/>
          </a:p>
          <a:p>
            <a:pPr lvl="2"/>
            <a:r>
              <a:rPr lang="zh-CN" altLang="en-US" dirty="0"/>
              <a:t>将表和索引分别放在不同的磁盘上，在查询时，由于两个磁盘驱动器分别在工作，因而可以保证物理读写速度比较快。</a:t>
            </a:r>
          </a:p>
        </p:txBody>
      </p:sp>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endParaRPr lang="zh-CN" altLang="zh-CN"/>
          </a:p>
        </p:txBody>
      </p:sp>
      <p:sp>
        <p:nvSpPr>
          <p:cNvPr id="12291" name="Rectangle 3"/>
          <p:cNvSpPr>
            <a:spLocks noGrp="1" noChangeArrowheads="1"/>
          </p:cNvSpPr>
          <p:nvPr>
            <p:ph type="body" idx="1"/>
          </p:nvPr>
        </p:nvSpPr>
        <p:spPr/>
        <p:txBody>
          <a:bodyPr/>
          <a:lstStyle/>
          <a:p>
            <a:r>
              <a:rPr lang="en-US" altLang="zh-CN" sz="2800" dirty="0"/>
              <a:t>⒋ </a:t>
            </a:r>
            <a:r>
              <a:rPr lang="zh-CN" altLang="en-US" sz="2800" dirty="0"/>
              <a:t>确定系统配置 </a:t>
            </a:r>
          </a:p>
          <a:p>
            <a:pPr lvl="1"/>
            <a:r>
              <a:rPr lang="zh-CN" altLang="en-US" sz="2400" dirty="0"/>
              <a:t> </a:t>
            </a:r>
            <a:r>
              <a:rPr lang="en-US" altLang="zh-CN" sz="2400" dirty="0"/>
              <a:t>DBMS</a:t>
            </a:r>
            <a:r>
              <a:rPr lang="zh-CN" altLang="en-US" sz="2400" dirty="0"/>
              <a:t>产品一般都提供了一些存储分配参数，供设计人员和</a:t>
            </a:r>
            <a:r>
              <a:rPr lang="en-US" altLang="zh-CN" sz="2400" dirty="0"/>
              <a:t>DBA</a:t>
            </a:r>
            <a:r>
              <a:rPr lang="zh-CN" altLang="en-US" sz="2400" dirty="0"/>
              <a:t>对数据库进行物理优化。</a:t>
            </a:r>
          </a:p>
          <a:p>
            <a:pPr lvl="2"/>
            <a:r>
              <a:rPr lang="zh-CN" altLang="en-US" sz="2100" dirty="0"/>
              <a:t>通常情况下，这些配置变量包括：同时使用数据库的用户数，同时打开的数据库对象数，使用的缓冲区长度、个数，时间片大小、数据库的大小，装填因子，锁的数目等等，这些参数值影响存取时间和存储空间的分配。</a:t>
            </a:r>
          </a:p>
        </p:txBody>
      </p:sp>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r>
              <a:rPr lang="zh-CN" altLang="en-US" sz="3200" b="0" dirty="0" smtClean="0"/>
              <a:t>二、评价</a:t>
            </a:r>
            <a:r>
              <a:rPr lang="zh-CN" altLang="en-US" sz="3200" b="0" dirty="0"/>
              <a:t>物理结构</a:t>
            </a:r>
            <a:r>
              <a:rPr lang="zh-CN" altLang="en-US" sz="3200" dirty="0"/>
              <a:t> </a:t>
            </a:r>
          </a:p>
        </p:txBody>
      </p:sp>
      <p:sp>
        <p:nvSpPr>
          <p:cNvPr id="28675" name="Rectangle 3"/>
          <p:cNvSpPr>
            <a:spLocks noGrp="1" noChangeArrowheads="1"/>
          </p:cNvSpPr>
          <p:nvPr>
            <p:ph type="body" idx="1"/>
          </p:nvPr>
        </p:nvSpPr>
        <p:spPr>
          <a:xfrm>
            <a:off x="468313" y="1628775"/>
            <a:ext cx="8229600" cy="4949825"/>
          </a:xfrm>
        </p:spPr>
        <p:txBody>
          <a:bodyPr/>
          <a:lstStyle/>
          <a:p>
            <a:pPr>
              <a:lnSpc>
                <a:spcPct val="130000"/>
              </a:lnSpc>
              <a:spcBef>
                <a:spcPct val="25000"/>
              </a:spcBef>
            </a:pPr>
            <a:r>
              <a:rPr lang="zh-CN" altLang="en-US" sz="2800" dirty="0"/>
              <a:t>数据库的物理设计过程中需要对时间效率、空间效率、维护代价和各种用户要求进行权衡。</a:t>
            </a:r>
          </a:p>
          <a:p>
            <a:pPr>
              <a:lnSpc>
                <a:spcPct val="130000"/>
              </a:lnSpc>
              <a:spcBef>
                <a:spcPct val="25000"/>
              </a:spcBef>
            </a:pPr>
            <a:r>
              <a:rPr lang="zh-CN" altLang="en-US" sz="2800" dirty="0"/>
              <a:t>评价数据库物理主要是从定量估算各种方案的存储空间、存取时间和维护代价入手，对估算结果进行权衡、比较，选择出一个较优的合理物理结结。</a:t>
            </a:r>
          </a:p>
        </p:txBody>
      </p:sp>
    </p:spTree>
  </p:cSld>
  <p:clrMapOvr>
    <a:masterClrMapping/>
  </p:clrMapOvr>
  <p:transition/>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ChangeArrowheads="1"/>
          </p:cNvSpPr>
          <p:nvPr>
            <p:ph type="title" idx="4294967295"/>
          </p:nvPr>
        </p:nvSpPr>
        <p:spPr/>
        <p:txBody>
          <a:bodyPr/>
          <a:lstStyle/>
          <a:p>
            <a:r>
              <a:rPr lang="zh-CN" smtClean="0"/>
              <a:t>第七章  数据库设计</a:t>
            </a:r>
          </a:p>
        </p:txBody>
      </p:sp>
      <p:sp>
        <p:nvSpPr>
          <p:cNvPr id="64515" name="Rectangle 3"/>
          <p:cNvSpPr>
            <a:spLocks noGrp="1" noChangeArrowheads="1"/>
          </p:cNvSpPr>
          <p:nvPr>
            <p:ph idx="4294967295"/>
          </p:nvPr>
        </p:nvSpPr>
        <p:spPr>
          <a:xfrm>
            <a:off x="684213" y="1098550"/>
            <a:ext cx="8002587" cy="4854575"/>
          </a:xfrm>
        </p:spPr>
        <p:txBody>
          <a:bodyPr/>
          <a:lstStyle/>
          <a:p>
            <a:pPr marL="0" indent="0">
              <a:lnSpc>
                <a:spcPct val="150000"/>
              </a:lnSpc>
              <a:buFont typeface="Wingdings" pitchFamily="2" charset="2"/>
              <a:buNone/>
            </a:pPr>
            <a:r>
              <a:rPr lang="en-US" altLang="zh-CN" smtClean="0"/>
              <a:t>7.1  </a:t>
            </a:r>
            <a:r>
              <a:rPr lang="zh-CN" altLang="en-US" smtClean="0"/>
              <a:t>数据库设计概述</a:t>
            </a:r>
          </a:p>
          <a:p>
            <a:pPr marL="0" indent="0">
              <a:lnSpc>
                <a:spcPct val="150000"/>
              </a:lnSpc>
              <a:buFont typeface="Wingdings" pitchFamily="2" charset="2"/>
              <a:buNone/>
            </a:pPr>
            <a:r>
              <a:rPr lang="en-US" altLang="zh-CN" smtClean="0"/>
              <a:t>7.2  </a:t>
            </a:r>
            <a:r>
              <a:rPr lang="zh-CN" altLang="en-US" smtClean="0"/>
              <a:t>需求分析</a:t>
            </a:r>
          </a:p>
          <a:p>
            <a:pPr marL="0" indent="0">
              <a:lnSpc>
                <a:spcPct val="150000"/>
              </a:lnSpc>
              <a:buFont typeface="Wingdings" pitchFamily="2" charset="2"/>
              <a:buNone/>
            </a:pPr>
            <a:r>
              <a:rPr lang="en-US" altLang="zh-CN" smtClean="0"/>
              <a:t>7.3  </a:t>
            </a:r>
            <a:r>
              <a:rPr lang="zh-CN" altLang="en-US" smtClean="0"/>
              <a:t>概念结构设计</a:t>
            </a:r>
          </a:p>
          <a:p>
            <a:pPr marL="0" indent="0">
              <a:lnSpc>
                <a:spcPct val="150000"/>
              </a:lnSpc>
              <a:buFont typeface="Wingdings" pitchFamily="2" charset="2"/>
              <a:buNone/>
            </a:pPr>
            <a:r>
              <a:rPr lang="en-US" altLang="zh-CN" smtClean="0"/>
              <a:t>7.4  </a:t>
            </a:r>
            <a:r>
              <a:rPr lang="zh-CN" altLang="en-US" smtClean="0"/>
              <a:t>逻辑结构设计</a:t>
            </a:r>
          </a:p>
          <a:p>
            <a:pPr marL="0" indent="0">
              <a:lnSpc>
                <a:spcPct val="150000"/>
              </a:lnSpc>
              <a:buFont typeface="Wingdings" pitchFamily="2" charset="2"/>
              <a:buNone/>
            </a:pPr>
            <a:r>
              <a:rPr lang="en-US" altLang="zh-CN" smtClean="0"/>
              <a:t>7.5  </a:t>
            </a:r>
            <a:r>
              <a:rPr lang="zh-CN" altLang="en-US" smtClean="0"/>
              <a:t>物理结构设计</a:t>
            </a:r>
          </a:p>
          <a:p>
            <a:pPr marL="0" indent="0">
              <a:lnSpc>
                <a:spcPct val="150000"/>
              </a:lnSpc>
              <a:buFont typeface="Wingdings" pitchFamily="2" charset="2"/>
              <a:buNone/>
            </a:pPr>
            <a:r>
              <a:rPr lang="en-US" altLang="zh-CN" smtClean="0">
                <a:solidFill>
                  <a:srgbClr val="0066FF"/>
                </a:solidFill>
              </a:rPr>
              <a:t>7.6  </a:t>
            </a:r>
            <a:r>
              <a:rPr lang="zh-CN" altLang="en-US" smtClean="0">
                <a:solidFill>
                  <a:srgbClr val="0066FF"/>
                </a:solidFill>
              </a:rPr>
              <a:t>数据库的实施和维护</a:t>
            </a:r>
          </a:p>
          <a:p>
            <a:pPr marL="0" indent="0">
              <a:lnSpc>
                <a:spcPct val="150000"/>
              </a:lnSpc>
              <a:buFont typeface="Wingdings" pitchFamily="2" charset="2"/>
              <a:buNone/>
            </a:pPr>
            <a:r>
              <a:rPr lang="en-US" altLang="zh-CN" smtClean="0"/>
              <a:t>7.7  </a:t>
            </a:r>
            <a:r>
              <a:rPr lang="zh-CN" altLang="en-US" smtClean="0"/>
              <a:t>小结</a:t>
            </a:r>
          </a:p>
        </p:txBody>
      </p:sp>
    </p:spTree>
  </p:cSld>
  <p:clrMapOvr>
    <a:masterClrMapping/>
  </p:clrMapOvr>
  <p:transition/>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ChangeArrowheads="1"/>
          </p:cNvSpPr>
          <p:nvPr>
            <p:ph type="title" idx="4294967295"/>
          </p:nvPr>
        </p:nvSpPr>
        <p:spPr/>
        <p:txBody>
          <a:bodyPr/>
          <a:lstStyle/>
          <a:p>
            <a:r>
              <a:rPr lang="en-US" altLang="zh-CN" sz="3600" smtClean="0"/>
              <a:t>7.6 </a:t>
            </a:r>
            <a:r>
              <a:rPr lang="zh-CN" altLang="en-US" sz="3600" smtClean="0"/>
              <a:t>数据库的实施和维护</a:t>
            </a:r>
          </a:p>
        </p:txBody>
      </p:sp>
      <p:sp>
        <p:nvSpPr>
          <p:cNvPr id="65539" name="Rectangle 3"/>
          <p:cNvSpPr>
            <a:spLocks noGrp="1" noChangeArrowheads="1"/>
          </p:cNvSpPr>
          <p:nvPr>
            <p:ph type="body" idx="4294967295"/>
          </p:nvPr>
        </p:nvSpPr>
        <p:spPr>
          <a:xfrm>
            <a:off x="611188" y="1339850"/>
            <a:ext cx="8075612" cy="4854575"/>
          </a:xfrm>
        </p:spPr>
        <p:txBody>
          <a:bodyPr/>
          <a:lstStyle/>
          <a:p>
            <a:pPr marL="0" indent="0">
              <a:lnSpc>
                <a:spcPct val="150000"/>
              </a:lnSpc>
              <a:buFont typeface="Wingdings" pitchFamily="2" charset="2"/>
              <a:buNone/>
            </a:pPr>
            <a:r>
              <a:rPr lang="en-US" altLang="zh-CN" smtClean="0">
                <a:solidFill>
                  <a:srgbClr val="00B050"/>
                </a:solidFill>
              </a:rPr>
              <a:t>7.6.1 </a:t>
            </a:r>
            <a:r>
              <a:rPr lang="zh-CN" altLang="en-US" smtClean="0">
                <a:solidFill>
                  <a:srgbClr val="00B050"/>
                </a:solidFill>
              </a:rPr>
              <a:t>数据的载入和应用程序的调试</a:t>
            </a:r>
            <a:endParaRPr lang="en-US" smtClean="0">
              <a:solidFill>
                <a:srgbClr val="00B050"/>
              </a:solidFill>
            </a:endParaRPr>
          </a:p>
          <a:p>
            <a:pPr marL="0" indent="0">
              <a:lnSpc>
                <a:spcPct val="150000"/>
              </a:lnSpc>
              <a:buFont typeface="Wingdings" pitchFamily="2" charset="2"/>
              <a:buNone/>
            </a:pPr>
            <a:r>
              <a:rPr lang="en-US" altLang="zh-CN" smtClean="0"/>
              <a:t>7.6.2 </a:t>
            </a:r>
            <a:r>
              <a:rPr lang="zh-CN" altLang="en-US" smtClean="0"/>
              <a:t>数据库的试运行</a:t>
            </a:r>
            <a:endParaRPr lang="en-US" smtClean="0"/>
          </a:p>
          <a:p>
            <a:pPr marL="0" indent="0">
              <a:lnSpc>
                <a:spcPct val="150000"/>
              </a:lnSpc>
              <a:buFont typeface="Wingdings" pitchFamily="2" charset="2"/>
              <a:buNone/>
            </a:pPr>
            <a:r>
              <a:rPr lang="en-US" altLang="zh-CN" smtClean="0"/>
              <a:t>7.6.3 </a:t>
            </a:r>
            <a:r>
              <a:rPr lang="zh-CN" altLang="en-US" smtClean="0"/>
              <a:t>数据库的运行和维护</a:t>
            </a:r>
          </a:p>
        </p:txBody>
      </p:sp>
    </p:spTree>
  </p:cSld>
  <p:clrMapOvr>
    <a:masterClrMapping/>
  </p:clrMapOvr>
  <p:transition/>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页脚占位符 4"/>
          <p:cNvSpPr>
            <a:spLocks noGrp="1"/>
          </p:cNvSpPr>
          <p:nvPr>
            <p:ph type="ftr" sz="quarter" idx="4294967295"/>
          </p:nvPr>
        </p:nvSpPr>
        <p:spPr bwMode="auto">
          <a:xfrm>
            <a:off x="5219700" y="6381750"/>
            <a:ext cx="3600450" cy="320675"/>
          </a:xfrm>
          <a:prstGeom prst="rect">
            <a:avLst/>
          </a:prstGeom>
          <a:noFill/>
          <a:ln>
            <a:miter lim="800000"/>
            <a:headEnd/>
            <a:tailEnd/>
          </a:ln>
        </p:spPr>
        <p:txBody>
          <a:bodyPr/>
          <a:lstStyle/>
          <a:p>
            <a:r>
              <a:rPr lang="en-US" altLang="zh-CN"/>
              <a:t>An Introduction to Database System</a:t>
            </a:r>
          </a:p>
        </p:txBody>
      </p:sp>
      <p:sp>
        <p:nvSpPr>
          <p:cNvPr id="66563" name="Rectangle 2"/>
          <p:cNvSpPr>
            <a:spLocks noGrp="1" noChangeArrowheads="1"/>
          </p:cNvSpPr>
          <p:nvPr>
            <p:ph type="title"/>
          </p:nvPr>
        </p:nvSpPr>
        <p:spPr/>
        <p:txBody>
          <a:bodyPr/>
          <a:lstStyle/>
          <a:p>
            <a:r>
              <a:rPr lang="en-US" altLang="zh-CN" sz="3200" smtClean="0"/>
              <a:t> </a:t>
            </a:r>
            <a:r>
              <a:rPr lang="zh-CN" altLang="en-US" sz="3200" smtClean="0"/>
              <a:t>数据的载入 </a:t>
            </a:r>
          </a:p>
        </p:txBody>
      </p:sp>
      <p:sp>
        <p:nvSpPr>
          <p:cNvPr id="66564" name="Rectangle 3"/>
          <p:cNvSpPr>
            <a:spLocks noGrp="1" noChangeArrowheads="1"/>
          </p:cNvSpPr>
          <p:nvPr>
            <p:ph type="body" idx="1"/>
          </p:nvPr>
        </p:nvSpPr>
        <p:spPr/>
        <p:txBody>
          <a:bodyPr/>
          <a:lstStyle/>
          <a:p>
            <a:pPr>
              <a:lnSpc>
                <a:spcPct val="140000"/>
              </a:lnSpc>
            </a:pPr>
            <a:r>
              <a:rPr lang="zh-CN" altLang="en-US" sz="2400" smtClean="0"/>
              <a:t>数据库结构建立好后，就可以向数据库中装载数据了。组织数据入库是数据库实施阶段最主要的工作。</a:t>
            </a:r>
          </a:p>
          <a:p>
            <a:pPr>
              <a:lnSpc>
                <a:spcPct val="140000"/>
              </a:lnSpc>
            </a:pPr>
            <a:endParaRPr lang="zh-CN" altLang="en-US" sz="2400" smtClean="0"/>
          </a:p>
          <a:p>
            <a:pPr>
              <a:lnSpc>
                <a:spcPct val="140000"/>
              </a:lnSpc>
            </a:pPr>
            <a:r>
              <a:rPr lang="zh-CN" altLang="en-US" sz="2400" smtClean="0"/>
              <a:t>数据装载方法</a:t>
            </a:r>
          </a:p>
          <a:p>
            <a:pPr lvl="1">
              <a:lnSpc>
                <a:spcPct val="140000"/>
              </a:lnSpc>
            </a:pPr>
            <a:r>
              <a:rPr lang="zh-CN" altLang="en-US" smtClean="0"/>
              <a:t>人工方法</a:t>
            </a:r>
          </a:p>
          <a:p>
            <a:pPr lvl="1">
              <a:lnSpc>
                <a:spcPct val="140000"/>
              </a:lnSpc>
            </a:pPr>
            <a:r>
              <a:rPr lang="zh-CN" altLang="en-US" smtClean="0"/>
              <a:t>计算机辅助数据入库</a:t>
            </a:r>
          </a:p>
        </p:txBody>
      </p: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页脚占位符 4"/>
          <p:cNvSpPr>
            <a:spLocks noGrp="1"/>
          </p:cNvSpPr>
          <p:nvPr>
            <p:ph type="ftr" sz="quarter" idx="4294967295"/>
          </p:nvPr>
        </p:nvSpPr>
        <p:spPr bwMode="auto">
          <a:xfrm>
            <a:off x="5219700" y="6381750"/>
            <a:ext cx="3600450" cy="320675"/>
          </a:xfrm>
          <a:prstGeom prst="rect">
            <a:avLst/>
          </a:prstGeom>
          <a:noFill/>
          <a:ln>
            <a:miter lim="800000"/>
            <a:headEnd/>
            <a:tailEnd/>
          </a:ln>
        </p:spPr>
        <p:txBody>
          <a:bodyPr/>
          <a:lstStyle/>
          <a:p>
            <a:r>
              <a:rPr lang="en-US" altLang="zh-CN"/>
              <a:t>An Introduction to Database System</a:t>
            </a:r>
          </a:p>
        </p:txBody>
      </p:sp>
      <p:sp>
        <p:nvSpPr>
          <p:cNvPr id="67587" name="Rectangle 2"/>
          <p:cNvSpPr>
            <a:spLocks noGrp="1" noChangeArrowheads="1"/>
          </p:cNvSpPr>
          <p:nvPr>
            <p:ph type="title"/>
          </p:nvPr>
        </p:nvSpPr>
        <p:spPr>
          <a:xfrm>
            <a:off x="785813" y="142875"/>
            <a:ext cx="7391400" cy="563563"/>
          </a:xfrm>
        </p:spPr>
        <p:txBody>
          <a:bodyPr/>
          <a:lstStyle/>
          <a:p>
            <a:r>
              <a:rPr lang="zh-CN" altLang="en-US" sz="3200" smtClean="0"/>
              <a:t>应用程序的调试</a:t>
            </a:r>
          </a:p>
        </p:txBody>
      </p:sp>
      <p:sp>
        <p:nvSpPr>
          <p:cNvPr id="67588" name="Rectangle 3"/>
          <p:cNvSpPr>
            <a:spLocks noGrp="1" noChangeArrowheads="1"/>
          </p:cNvSpPr>
          <p:nvPr>
            <p:ph type="body" idx="1"/>
          </p:nvPr>
        </p:nvSpPr>
        <p:spPr>
          <a:xfrm>
            <a:off x="755650" y="1428750"/>
            <a:ext cx="7772400" cy="4114800"/>
          </a:xfrm>
        </p:spPr>
        <p:txBody>
          <a:bodyPr/>
          <a:lstStyle/>
          <a:p>
            <a:pPr>
              <a:lnSpc>
                <a:spcPct val="170000"/>
              </a:lnSpc>
            </a:pPr>
            <a:r>
              <a:rPr lang="zh-CN" altLang="en-US" sz="2400" dirty="0" smtClean="0"/>
              <a:t>数据库应用程序的设计应该与数据设计并行进行</a:t>
            </a:r>
          </a:p>
          <a:p>
            <a:pPr>
              <a:lnSpc>
                <a:spcPct val="170000"/>
              </a:lnSpc>
            </a:pPr>
            <a:r>
              <a:rPr lang="zh-CN" altLang="en-US" sz="2400" dirty="0" smtClean="0"/>
              <a:t>在组织数据入库的同时还要调试应用程序 </a:t>
            </a:r>
          </a:p>
        </p:txBody>
      </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2"/>
          <p:cNvSpPr>
            <a:spLocks noGrp="1" noChangeArrowheads="1"/>
          </p:cNvSpPr>
          <p:nvPr>
            <p:ph type="title" idx="4294967295"/>
          </p:nvPr>
        </p:nvSpPr>
        <p:spPr/>
        <p:txBody>
          <a:bodyPr/>
          <a:lstStyle/>
          <a:p>
            <a:r>
              <a:rPr lang="en-US" altLang="zh-CN" sz="3600" smtClean="0"/>
              <a:t>7.6 </a:t>
            </a:r>
            <a:r>
              <a:rPr lang="zh-CN" altLang="en-US" sz="3600" smtClean="0"/>
              <a:t>数据库的实施和维护</a:t>
            </a:r>
          </a:p>
        </p:txBody>
      </p:sp>
      <p:sp>
        <p:nvSpPr>
          <p:cNvPr id="68611" name="Rectangle 3"/>
          <p:cNvSpPr>
            <a:spLocks noGrp="1" noChangeArrowheads="1"/>
          </p:cNvSpPr>
          <p:nvPr>
            <p:ph type="body" idx="4294967295"/>
          </p:nvPr>
        </p:nvSpPr>
        <p:spPr>
          <a:xfrm>
            <a:off x="684213" y="1339850"/>
            <a:ext cx="8002587" cy="4854575"/>
          </a:xfrm>
        </p:spPr>
        <p:txBody>
          <a:bodyPr/>
          <a:lstStyle/>
          <a:p>
            <a:pPr marL="0" indent="0">
              <a:lnSpc>
                <a:spcPct val="150000"/>
              </a:lnSpc>
              <a:buFont typeface="Wingdings" pitchFamily="2" charset="2"/>
              <a:buNone/>
            </a:pPr>
            <a:r>
              <a:rPr lang="en-US" altLang="zh-CN" smtClean="0"/>
              <a:t>7.6.1 </a:t>
            </a:r>
            <a:r>
              <a:rPr lang="zh-CN" altLang="en-US" smtClean="0"/>
              <a:t>数据的载入和应用程序的调试</a:t>
            </a:r>
            <a:endParaRPr lang="en-US" smtClean="0"/>
          </a:p>
          <a:p>
            <a:pPr marL="0" indent="0">
              <a:lnSpc>
                <a:spcPct val="150000"/>
              </a:lnSpc>
              <a:buFont typeface="Wingdings" pitchFamily="2" charset="2"/>
              <a:buNone/>
            </a:pPr>
            <a:r>
              <a:rPr lang="en-US" altLang="zh-CN" smtClean="0">
                <a:solidFill>
                  <a:srgbClr val="00B050"/>
                </a:solidFill>
              </a:rPr>
              <a:t>7.6.2 </a:t>
            </a:r>
            <a:r>
              <a:rPr lang="zh-CN" altLang="en-US" smtClean="0">
                <a:solidFill>
                  <a:srgbClr val="00B050"/>
                </a:solidFill>
              </a:rPr>
              <a:t>数据库的试运行</a:t>
            </a:r>
            <a:endParaRPr lang="en-US" smtClean="0">
              <a:solidFill>
                <a:srgbClr val="00B050"/>
              </a:solidFill>
            </a:endParaRPr>
          </a:p>
          <a:p>
            <a:pPr marL="0" indent="0">
              <a:lnSpc>
                <a:spcPct val="150000"/>
              </a:lnSpc>
              <a:buFont typeface="Wingdings" pitchFamily="2" charset="2"/>
              <a:buNone/>
            </a:pPr>
            <a:r>
              <a:rPr lang="en-US" altLang="zh-CN" smtClean="0"/>
              <a:t>7.6.3 </a:t>
            </a:r>
            <a:r>
              <a:rPr lang="zh-CN" altLang="en-US" smtClean="0"/>
              <a:t>数据库的运行和维护</a:t>
            </a:r>
          </a:p>
        </p:txBody>
      </p:sp>
    </p:spTree>
  </p:cSld>
  <p:clrMapOvr>
    <a:masterClrMapping/>
  </p:clrMapOvr>
  <p:transition/>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title" idx="4294967295"/>
          </p:nvPr>
        </p:nvSpPr>
        <p:spPr/>
        <p:txBody>
          <a:bodyPr/>
          <a:lstStyle/>
          <a:p>
            <a:r>
              <a:rPr lang="en-US" altLang="zh-CN" sz="3600" smtClean="0"/>
              <a:t>7.6.2  </a:t>
            </a:r>
            <a:r>
              <a:rPr lang="zh-CN" altLang="en-US" sz="3600" smtClean="0"/>
              <a:t>数据库的试运行</a:t>
            </a:r>
          </a:p>
        </p:txBody>
      </p:sp>
      <p:sp>
        <p:nvSpPr>
          <p:cNvPr id="69635" name="Rectangle 3"/>
          <p:cNvSpPr>
            <a:spLocks noGrp="1" noChangeArrowheads="1"/>
          </p:cNvSpPr>
          <p:nvPr>
            <p:ph idx="4294967295"/>
          </p:nvPr>
        </p:nvSpPr>
        <p:spPr>
          <a:xfrm>
            <a:off x="457200" y="1098550"/>
            <a:ext cx="8229600" cy="5024438"/>
          </a:xfrm>
        </p:spPr>
        <p:txBody>
          <a:bodyPr/>
          <a:lstStyle/>
          <a:p>
            <a:pPr>
              <a:lnSpc>
                <a:spcPct val="120000"/>
              </a:lnSpc>
            </a:pPr>
            <a:r>
              <a:rPr lang="zh-CN" altLang="en-US" smtClean="0"/>
              <a:t>应用程序调试完成，并且已有一小部分数据入库后，就可以开始对数据库系统进行联合调试，也称数据库的试运行。</a:t>
            </a:r>
          </a:p>
          <a:p>
            <a:pPr>
              <a:lnSpc>
                <a:spcPct val="120000"/>
              </a:lnSpc>
            </a:pPr>
            <a:r>
              <a:rPr lang="zh-CN" altLang="en-US" smtClean="0"/>
              <a:t>主要工作包括：</a:t>
            </a:r>
          </a:p>
          <a:p>
            <a:pPr lvl="1">
              <a:lnSpc>
                <a:spcPct val="120000"/>
              </a:lnSpc>
            </a:pPr>
            <a:r>
              <a:rPr lang="zh-CN" altLang="en-US" smtClean="0"/>
              <a:t>功能测试：实际运行应用程序，执行对数据库的各种操作，测试应用程序的各种功能。</a:t>
            </a:r>
          </a:p>
          <a:p>
            <a:pPr lvl="1">
              <a:lnSpc>
                <a:spcPct val="120000"/>
              </a:lnSpc>
            </a:pPr>
            <a:r>
              <a:rPr lang="zh-CN" altLang="en-US" smtClean="0"/>
              <a:t>性能测试：测量系统的性能指标，分析是否符合设计目标。</a:t>
            </a:r>
          </a:p>
        </p:txBody>
      </p:sp>
    </p:spTree>
  </p:cSld>
  <p:clrMapOvr>
    <a:masterClrMapping/>
  </p:clrMapOvr>
  <p:transition/>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idx="4294967295"/>
          </p:nvPr>
        </p:nvSpPr>
        <p:spPr/>
        <p:txBody>
          <a:bodyPr/>
          <a:lstStyle/>
          <a:p>
            <a:r>
              <a:rPr lang="zh-CN" sz="3600" smtClean="0"/>
              <a:t>数据库</a:t>
            </a:r>
            <a:r>
              <a:rPr lang="zh-CN" altLang="en-US" sz="3600" smtClean="0"/>
              <a:t>的</a:t>
            </a:r>
            <a:r>
              <a:rPr lang="zh-CN" sz="3600" smtClean="0"/>
              <a:t>试运行（续）</a:t>
            </a:r>
          </a:p>
        </p:txBody>
      </p:sp>
      <p:sp>
        <p:nvSpPr>
          <p:cNvPr id="70659" name="Rectangle 3"/>
          <p:cNvSpPr>
            <a:spLocks noGrp="1" noChangeArrowheads="1"/>
          </p:cNvSpPr>
          <p:nvPr>
            <p:ph idx="4294967295"/>
          </p:nvPr>
        </p:nvSpPr>
        <p:spPr>
          <a:xfrm>
            <a:off x="385763" y="1098550"/>
            <a:ext cx="8507412" cy="5097463"/>
          </a:xfrm>
        </p:spPr>
        <p:txBody>
          <a:bodyPr/>
          <a:lstStyle/>
          <a:p>
            <a:pPr>
              <a:lnSpc>
                <a:spcPct val="120000"/>
              </a:lnSpc>
            </a:pPr>
            <a:r>
              <a:rPr lang="zh-CN" altLang="en-US" smtClean="0"/>
              <a:t>数据库性能指标的测量</a:t>
            </a:r>
            <a:endParaRPr lang="zh-CN" altLang="en-US" sz="3200" smtClean="0"/>
          </a:p>
          <a:p>
            <a:pPr lvl="1">
              <a:lnSpc>
                <a:spcPct val="120000"/>
              </a:lnSpc>
            </a:pPr>
            <a:r>
              <a:rPr lang="zh-CN" altLang="en-US" smtClean="0"/>
              <a:t>数据库物理设计阶段在评价数据库结构估算时间、空间指标时，作了许多简化和假设，忽略了许多次要因素，因此结果必然很粗糙。</a:t>
            </a:r>
          </a:p>
          <a:p>
            <a:pPr lvl="1">
              <a:lnSpc>
                <a:spcPct val="120000"/>
              </a:lnSpc>
            </a:pPr>
            <a:r>
              <a:rPr lang="zh-CN" altLang="en-US" smtClean="0"/>
              <a:t>数据库试运行则是要实际测量系统的各种性能指标（不仅是时间、空间指标），如果结果不符合设计目标，则需要返回物理设计阶段，调整物理结构，修改参数；有时甚至需要返回逻辑设计阶段，调整逻辑结构。</a:t>
            </a:r>
          </a:p>
        </p:txBody>
      </p:sp>
    </p:spTree>
  </p:cSld>
  <p:clrMapOvr>
    <a:masterClrMapping/>
  </p:clrMapOvr>
  <p:transition/>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ChangeArrowheads="1"/>
          </p:cNvSpPr>
          <p:nvPr>
            <p:ph type="title" idx="4294967295"/>
          </p:nvPr>
        </p:nvSpPr>
        <p:spPr/>
        <p:txBody>
          <a:bodyPr/>
          <a:lstStyle/>
          <a:p>
            <a:r>
              <a:rPr lang="zh-CN" sz="3600" smtClean="0"/>
              <a:t>数据库</a:t>
            </a:r>
            <a:r>
              <a:rPr lang="zh-CN" altLang="en-US" sz="3600" smtClean="0"/>
              <a:t>的</a:t>
            </a:r>
            <a:r>
              <a:rPr lang="zh-CN" sz="3600" smtClean="0"/>
              <a:t>试运行（续）</a:t>
            </a:r>
          </a:p>
        </p:txBody>
      </p:sp>
      <p:sp>
        <p:nvSpPr>
          <p:cNvPr id="71683" name="Rectangle 3"/>
          <p:cNvSpPr>
            <a:spLocks noGrp="1" noChangeArrowheads="1"/>
          </p:cNvSpPr>
          <p:nvPr>
            <p:ph idx="4294967295"/>
          </p:nvPr>
        </p:nvSpPr>
        <p:spPr>
          <a:xfrm>
            <a:off x="457200" y="1098550"/>
            <a:ext cx="8435975" cy="5095875"/>
          </a:xfrm>
        </p:spPr>
        <p:txBody>
          <a:bodyPr/>
          <a:lstStyle/>
          <a:p>
            <a:pPr>
              <a:lnSpc>
                <a:spcPct val="120000"/>
              </a:lnSpc>
            </a:pPr>
            <a:r>
              <a:rPr lang="zh-CN" altLang="en-US" smtClean="0"/>
              <a:t>数据的分期入库</a:t>
            </a:r>
          </a:p>
          <a:p>
            <a:pPr lvl="1">
              <a:lnSpc>
                <a:spcPct val="120000"/>
              </a:lnSpc>
            </a:pPr>
            <a:r>
              <a:rPr lang="zh-CN" altLang="en-US" smtClean="0"/>
              <a:t>重新设计物理结构甚至逻辑结构，会导致数据重新入库</a:t>
            </a:r>
          </a:p>
          <a:p>
            <a:pPr lvl="1">
              <a:lnSpc>
                <a:spcPct val="120000"/>
              </a:lnSpc>
            </a:pPr>
            <a:r>
              <a:rPr lang="zh-CN" altLang="en-US" smtClean="0"/>
              <a:t>由于数据入库工作量实在太大，所以可以采用分期输入数据的方法</a:t>
            </a:r>
          </a:p>
          <a:p>
            <a:pPr lvl="2">
              <a:lnSpc>
                <a:spcPct val="120000"/>
              </a:lnSpc>
              <a:buSzPct val="87000"/>
              <a:buFont typeface="Wingdings" pitchFamily="2" charset="2"/>
              <a:buChar char="l"/>
            </a:pPr>
            <a:r>
              <a:rPr lang="zh-CN" altLang="en-US" smtClean="0"/>
              <a:t>先输入小批量数据供先期联合调试使用</a:t>
            </a:r>
          </a:p>
          <a:p>
            <a:pPr lvl="2">
              <a:lnSpc>
                <a:spcPct val="120000"/>
              </a:lnSpc>
              <a:buSzPct val="87000"/>
              <a:buFont typeface="Wingdings" pitchFamily="2" charset="2"/>
              <a:buChar char="l"/>
            </a:pPr>
            <a:r>
              <a:rPr lang="zh-CN" altLang="en-US" smtClean="0"/>
              <a:t>待试运行基本合格后再输入大批量数据</a:t>
            </a:r>
          </a:p>
          <a:p>
            <a:pPr lvl="2">
              <a:lnSpc>
                <a:spcPct val="120000"/>
              </a:lnSpc>
              <a:buSzPct val="87000"/>
              <a:buFont typeface="Wingdings" pitchFamily="2" charset="2"/>
              <a:buChar char="l"/>
            </a:pPr>
            <a:r>
              <a:rPr lang="zh-CN" altLang="en-US" smtClean="0"/>
              <a:t>逐步增加数据量，逐步完成运行评价</a:t>
            </a:r>
          </a:p>
        </p:txBody>
      </p:sp>
    </p:spTree>
  </p:cSld>
  <p:clrMapOvr>
    <a:masterClrMapping/>
  </p:clrMapOvr>
  <p:transition/>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ChangeArrowheads="1"/>
          </p:cNvSpPr>
          <p:nvPr>
            <p:ph type="title" idx="4294967295"/>
          </p:nvPr>
        </p:nvSpPr>
        <p:spPr/>
        <p:txBody>
          <a:bodyPr/>
          <a:lstStyle/>
          <a:p>
            <a:r>
              <a:rPr lang="zh-CN" sz="3600" smtClean="0"/>
              <a:t>数据库</a:t>
            </a:r>
            <a:r>
              <a:rPr lang="zh-CN" altLang="en-US" sz="3600" smtClean="0"/>
              <a:t>的</a:t>
            </a:r>
            <a:r>
              <a:rPr lang="zh-CN" sz="3600" smtClean="0"/>
              <a:t>试运行（续）</a:t>
            </a:r>
          </a:p>
        </p:txBody>
      </p:sp>
      <p:sp>
        <p:nvSpPr>
          <p:cNvPr id="72707" name="Rectangle 3"/>
          <p:cNvSpPr>
            <a:spLocks noGrp="1" noChangeArrowheads="1"/>
          </p:cNvSpPr>
          <p:nvPr>
            <p:ph idx="4294967295"/>
          </p:nvPr>
        </p:nvSpPr>
        <p:spPr>
          <a:xfrm>
            <a:off x="457200" y="1098550"/>
            <a:ext cx="8362950" cy="5095875"/>
          </a:xfrm>
        </p:spPr>
        <p:txBody>
          <a:bodyPr/>
          <a:lstStyle/>
          <a:p>
            <a:pPr>
              <a:lnSpc>
                <a:spcPct val="120000"/>
              </a:lnSpc>
            </a:pPr>
            <a:r>
              <a:rPr lang="zh-CN" altLang="en-US" smtClean="0"/>
              <a:t>数据库的转储和恢复</a:t>
            </a:r>
          </a:p>
          <a:p>
            <a:pPr lvl="1">
              <a:lnSpc>
                <a:spcPct val="120000"/>
              </a:lnSpc>
            </a:pPr>
            <a:r>
              <a:rPr lang="zh-CN" altLang="en-US" smtClean="0"/>
              <a:t>在数据库试运行阶段，系统还不稳定，硬、软件故障随时都可能发生</a:t>
            </a:r>
          </a:p>
          <a:p>
            <a:pPr lvl="1">
              <a:lnSpc>
                <a:spcPct val="120000"/>
              </a:lnSpc>
            </a:pPr>
            <a:r>
              <a:rPr lang="zh-CN" altLang="en-US" smtClean="0"/>
              <a:t>系统的操作人员对新系统还不熟悉，误操作也不可避免</a:t>
            </a:r>
          </a:p>
          <a:p>
            <a:pPr lvl="1">
              <a:lnSpc>
                <a:spcPct val="120000"/>
              </a:lnSpc>
            </a:pPr>
            <a:r>
              <a:rPr lang="zh-CN" altLang="en-US" smtClean="0"/>
              <a:t>因此必须做好数据库的转储和恢复工作，尽量减少对数据库的破坏</a:t>
            </a:r>
          </a:p>
        </p:txBody>
      </p:sp>
    </p:spTree>
  </p:cSld>
  <p:clrMapOvr>
    <a:masterClrMapping/>
  </p:clrMapOvr>
  <p:transition/>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p:cNvSpPr>
            <a:spLocks noGrp="1" noChangeArrowheads="1"/>
          </p:cNvSpPr>
          <p:nvPr>
            <p:ph type="title" idx="4294967295"/>
          </p:nvPr>
        </p:nvSpPr>
        <p:spPr/>
        <p:txBody>
          <a:bodyPr/>
          <a:lstStyle/>
          <a:p>
            <a:r>
              <a:rPr lang="en-US" altLang="zh-CN" sz="3600" smtClean="0"/>
              <a:t>7.6 </a:t>
            </a:r>
            <a:r>
              <a:rPr lang="zh-CN" altLang="en-US" sz="3600" smtClean="0"/>
              <a:t>数据库的实施和维护</a:t>
            </a:r>
          </a:p>
        </p:txBody>
      </p:sp>
      <p:sp>
        <p:nvSpPr>
          <p:cNvPr id="73731" name="Rectangle 3"/>
          <p:cNvSpPr>
            <a:spLocks noGrp="1" noChangeArrowheads="1"/>
          </p:cNvSpPr>
          <p:nvPr>
            <p:ph type="body" idx="4294967295"/>
          </p:nvPr>
        </p:nvSpPr>
        <p:spPr>
          <a:xfrm>
            <a:off x="611188" y="1339850"/>
            <a:ext cx="8075612" cy="4854575"/>
          </a:xfrm>
        </p:spPr>
        <p:txBody>
          <a:bodyPr/>
          <a:lstStyle/>
          <a:p>
            <a:pPr marL="0" indent="0">
              <a:lnSpc>
                <a:spcPct val="150000"/>
              </a:lnSpc>
              <a:buFont typeface="Wingdings" pitchFamily="2" charset="2"/>
              <a:buNone/>
            </a:pPr>
            <a:r>
              <a:rPr lang="en-US" altLang="zh-CN" smtClean="0"/>
              <a:t>7.6.1 </a:t>
            </a:r>
            <a:r>
              <a:rPr lang="zh-CN" altLang="en-US" smtClean="0"/>
              <a:t>数据的载入和应用程序的调试</a:t>
            </a:r>
            <a:endParaRPr lang="en-US" smtClean="0"/>
          </a:p>
          <a:p>
            <a:pPr marL="0" indent="0">
              <a:lnSpc>
                <a:spcPct val="150000"/>
              </a:lnSpc>
              <a:buFont typeface="Wingdings" pitchFamily="2" charset="2"/>
              <a:buNone/>
            </a:pPr>
            <a:r>
              <a:rPr lang="en-US" altLang="zh-CN" smtClean="0"/>
              <a:t>7.6.2 </a:t>
            </a:r>
            <a:r>
              <a:rPr lang="zh-CN" altLang="en-US" smtClean="0"/>
              <a:t>数据库的试运行</a:t>
            </a:r>
            <a:endParaRPr lang="en-US" smtClean="0"/>
          </a:p>
          <a:p>
            <a:pPr marL="0" indent="0">
              <a:lnSpc>
                <a:spcPct val="150000"/>
              </a:lnSpc>
              <a:buFont typeface="Wingdings" pitchFamily="2" charset="2"/>
              <a:buNone/>
            </a:pPr>
            <a:r>
              <a:rPr lang="en-US" altLang="zh-CN" smtClean="0">
                <a:solidFill>
                  <a:srgbClr val="00B050"/>
                </a:solidFill>
              </a:rPr>
              <a:t>7.6.3 </a:t>
            </a:r>
            <a:r>
              <a:rPr lang="zh-CN" altLang="en-US" smtClean="0">
                <a:solidFill>
                  <a:srgbClr val="00B050"/>
                </a:solidFill>
              </a:rPr>
              <a:t>数据库的运行和维护</a:t>
            </a:r>
          </a:p>
        </p:txBody>
      </p:sp>
      <p:sp>
        <p:nvSpPr>
          <p:cNvPr id="73732" name="页脚占位符 4"/>
          <p:cNvSpPr txBox="1">
            <a:spLocks noGrp="1" noChangeArrowheads="1"/>
          </p:cNvSpPr>
          <p:nvPr/>
        </p:nvSpPr>
        <p:spPr bwMode="auto">
          <a:xfrm>
            <a:off x="5543550" y="6381750"/>
            <a:ext cx="3600450" cy="320675"/>
          </a:xfrm>
          <a:prstGeom prst="rect">
            <a:avLst/>
          </a:prstGeom>
          <a:noFill/>
          <a:ln w="9525">
            <a:noFill/>
            <a:miter lim="800000"/>
            <a:headEnd/>
            <a:tailEnd/>
          </a:ln>
        </p:spPr>
        <p:txBody>
          <a:bodyPr/>
          <a:lstStyle/>
          <a:p>
            <a:r>
              <a:rPr lang="en-US" altLang="zh-CN"/>
              <a:t>An Introduction to Database System</a:t>
            </a:r>
          </a:p>
        </p:txBody>
      </p:sp>
    </p:spTree>
  </p:cSld>
  <p:clrMapOvr>
    <a:masterClrMapping/>
  </p:clrMapOvr>
  <p:transition/>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Rectangle 2"/>
          <p:cNvSpPr>
            <a:spLocks noGrp="1" noChangeArrowheads="1"/>
          </p:cNvSpPr>
          <p:nvPr>
            <p:ph type="title" idx="4294967295"/>
          </p:nvPr>
        </p:nvSpPr>
        <p:spPr/>
        <p:txBody>
          <a:bodyPr/>
          <a:lstStyle/>
          <a:p>
            <a:r>
              <a:rPr lang="en-US" altLang="zh-CN" sz="3600" smtClean="0"/>
              <a:t>7.6.3  </a:t>
            </a:r>
            <a:r>
              <a:rPr lang="zh-CN" altLang="en-US" sz="3600" smtClean="0"/>
              <a:t>数据库的运行和维护</a:t>
            </a:r>
          </a:p>
        </p:txBody>
      </p:sp>
      <p:sp>
        <p:nvSpPr>
          <p:cNvPr id="74755" name="Rectangle 3"/>
          <p:cNvSpPr>
            <a:spLocks noGrp="1" noChangeArrowheads="1"/>
          </p:cNvSpPr>
          <p:nvPr>
            <p:ph idx="4294967295"/>
          </p:nvPr>
        </p:nvSpPr>
        <p:spPr>
          <a:xfrm>
            <a:off x="457200" y="1098550"/>
            <a:ext cx="8229600" cy="5095875"/>
          </a:xfrm>
        </p:spPr>
        <p:txBody>
          <a:bodyPr/>
          <a:lstStyle/>
          <a:p>
            <a:pPr>
              <a:lnSpc>
                <a:spcPct val="120000"/>
              </a:lnSpc>
              <a:spcBef>
                <a:spcPts val="575"/>
              </a:spcBef>
            </a:pPr>
            <a:r>
              <a:rPr lang="zh-CN" altLang="en-US" dirty="0" smtClean="0"/>
              <a:t>在数据库运行阶段，对数据库经常性的维护工作主要是由数据库管理员完成的，包括：</a:t>
            </a:r>
            <a:endParaRPr lang="zh-CN" altLang="en-US" sz="3200" dirty="0" smtClean="0"/>
          </a:p>
          <a:p>
            <a:pPr lvl="1">
              <a:lnSpc>
                <a:spcPct val="120000"/>
              </a:lnSpc>
              <a:spcBef>
                <a:spcPts val="575"/>
              </a:spcBef>
              <a:buFont typeface="Wingdings" pitchFamily="2" charset="2"/>
              <a:buNone/>
            </a:pPr>
            <a:r>
              <a:rPr lang="en-US" altLang="zh-CN" dirty="0" smtClean="0"/>
              <a:t>1. </a:t>
            </a:r>
            <a:r>
              <a:rPr lang="zh-CN" altLang="en-US" dirty="0" smtClean="0"/>
              <a:t>数据库的转储和恢复</a:t>
            </a:r>
          </a:p>
          <a:p>
            <a:pPr lvl="2">
              <a:lnSpc>
                <a:spcPct val="120000"/>
              </a:lnSpc>
              <a:spcBef>
                <a:spcPts val="575"/>
              </a:spcBef>
              <a:buFont typeface="Wingdings" pitchFamily="2" charset="2"/>
              <a:buChar char="l"/>
            </a:pPr>
            <a:r>
              <a:rPr lang="zh-CN" altLang="en-US" dirty="0" smtClean="0"/>
              <a:t>   数据库管理员要针对不同的应用要求制定不同的转储计划，定期对数据库和日志文件进行备份。</a:t>
            </a:r>
          </a:p>
          <a:p>
            <a:pPr lvl="2">
              <a:lnSpc>
                <a:spcPct val="120000"/>
              </a:lnSpc>
              <a:spcBef>
                <a:spcPts val="575"/>
              </a:spcBef>
              <a:buFont typeface="Wingdings" pitchFamily="2" charset="2"/>
              <a:buChar char="l"/>
            </a:pPr>
            <a:r>
              <a:rPr lang="zh-CN" altLang="en-US" dirty="0" smtClean="0"/>
              <a:t>   一旦发生介质故障，即利用数据库备份及日志文件备份，尽快将数据库恢复到某种一致性状态。</a:t>
            </a:r>
          </a:p>
        </p:txBody>
      </p:sp>
    </p:spTree>
  </p:cSld>
  <p:clrMapOvr>
    <a:masterClrMapping/>
  </p:clrMapOvr>
  <p:transition/>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Rectangle 2"/>
          <p:cNvSpPr>
            <a:spLocks noGrp="1" noChangeArrowheads="1"/>
          </p:cNvSpPr>
          <p:nvPr>
            <p:ph type="title" idx="4294967295"/>
          </p:nvPr>
        </p:nvSpPr>
        <p:spPr/>
        <p:txBody>
          <a:bodyPr/>
          <a:lstStyle/>
          <a:p>
            <a:r>
              <a:rPr lang="zh-CN" altLang="en-US" sz="3600" smtClean="0"/>
              <a:t>数据库的运行和维护（续）</a:t>
            </a:r>
          </a:p>
        </p:txBody>
      </p:sp>
      <p:sp>
        <p:nvSpPr>
          <p:cNvPr id="75779" name="Rectangle 3"/>
          <p:cNvSpPr>
            <a:spLocks noGrp="1" noChangeArrowheads="1"/>
          </p:cNvSpPr>
          <p:nvPr>
            <p:ph idx="4294967295"/>
          </p:nvPr>
        </p:nvSpPr>
        <p:spPr>
          <a:xfrm>
            <a:off x="323850" y="1098550"/>
            <a:ext cx="8569325" cy="5095875"/>
          </a:xfrm>
        </p:spPr>
        <p:txBody>
          <a:bodyPr/>
          <a:lstStyle/>
          <a:p>
            <a:pPr marL="400050" lvl="1" indent="0">
              <a:lnSpc>
                <a:spcPct val="120000"/>
              </a:lnSpc>
              <a:buFont typeface="Wingdings" pitchFamily="2" charset="2"/>
              <a:buNone/>
            </a:pPr>
            <a:r>
              <a:rPr lang="en-US" altLang="zh-CN" dirty="0" smtClean="0"/>
              <a:t>2. </a:t>
            </a:r>
            <a:r>
              <a:rPr lang="zh-CN" altLang="en-US" dirty="0" smtClean="0"/>
              <a:t>数据库的安全性、完整性控制</a:t>
            </a:r>
          </a:p>
          <a:p>
            <a:pPr lvl="2">
              <a:lnSpc>
                <a:spcPct val="120000"/>
              </a:lnSpc>
              <a:buFont typeface="Wingdings" pitchFamily="2" charset="2"/>
              <a:buChar char="l"/>
            </a:pPr>
            <a:r>
              <a:rPr lang="zh-CN" altLang="en-US" dirty="0" smtClean="0"/>
              <a:t>初始定义</a:t>
            </a:r>
          </a:p>
          <a:p>
            <a:pPr lvl="3">
              <a:lnSpc>
                <a:spcPct val="120000"/>
              </a:lnSpc>
              <a:buSzPct val="87000"/>
              <a:buFont typeface="Wingdings" pitchFamily="2" charset="2"/>
              <a:buChar char="Ø"/>
            </a:pPr>
            <a:r>
              <a:rPr lang="zh-CN" altLang="en-US" sz="2200" dirty="0" smtClean="0"/>
              <a:t>数据库管理员根据用户的实际需要授予不同的操作权限</a:t>
            </a:r>
          </a:p>
          <a:p>
            <a:pPr lvl="3">
              <a:lnSpc>
                <a:spcPct val="120000"/>
              </a:lnSpc>
              <a:buSzPct val="87000"/>
              <a:buFont typeface="Wingdings" pitchFamily="2" charset="2"/>
              <a:buChar char="Ø"/>
            </a:pPr>
            <a:r>
              <a:rPr lang="zh-CN" altLang="en-US" sz="2200" dirty="0" smtClean="0"/>
              <a:t>根据应用环境定义不同的完整性约束条件</a:t>
            </a:r>
          </a:p>
          <a:p>
            <a:pPr lvl="2">
              <a:lnSpc>
                <a:spcPct val="120000"/>
              </a:lnSpc>
              <a:buFont typeface="Wingdings" pitchFamily="2" charset="2"/>
              <a:buChar char="l"/>
            </a:pPr>
            <a:r>
              <a:rPr lang="zh-CN" altLang="en-US" dirty="0" smtClean="0"/>
              <a:t>修改定义</a:t>
            </a:r>
          </a:p>
          <a:p>
            <a:pPr lvl="3">
              <a:lnSpc>
                <a:spcPct val="120000"/>
              </a:lnSpc>
              <a:buSzPct val="87000"/>
              <a:buFont typeface="Wingdings" pitchFamily="2" charset="2"/>
              <a:buChar char="Ø"/>
            </a:pPr>
            <a:r>
              <a:rPr lang="zh-CN" altLang="en-US" sz="2200" dirty="0" smtClean="0"/>
              <a:t>当应用环境发生变化，对安全性的要求也会发生变化，数据库管理员需要根据实际情况修改原有的安全性控制</a:t>
            </a:r>
          </a:p>
          <a:p>
            <a:pPr lvl="3">
              <a:lnSpc>
                <a:spcPct val="120000"/>
              </a:lnSpc>
              <a:buSzPct val="87000"/>
              <a:buFont typeface="Wingdings" pitchFamily="2" charset="2"/>
              <a:buChar char="Ø"/>
            </a:pPr>
            <a:r>
              <a:rPr lang="zh-CN" altLang="en-US" sz="2200" dirty="0" smtClean="0"/>
              <a:t>由于应用环境发生变化，数据库的完整性约束条件也会变化，也需要数据库管理员不断修正，以满足用户要求</a:t>
            </a:r>
          </a:p>
        </p:txBody>
      </p:sp>
    </p:spTree>
  </p:cSld>
  <p:clrMapOvr>
    <a:masterClrMapping/>
  </p:clrMapOvr>
  <p:transition/>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2"/>
          <p:cNvSpPr>
            <a:spLocks noGrp="1" noChangeArrowheads="1"/>
          </p:cNvSpPr>
          <p:nvPr>
            <p:ph type="title" idx="4294967295"/>
          </p:nvPr>
        </p:nvSpPr>
        <p:spPr/>
        <p:txBody>
          <a:bodyPr/>
          <a:lstStyle/>
          <a:p>
            <a:r>
              <a:rPr lang="zh-CN" altLang="en-US" sz="3600" smtClean="0"/>
              <a:t>数据库的运行和维护（续）</a:t>
            </a:r>
          </a:p>
        </p:txBody>
      </p:sp>
      <p:sp>
        <p:nvSpPr>
          <p:cNvPr id="76803" name="Rectangle 3"/>
          <p:cNvSpPr>
            <a:spLocks noGrp="1" noChangeArrowheads="1"/>
          </p:cNvSpPr>
          <p:nvPr>
            <p:ph idx="4294967295"/>
          </p:nvPr>
        </p:nvSpPr>
        <p:spPr>
          <a:xfrm>
            <a:off x="323850" y="1098550"/>
            <a:ext cx="8640763" cy="5095875"/>
          </a:xfrm>
        </p:spPr>
        <p:txBody>
          <a:bodyPr/>
          <a:lstStyle/>
          <a:p>
            <a:pPr marL="400050" lvl="1" indent="0">
              <a:lnSpc>
                <a:spcPct val="120000"/>
              </a:lnSpc>
              <a:buFont typeface="Wingdings" pitchFamily="2" charset="2"/>
              <a:buNone/>
            </a:pPr>
            <a:r>
              <a:rPr lang="en-US" altLang="zh-CN" smtClean="0"/>
              <a:t>3. </a:t>
            </a:r>
            <a:r>
              <a:rPr lang="zh-CN" altLang="en-US" smtClean="0"/>
              <a:t>数据库性能的监督、分析和改进</a:t>
            </a:r>
          </a:p>
          <a:p>
            <a:pPr lvl="2">
              <a:lnSpc>
                <a:spcPct val="120000"/>
              </a:lnSpc>
              <a:buFont typeface="Wingdings" pitchFamily="2" charset="2"/>
              <a:buChar char="l"/>
            </a:pPr>
            <a:r>
              <a:rPr lang="zh-CN" altLang="en-US" smtClean="0"/>
              <a:t>在数据库运行过程中，数据库管理员必须监督系统运行，对监测数据进行分析，找出改进系统性能的方法。</a:t>
            </a:r>
          </a:p>
          <a:p>
            <a:pPr lvl="3">
              <a:lnSpc>
                <a:spcPct val="120000"/>
              </a:lnSpc>
              <a:buSzPct val="87000"/>
              <a:buFont typeface="Wingdings" pitchFamily="2" charset="2"/>
              <a:buChar char="Ø"/>
            </a:pPr>
            <a:r>
              <a:rPr lang="zh-CN" altLang="en-US" sz="2200" smtClean="0"/>
              <a:t>利用监测工具获取系统运行过程中一系列性能参数的值</a:t>
            </a:r>
          </a:p>
          <a:p>
            <a:pPr lvl="3">
              <a:lnSpc>
                <a:spcPct val="120000"/>
              </a:lnSpc>
              <a:buSzPct val="87000"/>
              <a:buFont typeface="Wingdings" pitchFamily="2" charset="2"/>
              <a:buChar char="Ø"/>
            </a:pPr>
            <a:r>
              <a:rPr lang="zh-CN" altLang="en-US" sz="2200" smtClean="0"/>
              <a:t>通过仔细分析这些数据，判断当前系统是否处于最佳运行状态</a:t>
            </a:r>
          </a:p>
          <a:p>
            <a:pPr lvl="3">
              <a:lnSpc>
                <a:spcPct val="120000"/>
              </a:lnSpc>
              <a:buSzPct val="87000"/>
              <a:buFont typeface="Wingdings" pitchFamily="2" charset="2"/>
              <a:buChar char="Ø"/>
            </a:pPr>
            <a:r>
              <a:rPr lang="zh-CN" altLang="en-US" sz="2200" smtClean="0"/>
              <a:t>如果不是，则需要通过调整某些参数来进一步改进数据库性能</a:t>
            </a:r>
          </a:p>
        </p:txBody>
      </p:sp>
    </p:spTree>
  </p:cSld>
  <p:clrMapOvr>
    <a:masterClrMapping/>
  </p:clrMapOvr>
  <p:transition/>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2"/>
          <p:cNvSpPr>
            <a:spLocks noGrp="1" noChangeArrowheads="1"/>
          </p:cNvSpPr>
          <p:nvPr>
            <p:ph type="title"/>
          </p:nvPr>
        </p:nvSpPr>
        <p:spPr/>
        <p:txBody>
          <a:bodyPr/>
          <a:lstStyle/>
          <a:p>
            <a:r>
              <a:rPr lang="zh-CN" altLang="en-US" sz="3600" smtClean="0"/>
              <a:t>数据库的运行和维护（续）</a:t>
            </a:r>
          </a:p>
        </p:txBody>
      </p:sp>
      <p:sp>
        <p:nvSpPr>
          <p:cNvPr id="77827" name="内容占位符 3"/>
          <p:cNvSpPr>
            <a:spLocks noGrp="1"/>
          </p:cNvSpPr>
          <p:nvPr>
            <p:ph idx="1"/>
          </p:nvPr>
        </p:nvSpPr>
        <p:spPr>
          <a:xfrm>
            <a:off x="663575" y="1125538"/>
            <a:ext cx="8229600" cy="4854575"/>
          </a:xfrm>
        </p:spPr>
        <p:txBody>
          <a:bodyPr/>
          <a:lstStyle/>
          <a:p>
            <a:pPr>
              <a:lnSpc>
                <a:spcPct val="120000"/>
              </a:lnSpc>
              <a:buFont typeface="Wingdings" pitchFamily="2" charset="2"/>
              <a:buNone/>
            </a:pPr>
            <a:r>
              <a:rPr lang="en-US" altLang="zh-CN" sz="2400" smtClean="0"/>
              <a:t>4. </a:t>
            </a:r>
            <a:r>
              <a:rPr lang="zh-CN" altLang="en-US" sz="2400" smtClean="0"/>
              <a:t>数据库的重组织与重构造</a:t>
            </a:r>
          </a:p>
          <a:p>
            <a:pPr marL="400050" lvl="1" indent="0">
              <a:lnSpc>
                <a:spcPct val="120000"/>
              </a:lnSpc>
              <a:buFont typeface="Wingdings" pitchFamily="2" charset="2"/>
              <a:buNone/>
            </a:pPr>
            <a:r>
              <a:rPr lang="zh-CN" altLang="en-US" smtClean="0"/>
              <a:t>（</a:t>
            </a:r>
            <a:r>
              <a:rPr lang="en-US" altLang="zh-CN" smtClean="0"/>
              <a:t>1</a:t>
            </a:r>
            <a:r>
              <a:rPr lang="zh-CN" altLang="en-US" smtClean="0"/>
              <a:t>）数据库的重组织</a:t>
            </a:r>
          </a:p>
          <a:p>
            <a:pPr lvl="2">
              <a:lnSpc>
                <a:spcPct val="120000"/>
              </a:lnSpc>
              <a:buFont typeface="Wingdings" pitchFamily="2" charset="2"/>
              <a:buChar char="l"/>
            </a:pPr>
            <a:r>
              <a:rPr lang="zh-CN" altLang="en-US" smtClean="0"/>
              <a:t>为什么要重组织数据库</a:t>
            </a:r>
          </a:p>
          <a:p>
            <a:pPr lvl="3">
              <a:lnSpc>
                <a:spcPct val="120000"/>
              </a:lnSpc>
              <a:buSzPct val="87000"/>
              <a:buFont typeface="Wingdings" pitchFamily="2" charset="2"/>
              <a:buChar char="Ø"/>
            </a:pPr>
            <a:r>
              <a:rPr lang="zh-CN" altLang="en-US" sz="2200" smtClean="0"/>
              <a:t>数据库运行一段时间后，由于记录的不断增、删、改，会使数据库的物理存储变坏，从而降低数据库存储空间的利用率和数据的存取效率，使数据库的性能下降。</a:t>
            </a:r>
          </a:p>
          <a:p>
            <a:pPr lvl="2">
              <a:lnSpc>
                <a:spcPct val="120000"/>
              </a:lnSpc>
            </a:pPr>
            <a:endParaRPr lang="en-US" altLang="zh-CN" smtClean="0"/>
          </a:p>
          <a:p>
            <a:pPr>
              <a:lnSpc>
                <a:spcPct val="120000"/>
              </a:lnSpc>
            </a:pPr>
            <a:endParaRPr lang="zh-CN" altLang="en-US" smtClean="0"/>
          </a:p>
        </p:txBody>
      </p:sp>
    </p:spTree>
  </p:cSld>
  <p:clrMapOvr>
    <a:masterClrMapping/>
  </p:clrMapOvr>
  <p:transition/>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idx="4294967295"/>
          </p:nvPr>
        </p:nvSpPr>
        <p:spPr/>
        <p:txBody>
          <a:bodyPr/>
          <a:lstStyle/>
          <a:p>
            <a:r>
              <a:rPr lang="zh-CN" altLang="en-US" sz="3600" smtClean="0"/>
              <a:t>数据库的运行和维护（续）</a:t>
            </a:r>
          </a:p>
        </p:txBody>
      </p:sp>
      <p:sp>
        <p:nvSpPr>
          <p:cNvPr id="78851" name="Rectangle 3"/>
          <p:cNvSpPr>
            <a:spLocks noGrp="1" noChangeArrowheads="1"/>
          </p:cNvSpPr>
          <p:nvPr>
            <p:ph idx="4294967295"/>
          </p:nvPr>
        </p:nvSpPr>
        <p:spPr>
          <a:xfrm>
            <a:off x="457200" y="1098550"/>
            <a:ext cx="8229600" cy="5095875"/>
          </a:xfrm>
        </p:spPr>
        <p:txBody>
          <a:bodyPr/>
          <a:lstStyle/>
          <a:p>
            <a:pPr lvl="1">
              <a:lnSpc>
                <a:spcPct val="150000"/>
              </a:lnSpc>
            </a:pPr>
            <a:r>
              <a:rPr lang="zh-CN" altLang="en-US" smtClean="0"/>
              <a:t>重组织的形式</a:t>
            </a:r>
          </a:p>
          <a:p>
            <a:pPr lvl="2">
              <a:lnSpc>
                <a:spcPct val="120000"/>
              </a:lnSpc>
              <a:buSzPct val="87000"/>
              <a:buFont typeface="Wingdings" pitchFamily="2" charset="2"/>
              <a:buChar char="l"/>
            </a:pPr>
            <a:r>
              <a:rPr lang="zh-CN" altLang="en-US" smtClean="0"/>
              <a:t>全部重组织</a:t>
            </a:r>
          </a:p>
          <a:p>
            <a:pPr lvl="2">
              <a:lnSpc>
                <a:spcPct val="120000"/>
              </a:lnSpc>
              <a:buSzPct val="87000"/>
              <a:buFont typeface="Wingdings" pitchFamily="2" charset="2"/>
              <a:buChar char="l"/>
            </a:pPr>
            <a:r>
              <a:rPr lang="zh-CN" altLang="en-US" smtClean="0"/>
              <a:t>部分重组织</a:t>
            </a:r>
          </a:p>
          <a:p>
            <a:pPr lvl="3">
              <a:lnSpc>
                <a:spcPct val="150000"/>
              </a:lnSpc>
              <a:buFont typeface="Wingdings" pitchFamily="2" charset="2"/>
              <a:buChar char="Ø"/>
            </a:pPr>
            <a:r>
              <a:rPr lang="zh-CN" altLang="en-US" sz="2200" smtClean="0"/>
              <a:t>只对频繁增、删的表进行重组织</a:t>
            </a:r>
          </a:p>
          <a:p>
            <a:pPr lvl="1">
              <a:lnSpc>
                <a:spcPct val="150000"/>
              </a:lnSpc>
            </a:pPr>
            <a:r>
              <a:rPr lang="zh-CN" altLang="en-US" smtClean="0"/>
              <a:t>重组织的目标</a:t>
            </a:r>
          </a:p>
          <a:p>
            <a:pPr lvl="2">
              <a:lnSpc>
                <a:spcPct val="120000"/>
              </a:lnSpc>
              <a:buSzPct val="87000"/>
              <a:buFont typeface="Wingdings" pitchFamily="2" charset="2"/>
              <a:buChar char="l"/>
            </a:pPr>
            <a:r>
              <a:rPr lang="zh-CN" altLang="en-US" smtClean="0"/>
              <a:t>提高系统性能</a:t>
            </a:r>
          </a:p>
          <a:p>
            <a:pPr lvl="1"/>
            <a:endParaRPr lang="en-US" altLang="zh-CN" smtClean="0"/>
          </a:p>
        </p:txBody>
      </p:sp>
    </p:spTree>
  </p:cSld>
  <p:clrMapOvr>
    <a:masterClrMapping/>
  </p:clrMapOvr>
  <p:transition/>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2"/>
          <p:cNvSpPr>
            <a:spLocks noGrp="1" noChangeArrowheads="1"/>
          </p:cNvSpPr>
          <p:nvPr>
            <p:ph type="title" idx="4294967295"/>
          </p:nvPr>
        </p:nvSpPr>
        <p:spPr/>
        <p:txBody>
          <a:bodyPr/>
          <a:lstStyle/>
          <a:p>
            <a:r>
              <a:rPr lang="zh-CN" altLang="en-US" sz="3600" smtClean="0"/>
              <a:t>数据库的运行和维护（续）</a:t>
            </a:r>
          </a:p>
        </p:txBody>
      </p:sp>
      <p:sp>
        <p:nvSpPr>
          <p:cNvPr id="79875" name="Rectangle 3"/>
          <p:cNvSpPr>
            <a:spLocks noGrp="1" noChangeArrowheads="1"/>
          </p:cNvSpPr>
          <p:nvPr>
            <p:ph idx="4294967295"/>
          </p:nvPr>
        </p:nvSpPr>
        <p:spPr>
          <a:xfrm>
            <a:off x="457200" y="1098550"/>
            <a:ext cx="8229600" cy="5095875"/>
          </a:xfrm>
        </p:spPr>
        <p:txBody>
          <a:bodyPr/>
          <a:lstStyle/>
          <a:p>
            <a:pPr lvl="1">
              <a:lnSpc>
                <a:spcPct val="120000"/>
              </a:lnSpc>
            </a:pPr>
            <a:r>
              <a:rPr lang="zh-CN" smtClean="0"/>
              <a:t>重组织的工作</a:t>
            </a:r>
          </a:p>
          <a:p>
            <a:pPr lvl="2">
              <a:lnSpc>
                <a:spcPct val="120000"/>
              </a:lnSpc>
              <a:buSzPct val="87000"/>
              <a:buFont typeface="Wingdings" pitchFamily="2" charset="2"/>
              <a:buChar char="l"/>
            </a:pPr>
            <a:r>
              <a:rPr lang="zh-CN" smtClean="0"/>
              <a:t>按原设计要求</a:t>
            </a:r>
          </a:p>
          <a:p>
            <a:pPr lvl="3">
              <a:lnSpc>
                <a:spcPct val="120000"/>
              </a:lnSpc>
              <a:buFont typeface="Wingdings" pitchFamily="2" charset="2"/>
              <a:buChar char="Ø"/>
            </a:pPr>
            <a:r>
              <a:rPr lang="zh-CN" sz="2200" smtClean="0"/>
              <a:t>重新安排存储位置</a:t>
            </a:r>
          </a:p>
          <a:p>
            <a:pPr lvl="3">
              <a:lnSpc>
                <a:spcPct val="120000"/>
              </a:lnSpc>
              <a:buFont typeface="Wingdings" pitchFamily="2" charset="2"/>
              <a:buChar char="Ø"/>
            </a:pPr>
            <a:r>
              <a:rPr lang="zh-CN" sz="2200" smtClean="0"/>
              <a:t>回收垃圾</a:t>
            </a:r>
          </a:p>
          <a:p>
            <a:pPr lvl="3">
              <a:lnSpc>
                <a:spcPct val="120000"/>
              </a:lnSpc>
              <a:buFont typeface="Wingdings" pitchFamily="2" charset="2"/>
              <a:buChar char="Ø"/>
            </a:pPr>
            <a:r>
              <a:rPr lang="zh-CN" sz="2200" smtClean="0"/>
              <a:t>减少指针链</a:t>
            </a:r>
          </a:p>
          <a:p>
            <a:pPr lvl="2">
              <a:lnSpc>
                <a:spcPct val="120000"/>
              </a:lnSpc>
              <a:buSzPct val="87000"/>
              <a:buFont typeface="Wingdings" pitchFamily="2" charset="2"/>
              <a:buChar char="l"/>
            </a:pPr>
            <a:r>
              <a:rPr lang="zh-CN" smtClean="0"/>
              <a:t>数据库的重组织不会改变原设计的数据逻辑结构和物理结构</a:t>
            </a:r>
            <a:endParaRPr lang="en-US" altLang="zh-CN" smtClean="0"/>
          </a:p>
          <a:p>
            <a:pPr lvl="1">
              <a:lnSpc>
                <a:spcPct val="120000"/>
              </a:lnSpc>
            </a:pPr>
            <a:r>
              <a:rPr lang="zh-CN" altLang="zh-CN" smtClean="0"/>
              <a:t>数据库管理系统一般都提供了供重组织数据库使用的实用程序，帮助数据库管理员重新组织数据库。</a:t>
            </a:r>
          </a:p>
          <a:p>
            <a:pPr lvl="2">
              <a:lnSpc>
                <a:spcPct val="120000"/>
              </a:lnSpc>
              <a:buSzPct val="87000"/>
              <a:buFont typeface="Wingdings" pitchFamily="2" charset="2"/>
              <a:buChar char="l"/>
            </a:pPr>
            <a:endParaRPr lang="zh-CN" altLang="zh-CN" smtClean="0"/>
          </a:p>
        </p:txBody>
      </p:sp>
    </p:spTree>
  </p:cSld>
  <p:clrMapOvr>
    <a:masterClrMapping/>
  </p:clrMapOvr>
  <p:transition/>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p:txBody>
          <a:bodyPr/>
          <a:lstStyle/>
          <a:p>
            <a:r>
              <a:rPr lang="zh-CN" altLang="en-US" sz="3600" smtClean="0"/>
              <a:t>数据库的运行和维护（续）</a:t>
            </a:r>
          </a:p>
        </p:txBody>
      </p:sp>
      <p:sp>
        <p:nvSpPr>
          <p:cNvPr id="80899" name="内容占位符 3"/>
          <p:cNvSpPr>
            <a:spLocks noGrp="1"/>
          </p:cNvSpPr>
          <p:nvPr>
            <p:ph idx="1"/>
          </p:nvPr>
        </p:nvSpPr>
        <p:spPr/>
        <p:txBody>
          <a:bodyPr/>
          <a:lstStyle/>
          <a:p>
            <a:pPr>
              <a:lnSpc>
                <a:spcPct val="120000"/>
              </a:lnSpc>
              <a:buFont typeface="Wingdings" pitchFamily="2" charset="2"/>
              <a:buNone/>
            </a:pPr>
            <a:r>
              <a:rPr lang="zh-CN" altLang="en-US" sz="2400" smtClean="0"/>
              <a:t>（</a:t>
            </a:r>
            <a:r>
              <a:rPr lang="en-US" altLang="zh-CN" sz="2400" smtClean="0"/>
              <a:t>2</a:t>
            </a:r>
            <a:r>
              <a:rPr lang="zh-CN" altLang="en-US" sz="2400" smtClean="0"/>
              <a:t>）数据库的重构造</a:t>
            </a:r>
          </a:p>
          <a:p>
            <a:pPr lvl="1">
              <a:lnSpc>
                <a:spcPct val="120000"/>
              </a:lnSpc>
            </a:pPr>
            <a:r>
              <a:rPr lang="zh-CN" altLang="en-US" sz="2200" smtClean="0"/>
              <a:t>为什么要进行数据库的重构造</a:t>
            </a:r>
          </a:p>
          <a:p>
            <a:pPr lvl="2">
              <a:lnSpc>
                <a:spcPct val="120000"/>
              </a:lnSpc>
              <a:buSzPct val="87000"/>
              <a:buFont typeface="Wingdings" pitchFamily="2" charset="2"/>
              <a:buChar char="l"/>
            </a:pPr>
            <a:r>
              <a:rPr lang="zh-CN" altLang="en-US" smtClean="0"/>
              <a:t>数据库应用环境发生变化，会导致实体及实体间的联系也发生相应的变化，使原有的数据库设计不能很好地满足新的需求</a:t>
            </a:r>
          </a:p>
          <a:p>
            <a:pPr lvl="3">
              <a:lnSpc>
                <a:spcPct val="120000"/>
              </a:lnSpc>
              <a:buFont typeface="Wingdings" pitchFamily="2" charset="2"/>
              <a:buChar char="Ø"/>
            </a:pPr>
            <a:r>
              <a:rPr lang="zh-CN" altLang="en-US" sz="2200" smtClean="0"/>
              <a:t>增加新的应用或新的实体</a:t>
            </a:r>
          </a:p>
          <a:p>
            <a:pPr lvl="3">
              <a:lnSpc>
                <a:spcPct val="120000"/>
              </a:lnSpc>
              <a:buFont typeface="Wingdings" pitchFamily="2" charset="2"/>
              <a:buChar char="Ø"/>
            </a:pPr>
            <a:r>
              <a:rPr lang="zh-CN" altLang="en-US" sz="2200" smtClean="0"/>
              <a:t>取消某些已有应用</a:t>
            </a:r>
          </a:p>
          <a:p>
            <a:pPr lvl="3">
              <a:lnSpc>
                <a:spcPct val="120000"/>
              </a:lnSpc>
              <a:buFont typeface="Wingdings" pitchFamily="2" charset="2"/>
              <a:buChar char="Ø"/>
            </a:pPr>
            <a:r>
              <a:rPr lang="zh-CN" altLang="en-US" sz="2200" smtClean="0"/>
              <a:t>改变某些已有应用</a:t>
            </a:r>
          </a:p>
          <a:p>
            <a:pPr>
              <a:lnSpc>
                <a:spcPct val="120000"/>
              </a:lnSpc>
            </a:pPr>
            <a:endParaRPr lang="zh-CN" altLang="en-US" smtClean="0"/>
          </a:p>
        </p:txBody>
      </p:sp>
    </p:spTree>
  </p:cSld>
  <p:clrMapOvr>
    <a:masterClrMapping/>
  </p:clrMapOvr>
  <p:transition/>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ChangeArrowheads="1"/>
          </p:cNvSpPr>
          <p:nvPr>
            <p:ph type="title" idx="4294967295"/>
          </p:nvPr>
        </p:nvSpPr>
        <p:spPr/>
        <p:txBody>
          <a:bodyPr/>
          <a:lstStyle/>
          <a:p>
            <a:r>
              <a:rPr lang="zh-CN" altLang="en-US" sz="3600" smtClean="0"/>
              <a:t>数据库的运行和维护（续）</a:t>
            </a:r>
          </a:p>
        </p:txBody>
      </p:sp>
      <p:sp>
        <p:nvSpPr>
          <p:cNvPr id="81923" name="Rectangle 3"/>
          <p:cNvSpPr>
            <a:spLocks noGrp="1" noChangeArrowheads="1"/>
          </p:cNvSpPr>
          <p:nvPr>
            <p:ph idx="4294967295"/>
          </p:nvPr>
        </p:nvSpPr>
        <p:spPr>
          <a:xfrm>
            <a:off x="323850" y="1098550"/>
            <a:ext cx="8229600" cy="4854575"/>
          </a:xfrm>
        </p:spPr>
        <p:txBody>
          <a:bodyPr/>
          <a:lstStyle/>
          <a:p>
            <a:pPr lvl="1">
              <a:lnSpc>
                <a:spcPct val="150000"/>
              </a:lnSpc>
            </a:pPr>
            <a:r>
              <a:rPr lang="zh-CN" smtClean="0"/>
              <a:t>数据库重构造的主要工作</a:t>
            </a:r>
          </a:p>
          <a:p>
            <a:pPr lvl="2">
              <a:lnSpc>
                <a:spcPct val="150000"/>
              </a:lnSpc>
              <a:buSzPct val="87000"/>
              <a:buFont typeface="Wingdings" pitchFamily="2" charset="2"/>
              <a:buChar char="l"/>
            </a:pPr>
            <a:r>
              <a:rPr lang="zh-CN" smtClean="0"/>
              <a:t>根据新环境调整数据库的模式和内模式</a:t>
            </a:r>
          </a:p>
          <a:p>
            <a:pPr lvl="3">
              <a:lnSpc>
                <a:spcPct val="150000"/>
              </a:lnSpc>
              <a:buFont typeface="Wingdings" pitchFamily="2" charset="2"/>
              <a:buChar char="Ø"/>
            </a:pPr>
            <a:r>
              <a:rPr lang="zh-CN" sz="2200" smtClean="0"/>
              <a:t>增加</a:t>
            </a:r>
            <a:r>
              <a:rPr lang="zh-CN" altLang="en-US" sz="2200" smtClean="0"/>
              <a:t>或删除某些</a:t>
            </a:r>
            <a:r>
              <a:rPr lang="zh-CN" sz="2200" smtClean="0"/>
              <a:t>数据项</a:t>
            </a:r>
          </a:p>
          <a:p>
            <a:pPr lvl="3">
              <a:lnSpc>
                <a:spcPct val="150000"/>
              </a:lnSpc>
              <a:buFont typeface="Wingdings" pitchFamily="2" charset="2"/>
              <a:buChar char="Ø"/>
            </a:pPr>
            <a:r>
              <a:rPr lang="zh-CN" sz="2200" smtClean="0"/>
              <a:t>改变数据项的类型</a:t>
            </a:r>
          </a:p>
          <a:p>
            <a:pPr lvl="3">
              <a:lnSpc>
                <a:spcPct val="150000"/>
              </a:lnSpc>
              <a:buFont typeface="Wingdings" pitchFamily="2" charset="2"/>
              <a:buChar char="Ø"/>
            </a:pPr>
            <a:r>
              <a:rPr lang="zh-CN" altLang="en-US" sz="2200" smtClean="0"/>
              <a:t>增加或删除某个表</a:t>
            </a:r>
            <a:endParaRPr lang="en-US" altLang="zh-CN" sz="2200" smtClean="0"/>
          </a:p>
          <a:p>
            <a:pPr lvl="3">
              <a:lnSpc>
                <a:spcPct val="150000"/>
              </a:lnSpc>
              <a:buFont typeface="Wingdings" pitchFamily="2" charset="2"/>
              <a:buChar char="Ø"/>
            </a:pPr>
            <a:r>
              <a:rPr lang="zh-CN" sz="2200" smtClean="0"/>
              <a:t>改变数据库的容量</a:t>
            </a:r>
          </a:p>
          <a:p>
            <a:pPr lvl="3">
              <a:lnSpc>
                <a:spcPct val="150000"/>
              </a:lnSpc>
              <a:buFont typeface="Wingdings" pitchFamily="2" charset="2"/>
              <a:buChar char="Ø"/>
            </a:pPr>
            <a:r>
              <a:rPr lang="zh-CN" sz="2200" smtClean="0"/>
              <a:t>增加或删除</a:t>
            </a:r>
            <a:r>
              <a:rPr lang="zh-CN" altLang="en-US" sz="2200" smtClean="0"/>
              <a:t>某些</a:t>
            </a:r>
            <a:r>
              <a:rPr lang="zh-CN" sz="2200" smtClean="0"/>
              <a:t>索引</a:t>
            </a:r>
          </a:p>
        </p:txBody>
      </p:sp>
    </p:spTree>
  </p:cSld>
  <p:clrMapOvr>
    <a:masterClrMapping/>
  </p:clrMapOvr>
  <p:transition/>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idx="4294967295"/>
          </p:nvPr>
        </p:nvSpPr>
        <p:spPr/>
        <p:txBody>
          <a:bodyPr/>
          <a:lstStyle/>
          <a:p>
            <a:r>
              <a:rPr lang="zh-CN" altLang="en-US" sz="3600" smtClean="0"/>
              <a:t>数据库的运行和维护（续）</a:t>
            </a:r>
          </a:p>
        </p:txBody>
      </p:sp>
      <p:sp>
        <p:nvSpPr>
          <p:cNvPr id="82947" name="Rectangle 3"/>
          <p:cNvSpPr>
            <a:spLocks noGrp="1" noChangeArrowheads="1"/>
          </p:cNvSpPr>
          <p:nvPr>
            <p:ph idx="4294967295"/>
          </p:nvPr>
        </p:nvSpPr>
        <p:spPr>
          <a:xfrm>
            <a:off x="457200" y="1098550"/>
            <a:ext cx="8229600" cy="5095875"/>
          </a:xfrm>
        </p:spPr>
        <p:txBody>
          <a:bodyPr/>
          <a:lstStyle/>
          <a:p>
            <a:pPr lvl="1">
              <a:lnSpc>
                <a:spcPct val="150000"/>
              </a:lnSpc>
            </a:pPr>
            <a:r>
              <a:rPr lang="zh-CN" smtClean="0"/>
              <a:t>重构造数据库的程度是有限的</a:t>
            </a:r>
          </a:p>
          <a:p>
            <a:pPr lvl="2">
              <a:lnSpc>
                <a:spcPct val="150000"/>
              </a:lnSpc>
              <a:buSzPct val="87000"/>
              <a:buFont typeface="Wingdings" pitchFamily="2" charset="2"/>
              <a:buChar char="l"/>
            </a:pPr>
            <a:r>
              <a:rPr lang="zh-CN" smtClean="0"/>
              <a:t>若应用变化太大，已无法通过重构数据库来满足新的需求，或重构数据库的代价太大，则表明现有数据库应用系统的生命周期已经结束，应该重新设计新的数据库</a:t>
            </a:r>
            <a:r>
              <a:rPr lang="zh-CN" altLang="en-US" smtClean="0"/>
              <a:t>应用</a:t>
            </a:r>
            <a:r>
              <a:rPr lang="zh-CN" smtClean="0"/>
              <a:t>系统</a:t>
            </a:r>
            <a:r>
              <a:rPr lang="zh-CN" altLang="en-US" smtClean="0"/>
              <a:t>了</a:t>
            </a:r>
            <a:r>
              <a:rPr lang="zh-CN" smtClean="0"/>
              <a:t>。</a:t>
            </a:r>
          </a:p>
        </p:txBody>
      </p:sp>
    </p:spTree>
  </p:cSld>
  <p:clrMapOvr>
    <a:masterClrMapping/>
  </p:clrMapOvr>
  <p:transition/>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2"/>
          <p:cNvSpPr>
            <a:spLocks noGrp="1" noChangeArrowheads="1"/>
          </p:cNvSpPr>
          <p:nvPr>
            <p:ph type="title" idx="4294967295"/>
          </p:nvPr>
        </p:nvSpPr>
        <p:spPr/>
        <p:txBody>
          <a:bodyPr/>
          <a:lstStyle/>
          <a:p>
            <a:r>
              <a:rPr lang="zh-CN" smtClean="0"/>
              <a:t>第七章  数据库设计</a:t>
            </a:r>
          </a:p>
        </p:txBody>
      </p:sp>
      <p:sp>
        <p:nvSpPr>
          <p:cNvPr id="83971" name="Rectangle 3"/>
          <p:cNvSpPr>
            <a:spLocks noGrp="1" noChangeArrowheads="1"/>
          </p:cNvSpPr>
          <p:nvPr>
            <p:ph idx="4294967295"/>
          </p:nvPr>
        </p:nvSpPr>
        <p:spPr>
          <a:xfrm>
            <a:off x="684213" y="1098550"/>
            <a:ext cx="8002587" cy="4854575"/>
          </a:xfrm>
        </p:spPr>
        <p:txBody>
          <a:bodyPr/>
          <a:lstStyle/>
          <a:p>
            <a:pPr marL="0" indent="0">
              <a:lnSpc>
                <a:spcPct val="150000"/>
              </a:lnSpc>
              <a:buFont typeface="Wingdings" pitchFamily="2" charset="2"/>
              <a:buNone/>
            </a:pPr>
            <a:r>
              <a:rPr lang="en-US" altLang="zh-CN" smtClean="0"/>
              <a:t>7.1  </a:t>
            </a:r>
            <a:r>
              <a:rPr lang="zh-CN" altLang="en-US" smtClean="0"/>
              <a:t>数据库设计概述</a:t>
            </a:r>
          </a:p>
          <a:p>
            <a:pPr marL="0" indent="0">
              <a:lnSpc>
                <a:spcPct val="150000"/>
              </a:lnSpc>
              <a:buFont typeface="Wingdings" pitchFamily="2" charset="2"/>
              <a:buNone/>
            </a:pPr>
            <a:r>
              <a:rPr lang="en-US" altLang="zh-CN" smtClean="0"/>
              <a:t>7.2  </a:t>
            </a:r>
            <a:r>
              <a:rPr lang="zh-CN" altLang="en-US" smtClean="0"/>
              <a:t>需求分析</a:t>
            </a:r>
          </a:p>
          <a:p>
            <a:pPr marL="0" indent="0">
              <a:lnSpc>
                <a:spcPct val="150000"/>
              </a:lnSpc>
              <a:buFont typeface="Wingdings" pitchFamily="2" charset="2"/>
              <a:buNone/>
            </a:pPr>
            <a:r>
              <a:rPr lang="en-US" altLang="zh-CN" smtClean="0"/>
              <a:t>7.3  </a:t>
            </a:r>
            <a:r>
              <a:rPr lang="zh-CN" altLang="en-US" smtClean="0"/>
              <a:t>概念结构设计</a:t>
            </a:r>
          </a:p>
          <a:p>
            <a:pPr marL="0" indent="0">
              <a:lnSpc>
                <a:spcPct val="150000"/>
              </a:lnSpc>
              <a:buFont typeface="Wingdings" pitchFamily="2" charset="2"/>
              <a:buNone/>
            </a:pPr>
            <a:r>
              <a:rPr lang="en-US" altLang="zh-CN" smtClean="0"/>
              <a:t>7.4  </a:t>
            </a:r>
            <a:r>
              <a:rPr lang="zh-CN" altLang="en-US" smtClean="0"/>
              <a:t>逻辑结构设计</a:t>
            </a:r>
          </a:p>
          <a:p>
            <a:pPr marL="0" indent="0">
              <a:lnSpc>
                <a:spcPct val="150000"/>
              </a:lnSpc>
              <a:buFont typeface="Wingdings" pitchFamily="2" charset="2"/>
              <a:buNone/>
            </a:pPr>
            <a:r>
              <a:rPr lang="en-US" altLang="zh-CN" smtClean="0"/>
              <a:t>7.5  </a:t>
            </a:r>
            <a:r>
              <a:rPr lang="zh-CN" altLang="en-US" smtClean="0"/>
              <a:t>物理结构设计</a:t>
            </a:r>
          </a:p>
          <a:p>
            <a:pPr marL="0" indent="0">
              <a:lnSpc>
                <a:spcPct val="150000"/>
              </a:lnSpc>
              <a:buFont typeface="Wingdings" pitchFamily="2" charset="2"/>
              <a:buNone/>
            </a:pPr>
            <a:r>
              <a:rPr lang="en-US" altLang="zh-CN" smtClean="0"/>
              <a:t>7.6  </a:t>
            </a:r>
            <a:r>
              <a:rPr lang="zh-CN" altLang="en-US" smtClean="0"/>
              <a:t>数据库的实施和维护</a:t>
            </a:r>
          </a:p>
          <a:p>
            <a:pPr marL="0" indent="0">
              <a:lnSpc>
                <a:spcPct val="150000"/>
              </a:lnSpc>
              <a:buFont typeface="Wingdings" pitchFamily="2" charset="2"/>
              <a:buNone/>
            </a:pPr>
            <a:r>
              <a:rPr lang="en-US" altLang="zh-CN" smtClean="0">
                <a:solidFill>
                  <a:srgbClr val="0066FF"/>
                </a:solidFill>
              </a:rPr>
              <a:t>7.7  </a:t>
            </a:r>
            <a:r>
              <a:rPr lang="zh-CN" altLang="en-US" smtClean="0">
                <a:solidFill>
                  <a:srgbClr val="0066FF"/>
                </a:solidFill>
              </a:rPr>
              <a:t>小结</a:t>
            </a:r>
          </a:p>
        </p:txBody>
      </p:sp>
    </p:spTree>
  </p:cSld>
  <p:clrMapOvr>
    <a:masterClrMapping/>
  </p:clrMapOvr>
  <p:transition/>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2"/>
          <p:cNvSpPr>
            <a:spLocks noGrp="1" noChangeArrowheads="1"/>
          </p:cNvSpPr>
          <p:nvPr>
            <p:ph type="title" idx="4294967295"/>
          </p:nvPr>
        </p:nvSpPr>
        <p:spPr/>
        <p:txBody>
          <a:bodyPr/>
          <a:lstStyle/>
          <a:p>
            <a:r>
              <a:rPr lang="en-US" altLang="zh-CN" sz="3600" smtClean="0"/>
              <a:t>7.7  </a:t>
            </a:r>
            <a:r>
              <a:rPr lang="zh-CN" altLang="en-US" sz="3600" smtClean="0"/>
              <a:t>小结</a:t>
            </a:r>
          </a:p>
        </p:txBody>
      </p:sp>
      <p:sp>
        <p:nvSpPr>
          <p:cNvPr id="84995" name="Rectangle 3"/>
          <p:cNvSpPr>
            <a:spLocks noGrp="1" noChangeArrowheads="1"/>
          </p:cNvSpPr>
          <p:nvPr>
            <p:ph idx="4294967295"/>
          </p:nvPr>
        </p:nvSpPr>
        <p:spPr>
          <a:xfrm>
            <a:off x="457200" y="1098550"/>
            <a:ext cx="8229600" cy="5095875"/>
          </a:xfrm>
        </p:spPr>
        <p:txBody>
          <a:bodyPr/>
          <a:lstStyle/>
          <a:p>
            <a:pPr>
              <a:lnSpc>
                <a:spcPct val="120000"/>
              </a:lnSpc>
            </a:pPr>
            <a:r>
              <a:rPr lang="zh-CN" altLang="en-US" smtClean="0"/>
              <a:t>数据库的设计过程</a:t>
            </a:r>
          </a:p>
          <a:p>
            <a:pPr lvl="1">
              <a:lnSpc>
                <a:spcPct val="120000"/>
              </a:lnSpc>
            </a:pPr>
            <a:r>
              <a:rPr lang="zh-CN" altLang="en-US" smtClean="0"/>
              <a:t>需求分析</a:t>
            </a:r>
          </a:p>
          <a:p>
            <a:pPr lvl="1">
              <a:lnSpc>
                <a:spcPct val="120000"/>
              </a:lnSpc>
            </a:pPr>
            <a:r>
              <a:rPr lang="zh-CN" altLang="en-US" smtClean="0"/>
              <a:t>概念结构设计</a:t>
            </a:r>
          </a:p>
          <a:p>
            <a:pPr lvl="1">
              <a:lnSpc>
                <a:spcPct val="120000"/>
              </a:lnSpc>
            </a:pPr>
            <a:r>
              <a:rPr lang="zh-CN" altLang="en-US" smtClean="0"/>
              <a:t>逻辑结构设计</a:t>
            </a:r>
          </a:p>
          <a:p>
            <a:pPr lvl="1">
              <a:lnSpc>
                <a:spcPct val="120000"/>
              </a:lnSpc>
            </a:pPr>
            <a:r>
              <a:rPr lang="zh-CN" altLang="en-US" smtClean="0"/>
              <a:t>物理结构设计</a:t>
            </a:r>
          </a:p>
          <a:p>
            <a:pPr lvl="1">
              <a:lnSpc>
                <a:spcPct val="120000"/>
              </a:lnSpc>
            </a:pPr>
            <a:r>
              <a:rPr lang="zh-CN" altLang="en-US" smtClean="0"/>
              <a:t>数据库实施</a:t>
            </a:r>
          </a:p>
          <a:p>
            <a:pPr lvl="1">
              <a:lnSpc>
                <a:spcPct val="120000"/>
              </a:lnSpc>
            </a:pPr>
            <a:r>
              <a:rPr lang="zh-CN" altLang="en-US" smtClean="0"/>
              <a:t>数据库运行维护</a:t>
            </a:r>
          </a:p>
          <a:p>
            <a:pPr lvl="1">
              <a:lnSpc>
                <a:spcPct val="120000"/>
              </a:lnSpc>
            </a:pPr>
            <a:r>
              <a:rPr lang="zh-CN" altLang="en-US" smtClean="0"/>
              <a:t>设计过程中往往还会有许多反复</a:t>
            </a:r>
          </a:p>
        </p:txBody>
      </p:sp>
    </p:spTree>
  </p:cSld>
  <p:clrMapOvr>
    <a:masterClrMapping/>
  </p:clrMapOvr>
  <p:transition/>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2"/>
          <p:cNvSpPr>
            <a:spLocks noGrp="1" noChangeArrowheads="1"/>
          </p:cNvSpPr>
          <p:nvPr>
            <p:ph type="title"/>
          </p:nvPr>
        </p:nvSpPr>
        <p:spPr/>
        <p:txBody>
          <a:bodyPr/>
          <a:lstStyle/>
          <a:p>
            <a:pPr eaLnBrk="1" hangingPunct="1"/>
            <a:r>
              <a:rPr lang="zh-CN" altLang="en-US" smtClean="0"/>
              <a:t>小结（续）</a:t>
            </a:r>
          </a:p>
        </p:txBody>
      </p:sp>
      <p:sp>
        <p:nvSpPr>
          <p:cNvPr id="86019" name="Rectangle 3"/>
          <p:cNvSpPr>
            <a:spLocks noGrp="1" noChangeArrowheads="1"/>
          </p:cNvSpPr>
          <p:nvPr>
            <p:ph idx="1"/>
          </p:nvPr>
        </p:nvSpPr>
        <p:spPr>
          <a:xfrm>
            <a:off x="457200" y="1196975"/>
            <a:ext cx="8229600" cy="4997450"/>
          </a:xfrm>
        </p:spPr>
        <p:txBody>
          <a:bodyPr/>
          <a:lstStyle/>
          <a:p>
            <a:pPr eaLnBrk="1" hangingPunct="1">
              <a:lnSpc>
                <a:spcPct val="120000"/>
              </a:lnSpc>
              <a:spcBef>
                <a:spcPct val="0"/>
              </a:spcBef>
            </a:pPr>
            <a:r>
              <a:rPr lang="zh-CN" altLang="en-US" smtClean="0"/>
              <a:t>数据库各级模式的形成</a:t>
            </a:r>
          </a:p>
          <a:p>
            <a:pPr lvl="1" eaLnBrk="1" hangingPunct="1">
              <a:lnSpc>
                <a:spcPct val="120000"/>
              </a:lnSpc>
              <a:spcBef>
                <a:spcPct val="0"/>
              </a:spcBef>
            </a:pPr>
            <a:r>
              <a:rPr lang="zh-CN" altLang="en-US" smtClean="0"/>
              <a:t>需求分析阶段：综合各个用户的应用需求（现实世界的需求）。</a:t>
            </a:r>
          </a:p>
          <a:p>
            <a:pPr lvl="1" eaLnBrk="1" hangingPunct="1">
              <a:lnSpc>
                <a:spcPct val="120000"/>
              </a:lnSpc>
              <a:spcBef>
                <a:spcPct val="0"/>
              </a:spcBef>
            </a:pPr>
            <a:r>
              <a:rPr lang="zh-CN" altLang="en-US" smtClean="0"/>
              <a:t>概念设计阶段：</a:t>
            </a:r>
            <a:r>
              <a:rPr lang="zh-CN" altLang="en-US" smtClean="0">
                <a:solidFill>
                  <a:srgbClr val="FF00FF"/>
                </a:solidFill>
              </a:rPr>
              <a:t>概念模式</a:t>
            </a:r>
            <a:r>
              <a:rPr lang="zh-CN" altLang="en-US" smtClean="0"/>
              <a:t>（信息世界模型），用</a:t>
            </a:r>
            <a:r>
              <a:rPr lang="en-US" altLang="zh-CN" smtClean="0"/>
              <a:t>E-R</a:t>
            </a:r>
            <a:r>
              <a:rPr lang="zh-CN" altLang="en-US" smtClean="0"/>
              <a:t>图来描述。</a:t>
            </a:r>
          </a:p>
          <a:p>
            <a:pPr lvl="1" eaLnBrk="1" hangingPunct="1">
              <a:lnSpc>
                <a:spcPct val="120000"/>
              </a:lnSpc>
              <a:spcBef>
                <a:spcPct val="0"/>
              </a:spcBef>
            </a:pPr>
            <a:r>
              <a:rPr lang="zh-CN" altLang="en-US" smtClean="0"/>
              <a:t>逻辑设计阶段：</a:t>
            </a:r>
            <a:r>
              <a:rPr lang="zh-CN" altLang="en-US" smtClean="0">
                <a:solidFill>
                  <a:srgbClr val="FF00FF"/>
                </a:solidFill>
              </a:rPr>
              <a:t>逻辑模式</a:t>
            </a:r>
            <a:r>
              <a:rPr lang="zh-CN" altLang="en-US" smtClean="0"/>
              <a:t>、</a:t>
            </a:r>
            <a:r>
              <a:rPr lang="zh-CN" altLang="en-US" smtClean="0">
                <a:solidFill>
                  <a:srgbClr val="FF00FF"/>
                </a:solidFill>
              </a:rPr>
              <a:t>外模式</a:t>
            </a:r>
            <a:r>
              <a:rPr lang="zh-CN" altLang="en-US" smtClean="0"/>
              <a:t>。</a:t>
            </a:r>
          </a:p>
          <a:p>
            <a:pPr lvl="1" eaLnBrk="1" hangingPunct="1">
              <a:lnSpc>
                <a:spcPct val="120000"/>
              </a:lnSpc>
              <a:spcBef>
                <a:spcPct val="0"/>
              </a:spcBef>
            </a:pPr>
            <a:r>
              <a:rPr lang="zh-CN" altLang="en-US" smtClean="0"/>
              <a:t>物理设计阶段：</a:t>
            </a:r>
            <a:r>
              <a:rPr lang="zh-CN" altLang="en-US" smtClean="0">
                <a:solidFill>
                  <a:srgbClr val="FF00FF"/>
                </a:solidFill>
              </a:rPr>
              <a:t>内模式</a:t>
            </a:r>
            <a:r>
              <a:rPr lang="zh-CN" altLang="en-US" smtClean="0"/>
              <a:t>。</a:t>
            </a:r>
          </a:p>
        </p:txBody>
      </p:sp>
    </p:spTree>
  </p:cSld>
  <p:clrMapOvr>
    <a:masterClrMapping/>
  </p:clrMapOvr>
  <p:transition/>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Rectangle 2"/>
          <p:cNvSpPr>
            <a:spLocks noGrp="1" noChangeArrowheads="1"/>
          </p:cNvSpPr>
          <p:nvPr>
            <p:ph type="title" idx="4294967295"/>
          </p:nvPr>
        </p:nvSpPr>
        <p:spPr/>
        <p:txBody>
          <a:bodyPr/>
          <a:lstStyle/>
          <a:p>
            <a:r>
              <a:rPr lang="zh-CN" sz="3600" smtClean="0"/>
              <a:t>小结（续）</a:t>
            </a:r>
          </a:p>
        </p:txBody>
      </p:sp>
      <p:sp>
        <p:nvSpPr>
          <p:cNvPr id="87043" name="Rectangle 3"/>
          <p:cNvSpPr>
            <a:spLocks noGrp="1" noChangeArrowheads="1"/>
          </p:cNvSpPr>
          <p:nvPr>
            <p:ph idx="4294967295"/>
          </p:nvPr>
        </p:nvSpPr>
        <p:spPr>
          <a:xfrm>
            <a:off x="611188" y="1339850"/>
            <a:ext cx="8075612" cy="4854575"/>
          </a:xfrm>
        </p:spPr>
        <p:txBody>
          <a:bodyPr/>
          <a:lstStyle/>
          <a:p>
            <a:pPr>
              <a:lnSpc>
                <a:spcPct val="120000"/>
              </a:lnSpc>
            </a:pPr>
            <a:r>
              <a:rPr lang="zh-CN" altLang="en-US" smtClean="0"/>
              <a:t>概念结构设计</a:t>
            </a:r>
            <a:endParaRPr lang="en-US" altLang="zh-CN" smtClean="0"/>
          </a:p>
          <a:p>
            <a:pPr lvl="1">
              <a:lnSpc>
                <a:spcPct val="120000"/>
              </a:lnSpc>
            </a:pPr>
            <a:r>
              <a:rPr lang="en-US" altLang="zh-CN" smtClean="0"/>
              <a:t>E-R</a:t>
            </a:r>
            <a:r>
              <a:rPr lang="zh-CN" altLang="en-US" smtClean="0"/>
              <a:t>模型的基本概念和图示方法</a:t>
            </a:r>
            <a:endParaRPr lang="en-US" smtClean="0"/>
          </a:p>
          <a:p>
            <a:pPr lvl="1">
              <a:lnSpc>
                <a:spcPct val="120000"/>
              </a:lnSpc>
            </a:pPr>
            <a:r>
              <a:rPr lang="en-US" altLang="zh-CN" smtClean="0"/>
              <a:t>E-R</a:t>
            </a:r>
            <a:r>
              <a:rPr lang="zh-CN" altLang="en-US" smtClean="0"/>
              <a:t>模型的设计</a:t>
            </a:r>
            <a:endParaRPr lang="en-US" smtClean="0"/>
          </a:p>
          <a:p>
            <a:pPr lvl="1">
              <a:lnSpc>
                <a:spcPct val="120000"/>
              </a:lnSpc>
            </a:pPr>
            <a:r>
              <a:rPr lang="zh-CN" altLang="en-US" smtClean="0"/>
              <a:t>把</a:t>
            </a:r>
            <a:r>
              <a:rPr lang="en-US" altLang="zh-CN" smtClean="0"/>
              <a:t>E-R</a:t>
            </a:r>
            <a:r>
              <a:rPr lang="zh-CN" altLang="en-US" smtClean="0"/>
              <a:t>模型转换为关系模型的方法</a:t>
            </a:r>
          </a:p>
        </p:txBody>
      </p:sp>
    </p:spTree>
  </p:cSld>
  <p:clrMapOvr>
    <a:masterClrMapping/>
  </p:clrMapOvr>
  <p:transition/>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页脚占位符 4"/>
          <p:cNvSpPr>
            <a:spLocks noGrp="1"/>
          </p:cNvSpPr>
          <p:nvPr>
            <p:ph type="ftr" sz="quarter" idx="4294967295"/>
          </p:nvPr>
        </p:nvSpPr>
        <p:spPr bwMode="auto">
          <a:xfrm>
            <a:off x="5219700" y="6381750"/>
            <a:ext cx="3600450" cy="320675"/>
          </a:xfrm>
          <a:prstGeom prst="rect">
            <a:avLst/>
          </a:prstGeom>
          <a:noFill/>
          <a:ln>
            <a:miter lim="800000"/>
            <a:headEnd/>
            <a:tailEnd/>
          </a:ln>
        </p:spPr>
        <p:txBody>
          <a:bodyPr/>
          <a:lstStyle/>
          <a:p>
            <a:r>
              <a:rPr lang="en-US" altLang="zh-CN"/>
              <a:t>An Introduction to Database System</a:t>
            </a:r>
          </a:p>
        </p:txBody>
      </p:sp>
      <p:sp>
        <p:nvSpPr>
          <p:cNvPr id="88067" name="Rectangle 2"/>
          <p:cNvSpPr>
            <a:spLocks noGrp="1" noChangeArrowheads="1"/>
          </p:cNvSpPr>
          <p:nvPr>
            <p:ph type="title"/>
          </p:nvPr>
        </p:nvSpPr>
        <p:spPr/>
        <p:txBody>
          <a:bodyPr/>
          <a:lstStyle/>
          <a:p>
            <a:r>
              <a:rPr lang="zh-CN" altLang="en-US" smtClean="0"/>
              <a:t>小结（续）</a:t>
            </a:r>
          </a:p>
        </p:txBody>
      </p:sp>
      <p:sp>
        <p:nvSpPr>
          <p:cNvPr id="88068" name="Rectangle 3"/>
          <p:cNvSpPr>
            <a:spLocks noGrp="1" noChangeArrowheads="1"/>
          </p:cNvSpPr>
          <p:nvPr>
            <p:ph type="body" idx="1"/>
          </p:nvPr>
        </p:nvSpPr>
        <p:spPr/>
        <p:txBody>
          <a:bodyPr/>
          <a:lstStyle/>
          <a:p>
            <a:pPr lvl="1">
              <a:lnSpc>
                <a:spcPct val="150000"/>
              </a:lnSpc>
              <a:spcBef>
                <a:spcPct val="50000"/>
              </a:spcBef>
            </a:pPr>
            <a:r>
              <a:rPr lang="zh-CN" altLang="en-US" smtClean="0"/>
              <a:t>在逻辑设计阶段将</a:t>
            </a:r>
            <a:r>
              <a:rPr lang="en-US" altLang="zh-CN" smtClean="0"/>
              <a:t>E-R</a:t>
            </a:r>
            <a:r>
              <a:rPr lang="zh-CN" altLang="en-US" smtClean="0"/>
              <a:t>图转换成具体的数据库产品支持的数据模型如关系模型，形成数据库</a:t>
            </a:r>
            <a:r>
              <a:rPr lang="zh-CN" altLang="en-US" smtClean="0">
                <a:solidFill>
                  <a:srgbClr val="FF00FF"/>
                </a:solidFill>
              </a:rPr>
              <a:t>逻辑模式</a:t>
            </a:r>
            <a:r>
              <a:rPr lang="zh-CN" altLang="en-US" smtClean="0"/>
              <a:t>。</a:t>
            </a:r>
            <a:endParaRPr lang="en-US" altLang="zh-CN" smtClean="0"/>
          </a:p>
          <a:p>
            <a:pPr lvl="1">
              <a:lnSpc>
                <a:spcPct val="150000"/>
              </a:lnSpc>
              <a:spcBef>
                <a:spcPct val="50000"/>
              </a:spcBef>
            </a:pPr>
            <a:r>
              <a:rPr lang="zh-CN" altLang="en-US" smtClean="0"/>
              <a:t>然后根据用户处理的要求，安全性的考虑，在基本表的基础上再建立必要的视图，形成数据的</a:t>
            </a:r>
            <a:r>
              <a:rPr lang="zh-CN" altLang="en-US" smtClean="0">
                <a:solidFill>
                  <a:srgbClr val="FF00FF"/>
                </a:solidFill>
              </a:rPr>
              <a:t>外模式</a:t>
            </a:r>
          </a:p>
          <a:p>
            <a:pPr lvl="1">
              <a:lnSpc>
                <a:spcPct val="150000"/>
              </a:lnSpc>
              <a:spcBef>
                <a:spcPct val="50000"/>
              </a:spcBef>
            </a:pPr>
            <a:r>
              <a:rPr lang="zh-CN" altLang="en-US" smtClean="0"/>
              <a:t>在物理设计阶段根据</a:t>
            </a:r>
            <a:r>
              <a:rPr lang="en-US" altLang="zh-CN" smtClean="0"/>
              <a:t>DBMS</a:t>
            </a:r>
            <a:r>
              <a:rPr lang="zh-CN" altLang="en-US" smtClean="0"/>
              <a:t>特点和处理的需要，进行物理存储安排，设计索引，形成数据库</a:t>
            </a:r>
            <a:r>
              <a:rPr lang="zh-CN" altLang="en-US" smtClean="0">
                <a:solidFill>
                  <a:srgbClr val="FF00FF"/>
                </a:solidFill>
              </a:rPr>
              <a:t>内模式</a:t>
            </a: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数据库系统概论">
  <a:themeElements>
    <a:clrScheme name="数据库系统概论 1">
      <a:dk1>
        <a:srgbClr val="000000"/>
      </a:dk1>
      <a:lt1>
        <a:srgbClr val="FFFFFF"/>
      </a:lt1>
      <a:dk2>
        <a:srgbClr val="000000"/>
      </a:dk2>
      <a:lt2>
        <a:srgbClr val="808080"/>
      </a:lt2>
      <a:accent1>
        <a:srgbClr val="CFDEF3"/>
      </a:accent1>
      <a:accent2>
        <a:srgbClr val="333399"/>
      </a:accent2>
      <a:accent3>
        <a:srgbClr val="FFFFFF"/>
      </a:accent3>
      <a:accent4>
        <a:srgbClr val="000000"/>
      </a:accent4>
      <a:accent5>
        <a:srgbClr val="E4ECF8"/>
      </a:accent5>
      <a:accent6>
        <a:srgbClr val="2D2D8A"/>
      </a:accent6>
      <a:hlink>
        <a:srgbClr val="009999"/>
      </a:hlink>
      <a:folHlink>
        <a:srgbClr val="99CC00"/>
      </a:folHlink>
    </a:clrScheme>
    <a:fontScheme name="数据库系统概论">
      <a:majorFont>
        <a:latin typeface="Arial"/>
        <a:ea typeface="宋体"/>
        <a:cs typeface=""/>
      </a:majorFont>
      <a:minorFont>
        <a:latin typeface="Arial"/>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no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 typeface="Arial" pitchFamily="34" charset="0"/>
          <a:buNone/>
          <a:tabLst/>
          <a:defRPr kumimoji="0" lang="zh-CN" sz="1800" b="0" i="0" u="none" strike="noStrike" cap="none" normalizeH="0" baseline="0" smtClean="0">
            <a:ln>
              <a:noFill/>
            </a:ln>
            <a:solidFill>
              <a:schemeClr val="tx1"/>
            </a:solidFill>
            <a:effectLst/>
            <a:latin typeface="Arial" pitchFamily="34" charset="0"/>
            <a:ea typeface="宋体" pitchFamily="2"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 typeface="Arial" pitchFamily="34" charset="0"/>
          <a:buNone/>
          <a:tabLst/>
          <a:defRPr kumimoji="0" lang="zh-CN" sz="1800" b="0" i="0" u="none" strike="noStrike" cap="none" normalizeH="0" baseline="0" smtClean="0">
            <a:ln>
              <a:noFill/>
            </a:ln>
            <a:solidFill>
              <a:schemeClr val="tx1"/>
            </a:solidFill>
            <a:effectLst/>
            <a:latin typeface="Arial" pitchFamily="34" charset="0"/>
            <a:ea typeface="宋体" pitchFamily="2" charset="-122"/>
          </a:defRPr>
        </a:defPPr>
      </a:lstStyle>
    </a:lnDef>
  </a:objectDefaults>
  <a:extraClrSchemeLst>
    <a:extraClrScheme>
      <a:clrScheme name="数据库系统概论 1">
        <a:dk1>
          <a:srgbClr val="000000"/>
        </a:dk1>
        <a:lt1>
          <a:srgbClr val="FFFFFF"/>
        </a:lt1>
        <a:dk2>
          <a:srgbClr val="000000"/>
        </a:dk2>
        <a:lt2>
          <a:srgbClr val="808080"/>
        </a:lt2>
        <a:accent1>
          <a:srgbClr val="CFDEF3"/>
        </a:accent1>
        <a:accent2>
          <a:srgbClr val="333399"/>
        </a:accent2>
        <a:accent3>
          <a:srgbClr val="FFFFFF"/>
        </a:accent3>
        <a:accent4>
          <a:srgbClr val="000000"/>
        </a:accent4>
        <a:accent5>
          <a:srgbClr val="E4ECF8"/>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数据库系统概论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数据库系统概论 3">
        <a:dk1>
          <a:srgbClr val="000000"/>
        </a:dk1>
        <a:lt1>
          <a:srgbClr val="FFFFFF"/>
        </a:lt1>
        <a:dk2>
          <a:srgbClr val="000000"/>
        </a:dk2>
        <a:lt2>
          <a:srgbClr val="808080"/>
        </a:lt2>
        <a:accent1>
          <a:srgbClr val="97CCFF"/>
        </a:accent1>
        <a:accent2>
          <a:srgbClr val="CCCCFF"/>
        </a:accent2>
        <a:accent3>
          <a:srgbClr val="FFFFFF"/>
        </a:accent3>
        <a:accent4>
          <a:srgbClr val="000000"/>
        </a:accent4>
        <a:accent5>
          <a:srgbClr val="C9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数据库系统概论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数据库系统概论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数据库系统概论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数据库系统概论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数据库系统概论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数据库系统概论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数据库系统概论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数据库系统概论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数据库系统概论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1691</TotalTime>
  <Pages>0</Pages>
  <Words>3531</Words>
  <Characters>0</Characters>
  <Application>Microsoft Office PowerPoint</Application>
  <DocSecurity>0</DocSecurity>
  <PresentationFormat>全屏显示(4:3)</PresentationFormat>
  <Lines>0</Lines>
  <Paragraphs>399</Paragraphs>
  <Slides>58</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58</vt:i4>
      </vt:variant>
    </vt:vector>
  </HeadingPairs>
  <TitlesOfParts>
    <vt:vector size="68" baseType="lpstr">
      <vt:lpstr>ˎ̥</vt:lpstr>
      <vt:lpstr>黑体</vt:lpstr>
      <vt:lpstr>华文琥珀</vt:lpstr>
      <vt:lpstr>宋体</vt:lpstr>
      <vt:lpstr>Arial</vt:lpstr>
      <vt:lpstr>Calibri</vt:lpstr>
      <vt:lpstr>Tahoma</vt:lpstr>
      <vt:lpstr>Times New Roman</vt:lpstr>
      <vt:lpstr>Wingdings</vt:lpstr>
      <vt:lpstr>数据库系统概论</vt:lpstr>
      <vt:lpstr>PowerPoint 演示文稿</vt:lpstr>
      <vt:lpstr>第七章  数据库设计</vt:lpstr>
      <vt:lpstr>7.4  逻辑结构设计</vt:lpstr>
      <vt:lpstr>PowerPoint 演示文稿</vt:lpstr>
      <vt:lpstr>PowerPoint 演示文稿</vt:lpstr>
      <vt:lpstr>PowerPoint 演示文稿</vt:lpstr>
      <vt:lpstr>PowerPoint 演示文稿</vt:lpstr>
      <vt:lpstr>PowerPoint 演示文稿</vt:lpstr>
      <vt:lpstr>PowerPoint 演示文稿</vt:lpstr>
      <vt:lpstr>E-R图向关系模型的转换（续）</vt:lpstr>
      <vt:lpstr>E-R图向关系模型的转换（续）</vt:lpstr>
      <vt:lpstr>7.4  逻辑结构设计</vt:lpstr>
      <vt:lpstr>数据模型的优化（续）</vt:lpstr>
      <vt:lpstr>数据模型的优化（续）</vt:lpstr>
      <vt:lpstr>数据模型的优化（续）</vt:lpstr>
      <vt:lpstr>数据模型的优化（续）</vt:lpstr>
      <vt:lpstr>数据模型的优化（续）</vt:lpstr>
      <vt:lpstr>7.4  逻辑结构设计</vt:lpstr>
      <vt:lpstr>7.4.3  设计用户子模式</vt:lpstr>
      <vt:lpstr>设计用户子模式（续）</vt:lpstr>
      <vt:lpstr>设计用户子模式（续）</vt:lpstr>
      <vt:lpstr>设计用户子模式（续）</vt:lpstr>
      <vt:lpstr>第七章  数据库设计</vt:lpstr>
      <vt:lpstr>7.5  数据库的物理设计</vt:lpstr>
      <vt:lpstr>数据库的物理设计（续）</vt:lpstr>
      <vt:lpstr>一、 确定数据库的物理结构</vt:lpstr>
      <vt:lpstr>一、 确定数据库的物理结构</vt:lpstr>
      <vt:lpstr>PowerPoint 演示文稿</vt:lpstr>
      <vt:lpstr>PowerPoint 演示文稿</vt:lpstr>
      <vt:lpstr>PowerPoint 演示文稿</vt:lpstr>
      <vt:lpstr>数据存取路径</vt:lpstr>
      <vt:lpstr>PowerPoint 演示文稿</vt:lpstr>
      <vt:lpstr>PowerPoint 演示文稿</vt:lpstr>
      <vt:lpstr>二、评价物理结构 </vt:lpstr>
      <vt:lpstr>第七章  数据库设计</vt:lpstr>
      <vt:lpstr>7.6 数据库的实施和维护</vt:lpstr>
      <vt:lpstr> 数据的载入 </vt:lpstr>
      <vt:lpstr>应用程序的调试</vt:lpstr>
      <vt:lpstr>7.6 数据库的实施和维护</vt:lpstr>
      <vt:lpstr>7.6.2  数据库的试运行</vt:lpstr>
      <vt:lpstr>数据库的试运行（续）</vt:lpstr>
      <vt:lpstr>数据库的试运行（续）</vt:lpstr>
      <vt:lpstr>数据库的试运行（续）</vt:lpstr>
      <vt:lpstr>7.6 数据库的实施和维护</vt:lpstr>
      <vt:lpstr>7.6.3  数据库的运行和维护</vt:lpstr>
      <vt:lpstr>数据库的运行和维护（续）</vt:lpstr>
      <vt:lpstr>数据库的运行和维护（续）</vt:lpstr>
      <vt:lpstr>数据库的运行和维护（续）</vt:lpstr>
      <vt:lpstr>数据库的运行和维护（续）</vt:lpstr>
      <vt:lpstr>数据库的运行和维护（续）</vt:lpstr>
      <vt:lpstr>数据库的运行和维护（续）</vt:lpstr>
      <vt:lpstr>数据库的运行和维护（续）</vt:lpstr>
      <vt:lpstr>数据库的运行和维护（续）</vt:lpstr>
      <vt:lpstr>第七章  数据库设计</vt:lpstr>
      <vt:lpstr>7.7  小结</vt:lpstr>
      <vt:lpstr>小结（续）</vt:lpstr>
      <vt:lpstr>小结（续）</vt:lpstr>
      <vt:lpstr>小结（续）</vt:lpstr>
    </vt:vector>
  </TitlesOfParts>
  <LinksUpToDate>false</LinksUpToDate>
  <CharactersWithSpaces>0</CharactersWithSpaces>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幻灯片 1</dc:title>
  <dc:creator>guixiang</dc:creator>
  <cp:lastModifiedBy>zbw</cp:lastModifiedBy>
  <cp:revision>117</cp:revision>
  <dcterms:created xsi:type="dcterms:W3CDTF">2014-11-24T02:47:03Z</dcterms:created>
  <dcterms:modified xsi:type="dcterms:W3CDTF">2023-05-04T15:36:52Z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2052-9.1.0.4866</vt:lpwstr>
  </property>
</Properties>
</file>