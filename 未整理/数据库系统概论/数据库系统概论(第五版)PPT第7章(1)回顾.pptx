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8" r:id="rId2"/>
    <p:sldId id="501" r:id="rId3"/>
    <p:sldId id="403" r:id="rId4"/>
    <p:sldId id="404" r:id="rId5"/>
    <p:sldId id="612" r:id="rId6"/>
    <p:sldId id="425" r:id="rId7"/>
    <p:sldId id="634" r:id="rId8"/>
    <p:sldId id="622" r:id="rId9"/>
    <p:sldId id="623" r:id="rId10"/>
    <p:sldId id="624" r:id="rId11"/>
    <p:sldId id="625" r:id="rId12"/>
    <p:sldId id="626" r:id="rId13"/>
    <p:sldId id="627" r:id="rId14"/>
    <p:sldId id="628" r:id="rId15"/>
    <p:sldId id="629" r:id="rId16"/>
    <p:sldId id="630" r:id="rId17"/>
    <p:sldId id="631" r:id="rId18"/>
    <p:sldId id="632" r:id="rId19"/>
    <p:sldId id="633" r:id="rId20"/>
    <p:sldId id="452" r:id="rId21"/>
    <p:sldId id="454" r:id="rId22"/>
    <p:sldId id="621" r:id="rId23"/>
    <p:sldId id="458" r:id="rId24"/>
    <p:sldId id="461" r:id="rId25"/>
    <p:sldId id="462" r:id="rId26"/>
    <p:sldId id="463" r:id="rId27"/>
    <p:sldId id="464" r:id="rId28"/>
    <p:sldId id="616" r:id="rId29"/>
    <p:sldId id="465" r:id="rId30"/>
    <p:sldId id="466" r:id="rId31"/>
    <p:sldId id="467" r:id="rId32"/>
    <p:sldId id="619" r:id="rId33"/>
    <p:sldId id="484" r:id="rId34"/>
    <p:sldId id="485" r:id="rId35"/>
    <p:sldId id="486" r:id="rId36"/>
    <p:sldId id="620" r:id="rId37"/>
    <p:sldId id="488" r:id="rId38"/>
    <p:sldId id="489" r:id="rId39"/>
    <p:sldId id="490" r:id="rId40"/>
    <p:sldId id="491" r:id="rId41"/>
    <p:sldId id="492" r:id="rId42"/>
    <p:sldId id="613" r:id="rId43"/>
    <p:sldId id="493" r:id="rId44"/>
    <p:sldId id="495" r:id="rId45"/>
    <p:sldId id="601" r:id="rId46"/>
  </p:sldIdLst>
  <p:sldSz cx="9144000" cy="6858000" type="screen4x3"/>
  <p:notesSz cx="6834188" cy="9979025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CC99FF"/>
    <a:srgbClr val="FF00FF"/>
    <a:srgbClr val="00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64" d="100"/>
          <a:sy n="64" d="100"/>
        </p:scale>
        <p:origin x="1340" y="16"/>
      </p:cViewPr>
      <p:guideLst>
        <p:guide orient="horz" pos="219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30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9FEEFA7E-E3ED-4E6D-83CF-6095874A44FC}" type="datetimeFigureOut">
              <a:rPr lang="zh-CN" altLang="en-US"/>
              <a:pPr>
                <a:defRPr/>
              </a:pPr>
              <a:t>2023/5/4</a:t>
            </a:fld>
            <a:endParaRPr lang="en-US"/>
          </a:p>
        </p:txBody>
      </p:sp>
      <p:sp>
        <p:nvSpPr>
          <p:cNvPr id="9830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38238" y="747713"/>
            <a:ext cx="4556125" cy="3741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77B25D18-EC2E-4E2B-877D-CD18153CDC68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DFE63C-6350-487F-A4E0-88D85F3BBF35}" type="slidenum">
              <a:rPr lang="zh-CN" altLang="en-US" smtClean="0"/>
              <a:pPr/>
              <a:t>4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2338" y="747713"/>
            <a:ext cx="4987925" cy="37417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B25D18-EC2E-4E2B-877D-CD18153CDC68}" type="slidenum">
              <a:rPr lang="zh-CN" alt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9850"/>
            <a:ext cx="40386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9850"/>
            <a:ext cx="40386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-36513"/>
            <a:ext cx="2057400" cy="62309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-36513"/>
            <a:ext cx="6019800" cy="62309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未命名_副本"/>
          <p:cNvPicPr>
            <a:picLocks noChangeAspect="1" noChangeArrowheads="1"/>
          </p:cNvPicPr>
          <p:nvPr userDrawn="1"/>
        </p:nvPicPr>
        <p:blipFill>
          <a:blip r:embed="rId13"/>
          <a:srcRect l="1405" t="12910" r="2878" b="10757"/>
          <a:stretch>
            <a:fillRect/>
          </a:stretch>
        </p:blipFill>
        <p:spPr bwMode="auto">
          <a:xfrm>
            <a:off x="-19050" y="838200"/>
            <a:ext cx="9158288" cy="578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图片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19050" y="6453188"/>
            <a:ext cx="9163050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图片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19050" y="-25400"/>
            <a:ext cx="916305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36513"/>
            <a:ext cx="82296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39850"/>
            <a:ext cx="8229600" cy="485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5510213" y="6454775"/>
            <a:ext cx="4103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An Introduction to Database System</a:t>
            </a:r>
          </a:p>
        </p:txBody>
      </p:sp>
      <p:sp>
        <p:nvSpPr>
          <p:cNvPr id="1032" name="WordArt 8"/>
          <p:cNvSpPr>
            <a:spLocks noChangeArrowheads="1" noChangeShapeType="1"/>
          </p:cNvSpPr>
          <p:nvPr userDrawn="1"/>
        </p:nvSpPr>
        <p:spPr bwMode="auto">
          <a:xfrm rot="-1980000">
            <a:off x="1908175" y="2205038"/>
            <a:ext cx="5337175" cy="29765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chemeClr val="bg1"/>
                  </a:solidFill>
                  <a:round/>
                  <a:headEnd/>
                  <a:tailEnd/>
                </a:ln>
                <a:noFill/>
                <a:latin typeface="华文琥珀"/>
                <a:ea typeface="华文琥珀"/>
              </a:rPr>
              <a:t>中国人民大学</a:t>
            </a:r>
          </a:p>
          <a:p>
            <a:pPr algn="ctr"/>
            <a:endParaRPr lang="zh-CN" altLang="en-US" sz="3600" kern="10">
              <a:ln w="9525">
                <a:solidFill>
                  <a:schemeClr val="bg1"/>
                </a:solidFill>
                <a:round/>
                <a:headEnd/>
                <a:tailEnd/>
              </a:ln>
              <a:noFill/>
              <a:latin typeface="华文琥珀"/>
              <a:ea typeface="华文琥珀"/>
            </a:endParaRPr>
          </a:p>
          <a:p>
            <a:pPr algn="ctr"/>
            <a:endParaRPr lang="zh-CN" altLang="en-US" sz="3600" kern="10">
              <a:ln w="9525">
                <a:solidFill>
                  <a:schemeClr val="bg1"/>
                </a:solidFill>
                <a:round/>
                <a:headEnd/>
                <a:tailEnd/>
              </a:ln>
              <a:noFill/>
              <a:latin typeface="华文琥珀"/>
              <a:ea typeface="华文琥珀"/>
            </a:endParaRPr>
          </a:p>
          <a:p>
            <a:pPr algn="ctr"/>
            <a:r>
              <a:rPr lang="zh-CN" altLang="en-US" sz="3600" kern="10">
                <a:ln w="9525">
                  <a:solidFill>
                    <a:schemeClr val="bg1"/>
                  </a:solidFill>
                  <a:round/>
                  <a:headEnd/>
                  <a:tailEnd/>
                </a:ln>
                <a:noFill/>
                <a:latin typeface="华文琥珀"/>
                <a:ea typeface="华文琥珀"/>
              </a:rPr>
              <a:t>数据库系统概论</a:t>
            </a:r>
          </a:p>
        </p:txBody>
      </p:sp>
      <p:pic>
        <p:nvPicPr>
          <p:cNvPr id="1033" name="Picture 9" descr="图片3"/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7516813" y="4797425"/>
            <a:ext cx="1528762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2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zh-CN" altLang="zh-CN" smtClean="0"/>
          </a:p>
        </p:txBody>
      </p:sp>
      <p:sp>
        <p:nvSpPr>
          <p:cNvPr id="2051" name="副标题 2"/>
          <p:cNvSpPr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endParaRPr lang="zh-CN" altLang="zh-CN" smtClean="0"/>
          </a:p>
        </p:txBody>
      </p:sp>
      <p:pic>
        <p:nvPicPr>
          <p:cNvPr id="2052" name="Picture 3"/>
          <p:cNvPicPr>
            <a:picLocks noChangeAspect="1" noChangeArrowheads="1"/>
          </p:cNvPicPr>
          <p:nvPr/>
        </p:nvPicPr>
        <p:blipFill>
          <a:blip r:embed="rId2">
            <a:lum bright="4000" contrast="-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323850" y="981075"/>
            <a:ext cx="8208963" cy="345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600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宋体" pitchFamily="2" charset="-122"/>
              </a:rPr>
              <a:t>数据库系统概论</a:t>
            </a:r>
            <a:endParaRPr lang="en-US" altLang="zh-CN" sz="6000">
              <a:solidFill>
                <a:schemeClr val="bg1"/>
              </a:solidFill>
              <a:latin typeface="黑体" pitchFamily="49" charset="-122"/>
              <a:ea typeface="黑体" pitchFamily="49" charset="-122"/>
              <a:sym typeface="宋体" pitchFamily="2" charset="-122"/>
            </a:endParaRPr>
          </a:p>
          <a:p>
            <a:pPr algn="ctr"/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  <a:sym typeface="宋体" pitchFamily="2" charset="-122"/>
              </a:rPr>
              <a:t>An Introduction to Database System</a:t>
            </a:r>
          </a:p>
          <a:p>
            <a:pPr algn="ctr"/>
            <a:endParaRPr lang="en-US" sz="36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/>
            <a:endParaRPr lang="en-US" sz="36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/>
            <a:r>
              <a:rPr lang="zh-CN" altLang="en-US" sz="48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第七章  数据库设计</a:t>
            </a:r>
            <a:endParaRPr lang="en-US" sz="4800" b="1">
              <a:solidFill>
                <a:schemeClr val="bg1"/>
              </a:solidFill>
              <a:latin typeface="黑体" pitchFamily="49" charset="-122"/>
              <a:ea typeface="黑体" pitchFamily="49" charset="-122"/>
              <a:sym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smtClean="0"/>
              <a:t>第七章  数据库设计</a:t>
            </a:r>
          </a:p>
        </p:txBody>
      </p:sp>
      <p:sp>
        <p:nvSpPr>
          <p:cNvPr id="3075" name="内容占位符 2"/>
          <p:cNvSpPr>
            <a:spLocks noGrp="1"/>
          </p:cNvSpPr>
          <p:nvPr>
            <p:ph idx="4294967295"/>
          </p:nvPr>
        </p:nvSpPr>
        <p:spPr>
          <a:xfrm>
            <a:off x="720725" y="1079500"/>
            <a:ext cx="8229600" cy="485457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mtClean="0">
                <a:solidFill>
                  <a:srgbClr val="0066FF"/>
                </a:solidFill>
              </a:rPr>
              <a:t>7.1  </a:t>
            </a:r>
            <a:r>
              <a:rPr lang="zh-CN" altLang="en-US" smtClean="0">
                <a:solidFill>
                  <a:srgbClr val="0066FF"/>
                </a:solidFill>
              </a:rPr>
              <a:t>数据库设计概述</a:t>
            </a: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mtClean="0"/>
              <a:t>7.2  </a:t>
            </a:r>
            <a:r>
              <a:rPr lang="zh-CN" altLang="en-US" smtClean="0"/>
              <a:t>需求分析</a:t>
            </a: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mtClean="0"/>
              <a:t>7.3  </a:t>
            </a:r>
            <a:r>
              <a:rPr lang="zh-CN" altLang="en-US" smtClean="0"/>
              <a:t>概念结构设计</a:t>
            </a: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mtClean="0"/>
              <a:t>7.4  </a:t>
            </a:r>
            <a:r>
              <a:rPr lang="zh-CN" altLang="en-US" smtClean="0"/>
              <a:t>逻辑结构设计</a:t>
            </a: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mtClean="0"/>
              <a:t>7.5  </a:t>
            </a:r>
            <a:r>
              <a:rPr lang="zh-CN" altLang="en-US" smtClean="0"/>
              <a:t>物理结构设计</a:t>
            </a: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mtClean="0"/>
              <a:t>7.6  </a:t>
            </a:r>
            <a:r>
              <a:rPr lang="zh-CN" altLang="en-US" smtClean="0"/>
              <a:t>数据库的实施和维护</a:t>
            </a: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mtClean="0"/>
              <a:t>7.7  </a:t>
            </a:r>
            <a:r>
              <a:rPr lang="zh-CN" altLang="en-US" smtClean="0"/>
              <a:t>小结</a:t>
            </a:r>
            <a:endParaRPr lang="en-US" smtClean="0"/>
          </a:p>
          <a:p>
            <a:pPr marL="0" indent="0"/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7.1.3  </a:t>
            </a:r>
            <a:r>
              <a:rPr lang="zh-CN" altLang="en-US" sz="3600" smtClean="0"/>
              <a:t>数据库设计的基本步骤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r>
              <a:rPr lang="zh-CN" altLang="en-US" smtClean="0"/>
              <a:t>数据库设计分</a:t>
            </a:r>
            <a:r>
              <a:rPr lang="en-US" altLang="zh-CN" smtClean="0"/>
              <a:t>6</a:t>
            </a:r>
            <a:r>
              <a:rPr lang="zh-CN" altLang="en-US" smtClean="0"/>
              <a:t>个阶段</a:t>
            </a:r>
          </a:p>
          <a:p>
            <a:pPr lvl="1"/>
            <a:r>
              <a:rPr lang="zh-CN" altLang="en-US" smtClean="0"/>
              <a:t>需求分析</a:t>
            </a:r>
          </a:p>
          <a:p>
            <a:pPr lvl="1"/>
            <a:r>
              <a:rPr lang="zh-CN" altLang="en-US" smtClean="0"/>
              <a:t>概念结构设计</a:t>
            </a:r>
          </a:p>
          <a:p>
            <a:pPr lvl="1"/>
            <a:r>
              <a:rPr lang="zh-CN" altLang="en-US" smtClean="0"/>
              <a:t>逻辑结构设计</a:t>
            </a:r>
          </a:p>
          <a:p>
            <a:pPr lvl="1"/>
            <a:r>
              <a:rPr lang="zh-CN" altLang="en-US" smtClean="0"/>
              <a:t>物理结构设计</a:t>
            </a:r>
          </a:p>
          <a:p>
            <a:pPr lvl="1"/>
            <a:r>
              <a:rPr lang="zh-CN" altLang="en-US" smtClean="0"/>
              <a:t>数据库实施</a:t>
            </a:r>
          </a:p>
          <a:p>
            <a:pPr lvl="1"/>
            <a:r>
              <a:rPr lang="zh-CN" altLang="en-US" smtClean="0"/>
              <a:t>数据库运行和维护 </a:t>
            </a:r>
          </a:p>
          <a:p>
            <a:r>
              <a:rPr lang="zh-CN" altLang="en-US" smtClean="0"/>
              <a:t>需求分析和概念设计独立于任何数据库管理系统 </a:t>
            </a:r>
          </a:p>
          <a:p>
            <a:r>
              <a:rPr lang="zh-CN" altLang="en-US" smtClean="0"/>
              <a:t>逻辑设计和物理设计与选用的数据库管理系统密切相关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C:\Users\wamdm\Desktop\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35150" y="260350"/>
            <a:ext cx="5530850" cy="619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 bwMode="auto">
          <a:xfrm>
            <a:off x="7366000" y="260350"/>
            <a:ext cx="1778000" cy="11683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0" y="345024"/>
            <a:ext cx="1492280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用户需求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6000" y="1059404"/>
            <a:ext cx="1492280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沙盘模型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6000" y="2143116"/>
            <a:ext cx="1492280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结构图纸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66000" y="3500438"/>
            <a:ext cx="1492280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施工设计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6000" y="5072074"/>
            <a:ext cx="1492280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建筑施工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66000" y="5991523"/>
            <a:ext cx="1492280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维护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36" descr="图7.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981075"/>
            <a:ext cx="5184775" cy="510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2"/>
          <p:cNvSpPr txBox="1">
            <a:spLocks noChangeArrowheads="1"/>
          </p:cNvSpPr>
          <p:nvPr/>
        </p:nvSpPr>
        <p:spPr bwMode="auto">
          <a:xfrm>
            <a:off x="457200" y="-36513"/>
            <a:ext cx="82296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lang="zh-CN" altLang="en-US" sz="3600" b="1" ker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数据库设计的基本步骤（续）</a:t>
            </a:r>
            <a:endParaRPr lang="zh-CN" altLang="en-US" sz="3600" b="1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508" name="TextBox 38"/>
          <p:cNvSpPr txBox="1">
            <a:spLocks noChangeArrowheads="1"/>
          </p:cNvSpPr>
          <p:nvPr/>
        </p:nvSpPr>
        <p:spPr bwMode="auto">
          <a:xfrm>
            <a:off x="2339975" y="6124575"/>
            <a:ext cx="45847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/>
              <a:t>图</a:t>
            </a:r>
            <a:r>
              <a:rPr lang="en-US" altLang="zh-CN" b="1"/>
              <a:t>7.3  </a:t>
            </a:r>
            <a:r>
              <a:rPr lang="zh-CN" altLang="en-US" b="1"/>
              <a:t>数据库设计各个阶段的数据设计描述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Step1</a:t>
            </a:r>
            <a:r>
              <a:rPr lang="zh-CN" altLang="en-US" sz="3600" dirty="0" smtClean="0"/>
              <a:t>：</a:t>
            </a:r>
            <a:r>
              <a:rPr lang="zh-CN" sz="3600" dirty="0" smtClean="0"/>
              <a:t>需求分析</a:t>
            </a:r>
          </a:p>
        </p:txBody>
      </p:sp>
      <p:sp>
        <p:nvSpPr>
          <p:cNvPr id="39939" name="Text Box 6"/>
          <p:cNvSpPr txBox="1">
            <a:spLocks noChangeArrowheads="1"/>
          </p:cNvSpPr>
          <p:nvPr/>
        </p:nvSpPr>
        <p:spPr bwMode="auto">
          <a:xfrm>
            <a:off x="3708400" y="5949950"/>
            <a:ext cx="1636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zh-CN" b="1">
                <a:latin typeface="Times New Roman" pitchFamily="18" charset="0"/>
              </a:rPr>
              <a:t>需求分析过程 </a:t>
            </a:r>
          </a:p>
        </p:txBody>
      </p:sp>
      <p:pic>
        <p:nvPicPr>
          <p:cNvPr id="39940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850" y="1292225"/>
            <a:ext cx="77343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宿舍管理系统(数据流图)_第3页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" t="11494" r="-1127" b="11366"/>
          <a:stretch/>
        </p:blipFill>
        <p:spPr bwMode="auto">
          <a:xfrm>
            <a:off x="-1622" y="-23935"/>
            <a:ext cx="9254142" cy="966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77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ea typeface="宋体" panose="02010600030101010101" pitchFamily="2" charset="-122"/>
              </a:rPr>
              <a:t>数据字典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ea typeface="宋体" panose="02010600030101010101" pitchFamily="2" charset="-122"/>
              </a:rPr>
              <a:t>数据字典的用途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进行详细的数据收集和数据分析所获得的主要结果</a:t>
            </a:r>
          </a:p>
          <a:p>
            <a:pPr eaLnBrk="1" hangingPunct="1">
              <a:lnSpc>
                <a:spcPct val="18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 数据字典的内容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数据项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数据结构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数据流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数据存储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处理过程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50053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⒈ </a:t>
            </a:r>
            <a:r>
              <a:rPr lang="zh-CN" altLang="en-US" smtClean="0">
                <a:ea typeface="宋体" panose="02010600030101010101" pitchFamily="2" charset="-122"/>
              </a:rPr>
              <a:t>数据项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187624" y="1268760"/>
            <a:ext cx="7344816" cy="357663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数据项是不可再分的数据单位</a:t>
            </a:r>
          </a:p>
          <a:p>
            <a:pPr eaLnBrk="1" hangingPunct="1">
              <a:lnSpc>
                <a:spcPct val="120000"/>
              </a:lnSpc>
              <a:spcBef>
                <a:spcPct val="60000"/>
              </a:spcBef>
            </a:pPr>
            <a:r>
              <a:rPr lang="zh-CN" altLang="en-US" dirty="0" smtClean="0">
                <a:ea typeface="宋体" panose="02010600030101010101" pitchFamily="2" charset="-122"/>
              </a:rPr>
              <a:t> 对数据项的描述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	  </a:t>
            </a:r>
            <a:r>
              <a:rPr lang="zh-CN" altLang="en-US" sz="1800" dirty="0">
                <a:solidFill>
                  <a:srgbClr val="2355F3"/>
                </a:solidFill>
                <a:ea typeface="宋体" panose="02010600030101010101" pitchFamily="2" charset="-122"/>
              </a:rPr>
              <a:t>数据项描述＝｛ 数据项名，数据项含义说明，别名，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2355F3"/>
                </a:solidFill>
                <a:ea typeface="宋体" panose="02010600030101010101" pitchFamily="2" charset="-122"/>
              </a:rPr>
              <a:t>                               	数据类型，长度，取值范围，取值含义，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2355F3"/>
                </a:solidFill>
                <a:ea typeface="宋体" panose="02010600030101010101" pitchFamily="2" charset="-122"/>
              </a:rPr>
              <a:t>				与其他数据项的逻辑关系，数据项之间的			联系 ｝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50662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⒉ </a:t>
            </a:r>
            <a:r>
              <a:rPr lang="zh-CN" altLang="en-US" smtClean="0">
                <a:ea typeface="宋体" panose="02010600030101010101" pitchFamily="2" charset="-122"/>
              </a:rPr>
              <a:t>数据结构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412776"/>
            <a:ext cx="8352928" cy="33718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60000"/>
              </a:spcBef>
            </a:pPr>
            <a:r>
              <a:rPr lang="zh-CN" altLang="en-US" dirty="0">
                <a:ea typeface="宋体" panose="02010600030101010101" pitchFamily="2" charset="-122"/>
              </a:rPr>
              <a:t>数据结构反映了数据之间的组合关系。</a:t>
            </a:r>
          </a:p>
          <a:p>
            <a:pPr eaLnBrk="1" hangingPunct="1">
              <a:lnSpc>
                <a:spcPct val="130000"/>
              </a:lnSpc>
              <a:spcBef>
                <a:spcPct val="60000"/>
              </a:spcBef>
            </a:pPr>
            <a:r>
              <a:rPr lang="zh-CN" altLang="en-US" dirty="0">
                <a:ea typeface="宋体" panose="02010600030101010101" pitchFamily="2" charset="-122"/>
              </a:rPr>
              <a:t> 一个数据结构可以由若干个数据项组成，也可以由若干个数据结构组成，或由若干个数据项和数据结构混合组成。</a:t>
            </a:r>
          </a:p>
          <a:p>
            <a:pPr eaLnBrk="1" hangingPunct="1">
              <a:lnSpc>
                <a:spcPct val="130000"/>
              </a:lnSpc>
              <a:spcBef>
                <a:spcPct val="60000"/>
              </a:spcBef>
            </a:pPr>
            <a:r>
              <a:rPr lang="zh-CN" altLang="en-US" dirty="0">
                <a:ea typeface="宋体" panose="02010600030101010101" pitchFamily="2" charset="-122"/>
              </a:rPr>
              <a:t> 对数据结构的描述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	  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数据结构描述＝｛数据结构名，含义说明，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                                   组成</a:t>
            </a:r>
            <a:r>
              <a:rPr lang="en-US" altLang="zh-CN" sz="2000" dirty="0">
                <a:solidFill>
                  <a:srgbClr val="2355F3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｛数据项或数据结构｝｝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85159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⒊ </a:t>
            </a:r>
            <a:r>
              <a:rPr lang="zh-CN" altLang="en-US" smtClean="0">
                <a:ea typeface="宋体" panose="02010600030101010101" pitchFamily="2" charset="-122"/>
              </a:rPr>
              <a:t>数据流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412776"/>
            <a:ext cx="6840760" cy="30861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数据流是数据结构在系统内传输的路径。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 smtClean="0">
                <a:ea typeface="宋体" panose="02010600030101010101" pitchFamily="2" charset="-122"/>
              </a:rPr>
              <a:t> 对数据流的描述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　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	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数据流描述＝｛ 数据流名，说明，数据流来源，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                               数据流去向，组成</a:t>
            </a:r>
            <a:r>
              <a:rPr lang="en-US" altLang="zh-CN" sz="2000" dirty="0">
                <a:solidFill>
                  <a:srgbClr val="2355F3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｛数据结构｝，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                               平均流量，高峰期流量｝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98267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⒋ </a:t>
            </a:r>
            <a:r>
              <a:rPr lang="zh-CN" altLang="en-US" smtClean="0">
                <a:ea typeface="宋体" panose="02010600030101010101" pitchFamily="2" charset="-122"/>
              </a:rPr>
              <a:t>数据存储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340768"/>
            <a:ext cx="7560840" cy="3324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数据存储是数据结构停留或保存的地方，也是数据流的来源和去向之一。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对数据存储的描述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　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数据存储描述＝｛数据存储名，说明，编号，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				输入的数据流 ，输出的数据流 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				组成</a:t>
            </a:r>
            <a:r>
              <a:rPr lang="en-US" altLang="zh-CN" sz="2000" dirty="0">
                <a:solidFill>
                  <a:srgbClr val="2355F3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｛数据结构｝，数据量，存取频度，			存取方式｝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55861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⒌ </a:t>
            </a:r>
            <a:r>
              <a:rPr lang="zh-CN" altLang="en-US" smtClean="0">
                <a:ea typeface="宋体" panose="02010600030101010101" pitchFamily="2" charset="-122"/>
              </a:rPr>
              <a:t>处理过程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700808"/>
            <a:ext cx="8003232" cy="3960440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具体处理逻辑一般用判定表或判定树来描述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处理过程说明性信息的描述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　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处理过程描述＝｛处理过程名，说明，输入</a:t>
            </a:r>
            <a:r>
              <a:rPr lang="en-US" altLang="zh-CN" sz="2000" dirty="0">
                <a:solidFill>
                  <a:srgbClr val="2355F3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｛数据流｝，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                                 输出</a:t>
            </a:r>
            <a:r>
              <a:rPr lang="en-US" altLang="zh-CN" sz="2000" dirty="0">
                <a:solidFill>
                  <a:srgbClr val="2355F3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｛数据流｝，处理</a:t>
            </a:r>
            <a:r>
              <a:rPr lang="en-US" altLang="zh-CN" sz="2000" dirty="0">
                <a:solidFill>
                  <a:srgbClr val="2355F3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2355F3"/>
                </a:solidFill>
                <a:ea typeface="宋体" panose="02010600030101010101" pitchFamily="2" charset="-122"/>
              </a:rPr>
              <a:t>｛简要说明｝｝</a:t>
            </a:r>
          </a:p>
          <a:p>
            <a:pPr lvl="1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endParaRPr lang="en-US" altLang="zh-CN" sz="1500" dirty="0"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90547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宋体" panose="02010600030101010101" pitchFamily="2" charset="-122"/>
              </a:rPr>
              <a:t>数据字典举例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idx="1"/>
          </p:nvPr>
        </p:nvSpPr>
        <p:spPr>
          <a:xfrm>
            <a:off x="1115616" y="980728"/>
            <a:ext cx="7704856" cy="3086100"/>
          </a:xfrm>
        </p:spPr>
        <p:txBody>
          <a:bodyPr>
            <a:noAutofit/>
          </a:bodyPr>
          <a:lstStyle/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例：学生学籍管理子系统的数据字典。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66FF"/>
                </a:solidFill>
                <a:ea typeface="宋体" panose="02010600030101010101" pitchFamily="2" charset="-122"/>
              </a:rPr>
              <a:t>    数据项</a:t>
            </a:r>
            <a:r>
              <a:rPr lang="zh-CN" altLang="en-US" sz="2400" dirty="0">
                <a:ea typeface="宋体" panose="02010600030101010101" pitchFamily="2" charset="-122"/>
              </a:rPr>
              <a:t>，以“学号”为例：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数据项：　学号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含义说明：唯一标识每个学生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　别名：　　学生编号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类型：　　字符型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长度：　　</a:t>
            </a:r>
            <a:r>
              <a:rPr lang="en-US" altLang="zh-CN" sz="2400" dirty="0">
                <a:ea typeface="宋体" panose="02010600030101010101" pitchFamily="2" charset="-122"/>
              </a:rPr>
              <a:t>8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ea typeface="宋体" panose="02010600030101010101" pitchFamily="2" charset="-122"/>
              </a:rPr>
              <a:t>取值范围：</a:t>
            </a:r>
            <a:r>
              <a:rPr lang="en-US" altLang="zh-CN" sz="2400" dirty="0">
                <a:ea typeface="宋体" panose="02010600030101010101" pitchFamily="2" charset="-122"/>
              </a:rPr>
              <a:t>00000000</a:t>
            </a:r>
            <a:r>
              <a:rPr lang="zh-CN" altLang="en-US" sz="2400" dirty="0">
                <a:ea typeface="宋体" panose="02010600030101010101" pitchFamily="2" charset="-122"/>
              </a:rPr>
              <a:t>至</a:t>
            </a:r>
            <a:r>
              <a:rPr lang="en-US" altLang="zh-CN" sz="2400" dirty="0">
                <a:ea typeface="宋体" panose="02010600030101010101" pitchFamily="2" charset="-122"/>
              </a:rPr>
              <a:t>99999999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　取值含义：前两位标别该学生所在年级，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                  后六位按顺序编号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　与其他数据项的逻辑关系：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611754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宋体" panose="02010600030101010101" pitchFamily="2" charset="-122"/>
              </a:rPr>
              <a:t>处理过程（续）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1259632" y="1076187"/>
            <a:ext cx="7884368" cy="30861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66FF"/>
                </a:solidFill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rgbClr val="0066FF"/>
                </a:solidFill>
                <a:ea typeface="宋体" panose="02010600030101010101" pitchFamily="2" charset="-122"/>
              </a:rPr>
              <a:t>数据结构，</a:t>
            </a:r>
            <a:r>
              <a:rPr lang="zh-CN" altLang="en-US" sz="2400" dirty="0">
                <a:ea typeface="宋体" panose="02010600030101010101" pitchFamily="2" charset="-122"/>
              </a:rPr>
              <a:t>以“学生”为例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	“学生”是该系统中的一个核心数据结构：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 数据结构：　学生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 含义说明：　是学籍管理子系统的主体数据结构，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                       定义了一个学生的有关信息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 组成：　　　学号，姓名，性别，年龄，所在系，年级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　　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502056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宋体" panose="02010600030101010101" pitchFamily="2" charset="-122"/>
              </a:rPr>
              <a:t>处理过程（续）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66FF"/>
                </a:solidFill>
                <a:ea typeface="宋体" panose="02010600030101010101" pitchFamily="2" charset="-122"/>
              </a:rPr>
              <a:t>数据流，</a:t>
            </a:r>
            <a:r>
              <a:rPr lang="zh-CN" altLang="en-US" sz="2400" dirty="0">
                <a:ea typeface="宋体" panose="02010600030101010101" pitchFamily="2" charset="-122"/>
              </a:rPr>
              <a:t>“体检结果”可如下描述：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数据流：　　体检结果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说明：　　　学生参加体格检查的最终结果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数据流来源：体检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数据流去向：批准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    组成：　　　</a:t>
            </a:r>
            <a:r>
              <a:rPr lang="en-US" altLang="zh-CN" sz="2400" dirty="0">
                <a:ea typeface="宋体" panose="02010600030101010101" pitchFamily="2" charset="-122"/>
              </a:rPr>
              <a:t>……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　平均流量：　</a:t>
            </a:r>
            <a:r>
              <a:rPr lang="en-US" altLang="zh-CN" sz="2400" dirty="0">
                <a:ea typeface="宋体" panose="02010600030101010101" pitchFamily="2" charset="-122"/>
              </a:rPr>
              <a:t>……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　高峰期流量：</a:t>
            </a:r>
            <a:r>
              <a:rPr lang="en-US" altLang="zh-CN" sz="2400" dirty="0">
                <a:ea typeface="宋体" panose="02010600030101010101" pitchFamily="2" charset="-122"/>
              </a:rPr>
              <a:t>……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654149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宋体" panose="02010600030101010101" pitchFamily="2" charset="-122"/>
              </a:rPr>
              <a:t>处理过程（续）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>
          <a:xfrm>
            <a:off x="1115616" y="1148816"/>
            <a:ext cx="7488832" cy="4728456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9600" dirty="0">
                <a:solidFill>
                  <a:srgbClr val="0066FF"/>
                </a:solidFill>
                <a:ea typeface="宋体" panose="02010600030101010101" pitchFamily="2" charset="-122"/>
              </a:rPr>
              <a:t>数据存储，</a:t>
            </a:r>
            <a:r>
              <a:rPr lang="zh-CN" altLang="en-US" sz="9600" dirty="0">
                <a:ea typeface="宋体" panose="02010600030101010101" pitchFamily="2" charset="-122"/>
              </a:rPr>
              <a:t>“学生登记表”可如下描述：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9600" dirty="0">
                <a:ea typeface="宋体" panose="02010600030101010101" pitchFamily="2" charset="-122"/>
              </a:rPr>
              <a:t>    数据存储：　学生登记表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9600" dirty="0">
                <a:ea typeface="宋体" panose="02010600030101010101" pitchFamily="2" charset="-122"/>
              </a:rPr>
              <a:t>    说明：　　　记录学生的基本情况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9600" dirty="0">
                <a:ea typeface="宋体" panose="02010600030101010101" pitchFamily="2" charset="-122"/>
              </a:rPr>
              <a:t>　流入数据流：</a:t>
            </a:r>
            <a:r>
              <a:rPr lang="en-US" altLang="zh-CN" sz="9600" dirty="0">
                <a:ea typeface="宋体" panose="02010600030101010101" pitchFamily="2" charset="-122"/>
              </a:rPr>
              <a:t>……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9600" dirty="0">
                <a:ea typeface="宋体" panose="02010600030101010101" pitchFamily="2" charset="-122"/>
              </a:rPr>
              <a:t>    </a:t>
            </a:r>
            <a:r>
              <a:rPr lang="zh-CN" altLang="en-US" sz="9600" dirty="0">
                <a:ea typeface="宋体" panose="02010600030101010101" pitchFamily="2" charset="-122"/>
              </a:rPr>
              <a:t>流出数据流：</a:t>
            </a:r>
            <a:r>
              <a:rPr lang="en-US" altLang="zh-CN" sz="9600" dirty="0">
                <a:ea typeface="宋体" panose="02010600030101010101" pitchFamily="2" charset="-122"/>
              </a:rPr>
              <a:t>……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9600" dirty="0">
                <a:ea typeface="宋体" panose="02010600030101010101" pitchFamily="2" charset="-122"/>
              </a:rPr>
              <a:t>    </a:t>
            </a:r>
            <a:r>
              <a:rPr lang="zh-CN" altLang="en-US" sz="9600" dirty="0">
                <a:ea typeface="宋体" panose="02010600030101010101" pitchFamily="2" charset="-122"/>
              </a:rPr>
              <a:t>组成：　　　</a:t>
            </a:r>
            <a:r>
              <a:rPr lang="en-US" altLang="zh-CN" sz="9600" dirty="0">
                <a:ea typeface="宋体" panose="02010600030101010101" pitchFamily="2" charset="-122"/>
              </a:rPr>
              <a:t>……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9600" dirty="0">
                <a:ea typeface="宋体" panose="02010600030101010101" pitchFamily="2" charset="-122"/>
              </a:rPr>
              <a:t>    </a:t>
            </a:r>
            <a:r>
              <a:rPr lang="zh-CN" altLang="en-US" sz="9600" dirty="0">
                <a:ea typeface="宋体" panose="02010600030101010101" pitchFamily="2" charset="-122"/>
              </a:rPr>
              <a:t>数据量：　　每年</a:t>
            </a:r>
            <a:r>
              <a:rPr lang="en-US" altLang="zh-CN" sz="9600" dirty="0">
                <a:ea typeface="宋体" panose="02010600030101010101" pitchFamily="2" charset="-122"/>
              </a:rPr>
              <a:t>3000</a:t>
            </a:r>
            <a:r>
              <a:rPr lang="zh-CN" altLang="en-US" sz="9600" dirty="0">
                <a:ea typeface="宋体" panose="02010600030101010101" pitchFamily="2" charset="-122"/>
              </a:rPr>
              <a:t>张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9600" dirty="0">
                <a:ea typeface="宋体" panose="02010600030101010101" pitchFamily="2" charset="-122"/>
              </a:rPr>
              <a:t>    存取方式：　随机存取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ea typeface="宋体" panose="02010600030101010101" pitchFamily="2" charset="-122"/>
              </a:rPr>
              <a:t>    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709460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宋体" panose="02010600030101010101" pitchFamily="2" charset="-122"/>
              </a:rPr>
              <a:t>处理过程（续）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1115616" y="1412776"/>
            <a:ext cx="7416824" cy="4896544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rgbClr val="0066FF"/>
                </a:solidFill>
                <a:ea typeface="宋体" panose="02010600030101010101" pitchFamily="2" charset="-122"/>
              </a:rPr>
              <a:t>处理过程</a:t>
            </a:r>
            <a:r>
              <a:rPr lang="zh-CN" altLang="en-US" sz="2000" dirty="0">
                <a:ea typeface="宋体" panose="02010600030101010101" pitchFamily="2" charset="-122"/>
              </a:rPr>
              <a:t>“分配宿舍”可如下描述：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　处理过程：分配宿舍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　说明：　　为所有新生分配学生宿舍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　输入：　　学生，宿舍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　输出：　　宿舍安排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　处理：　　在新生报到后，为所有新生分配学生宿舍。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                       要求同一间宿舍只能安排同一性别的学生，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                       同一个学生只能安排在一个宿舍中。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                       每个学生的居住面积不小于</a:t>
            </a:r>
            <a:r>
              <a:rPr lang="en-US" altLang="zh-CN" sz="2000" dirty="0"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ea typeface="宋体" panose="02010600030101010101" pitchFamily="2" charset="-122"/>
              </a:rPr>
              <a:t>平方米。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                       安排新生宿舍其处理时间应不超过</a:t>
            </a:r>
            <a:r>
              <a:rPr lang="en-US" altLang="zh-CN" sz="2000" dirty="0">
                <a:ea typeface="宋体" panose="02010600030101010101" pitchFamily="2" charset="-122"/>
              </a:rPr>
              <a:t>15</a:t>
            </a:r>
            <a:r>
              <a:rPr lang="zh-CN" altLang="en-US" sz="2000" dirty="0">
                <a:ea typeface="宋体" panose="02010600030101010101" pitchFamily="2" charset="-122"/>
              </a:rPr>
              <a:t>分钟。    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542386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宋体" panose="02010600030101010101" pitchFamily="2" charset="-122"/>
              </a:rPr>
              <a:t>数据字典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1475656" y="1340768"/>
            <a:ext cx="6487716" cy="30861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ea typeface="宋体" panose="02010600030101010101" pitchFamily="2" charset="-122"/>
              </a:rPr>
              <a:t>数据字典是关于数据库中数据的描述，是元数据，而不是数据本身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ea typeface="宋体" panose="02010600030101010101" pitchFamily="2" charset="-122"/>
              </a:rPr>
              <a:t>数据字典在需求分析阶段建立，在数据库设计过程中不断修改、充实、完善 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401953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Step2</a:t>
            </a:r>
            <a:r>
              <a:rPr lang="zh-CN" altLang="en-US" sz="3600" dirty="0" smtClean="0"/>
              <a:t>：</a:t>
            </a:r>
            <a:r>
              <a:rPr lang="en-US" altLang="zh-CN" sz="3600" dirty="0" smtClean="0"/>
              <a:t> </a:t>
            </a:r>
            <a:r>
              <a:rPr lang="zh-CN" altLang="en-US" sz="3600" dirty="0" smtClean="0"/>
              <a:t>概念结构设计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41300" y="908050"/>
            <a:ext cx="8651875" cy="509587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dirty="0" smtClean="0"/>
              <a:t>将需求分析得到的用户需求抽象为信息结构（即概念模型）的过程就是概念结构设计</a:t>
            </a:r>
            <a:endParaRPr lang="en-US" altLang="zh-CN" dirty="0" smtClean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rgbClr val="FF0000"/>
                </a:solidFill>
              </a:rPr>
              <a:t>主要用于描述和 表达用户需求，用于描述现实世界，是用户和设计人员都能看得懂的，是用户和设计人员交流的中介</a:t>
            </a:r>
            <a:endParaRPr lang="en-US" dirty="0" smtClean="0">
              <a:solidFill>
                <a:srgbClr val="FF0000"/>
              </a:solidFill>
            </a:endParaRPr>
          </a:p>
          <a:p>
            <a:pPr marL="342900" lvl="1" indent="-342900">
              <a:lnSpc>
                <a:spcPct val="110000"/>
              </a:lnSpc>
              <a:spcBef>
                <a:spcPct val="0"/>
              </a:spcBef>
              <a:buFont typeface="Wingdings" pitchFamily="2" charset="2"/>
              <a:buChar char="v"/>
            </a:pPr>
            <a:r>
              <a:rPr lang="zh-CN" altLang="en-US" sz="2800" dirty="0" smtClean="0">
                <a:cs typeface="+mn-cs"/>
              </a:rPr>
              <a:t>描述概念模型的工具：</a:t>
            </a:r>
            <a:r>
              <a:rPr lang="en-US" altLang="zh-CN" sz="2800" dirty="0" smtClean="0">
                <a:cs typeface="+mn-cs"/>
              </a:rPr>
              <a:t>E-R</a:t>
            </a:r>
            <a:r>
              <a:rPr lang="zh-CN" altLang="en-US" sz="2800" dirty="0" smtClean="0">
                <a:cs typeface="+mn-cs"/>
              </a:rPr>
              <a:t>模型</a:t>
            </a:r>
            <a:endParaRPr lang="en-US" altLang="zh-CN" sz="2800" dirty="0" smtClean="0">
              <a:cs typeface="+mn-cs"/>
            </a:endParaRPr>
          </a:p>
          <a:p>
            <a:pPr marL="342900" lvl="1" indent="-342900">
              <a:lnSpc>
                <a:spcPct val="110000"/>
              </a:lnSpc>
              <a:spcBef>
                <a:spcPct val="0"/>
              </a:spcBef>
              <a:buFont typeface="Wingdings" pitchFamily="2" charset="2"/>
              <a:buChar char="v"/>
            </a:pPr>
            <a:r>
              <a:rPr lang="zh-CN" altLang="en-US" sz="2800" dirty="0" smtClean="0">
                <a:solidFill>
                  <a:srgbClr val="FF0000"/>
                </a:solidFill>
                <a:cs typeface="+mn-cs"/>
              </a:rPr>
              <a:t>现实世界是事物及其联系</a:t>
            </a:r>
            <a:endParaRPr lang="en-US" altLang="zh-CN" sz="2800" dirty="0" smtClean="0">
              <a:solidFill>
                <a:srgbClr val="FF0000"/>
              </a:solidFill>
              <a:cs typeface="+mn-cs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dirty="0" smtClean="0"/>
              <a:t>  1</a:t>
            </a:r>
            <a:r>
              <a:rPr lang="zh-CN" altLang="en-US" dirty="0" smtClean="0"/>
              <a:t>实体</a:t>
            </a:r>
            <a:endParaRPr lang="en-US" altLang="zh-CN" dirty="0" smtClean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dirty="0" smtClean="0"/>
              <a:t>  2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dirty="0" smtClean="0"/>
              <a:t>  3</a:t>
            </a:r>
            <a:r>
              <a:rPr lang="zh-CN" altLang="en-US" dirty="0" smtClean="0"/>
              <a:t>联系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7.3.2  E-R</a:t>
            </a:r>
            <a:r>
              <a:rPr lang="zh-CN" altLang="en-US" sz="3600" smtClean="0"/>
              <a:t>模型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435975" cy="5095875"/>
          </a:xfrm>
        </p:spPr>
        <p:txBody>
          <a:bodyPr/>
          <a:lstStyle/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dirty="0" smtClean="0"/>
              <a:t>1. </a:t>
            </a:r>
            <a:r>
              <a:rPr lang="zh-CN" altLang="en-US" dirty="0" smtClean="0"/>
              <a:t>实体之间的联系</a:t>
            </a:r>
            <a:endParaRPr lang="en-US" dirty="0" smtClean="0"/>
          </a:p>
          <a:p>
            <a:pPr lvl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）两个实体型之间的联系：</a:t>
            </a:r>
          </a:p>
          <a:p>
            <a:pPr lvl="2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400" dirty="0" smtClean="0"/>
              <a:t>①一对一联系（</a:t>
            </a:r>
            <a:r>
              <a:rPr lang="en-US" altLang="zh-CN" sz="2400" dirty="0" smtClean="0"/>
              <a:t>1∶1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2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400" dirty="0" smtClean="0"/>
              <a:t>②一对多联系（</a:t>
            </a:r>
            <a:r>
              <a:rPr lang="en-US" altLang="zh-CN" sz="2400" dirty="0" smtClean="0"/>
              <a:t>1∶</a:t>
            </a:r>
            <a:r>
              <a:rPr lang="en-US" altLang="zh-CN" sz="2400" i="1" dirty="0" smtClean="0"/>
              <a:t>n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2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400" dirty="0" smtClean="0"/>
              <a:t>③多对多联系（</a:t>
            </a:r>
            <a:r>
              <a:rPr lang="en-US" altLang="zh-CN" sz="2400" i="1" dirty="0" err="1" smtClean="0"/>
              <a:t>m</a:t>
            </a:r>
            <a:r>
              <a:rPr lang="en-US" altLang="zh-CN" sz="2400" dirty="0" err="1" smtClean="0"/>
              <a:t>∶</a:t>
            </a:r>
            <a:r>
              <a:rPr lang="en-US" altLang="zh-CN" sz="2400" i="1" dirty="0" err="1" smtClean="0"/>
              <a:t>n</a:t>
            </a:r>
            <a:r>
              <a:rPr lang="zh-CN" altLang="en-US" sz="2400" dirty="0" smtClean="0"/>
              <a:t>）</a:t>
            </a:r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endParaRPr lang="zh-CN" altLang="en-US" dirty="0" smtClean="0"/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endParaRPr lang="en-US" altLang="zh-CN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</p:spPr>
        <p:txBody>
          <a:bodyPr/>
          <a:lstStyle/>
          <a:p>
            <a:fld id="{F637622F-33DA-4254-96E4-0A3AF21B4C98}" type="datetime1">
              <a:rPr lang="zh-CN" altLang="en-US"/>
              <a:pPr/>
              <a:t>2023/5/4</a:t>
            </a:fld>
            <a:endParaRPr lang="en-US" altLang="zh-CN"/>
          </a:p>
        </p:txBody>
      </p:sp>
      <p:sp>
        <p:nvSpPr>
          <p:cNvPr id="5939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/>
          <a:p>
            <a:fld id="{3A6FDFF7-2ADF-473F-AA2B-0027ED3675E6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59396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95288" y="765175"/>
            <a:ext cx="8353425" cy="5470525"/>
          </a:xfrm>
        </p:spPr>
        <p:txBody>
          <a:bodyPr/>
          <a:lstStyle/>
          <a:p>
            <a:pPr lvl="2" eaLnBrk="1" hangingPunct="1"/>
            <a:r>
              <a:rPr lang="zh-CN" altLang="en-US" b="1" dirty="0" smtClean="0"/>
              <a:t>两个实体之间的联系</a:t>
            </a:r>
          </a:p>
        </p:txBody>
      </p:sp>
      <p:sp>
        <p:nvSpPr>
          <p:cNvPr id="35846" name="AutoShape 6"/>
          <p:cNvSpPr>
            <a:spLocks noChangeArrowheads="1"/>
          </p:cNvSpPr>
          <p:nvPr/>
        </p:nvSpPr>
        <p:spPr bwMode="auto">
          <a:xfrm>
            <a:off x="971550" y="2098675"/>
            <a:ext cx="1152525" cy="538163"/>
          </a:xfrm>
          <a:prstGeom prst="flowChartProcess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系主任</a:t>
            </a: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7451725" y="3429000"/>
            <a:ext cx="1368425" cy="74295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成绩</a:t>
            </a:r>
          </a:p>
        </p:txBody>
      </p:sp>
      <p:sp>
        <p:nvSpPr>
          <p:cNvPr id="35848" name="AutoShape 8"/>
          <p:cNvSpPr>
            <a:spLocks noChangeArrowheads="1"/>
          </p:cNvSpPr>
          <p:nvPr/>
        </p:nvSpPr>
        <p:spPr bwMode="auto">
          <a:xfrm>
            <a:off x="684213" y="3511550"/>
            <a:ext cx="1612900" cy="617538"/>
          </a:xfrm>
          <a:prstGeom prst="diamond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领导</a:t>
            </a:r>
          </a:p>
        </p:txBody>
      </p:sp>
      <p:sp>
        <p:nvSpPr>
          <p:cNvPr id="35849" name="AutoShape 9"/>
          <p:cNvSpPr>
            <a:spLocks noChangeArrowheads="1"/>
          </p:cNvSpPr>
          <p:nvPr/>
        </p:nvSpPr>
        <p:spPr bwMode="auto">
          <a:xfrm>
            <a:off x="898525" y="5013325"/>
            <a:ext cx="1152525" cy="538163"/>
          </a:xfrm>
          <a:prstGeom prst="flowChartProcess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系</a:t>
            </a:r>
          </a:p>
        </p:txBody>
      </p:sp>
      <p:sp>
        <p:nvSpPr>
          <p:cNvPr id="35850" name="AutoShape 10"/>
          <p:cNvSpPr>
            <a:spLocks noChangeArrowheads="1"/>
          </p:cNvSpPr>
          <p:nvPr/>
        </p:nvSpPr>
        <p:spPr bwMode="auto">
          <a:xfrm>
            <a:off x="3419475" y="2098675"/>
            <a:ext cx="1152525" cy="538163"/>
          </a:xfrm>
          <a:prstGeom prst="flowChartProcess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学生</a:t>
            </a:r>
          </a:p>
        </p:txBody>
      </p:sp>
      <p:sp>
        <p:nvSpPr>
          <p:cNvPr id="35851" name="AutoShape 11"/>
          <p:cNvSpPr>
            <a:spLocks noChangeArrowheads="1"/>
          </p:cNvSpPr>
          <p:nvPr/>
        </p:nvSpPr>
        <p:spPr bwMode="auto">
          <a:xfrm>
            <a:off x="3117850" y="3511550"/>
            <a:ext cx="1612900" cy="617538"/>
          </a:xfrm>
          <a:prstGeom prst="diamond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属于</a:t>
            </a:r>
          </a:p>
        </p:txBody>
      </p:sp>
      <p:sp>
        <p:nvSpPr>
          <p:cNvPr id="35852" name="AutoShape 12"/>
          <p:cNvSpPr>
            <a:spLocks noChangeArrowheads="1"/>
          </p:cNvSpPr>
          <p:nvPr/>
        </p:nvSpPr>
        <p:spPr bwMode="auto">
          <a:xfrm>
            <a:off x="3348038" y="5013325"/>
            <a:ext cx="1152525" cy="538163"/>
          </a:xfrm>
          <a:prstGeom prst="flowChartProcess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系</a:t>
            </a:r>
          </a:p>
        </p:txBody>
      </p:sp>
      <p:sp>
        <p:nvSpPr>
          <p:cNvPr id="35853" name="AutoShape 13"/>
          <p:cNvSpPr>
            <a:spLocks noChangeArrowheads="1"/>
          </p:cNvSpPr>
          <p:nvPr/>
        </p:nvSpPr>
        <p:spPr bwMode="auto">
          <a:xfrm>
            <a:off x="5924550" y="2098675"/>
            <a:ext cx="1152525" cy="538163"/>
          </a:xfrm>
          <a:prstGeom prst="flowChartProcess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学生</a:t>
            </a:r>
          </a:p>
        </p:txBody>
      </p:sp>
      <p:sp>
        <p:nvSpPr>
          <p:cNvPr id="35854" name="AutoShape 14"/>
          <p:cNvSpPr>
            <a:spLocks noChangeArrowheads="1"/>
          </p:cNvSpPr>
          <p:nvPr/>
        </p:nvSpPr>
        <p:spPr bwMode="auto">
          <a:xfrm>
            <a:off x="5622925" y="3511550"/>
            <a:ext cx="1612900" cy="617538"/>
          </a:xfrm>
          <a:prstGeom prst="diamond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选修</a:t>
            </a:r>
          </a:p>
        </p:txBody>
      </p:sp>
      <p:sp>
        <p:nvSpPr>
          <p:cNvPr id="35855" name="AutoShape 15"/>
          <p:cNvSpPr>
            <a:spLocks noChangeArrowheads="1"/>
          </p:cNvSpPr>
          <p:nvPr/>
        </p:nvSpPr>
        <p:spPr bwMode="auto">
          <a:xfrm>
            <a:off x="5853113" y="5013325"/>
            <a:ext cx="1152525" cy="538163"/>
          </a:xfrm>
          <a:prstGeom prst="flowChartProcess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400" b="1">
                <a:ea typeface="华文中宋" pitchFamily="2" charset="-122"/>
              </a:rPr>
              <a:t>课程</a:t>
            </a:r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>
            <a:off x="1476375" y="2636838"/>
            <a:ext cx="0" cy="8636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5857" name="Line 17"/>
          <p:cNvSpPr>
            <a:spLocks noChangeShapeType="1"/>
          </p:cNvSpPr>
          <p:nvPr/>
        </p:nvSpPr>
        <p:spPr bwMode="auto">
          <a:xfrm>
            <a:off x="1476375" y="4149725"/>
            <a:ext cx="0" cy="8636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5858" name="Line 18"/>
          <p:cNvSpPr>
            <a:spLocks noChangeShapeType="1"/>
          </p:cNvSpPr>
          <p:nvPr/>
        </p:nvSpPr>
        <p:spPr bwMode="auto">
          <a:xfrm>
            <a:off x="3924300" y="2636838"/>
            <a:ext cx="0" cy="8636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5859" name="Line 19"/>
          <p:cNvSpPr>
            <a:spLocks noChangeShapeType="1"/>
          </p:cNvSpPr>
          <p:nvPr/>
        </p:nvSpPr>
        <p:spPr bwMode="auto">
          <a:xfrm>
            <a:off x="3924300" y="4149725"/>
            <a:ext cx="0" cy="8636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5860" name="Line 20"/>
          <p:cNvSpPr>
            <a:spLocks noChangeShapeType="1"/>
          </p:cNvSpPr>
          <p:nvPr/>
        </p:nvSpPr>
        <p:spPr bwMode="auto">
          <a:xfrm>
            <a:off x="6443663" y="2636838"/>
            <a:ext cx="0" cy="8636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5861" name="Line 21"/>
          <p:cNvSpPr>
            <a:spLocks noChangeShapeType="1"/>
          </p:cNvSpPr>
          <p:nvPr/>
        </p:nvSpPr>
        <p:spPr bwMode="auto">
          <a:xfrm>
            <a:off x="6443663" y="4149725"/>
            <a:ext cx="0" cy="8636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5864" name="Line 24"/>
          <p:cNvSpPr>
            <a:spLocks noChangeShapeType="1"/>
          </p:cNvSpPr>
          <p:nvPr/>
        </p:nvSpPr>
        <p:spPr bwMode="auto">
          <a:xfrm>
            <a:off x="7164388" y="3789363"/>
            <a:ext cx="288925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1619250" y="2852738"/>
            <a:ext cx="32226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>
                <a:solidFill>
                  <a:srgbClr val="000066"/>
                </a:solidFill>
              </a:rPr>
              <a:t>1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1619250" y="4365625"/>
            <a:ext cx="32226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>
                <a:solidFill>
                  <a:srgbClr val="000066"/>
                </a:solidFill>
              </a:rPr>
              <a:t>1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4067175" y="4437063"/>
            <a:ext cx="32226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>
                <a:solidFill>
                  <a:srgbClr val="000066"/>
                </a:solidFill>
              </a:rPr>
              <a:t>1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4067175" y="2852738"/>
            <a:ext cx="33655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>
                <a:solidFill>
                  <a:srgbClr val="000066"/>
                </a:solidFill>
              </a:rPr>
              <a:t>n</a:t>
            </a:r>
          </a:p>
        </p:txBody>
      </p:sp>
      <p:sp>
        <p:nvSpPr>
          <p:cNvPr id="35869" name="Text Box 29"/>
          <p:cNvSpPr txBox="1">
            <a:spLocks noChangeArrowheads="1"/>
          </p:cNvSpPr>
          <p:nvPr/>
        </p:nvSpPr>
        <p:spPr bwMode="auto">
          <a:xfrm>
            <a:off x="6516688" y="2852738"/>
            <a:ext cx="33655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>
                <a:solidFill>
                  <a:srgbClr val="000066"/>
                </a:solidFill>
              </a:rPr>
              <a:t>n</a:t>
            </a:r>
          </a:p>
        </p:txBody>
      </p:sp>
      <p:sp>
        <p:nvSpPr>
          <p:cNvPr id="35870" name="Text Box 30"/>
          <p:cNvSpPr txBox="1">
            <a:spLocks noChangeArrowheads="1"/>
          </p:cNvSpPr>
          <p:nvPr/>
        </p:nvSpPr>
        <p:spPr bwMode="auto">
          <a:xfrm>
            <a:off x="6516688" y="4437063"/>
            <a:ext cx="40640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000" b="1">
                <a:solidFill>
                  <a:srgbClr val="000066"/>
                </a:solidFill>
              </a:rPr>
              <a:t>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3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animBg="1"/>
      <p:bldP spid="35847" grpId="0" animBg="1"/>
      <p:bldP spid="35848" grpId="0" animBg="1"/>
      <p:bldP spid="35849" grpId="0" animBg="1"/>
      <p:bldP spid="35850" grpId="0" animBg="1"/>
      <p:bldP spid="35851" grpId="0" animBg="1"/>
      <p:bldP spid="35852" grpId="0" animBg="1"/>
      <p:bldP spid="35853" grpId="0" animBg="1"/>
      <p:bldP spid="35854" grpId="0" animBg="1"/>
      <p:bldP spid="35855" grpId="0" animBg="1"/>
      <p:bldP spid="35856" grpId="0" animBg="1"/>
      <p:bldP spid="35857" grpId="0" animBg="1"/>
      <p:bldP spid="35858" grpId="0" animBg="1"/>
      <p:bldP spid="35859" grpId="0" animBg="1"/>
      <p:bldP spid="35860" grpId="0" animBg="1"/>
      <p:bldP spid="35861" grpId="0" animBg="1"/>
      <p:bldP spid="35864" grpId="0" animBg="1"/>
      <p:bldP spid="35865" grpId="0"/>
      <p:bldP spid="35866" grpId="0"/>
      <p:bldP spid="35867" grpId="0"/>
      <p:bldP spid="35868" grpId="0"/>
      <p:bldP spid="35869" grpId="0"/>
      <p:bldP spid="3587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pic>
        <p:nvPicPr>
          <p:cNvPr id="60419" name="图片 3" descr="1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1663" y="2205038"/>
            <a:ext cx="5400675" cy="230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2" name="文本框 4"/>
          <p:cNvSpPr txBox="1">
            <a:spLocks noChangeArrowheads="1"/>
          </p:cNvSpPr>
          <p:nvPr/>
        </p:nvSpPr>
        <p:spPr bwMode="auto">
          <a:xfrm>
            <a:off x="2857500" y="4860925"/>
            <a:ext cx="37925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b="1" dirty="0">
                <a:latin typeface="宋体" pitchFamily="2" charset="-122"/>
              </a:rPr>
              <a:t>图</a:t>
            </a:r>
            <a:r>
              <a:rPr lang="en-US" altLang="zh-CN" b="1" dirty="0">
                <a:latin typeface="+mn-lt"/>
              </a:rPr>
              <a:t>7.7</a:t>
            </a:r>
            <a:r>
              <a:rPr lang="en-US" altLang="zh-CN" b="1" dirty="0">
                <a:latin typeface="宋体" pitchFamily="2" charset="-122"/>
              </a:rPr>
              <a:t>  </a:t>
            </a:r>
            <a:r>
              <a:rPr lang="zh-CN" altLang="en-US" b="1" dirty="0">
                <a:latin typeface="宋体" pitchFamily="2" charset="-122"/>
              </a:rPr>
              <a:t>三个实体型之间的联系示例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507413" cy="50958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mtClean="0"/>
              <a:t>2. E-R</a:t>
            </a:r>
            <a:r>
              <a:rPr lang="zh-CN" altLang="en-US" smtClean="0"/>
              <a:t>图</a:t>
            </a:r>
            <a:endParaRPr lang="en-US" smtClean="0"/>
          </a:p>
          <a:p>
            <a:pPr lvl="1"/>
            <a:r>
              <a:rPr lang="en-US" altLang="zh-CN" smtClean="0"/>
              <a:t>E-R</a:t>
            </a:r>
            <a:r>
              <a:rPr lang="zh-CN" altLang="en-US" smtClean="0"/>
              <a:t>图提供了表示实体型、属性和联系的方法：</a:t>
            </a:r>
          </a:p>
          <a:p>
            <a:pPr lvl="2">
              <a:buSzPct val="87000"/>
              <a:buFont typeface="Wingdings" pitchFamily="2" charset="2"/>
              <a:buChar char="l"/>
            </a:pPr>
            <a:r>
              <a:rPr lang="zh-CN" altLang="en-US" smtClean="0"/>
              <a:t>实体型：用矩形表示，矩形框内写明实体名。</a:t>
            </a:r>
          </a:p>
          <a:p>
            <a:pPr lvl="2">
              <a:buSzPct val="87000"/>
              <a:buFont typeface="Wingdings" pitchFamily="2" charset="2"/>
              <a:buChar char="l"/>
            </a:pPr>
            <a:r>
              <a:rPr lang="zh-CN" altLang="en-US" smtClean="0"/>
              <a:t>属性：用椭圆形表示，并用无向边将其与相应的实体型连接起来。</a:t>
            </a:r>
          </a:p>
          <a:p>
            <a:pPr lvl="3">
              <a:buSzPct val="87000"/>
              <a:buFont typeface="Wingdings" pitchFamily="2" charset="2"/>
              <a:buChar char="Ø"/>
            </a:pPr>
            <a:r>
              <a:rPr lang="zh-CN" altLang="en-US" sz="2200" smtClean="0"/>
              <a:t>例如，学生实体具有学号、姓名、性别、出生年份、系、入学时间等属性，用</a:t>
            </a:r>
            <a:r>
              <a:rPr lang="en-US" altLang="zh-CN" sz="2200" smtClean="0"/>
              <a:t>E-R</a:t>
            </a:r>
            <a:r>
              <a:rPr lang="zh-CN" altLang="en-US" sz="2200" smtClean="0"/>
              <a:t>图表示如图</a:t>
            </a:r>
            <a:r>
              <a:rPr lang="en-US" altLang="zh-CN" sz="2200" smtClean="0"/>
              <a:t>7.9</a:t>
            </a:r>
            <a:r>
              <a:rPr lang="zh-CN" altLang="en-US" sz="2200" smtClean="0"/>
              <a:t>所示</a:t>
            </a:r>
          </a:p>
        </p:txBody>
      </p:sp>
      <p:pic>
        <p:nvPicPr>
          <p:cNvPr id="63492" name="图片 3" descr="1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1863" y="4076700"/>
            <a:ext cx="5106987" cy="172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5" name="文本框 4"/>
          <p:cNvSpPr txBox="1">
            <a:spLocks noChangeArrowheads="1"/>
          </p:cNvSpPr>
          <p:nvPr/>
        </p:nvSpPr>
        <p:spPr bwMode="auto">
          <a:xfrm>
            <a:off x="3492500" y="6011863"/>
            <a:ext cx="26289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宋体" pitchFamily="2" charset="-122"/>
              </a:rPr>
              <a:t>图</a:t>
            </a:r>
            <a:r>
              <a:rPr lang="en-US" altLang="zh-CN" b="1" dirty="0">
                <a:latin typeface="+mn-lt"/>
              </a:rPr>
              <a:t>7.9</a:t>
            </a:r>
            <a:r>
              <a:rPr lang="en-US" altLang="zh-CN" b="1" dirty="0">
                <a:latin typeface="宋体" pitchFamily="2" charset="-122"/>
              </a:rPr>
              <a:t>  </a:t>
            </a:r>
            <a:r>
              <a:rPr lang="zh-CN" altLang="en-US" b="1" dirty="0">
                <a:latin typeface="宋体" pitchFamily="2" charset="-122"/>
              </a:rPr>
              <a:t>学生实体及属性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4294967295"/>
          </p:nvPr>
        </p:nvSpPr>
        <p:spPr>
          <a:xfrm>
            <a:off x="457200" y="1154113"/>
            <a:ext cx="8229600" cy="4854575"/>
          </a:xfrm>
        </p:spPr>
        <p:txBody>
          <a:bodyPr/>
          <a:lstStyle/>
          <a:p>
            <a:pPr lvl="2">
              <a:buSzPct val="87000"/>
              <a:buFont typeface="Wingdings" pitchFamily="2" charset="2"/>
              <a:buChar char="l"/>
            </a:pPr>
            <a:r>
              <a:rPr lang="zh-CN" altLang="en-US" dirty="0" smtClean="0"/>
              <a:t>联系：用菱形表示，菱形框内写明联系名，并用无向边分别与有关实体型连接起来，同时在无向边旁标上联系的类型（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∶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∶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或</a:t>
            </a:r>
            <a:r>
              <a:rPr lang="en-US" altLang="zh-CN" i="1" dirty="0" smtClean="0"/>
              <a:t>m</a:t>
            </a:r>
            <a:r>
              <a:rPr lang="zh-CN" altLang="en-US" dirty="0" smtClean="0"/>
              <a:t>∶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2">
              <a:buSzPct val="87000"/>
              <a:buFont typeface="Wingdings" pitchFamily="2" charset="2"/>
              <a:buChar char="l"/>
            </a:pPr>
            <a:r>
              <a:rPr lang="zh-CN" altLang="en-US" dirty="0" smtClean="0">
                <a:latin typeface="宋体" pitchFamily="2" charset="-122"/>
              </a:rPr>
              <a:t>联系可以具有属性</a:t>
            </a:r>
            <a:endParaRPr lang="zh-CN" altLang="en-US" dirty="0" smtClean="0"/>
          </a:p>
          <a:p>
            <a:endParaRPr lang="zh-CN" altLang="en-US" dirty="0" smtClean="0"/>
          </a:p>
        </p:txBody>
      </p:sp>
      <p:pic>
        <p:nvPicPr>
          <p:cNvPr id="64516" name="图片 3" descr="1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0338" y="2857500"/>
            <a:ext cx="3833812" cy="235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9" name="文本框 4"/>
          <p:cNvSpPr txBox="1">
            <a:spLocks noChangeArrowheads="1"/>
          </p:cNvSpPr>
          <p:nvPr/>
        </p:nvSpPr>
        <p:spPr bwMode="auto">
          <a:xfrm>
            <a:off x="3443288" y="5640388"/>
            <a:ext cx="21558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lt"/>
              </a:rPr>
              <a:t>图</a:t>
            </a:r>
            <a:r>
              <a:rPr lang="en-US" altLang="zh-CN" b="1" dirty="0">
                <a:latin typeface="+mn-lt"/>
              </a:rPr>
              <a:t>7.10  </a:t>
            </a:r>
            <a:r>
              <a:rPr lang="zh-CN" altLang="en-US" b="1" dirty="0">
                <a:latin typeface="宋体" pitchFamily="2" charset="-122"/>
              </a:rPr>
              <a:t>联系的属性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sp>
        <p:nvSpPr>
          <p:cNvPr id="65539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686800" cy="50673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mtClean="0"/>
              <a:t>3. </a:t>
            </a:r>
            <a:r>
              <a:rPr lang="zh-CN" altLang="en-US" smtClean="0"/>
              <a:t>一个实例</a:t>
            </a:r>
            <a:endParaRPr lang="en-US" smtClean="0"/>
          </a:p>
          <a:p>
            <a:pPr lvl="1">
              <a:lnSpc>
                <a:spcPct val="120000"/>
              </a:lnSpc>
            </a:pPr>
            <a:r>
              <a:rPr lang="zh-CN" altLang="en-US" smtClean="0"/>
              <a:t>某个工厂物资管理的概念模型。物资管理涉及的实体有：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仓库：属性有仓库号、面积、电话号码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零件：属性有零件号、名称、规格、单价、描述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供应商：属性有供应商号、姓名、地址、电话号码、账号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项目：属性有项目号、预算、开工日期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职工：属性有职工号、姓名、年龄、职称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sp>
        <p:nvSpPr>
          <p:cNvPr id="66563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435975" cy="5095875"/>
          </a:xfrm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zh-CN" altLang="en-US" smtClean="0"/>
              <a:t>这些实体之间的联系如下： </a:t>
            </a:r>
            <a:endParaRPr lang="en-US" altLang="zh-CN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smtClean="0"/>
              <a:t> </a:t>
            </a:r>
            <a:r>
              <a:rPr lang="zh-CN" altLang="en-US" sz="2200" smtClean="0"/>
              <a:t>（</a:t>
            </a:r>
            <a:r>
              <a:rPr lang="en-US" altLang="zh-CN" sz="2200" smtClean="0"/>
              <a:t>1</a:t>
            </a:r>
            <a:r>
              <a:rPr lang="zh-CN" altLang="en-US" sz="2200" smtClean="0"/>
              <a:t>） 一个仓库可以存放多种零件，一种零件可以存放在多个 </a:t>
            </a:r>
            <a:endParaRPr lang="en-US" altLang="zh-CN" sz="220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smtClean="0"/>
              <a:t>           仓库中，因此仓库和零件具有多对多的联系。用</a:t>
            </a:r>
            <a:r>
              <a:rPr lang="zh-CN" altLang="en-US" sz="2200" smtClean="0">
                <a:solidFill>
                  <a:srgbClr val="FF00FF"/>
                </a:solidFill>
              </a:rPr>
              <a:t>库存量</a:t>
            </a:r>
            <a:endParaRPr lang="en-US" altLang="zh-CN" sz="2200" smtClean="0">
              <a:solidFill>
                <a:srgbClr val="FF00FF"/>
              </a:solidFill>
            </a:endParaRP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smtClean="0">
                <a:solidFill>
                  <a:srgbClr val="FF00FF"/>
                </a:solidFill>
              </a:rPr>
              <a:t>           </a:t>
            </a:r>
            <a:r>
              <a:rPr lang="zh-CN" altLang="en-US" sz="2200" smtClean="0"/>
              <a:t>来表示某种零件在某个仓库中的数量。</a:t>
            </a:r>
            <a:endParaRPr lang="en-US" altLang="zh-CN" sz="220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smtClean="0"/>
              <a:t>（</a:t>
            </a:r>
            <a:r>
              <a:rPr lang="en-US" altLang="zh-CN" sz="2200" smtClean="0"/>
              <a:t>2</a:t>
            </a:r>
            <a:r>
              <a:rPr lang="zh-CN" altLang="en-US" sz="2200" smtClean="0"/>
              <a:t>） 一个仓库有多个职工当仓库保管员，一个职工只能在一</a:t>
            </a:r>
            <a:endParaRPr lang="en-US" altLang="zh-CN" sz="220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smtClean="0"/>
              <a:t>          </a:t>
            </a:r>
            <a:r>
              <a:rPr lang="zh-CN" altLang="en-US" sz="2200" smtClean="0"/>
              <a:t>个仓库工作，因此仓库和职工之间是一对多的联系。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sp>
        <p:nvSpPr>
          <p:cNvPr id="67587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435975" cy="5095875"/>
          </a:xfrm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zh-CN" altLang="en-US" smtClean="0"/>
              <a:t>这些实体之间的联系如下（续）： </a:t>
            </a:r>
            <a:endParaRPr lang="en-US" altLang="zh-CN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smtClean="0"/>
              <a:t>（</a:t>
            </a:r>
            <a:r>
              <a:rPr lang="en-US" altLang="zh-CN" sz="2200" smtClean="0"/>
              <a:t>3</a:t>
            </a:r>
            <a:r>
              <a:rPr lang="zh-CN" altLang="en-US" sz="2200" smtClean="0"/>
              <a:t>） 职工之间具有领导与被领导关系。即仓库主任领导若</a:t>
            </a:r>
            <a:endParaRPr lang="en-US" altLang="zh-CN" sz="220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smtClean="0"/>
              <a:t>          干保管员，因此职工实体型中具有一对多的联系。</a:t>
            </a:r>
            <a:endParaRPr lang="en-US" altLang="zh-CN" sz="220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smtClean="0"/>
              <a:t>（</a:t>
            </a:r>
            <a:r>
              <a:rPr lang="en-US" altLang="zh-CN" sz="2200" smtClean="0"/>
              <a:t>4</a:t>
            </a:r>
            <a:r>
              <a:rPr lang="zh-CN" altLang="en-US" sz="2200" smtClean="0"/>
              <a:t>） 供应商、项目和零件三者之间具有多对多的联系。即一 </a:t>
            </a:r>
            <a:endParaRPr lang="en-US" altLang="zh-CN" sz="220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smtClean="0"/>
              <a:t>          </a:t>
            </a:r>
            <a:r>
              <a:rPr lang="zh-CN" altLang="en-US" sz="2200" smtClean="0"/>
              <a:t>个供应商可以供给若干项目多种零件，每个项目可以使</a:t>
            </a:r>
            <a:endParaRPr lang="en-US" altLang="zh-CN" sz="220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smtClean="0"/>
              <a:t>          </a:t>
            </a:r>
            <a:r>
              <a:rPr lang="zh-CN" altLang="en-US" sz="2200" smtClean="0"/>
              <a:t>用不同供应商供应的零件，每种零件可由不同供应商供 </a:t>
            </a:r>
            <a:endParaRPr lang="en-US" altLang="zh-CN" sz="220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smtClean="0"/>
              <a:t>          </a:t>
            </a:r>
            <a:r>
              <a:rPr lang="zh-CN" altLang="en-US" sz="2200" smtClean="0"/>
              <a:t>给。</a:t>
            </a:r>
          </a:p>
          <a:p>
            <a:pPr>
              <a:lnSpc>
                <a:spcPct val="120000"/>
              </a:lnSpc>
            </a:pP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pic>
        <p:nvPicPr>
          <p:cNvPr id="68611" name="图片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063" y="1700213"/>
            <a:ext cx="8651875" cy="324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pic>
        <p:nvPicPr>
          <p:cNvPr id="69635" name="图片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263" y="1557338"/>
            <a:ext cx="8212137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E-R</a:t>
            </a:r>
            <a:r>
              <a:rPr lang="zh-CN" altLang="en-US" sz="3600" smtClean="0"/>
              <a:t>模型（续）</a:t>
            </a:r>
          </a:p>
        </p:txBody>
      </p:sp>
      <p:pic>
        <p:nvPicPr>
          <p:cNvPr id="70659" name="图片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1144588"/>
            <a:ext cx="7192962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7290" y="2386090"/>
            <a:ext cx="5857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设计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ER</a:t>
            </a:r>
            <a:r>
              <a:rPr lang="zh-CN" altLang="en-US" sz="3600" b="1" dirty="0" smtClean="0">
                <a:solidFill>
                  <a:srgbClr val="FF0000"/>
                </a:solidFill>
              </a:rPr>
              <a:t>图过程中的难点：</a:t>
            </a:r>
            <a:endParaRPr lang="en-US" altLang="zh-CN" sz="3600" b="1" dirty="0" smtClean="0">
              <a:solidFill>
                <a:srgbClr val="FF0000"/>
              </a:solidFill>
            </a:endParaRPr>
          </a:p>
          <a:p>
            <a:r>
              <a:rPr lang="zh-CN" altLang="en-US" sz="3600" b="1" dirty="0" smtClean="0">
                <a:solidFill>
                  <a:srgbClr val="FF0000"/>
                </a:solidFill>
              </a:rPr>
              <a:t>实体和属性到底怎么区分？？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/>
              <a:t>7.3.5  </a:t>
            </a:r>
            <a:r>
              <a:rPr lang="zh-CN" altLang="en-US" sz="3600" smtClean="0"/>
              <a:t>概念结构设计</a:t>
            </a:r>
          </a:p>
        </p:txBody>
      </p:sp>
      <p:sp>
        <p:nvSpPr>
          <p:cNvPr id="73731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 smtClean="0"/>
              <a:t>1. </a:t>
            </a:r>
            <a:r>
              <a:rPr lang="zh-CN" altLang="en-US" dirty="0" smtClean="0"/>
              <a:t>实体与属性的划分原则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zh-CN" altLang="zh-CN" dirty="0" smtClean="0"/>
              <a:t>为了简化</a:t>
            </a:r>
            <a:r>
              <a:rPr lang="en-US" altLang="zh-CN" dirty="0" smtClean="0"/>
              <a:t>E-R</a:t>
            </a:r>
            <a:r>
              <a:rPr lang="zh-CN" altLang="zh-CN" dirty="0" smtClean="0"/>
              <a:t>图的处置，现实世界的事物能作为属性对待的，尽量作为属性对待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两条准则：</a:t>
            </a:r>
            <a:endParaRPr lang="en-US" altLang="zh-CN" dirty="0" smtClean="0"/>
          </a:p>
          <a:p>
            <a:pPr lvl="2">
              <a:lnSpc>
                <a:spcPct val="150000"/>
              </a:lnSpc>
              <a:buSzPct val="87000"/>
              <a:buFont typeface="Arial" pitchFamily="34" charset="0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）作为属性，不能再具有需要描述的性质。属性必须是不可分的数据项，不能包含其他属性。</a:t>
            </a:r>
          </a:p>
          <a:p>
            <a:pPr lvl="2">
              <a:lnSpc>
                <a:spcPct val="150000"/>
              </a:lnSpc>
              <a:buSzPct val="87000"/>
              <a:buFont typeface="Arial" pitchFamily="34" charset="0"/>
              <a:buNone/>
            </a:pPr>
            <a:r>
              <a:rPr lang="zh-CN" altLang="en-US" dirty="0" smtClean="0"/>
              <a:t> 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）属性不能与其他实体具有联系，即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图中所表示的联系是实体之间的联系。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74755" name="内容占位符 2"/>
          <p:cNvSpPr>
            <a:spLocks noGrp="1"/>
          </p:cNvSpPr>
          <p:nvPr>
            <p:ph idx="4294967295"/>
          </p:nvPr>
        </p:nvSpPr>
        <p:spPr>
          <a:xfrm>
            <a:off x="323850" y="1068388"/>
            <a:ext cx="8569325" cy="4953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400" smtClean="0"/>
              <a:t>[</a:t>
            </a:r>
            <a:r>
              <a:rPr lang="zh-CN" altLang="en-US" sz="2400" smtClean="0"/>
              <a:t>例</a:t>
            </a:r>
            <a:r>
              <a:rPr lang="en-US" altLang="zh-CN" sz="2400" smtClean="0"/>
              <a:t>1] </a:t>
            </a:r>
            <a:r>
              <a:rPr lang="zh-CN" altLang="en-US" sz="2400" smtClean="0"/>
              <a:t>职工是一个实体，职工号、姓名、年龄是职工的属性。</a:t>
            </a:r>
            <a:endParaRPr lang="en-US" altLang="zh-CN" sz="2400" smtClean="0"/>
          </a:p>
          <a:p>
            <a:pPr lvl="1"/>
            <a:r>
              <a:rPr lang="zh-CN" altLang="en-US" sz="2000" smtClean="0"/>
              <a:t>职称如果没有与工资、福利挂钩，根据准则（</a:t>
            </a:r>
            <a:r>
              <a:rPr lang="en-US" altLang="zh-CN" sz="2000" smtClean="0"/>
              <a:t>1</a:t>
            </a:r>
            <a:r>
              <a:rPr lang="zh-CN" altLang="en-US" sz="2000" smtClean="0"/>
              <a:t>）可以作为职工实体的属性</a:t>
            </a:r>
            <a:endParaRPr lang="en-US" altLang="zh-CN" sz="2000" smtClean="0"/>
          </a:p>
          <a:p>
            <a:pPr lvl="1"/>
            <a:r>
              <a:rPr lang="zh-CN" altLang="en-US" sz="2000" smtClean="0"/>
              <a:t>如果不同的职称有不同的工资、住房标准和不同的附加福利，则职称作为一个实体更恰当</a:t>
            </a:r>
          </a:p>
        </p:txBody>
      </p:sp>
      <p:pic>
        <p:nvPicPr>
          <p:cNvPr id="74756" name="Picture 5" descr="C:\Users\wamdm\Desktop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25" y="2817813"/>
            <a:ext cx="4752975" cy="320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75779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200" smtClean="0"/>
              <a:t>[</a:t>
            </a:r>
            <a:r>
              <a:rPr lang="zh-CN" altLang="en-US" sz="2200" smtClean="0"/>
              <a:t>例</a:t>
            </a:r>
            <a:r>
              <a:rPr lang="en-US" altLang="zh-CN" sz="2200" smtClean="0"/>
              <a:t>2] </a:t>
            </a:r>
            <a:r>
              <a:rPr lang="zh-CN" altLang="en-US" sz="2200" smtClean="0"/>
              <a:t>在医院中，一个病人只能住在一个病房，病房号可以作为病人实体的一个属性；</a:t>
            </a:r>
            <a:endParaRPr lang="en-US" altLang="zh-CN" sz="2200" smtClean="0"/>
          </a:p>
          <a:p>
            <a:pPr>
              <a:buFont typeface="Wingdings" pitchFamily="2" charset="2"/>
              <a:buNone/>
            </a:pPr>
            <a:r>
              <a:rPr lang="zh-CN" altLang="en-US" sz="2200" smtClean="0"/>
              <a:t>    如果病房还要与医生实体发生联系，即一个医生负责几个病房的病人的医疗工作，则根据准则（</a:t>
            </a:r>
            <a:r>
              <a:rPr lang="en-US" altLang="zh-CN" sz="2200" smtClean="0"/>
              <a:t>2</a:t>
            </a:r>
            <a:r>
              <a:rPr lang="zh-CN" altLang="en-US" sz="2200" smtClean="0"/>
              <a:t>）</a:t>
            </a:r>
            <a:r>
              <a:rPr lang="en-US" altLang="zh-CN" sz="2200" smtClean="0"/>
              <a:t> </a:t>
            </a:r>
            <a:r>
              <a:rPr lang="zh-CN" altLang="en-US" sz="2200" smtClean="0"/>
              <a:t>病房应作为一个实体。</a:t>
            </a:r>
          </a:p>
        </p:txBody>
      </p:sp>
      <p:pic>
        <p:nvPicPr>
          <p:cNvPr id="75780" name="图片 3" descr="7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2928938"/>
            <a:ext cx="7272338" cy="307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1857364"/>
            <a:ext cx="89297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、系统设计：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zh-CN" altLang="en-US" sz="2800" b="1" dirty="0" smtClean="0">
                <a:solidFill>
                  <a:srgbClr val="FF0000"/>
                </a:solidFill>
              </a:rPr>
              <a:t>自顶向下，将功能分成子模块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en-US" altLang="zh-CN" sz="28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ER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图设计：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zh-CN" altLang="en-US" sz="2800" b="1" dirty="0" smtClean="0">
                <a:solidFill>
                  <a:srgbClr val="FF0000"/>
                </a:solidFill>
              </a:rPr>
              <a:t>自底向上，设计子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ER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图，将各子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ER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图进行集成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82947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mtClean="0"/>
              <a:t>2. E-R</a:t>
            </a:r>
            <a:r>
              <a:rPr lang="zh-CN" altLang="en-US" smtClean="0"/>
              <a:t>图的集成</a:t>
            </a:r>
          </a:p>
          <a:p>
            <a:pPr lvl="1"/>
            <a:r>
              <a:rPr lang="en-US" altLang="zh-CN" smtClean="0"/>
              <a:t>E-R</a:t>
            </a:r>
            <a:r>
              <a:rPr lang="zh-CN" altLang="en-US" smtClean="0"/>
              <a:t>图的集成一般需要分两步</a:t>
            </a:r>
          </a:p>
          <a:p>
            <a:pPr lvl="2">
              <a:buSzPct val="87000"/>
              <a:buFont typeface="Wingdings" pitchFamily="2" charset="2"/>
              <a:buChar char="l"/>
            </a:pPr>
            <a:r>
              <a:rPr lang="zh-CN" altLang="en-US" smtClean="0"/>
              <a:t> 合并。解决各分</a:t>
            </a:r>
            <a:r>
              <a:rPr lang="en-US" altLang="zh-CN" smtClean="0"/>
              <a:t>E-R</a:t>
            </a:r>
            <a:r>
              <a:rPr lang="zh-CN" altLang="en-US" smtClean="0"/>
              <a:t>图之间的冲突，将分</a:t>
            </a:r>
            <a:r>
              <a:rPr lang="en-US" altLang="zh-CN" smtClean="0"/>
              <a:t>E-R</a:t>
            </a:r>
            <a:r>
              <a:rPr lang="zh-CN" altLang="en-US" smtClean="0"/>
              <a:t>图合并起来生成初步</a:t>
            </a:r>
            <a:r>
              <a:rPr lang="en-US" altLang="zh-CN" smtClean="0"/>
              <a:t>E-R</a:t>
            </a:r>
            <a:r>
              <a:rPr lang="zh-CN" altLang="en-US" smtClean="0"/>
              <a:t>图。</a:t>
            </a:r>
          </a:p>
          <a:p>
            <a:pPr lvl="2">
              <a:buSzPct val="87000"/>
              <a:buFont typeface="Wingdings" pitchFamily="2" charset="2"/>
              <a:buChar char="l"/>
            </a:pPr>
            <a:r>
              <a:rPr lang="zh-CN" altLang="en-US" smtClean="0"/>
              <a:t> 修改和重构。消除不必要的冗余，生成基本</a:t>
            </a:r>
            <a:r>
              <a:rPr lang="en-US" altLang="zh-CN" smtClean="0"/>
              <a:t>E-R</a:t>
            </a:r>
            <a:r>
              <a:rPr lang="zh-CN" altLang="en-US" smtClean="0"/>
              <a:t>图。</a:t>
            </a:r>
          </a:p>
          <a:p>
            <a:endParaRPr lang="zh-CN" altLang="en-US" smtClean="0"/>
          </a:p>
        </p:txBody>
      </p:sp>
      <p:pic>
        <p:nvPicPr>
          <p:cNvPr id="8294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05063" y="3284538"/>
            <a:ext cx="433387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83971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229600" cy="5454650"/>
          </a:xfrm>
        </p:spPr>
        <p:txBody>
          <a:bodyPr/>
          <a:lstStyle/>
          <a:p>
            <a:pPr lvl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mtClean="0"/>
              <a:t>（</a:t>
            </a:r>
            <a:r>
              <a:rPr lang="en-US" altLang="zh-CN" smtClean="0"/>
              <a:t>1</a:t>
            </a:r>
            <a:r>
              <a:rPr lang="zh-CN" altLang="en-US" smtClean="0"/>
              <a:t>）合并</a:t>
            </a:r>
            <a:r>
              <a:rPr lang="en-US" altLang="zh-CN" smtClean="0"/>
              <a:t>E-R</a:t>
            </a:r>
            <a:r>
              <a:rPr lang="zh-CN" altLang="en-US" smtClean="0"/>
              <a:t>图，生成初步</a:t>
            </a:r>
            <a:r>
              <a:rPr lang="en-US" altLang="zh-CN" smtClean="0"/>
              <a:t>E-R</a:t>
            </a:r>
            <a:r>
              <a:rPr lang="zh-CN" altLang="en-US" smtClean="0"/>
              <a:t>图</a:t>
            </a:r>
            <a:endParaRPr lang="en-US" smtClean="0"/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各个局部应用所面向的问题不同，各个子系统的</a:t>
            </a:r>
            <a:r>
              <a:rPr lang="en-US" altLang="zh-CN" smtClean="0"/>
              <a:t>E-R</a:t>
            </a:r>
            <a:r>
              <a:rPr lang="zh-CN" altLang="en-US" smtClean="0"/>
              <a:t>图之间必定会存在许多不一致的地方，称之为冲突。</a:t>
            </a:r>
            <a:endParaRPr lang="en-US" smtClean="0"/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子系统</a:t>
            </a:r>
            <a:r>
              <a:rPr lang="en-US" altLang="zh-CN" smtClean="0"/>
              <a:t>E-R</a:t>
            </a:r>
            <a:r>
              <a:rPr lang="zh-CN" altLang="en-US" smtClean="0"/>
              <a:t>图之间的冲突主要有三类：</a:t>
            </a:r>
          </a:p>
          <a:p>
            <a:pPr lvl="3">
              <a:lnSpc>
                <a:spcPct val="125000"/>
              </a:lnSpc>
              <a:buFont typeface="Arial" pitchFamily="34" charset="0"/>
              <a:buNone/>
            </a:pPr>
            <a:r>
              <a:rPr lang="zh-CN" altLang="zh-CN" sz="2400" smtClean="0"/>
              <a:t>①</a:t>
            </a:r>
            <a:r>
              <a:rPr lang="zh-CN" altLang="en-US" sz="2200" smtClean="0"/>
              <a:t>属性冲突</a:t>
            </a:r>
          </a:p>
          <a:p>
            <a:pPr lvl="3">
              <a:lnSpc>
                <a:spcPct val="125000"/>
              </a:lnSpc>
              <a:buFont typeface="Arial" pitchFamily="34" charset="0"/>
              <a:buNone/>
            </a:pPr>
            <a:r>
              <a:rPr lang="zh-CN" altLang="zh-CN" sz="2400" smtClean="0"/>
              <a:t>②</a:t>
            </a:r>
            <a:r>
              <a:rPr lang="zh-CN" altLang="en-US" sz="2200" smtClean="0"/>
              <a:t>命名冲突</a:t>
            </a:r>
          </a:p>
          <a:p>
            <a:pPr lvl="3">
              <a:lnSpc>
                <a:spcPct val="125000"/>
              </a:lnSpc>
              <a:buFont typeface="Arial" pitchFamily="34" charset="0"/>
              <a:buNone/>
            </a:pPr>
            <a:r>
              <a:rPr lang="zh-CN" altLang="zh-CN" sz="2400" smtClean="0"/>
              <a:t>③</a:t>
            </a:r>
            <a:r>
              <a:rPr lang="zh-CN" altLang="en-US" sz="2200" smtClean="0"/>
              <a:t>结构冲突</a:t>
            </a:r>
          </a:p>
          <a:p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84995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mtClean="0"/>
              <a:t>①</a:t>
            </a:r>
            <a:r>
              <a:rPr lang="zh-CN" altLang="en-US" smtClean="0"/>
              <a:t>属性冲突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属性域冲突，即属性值的类型、取值范围或取值集合不同。</a:t>
            </a:r>
            <a:endParaRPr lang="en-US" smtClean="0"/>
          </a:p>
          <a:p>
            <a:pPr lvl="3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200" smtClean="0"/>
              <a:t>例如零件号，有的部门把它定义为整数，有的部门把它定义为字符型。</a:t>
            </a:r>
            <a:endParaRPr lang="en-US" altLang="zh-CN" sz="2200" smtClean="0"/>
          </a:p>
          <a:p>
            <a:pPr lvl="3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200" smtClean="0"/>
              <a:t>年龄，某些部门以出生日期形式表示职工的年龄，而另一些部门用整数表示职工的年龄。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属性取值单位冲突。</a:t>
            </a:r>
            <a:endParaRPr lang="en-US" smtClean="0"/>
          </a:p>
          <a:p>
            <a:pPr lvl="3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200" smtClean="0"/>
              <a:t>例如，零件的重量有的以公斤为单位，有的以斤为单位，有的以克为单位。</a:t>
            </a:r>
          </a:p>
          <a:p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86019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435975" cy="5095875"/>
          </a:xfrm>
        </p:spPr>
        <p:txBody>
          <a:bodyPr/>
          <a:lstStyle/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mtClean="0"/>
              <a:t>②</a:t>
            </a:r>
            <a:r>
              <a:rPr lang="zh-CN" altLang="en-US" smtClean="0"/>
              <a:t>命名冲突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同名异义，即不同意义的对象在不同的局部应用中具有相同的名字。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异名同义（一义多名），即同一意义的对象在不同的局部应用中具有不同的名字。</a:t>
            </a:r>
          </a:p>
          <a:p>
            <a:pPr lvl="3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200" smtClean="0"/>
              <a:t>如对科研项目，财务科称为项目，科研处称为课题，生产管理处称为工程。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命名冲突</a:t>
            </a:r>
            <a:endParaRPr lang="en-US" altLang="zh-CN" smtClean="0"/>
          </a:p>
          <a:p>
            <a:pPr lvl="3">
              <a:lnSpc>
                <a:spcPct val="120000"/>
              </a:lnSpc>
              <a:buSzPct val="87000"/>
              <a:buFont typeface="Wingdings" pitchFamily="2" charset="2"/>
              <a:buChar char="Ø"/>
            </a:pPr>
            <a:r>
              <a:rPr lang="zh-CN" altLang="en-US" sz="2200" smtClean="0"/>
              <a:t>可能发生在实体、联系一级上</a:t>
            </a:r>
            <a:endParaRPr lang="en-US" altLang="zh-CN" sz="2200" smtClean="0"/>
          </a:p>
          <a:p>
            <a:pPr lvl="3">
              <a:lnSpc>
                <a:spcPct val="120000"/>
              </a:lnSpc>
              <a:buSzPct val="87000"/>
              <a:buFont typeface="Wingdings" pitchFamily="2" charset="2"/>
              <a:buChar char="Ø"/>
            </a:pPr>
            <a:r>
              <a:rPr lang="zh-CN" altLang="en-US" sz="2200" smtClean="0"/>
              <a:t>也可能发生在属性一级上</a:t>
            </a:r>
            <a:endParaRPr lang="en-US" altLang="zh-CN" sz="2200" smtClean="0"/>
          </a:p>
          <a:p>
            <a:pPr lvl="3">
              <a:lnSpc>
                <a:spcPct val="120000"/>
              </a:lnSpc>
              <a:buSzPct val="87000"/>
              <a:buFont typeface="Wingdings" pitchFamily="2" charset="2"/>
              <a:buChar char="Ø"/>
            </a:pPr>
            <a:r>
              <a:rPr lang="zh-CN" altLang="en-US" sz="2200" smtClean="0"/>
              <a:t>通过讨论、协商等行政手段加以解决</a:t>
            </a:r>
          </a:p>
          <a:p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87043" name="内容占位符 2"/>
          <p:cNvSpPr>
            <a:spLocks noGrp="1"/>
          </p:cNvSpPr>
          <p:nvPr>
            <p:ph idx="4294967295"/>
          </p:nvPr>
        </p:nvSpPr>
        <p:spPr>
          <a:xfrm>
            <a:off x="250825" y="981075"/>
            <a:ext cx="8713788" cy="5213350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zh-CN" dirty="0" smtClean="0"/>
              <a:t>③</a:t>
            </a:r>
            <a:r>
              <a:rPr lang="zh-CN" altLang="en-US" dirty="0" smtClean="0"/>
              <a:t>结构冲突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buSzPct val="87000"/>
              <a:buFont typeface="Wingdings" pitchFamily="2" charset="2"/>
              <a:buChar char="l"/>
            </a:pPr>
            <a:r>
              <a:rPr lang="zh-CN" altLang="en-US" dirty="0" smtClean="0"/>
              <a:t>同一对象在不同应用中具有不同的抽象。</a:t>
            </a:r>
            <a:endParaRPr lang="en-US" dirty="0" smtClean="0"/>
          </a:p>
          <a:p>
            <a:pPr lvl="3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200" dirty="0" smtClean="0"/>
              <a:t>例如，职工在某一局部应用中被当作实体，而在另一局部应用中则被当作属性。</a:t>
            </a:r>
          </a:p>
          <a:p>
            <a:pPr lvl="3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200" dirty="0" smtClean="0"/>
              <a:t>解决方法：把属性变换为实体或把实体变换为属性，使同一对象具有相同的抽象。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buSzPct val="87000"/>
              <a:buFont typeface="Wingdings" pitchFamily="2" charset="2"/>
              <a:buChar char="l"/>
            </a:pPr>
            <a:r>
              <a:rPr lang="zh-CN" altLang="en-US" dirty="0" smtClean="0"/>
              <a:t>同一实体在不同子系统的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图中所包含的属性个数和属性排列次序不完全相同。</a:t>
            </a:r>
          </a:p>
          <a:p>
            <a:pPr lvl="3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200" dirty="0" smtClean="0"/>
              <a:t>解决方法：使该实体的属性取各子系统的</a:t>
            </a:r>
            <a:r>
              <a:rPr lang="en-US" altLang="zh-CN" sz="2200" dirty="0" smtClean="0"/>
              <a:t>E-R</a:t>
            </a:r>
            <a:r>
              <a:rPr lang="zh-CN" altLang="en-US" sz="2200" dirty="0" smtClean="0"/>
              <a:t>图中属性的并集，再适当调整属性的次序。</a:t>
            </a:r>
            <a:endParaRPr lang="en-US" altLang="zh-CN" sz="2200" dirty="0" smtClean="0"/>
          </a:p>
          <a:p>
            <a:pPr lvl="3">
              <a:lnSpc>
                <a:spcPct val="110000"/>
              </a:lnSpc>
              <a:spcBef>
                <a:spcPct val="0"/>
              </a:spcBef>
              <a:buSzPct val="87000"/>
              <a:buFont typeface="Wingdings" pitchFamily="2" charset="2"/>
              <a:buChar char="Ø"/>
            </a:pPr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88067" name="内容占位符 2"/>
          <p:cNvSpPr>
            <a:spLocks noGrp="1"/>
          </p:cNvSpPr>
          <p:nvPr>
            <p:ph idx="4294967295"/>
          </p:nvPr>
        </p:nvSpPr>
        <p:spPr>
          <a:xfrm>
            <a:off x="250825" y="981075"/>
            <a:ext cx="8713788" cy="5213350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zh-CN" smtClean="0"/>
              <a:t>③</a:t>
            </a:r>
            <a:r>
              <a:rPr lang="zh-CN" altLang="en-US" smtClean="0"/>
              <a:t>结构冲突（续）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buSzPct val="87000"/>
              <a:buFont typeface="Wingdings" pitchFamily="2" charset="2"/>
              <a:buChar char="l"/>
            </a:pPr>
            <a:r>
              <a:rPr lang="zh-CN" altLang="en-US" smtClean="0"/>
              <a:t>实体间的联系在不同的</a:t>
            </a:r>
            <a:r>
              <a:rPr lang="en-US" altLang="zh-CN" smtClean="0"/>
              <a:t>E-R</a:t>
            </a:r>
            <a:r>
              <a:rPr lang="zh-CN" altLang="en-US" smtClean="0"/>
              <a:t>图中为不同的类型。</a:t>
            </a:r>
            <a:endParaRPr lang="en-US" altLang="zh-CN" smtClean="0"/>
          </a:p>
          <a:p>
            <a:pPr lvl="3">
              <a:lnSpc>
                <a:spcPct val="120000"/>
              </a:lnSpc>
              <a:spcBef>
                <a:spcPts val="600"/>
              </a:spcBef>
              <a:buSzPct val="87000"/>
              <a:buFont typeface="Wingdings" pitchFamily="2" charset="2"/>
              <a:buChar char="Ø"/>
            </a:pPr>
            <a:r>
              <a:rPr lang="zh-CN" altLang="en-US" sz="2200" smtClean="0"/>
              <a:t>实体</a:t>
            </a:r>
            <a:r>
              <a:rPr lang="en-US" altLang="zh-CN" sz="2200" smtClean="0"/>
              <a:t>E1</a:t>
            </a:r>
            <a:r>
              <a:rPr lang="zh-CN" altLang="en-US" sz="2200" smtClean="0"/>
              <a:t>与</a:t>
            </a:r>
            <a:r>
              <a:rPr lang="en-US" altLang="zh-CN" sz="2200" smtClean="0"/>
              <a:t>E2</a:t>
            </a:r>
            <a:r>
              <a:rPr lang="zh-CN" altLang="en-US" sz="2200" smtClean="0"/>
              <a:t>在一个</a:t>
            </a:r>
            <a:r>
              <a:rPr lang="en-US" altLang="zh-CN" sz="2200" smtClean="0"/>
              <a:t>E-R</a:t>
            </a:r>
            <a:r>
              <a:rPr lang="zh-CN" altLang="en-US" sz="2200" smtClean="0"/>
              <a:t>图中是多对多联系，在另一个</a:t>
            </a:r>
            <a:r>
              <a:rPr lang="en-US" altLang="zh-CN" sz="2200" smtClean="0"/>
              <a:t>E-R</a:t>
            </a:r>
            <a:r>
              <a:rPr lang="zh-CN" altLang="en-US" sz="2200" smtClean="0"/>
              <a:t>图中是一对多联系</a:t>
            </a:r>
            <a:endParaRPr lang="en-US" altLang="zh-CN" sz="2200" smtClean="0"/>
          </a:p>
          <a:p>
            <a:pPr lvl="3">
              <a:lnSpc>
                <a:spcPct val="120000"/>
              </a:lnSpc>
              <a:spcBef>
                <a:spcPts val="600"/>
              </a:spcBef>
              <a:buSzPct val="87000"/>
              <a:buFont typeface="Wingdings" pitchFamily="2" charset="2"/>
              <a:buChar char="Ø"/>
            </a:pPr>
            <a:r>
              <a:rPr lang="zh-CN" altLang="en-US" sz="2200" smtClean="0"/>
              <a:t>解决方法是根据应用的语义对实体联系的类型进行综合或调整。</a:t>
            </a:r>
            <a:endParaRPr lang="en-US" altLang="zh-CN" sz="2200" smtClean="0"/>
          </a:p>
          <a:p>
            <a:pPr lvl="3">
              <a:lnSpc>
                <a:spcPct val="110000"/>
              </a:lnSpc>
              <a:spcBef>
                <a:spcPct val="0"/>
              </a:spcBef>
              <a:buSzPct val="87000"/>
              <a:buFont typeface="Wingdings" pitchFamily="2" charset="2"/>
              <a:buChar char="Ø"/>
            </a:pP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pic>
        <p:nvPicPr>
          <p:cNvPr id="90123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7938" y="1916113"/>
            <a:ext cx="2070100" cy="225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/>
        </p:nvSpPr>
        <p:spPr>
          <a:xfrm>
            <a:off x="457200" y="981075"/>
            <a:ext cx="3609975" cy="769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b="1" kern="0" dirty="0">
                <a:solidFill>
                  <a:srgbClr val="000000"/>
                </a:solidFill>
                <a:latin typeface="Arial"/>
                <a:ea typeface="宋体"/>
              </a:rPr>
              <a:t>图</a:t>
            </a:r>
            <a:r>
              <a:rPr lang="en-US" altLang="zh-CN" sz="2200" b="1" kern="0" dirty="0">
                <a:solidFill>
                  <a:srgbClr val="000000"/>
                </a:solidFill>
                <a:latin typeface="Arial"/>
                <a:ea typeface="宋体"/>
              </a:rPr>
              <a:t>7.25(a)</a:t>
            </a:r>
            <a:r>
              <a:rPr lang="zh-CN" altLang="en-US" sz="2200" b="1" kern="0" dirty="0">
                <a:solidFill>
                  <a:srgbClr val="000000"/>
                </a:solidFill>
                <a:latin typeface="Arial"/>
                <a:ea typeface="宋体"/>
              </a:rPr>
              <a:t>中零件与产品之间存在多对多的联系“构成”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878388" y="981075"/>
            <a:ext cx="3808412" cy="11080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b="1" kern="0" dirty="0">
                <a:solidFill>
                  <a:srgbClr val="000000"/>
                </a:solidFill>
                <a:latin typeface="Arial"/>
                <a:ea typeface="宋体"/>
              </a:rPr>
              <a:t>图</a:t>
            </a:r>
            <a:r>
              <a:rPr lang="en-US" altLang="zh-CN" sz="2200" b="1" kern="0" dirty="0">
                <a:solidFill>
                  <a:srgbClr val="000000"/>
                </a:solidFill>
                <a:latin typeface="Arial"/>
                <a:ea typeface="宋体"/>
              </a:rPr>
              <a:t>7.25(b)</a:t>
            </a:r>
            <a:r>
              <a:rPr lang="zh-CN" altLang="en-US" sz="2200" b="1" kern="0" dirty="0">
                <a:solidFill>
                  <a:srgbClr val="000000"/>
                </a:solidFill>
                <a:latin typeface="Arial"/>
                <a:ea typeface="宋体"/>
              </a:rPr>
              <a:t>中产品、零件与供应商三者之间还存在多对多的联系“供应”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277938" y="4868863"/>
            <a:ext cx="2286000" cy="7699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b="1" kern="0" dirty="0">
                <a:solidFill>
                  <a:srgbClr val="000000"/>
                </a:solidFill>
                <a:latin typeface="Arial"/>
                <a:ea typeface="宋体"/>
              </a:rPr>
              <a:t>合并两个</a:t>
            </a:r>
            <a:r>
              <a:rPr lang="en-US" altLang="zh-CN" sz="2200" b="1" kern="0" dirty="0">
                <a:solidFill>
                  <a:srgbClr val="000000"/>
                </a:solidFill>
                <a:latin typeface="Arial"/>
                <a:ea typeface="宋体"/>
              </a:rPr>
              <a:t>E-R</a:t>
            </a:r>
            <a:r>
              <a:rPr lang="zh-CN" altLang="en-US" sz="2200" b="1" kern="0" dirty="0">
                <a:solidFill>
                  <a:srgbClr val="000000"/>
                </a:solidFill>
                <a:latin typeface="Arial"/>
                <a:ea typeface="宋体"/>
              </a:rPr>
              <a:t>图，如图</a:t>
            </a:r>
            <a:r>
              <a:rPr lang="en-US" altLang="zh-CN" sz="2200" b="1" kern="0" dirty="0">
                <a:solidFill>
                  <a:srgbClr val="000000"/>
                </a:solidFill>
                <a:latin typeface="Arial"/>
                <a:ea typeface="宋体"/>
              </a:rPr>
              <a:t>7.25(c)</a:t>
            </a:r>
            <a:endParaRPr lang="zh-CN" altLang="en-US" dirty="0"/>
          </a:p>
        </p:txBody>
      </p:sp>
      <p:pic>
        <p:nvPicPr>
          <p:cNvPr id="90124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6825" y="2060575"/>
            <a:ext cx="330200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125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79838" y="4389438"/>
            <a:ext cx="4406900" cy="189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0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8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/>
          <p:cNvSpPr>
            <a:spLocks noGrp="1"/>
          </p:cNvSpPr>
          <p:nvPr>
            <p:ph type="title" idx="4294967295"/>
          </p:nvPr>
        </p:nvSpPr>
        <p:spPr>
          <a:xfrm>
            <a:off x="457200" y="-36513"/>
            <a:ext cx="8229600" cy="874713"/>
          </a:xfrm>
        </p:spPr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90115" name="内容占位符 2"/>
          <p:cNvSpPr>
            <a:spLocks noGrp="1"/>
          </p:cNvSpPr>
          <p:nvPr>
            <p:ph idx="4294967295"/>
          </p:nvPr>
        </p:nvSpPr>
        <p:spPr>
          <a:xfrm>
            <a:off x="314325" y="1095375"/>
            <a:ext cx="8229600" cy="4854575"/>
          </a:xfrm>
        </p:spPr>
        <p:txBody>
          <a:bodyPr/>
          <a:lstStyle/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mtClean="0"/>
              <a:t>（</a:t>
            </a:r>
            <a:r>
              <a:rPr lang="en-US" altLang="zh-CN" smtClean="0"/>
              <a:t>2</a:t>
            </a:r>
            <a:r>
              <a:rPr lang="zh-CN" altLang="en-US" smtClean="0"/>
              <a:t>）消除不必要的冗余，设计基本</a:t>
            </a:r>
            <a:r>
              <a:rPr lang="en-US" altLang="zh-CN" smtClean="0"/>
              <a:t>E-R</a:t>
            </a:r>
            <a:r>
              <a:rPr lang="zh-CN" altLang="en-US" smtClean="0"/>
              <a:t>图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所谓冗余的数据是指可由基本数据导出的数据，冗余的联系是指可由其他联系导出的联系。</a:t>
            </a:r>
            <a:endParaRPr lang="en-US" smtClean="0"/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消除冗余主要采用分析方法，即以数据字典和数据流图为依据，根据数据字典中关于数据项之间逻辑关系的说明来消除冗余。</a:t>
            </a:r>
            <a:endParaRPr lang="en-US" smtClean="0"/>
          </a:p>
          <a:p>
            <a:pPr lvl="2"/>
            <a:endParaRPr lang="zh-CN" altLang="en-US" sz="20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 idx="4294967295"/>
          </p:nvPr>
        </p:nvSpPr>
        <p:spPr>
          <a:xfrm>
            <a:off x="457200" y="-36513"/>
            <a:ext cx="8229600" cy="874713"/>
          </a:xfrm>
        </p:spPr>
        <p:txBody>
          <a:bodyPr/>
          <a:lstStyle/>
          <a:p>
            <a:r>
              <a:rPr lang="zh-CN" altLang="en-US" sz="3600" smtClean="0"/>
              <a:t>概念结构设计（续）</a:t>
            </a:r>
          </a:p>
        </p:txBody>
      </p:sp>
      <p:sp>
        <p:nvSpPr>
          <p:cNvPr id="91139" name="内容占位符 2"/>
          <p:cNvSpPr>
            <a:spLocks noGrp="1"/>
          </p:cNvSpPr>
          <p:nvPr>
            <p:ph idx="4294967295"/>
          </p:nvPr>
        </p:nvSpPr>
        <p:spPr>
          <a:xfrm>
            <a:off x="457200" y="1095375"/>
            <a:ext cx="8086725" cy="4349750"/>
          </a:xfrm>
        </p:spPr>
        <p:txBody>
          <a:bodyPr/>
          <a:lstStyle/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smtClean="0"/>
              <a:t>如图</a:t>
            </a:r>
            <a:r>
              <a:rPr lang="en-US" altLang="zh-CN" smtClean="0"/>
              <a:t>7.26</a:t>
            </a:r>
            <a:r>
              <a:rPr lang="zh-CN" altLang="en-US" smtClean="0"/>
              <a:t>中，</a:t>
            </a:r>
            <a:r>
              <a:rPr lang="en-US" altLang="zh-CN" smtClean="0"/>
              <a:t>Q</a:t>
            </a:r>
            <a:r>
              <a:rPr lang="en-US" altLang="zh-CN" baseline="-25000" smtClean="0"/>
              <a:t>3</a:t>
            </a:r>
            <a:r>
              <a:rPr lang="en-US" altLang="zh-CN" smtClean="0"/>
              <a:t>=Q</a:t>
            </a:r>
            <a:r>
              <a:rPr lang="en-US" altLang="zh-CN" baseline="-25000" smtClean="0"/>
              <a:t>1</a:t>
            </a:r>
            <a:r>
              <a:rPr lang="zh-CN" altLang="en-US" smtClean="0"/>
              <a:t>×</a:t>
            </a:r>
            <a:r>
              <a:rPr lang="en-US" altLang="zh-CN" smtClean="0"/>
              <a:t>Q</a:t>
            </a:r>
            <a:r>
              <a:rPr lang="en-US" altLang="zh-CN" baseline="-25000" smtClean="0"/>
              <a:t>2</a:t>
            </a:r>
            <a:r>
              <a:rPr lang="zh-CN" altLang="en-US" smtClean="0"/>
              <a:t>，</a:t>
            </a:r>
            <a:r>
              <a:rPr lang="en-US" altLang="zh-CN" smtClean="0"/>
              <a:t>Q</a:t>
            </a:r>
            <a:r>
              <a:rPr lang="en-US" altLang="zh-CN" baseline="-25000" smtClean="0"/>
              <a:t>4</a:t>
            </a:r>
            <a:r>
              <a:rPr lang="en-US" altLang="zh-CN" smtClean="0"/>
              <a:t>=</a:t>
            </a:r>
            <a:r>
              <a:rPr lang="zh-CN" altLang="en-US" smtClean="0"/>
              <a:t>∑</a:t>
            </a:r>
            <a:r>
              <a:rPr lang="en-US" altLang="zh-CN" smtClean="0"/>
              <a:t>Q</a:t>
            </a:r>
            <a:r>
              <a:rPr lang="en-US" altLang="zh-CN" baseline="-25000" smtClean="0"/>
              <a:t>5</a:t>
            </a:r>
            <a:r>
              <a:rPr lang="zh-CN" altLang="en-US" smtClean="0"/>
              <a:t>。所以</a:t>
            </a:r>
            <a:r>
              <a:rPr lang="en-US" altLang="zh-CN" smtClean="0"/>
              <a:t>Q</a:t>
            </a:r>
            <a:r>
              <a:rPr lang="en-US" altLang="zh-CN" baseline="-25000" smtClean="0"/>
              <a:t>3</a:t>
            </a:r>
            <a:r>
              <a:rPr lang="zh-CN" altLang="en-US" smtClean="0"/>
              <a:t>和</a:t>
            </a:r>
            <a:r>
              <a:rPr lang="en-US" altLang="zh-CN" smtClean="0"/>
              <a:t>Q</a:t>
            </a:r>
            <a:r>
              <a:rPr lang="en-US" altLang="zh-CN" baseline="-25000" smtClean="0"/>
              <a:t>4</a:t>
            </a:r>
            <a:r>
              <a:rPr lang="zh-CN" altLang="en-US" smtClean="0"/>
              <a:t>是冗余数据，可以消去。并且由于</a:t>
            </a:r>
            <a:r>
              <a:rPr lang="en-US" altLang="zh-CN" smtClean="0"/>
              <a:t>Q</a:t>
            </a:r>
            <a:r>
              <a:rPr lang="en-US" altLang="zh-CN" baseline="-25000" smtClean="0"/>
              <a:t>3</a:t>
            </a:r>
            <a:r>
              <a:rPr lang="zh-CN" altLang="en-US" smtClean="0"/>
              <a:t>消去，产品与材料间</a:t>
            </a:r>
            <a:r>
              <a:rPr lang="en-US" altLang="zh-CN" i="1" smtClean="0"/>
              <a:t>m:n</a:t>
            </a:r>
            <a:r>
              <a:rPr lang="zh-CN" altLang="en-US" smtClean="0"/>
              <a:t>的冗余联系也应消去。</a:t>
            </a:r>
          </a:p>
          <a:p>
            <a:pPr lvl="2"/>
            <a:endParaRPr lang="zh-CN" altLang="en-US" sz="2000" smtClean="0"/>
          </a:p>
        </p:txBody>
      </p:sp>
      <p:pic>
        <p:nvPicPr>
          <p:cNvPr id="91140" name="图片 3" descr="7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3725" y="2420938"/>
            <a:ext cx="4940300" cy="274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3189" name="文本框 4"/>
          <p:cNvSpPr txBox="1">
            <a:spLocks noChangeArrowheads="1"/>
          </p:cNvSpPr>
          <p:nvPr/>
        </p:nvSpPr>
        <p:spPr bwMode="auto">
          <a:xfrm>
            <a:off x="598488" y="5643563"/>
            <a:ext cx="8088312" cy="665162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</a:rPr>
              <a:t>并不是所有的冗余数据与冗余联系都必须加以消除，有时为了提高效率，不得不以冗余信息作为代价。</a:t>
            </a:r>
          </a:p>
        </p:txBody>
      </p:sp>
      <p:sp>
        <p:nvSpPr>
          <p:cNvPr id="91142" name="TextBox 5"/>
          <p:cNvSpPr txBox="1">
            <a:spLocks noChangeArrowheads="1"/>
          </p:cNvSpPr>
          <p:nvPr/>
        </p:nvSpPr>
        <p:spPr bwMode="auto">
          <a:xfrm>
            <a:off x="3203575" y="5229225"/>
            <a:ext cx="1860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/>
              <a:t>图</a:t>
            </a:r>
            <a:r>
              <a:rPr lang="en-US" altLang="zh-CN" b="1"/>
              <a:t>7.26 </a:t>
            </a:r>
            <a:r>
              <a:rPr lang="zh-CN" altLang="en-US" b="1"/>
              <a:t>消除冗余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bldLvl="0" animBg="1" autoUpdateAnimBg="0"/>
    </p:bldLst>
  </p:timing>
</p:sld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2302</TotalTime>
  <Pages>0</Pages>
  <Words>2540</Words>
  <Characters>0</Characters>
  <Application>Microsoft Office PowerPoint</Application>
  <DocSecurity>0</DocSecurity>
  <PresentationFormat>全屏显示(4:3)</PresentationFormat>
  <Lines>0</Lines>
  <Paragraphs>287</Paragraphs>
  <Slides>45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黑体</vt:lpstr>
      <vt:lpstr>华文琥珀</vt:lpstr>
      <vt:lpstr>华文中宋</vt:lpstr>
      <vt:lpstr>楷体_GB2312</vt:lpstr>
      <vt:lpstr>宋体</vt:lpstr>
      <vt:lpstr>Arial</vt:lpstr>
      <vt:lpstr>Calibri</vt:lpstr>
      <vt:lpstr>Times New Roman</vt:lpstr>
      <vt:lpstr>Wingdings</vt:lpstr>
      <vt:lpstr>数据库系统概论</vt:lpstr>
      <vt:lpstr>PowerPoint 演示文稿</vt:lpstr>
      <vt:lpstr>第七章  数据库设计</vt:lpstr>
      <vt:lpstr>7.1.3  数据库设计的基本步骤</vt:lpstr>
      <vt:lpstr>PowerPoint 演示文稿</vt:lpstr>
      <vt:lpstr>PowerPoint 演示文稿</vt:lpstr>
      <vt:lpstr>Step1：需求分析</vt:lpstr>
      <vt:lpstr>PowerPoint 演示文稿</vt:lpstr>
      <vt:lpstr>数据字典</vt:lpstr>
      <vt:lpstr>⒈ 数据项</vt:lpstr>
      <vt:lpstr>⒉ 数据结构</vt:lpstr>
      <vt:lpstr>⒊ 数据流</vt:lpstr>
      <vt:lpstr>⒋ 数据存储</vt:lpstr>
      <vt:lpstr>⒌ 处理过程</vt:lpstr>
      <vt:lpstr>数据字典举例</vt:lpstr>
      <vt:lpstr>处理过程（续）</vt:lpstr>
      <vt:lpstr>处理过程（续）</vt:lpstr>
      <vt:lpstr>处理过程（续）</vt:lpstr>
      <vt:lpstr>处理过程（续）</vt:lpstr>
      <vt:lpstr>数据字典</vt:lpstr>
      <vt:lpstr>Step2： 概念结构设计</vt:lpstr>
      <vt:lpstr>7.3.2  E-R模型</vt:lpstr>
      <vt:lpstr>PowerPoint 演示文稿</vt:lpstr>
      <vt:lpstr>E-R模型（续）</vt:lpstr>
      <vt:lpstr>E-R模型（续）</vt:lpstr>
      <vt:lpstr>E-R模型（续）</vt:lpstr>
      <vt:lpstr>E-R模型（续）</vt:lpstr>
      <vt:lpstr>E-R模型（续）</vt:lpstr>
      <vt:lpstr>E-R模型（续）</vt:lpstr>
      <vt:lpstr>E-R模型（续）</vt:lpstr>
      <vt:lpstr>E-R模型（续）</vt:lpstr>
      <vt:lpstr>E-R模型（续）</vt:lpstr>
      <vt:lpstr>PowerPoint 演示文稿</vt:lpstr>
      <vt:lpstr>7.3.5  概念结构设计</vt:lpstr>
      <vt:lpstr>概念结构设计（续）</vt:lpstr>
      <vt:lpstr>概念结构设计（续）</vt:lpstr>
      <vt:lpstr>PowerPoint 演示文稿</vt:lpstr>
      <vt:lpstr>概念结构设计（续）</vt:lpstr>
      <vt:lpstr>概念结构设计（续）</vt:lpstr>
      <vt:lpstr>概念结构设计（续）</vt:lpstr>
      <vt:lpstr>概念结构设计（续）</vt:lpstr>
      <vt:lpstr>概念结构设计（续）</vt:lpstr>
      <vt:lpstr>概念结构设计（续）</vt:lpstr>
      <vt:lpstr>概念结构设计（续）</vt:lpstr>
      <vt:lpstr>概念结构设计（续）</vt:lpstr>
      <vt:lpstr>概念结构设计（续）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meng</dc:creator>
  <cp:lastModifiedBy>zbw</cp:lastModifiedBy>
  <cp:revision>238</cp:revision>
  <dcterms:created xsi:type="dcterms:W3CDTF">2014-11-15T08:22:24Z</dcterms:created>
  <dcterms:modified xsi:type="dcterms:W3CDTF">2023-05-04T15:48:43Z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2052-9.1.0.4866</vt:lpwstr>
  </property>
</Properties>
</file>