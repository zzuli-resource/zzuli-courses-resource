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7" r:id="rId3"/>
    <p:sldId id="260" r:id="rId4"/>
    <p:sldId id="269" r:id="rId5"/>
    <p:sldId id="268" r:id="rId6"/>
    <p:sldId id="267" r:id="rId7"/>
    <p:sldId id="266" r:id="rId8"/>
    <p:sldId id="270" r:id="rId9"/>
    <p:sldId id="265" r:id="rId10"/>
    <p:sldId id="264" r:id="rId11"/>
    <p:sldId id="263" r:id="rId12"/>
    <p:sldId id="262" r:id="rId13"/>
    <p:sldId id="275" r:id="rId14"/>
    <p:sldId id="276" r:id="rId15"/>
    <p:sldId id="274" r:id="rId16"/>
    <p:sldId id="273" r:id="rId17"/>
    <p:sldId id="272" r:id="rId18"/>
    <p:sldId id="271" r:id="rId19"/>
    <p:sldId id="261" r:id="rId20"/>
    <p:sldId id="279" r:id="rId21"/>
    <p:sldId id="280" r:id="rId22"/>
    <p:sldId id="278" r:id="rId23"/>
  </p:sldIdLst>
  <p:sldSz cx="9144000" cy="5143500" type="screen16x9"/>
  <p:notesSz cx="6858000" cy="9144000"/>
  <p:custDataLst>
    <p:tags r:id="rId28"/>
  </p:custDataLst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6ED1"/>
    <a:srgbClr val="D1F0FB"/>
    <a:srgbClr val="00194C"/>
    <a:srgbClr val="CC6600"/>
    <a:srgbClr val="800000"/>
    <a:srgbClr val="990000"/>
    <a:srgbClr val="993300"/>
    <a:srgbClr val="3333FF"/>
    <a:srgbClr val="3079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81115" autoAdjust="0"/>
  </p:normalViewPr>
  <p:slideViewPr>
    <p:cSldViewPr snapToGrid="0">
      <p:cViewPr varScale="1">
        <p:scale>
          <a:sx n="99" d="100"/>
          <a:sy n="99" d="100"/>
        </p:scale>
        <p:origin x="4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gs" Target="tags/tag2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460013-E2CC-49A6-99FC-33B54BFB79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7AA911-2240-47A0-A152-528C1809DA1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jpe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 hasCustomPrompt="1"/>
          </p:nvPr>
        </p:nvSpPr>
        <p:spPr>
          <a:xfrm>
            <a:off x="0" y="1274607"/>
            <a:ext cx="9144000" cy="1228873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20000"/>
              </a:lnSpc>
              <a:defRPr sz="4800" b="1">
                <a:solidFill>
                  <a:srgbClr val="000066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  知识点名称</a:t>
            </a:r>
            <a:br>
              <a:rPr lang="en-US" altLang="zh-CN" dirty="0"/>
            </a:br>
            <a:r>
              <a:rPr lang="zh-CN" altLang="en-US" dirty="0"/>
              <a:t>（太长时可以两行）</a:t>
            </a:r>
            <a:endParaRPr lang="zh-CN" altLang="en-US" dirty="0"/>
          </a:p>
        </p:txBody>
      </p:sp>
      <p:sp>
        <p:nvSpPr>
          <p:cNvPr id="8" name="文本占位符 9"/>
          <p:cNvSpPr>
            <a:spLocks noGrp="1"/>
          </p:cNvSpPr>
          <p:nvPr>
            <p:ph type="body" sz="quarter" idx="14" hasCustomPrompt="1"/>
          </p:nvPr>
        </p:nvSpPr>
        <p:spPr>
          <a:xfrm>
            <a:off x="1944001" y="2732291"/>
            <a:ext cx="5255999" cy="60933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3735">
                <a:solidFill>
                  <a:srgbClr val="800000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0" indent="0">
              <a:spcBef>
                <a:spcPts val="0"/>
              </a:spcBef>
              <a:buNone/>
              <a:defRPr sz="18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</a:lstStyle>
          <a:p>
            <a:pPr lvl="0"/>
            <a:r>
              <a:rPr lang="zh-CN" altLang="en-US" dirty="0"/>
              <a:t>教师名  主讲</a:t>
            </a:r>
            <a:endParaRPr lang="zh-CN" altLang="en-US" dirty="0"/>
          </a:p>
        </p:txBody>
      </p:sp>
      <p:sp>
        <p:nvSpPr>
          <p:cNvPr id="10" name="文本框 9"/>
          <p:cNvSpPr txBox="1"/>
          <p:nvPr userDrawn="1"/>
        </p:nvSpPr>
        <p:spPr>
          <a:xfrm>
            <a:off x="765009" y="114250"/>
            <a:ext cx="1774845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2800" kern="3000" spc="300" baseline="0" dirty="0">
                <a:solidFill>
                  <a:srgbClr val="1A6ED1"/>
                </a:solidFill>
                <a:latin typeface="华文彩云" panose="02010800040101010101" pitchFamily="2" charset="-122"/>
                <a:ea typeface="华文彩云" panose="02010800040101010101" pitchFamily="2" charset="-122"/>
              </a:rPr>
              <a:t>数据结构</a:t>
            </a:r>
            <a:endParaRPr lang="zh-CN" altLang="en-US" sz="2800" kern="3000" spc="300" baseline="0" dirty="0">
              <a:solidFill>
                <a:srgbClr val="1A6ED1"/>
              </a:solidFill>
              <a:latin typeface="华文彩云" panose="02010800040101010101" pitchFamily="2" charset="-122"/>
              <a:ea typeface="华文彩云" panose="0201080004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09" y="126081"/>
            <a:ext cx="466892" cy="35016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全屏幕正文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28070" y="593325"/>
            <a:ext cx="8094201" cy="4085639"/>
          </a:xfrm>
          <a:prstGeom prst="rect">
            <a:avLst/>
          </a:prstGeom>
        </p:spPr>
        <p:txBody>
          <a:bodyPr/>
          <a:lstStyle>
            <a:lvl1pPr marL="0" marR="0" indent="0" algn="just" defTabSz="914400" rtl="0" eaLnBrk="0" fontAlgn="base" latinLnBrk="0" hangingPunct="0">
              <a:lnSpc>
                <a:spcPts val="4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 lang="zh-CN" altLang="en-US" sz="3065" b="1" kern="1200" baseline="0" dirty="0">
                <a:solidFill>
                  <a:srgbClr val="8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1pPr>
            <a:lvl2pPr marL="179705" indent="0" algn="just">
              <a:lnSpc>
                <a:spcPts val="4000"/>
              </a:lnSpc>
              <a:spcBef>
                <a:spcPts val="400"/>
              </a:spcBef>
              <a:buClr>
                <a:srgbClr val="006600"/>
              </a:buClr>
              <a:buFontTx/>
              <a:buNone/>
              <a:defRPr lang="en-US" altLang="zh-CN" sz="3065" b="1" kern="1200" baseline="0" dirty="0">
                <a:solidFill>
                  <a:srgbClr val="CC6600"/>
                </a:solidFill>
                <a:effectLst/>
                <a:latin typeface="方正隶书简体" panose="02010601030101010101" pitchFamily="2" charset="-122"/>
                <a:ea typeface="方正隶书简体" panose="02010601030101010101" pitchFamily="2" charset="-122"/>
                <a:cs typeface="+mn-cs"/>
              </a:defRPr>
            </a:lvl2pPr>
            <a:lvl3pPr marL="179705" indent="0" algn="just" eaLnBrk="1" hangingPunct="1">
              <a:lnSpc>
                <a:spcPts val="4535"/>
              </a:lnSpc>
              <a:spcBef>
                <a:spcPts val="0"/>
              </a:spcBef>
              <a:buClr>
                <a:srgbClr val="800000"/>
              </a:buClr>
              <a:buSzPct val="70000"/>
              <a:buFont typeface="Wingdings" panose="05000000000000000000" pitchFamily="2" charset="2"/>
              <a:buNone/>
              <a:defRPr lang="en-US" altLang="zh-CN" sz="2800" b="1" kern="1200" baseline="0" dirty="0">
                <a:solidFill>
                  <a:srgbClr val="00194C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79705" indent="0" algn="just" eaLnBrk="1" hangingPunct="1">
              <a:lnSpc>
                <a:spcPts val="3400"/>
              </a:lnSpc>
              <a:spcBef>
                <a:spcPts val="0"/>
              </a:spcBef>
              <a:buFontTx/>
              <a:buNone/>
              <a:defRPr sz="2100" b="1" baseline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144145" indent="0" algn="just" fontAlgn="ctr">
              <a:lnSpc>
                <a:spcPts val="3400"/>
              </a:lnSpc>
              <a:spcBef>
                <a:spcPts val="0"/>
              </a:spcBef>
              <a:spcAft>
                <a:spcPts val="300"/>
              </a:spcAft>
              <a:buClr>
                <a:srgbClr val="800000"/>
              </a:buClr>
              <a:buSzPct val="160000"/>
              <a:buFontTx/>
              <a:buNone/>
              <a:defRPr lang="en-US" altLang="zh-CN" sz="2100" b="1" kern="1200" baseline="0" dirty="0" smtClean="0">
                <a:solidFill>
                  <a:srgbClr val="66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5pPr>
            <a:lvl6pPr marL="0" indent="0" algn="just" fontAlgn="ctr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SzPct val="220000"/>
              <a:buFontTx/>
              <a:buNone/>
              <a:defRPr lang="en-US" altLang="zh-CN" sz="2100" b="1" kern="1200" baseline="0" dirty="0" smtClean="0">
                <a:solidFill>
                  <a:srgbClr val="66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6pPr>
            <a:lvl7pPr marL="0" marR="0" indent="0" algn="l" defTabSz="914400" rtl="0" eaLnBrk="1" fontAlgn="ctr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Pct val="300000"/>
              <a:buFontTx/>
              <a:buNone/>
              <a:defRPr lang="en-US" altLang="zh-CN" sz="1800" kern="12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7pPr>
            <a:lvl8pPr marL="342900" indent="-342900" fontAlgn="ctr">
              <a:lnSpc>
                <a:spcPts val="3000"/>
              </a:lnSpc>
              <a:spcBef>
                <a:spcPts val="600"/>
              </a:spcBef>
              <a:buSzPct val="220000"/>
              <a:buFontTx/>
              <a:buBlip>
                <a:blip r:embed="rId2"/>
              </a:buBlip>
              <a:defRPr sz="2400" b="1" baseline="0"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0" indent="-360045" fontAlgn="ctr">
              <a:lnSpc>
                <a:spcPts val="3000"/>
              </a:lnSpc>
              <a:spcBef>
                <a:spcPts val="600"/>
              </a:spcBef>
              <a:buSzPct val="180000"/>
              <a:buFontTx/>
              <a:buBlip>
                <a:blip r:embed="rId3"/>
              </a:buBlip>
              <a:defRPr lang="en-US" altLang="zh-CN" sz="2400" b="1" kern="1200" baseline="0" dirty="0" smtClean="0"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ts val="3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dirty="0"/>
              <a:t>第一级标题</a:t>
            </a:r>
            <a:endParaRPr lang="zh-CN" altLang="en-US" dirty="0"/>
          </a:p>
          <a:p>
            <a:pPr marL="179705" lvl="1" indent="0" algn="just" defTabSz="914400" rtl="0" eaLnBrk="0" fontAlgn="base" latinLnBrk="0" hangingPunct="0">
              <a:lnSpc>
                <a:spcPts val="3000"/>
              </a:lnSpc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FontTx/>
              <a:buNone/>
            </a:pPr>
            <a:r>
              <a:rPr lang="zh-CN" altLang="en-US" dirty="0"/>
              <a:t>第二级</a:t>
            </a:r>
            <a:endParaRPr lang="en-US" altLang="zh-CN" dirty="0"/>
          </a:p>
          <a:p>
            <a:pPr marL="179705" lvl="2" indent="0" algn="just" defTabSz="914400" rtl="0" eaLnBrk="0" fontAlgn="base" latinLnBrk="0" hangingPunct="0">
              <a:lnSpc>
                <a:spcPts val="3000"/>
              </a:lnSpc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0000"/>
              <a:buFontTx/>
              <a:buNone/>
            </a:pPr>
            <a:r>
              <a:rPr lang="zh-CN" altLang="en-US" dirty="0"/>
              <a:t>第三级</a:t>
            </a:r>
            <a:endParaRPr lang="en-US" altLang="zh-CN" dirty="0"/>
          </a:p>
        </p:txBody>
      </p:sp>
      <p:sp>
        <p:nvSpPr>
          <p:cNvPr id="5" name="标题 13"/>
          <p:cNvSpPr>
            <a:spLocks noGrp="1"/>
          </p:cNvSpPr>
          <p:nvPr>
            <p:ph type="title" hasCustomPrompt="1"/>
          </p:nvPr>
        </p:nvSpPr>
        <p:spPr>
          <a:xfrm>
            <a:off x="746301" y="171219"/>
            <a:ext cx="4816300" cy="332399"/>
          </a:xfrm>
          <a:prstGeom prst="rect">
            <a:avLst/>
          </a:prstGeom>
          <a:noFill/>
        </p:spPr>
        <p:txBody>
          <a:bodyPr wrap="square" lIns="36000" tIns="0" rIns="0" bIns="0">
            <a:spAutoFit/>
          </a:bodyPr>
          <a:lstStyle>
            <a:lvl1pPr marL="0" algn="l" defTabSz="914400" rtl="0" eaLnBrk="1" latinLnBrk="0" hangingPunct="1">
              <a:defRPr lang="zh-CN" altLang="en-US" sz="2400" b="1" kern="1500" spc="0" baseline="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</a:lstStyle>
          <a:p>
            <a:pPr lvl="0" algn="l">
              <a:buFontTx/>
            </a:pPr>
            <a:r>
              <a:rPr lang="zh-CN" altLang="en-US" dirty="0"/>
              <a:t>单击此处编辑知识点名称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809" y="126081"/>
            <a:ext cx="466892" cy="35016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653653"/>
            <a:ext cx="6858000" cy="3836194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762"/>
            <a:ext cx="9142647" cy="514426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/>
            <a:r>
              <a:rPr lang="en-US" altLang="zh-CN" sz="2000" dirty="0" smtClean="0"/>
              <a:t>1.</a:t>
            </a:r>
            <a:r>
              <a:rPr lang="zh-CN" altLang="zh-CN" sz="2000" dirty="0" smtClean="0"/>
              <a:t>在</a:t>
            </a:r>
            <a:r>
              <a:rPr lang="zh-CN" altLang="zh-CN" sz="2000" dirty="0"/>
              <a:t>顺序表中删除所有值为</a:t>
            </a:r>
            <a:r>
              <a:rPr lang="en-US" altLang="zh-CN" sz="2000" dirty="0"/>
              <a:t>x</a:t>
            </a:r>
            <a:r>
              <a:rPr lang="zh-CN" altLang="zh-CN" sz="2000" dirty="0"/>
              <a:t>的元素</a:t>
            </a:r>
            <a:r>
              <a:rPr lang="zh-CN" altLang="zh-CN" sz="2000" dirty="0" smtClean="0"/>
              <a:t>，要求</a:t>
            </a:r>
            <a:r>
              <a:rPr lang="zh-CN" altLang="zh-CN" sz="2000" dirty="0"/>
              <a:t>时间复杂度为</a:t>
            </a:r>
            <a:r>
              <a:rPr lang="en-US" altLang="zh-CN" sz="2000" dirty="0"/>
              <a:t>O(n)</a:t>
            </a:r>
            <a:r>
              <a:rPr lang="zh-CN" altLang="zh-CN" sz="2000" dirty="0"/>
              <a:t>，空间复杂度为</a:t>
            </a:r>
            <a:r>
              <a:rPr lang="en-US" altLang="zh-CN" sz="2000" dirty="0"/>
              <a:t>O(1)</a:t>
            </a:r>
            <a:r>
              <a:rPr lang="zh-CN" altLang="zh-CN" sz="2000" dirty="0" smtClean="0"/>
              <a:t>。</a:t>
            </a:r>
            <a:endParaRPr lang="en-US" altLang="zh-CN" sz="2000" dirty="0" smtClean="0"/>
          </a:p>
          <a:p>
            <a:pPr lvl="2"/>
            <a:r>
              <a:rPr lang="en-US" altLang="zh-CN" sz="2000" dirty="0"/>
              <a:t> </a:t>
            </a:r>
            <a:r>
              <a:rPr lang="en-US" altLang="zh-CN" sz="2000" dirty="0" smtClean="0"/>
              <a:t> </a:t>
            </a:r>
            <a:r>
              <a:rPr lang="zh-CN" altLang="zh-CN" sz="2000" dirty="0" smtClean="0"/>
              <a:t>例如</a:t>
            </a:r>
            <a:r>
              <a:rPr lang="zh-CN" altLang="zh-CN" sz="2000" dirty="0"/>
              <a:t>：表</a:t>
            </a:r>
            <a:r>
              <a:rPr lang="en-US" altLang="zh-CN" sz="2000" dirty="0"/>
              <a:t>(3,5,2,3,8,3,7,3)</a:t>
            </a:r>
            <a:r>
              <a:rPr lang="zh-CN" altLang="zh-CN" sz="2000" dirty="0" smtClean="0"/>
              <a:t>，</a:t>
            </a:r>
            <a:endParaRPr lang="en-US" altLang="zh-CN" sz="2000" dirty="0" smtClean="0"/>
          </a:p>
          <a:p>
            <a:pPr lvl="2"/>
            <a:r>
              <a:rPr lang="en-US" altLang="zh-CN" sz="2000" dirty="0"/>
              <a:t> </a:t>
            </a:r>
            <a:r>
              <a:rPr lang="en-US" altLang="zh-CN" sz="2000" dirty="0" smtClean="0"/>
              <a:t> </a:t>
            </a:r>
            <a:r>
              <a:rPr lang="zh-CN" altLang="zh-CN" sz="2000" dirty="0" smtClean="0"/>
              <a:t>删除</a:t>
            </a:r>
            <a:r>
              <a:rPr lang="en-US" altLang="zh-CN" sz="2000" dirty="0"/>
              <a:t>3</a:t>
            </a:r>
            <a:r>
              <a:rPr lang="zh-CN" altLang="zh-CN" sz="2000" dirty="0"/>
              <a:t>后，变为（</a:t>
            </a:r>
            <a:r>
              <a:rPr lang="en-US" altLang="zh-CN" sz="2000" dirty="0"/>
              <a:t>5,2,8,7</a:t>
            </a:r>
            <a:r>
              <a:rPr lang="zh-CN" altLang="zh-CN" sz="2000" dirty="0"/>
              <a:t>）</a:t>
            </a:r>
            <a:endParaRPr lang="zh-CN" altLang="zh-CN" sz="2000" dirty="0"/>
          </a:p>
          <a:p>
            <a:pPr lvl="2"/>
            <a:r>
              <a:rPr lang="zh-CN" altLang="zh-CN" sz="2000" dirty="0">
                <a:solidFill>
                  <a:srgbClr val="FF0000"/>
                </a:solidFill>
              </a:rPr>
              <a:t>算法思想：</a:t>
            </a:r>
            <a:r>
              <a:rPr lang="zh-CN" altLang="zh-CN" sz="2000" dirty="0"/>
              <a:t>从头开始扫描顺序表</a:t>
            </a:r>
            <a:r>
              <a:rPr lang="zh-CN" altLang="zh-CN" sz="2000" dirty="0" smtClean="0"/>
              <a:t>，</a:t>
            </a:r>
            <a:endParaRPr lang="en-US" altLang="zh-CN" sz="2000" dirty="0" smtClean="0"/>
          </a:p>
          <a:p>
            <a:pPr lvl="2"/>
            <a:r>
              <a:rPr lang="zh-CN" altLang="zh-CN" sz="2000" dirty="0" smtClean="0"/>
              <a:t>对于</a:t>
            </a:r>
            <a:r>
              <a:rPr lang="zh-CN" altLang="zh-CN" sz="2000" dirty="0"/>
              <a:t>值为</a:t>
            </a:r>
            <a:r>
              <a:rPr lang="en-US" altLang="zh-CN" sz="2000" dirty="0"/>
              <a:t>x</a:t>
            </a:r>
            <a:r>
              <a:rPr lang="zh-CN" altLang="zh-CN" sz="2000" dirty="0"/>
              <a:t>的元素，用变量</a:t>
            </a:r>
            <a:r>
              <a:rPr lang="en-US" altLang="zh-CN" sz="2000" dirty="0"/>
              <a:t>k</a:t>
            </a:r>
            <a:r>
              <a:rPr lang="zh-CN" altLang="zh-CN" sz="2000" dirty="0"/>
              <a:t>记载出现的次数</a:t>
            </a:r>
            <a:r>
              <a:rPr lang="zh-CN" altLang="zh-CN" sz="2000" dirty="0" smtClean="0"/>
              <a:t>，</a:t>
            </a:r>
            <a:endParaRPr lang="en-US" altLang="zh-CN" sz="2000" dirty="0" smtClean="0"/>
          </a:p>
          <a:p>
            <a:pPr lvl="2"/>
            <a:r>
              <a:rPr lang="zh-CN" altLang="zh-CN" sz="2000" dirty="0" smtClean="0"/>
              <a:t>对于</a:t>
            </a:r>
            <a:r>
              <a:rPr lang="zh-CN" altLang="zh-CN" sz="2000" dirty="0"/>
              <a:t>不等于</a:t>
            </a:r>
            <a:r>
              <a:rPr lang="en-US" altLang="zh-CN" sz="2000" dirty="0"/>
              <a:t>x</a:t>
            </a:r>
            <a:r>
              <a:rPr lang="zh-CN" altLang="zh-CN" sz="2000" dirty="0"/>
              <a:t>的元素将其前移</a:t>
            </a:r>
            <a:r>
              <a:rPr lang="en-US" altLang="zh-CN" sz="2000" dirty="0"/>
              <a:t>k</a:t>
            </a:r>
            <a:r>
              <a:rPr lang="zh-CN" altLang="zh-CN" sz="2000" dirty="0"/>
              <a:t>个位置</a:t>
            </a:r>
            <a:r>
              <a:rPr lang="zh-CN" altLang="zh-CN" sz="2000" dirty="0" smtClean="0"/>
              <a:t>。</a:t>
            </a:r>
            <a:endParaRPr lang="zh-CN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46301" y="171219"/>
            <a:ext cx="4816300" cy="276999"/>
          </a:xfrm>
        </p:spPr>
        <p:txBody>
          <a:bodyPr/>
          <a:lstStyle/>
          <a:p>
            <a:r>
              <a:rPr lang="zh-CN" altLang="en-US" sz="2000" dirty="0" smtClean="0"/>
              <a:t>线性表经典算法题</a:t>
            </a:r>
            <a:endParaRPr lang="zh-CN" altLang="en-US" sz="20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208780" y="1900555"/>
          <a:ext cx="4292600" cy="658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260"/>
                <a:gridCol w="429260"/>
                <a:gridCol w="429260"/>
                <a:gridCol w="429260"/>
                <a:gridCol w="429260"/>
                <a:gridCol w="429260"/>
                <a:gridCol w="429260"/>
                <a:gridCol w="429260"/>
              </a:tblGrid>
              <a:tr h="268605">
                <a:tc>
                  <a:txBody>
                    <a:bodyPr/>
                    <a:p>
                      <a:pPr marL="0" algn="ctr" defTabSz="685800" rtl="0" eaLnBrk="1" latinLnBrk="0" hangingPunct="1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altLang="zh-CN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34283" marB="3428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algn="ctr" defTabSz="685800" rtl="0" eaLnBrk="1" latinLnBrk="0" hangingPunct="1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altLang="zh-CN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34283" marB="3428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algn="ctr" defTabSz="685800" rtl="0" eaLnBrk="1" latinLnBrk="0" hangingPunct="1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altLang="zh-CN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34283" marB="3428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algn="ctr" defTabSz="685800" rtl="0" eaLnBrk="1" latinLnBrk="0" hangingPunct="1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altLang="zh-CN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34283" marB="3428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algn="ctr" defTabSz="685800" rtl="0" eaLnBrk="1" latinLnBrk="0" hangingPunct="1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altLang="zh-CN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34283" marB="3428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algn="ctr" defTabSz="685800" rtl="0" eaLnBrk="1" latinLnBrk="0" hangingPunct="1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en-US" altLang="zh-CN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34283" marB="3428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algn="ctr" defTabSz="685800" rtl="0" eaLnBrk="1" latinLnBrk="0" hangingPunct="1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US" altLang="zh-CN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34283" marB="3428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algn="ctr" defTabSz="685800" rtl="0" eaLnBrk="1" latinLnBrk="0" hangingPunct="1"/>
                      <a:r>
                        <a:rPr lang="en-US" altLang="zh-CN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en-US" altLang="zh-CN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34283" marB="3428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9890">
                <a:tc>
                  <a:txBody>
                    <a:bodyPr/>
                    <a:p>
                      <a:pPr algn="ctr" rtl="0" eaLnBrk="1" fontAlgn="base" hangingPunct="1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1" lang="en-US" altLang="zh-CN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557" marR="84557" marT="42266" marB="42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eaLnBrk="1" fontAlgn="base" hangingPunct="1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kumimoji="1" lang="en-US" altLang="zh-CN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557" marR="84557" marT="42266" marB="42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eaLnBrk="1" fontAlgn="base" hangingPunct="1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1" lang="en-US" altLang="zh-CN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557" marR="84557" marT="42266" marB="42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eaLnBrk="1" fontAlgn="base" hangingPunct="1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1" lang="en-US" altLang="zh-CN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557" marR="84557" marT="42266" marB="42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eaLnBrk="1" fontAlgn="base" hangingPunct="1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kumimoji="1" lang="en-US" altLang="zh-CN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557" marR="84557" marT="42266" marB="42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eaLnBrk="1" fontAlgn="base" hangingPunct="1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1" lang="en-US" altLang="zh-CN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557" marR="84557" marT="42266" marB="4226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 defTabSz="685800" rtl="0" eaLnBrk="1" fontAlgn="base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kumimoji="1" lang="en-US" altLang="zh-CN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34283" marB="342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 defTabSz="685800" rtl="0" eaLnBrk="1" fontAlgn="base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1" lang="en-US" altLang="zh-CN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7" marR="68587" marT="34283" marB="3428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>
              <a:lnSpc>
                <a:spcPct val="100000"/>
              </a:lnSpc>
            </a:pPr>
            <a:r>
              <a:rPr lang="en-US" altLang="zh-CN" sz="1800" dirty="0">
                <a:solidFill>
                  <a:srgbClr val="00B050"/>
                </a:solidFill>
              </a:rPr>
              <a:t>//</a:t>
            </a:r>
            <a:r>
              <a:rPr lang="zh-CN" altLang="zh-CN" sz="1800" dirty="0">
                <a:solidFill>
                  <a:srgbClr val="00B050"/>
                </a:solidFill>
              </a:rPr>
              <a:t>删除所有值为</a:t>
            </a:r>
            <a:r>
              <a:rPr lang="en-US" altLang="zh-CN" sz="1800" dirty="0">
                <a:solidFill>
                  <a:srgbClr val="00B050"/>
                </a:solidFill>
              </a:rPr>
              <a:t>x</a:t>
            </a:r>
            <a:r>
              <a:rPr lang="zh-CN" altLang="zh-CN" sz="1800" dirty="0">
                <a:solidFill>
                  <a:srgbClr val="00B050"/>
                </a:solidFill>
              </a:rPr>
              <a:t>的元素</a:t>
            </a:r>
            <a:endParaRPr lang="zh-CN" altLang="zh-CN" sz="1800" dirty="0">
              <a:solidFill>
                <a:srgbClr val="00B050"/>
              </a:solidFill>
            </a:endParaRPr>
          </a:p>
          <a:p>
            <a:pPr lvl="2">
              <a:lnSpc>
                <a:spcPct val="100000"/>
              </a:lnSpc>
            </a:pPr>
            <a:r>
              <a:rPr lang="en-US" altLang="zh-CN" sz="1800" dirty="0"/>
              <a:t>void DeleteX(SqList &amp;L, ElemType x)</a:t>
            </a:r>
            <a:endParaRPr lang="zh-CN" altLang="zh-CN" sz="1800" dirty="0"/>
          </a:p>
          <a:p>
            <a:pPr lvl="2">
              <a:lnSpc>
                <a:spcPct val="100000"/>
              </a:lnSpc>
            </a:pPr>
            <a:r>
              <a:rPr lang="en-US" altLang="zh-CN" sz="1800" dirty="0"/>
              <a:t>{</a:t>
            </a:r>
            <a:endParaRPr lang="zh-CN" altLang="zh-CN" sz="1800" dirty="0"/>
          </a:p>
          <a:p>
            <a:pPr lvl="2">
              <a:lnSpc>
                <a:spcPct val="100000"/>
              </a:lnSpc>
            </a:pPr>
            <a:r>
              <a:rPr lang="en-US" altLang="zh-CN" sz="1800" dirty="0"/>
              <a:t>    k = 0;    </a:t>
            </a:r>
            <a:r>
              <a:rPr lang="en-US" altLang="zh-CN" sz="1800" dirty="0">
                <a:solidFill>
                  <a:srgbClr val="00B050"/>
                </a:solidFill>
              </a:rPr>
              <a:t>//</a:t>
            </a:r>
            <a:r>
              <a:rPr lang="zh-CN" altLang="zh-CN" sz="1800" dirty="0">
                <a:solidFill>
                  <a:srgbClr val="00B050"/>
                </a:solidFill>
              </a:rPr>
              <a:t>记录</a:t>
            </a:r>
            <a:r>
              <a:rPr lang="en-US" altLang="zh-CN" sz="1800" dirty="0">
                <a:solidFill>
                  <a:srgbClr val="00B050"/>
                </a:solidFill>
              </a:rPr>
              <a:t>k</a:t>
            </a:r>
            <a:r>
              <a:rPr lang="zh-CN" altLang="zh-CN" sz="1800" dirty="0">
                <a:solidFill>
                  <a:srgbClr val="00B050"/>
                </a:solidFill>
              </a:rPr>
              <a:t>出现的次数</a:t>
            </a:r>
            <a:endParaRPr lang="zh-CN" altLang="zh-CN" sz="1800" dirty="0">
              <a:solidFill>
                <a:srgbClr val="00B050"/>
              </a:solidFill>
            </a:endParaRPr>
          </a:p>
          <a:p>
            <a:pPr lvl="2">
              <a:lnSpc>
                <a:spcPct val="100000"/>
              </a:lnSpc>
            </a:pPr>
            <a:r>
              <a:rPr lang="en-US" altLang="zh-CN" sz="1800" dirty="0"/>
              <a:t>    for(i = 0; i &lt; L.length; i++)</a:t>
            </a:r>
            <a:endParaRPr lang="zh-CN" altLang="zh-CN" sz="1800" dirty="0"/>
          </a:p>
          <a:p>
            <a:pPr lvl="2">
              <a:lnSpc>
                <a:spcPct val="100000"/>
              </a:lnSpc>
            </a:pPr>
            <a:r>
              <a:rPr lang="en-US" altLang="zh-CN" sz="1800" dirty="0"/>
              <a:t>    {</a:t>
            </a:r>
            <a:endParaRPr lang="zh-CN" altLang="zh-CN" sz="1800" dirty="0"/>
          </a:p>
          <a:p>
            <a:pPr lvl="2">
              <a:lnSpc>
                <a:spcPct val="100000"/>
              </a:lnSpc>
            </a:pPr>
            <a:r>
              <a:rPr lang="en-US" altLang="zh-CN" sz="1800" dirty="0"/>
              <a:t>        if(L.elem[i] == x)</a:t>
            </a:r>
            <a:endParaRPr lang="zh-CN" altLang="zh-CN" sz="1800" dirty="0"/>
          </a:p>
          <a:p>
            <a:pPr lvl="2">
              <a:lnSpc>
                <a:spcPct val="100000"/>
              </a:lnSpc>
            </a:pPr>
            <a:r>
              <a:rPr lang="en-US" altLang="zh-CN" sz="1800" dirty="0"/>
              <a:t>            k++;</a:t>
            </a:r>
            <a:endParaRPr lang="zh-CN" altLang="zh-CN" sz="1800" dirty="0"/>
          </a:p>
          <a:p>
            <a:pPr lvl="2">
              <a:lnSpc>
                <a:spcPct val="100000"/>
              </a:lnSpc>
            </a:pPr>
            <a:r>
              <a:rPr lang="en-US" altLang="zh-CN" sz="1800" dirty="0"/>
              <a:t>        else</a:t>
            </a:r>
            <a:endParaRPr lang="zh-CN" altLang="zh-CN" sz="1800" dirty="0"/>
          </a:p>
          <a:p>
            <a:pPr lvl="2">
              <a:lnSpc>
                <a:spcPct val="100000"/>
              </a:lnSpc>
            </a:pPr>
            <a:r>
              <a:rPr lang="en-US" altLang="zh-CN" sz="1800" dirty="0"/>
              <a:t>            L.elem[i-k] = L.elem[i];  </a:t>
            </a:r>
            <a:r>
              <a:rPr lang="en-US" altLang="zh-CN" sz="1800" dirty="0">
                <a:solidFill>
                  <a:srgbClr val="00B050"/>
                </a:solidFill>
              </a:rPr>
              <a:t>//</a:t>
            </a:r>
            <a:r>
              <a:rPr lang="zh-CN" altLang="zh-CN" sz="1800" dirty="0">
                <a:solidFill>
                  <a:srgbClr val="00B050"/>
                </a:solidFill>
              </a:rPr>
              <a:t>前移</a:t>
            </a:r>
            <a:r>
              <a:rPr lang="en-US" altLang="zh-CN" sz="1800" dirty="0">
                <a:solidFill>
                  <a:srgbClr val="00B050"/>
                </a:solidFill>
              </a:rPr>
              <a:t>k</a:t>
            </a:r>
            <a:r>
              <a:rPr lang="zh-CN" altLang="zh-CN" sz="1800" dirty="0">
                <a:solidFill>
                  <a:srgbClr val="00B050"/>
                </a:solidFill>
              </a:rPr>
              <a:t>个位置</a:t>
            </a:r>
            <a:endParaRPr lang="zh-CN" altLang="zh-CN" sz="1800" dirty="0">
              <a:solidFill>
                <a:srgbClr val="00B050"/>
              </a:solidFill>
            </a:endParaRPr>
          </a:p>
          <a:p>
            <a:pPr lvl="2">
              <a:lnSpc>
                <a:spcPct val="100000"/>
              </a:lnSpc>
            </a:pPr>
            <a:r>
              <a:rPr lang="en-US" altLang="zh-CN" sz="1800" dirty="0"/>
              <a:t>    }</a:t>
            </a:r>
            <a:endParaRPr lang="zh-CN" altLang="zh-CN" sz="1800" dirty="0"/>
          </a:p>
          <a:p>
            <a:pPr lvl="2">
              <a:lnSpc>
                <a:spcPct val="100000"/>
              </a:lnSpc>
            </a:pPr>
            <a:r>
              <a:rPr lang="en-US" altLang="zh-CN" sz="1800" dirty="0"/>
              <a:t>    L.length = L.length - k;</a:t>
            </a:r>
            <a:endParaRPr lang="zh-CN" altLang="zh-CN" sz="1800" dirty="0"/>
          </a:p>
          <a:p>
            <a:pPr lvl="2">
              <a:lnSpc>
                <a:spcPct val="100000"/>
              </a:lnSpc>
            </a:pPr>
            <a:r>
              <a:rPr lang="en-US" altLang="zh-CN" sz="1800" dirty="0" smtClean="0"/>
              <a:t>}</a:t>
            </a:r>
            <a:endParaRPr lang="zh-CN" altLang="zh-CN" sz="18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46301" y="171219"/>
            <a:ext cx="4816300" cy="276999"/>
          </a:xfrm>
        </p:spPr>
        <p:txBody>
          <a:bodyPr/>
          <a:lstStyle/>
          <a:p>
            <a:r>
              <a:rPr lang="zh-CN" altLang="en-US" sz="2000" dirty="0" smtClean="0"/>
              <a:t>线性表经典算法题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>
              <a:lnSpc>
                <a:spcPct val="100000"/>
              </a:lnSpc>
            </a:pPr>
            <a:r>
              <a:rPr lang="en-US" altLang="zh-CN" sz="2400" dirty="0" smtClean="0"/>
              <a:t>2.</a:t>
            </a:r>
            <a:r>
              <a:rPr lang="zh-CN" altLang="zh-CN" sz="2400" dirty="0"/>
              <a:t> （</a:t>
            </a:r>
            <a:r>
              <a:rPr lang="en-US" altLang="zh-CN" sz="2400" dirty="0" smtClean="0"/>
              <a:t>PTA6-1</a:t>
            </a:r>
            <a:r>
              <a:rPr lang="zh-CN" altLang="en-US" sz="2400" dirty="0" smtClean="0"/>
              <a:t>题</a:t>
            </a:r>
            <a:r>
              <a:rPr lang="zh-CN" altLang="zh-CN" sz="2400" dirty="0" smtClean="0"/>
              <a:t>）给定</a:t>
            </a:r>
            <a:r>
              <a:rPr lang="zh-CN" altLang="zh-CN" sz="2400" dirty="0"/>
              <a:t>一个</a:t>
            </a:r>
            <a:r>
              <a:rPr lang="zh-CN" altLang="zh-CN" sz="2400" dirty="0" smtClean="0"/>
              <a:t>顺序表，删除</a:t>
            </a:r>
            <a:r>
              <a:rPr lang="zh-CN" altLang="zh-CN" sz="2400" dirty="0"/>
              <a:t>所有值大于</a:t>
            </a:r>
            <a:r>
              <a:rPr lang="en-US" altLang="zh-CN" sz="2400" dirty="0"/>
              <a:t>min</a:t>
            </a:r>
            <a:r>
              <a:rPr lang="zh-CN" altLang="zh-CN" sz="2400" dirty="0"/>
              <a:t>而且小于</a:t>
            </a:r>
            <a:r>
              <a:rPr lang="en-US" altLang="zh-CN" sz="2400" dirty="0"/>
              <a:t>max</a:t>
            </a:r>
            <a:r>
              <a:rPr lang="zh-CN" altLang="zh-CN" sz="2400" dirty="0"/>
              <a:t>的元素</a:t>
            </a:r>
            <a:r>
              <a:rPr lang="zh-CN" altLang="zh-CN" sz="2400" dirty="0" smtClean="0"/>
              <a:t>。删除</a:t>
            </a:r>
            <a:r>
              <a:rPr lang="zh-CN" altLang="zh-CN" sz="2400" dirty="0"/>
              <a:t>后表中剩余元素保持顺序存储</a:t>
            </a:r>
            <a:r>
              <a:rPr lang="zh-CN" altLang="zh-CN" sz="2400" dirty="0" smtClean="0"/>
              <a:t>，并且</a:t>
            </a:r>
            <a:r>
              <a:rPr lang="zh-CN" altLang="zh-CN" sz="2400" dirty="0"/>
              <a:t>相对位置不能改变</a:t>
            </a:r>
            <a:r>
              <a:rPr lang="zh-CN" altLang="zh-CN" sz="2400" dirty="0" smtClean="0"/>
              <a:t>。</a:t>
            </a:r>
            <a:endParaRPr lang="en-US" altLang="zh-CN" sz="2400" dirty="0" smtClean="0"/>
          </a:p>
          <a:p>
            <a:pPr lvl="2">
              <a:lnSpc>
                <a:spcPct val="100000"/>
              </a:lnSpc>
            </a:pPr>
            <a:r>
              <a:rPr lang="zh-CN" altLang="zh-CN" sz="2400" dirty="0" smtClean="0">
                <a:solidFill>
                  <a:srgbClr val="FF0000"/>
                </a:solidFill>
              </a:rPr>
              <a:t>算法</a:t>
            </a:r>
            <a:r>
              <a:rPr lang="zh-CN" altLang="zh-CN" sz="2400" dirty="0">
                <a:solidFill>
                  <a:srgbClr val="FF0000"/>
                </a:solidFill>
              </a:rPr>
              <a:t>思想：</a:t>
            </a:r>
            <a:r>
              <a:rPr lang="zh-CN" altLang="zh-CN" sz="2400" dirty="0"/>
              <a:t>与第</a:t>
            </a:r>
            <a:r>
              <a:rPr lang="en-US" altLang="zh-CN" sz="2400" dirty="0"/>
              <a:t>1</a:t>
            </a:r>
            <a:r>
              <a:rPr lang="zh-CN" altLang="zh-CN" sz="2400" dirty="0"/>
              <a:t>题类似</a:t>
            </a:r>
            <a:r>
              <a:rPr lang="zh-CN" altLang="zh-CN" sz="2400" dirty="0" smtClean="0"/>
              <a:t>，</a:t>
            </a:r>
            <a:endParaRPr lang="en-US" altLang="zh-CN" sz="2400" dirty="0" smtClean="0"/>
          </a:p>
          <a:p>
            <a:pPr lvl="2">
              <a:lnSpc>
                <a:spcPct val="100000"/>
              </a:lnSpc>
            </a:pPr>
            <a:r>
              <a:rPr lang="zh-CN" altLang="zh-CN" sz="2400" dirty="0" smtClean="0"/>
              <a:t>从头</a:t>
            </a:r>
            <a:r>
              <a:rPr lang="zh-CN" altLang="zh-CN" sz="2400" dirty="0"/>
              <a:t>开始扫描顺序表</a:t>
            </a:r>
            <a:r>
              <a:rPr lang="zh-CN" altLang="zh-CN" sz="2400" dirty="0" smtClean="0"/>
              <a:t>，</a:t>
            </a:r>
            <a:endParaRPr lang="en-US" altLang="zh-CN" sz="2400" dirty="0" smtClean="0"/>
          </a:p>
          <a:p>
            <a:pPr lvl="2">
              <a:lnSpc>
                <a:spcPct val="100000"/>
              </a:lnSpc>
            </a:pPr>
            <a:r>
              <a:rPr lang="zh-CN" altLang="zh-CN" sz="2400" dirty="0" smtClean="0"/>
              <a:t>对于</a:t>
            </a:r>
            <a:r>
              <a:rPr lang="zh-CN" altLang="zh-CN" sz="2400" dirty="0"/>
              <a:t>元素值</a:t>
            </a:r>
            <a:r>
              <a:rPr lang="zh-CN" altLang="zh-CN" sz="2400" dirty="0" smtClean="0"/>
              <a:t>在</a:t>
            </a:r>
            <a:r>
              <a:rPr lang="en-US" altLang="zh-CN" sz="2400" dirty="0" smtClean="0"/>
              <a:t>min</a:t>
            </a:r>
            <a:r>
              <a:rPr lang="zh-CN" altLang="zh-CN" sz="2400" dirty="0" smtClean="0"/>
              <a:t>和</a:t>
            </a:r>
            <a:r>
              <a:rPr lang="en-US" altLang="zh-CN" sz="2400" dirty="0" smtClean="0"/>
              <a:t>max</a:t>
            </a:r>
            <a:r>
              <a:rPr lang="zh-CN" altLang="zh-CN" sz="2400" dirty="0" smtClean="0"/>
              <a:t>之间</a:t>
            </a:r>
            <a:r>
              <a:rPr lang="zh-CN" altLang="zh-CN" sz="2400" dirty="0"/>
              <a:t>的元素</a:t>
            </a:r>
            <a:r>
              <a:rPr lang="zh-CN" altLang="zh-CN" sz="2400" dirty="0" smtClean="0"/>
              <a:t>，用</a:t>
            </a:r>
            <a:r>
              <a:rPr lang="zh-CN" altLang="zh-CN" sz="2400" dirty="0"/>
              <a:t>变量</a:t>
            </a:r>
            <a:r>
              <a:rPr lang="en-US" altLang="zh-CN" sz="2400" dirty="0"/>
              <a:t>k</a:t>
            </a:r>
            <a:r>
              <a:rPr lang="zh-CN" altLang="zh-CN" sz="2400" dirty="0"/>
              <a:t>记录出现的次数</a:t>
            </a:r>
            <a:r>
              <a:rPr lang="zh-CN" altLang="zh-CN" sz="2400" dirty="0" smtClean="0"/>
              <a:t>，</a:t>
            </a:r>
            <a:endParaRPr lang="en-US" altLang="zh-CN" sz="2400" dirty="0" smtClean="0"/>
          </a:p>
          <a:p>
            <a:pPr lvl="2">
              <a:lnSpc>
                <a:spcPct val="100000"/>
              </a:lnSpc>
            </a:pPr>
            <a:r>
              <a:rPr lang="zh-CN" altLang="zh-CN" sz="2400" dirty="0" smtClean="0"/>
              <a:t>对于</a:t>
            </a:r>
            <a:r>
              <a:rPr lang="zh-CN" altLang="zh-CN" sz="2400" dirty="0"/>
              <a:t>不满足该条件的元素，将其前移</a:t>
            </a:r>
            <a:r>
              <a:rPr lang="en-US" altLang="zh-CN" sz="2400" dirty="0"/>
              <a:t>k</a:t>
            </a:r>
            <a:r>
              <a:rPr lang="zh-CN" altLang="zh-CN" sz="2400" dirty="0"/>
              <a:t>个位置</a:t>
            </a:r>
            <a:r>
              <a:rPr lang="zh-CN" altLang="zh-CN" sz="2400" dirty="0" smtClean="0"/>
              <a:t>。</a:t>
            </a:r>
            <a:endParaRPr lang="en-US" altLang="zh-CN" sz="2400" dirty="0" smtClean="0"/>
          </a:p>
          <a:p>
            <a:pPr lvl="2">
              <a:lnSpc>
                <a:spcPct val="100000"/>
              </a:lnSpc>
            </a:pPr>
            <a:r>
              <a:rPr lang="zh-CN" altLang="zh-CN" sz="2400" dirty="0" smtClean="0"/>
              <a:t>只需</a:t>
            </a:r>
            <a:r>
              <a:rPr lang="zh-CN" altLang="zh-CN" sz="2400" dirty="0"/>
              <a:t>将第</a:t>
            </a:r>
            <a:r>
              <a:rPr lang="en-US" altLang="zh-CN" sz="2400" dirty="0"/>
              <a:t>1</a:t>
            </a:r>
            <a:r>
              <a:rPr lang="zh-CN" altLang="zh-CN" sz="2400" dirty="0"/>
              <a:t>题算法中的判断条件修改</a:t>
            </a:r>
            <a:r>
              <a:rPr lang="zh-CN" altLang="zh-CN" sz="2400" dirty="0" smtClean="0"/>
              <a:t>为</a:t>
            </a:r>
            <a:endParaRPr lang="en-US" altLang="zh-CN" sz="2400" dirty="0" smtClean="0"/>
          </a:p>
          <a:p>
            <a:pPr lvl="2">
              <a:lnSpc>
                <a:spcPct val="100000"/>
              </a:lnSpc>
            </a:pPr>
            <a:r>
              <a:rPr lang="en-US" altLang="zh-CN" sz="2400" dirty="0" err="1" smtClean="0"/>
              <a:t>L.elem</a:t>
            </a:r>
            <a:r>
              <a:rPr lang="en-US" altLang="zh-CN" sz="2400" dirty="0" smtClean="0"/>
              <a:t>[</a:t>
            </a:r>
            <a:r>
              <a:rPr lang="en-US" altLang="zh-CN" sz="2400" dirty="0" err="1" smtClean="0"/>
              <a:t>i</a:t>
            </a:r>
            <a:r>
              <a:rPr lang="en-US" altLang="zh-CN" sz="2400" dirty="0"/>
              <a:t>] &gt;= </a:t>
            </a:r>
            <a:r>
              <a:rPr lang="en-US" altLang="zh-CN" sz="2400" dirty="0" smtClean="0"/>
              <a:t>min </a:t>
            </a:r>
            <a:r>
              <a:rPr lang="en-US" altLang="zh-CN" sz="2400" dirty="0"/>
              <a:t>&amp;&amp; L.elem[i] &lt;= </a:t>
            </a:r>
            <a:r>
              <a:rPr lang="en-US" altLang="zh-CN" sz="2400" dirty="0" smtClean="0"/>
              <a:t>max</a:t>
            </a:r>
            <a:r>
              <a:rPr lang="zh-CN" altLang="zh-CN" sz="2400" dirty="0" smtClean="0"/>
              <a:t>即</a:t>
            </a:r>
            <a:r>
              <a:rPr lang="zh-CN" altLang="zh-CN" sz="2400" dirty="0"/>
              <a:t>可</a:t>
            </a:r>
            <a:r>
              <a:rPr lang="zh-CN" altLang="zh-CN" sz="2400" dirty="0" smtClean="0"/>
              <a:t>。</a:t>
            </a:r>
            <a:endParaRPr lang="zh-CN" altLang="zh-CN" sz="18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46301" y="171219"/>
            <a:ext cx="4816300" cy="276999"/>
          </a:xfrm>
        </p:spPr>
        <p:txBody>
          <a:bodyPr/>
          <a:lstStyle/>
          <a:p>
            <a:r>
              <a:rPr lang="zh-CN" altLang="en-US" sz="2000" dirty="0" smtClean="0"/>
              <a:t>线性表经典算法题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>
              <a:lnSpc>
                <a:spcPct val="100000"/>
              </a:lnSpc>
            </a:pPr>
            <a:r>
              <a:rPr lang="en-US" altLang="zh-CN" sz="2400" dirty="0" smtClean="0"/>
              <a:t>3.</a:t>
            </a:r>
            <a:r>
              <a:rPr lang="zh-CN" altLang="zh-CN" sz="2400" dirty="0" smtClean="0"/>
              <a:t>判断</a:t>
            </a:r>
            <a:r>
              <a:rPr lang="zh-CN" altLang="zh-CN" sz="2400" dirty="0"/>
              <a:t>带头结点的非空单链表是否递增有序。</a:t>
            </a:r>
            <a:endParaRPr lang="zh-CN" altLang="zh-CN" sz="1800" dirty="0"/>
          </a:p>
          <a:p>
            <a:pPr lvl="2">
              <a:lnSpc>
                <a:spcPct val="100000"/>
              </a:lnSpc>
            </a:pPr>
            <a:r>
              <a:rPr lang="zh-CN" altLang="zh-CN" sz="2400" dirty="0">
                <a:solidFill>
                  <a:srgbClr val="FF0000"/>
                </a:solidFill>
              </a:rPr>
              <a:t>算法思想</a:t>
            </a:r>
            <a:r>
              <a:rPr lang="zh-CN" altLang="zh-CN" sz="2400" dirty="0" smtClean="0">
                <a:solidFill>
                  <a:srgbClr val="FF0000"/>
                </a:solidFill>
              </a:rPr>
              <a:t>：</a:t>
            </a:r>
            <a:endParaRPr lang="en-US" altLang="zh-CN" sz="2400" dirty="0" smtClean="0">
              <a:solidFill>
                <a:srgbClr val="FF0000"/>
              </a:solidFill>
            </a:endParaRPr>
          </a:p>
          <a:p>
            <a:pPr lvl="2">
              <a:lnSpc>
                <a:spcPct val="100000"/>
              </a:lnSpc>
            </a:pPr>
            <a:r>
              <a:rPr lang="zh-CN" altLang="zh-CN" sz="2400" dirty="0" smtClean="0"/>
              <a:t>若</a:t>
            </a:r>
            <a:r>
              <a:rPr lang="zh-CN" altLang="zh-CN" sz="2400" dirty="0"/>
              <a:t>单链表长度为</a:t>
            </a:r>
            <a:r>
              <a:rPr lang="en-US" altLang="zh-CN" sz="2400" dirty="0"/>
              <a:t>1</a:t>
            </a:r>
            <a:r>
              <a:rPr lang="zh-CN" altLang="zh-CN" sz="2400" dirty="0"/>
              <a:t>，则结论显然成立</a:t>
            </a:r>
            <a:r>
              <a:rPr lang="zh-CN" altLang="zh-CN" sz="2400" dirty="0" smtClean="0"/>
              <a:t>。</a:t>
            </a:r>
            <a:endParaRPr lang="en-US" altLang="zh-CN" sz="2400" dirty="0" smtClean="0"/>
          </a:p>
          <a:p>
            <a:pPr lvl="2">
              <a:lnSpc>
                <a:spcPct val="100000"/>
              </a:lnSpc>
            </a:pPr>
            <a:r>
              <a:rPr lang="zh-CN" altLang="zh-CN" sz="2400" dirty="0" smtClean="0"/>
              <a:t>若</a:t>
            </a:r>
            <a:r>
              <a:rPr lang="zh-CN" altLang="zh-CN" sz="2400" dirty="0"/>
              <a:t>单链表长度大于</a:t>
            </a:r>
            <a:r>
              <a:rPr lang="en-US" altLang="zh-CN" sz="2400" dirty="0"/>
              <a:t>1</a:t>
            </a:r>
            <a:r>
              <a:rPr lang="zh-CN" altLang="zh-CN" sz="2400" dirty="0" smtClean="0"/>
              <a:t>，</a:t>
            </a:r>
            <a:endParaRPr lang="en-US" altLang="zh-CN" sz="2400" dirty="0" smtClean="0"/>
          </a:p>
          <a:p>
            <a:pPr lvl="2">
              <a:lnSpc>
                <a:spcPct val="100000"/>
              </a:lnSpc>
            </a:pPr>
            <a:r>
              <a:rPr lang="zh-CN" altLang="zh-CN" sz="2400" dirty="0" smtClean="0"/>
              <a:t>则</a:t>
            </a:r>
            <a:r>
              <a:rPr lang="zh-CN" altLang="zh-CN" sz="2400" dirty="0"/>
              <a:t>需判断每个结点的数据</a:t>
            </a:r>
            <a:r>
              <a:rPr lang="zh-CN" altLang="zh-CN" sz="2400" dirty="0" smtClean="0"/>
              <a:t>值</a:t>
            </a:r>
            <a:endParaRPr lang="en-US" altLang="zh-CN" sz="2400" dirty="0" smtClean="0"/>
          </a:p>
          <a:p>
            <a:pPr lvl="2">
              <a:lnSpc>
                <a:spcPct val="100000"/>
              </a:lnSpc>
            </a:pPr>
            <a:r>
              <a:rPr lang="zh-CN" altLang="zh-CN" sz="2400" dirty="0" smtClean="0"/>
              <a:t>是否</a:t>
            </a:r>
            <a:r>
              <a:rPr lang="zh-CN" altLang="zh-CN" sz="2400" dirty="0"/>
              <a:t>小于后继结点的数据值</a:t>
            </a:r>
            <a:r>
              <a:rPr lang="zh-CN" altLang="zh-CN" sz="2400" dirty="0" smtClean="0"/>
              <a:t>。</a:t>
            </a:r>
            <a:endParaRPr lang="en-US" altLang="zh-CN" sz="2400" dirty="0" smtClean="0"/>
          </a:p>
          <a:p>
            <a:pPr lvl="2">
              <a:lnSpc>
                <a:spcPct val="100000"/>
              </a:lnSpc>
            </a:pPr>
            <a:r>
              <a:rPr lang="zh-CN" altLang="zh-CN" sz="2400" dirty="0" smtClean="0"/>
              <a:t>所以</a:t>
            </a:r>
            <a:r>
              <a:rPr lang="zh-CN" altLang="zh-CN" sz="2400" dirty="0"/>
              <a:t>本算法应设两个指针</a:t>
            </a:r>
            <a:r>
              <a:rPr lang="en-US" altLang="zh-CN" sz="2400" dirty="0"/>
              <a:t>p</a:t>
            </a:r>
            <a:r>
              <a:rPr lang="zh-CN" altLang="zh-CN" sz="2400" dirty="0"/>
              <a:t>和</a:t>
            </a:r>
            <a:r>
              <a:rPr lang="en-US" altLang="zh-CN" sz="2400" dirty="0"/>
              <a:t>q</a:t>
            </a:r>
            <a:r>
              <a:rPr lang="zh-CN" altLang="zh-CN" sz="2400" dirty="0" smtClean="0"/>
              <a:t>，</a:t>
            </a:r>
            <a:endParaRPr lang="zh-CN" altLang="zh-CN" sz="2400" dirty="0" smtClean="0"/>
          </a:p>
          <a:p>
            <a:pPr lvl="2">
              <a:lnSpc>
                <a:spcPct val="100000"/>
              </a:lnSpc>
            </a:pPr>
            <a:r>
              <a:rPr lang="en-US" altLang="zh-CN" sz="2400" dirty="0" smtClean="0"/>
              <a:t>p</a:t>
            </a:r>
            <a:r>
              <a:rPr lang="zh-CN" altLang="zh-CN" sz="2400" dirty="0"/>
              <a:t>指向当前结点</a:t>
            </a:r>
            <a:r>
              <a:rPr lang="zh-CN" altLang="zh-CN" sz="2400" dirty="0" smtClean="0"/>
              <a:t>，</a:t>
            </a:r>
            <a:endParaRPr lang="en-US" altLang="zh-CN" sz="2400" dirty="0" smtClean="0"/>
          </a:p>
          <a:p>
            <a:pPr lvl="2">
              <a:lnSpc>
                <a:spcPct val="100000"/>
              </a:lnSpc>
            </a:pPr>
            <a:r>
              <a:rPr lang="en-US" altLang="zh-CN" sz="2400" dirty="0" smtClean="0"/>
              <a:t>q</a:t>
            </a:r>
            <a:r>
              <a:rPr lang="zh-CN" altLang="zh-CN" sz="2400" dirty="0"/>
              <a:t>始终指向</a:t>
            </a:r>
            <a:r>
              <a:rPr lang="en-US" altLang="zh-CN" sz="2400" dirty="0"/>
              <a:t>p</a:t>
            </a:r>
            <a:r>
              <a:rPr lang="zh-CN" altLang="zh-CN" sz="2400" dirty="0"/>
              <a:t>的后继（如果后继结点存在</a:t>
            </a:r>
            <a:r>
              <a:rPr lang="zh-CN" altLang="zh-CN" sz="2400" dirty="0" smtClean="0"/>
              <a:t>），在</a:t>
            </a:r>
            <a:r>
              <a:rPr lang="zh-CN" altLang="zh-CN" sz="2400" dirty="0"/>
              <a:t>扫描的过程中进行</a:t>
            </a:r>
            <a:r>
              <a:rPr lang="en-US" altLang="zh-CN" sz="2400" dirty="0" smtClean="0"/>
              <a:t>p</a:t>
            </a:r>
            <a:r>
              <a:rPr lang="zh-CN" altLang="zh-CN" sz="2400" dirty="0" smtClean="0"/>
              <a:t>和</a:t>
            </a:r>
            <a:r>
              <a:rPr lang="en-US" altLang="zh-CN" sz="2400" dirty="0" smtClean="0"/>
              <a:t>q</a:t>
            </a:r>
            <a:r>
              <a:rPr lang="zh-CN" altLang="zh-CN" sz="2400" dirty="0" smtClean="0"/>
              <a:t>值</a:t>
            </a:r>
            <a:r>
              <a:rPr lang="zh-CN" altLang="zh-CN" sz="2400" dirty="0"/>
              <a:t>的比较</a:t>
            </a:r>
            <a:r>
              <a:rPr lang="zh-CN" altLang="zh-CN" sz="2400" dirty="0" smtClean="0"/>
              <a:t>，然后</a:t>
            </a:r>
            <a:r>
              <a:rPr lang="zh-CN" altLang="zh-CN" sz="2400" dirty="0"/>
              <a:t>将</a:t>
            </a:r>
            <a:r>
              <a:rPr lang="en-US" altLang="zh-CN" sz="2400" dirty="0"/>
              <a:t>p</a:t>
            </a:r>
            <a:r>
              <a:rPr lang="zh-CN" altLang="zh-CN" sz="2400" dirty="0"/>
              <a:t>和</a:t>
            </a:r>
            <a:r>
              <a:rPr lang="en-US" altLang="zh-CN" sz="2400" dirty="0"/>
              <a:t>q</a:t>
            </a:r>
            <a:r>
              <a:rPr lang="zh-CN" altLang="zh-CN" sz="2400" dirty="0"/>
              <a:t>同时后移</a:t>
            </a:r>
            <a:r>
              <a:rPr lang="zh-CN" altLang="zh-CN" sz="2400" dirty="0" smtClean="0"/>
              <a:t>。</a:t>
            </a:r>
            <a:endParaRPr lang="zh-CN" altLang="zh-CN" sz="2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46301" y="171219"/>
            <a:ext cx="4816300" cy="276999"/>
          </a:xfrm>
        </p:spPr>
        <p:txBody>
          <a:bodyPr/>
          <a:lstStyle/>
          <a:p>
            <a:r>
              <a:rPr lang="zh-CN" altLang="en-US" sz="2000" dirty="0" smtClean="0"/>
              <a:t>线性表经典算法题</a:t>
            </a:r>
            <a:endParaRPr lang="zh-CN" altLang="en-US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6022" y="1943745"/>
            <a:ext cx="3876848" cy="3553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>
              <a:lnSpc>
                <a:spcPct val="100000"/>
              </a:lnSpc>
            </a:pPr>
            <a:r>
              <a:rPr lang="en-US" altLang="zh-CN" sz="1735" dirty="0">
                <a:solidFill>
                  <a:srgbClr val="00B050"/>
                </a:solidFill>
              </a:rPr>
              <a:t>//</a:t>
            </a:r>
            <a:r>
              <a:rPr lang="zh-CN" altLang="zh-CN" sz="1735" dirty="0">
                <a:solidFill>
                  <a:srgbClr val="00B050"/>
                </a:solidFill>
              </a:rPr>
              <a:t>判断单链表是否递增有序</a:t>
            </a:r>
            <a:endParaRPr lang="zh-CN" altLang="zh-CN" sz="1735" dirty="0">
              <a:solidFill>
                <a:srgbClr val="00B050"/>
              </a:solidFill>
            </a:endParaRPr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Status Increase(LinkList L)</a:t>
            </a:r>
            <a:endParaRPr lang="zh-CN" altLang="zh-CN" sz="1735" dirty="0"/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{</a:t>
            </a:r>
            <a:endParaRPr lang="zh-CN" altLang="zh-CN" sz="1735" dirty="0"/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    p = L-&gt;next;</a:t>
            </a:r>
            <a:endParaRPr lang="zh-CN" altLang="zh-CN" sz="1735" dirty="0"/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    while(p-&gt;next != NULL)</a:t>
            </a:r>
            <a:endParaRPr lang="zh-CN" altLang="zh-CN" sz="1735" dirty="0"/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    {</a:t>
            </a:r>
            <a:endParaRPr lang="zh-CN" altLang="zh-CN" sz="1735" dirty="0"/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        q = p-&gt;next;</a:t>
            </a:r>
            <a:endParaRPr lang="zh-CN" altLang="zh-CN" sz="1735" dirty="0"/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        if(p-&gt;data &lt;= q-&gt;data)</a:t>
            </a:r>
            <a:endParaRPr lang="zh-CN" altLang="zh-CN" sz="1735" dirty="0"/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            p = q;</a:t>
            </a:r>
            <a:endParaRPr lang="zh-CN" altLang="zh-CN" sz="1735" dirty="0"/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        else</a:t>
            </a:r>
            <a:endParaRPr lang="zh-CN" altLang="zh-CN" sz="1735" dirty="0"/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            return ERROR;</a:t>
            </a:r>
            <a:endParaRPr lang="zh-CN" altLang="zh-CN" sz="1735" dirty="0"/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    }</a:t>
            </a:r>
            <a:endParaRPr lang="zh-CN" altLang="zh-CN" sz="1735" dirty="0"/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    return OK;</a:t>
            </a:r>
            <a:endParaRPr lang="zh-CN" altLang="zh-CN" sz="1735" dirty="0"/>
          </a:p>
          <a:p>
            <a:pPr lvl="2">
              <a:lnSpc>
                <a:spcPct val="100000"/>
              </a:lnSpc>
            </a:pPr>
            <a:r>
              <a:rPr lang="en-US" altLang="zh-CN" sz="1735" dirty="0" smtClean="0"/>
              <a:t>}</a:t>
            </a:r>
            <a:endParaRPr lang="zh-CN" altLang="zh-CN" sz="1735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46301" y="171219"/>
            <a:ext cx="4816300" cy="276999"/>
          </a:xfrm>
        </p:spPr>
        <p:txBody>
          <a:bodyPr/>
          <a:lstStyle/>
          <a:p>
            <a:r>
              <a:rPr lang="zh-CN" altLang="en-US" sz="2000" dirty="0" smtClean="0"/>
              <a:t>线性表经典算法题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>
              <a:lnSpc>
                <a:spcPct val="100000"/>
              </a:lnSpc>
            </a:pPr>
            <a:r>
              <a:rPr lang="en-US" altLang="zh-CN" sz="2400" dirty="0" smtClean="0"/>
              <a:t>4.</a:t>
            </a:r>
            <a:r>
              <a:rPr lang="zh-CN" altLang="zh-CN" sz="2400" dirty="0"/>
              <a:t>在一个带头结点的非空单链表中</a:t>
            </a:r>
            <a:r>
              <a:rPr lang="zh-CN" altLang="zh-CN" sz="2400" dirty="0" smtClean="0"/>
              <a:t>，将</a:t>
            </a:r>
            <a:r>
              <a:rPr lang="zh-CN" altLang="zh-CN" sz="2400" dirty="0"/>
              <a:t>数据域值最小的结点移到链表的最前面</a:t>
            </a:r>
            <a:r>
              <a:rPr lang="zh-CN" altLang="zh-CN" sz="2400" dirty="0" smtClean="0"/>
              <a:t>，要求</a:t>
            </a:r>
            <a:r>
              <a:rPr lang="zh-CN" altLang="zh-CN" sz="2400" dirty="0"/>
              <a:t>不得额外申请新的结点。</a:t>
            </a:r>
            <a:endParaRPr lang="zh-CN" altLang="zh-CN" sz="2400" dirty="0"/>
          </a:p>
          <a:p>
            <a:pPr lvl="2">
              <a:lnSpc>
                <a:spcPct val="100000"/>
              </a:lnSpc>
            </a:pPr>
            <a:r>
              <a:rPr lang="zh-CN" altLang="zh-CN" sz="2400" dirty="0">
                <a:solidFill>
                  <a:srgbClr val="FF0000"/>
                </a:solidFill>
              </a:rPr>
              <a:t>算法思想</a:t>
            </a:r>
            <a:r>
              <a:rPr lang="zh-CN" altLang="zh-CN" sz="2400" dirty="0" smtClean="0">
                <a:solidFill>
                  <a:srgbClr val="FF0000"/>
                </a:solidFill>
              </a:rPr>
              <a:t>：</a:t>
            </a:r>
            <a:endParaRPr lang="en-US" altLang="zh-CN" sz="2400" dirty="0" smtClean="0">
              <a:solidFill>
                <a:srgbClr val="FF0000"/>
              </a:solidFill>
            </a:endParaRPr>
          </a:p>
          <a:p>
            <a:pPr lvl="2">
              <a:lnSpc>
                <a:spcPct val="100000"/>
              </a:lnSpc>
            </a:pPr>
            <a:r>
              <a:rPr lang="zh-CN" altLang="zh-CN" sz="2400" dirty="0" smtClean="0"/>
              <a:t>首先</a:t>
            </a:r>
            <a:r>
              <a:rPr lang="zh-CN" altLang="zh-CN" sz="2400" dirty="0"/>
              <a:t>查找最小值结点</a:t>
            </a:r>
            <a:r>
              <a:rPr lang="en-US" altLang="zh-CN" sz="2400" dirty="0"/>
              <a:t>q</a:t>
            </a:r>
            <a:r>
              <a:rPr lang="zh-CN" altLang="zh-CN" sz="2400" dirty="0" smtClean="0"/>
              <a:t>，</a:t>
            </a:r>
            <a:endParaRPr lang="en-US" altLang="zh-CN" sz="2400" dirty="0" smtClean="0"/>
          </a:p>
          <a:p>
            <a:pPr lvl="2">
              <a:lnSpc>
                <a:spcPct val="100000"/>
              </a:lnSpc>
            </a:pPr>
            <a:r>
              <a:rPr lang="zh-CN" altLang="zh-CN" sz="2400" dirty="0" smtClean="0"/>
              <a:t>然后</a:t>
            </a:r>
            <a:r>
              <a:rPr lang="zh-CN" altLang="zh-CN" sz="2400" dirty="0"/>
              <a:t>将其移到链表的最前面</a:t>
            </a:r>
            <a:r>
              <a:rPr lang="zh-CN" altLang="zh-CN" sz="2400" dirty="0" smtClean="0"/>
              <a:t>，</a:t>
            </a:r>
            <a:endParaRPr lang="en-US" altLang="zh-CN" sz="2400" dirty="0" smtClean="0"/>
          </a:p>
          <a:p>
            <a:pPr lvl="2">
              <a:lnSpc>
                <a:spcPct val="100000"/>
              </a:lnSpc>
            </a:pPr>
            <a:r>
              <a:rPr lang="zh-CN" altLang="zh-CN" sz="2400" dirty="0" smtClean="0"/>
              <a:t>实质上</a:t>
            </a:r>
            <a:r>
              <a:rPr lang="zh-CN" altLang="zh-CN" sz="2400" dirty="0"/>
              <a:t>是将该结点从链表中摘下</a:t>
            </a:r>
            <a:r>
              <a:rPr lang="zh-CN" altLang="zh-CN" sz="2400" dirty="0" smtClean="0"/>
              <a:t>，</a:t>
            </a:r>
            <a:endParaRPr lang="en-US" altLang="zh-CN" sz="2400" dirty="0" smtClean="0"/>
          </a:p>
          <a:p>
            <a:pPr lvl="2">
              <a:lnSpc>
                <a:spcPct val="100000"/>
              </a:lnSpc>
            </a:pPr>
            <a:r>
              <a:rPr lang="zh-CN" altLang="zh-CN" sz="2400" dirty="0" smtClean="0"/>
              <a:t>再插入</a:t>
            </a:r>
            <a:r>
              <a:rPr lang="zh-CN" altLang="zh-CN" sz="2400" dirty="0"/>
              <a:t>到表头位置</a:t>
            </a:r>
            <a:r>
              <a:rPr lang="zh-CN" altLang="zh-CN" sz="2400" dirty="0" smtClean="0"/>
              <a:t>。</a:t>
            </a:r>
            <a:endParaRPr lang="en-US" altLang="zh-CN" sz="2400" dirty="0" smtClean="0"/>
          </a:p>
          <a:p>
            <a:pPr lvl="2">
              <a:lnSpc>
                <a:spcPct val="100000"/>
              </a:lnSpc>
            </a:pPr>
            <a:r>
              <a:rPr lang="zh-CN" altLang="zh-CN" sz="2400" dirty="0" smtClean="0"/>
              <a:t>需要</a:t>
            </a:r>
            <a:r>
              <a:rPr lang="zh-CN" altLang="zh-CN" sz="2400" dirty="0"/>
              <a:t>注意的是</a:t>
            </a:r>
            <a:r>
              <a:rPr lang="zh-CN" altLang="zh-CN" sz="2400" dirty="0" smtClean="0"/>
              <a:t>：</a:t>
            </a:r>
            <a:endParaRPr lang="en-US" altLang="zh-CN" sz="2400" dirty="0" smtClean="0"/>
          </a:p>
          <a:p>
            <a:pPr lvl="2">
              <a:lnSpc>
                <a:spcPct val="100000"/>
              </a:lnSpc>
            </a:pPr>
            <a:r>
              <a:rPr lang="zh-CN" altLang="zh-CN" sz="2400" dirty="0" smtClean="0"/>
              <a:t>从</a:t>
            </a:r>
            <a:r>
              <a:rPr lang="zh-CN" altLang="zh-CN" sz="2400" dirty="0"/>
              <a:t>链表中摘下其实就是删除操作</a:t>
            </a:r>
            <a:r>
              <a:rPr lang="zh-CN" altLang="zh-CN" sz="2400" dirty="0" smtClean="0"/>
              <a:t>，</a:t>
            </a:r>
            <a:endParaRPr lang="en-US" altLang="zh-CN" sz="2400" dirty="0" smtClean="0"/>
          </a:p>
          <a:p>
            <a:pPr lvl="2">
              <a:lnSpc>
                <a:spcPct val="100000"/>
              </a:lnSpc>
            </a:pPr>
            <a:r>
              <a:rPr lang="zh-CN" altLang="zh-CN" sz="2400" dirty="0" smtClean="0"/>
              <a:t>所以</a:t>
            </a:r>
            <a:r>
              <a:rPr lang="zh-CN" altLang="zh-CN" sz="2400" dirty="0"/>
              <a:t>需要设一个指针</a:t>
            </a:r>
            <a:r>
              <a:rPr lang="en-US" altLang="zh-CN" sz="2400" dirty="0"/>
              <a:t>pre</a:t>
            </a:r>
            <a:r>
              <a:rPr lang="zh-CN" altLang="zh-CN" sz="2400" dirty="0"/>
              <a:t>指向</a:t>
            </a:r>
            <a:r>
              <a:rPr lang="en-US" altLang="zh-CN" sz="2400" dirty="0"/>
              <a:t>q</a:t>
            </a:r>
            <a:r>
              <a:rPr lang="zh-CN" altLang="zh-CN" sz="2400" dirty="0"/>
              <a:t>的前驱。</a:t>
            </a:r>
            <a:endParaRPr lang="zh-CN" altLang="zh-CN" sz="24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46301" y="171219"/>
            <a:ext cx="4816300" cy="276999"/>
          </a:xfrm>
        </p:spPr>
        <p:txBody>
          <a:bodyPr/>
          <a:lstStyle/>
          <a:p>
            <a:r>
              <a:rPr lang="zh-CN" altLang="en-US" sz="2000" dirty="0" smtClean="0"/>
              <a:t>线性表经典算法题</a:t>
            </a:r>
            <a:endParaRPr lang="zh-CN" altLang="en-US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6022" y="1943745"/>
            <a:ext cx="3876848" cy="3553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>
              <a:lnSpc>
                <a:spcPct val="100000"/>
              </a:lnSpc>
            </a:pPr>
            <a:r>
              <a:rPr lang="en-US" altLang="zh-CN" sz="1735" dirty="0">
                <a:solidFill>
                  <a:srgbClr val="00B050"/>
                </a:solidFill>
              </a:rPr>
              <a:t>//</a:t>
            </a:r>
            <a:r>
              <a:rPr lang="zh-CN" altLang="zh-CN" sz="1735" dirty="0">
                <a:solidFill>
                  <a:srgbClr val="00B050"/>
                </a:solidFill>
              </a:rPr>
              <a:t>移动最小值结点</a:t>
            </a:r>
            <a:endParaRPr lang="zh-CN" altLang="zh-CN" sz="1735" dirty="0">
              <a:solidFill>
                <a:srgbClr val="00B050"/>
              </a:solidFill>
            </a:endParaRPr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void MoveMin(LinkList L)</a:t>
            </a:r>
            <a:endParaRPr lang="zh-CN" altLang="zh-CN" sz="1735" dirty="0"/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{</a:t>
            </a:r>
            <a:endParaRPr lang="zh-CN" altLang="zh-CN" sz="1735" dirty="0"/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    q = L-&gt;next; pre = L; </a:t>
            </a:r>
            <a:r>
              <a:rPr lang="en-US" altLang="zh-CN" sz="1735" dirty="0">
                <a:solidFill>
                  <a:srgbClr val="00B050"/>
                </a:solidFill>
              </a:rPr>
              <a:t>//pre</a:t>
            </a:r>
            <a:r>
              <a:rPr lang="zh-CN" altLang="zh-CN" sz="1735" dirty="0">
                <a:solidFill>
                  <a:srgbClr val="00B050"/>
                </a:solidFill>
              </a:rPr>
              <a:t>为</a:t>
            </a:r>
            <a:r>
              <a:rPr lang="en-US" altLang="zh-CN" sz="1735" dirty="0">
                <a:solidFill>
                  <a:srgbClr val="00B050"/>
                </a:solidFill>
              </a:rPr>
              <a:t>q</a:t>
            </a:r>
            <a:r>
              <a:rPr lang="zh-CN" altLang="zh-CN" sz="1735" dirty="0">
                <a:solidFill>
                  <a:srgbClr val="00B050"/>
                </a:solidFill>
              </a:rPr>
              <a:t>的前驱结点</a:t>
            </a:r>
            <a:endParaRPr lang="zh-CN" altLang="zh-CN" sz="1735" dirty="0">
              <a:solidFill>
                <a:srgbClr val="00B050"/>
              </a:solidFill>
            </a:endParaRPr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    p = q;</a:t>
            </a:r>
            <a:endParaRPr lang="zh-CN" altLang="zh-CN" sz="1735" dirty="0"/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    while(p-&gt;next != NULL)</a:t>
            </a:r>
            <a:endParaRPr lang="zh-CN" altLang="zh-CN" sz="1735" dirty="0"/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    {</a:t>
            </a:r>
            <a:endParaRPr lang="zh-CN" altLang="zh-CN" sz="1735" dirty="0"/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        if(p-&gt;next-&gt;data &lt; q-&gt;data)  </a:t>
            </a:r>
            <a:r>
              <a:rPr lang="en-US" altLang="zh-CN" sz="1735" dirty="0">
                <a:solidFill>
                  <a:srgbClr val="00B050"/>
                </a:solidFill>
              </a:rPr>
              <a:t>//</a:t>
            </a:r>
            <a:r>
              <a:rPr lang="zh-CN" altLang="zh-CN" sz="1735" dirty="0">
                <a:solidFill>
                  <a:srgbClr val="00B050"/>
                </a:solidFill>
              </a:rPr>
              <a:t>找到新的最小值结点</a:t>
            </a:r>
            <a:endParaRPr lang="zh-CN" altLang="zh-CN" sz="1735" dirty="0">
              <a:solidFill>
                <a:srgbClr val="00B050"/>
              </a:solidFill>
            </a:endParaRPr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        {</a:t>
            </a:r>
            <a:endParaRPr lang="zh-CN" altLang="zh-CN" sz="1735" dirty="0"/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            pre = p;</a:t>
            </a:r>
            <a:endParaRPr lang="zh-CN" altLang="zh-CN" sz="1735" dirty="0"/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            q = p-&gt;next;</a:t>
            </a:r>
            <a:endParaRPr lang="zh-CN" altLang="zh-CN" sz="1735" dirty="0"/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        }</a:t>
            </a:r>
            <a:endParaRPr lang="zh-CN" altLang="zh-CN" sz="1735" dirty="0"/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        p = p-&gt;next;</a:t>
            </a:r>
            <a:endParaRPr lang="zh-CN" altLang="zh-CN" sz="1735" dirty="0"/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    }</a:t>
            </a:r>
            <a:endParaRPr lang="zh-CN" altLang="zh-CN" sz="1735" dirty="0"/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    </a:t>
            </a:r>
            <a:endParaRPr lang="zh-CN" altLang="zh-CN" sz="1735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46301" y="171219"/>
            <a:ext cx="4816300" cy="276999"/>
          </a:xfrm>
        </p:spPr>
        <p:txBody>
          <a:bodyPr/>
          <a:lstStyle/>
          <a:p>
            <a:r>
              <a:rPr lang="zh-CN" altLang="en-US" sz="2000" dirty="0" smtClean="0"/>
              <a:t>线性表经典算法题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>
              <a:lnSpc>
                <a:spcPct val="100000"/>
              </a:lnSpc>
            </a:pPr>
            <a:r>
              <a:rPr lang="en-US" altLang="zh-CN" sz="1735" dirty="0">
                <a:solidFill>
                  <a:srgbClr val="00B050"/>
                </a:solidFill>
              </a:rPr>
              <a:t>//</a:t>
            </a:r>
            <a:r>
              <a:rPr lang="zh-CN" altLang="zh-CN" sz="1735" dirty="0">
                <a:solidFill>
                  <a:srgbClr val="00B050"/>
                </a:solidFill>
              </a:rPr>
              <a:t>如果最小值是第一个结点，则</a:t>
            </a:r>
            <a:r>
              <a:rPr lang="zh-CN" altLang="zh-CN" sz="1735" dirty="0" smtClean="0">
                <a:solidFill>
                  <a:srgbClr val="00B050"/>
                </a:solidFill>
              </a:rPr>
              <a:t>无需</a:t>
            </a:r>
            <a:r>
              <a:rPr lang="zh-CN" altLang="en-US" sz="1735" dirty="0" smtClean="0">
                <a:solidFill>
                  <a:srgbClr val="00B050"/>
                </a:solidFill>
              </a:rPr>
              <a:t>下一步操作</a:t>
            </a:r>
            <a:endParaRPr lang="zh-CN" altLang="zh-CN" sz="1735" dirty="0">
              <a:solidFill>
                <a:srgbClr val="00B050"/>
              </a:solidFill>
            </a:endParaRPr>
          </a:p>
          <a:p>
            <a:pPr lvl="2">
              <a:lnSpc>
                <a:spcPct val="100000"/>
              </a:lnSpc>
            </a:pPr>
            <a:r>
              <a:rPr lang="en-US" altLang="zh-CN" sz="1735" dirty="0" smtClean="0">
                <a:solidFill>
                  <a:srgbClr val="00B050"/>
                </a:solidFill>
              </a:rPr>
              <a:t>//</a:t>
            </a:r>
            <a:r>
              <a:rPr lang="zh-CN" altLang="en-US" sz="1735" dirty="0" smtClean="0">
                <a:solidFill>
                  <a:srgbClr val="00B050"/>
                </a:solidFill>
              </a:rPr>
              <a:t>不是第一个结点，则把最小值结点插入表头位置</a:t>
            </a:r>
            <a:endParaRPr lang="en-US" altLang="zh-CN" sz="1735" dirty="0" smtClean="0">
              <a:solidFill>
                <a:srgbClr val="00B050"/>
              </a:solidFill>
            </a:endParaRPr>
          </a:p>
          <a:p>
            <a:pPr lvl="2">
              <a:lnSpc>
                <a:spcPct val="100000"/>
              </a:lnSpc>
            </a:pPr>
            <a:r>
              <a:rPr lang="en-US" altLang="zh-CN" sz="1735" dirty="0" smtClean="0"/>
              <a:t>if(q </a:t>
            </a:r>
            <a:r>
              <a:rPr lang="en-US" altLang="zh-CN" sz="1735" dirty="0"/>
              <a:t>!= L-&gt;next) </a:t>
            </a:r>
            <a:r>
              <a:rPr lang="en-US" altLang="zh-CN" sz="1735" dirty="0" smtClean="0"/>
              <a:t>{</a:t>
            </a:r>
            <a:endParaRPr lang="zh-CN" altLang="zh-CN" sz="1735" dirty="0"/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        pre-&gt;next = q-&gt;next;   </a:t>
            </a:r>
            <a:r>
              <a:rPr lang="en-US" altLang="zh-CN" sz="1735" dirty="0">
                <a:solidFill>
                  <a:srgbClr val="00B050"/>
                </a:solidFill>
              </a:rPr>
              <a:t>//</a:t>
            </a:r>
            <a:r>
              <a:rPr lang="zh-CN" altLang="zh-CN" sz="1735" dirty="0">
                <a:solidFill>
                  <a:srgbClr val="00B050"/>
                </a:solidFill>
              </a:rPr>
              <a:t>将最小值结点从链表中摘下</a:t>
            </a:r>
            <a:endParaRPr lang="zh-CN" altLang="zh-CN" sz="1735" dirty="0">
              <a:solidFill>
                <a:srgbClr val="00B050"/>
              </a:solidFill>
            </a:endParaRPr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        q-&gt;next = L-&gt;next;     </a:t>
            </a:r>
            <a:r>
              <a:rPr lang="en-US" altLang="zh-CN" sz="1735" dirty="0">
                <a:solidFill>
                  <a:srgbClr val="00B050"/>
                </a:solidFill>
              </a:rPr>
              <a:t>//</a:t>
            </a:r>
            <a:r>
              <a:rPr lang="zh-CN" altLang="zh-CN" sz="1735" dirty="0">
                <a:solidFill>
                  <a:srgbClr val="00B050"/>
                </a:solidFill>
              </a:rPr>
              <a:t>将最小值结点插入在表头位置</a:t>
            </a:r>
            <a:endParaRPr lang="zh-CN" altLang="zh-CN" sz="1735" dirty="0">
              <a:solidFill>
                <a:srgbClr val="00B050"/>
              </a:solidFill>
            </a:endParaRPr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        L-&gt;next = q;</a:t>
            </a:r>
            <a:endParaRPr lang="zh-CN" altLang="zh-CN" sz="1735" dirty="0"/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    }</a:t>
            </a:r>
            <a:endParaRPr lang="zh-CN" altLang="zh-CN" sz="1735" dirty="0"/>
          </a:p>
          <a:p>
            <a:pPr lvl="2">
              <a:lnSpc>
                <a:spcPct val="100000"/>
              </a:lnSpc>
            </a:pPr>
            <a:r>
              <a:rPr lang="en-US" altLang="zh-CN" sz="1735" dirty="0" smtClean="0"/>
              <a:t>}</a:t>
            </a:r>
            <a:endParaRPr lang="zh-CN" altLang="zh-CN" sz="1735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46301" y="171219"/>
            <a:ext cx="4816300" cy="276999"/>
          </a:xfrm>
        </p:spPr>
        <p:txBody>
          <a:bodyPr/>
          <a:lstStyle/>
          <a:p>
            <a:r>
              <a:rPr lang="zh-CN" altLang="en-US" sz="2000" dirty="0" smtClean="0"/>
              <a:t>线性表经典算法题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>
              <a:lnSpc>
                <a:spcPct val="100000"/>
              </a:lnSpc>
            </a:pPr>
            <a:r>
              <a:rPr lang="en-US" altLang="zh-CN" sz="2400" dirty="0" smtClean="0"/>
              <a:t>5.</a:t>
            </a:r>
            <a:r>
              <a:rPr lang="zh-CN" altLang="zh-CN" sz="2400" dirty="0"/>
              <a:t>实现带头</a:t>
            </a:r>
            <a:r>
              <a:rPr lang="zh-CN" altLang="zh-CN" sz="2400" dirty="0" smtClean="0"/>
              <a:t>结点单</a:t>
            </a:r>
            <a:r>
              <a:rPr lang="zh-CN" altLang="zh-CN" sz="2400" dirty="0"/>
              <a:t>链表的就地逆置</a:t>
            </a:r>
            <a:endParaRPr lang="zh-CN" altLang="zh-CN" sz="2400" dirty="0"/>
          </a:p>
          <a:p>
            <a:pPr lvl="2">
              <a:lnSpc>
                <a:spcPct val="100000"/>
              </a:lnSpc>
            </a:pPr>
            <a:r>
              <a:rPr lang="zh-CN" altLang="zh-CN" sz="2400" dirty="0">
                <a:solidFill>
                  <a:srgbClr val="FF0000"/>
                </a:solidFill>
              </a:rPr>
              <a:t>算法思想</a:t>
            </a:r>
            <a:r>
              <a:rPr lang="zh-CN" altLang="zh-CN" sz="2400" dirty="0" smtClean="0">
                <a:solidFill>
                  <a:srgbClr val="FF0000"/>
                </a:solidFill>
              </a:rPr>
              <a:t>：</a:t>
            </a:r>
            <a:endParaRPr lang="en-US" altLang="zh-CN" sz="2400" dirty="0" smtClean="0">
              <a:solidFill>
                <a:srgbClr val="FF0000"/>
              </a:solidFill>
            </a:endParaRPr>
          </a:p>
          <a:p>
            <a:pPr lvl="2">
              <a:lnSpc>
                <a:spcPct val="100000"/>
              </a:lnSpc>
            </a:pPr>
            <a:r>
              <a:rPr lang="zh-CN" altLang="zh-CN" sz="2400" dirty="0" smtClean="0"/>
              <a:t>可以</a:t>
            </a:r>
            <a:r>
              <a:rPr lang="zh-CN" altLang="zh-CN" sz="2400" dirty="0"/>
              <a:t>借鉴第</a:t>
            </a:r>
            <a:r>
              <a:rPr lang="en-US" altLang="zh-CN" sz="2400" dirty="0"/>
              <a:t>4</a:t>
            </a:r>
            <a:r>
              <a:rPr lang="zh-CN" altLang="zh-CN" sz="2400" dirty="0"/>
              <a:t>题的算法思想</a:t>
            </a:r>
            <a:r>
              <a:rPr lang="zh-CN" altLang="zh-CN" sz="2400" dirty="0" smtClean="0"/>
              <a:t>，</a:t>
            </a:r>
            <a:endParaRPr lang="en-US" altLang="zh-CN" sz="2400" dirty="0" smtClean="0"/>
          </a:p>
          <a:p>
            <a:pPr lvl="2">
              <a:lnSpc>
                <a:spcPct val="100000"/>
              </a:lnSpc>
            </a:pPr>
            <a:r>
              <a:rPr lang="zh-CN" altLang="zh-CN" sz="2400" dirty="0" smtClean="0"/>
              <a:t>链表</a:t>
            </a:r>
            <a:r>
              <a:rPr lang="zh-CN" altLang="zh-CN" sz="2400" dirty="0"/>
              <a:t>中从前向后依次摘下每个结点</a:t>
            </a:r>
            <a:r>
              <a:rPr lang="en-US" altLang="zh-CN" sz="2400" dirty="0"/>
              <a:t>p</a:t>
            </a:r>
            <a:r>
              <a:rPr lang="zh-CN" altLang="zh-CN" sz="2400" dirty="0" smtClean="0"/>
              <a:t>，</a:t>
            </a:r>
            <a:endParaRPr lang="en-US" altLang="zh-CN" sz="2400" dirty="0" smtClean="0"/>
          </a:p>
          <a:p>
            <a:pPr lvl="2">
              <a:lnSpc>
                <a:spcPct val="100000"/>
              </a:lnSpc>
            </a:pPr>
            <a:r>
              <a:rPr lang="zh-CN" altLang="zh-CN" sz="2400" dirty="0" smtClean="0"/>
              <a:t>把</a:t>
            </a:r>
            <a:r>
              <a:rPr lang="zh-CN" altLang="zh-CN" sz="2400" dirty="0"/>
              <a:t>该结点插入在表头位置</a:t>
            </a:r>
            <a:r>
              <a:rPr lang="zh-CN" altLang="zh-CN" sz="2400" dirty="0" smtClean="0"/>
              <a:t>。</a:t>
            </a:r>
            <a:endParaRPr lang="en-US" altLang="zh-CN" sz="2400" dirty="0" smtClean="0"/>
          </a:p>
          <a:p>
            <a:pPr lvl="2">
              <a:lnSpc>
                <a:spcPct val="100000"/>
              </a:lnSpc>
            </a:pPr>
            <a:r>
              <a:rPr lang="zh-CN" altLang="zh-CN" sz="2400" dirty="0" smtClean="0"/>
              <a:t>在</a:t>
            </a:r>
            <a:r>
              <a:rPr lang="zh-CN" altLang="zh-CN" sz="2400" dirty="0"/>
              <a:t>进行摘除操作时</a:t>
            </a:r>
            <a:r>
              <a:rPr lang="zh-CN" altLang="zh-CN" sz="2400" dirty="0" smtClean="0"/>
              <a:t>，</a:t>
            </a:r>
            <a:endParaRPr lang="en-US" altLang="zh-CN" sz="2400" dirty="0" smtClean="0"/>
          </a:p>
          <a:p>
            <a:pPr lvl="2">
              <a:lnSpc>
                <a:spcPct val="100000"/>
              </a:lnSpc>
            </a:pPr>
            <a:r>
              <a:rPr lang="zh-CN" altLang="zh-CN" sz="2400" dirty="0" smtClean="0"/>
              <a:t>要</a:t>
            </a:r>
            <a:r>
              <a:rPr lang="zh-CN" altLang="zh-CN" sz="2400" dirty="0"/>
              <a:t>保证链表中后继数据不会丢失</a:t>
            </a:r>
            <a:r>
              <a:rPr lang="zh-CN" altLang="zh-CN" sz="2400" dirty="0" smtClean="0"/>
              <a:t>，</a:t>
            </a:r>
            <a:endParaRPr lang="en-US" altLang="zh-CN" sz="2400" dirty="0" smtClean="0"/>
          </a:p>
          <a:p>
            <a:pPr lvl="2">
              <a:lnSpc>
                <a:spcPct val="100000"/>
              </a:lnSpc>
            </a:pPr>
            <a:r>
              <a:rPr lang="zh-CN" altLang="zh-CN" sz="2400" dirty="0" smtClean="0"/>
              <a:t>需要</a:t>
            </a:r>
            <a:r>
              <a:rPr lang="zh-CN" altLang="zh-CN" sz="2400" dirty="0"/>
              <a:t>设一个指针</a:t>
            </a:r>
            <a:r>
              <a:rPr lang="en-US" altLang="zh-CN" sz="2400" dirty="0"/>
              <a:t>q</a:t>
            </a:r>
            <a:r>
              <a:rPr lang="zh-CN" altLang="zh-CN" sz="2400" dirty="0"/>
              <a:t>指向</a:t>
            </a:r>
            <a:r>
              <a:rPr lang="en-US" altLang="zh-CN" sz="2400" dirty="0"/>
              <a:t>p</a:t>
            </a:r>
            <a:r>
              <a:rPr lang="zh-CN" altLang="zh-CN" sz="2400" dirty="0"/>
              <a:t>的后继</a:t>
            </a:r>
            <a:r>
              <a:rPr lang="zh-CN" altLang="zh-CN" sz="2400" dirty="0" smtClean="0"/>
              <a:t>。</a:t>
            </a:r>
            <a:endParaRPr lang="zh-CN" altLang="zh-CN" sz="24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46301" y="171219"/>
            <a:ext cx="4816300" cy="276999"/>
          </a:xfrm>
        </p:spPr>
        <p:txBody>
          <a:bodyPr/>
          <a:lstStyle/>
          <a:p>
            <a:r>
              <a:rPr lang="zh-CN" altLang="en-US" sz="2000" dirty="0" smtClean="0"/>
              <a:t>线性表经典算法题</a:t>
            </a:r>
            <a:endParaRPr lang="zh-CN" altLang="en-US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122" y="1073795"/>
            <a:ext cx="3876848" cy="3553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>
              <a:lnSpc>
                <a:spcPct val="100000"/>
              </a:lnSpc>
            </a:pPr>
            <a:r>
              <a:rPr lang="en-US" altLang="zh-CN" sz="1735" dirty="0">
                <a:solidFill>
                  <a:srgbClr val="00B050"/>
                </a:solidFill>
              </a:rPr>
              <a:t>//</a:t>
            </a:r>
            <a:r>
              <a:rPr lang="zh-CN" altLang="zh-CN" sz="1735" dirty="0">
                <a:solidFill>
                  <a:srgbClr val="00B050"/>
                </a:solidFill>
              </a:rPr>
              <a:t>单链表就地逆置</a:t>
            </a:r>
            <a:endParaRPr lang="zh-CN" altLang="zh-CN" sz="1735" dirty="0">
              <a:solidFill>
                <a:srgbClr val="00B050"/>
              </a:solidFill>
            </a:endParaRPr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void Reverse_Linklist(LinkList L)</a:t>
            </a:r>
            <a:endParaRPr lang="zh-CN" altLang="zh-CN" sz="1735" dirty="0"/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{</a:t>
            </a:r>
            <a:endParaRPr lang="zh-CN" altLang="zh-CN" sz="1735" dirty="0"/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    p = L-&gt;next;          </a:t>
            </a:r>
            <a:r>
              <a:rPr lang="en-US" altLang="zh-CN" sz="1735" dirty="0">
                <a:solidFill>
                  <a:srgbClr val="00B050"/>
                </a:solidFill>
              </a:rPr>
              <a:t>//p</a:t>
            </a:r>
            <a:r>
              <a:rPr lang="zh-CN" altLang="zh-CN" sz="1735" dirty="0">
                <a:solidFill>
                  <a:srgbClr val="00B050"/>
                </a:solidFill>
              </a:rPr>
              <a:t>指向表中第一个结点</a:t>
            </a:r>
            <a:endParaRPr lang="zh-CN" altLang="zh-CN" sz="1735" dirty="0">
              <a:solidFill>
                <a:srgbClr val="00B050"/>
              </a:solidFill>
            </a:endParaRPr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    L-&gt;next = NULL;      </a:t>
            </a:r>
            <a:r>
              <a:rPr lang="en-US" altLang="zh-CN" sz="1735" dirty="0">
                <a:solidFill>
                  <a:srgbClr val="00B050"/>
                </a:solidFill>
              </a:rPr>
              <a:t>//</a:t>
            </a:r>
            <a:r>
              <a:rPr lang="zh-CN" altLang="zh-CN" sz="1735" dirty="0">
                <a:solidFill>
                  <a:srgbClr val="00B050"/>
                </a:solidFill>
              </a:rPr>
              <a:t>重置一个空表</a:t>
            </a:r>
            <a:endParaRPr lang="zh-CN" altLang="zh-CN" sz="1735" dirty="0">
              <a:solidFill>
                <a:srgbClr val="00B050"/>
              </a:solidFill>
            </a:endParaRPr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    while(p)             </a:t>
            </a:r>
            <a:endParaRPr lang="zh-CN" altLang="zh-CN" sz="1735" dirty="0"/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    {</a:t>
            </a:r>
            <a:endParaRPr lang="zh-CN" altLang="zh-CN" sz="1735" dirty="0"/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        q = p-&gt;next;       </a:t>
            </a:r>
            <a:r>
              <a:rPr lang="en-US" altLang="zh-CN" sz="1735" dirty="0">
                <a:solidFill>
                  <a:srgbClr val="00B050"/>
                </a:solidFill>
              </a:rPr>
              <a:t>//q</a:t>
            </a:r>
            <a:r>
              <a:rPr lang="zh-CN" altLang="zh-CN" sz="1735" dirty="0">
                <a:solidFill>
                  <a:srgbClr val="00B050"/>
                </a:solidFill>
              </a:rPr>
              <a:t>指向</a:t>
            </a:r>
            <a:r>
              <a:rPr lang="en-US" altLang="zh-CN" sz="1735" dirty="0">
                <a:solidFill>
                  <a:srgbClr val="00B050"/>
                </a:solidFill>
              </a:rPr>
              <a:t>p</a:t>
            </a:r>
            <a:r>
              <a:rPr lang="zh-CN" altLang="zh-CN" sz="1735" dirty="0">
                <a:solidFill>
                  <a:srgbClr val="00B050"/>
                </a:solidFill>
              </a:rPr>
              <a:t>的后继结点</a:t>
            </a:r>
            <a:endParaRPr lang="zh-CN" altLang="zh-CN" sz="1735" dirty="0">
              <a:solidFill>
                <a:srgbClr val="00B050"/>
              </a:solidFill>
            </a:endParaRPr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        p-&gt;next = L-&gt;next;   </a:t>
            </a:r>
            <a:r>
              <a:rPr lang="en-US" altLang="zh-CN" sz="1735" dirty="0">
                <a:solidFill>
                  <a:srgbClr val="00B050"/>
                </a:solidFill>
              </a:rPr>
              <a:t>//p</a:t>
            </a:r>
            <a:r>
              <a:rPr lang="zh-CN" altLang="zh-CN" sz="1735" dirty="0">
                <a:solidFill>
                  <a:srgbClr val="00B050"/>
                </a:solidFill>
              </a:rPr>
              <a:t>结点插入在表头位置</a:t>
            </a:r>
            <a:endParaRPr lang="zh-CN" altLang="zh-CN" sz="1735" dirty="0">
              <a:solidFill>
                <a:srgbClr val="00B050"/>
              </a:solidFill>
            </a:endParaRPr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        L-&gt;next = p;</a:t>
            </a:r>
            <a:endParaRPr lang="zh-CN" altLang="zh-CN" sz="1735" dirty="0"/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        p = q;            </a:t>
            </a:r>
            <a:r>
              <a:rPr lang="en-US" altLang="zh-CN" sz="1735" dirty="0">
                <a:solidFill>
                  <a:srgbClr val="00B050"/>
                </a:solidFill>
              </a:rPr>
              <a:t>//p</a:t>
            </a:r>
            <a:r>
              <a:rPr lang="zh-CN" altLang="zh-CN" sz="1735" dirty="0">
                <a:solidFill>
                  <a:srgbClr val="00B050"/>
                </a:solidFill>
              </a:rPr>
              <a:t>指向下一个要操作的结点 </a:t>
            </a:r>
            <a:endParaRPr lang="zh-CN" altLang="zh-CN" sz="1735" dirty="0">
              <a:solidFill>
                <a:srgbClr val="00B050"/>
              </a:solidFill>
            </a:endParaRPr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    }</a:t>
            </a:r>
            <a:endParaRPr lang="zh-CN" altLang="zh-CN" sz="1735" dirty="0"/>
          </a:p>
          <a:p>
            <a:pPr lvl="2">
              <a:lnSpc>
                <a:spcPct val="100000"/>
              </a:lnSpc>
            </a:pPr>
            <a:r>
              <a:rPr lang="en-US" altLang="zh-CN" sz="1735" dirty="0" smtClean="0"/>
              <a:t>}</a:t>
            </a:r>
            <a:endParaRPr lang="zh-CN" altLang="zh-CN" sz="1735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46301" y="171219"/>
            <a:ext cx="4816300" cy="276999"/>
          </a:xfrm>
        </p:spPr>
        <p:txBody>
          <a:bodyPr/>
          <a:lstStyle/>
          <a:p>
            <a:r>
              <a:rPr lang="zh-CN" altLang="en-US" sz="2000" dirty="0" smtClean="0"/>
              <a:t>线性表经典算法题</a:t>
            </a:r>
            <a:endParaRPr lang="zh-CN" altLang="en-US" sz="20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722" y="654695"/>
            <a:ext cx="3876848" cy="3553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>
              <a:lnSpc>
                <a:spcPct val="100000"/>
              </a:lnSpc>
            </a:pPr>
            <a:r>
              <a:rPr lang="en-US" altLang="zh-CN" sz="2400" dirty="0" smtClean="0"/>
              <a:t>6</a:t>
            </a:r>
            <a:r>
              <a:rPr lang="en-US" altLang="zh-CN" sz="2400" dirty="0" smtClean="0"/>
              <a:t>.</a:t>
            </a:r>
            <a:r>
              <a:rPr lang="zh-CN" altLang="en-US" sz="2400" dirty="0" smtClean="0"/>
              <a:t>（</a:t>
            </a:r>
            <a:r>
              <a:rPr lang="en-US" altLang="zh-CN" sz="2400" dirty="0" smtClean="0"/>
              <a:t>PTA6-5</a:t>
            </a:r>
            <a:r>
              <a:rPr lang="zh-CN" altLang="en-US" sz="2400" dirty="0" smtClean="0"/>
              <a:t>题）</a:t>
            </a:r>
            <a:r>
              <a:rPr lang="zh-CN" altLang="zh-CN" sz="2400" dirty="0" smtClean="0"/>
              <a:t>实现</a:t>
            </a:r>
            <a:r>
              <a:rPr lang="zh-CN" altLang="zh-CN" sz="2400" dirty="0"/>
              <a:t>一个函数</a:t>
            </a:r>
            <a:r>
              <a:rPr lang="zh-CN" altLang="zh-CN" sz="2400" dirty="0" smtClean="0"/>
              <a:t>，在</a:t>
            </a:r>
            <a:r>
              <a:rPr lang="zh-CN" altLang="zh-CN" sz="2400" dirty="0"/>
              <a:t>递增的整数序列链表（带头结点</a:t>
            </a:r>
            <a:r>
              <a:rPr lang="zh-CN" altLang="zh-CN" sz="2400" dirty="0" smtClean="0"/>
              <a:t>）中</a:t>
            </a:r>
            <a:r>
              <a:rPr lang="zh-CN" altLang="zh-CN" sz="2400" dirty="0"/>
              <a:t>插入一个新整数</a:t>
            </a:r>
            <a:r>
              <a:rPr lang="en-US" altLang="zh-CN" sz="2400" dirty="0"/>
              <a:t>x</a:t>
            </a:r>
            <a:r>
              <a:rPr lang="zh-CN" altLang="zh-CN" sz="2400" dirty="0" smtClean="0"/>
              <a:t>，并</a:t>
            </a:r>
            <a:r>
              <a:rPr lang="zh-CN" altLang="zh-CN" sz="2400" dirty="0"/>
              <a:t>保持该序列的有序性。</a:t>
            </a:r>
            <a:endParaRPr lang="zh-CN" altLang="zh-CN" sz="2400" dirty="0"/>
          </a:p>
          <a:p>
            <a:pPr lvl="2">
              <a:lnSpc>
                <a:spcPct val="100000"/>
              </a:lnSpc>
            </a:pPr>
            <a:r>
              <a:rPr lang="zh-CN" altLang="zh-CN" sz="2400" dirty="0">
                <a:solidFill>
                  <a:srgbClr val="FF0000"/>
                </a:solidFill>
              </a:rPr>
              <a:t>算法思想</a:t>
            </a:r>
            <a:r>
              <a:rPr lang="zh-CN" altLang="zh-CN" sz="2400" dirty="0" smtClean="0">
                <a:solidFill>
                  <a:srgbClr val="FF0000"/>
                </a:solidFill>
              </a:rPr>
              <a:t>：</a:t>
            </a:r>
            <a:endParaRPr lang="en-US" altLang="zh-CN" sz="2400" dirty="0" smtClean="0">
              <a:solidFill>
                <a:srgbClr val="FF0000"/>
              </a:solidFill>
            </a:endParaRPr>
          </a:p>
          <a:p>
            <a:pPr lvl="2">
              <a:lnSpc>
                <a:spcPct val="100000"/>
              </a:lnSpc>
            </a:pPr>
            <a:r>
              <a:rPr lang="zh-CN" altLang="zh-CN" sz="2400" dirty="0" smtClean="0"/>
              <a:t>先生</a:t>
            </a:r>
            <a:r>
              <a:rPr lang="zh-CN" altLang="zh-CN" sz="2400" dirty="0"/>
              <a:t>成一个待插入的结点</a:t>
            </a:r>
            <a:r>
              <a:rPr lang="en-US" altLang="zh-CN" sz="2400" dirty="0"/>
              <a:t>s</a:t>
            </a:r>
            <a:r>
              <a:rPr lang="zh-CN" altLang="zh-CN" sz="2400" dirty="0" smtClean="0"/>
              <a:t>，</a:t>
            </a:r>
            <a:endParaRPr lang="en-US" altLang="zh-CN" sz="2400" dirty="0" smtClean="0"/>
          </a:p>
          <a:p>
            <a:pPr lvl="2">
              <a:lnSpc>
                <a:spcPct val="100000"/>
              </a:lnSpc>
            </a:pPr>
            <a:r>
              <a:rPr lang="zh-CN" altLang="zh-CN" sz="2400" dirty="0" smtClean="0"/>
              <a:t>然后</a:t>
            </a:r>
            <a:r>
              <a:rPr lang="zh-CN" altLang="zh-CN" sz="2400" dirty="0"/>
              <a:t>依次与链表中各结点的数据域比较大小</a:t>
            </a:r>
            <a:r>
              <a:rPr lang="zh-CN" altLang="zh-CN" sz="2400" dirty="0" smtClean="0"/>
              <a:t>，</a:t>
            </a:r>
            <a:endParaRPr lang="en-US" altLang="zh-CN" sz="2400" dirty="0" smtClean="0"/>
          </a:p>
          <a:p>
            <a:pPr lvl="2">
              <a:lnSpc>
                <a:spcPct val="100000"/>
              </a:lnSpc>
            </a:pPr>
            <a:r>
              <a:rPr lang="zh-CN" altLang="zh-CN" sz="2400" dirty="0" smtClean="0"/>
              <a:t>找到</a:t>
            </a:r>
            <a:r>
              <a:rPr lang="zh-CN" altLang="zh-CN" sz="2400" dirty="0"/>
              <a:t>该结点的插入位置，插入即可</a:t>
            </a:r>
            <a:r>
              <a:rPr lang="zh-CN" altLang="zh-CN" sz="2400" dirty="0" smtClean="0"/>
              <a:t>。</a:t>
            </a:r>
            <a:endParaRPr lang="zh-CN" altLang="zh-CN" sz="2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46301" y="171219"/>
            <a:ext cx="4816300" cy="276999"/>
          </a:xfrm>
        </p:spPr>
        <p:txBody>
          <a:bodyPr/>
          <a:lstStyle/>
          <a:p>
            <a:r>
              <a:rPr lang="zh-CN" altLang="en-US" sz="2000" dirty="0" smtClean="0"/>
              <a:t>线性表经典算法题</a:t>
            </a:r>
            <a:endParaRPr lang="zh-CN" altLang="en-US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7277" y="1717685"/>
            <a:ext cx="3876848" cy="3553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>
              <a:lnSpc>
                <a:spcPct val="150000"/>
              </a:lnSpc>
            </a:pPr>
            <a:r>
              <a:rPr lang="zh-CN" altLang="zh-CN" sz="2400" dirty="0" smtClean="0"/>
              <a:t>寻找</a:t>
            </a:r>
            <a:r>
              <a:rPr lang="zh-CN" altLang="zh-CN" sz="2400" dirty="0"/>
              <a:t>插入位置有两种方法：</a:t>
            </a:r>
            <a:endParaRPr lang="zh-CN" altLang="zh-CN" sz="2400" dirty="0"/>
          </a:p>
          <a:p>
            <a:pPr lvl="2">
              <a:lnSpc>
                <a:spcPct val="150000"/>
              </a:lnSpc>
            </a:pPr>
            <a:r>
              <a:rPr lang="en-US" altLang="zh-CN" sz="2400" dirty="0" smtClean="0"/>
              <a:t>(1)</a:t>
            </a:r>
            <a:r>
              <a:rPr lang="zh-CN" altLang="zh-CN" sz="2400" dirty="0" smtClean="0"/>
              <a:t>设</a:t>
            </a:r>
            <a:r>
              <a:rPr lang="zh-CN" altLang="zh-CN" sz="2400" dirty="0"/>
              <a:t>指针</a:t>
            </a:r>
            <a:r>
              <a:rPr lang="en-US" altLang="zh-CN" sz="2400" dirty="0"/>
              <a:t>p, </a:t>
            </a:r>
            <a:r>
              <a:rPr lang="zh-CN" altLang="zh-CN" sz="2400" dirty="0"/>
              <a:t>比较</a:t>
            </a:r>
            <a:r>
              <a:rPr lang="en-US" altLang="zh-CN" sz="2400" dirty="0"/>
              <a:t>s</a:t>
            </a:r>
            <a:r>
              <a:rPr lang="zh-CN" altLang="zh-CN" sz="2400" dirty="0"/>
              <a:t>和</a:t>
            </a:r>
            <a:r>
              <a:rPr lang="en-US" altLang="zh-CN" sz="2400" dirty="0"/>
              <a:t>p-&gt;next</a:t>
            </a:r>
            <a:r>
              <a:rPr lang="zh-CN" altLang="zh-CN" sz="2400" dirty="0"/>
              <a:t>的数据域大小</a:t>
            </a:r>
            <a:r>
              <a:rPr lang="zh-CN" altLang="zh-CN" sz="2400" dirty="0" smtClean="0"/>
              <a:t>，</a:t>
            </a:r>
            <a:endParaRPr lang="en-US" altLang="zh-CN" sz="2400" dirty="0" smtClean="0"/>
          </a:p>
          <a:p>
            <a:pPr lvl="2">
              <a:lnSpc>
                <a:spcPct val="150000"/>
              </a:lnSpc>
            </a:pPr>
            <a:r>
              <a:rPr lang="zh-CN" altLang="zh-CN" sz="2400" dirty="0" smtClean="0"/>
              <a:t>找到</a:t>
            </a:r>
            <a:r>
              <a:rPr lang="zh-CN" altLang="zh-CN" sz="2400" dirty="0"/>
              <a:t>插入位置后，插入在</a:t>
            </a:r>
            <a:r>
              <a:rPr lang="en-US" altLang="zh-CN" sz="2400" dirty="0"/>
              <a:t>p</a:t>
            </a:r>
            <a:r>
              <a:rPr lang="zh-CN" altLang="zh-CN" sz="2400" dirty="0"/>
              <a:t>的后面。</a:t>
            </a:r>
            <a:endParaRPr lang="zh-CN" altLang="zh-CN" sz="2400" dirty="0"/>
          </a:p>
          <a:p>
            <a:pPr lvl="2">
              <a:lnSpc>
                <a:spcPct val="150000"/>
              </a:lnSpc>
            </a:pPr>
            <a:r>
              <a:rPr lang="en-US" altLang="zh-CN" sz="2400" dirty="0" smtClean="0"/>
              <a:t>(2)</a:t>
            </a:r>
            <a:r>
              <a:rPr lang="zh-CN" altLang="zh-CN" sz="2400" dirty="0" smtClean="0"/>
              <a:t>设</a:t>
            </a:r>
            <a:r>
              <a:rPr lang="zh-CN" altLang="zh-CN" sz="2400" dirty="0"/>
              <a:t>指针</a:t>
            </a:r>
            <a:r>
              <a:rPr lang="en-US" altLang="zh-CN" sz="2400" dirty="0"/>
              <a:t>q</a:t>
            </a:r>
            <a:r>
              <a:rPr lang="zh-CN" altLang="zh-CN" sz="2400" dirty="0"/>
              <a:t>和</a:t>
            </a:r>
            <a:r>
              <a:rPr lang="en-US" altLang="zh-CN" sz="2400" dirty="0"/>
              <a:t>p</a:t>
            </a:r>
            <a:r>
              <a:rPr lang="zh-CN" altLang="zh-CN" sz="2400" dirty="0"/>
              <a:t>，</a:t>
            </a:r>
            <a:r>
              <a:rPr lang="en-US" altLang="zh-CN" sz="2400" dirty="0"/>
              <a:t>q</a:t>
            </a:r>
            <a:r>
              <a:rPr lang="zh-CN" altLang="zh-CN" sz="2400" dirty="0"/>
              <a:t>指向</a:t>
            </a:r>
            <a:r>
              <a:rPr lang="en-US" altLang="zh-CN" sz="2400" dirty="0"/>
              <a:t>p</a:t>
            </a:r>
            <a:r>
              <a:rPr lang="zh-CN" altLang="zh-CN" sz="2400" dirty="0"/>
              <a:t>的前驱</a:t>
            </a:r>
            <a:r>
              <a:rPr lang="zh-CN" altLang="zh-CN" sz="2400" dirty="0" smtClean="0"/>
              <a:t>，</a:t>
            </a:r>
            <a:endParaRPr lang="en-US" altLang="zh-CN" sz="2400" dirty="0" smtClean="0"/>
          </a:p>
          <a:p>
            <a:pPr lvl="2">
              <a:lnSpc>
                <a:spcPct val="150000"/>
              </a:lnSpc>
            </a:pPr>
            <a:r>
              <a:rPr lang="zh-CN" altLang="zh-CN" sz="2400" dirty="0" smtClean="0"/>
              <a:t>比较</a:t>
            </a:r>
            <a:r>
              <a:rPr lang="en-US" altLang="zh-CN" sz="2400" dirty="0"/>
              <a:t>s</a:t>
            </a:r>
            <a:r>
              <a:rPr lang="zh-CN" altLang="zh-CN" sz="2400" dirty="0"/>
              <a:t>和</a:t>
            </a:r>
            <a:r>
              <a:rPr lang="en-US" altLang="zh-CN" sz="2400" dirty="0"/>
              <a:t>p</a:t>
            </a:r>
            <a:r>
              <a:rPr lang="zh-CN" altLang="zh-CN" sz="2400" dirty="0"/>
              <a:t>的数据域大小</a:t>
            </a:r>
            <a:r>
              <a:rPr lang="zh-CN" altLang="zh-CN" sz="2400" dirty="0" smtClean="0"/>
              <a:t>，</a:t>
            </a:r>
            <a:endParaRPr lang="en-US" altLang="zh-CN" sz="2400" dirty="0" smtClean="0"/>
          </a:p>
          <a:p>
            <a:pPr lvl="2">
              <a:lnSpc>
                <a:spcPct val="150000"/>
              </a:lnSpc>
            </a:pPr>
            <a:r>
              <a:rPr lang="zh-CN" altLang="zh-CN" sz="2400" dirty="0" smtClean="0"/>
              <a:t>找到</a:t>
            </a:r>
            <a:r>
              <a:rPr lang="zh-CN" altLang="zh-CN" sz="2400" dirty="0"/>
              <a:t>插入位置后，将</a:t>
            </a:r>
            <a:r>
              <a:rPr lang="en-US" altLang="zh-CN" sz="2400" dirty="0"/>
              <a:t>s</a:t>
            </a:r>
            <a:r>
              <a:rPr lang="zh-CN" altLang="zh-CN" sz="2400" dirty="0"/>
              <a:t>插入在</a:t>
            </a:r>
            <a:r>
              <a:rPr lang="en-US" altLang="zh-CN" sz="2400" dirty="0"/>
              <a:t>q</a:t>
            </a:r>
            <a:r>
              <a:rPr lang="zh-CN" altLang="zh-CN" sz="2400" dirty="0"/>
              <a:t>和</a:t>
            </a:r>
            <a:r>
              <a:rPr lang="en-US" altLang="zh-CN" sz="2400" dirty="0"/>
              <a:t>p</a:t>
            </a:r>
            <a:r>
              <a:rPr lang="zh-CN" altLang="zh-CN" sz="2400" dirty="0"/>
              <a:t>之间。</a:t>
            </a:r>
            <a:endParaRPr lang="zh-CN" altLang="zh-CN" sz="2400" dirty="0"/>
          </a:p>
          <a:p>
            <a:pPr lvl="2">
              <a:lnSpc>
                <a:spcPct val="150000"/>
              </a:lnSpc>
            </a:pPr>
            <a:r>
              <a:rPr lang="zh-CN" altLang="zh-CN" sz="2400" dirty="0"/>
              <a:t>我们以第</a:t>
            </a:r>
            <a:r>
              <a:rPr lang="en-US" altLang="zh-CN" sz="2400" dirty="0"/>
              <a:t>2</a:t>
            </a:r>
            <a:r>
              <a:rPr lang="zh-CN" altLang="zh-CN" sz="2400" dirty="0"/>
              <a:t>种方法为例</a:t>
            </a:r>
            <a:r>
              <a:rPr lang="zh-CN" altLang="zh-CN" sz="2400" dirty="0" smtClean="0"/>
              <a:t>。</a:t>
            </a:r>
            <a:endParaRPr lang="zh-CN" altLang="zh-CN" sz="24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46301" y="171219"/>
            <a:ext cx="4816300" cy="276999"/>
          </a:xfrm>
        </p:spPr>
        <p:txBody>
          <a:bodyPr/>
          <a:lstStyle/>
          <a:p>
            <a:r>
              <a:rPr lang="zh-CN" altLang="en-US" sz="2000" dirty="0" smtClean="0"/>
              <a:t>线性表经典算法题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>
              <a:lnSpc>
                <a:spcPct val="100000"/>
              </a:lnSpc>
            </a:pPr>
            <a:r>
              <a:rPr lang="en-US" altLang="zh-CN" sz="2000" dirty="0">
                <a:solidFill>
                  <a:srgbClr val="00B050"/>
                </a:solidFill>
              </a:rPr>
              <a:t>//</a:t>
            </a:r>
            <a:r>
              <a:rPr lang="zh-CN" altLang="zh-CN" sz="2000" dirty="0">
                <a:solidFill>
                  <a:srgbClr val="00B050"/>
                </a:solidFill>
              </a:rPr>
              <a:t>在有序单链表中插入元素</a:t>
            </a:r>
            <a:r>
              <a:rPr lang="en-US" altLang="zh-CN" sz="2000" dirty="0">
                <a:solidFill>
                  <a:srgbClr val="00B050"/>
                </a:solidFill>
              </a:rPr>
              <a:t>x</a:t>
            </a:r>
            <a:r>
              <a:rPr lang="zh-CN" altLang="zh-CN" sz="2000" dirty="0">
                <a:solidFill>
                  <a:srgbClr val="00B050"/>
                </a:solidFill>
              </a:rPr>
              <a:t>，链表仍然有序</a:t>
            </a:r>
            <a:endParaRPr lang="zh-CN" altLang="zh-CN" sz="2000" dirty="0">
              <a:solidFill>
                <a:srgbClr val="00B050"/>
              </a:solidFill>
            </a:endParaRPr>
          </a:p>
          <a:p>
            <a:pPr lvl="2">
              <a:lnSpc>
                <a:spcPct val="100000"/>
              </a:lnSpc>
            </a:pPr>
            <a:r>
              <a:rPr lang="en-US" altLang="zh-CN" sz="2000" dirty="0"/>
              <a:t>Status Insert_Linklist(LinkList L, int x)</a:t>
            </a:r>
            <a:endParaRPr lang="zh-CN" altLang="zh-CN" sz="2000" dirty="0"/>
          </a:p>
          <a:p>
            <a:pPr lvl="2">
              <a:lnSpc>
                <a:spcPct val="100000"/>
              </a:lnSpc>
            </a:pPr>
            <a:r>
              <a:rPr lang="en-US" altLang="zh-CN" sz="2000" dirty="0"/>
              <a:t>{</a:t>
            </a:r>
            <a:endParaRPr lang="zh-CN" altLang="zh-CN" sz="2000" dirty="0"/>
          </a:p>
          <a:p>
            <a:pPr lvl="2">
              <a:lnSpc>
                <a:spcPct val="100000"/>
              </a:lnSpc>
            </a:pPr>
            <a:r>
              <a:rPr lang="en-US" altLang="zh-CN" sz="2000" dirty="0" smtClean="0"/>
              <a:t>    s </a:t>
            </a:r>
            <a:r>
              <a:rPr lang="en-US" altLang="zh-CN" sz="2000" dirty="0"/>
              <a:t>= (LinkList)malloc(sizeof(Lnode));</a:t>
            </a:r>
            <a:endParaRPr lang="zh-CN" altLang="zh-CN" sz="2000" dirty="0"/>
          </a:p>
          <a:p>
            <a:pPr lvl="2">
              <a:lnSpc>
                <a:spcPct val="100000"/>
              </a:lnSpc>
            </a:pPr>
            <a:r>
              <a:rPr lang="en-US" altLang="zh-CN" sz="2000" dirty="0"/>
              <a:t>    if(!s) return ERROR;</a:t>
            </a:r>
            <a:endParaRPr lang="zh-CN" altLang="zh-CN" sz="2000" dirty="0"/>
          </a:p>
          <a:p>
            <a:pPr lvl="2">
              <a:lnSpc>
                <a:spcPct val="100000"/>
              </a:lnSpc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s-</a:t>
            </a:r>
            <a:r>
              <a:rPr lang="en-US" altLang="zh-CN" sz="2000" dirty="0"/>
              <a:t>&gt;data = x;    </a:t>
            </a:r>
            <a:r>
              <a:rPr lang="en-US" altLang="zh-CN" sz="2000" dirty="0">
                <a:solidFill>
                  <a:srgbClr val="00B050"/>
                </a:solidFill>
              </a:rPr>
              <a:t>//</a:t>
            </a:r>
            <a:r>
              <a:rPr lang="zh-CN" altLang="zh-CN" sz="2000" dirty="0">
                <a:solidFill>
                  <a:srgbClr val="00B050"/>
                </a:solidFill>
              </a:rPr>
              <a:t>生成结点</a:t>
            </a:r>
            <a:r>
              <a:rPr lang="en-US" altLang="zh-CN" sz="2000" dirty="0">
                <a:solidFill>
                  <a:srgbClr val="00B050"/>
                </a:solidFill>
              </a:rPr>
              <a:t>s    </a:t>
            </a:r>
            <a:endParaRPr lang="zh-CN" altLang="zh-CN" sz="2000" dirty="0">
              <a:solidFill>
                <a:srgbClr val="00B050"/>
              </a:solidFill>
            </a:endParaRPr>
          </a:p>
          <a:p>
            <a:pPr lvl="2">
              <a:lnSpc>
                <a:spcPct val="100000"/>
              </a:lnSpc>
            </a:pPr>
            <a:r>
              <a:rPr lang="en-US" altLang="zh-CN" sz="2000" dirty="0" smtClean="0"/>
              <a:t>    q </a:t>
            </a:r>
            <a:r>
              <a:rPr lang="en-US" altLang="zh-CN" sz="2000" dirty="0"/>
              <a:t>= L;</a:t>
            </a:r>
            <a:endParaRPr lang="zh-CN" altLang="zh-CN" sz="2000" dirty="0"/>
          </a:p>
          <a:p>
            <a:pPr lvl="2">
              <a:lnSpc>
                <a:spcPct val="100000"/>
              </a:lnSpc>
            </a:pPr>
            <a:r>
              <a:rPr lang="en-US" altLang="zh-CN" sz="2000" dirty="0"/>
              <a:t>    p = L-&gt;next</a:t>
            </a:r>
            <a:r>
              <a:rPr lang="en-US" altLang="zh-CN" sz="2000" dirty="0">
                <a:solidFill>
                  <a:schemeClr val="tx1"/>
                </a:solidFill>
              </a:rPr>
              <a:t>; </a:t>
            </a:r>
            <a:r>
              <a:rPr lang="en-US" altLang="zh-CN" sz="2000" dirty="0">
                <a:solidFill>
                  <a:srgbClr val="00B050"/>
                </a:solidFill>
              </a:rPr>
              <a:t>   //q</a:t>
            </a:r>
            <a:r>
              <a:rPr lang="zh-CN" altLang="zh-CN" sz="2000" dirty="0">
                <a:solidFill>
                  <a:srgbClr val="00B050"/>
                </a:solidFill>
              </a:rPr>
              <a:t>为</a:t>
            </a:r>
            <a:r>
              <a:rPr lang="en-US" altLang="zh-CN" sz="2000" dirty="0">
                <a:solidFill>
                  <a:srgbClr val="00B050"/>
                </a:solidFill>
              </a:rPr>
              <a:t>p</a:t>
            </a:r>
            <a:r>
              <a:rPr lang="zh-CN" altLang="zh-CN" sz="2000" dirty="0">
                <a:solidFill>
                  <a:srgbClr val="00B050"/>
                </a:solidFill>
              </a:rPr>
              <a:t>的前驱</a:t>
            </a:r>
            <a:endParaRPr lang="zh-CN" altLang="zh-CN" sz="2000" dirty="0">
              <a:solidFill>
                <a:srgbClr val="00B050"/>
              </a:solidFill>
            </a:endParaRPr>
          </a:p>
          <a:p>
            <a:pPr lvl="2">
              <a:lnSpc>
                <a:spcPct val="100000"/>
              </a:lnSpc>
            </a:pPr>
            <a:r>
              <a:rPr lang="en-US" altLang="zh-CN" sz="2000" dirty="0"/>
              <a:t>   </a:t>
            </a:r>
            <a:endParaRPr lang="zh-CN" altLang="zh-CN" sz="2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46301" y="171219"/>
            <a:ext cx="4816300" cy="276999"/>
          </a:xfrm>
        </p:spPr>
        <p:txBody>
          <a:bodyPr/>
          <a:lstStyle/>
          <a:p>
            <a:r>
              <a:rPr lang="zh-CN" altLang="en-US" sz="2000" dirty="0" smtClean="0"/>
              <a:t>线性表经典算法题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>
              <a:lnSpc>
                <a:spcPct val="100000"/>
              </a:lnSpc>
            </a:pPr>
            <a:r>
              <a:rPr lang="en-US" altLang="zh-CN" sz="2000" dirty="0" smtClean="0"/>
              <a:t>while(p </a:t>
            </a:r>
            <a:r>
              <a:rPr lang="en-US" altLang="zh-CN" sz="2000" dirty="0"/>
              <a:t>&amp;&amp; p-&gt;data &lt;= x)   </a:t>
            </a:r>
            <a:r>
              <a:rPr lang="en-US" altLang="zh-CN" sz="2000" dirty="0">
                <a:solidFill>
                  <a:srgbClr val="00B050"/>
                </a:solidFill>
              </a:rPr>
              <a:t>//</a:t>
            </a:r>
            <a:r>
              <a:rPr lang="zh-CN" altLang="zh-CN" sz="2000" dirty="0">
                <a:solidFill>
                  <a:srgbClr val="00B050"/>
                </a:solidFill>
              </a:rPr>
              <a:t>查找插入位置，两个指针同步操作</a:t>
            </a:r>
            <a:endParaRPr lang="zh-CN" altLang="zh-CN" sz="2000" dirty="0">
              <a:solidFill>
                <a:srgbClr val="00B050"/>
              </a:solidFill>
            </a:endParaRPr>
          </a:p>
          <a:p>
            <a:pPr lvl="2">
              <a:lnSpc>
                <a:spcPct val="100000"/>
              </a:lnSpc>
            </a:pPr>
            <a:r>
              <a:rPr lang="en-US" altLang="zh-CN" sz="2000" dirty="0"/>
              <a:t>    {</a:t>
            </a:r>
            <a:endParaRPr lang="zh-CN" altLang="zh-CN" sz="2000" dirty="0"/>
          </a:p>
          <a:p>
            <a:pPr lvl="2">
              <a:lnSpc>
                <a:spcPct val="100000"/>
              </a:lnSpc>
            </a:pPr>
            <a:r>
              <a:rPr lang="en-US" altLang="zh-CN" sz="2000" dirty="0"/>
              <a:t>        q = p;</a:t>
            </a:r>
            <a:endParaRPr lang="zh-CN" altLang="zh-CN" sz="2000" dirty="0"/>
          </a:p>
          <a:p>
            <a:pPr lvl="2">
              <a:lnSpc>
                <a:spcPct val="100000"/>
              </a:lnSpc>
            </a:pPr>
            <a:r>
              <a:rPr lang="en-US" altLang="zh-CN" sz="2000" dirty="0"/>
              <a:t>        p = p-&gt;next;</a:t>
            </a:r>
            <a:endParaRPr lang="zh-CN" altLang="zh-CN" sz="2000" dirty="0"/>
          </a:p>
          <a:p>
            <a:pPr lvl="2">
              <a:lnSpc>
                <a:spcPct val="100000"/>
              </a:lnSpc>
            </a:pPr>
            <a:r>
              <a:rPr lang="en-US" altLang="zh-CN" sz="2000" dirty="0"/>
              <a:t>    }</a:t>
            </a:r>
            <a:endParaRPr lang="zh-CN" altLang="zh-CN" sz="2000" dirty="0"/>
          </a:p>
          <a:p>
            <a:pPr lvl="2">
              <a:lnSpc>
                <a:spcPct val="100000"/>
              </a:lnSpc>
            </a:pPr>
            <a:r>
              <a:rPr lang="en-US" altLang="zh-CN" sz="2000" dirty="0" smtClean="0"/>
              <a:t>    s-</a:t>
            </a:r>
            <a:r>
              <a:rPr lang="en-US" altLang="zh-CN" sz="2000" dirty="0"/>
              <a:t>&gt;next = p;</a:t>
            </a:r>
            <a:endParaRPr lang="zh-CN" altLang="zh-CN" sz="2000" dirty="0"/>
          </a:p>
          <a:p>
            <a:pPr lvl="2">
              <a:lnSpc>
                <a:spcPct val="100000"/>
              </a:lnSpc>
            </a:pPr>
            <a:r>
              <a:rPr lang="en-US" altLang="zh-CN" sz="2000" dirty="0" smtClean="0"/>
              <a:t>    q-</a:t>
            </a:r>
            <a:r>
              <a:rPr lang="en-US" altLang="zh-CN" sz="2000" dirty="0"/>
              <a:t>&gt;next = s;     </a:t>
            </a:r>
            <a:r>
              <a:rPr lang="en-US" altLang="zh-CN" sz="2000" dirty="0">
                <a:solidFill>
                  <a:srgbClr val="00B050"/>
                </a:solidFill>
              </a:rPr>
              <a:t>//s</a:t>
            </a:r>
            <a:r>
              <a:rPr lang="zh-CN" altLang="zh-CN" sz="2000" dirty="0">
                <a:solidFill>
                  <a:srgbClr val="00B050"/>
                </a:solidFill>
              </a:rPr>
              <a:t>插入在</a:t>
            </a:r>
            <a:r>
              <a:rPr lang="en-US" altLang="zh-CN" sz="2000" dirty="0">
                <a:solidFill>
                  <a:srgbClr val="00B050"/>
                </a:solidFill>
              </a:rPr>
              <a:t>q</a:t>
            </a:r>
            <a:r>
              <a:rPr lang="zh-CN" altLang="zh-CN" sz="2000" dirty="0">
                <a:solidFill>
                  <a:srgbClr val="00B050"/>
                </a:solidFill>
              </a:rPr>
              <a:t>和</a:t>
            </a:r>
            <a:r>
              <a:rPr lang="en-US" altLang="zh-CN" sz="2000" dirty="0">
                <a:solidFill>
                  <a:srgbClr val="00B050"/>
                </a:solidFill>
              </a:rPr>
              <a:t>p</a:t>
            </a:r>
            <a:r>
              <a:rPr lang="zh-CN" altLang="zh-CN" sz="2000" dirty="0">
                <a:solidFill>
                  <a:srgbClr val="00B050"/>
                </a:solidFill>
              </a:rPr>
              <a:t>之间</a:t>
            </a:r>
            <a:endParaRPr lang="zh-CN" altLang="zh-CN" sz="2000" dirty="0">
              <a:solidFill>
                <a:srgbClr val="00B050"/>
              </a:solidFill>
            </a:endParaRPr>
          </a:p>
          <a:p>
            <a:pPr lvl="2">
              <a:lnSpc>
                <a:spcPct val="100000"/>
              </a:lnSpc>
            </a:pPr>
            <a:r>
              <a:rPr lang="en-US" altLang="zh-CN" sz="2000" dirty="0" smtClean="0"/>
              <a:t>    return </a:t>
            </a:r>
            <a:r>
              <a:rPr lang="en-US" altLang="zh-CN" sz="2000" dirty="0"/>
              <a:t>OK;</a:t>
            </a:r>
            <a:endParaRPr lang="zh-CN" altLang="zh-CN" sz="2000" dirty="0"/>
          </a:p>
          <a:p>
            <a:pPr lvl="2">
              <a:lnSpc>
                <a:spcPct val="100000"/>
              </a:lnSpc>
            </a:pPr>
            <a:r>
              <a:rPr lang="en-US" altLang="zh-CN" sz="2000" dirty="0" smtClean="0"/>
              <a:t>}</a:t>
            </a:r>
            <a:endParaRPr lang="zh-CN" altLang="zh-CN" sz="2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46301" y="171219"/>
            <a:ext cx="4816300" cy="276999"/>
          </a:xfrm>
        </p:spPr>
        <p:txBody>
          <a:bodyPr/>
          <a:lstStyle/>
          <a:p>
            <a:r>
              <a:rPr lang="zh-CN" altLang="en-US" sz="2000" dirty="0" smtClean="0"/>
              <a:t>线性表经典算法题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/>
            <a:r>
              <a:rPr lang="en-US" altLang="zh-CN" sz="2000" dirty="0" smtClean="0"/>
              <a:t>7.</a:t>
            </a:r>
            <a:r>
              <a:rPr lang="zh-CN" altLang="zh-CN" sz="2000" dirty="0"/>
              <a:t>在一个带头结点，值非递减有序的单链表中，设计算法删除值相同的多余结点。</a:t>
            </a:r>
            <a:endParaRPr lang="zh-CN" altLang="zh-CN" sz="2000" dirty="0"/>
          </a:p>
          <a:p>
            <a:pPr lvl="2"/>
            <a:r>
              <a:rPr lang="zh-CN" altLang="zh-CN" sz="2000" dirty="0">
                <a:solidFill>
                  <a:srgbClr val="FF0000"/>
                </a:solidFill>
              </a:rPr>
              <a:t>算法思想</a:t>
            </a:r>
            <a:r>
              <a:rPr lang="zh-CN" altLang="zh-CN" sz="2000" dirty="0" smtClean="0">
                <a:solidFill>
                  <a:srgbClr val="FF0000"/>
                </a:solidFill>
              </a:rPr>
              <a:t>：</a:t>
            </a:r>
            <a:endParaRPr lang="en-US" altLang="zh-CN" sz="2000" dirty="0" smtClean="0">
              <a:solidFill>
                <a:srgbClr val="FF0000"/>
              </a:solidFill>
            </a:endParaRPr>
          </a:p>
          <a:p>
            <a:pPr lvl="2"/>
            <a:r>
              <a:rPr lang="zh-CN" altLang="zh-CN" sz="2000" dirty="0" smtClean="0"/>
              <a:t>有序</a:t>
            </a:r>
            <a:r>
              <a:rPr lang="zh-CN" altLang="zh-CN" sz="2000" dirty="0"/>
              <a:t>链表</a:t>
            </a:r>
            <a:r>
              <a:rPr lang="zh-CN" altLang="zh-CN" sz="2000" dirty="0" smtClean="0"/>
              <a:t>中值</a:t>
            </a:r>
            <a:r>
              <a:rPr lang="zh-CN" altLang="zh-CN" sz="2000" dirty="0"/>
              <a:t>相同的元素</a:t>
            </a:r>
            <a:r>
              <a:rPr lang="zh-CN" altLang="zh-CN" sz="2000" dirty="0" smtClean="0"/>
              <a:t>一定连续存储，</a:t>
            </a:r>
            <a:endParaRPr lang="en-US" altLang="zh-CN" sz="2000" dirty="0" smtClean="0"/>
          </a:p>
          <a:p>
            <a:pPr lvl="2"/>
            <a:r>
              <a:rPr lang="zh-CN" altLang="zh-CN" sz="2000" dirty="0" smtClean="0"/>
              <a:t>可从头到尾</a:t>
            </a:r>
            <a:r>
              <a:rPr lang="zh-CN" altLang="zh-CN" sz="2000" dirty="0"/>
              <a:t>扫描一遍单链表</a:t>
            </a:r>
            <a:r>
              <a:rPr lang="zh-CN" altLang="zh-CN" sz="2000" dirty="0" smtClean="0"/>
              <a:t>，</a:t>
            </a:r>
            <a:endParaRPr lang="en-US" altLang="zh-CN" sz="2000" dirty="0" smtClean="0"/>
          </a:p>
          <a:p>
            <a:pPr lvl="2"/>
            <a:r>
              <a:rPr lang="zh-CN" altLang="zh-CN" sz="2000" dirty="0" smtClean="0"/>
              <a:t>若</a:t>
            </a:r>
            <a:r>
              <a:rPr lang="zh-CN" altLang="zh-CN" sz="2000" dirty="0"/>
              <a:t>当前</a:t>
            </a:r>
            <a:r>
              <a:rPr lang="zh-CN" altLang="zh-CN" sz="2000" dirty="0" smtClean="0"/>
              <a:t>结点与</a:t>
            </a:r>
            <a:r>
              <a:rPr lang="zh-CN" altLang="zh-CN" sz="2000" dirty="0"/>
              <a:t>后继结点的元素值不相等，则指针后移</a:t>
            </a:r>
            <a:r>
              <a:rPr lang="zh-CN" altLang="zh-CN" sz="2000" dirty="0" smtClean="0"/>
              <a:t>；</a:t>
            </a:r>
            <a:endParaRPr lang="en-US" altLang="zh-CN" sz="2000" dirty="0" smtClean="0"/>
          </a:p>
          <a:p>
            <a:pPr lvl="2"/>
            <a:r>
              <a:rPr lang="zh-CN" altLang="zh-CN" sz="2000" dirty="0" smtClean="0"/>
              <a:t>否则</a:t>
            </a:r>
            <a:r>
              <a:rPr lang="zh-CN" altLang="zh-CN" sz="2000" dirty="0"/>
              <a:t>删除该后继结点</a:t>
            </a:r>
            <a:r>
              <a:rPr lang="zh-CN" altLang="zh-CN" sz="2000" dirty="0" smtClean="0"/>
              <a:t>。</a:t>
            </a:r>
            <a:endParaRPr lang="zh-CN" altLang="zh-CN" sz="2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46301" y="171219"/>
            <a:ext cx="4816300" cy="276999"/>
          </a:xfrm>
        </p:spPr>
        <p:txBody>
          <a:bodyPr/>
          <a:lstStyle/>
          <a:p>
            <a:r>
              <a:rPr lang="zh-CN" altLang="en-US" sz="2000" dirty="0" smtClean="0"/>
              <a:t>线性表经典算法题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>
              <a:lnSpc>
                <a:spcPct val="100000"/>
              </a:lnSpc>
            </a:pPr>
            <a:r>
              <a:rPr lang="en-US" altLang="zh-CN" sz="1800" dirty="0">
                <a:solidFill>
                  <a:srgbClr val="00B050"/>
                </a:solidFill>
              </a:rPr>
              <a:t>//</a:t>
            </a:r>
            <a:r>
              <a:rPr lang="zh-CN" altLang="zh-CN" sz="1800" dirty="0">
                <a:solidFill>
                  <a:srgbClr val="00B050"/>
                </a:solidFill>
              </a:rPr>
              <a:t>删除有序单链表中值相同的多余结点</a:t>
            </a:r>
            <a:endParaRPr lang="zh-CN" altLang="zh-CN" sz="1800" dirty="0">
              <a:solidFill>
                <a:srgbClr val="00B050"/>
              </a:solidFill>
            </a:endParaRPr>
          </a:p>
          <a:p>
            <a:pPr lvl="2">
              <a:lnSpc>
                <a:spcPct val="100000"/>
              </a:lnSpc>
            </a:pPr>
            <a:r>
              <a:rPr lang="en-US" altLang="zh-CN" sz="1800" dirty="0"/>
              <a:t>void Purge(LinkList L)</a:t>
            </a:r>
            <a:endParaRPr lang="zh-CN" altLang="zh-CN" sz="1800" dirty="0"/>
          </a:p>
          <a:p>
            <a:pPr lvl="2">
              <a:lnSpc>
                <a:spcPct val="100000"/>
              </a:lnSpc>
            </a:pPr>
            <a:r>
              <a:rPr lang="en-US" altLang="zh-CN" sz="1800" dirty="0"/>
              <a:t>{</a:t>
            </a:r>
            <a:endParaRPr lang="zh-CN" altLang="zh-CN" sz="1800" dirty="0"/>
          </a:p>
          <a:p>
            <a:pPr lvl="2">
              <a:lnSpc>
                <a:spcPct val="100000"/>
              </a:lnSpc>
            </a:pPr>
            <a:r>
              <a:rPr lang="en-US" altLang="zh-CN" sz="1800" dirty="0"/>
              <a:t>    p = L-&gt;next;</a:t>
            </a:r>
            <a:endParaRPr lang="zh-CN" altLang="zh-CN" sz="1800" dirty="0"/>
          </a:p>
          <a:p>
            <a:pPr lvl="2">
              <a:lnSpc>
                <a:spcPct val="100000"/>
              </a:lnSpc>
            </a:pPr>
            <a:r>
              <a:rPr lang="en-US" altLang="zh-CN" sz="1800" dirty="0"/>
              <a:t>    while(p-&gt;next != NULL)  </a:t>
            </a:r>
            <a:r>
              <a:rPr lang="en-US" altLang="zh-CN" sz="1800" dirty="0">
                <a:solidFill>
                  <a:srgbClr val="00B050"/>
                </a:solidFill>
              </a:rPr>
              <a:t>//</a:t>
            </a:r>
            <a:r>
              <a:rPr lang="zh-CN" altLang="zh-CN" sz="1800" dirty="0">
                <a:solidFill>
                  <a:srgbClr val="00B050"/>
                </a:solidFill>
              </a:rPr>
              <a:t>从前向后扫描链表</a:t>
            </a:r>
            <a:endParaRPr lang="zh-CN" altLang="zh-CN" sz="1800" dirty="0">
              <a:solidFill>
                <a:srgbClr val="00B050"/>
              </a:solidFill>
            </a:endParaRPr>
          </a:p>
          <a:p>
            <a:pPr lvl="2">
              <a:lnSpc>
                <a:spcPct val="100000"/>
              </a:lnSpc>
            </a:pPr>
            <a:r>
              <a:rPr lang="en-US" altLang="zh-CN" sz="1800" dirty="0"/>
              <a:t>    {</a:t>
            </a:r>
            <a:endParaRPr lang="zh-CN" altLang="zh-CN" sz="1800" dirty="0"/>
          </a:p>
          <a:p>
            <a:pPr lvl="2">
              <a:lnSpc>
                <a:spcPct val="100000"/>
              </a:lnSpc>
            </a:pPr>
            <a:r>
              <a:rPr lang="en-US" altLang="zh-CN" sz="1800" dirty="0"/>
              <a:t>        q = p-&gt;next;</a:t>
            </a:r>
            <a:endParaRPr lang="zh-CN" altLang="zh-CN" sz="1800" dirty="0"/>
          </a:p>
          <a:p>
            <a:pPr lvl="2">
              <a:lnSpc>
                <a:spcPct val="100000"/>
              </a:lnSpc>
            </a:pPr>
            <a:r>
              <a:rPr lang="en-US" altLang="zh-CN" sz="1800" dirty="0"/>
              <a:t>        if(p-&gt;data == q-&gt;data)   </a:t>
            </a:r>
            <a:r>
              <a:rPr lang="en-US" altLang="zh-CN" sz="1800" dirty="0">
                <a:solidFill>
                  <a:srgbClr val="00B050"/>
                </a:solidFill>
              </a:rPr>
              <a:t>//</a:t>
            </a:r>
            <a:r>
              <a:rPr lang="zh-CN" altLang="zh-CN" sz="1800" dirty="0">
                <a:solidFill>
                  <a:srgbClr val="00B050"/>
                </a:solidFill>
              </a:rPr>
              <a:t>相邻元素比较，值相同则删除后一个结点</a:t>
            </a:r>
            <a:endParaRPr lang="zh-CN" altLang="zh-CN" sz="1800" dirty="0">
              <a:solidFill>
                <a:srgbClr val="00B050"/>
              </a:solidFill>
            </a:endParaRPr>
          </a:p>
          <a:p>
            <a:pPr lvl="2">
              <a:lnSpc>
                <a:spcPct val="100000"/>
              </a:lnSpc>
            </a:pPr>
            <a:r>
              <a:rPr lang="en-US" altLang="zh-CN" sz="1800" dirty="0"/>
              <a:t>        {</a:t>
            </a:r>
            <a:endParaRPr lang="zh-CN" altLang="zh-CN" sz="1800" dirty="0"/>
          </a:p>
          <a:p>
            <a:pPr lvl="2">
              <a:lnSpc>
                <a:spcPct val="100000"/>
              </a:lnSpc>
            </a:pPr>
            <a:r>
              <a:rPr lang="en-US" altLang="zh-CN" sz="1800" dirty="0"/>
              <a:t>            p-&gt;next = q-&gt;next;</a:t>
            </a:r>
            <a:endParaRPr lang="zh-CN" altLang="zh-CN" sz="1800" dirty="0"/>
          </a:p>
          <a:p>
            <a:pPr lvl="2">
              <a:lnSpc>
                <a:spcPct val="100000"/>
              </a:lnSpc>
            </a:pPr>
            <a:r>
              <a:rPr lang="en-US" altLang="zh-CN" sz="1800" dirty="0"/>
              <a:t>            free(q);</a:t>
            </a:r>
            <a:endParaRPr lang="zh-CN" altLang="zh-CN" sz="1800" dirty="0"/>
          </a:p>
          <a:p>
            <a:pPr lvl="2">
              <a:lnSpc>
                <a:spcPct val="100000"/>
              </a:lnSpc>
            </a:pPr>
            <a:r>
              <a:rPr lang="en-US" altLang="zh-CN" sz="1800" dirty="0"/>
              <a:t>        }</a:t>
            </a:r>
            <a:endParaRPr lang="zh-CN" altLang="zh-CN" sz="1800" dirty="0"/>
          </a:p>
          <a:p>
            <a:pPr lvl="2">
              <a:lnSpc>
                <a:spcPct val="100000"/>
              </a:lnSpc>
            </a:pPr>
            <a:r>
              <a:rPr lang="en-US" altLang="zh-CN" sz="1800" dirty="0"/>
              <a:t>        else</a:t>
            </a:r>
            <a:endParaRPr lang="zh-CN" altLang="zh-CN" sz="1800" dirty="0"/>
          </a:p>
          <a:p>
            <a:pPr lvl="2">
              <a:lnSpc>
                <a:spcPct val="100000"/>
              </a:lnSpc>
            </a:pPr>
            <a:r>
              <a:rPr lang="en-US" altLang="zh-CN" sz="1800" dirty="0"/>
              <a:t>            p = p-&gt;next;</a:t>
            </a:r>
            <a:endParaRPr lang="zh-CN" altLang="zh-CN" sz="1800" dirty="0"/>
          </a:p>
          <a:p>
            <a:pPr lvl="2">
              <a:lnSpc>
                <a:spcPct val="100000"/>
              </a:lnSpc>
            </a:pPr>
            <a:r>
              <a:rPr lang="en-US" altLang="zh-CN" sz="1800" dirty="0"/>
              <a:t>    }</a:t>
            </a:r>
            <a:endParaRPr lang="zh-CN" altLang="zh-CN" sz="1800" dirty="0"/>
          </a:p>
          <a:p>
            <a:pPr lvl="2">
              <a:lnSpc>
                <a:spcPct val="100000"/>
              </a:lnSpc>
            </a:pPr>
            <a:r>
              <a:rPr lang="en-US" altLang="zh-CN" sz="1800" dirty="0" smtClean="0"/>
              <a:t>}</a:t>
            </a:r>
            <a:endParaRPr lang="zh-CN" altLang="zh-CN" sz="2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46301" y="171219"/>
            <a:ext cx="4816300" cy="276999"/>
          </a:xfrm>
        </p:spPr>
        <p:txBody>
          <a:bodyPr/>
          <a:lstStyle/>
          <a:p>
            <a:r>
              <a:rPr lang="zh-CN" altLang="en-US" sz="2000" dirty="0" smtClean="0"/>
              <a:t>线性表经典算法题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>
              <a:lnSpc>
                <a:spcPct val="100000"/>
              </a:lnSpc>
            </a:pPr>
            <a:r>
              <a:rPr lang="en-US" altLang="zh-CN" sz="2000" dirty="0" smtClean="0"/>
              <a:t>8</a:t>
            </a:r>
            <a:r>
              <a:rPr lang="en-US" altLang="zh-CN" sz="2000" dirty="0" smtClean="0"/>
              <a:t>.</a:t>
            </a:r>
            <a:r>
              <a:rPr lang="zh-CN" altLang="en-US" sz="2000" dirty="0" smtClean="0"/>
              <a:t>（</a:t>
            </a:r>
            <a:r>
              <a:rPr lang="en-US" altLang="zh-CN" sz="2000" dirty="0" smtClean="0"/>
              <a:t>PTA6-8</a:t>
            </a:r>
            <a:r>
              <a:rPr lang="zh-CN" altLang="en-US" sz="2000" dirty="0" smtClean="0"/>
              <a:t>题）</a:t>
            </a:r>
            <a:r>
              <a:rPr lang="zh-CN" altLang="zh-CN" sz="2000" dirty="0" smtClean="0"/>
              <a:t>请</a:t>
            </a:r>
            <a:r>
              <a:rPr lang="zh-CN" altLang="zh-CN" sz="2000" dirty="0"/>
              <a:t>设计时间和空间上都尽可能高效的算法</a:t>
            </a:r>
            <a:r>
              <a:rPr lang="zh-CN" altLang="zh-CN" sz="2000" dirty="0" smtClean="0"/>
              <a:t>，在</a:t>
            </a:r>
            <a:r>
              <a:rPr lang="zh-CN" altLang="zh-CN" sz="2000" dirty="0"/>
              <a:t>不改变链表的前提下</a:t>
            </a:r>
            <a:r>
              <a:rPr lang="zh-CN" altLang="zh-CN" sz="2000" dirty="0" smtClean="0"/>
              <a:t>，求</a:t>
            </a:r>
            <a:r>
              <a:rPr lang="zh-CN" altLang="zh-CN" sz="2000" dirty="0"/>
              <a:t>链式存储的线性表的倒数第</a:t>
            </a:r>
            <a:r>
              <a:rPr lang="en-US" altLang="zh-CN" sz="2000" dirty="0"/>
              <a:t>m</a:t>
            </a:r>
            <a:r>
              <a:rPr lang="zh-CN" altLang="zh-CN" sz="2000" dirty="0"/>
              <a:t>（</a:t>
            </a:r>
            <a:r>
              <a:rPr lang="en-US" altLang="zh-CN" sz="2000" dirty="0"/>
              <a:t>&gt;0</a:t>
            </a:r>
            <a:r>
              <a:rPr lang="zh-CN" altLang="zh-CN" sz="2000" dirty="0"/>
              <a:t>）个元素。</a:t>
            </a:r>
            <a:endParaRPr lang="zh-CN" altLang="zh-CN" sz="2000" dirty="0"/>
          </a:p>
          <a:p>
            <a:pPr lvl="2">
              <a:lnSpc>
                <a:spcPct val="100000"/>
              </a:lnSpc>
            </a:pPr>
            <a:r>
              <a:rPr lang="zh-CN" altLang="zh-CN" sz="2000" dirty="0">
                <a:solidFill>
                  <a:srgbClr val="FF0000"/>
                </a:solidFill>
              </a:rPr>
              <a:t>算法思想</a:t>
            </a:r>
            <a:r>
              <a:rPr lang="zh-CN" altLang="zh-CN" sz="2000" dirty="0" smtClean="0">
                <a:solidFill>
                  <a:srgbClr val="FF0000"/>
                </a:solidFill>
              </a:rPr>
              <a:t>：</a:t>
            </a:r>
            <a:endParaRPr lang="en-US" altLang="zh-CN" sz="2000" dirty="0" smtClean="0">
              <a:solidFill>
                <a:srgbClr val="FF0000"/>
              </a:solidFill>
            </a:endParaRPr>
          </a:p>
          <a:p>
            <a:pPr lvl="2">
              <a:lnSpc>
                <a:spcPct val="100000"/>
              </a:lnSpc>
            </a:pPr>
            <a:r>
              <a:rPr lang="zh-CN" altLang="zh-CN" sz="2000" dirty="0"/>
              <a:t>时间复杂度为</a:t>
            </a:r>
            <a:r>
              <a:rPr lang="en-US" altLang="zh-CN" sz="2000" dirty="0"/>
              <a:t>O(n)</a:t>
            </a:r>
            <a:r>
              <a:rPr lang="zh-CN" altLang="zh-CN" sz="2000" dirty="0" smtClean="0"/>
              <a:t>，空间</a:t>
            </a:r>
            <a:r>
              <a:rPr lang="zh-CN" altLang="zh-CN" sz="2000" dirty="0"/>
              <a:t>复杂度为</a:t>
            </a:r>
            <a:r>
              <a:rPr lang="en-US" altLang="zh-CN" sz="2000" dirty="0"/>
              <a:t>O(1)</a:t>
            </a:r>
            <a:r>
              <a:rPr lang="zh-CN" altLang="zh-CN" sz="2000" dirty="0" smtClean="0"/>
              <a:t>，</a:t>
            </a:r>
            <a:endParaRPr lang="en-US" altLang="zh-CN" sz="2000" dirty="0" smtClean="0"/>
          </a:p>
          <a:p>
            <a:pPr lvl="2">
              <a:lnSpc>
                <a:spcPct val="100000"/>
              </a:lnSpc>
            </a:pPr>
            <a:r>
              <a:rPr lang="zh-CN" altLang="zh-CN" sz="2000" dirty="0" smtClean="0"/>
              <a:t>也就是</a:t>
            </a:r>
            <a:r>
              <a:rPr lang="zh-CN" altLang="zh-CN" sz="2000" dirty="0"/>
              <a:t>扫描一遍链表即查找成功。</a:t>
            </a:r>
            <a:endParaRPr lang="zh-CN" altLang="zh-CN" sz="2000" dirty="0"/>
          </a:p>
          <a:p>
            <a:pPr lvl="2">
              <a:lnSpc>
                <a:spcPct val="100000"/>
              </a:lnSpc>
            </a:pPr>
            <a:r>
              <a:rPr lang="zh-CN" altLang="zh-CN" sz="2000" dirty="0"/>
              <a:t>可以设两个指针</a:t>
            </a:r>
            <a:r>
              <a:rPr lang="en-US" altLang="zh-CN" sz="2000" dirty="0"/>
              <a:t>p</a:t>
            </a:r>
            <a:r>
              <a:rPr lang="zh-CN" altLang="zh-CN" sz="2000" dirty="0"/>
              <a:t>和</a:t>
            </a:r>
            <a:r>
              <a:rPr lang="en-US" altLang="zh-CN" sz="2000" dirty="0"/>
              <a:t>q</a:t>
            </a:r>
            <a:r>
              <a:rPr lang="zh-CN" altLang="zh-CN" sz="2000" dirty="0" smtClean="0"/>
              <a:t>，</a:t>
            </a:r>
            <a:endParaRPr lang="en-US" altLang="zh-CN" sz="2000" dirty="0" smtClean="0"/>
          </a:p>
          <a:p>
            <a:pPr lvl="2">
              <a:lnSpc>
                <a:spcPct val="100000"/>
              </a:lnSpc>
            </a:pPr>
            <a:r>
              <a:rPr lang="zh-CN" altLang="zh-CN" sz="2000" dirty="0" smtClean="0"/>
              <a:t>先</a:t>
            </a:r>
            <a:r>
              <a:rPr lang="zh-CN" altLang="zh-CN" sz="2000" dirty="0"/>
              <a:t>让</a:t>
            </a:r>
            <a:r>
              <a:rPr lang="en-US" altLang="zh-CN" sz="2000" dirty="0"/>
              <a:t>q</a:t>
            </a:r>
            <a:r>
              <a:rPr lang="zh-CN" altLang="zh-CN" sz="2000" dirty="0"/>
              <a:t>从前向后移动</a:t>
            </a:r>
            <a:r>
              <a:rPr lang="en-US" altLang="zh-CN" sz="2000" dirty="0"/>
              <a:t>m</a:t>
            </a:r>
            <a:r>
              <a:rPr lang="zh-CN" altLang="zh-CN" sz="2000" dirty="0"/>
              <a:t>个位置</a:t>
            </a:r>
            <a:r>
              <a:rPr lang="zh-CN" altLang="zh-CN" sz="2000" dirty="0" smtClean="0"/>
              <a:t>，</a:t>
            </a:r>
            <a:endParaRPr lang="en-US" altLang="zh-CN" sz="2000" dirty="0" smtClean="0"/>
          </a:p>
          <a:p>
            <a:pPr lvl="2">
              <a:lnSpc>
                <a:spcPct val="100000"/>
              </a:lnSpc>
            </a:pPr>
            <a:r>
              <a:rPr lang="zh-CN" altLang="zh-CN" sz="2000" dirty="0" smtClean="0"/>
              <a:t>再</a:t>
            </a:r>
            <a:r>
              <a:rPr lang="zh-CN" altLang="zh-CN" sz="2000" dirty="0"/>
              <a:t>让</a:t>
            </a:r>
            <a:r>
              <a:rPr lang="en-US" altLang="zh-CN" sz="2000" dirty="0"/>
              <a:t>p</a:t>
            </a:r>
            <a:r>
              <a:rPr lang="zh-CN" altLang="zh-CN" sz="2000" dirty="0"/>
              <a:t>和</a:t>
            </a:r>
            <a:r>
              <a:rPr lang="en-US" altLang="zh-CN" sz="2000" dirty="0"/>
              <a:t>q</a:t>
            </a:r>
            <a:r>
              <a:rPr lang="zh-CN" altLang="zh-CN" sz="2000" dirty="0"/>
              <a:t>同时后移</a:t>
            </a:r>
            <a:r>
              <a:rPr lang="zh-CN" altLang="zh-CN" sz="2000" dirty="0" smtClean="0"/>
              <a:t>。</a:t>
            </a:r>
            <a:endParaRPr lang="en-US" altLang="zh-CN" sz="2000" dirty="0" smtClean="0"/>
          </a:p>
          <a:p>
            <a:pPr lvl="2">
              <a:lnSpc>
                <a:spcPct val="100000"/>
              </a:lnSpc>
            </a:pPr>
            <a:r>
              <a:rPr lang="zh-CN" altLang="zh-CN" sz="2000" dirty="0" smtClean="0"/>
              <a:t>这样</a:t>
            </a:r>
            <a:r>
              <a:rPr lang="en-US" altLang="zh-CN" sz="2000" dirty="0"/>
              <a:t>p</a:t>
            </a:r>
            <a:r>
              <a:rPr lang="zh-CN" altLang="zh-CN" sz="2000" dirty="0"/>
              <a:t>和</a:t>
            </a:r>
            <a:r>
              <a:rPr lang="en-US" altLang="zh-CN" sz="2000" dirty="0"/>
              <a:t>q</a:t>
            </a:r>
            <a:r>
              <a:rPr lang="zh-CN" altLang="zh-CN" sz="2000" dirty="0"/>
              <a:t>之间间隔</a:t>
            </a:r>
            <a:r>
              <a:rPr lang="en-US" altLang="zh-CN" sz="2000" dirty="0"/>
              <a:t>m</a:t>
            </a:r>
            <a:r>
              <a:rPr lang="zh-CN" altLang="zh-CN" sz="2000" dirty="0"/>
              <a:t>个结点</a:t>
            </a:r>
            <a:r>
              <a:rPr lang="zh-CN" altLang="zh-CN" sz="2000" dirty="0" smtClean="0"/>
              <a:t>，</a:t>
            </a:r>
            <a:endParaRPr lang="en-US" altLang="zh-CN" sz="2000" dirty="0" smtClean="0"/>
          </a:p>
          <a:p>
            <a:pPr lvl="2">
              <a:lnSpc>
                <a:spcPct val="100000"/>
              </a:lnSpc>
            </a:pPr>
            <a:r>
              <a:rPr lang="zh-CN" altLang="zh-CN" sz="2000" dirty="0" smtClean="0"/>
              <a:t>当</a:t>
            </a:r>
            <a:r>
              <a:rPr lang="en-US" altLang="zh-CN" sz="2000" dirty="0"/>
              <a:t>q</a:t>
            </a:r>
            <a:r>
              <a:rPr lang="zh-CN" altLang="zh-CN" sz="2000" dirty="0"/>
              <a:t>指向表尾结点时，</a:t>
            </a:r>
            <a:r>
              <a:rPr lang="en-US" altLang="zh-CN" sz="2000" dirty="0"/>
              <a:t>p</a:t>
            </a:r>
            <a:r>
              <a:rPr lang="zh-CN" altLang="zh-CN" sz="2000" dirty="0"/>
              <a:t>就指向倒数第</a:t>
            </a:r>
            <a:r>
              <a:rPr lang="en-US" altLang="zh-CN" sz="2000" dirty="0"/>
              <a:t>m</a:t>
            </a:r>
            <a:r>
              <a:rPr lang="zh-CN" altLang="zh-CN" sz="2000" dirty="0"/>
              <a:t>个结点</a:t>
            </a:r>
            <a:r>
              <a:rPr lang="zh-CN" altLang="zh-CN" sz="2000" dirty="0" smtClean="0"/>
              <a:t>。</a:t>
            </a:r>
            <a:endParaRPr lang="en-US" altLang="zh-CN" sz="2000" dirty="0" smtClean="0"/>
          </a:p>
          <a:p>
            <a:pPr lvl="2">
              <a:lnSpc>
                <a:spcPct val="100000"/>
              </a:lnSpc>
            </a:pPr>
            <a:r>
              <a:rPr lang="zh-CN" altLang="zh-CN" sz="2000" dirty="0" smtClean="0"/>
              <a:t>这种</a:t>
            </a:r>
            <a:r>
              <a:rPr lang="zh-CN" altLang="zh-CN" sz="2000" dirty="0"/>
              <a:t>方法只需扫描一遍链表，时间复杂度为</a:t>
            </a:r>
            <a:r>
              <a:rPr lang="en-US" altLang="zh-CN" sz="2000" dirty="0"/>
              <a:t>O(n)</a:t>
            </a:r>
            <a:r>
              <a:rPr lang="zh-CN" altLang="zh-CN" sz="2000" dirty="0" smtClean="0"/>
              <a:t>。</a:t>
            </a:r>
            <a:endParaRPr lang="zh-CN" altLang="zh-CN" sz="2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46301" y="171219"/>
            <a:ext cx="4816300" cy="276999"/>
          </a:xfrm>
        </p:spPr>
        <p:txBody>
          <a:bodyPr/>
          <a:lstStyle/>
          <a:p>
            <a:r>
              <a:rPr lang="zh-CN" altLang="en-US" sz="2000" dirty="0" smtClean="0"/>
              <a:t>线性表经典算法题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>
              <a:lnSpc>
                <a:spcPct val="100000"/>
              </a:lnSpc>
            </a:pPr>
            <a:r>
              <a:rPr lang="en-US" altLang="zh-CN" sz="2000" dirty="0">
                <a:solidFill>
                  <a:srgbClr val="00B050"/>
                </a:solidFill>
              </a:rPr>
              <a:t>//</a:t>
            </a:r>
            <a:r>
              <a:rPr lang="zh-CN" altLang="zh-CN" sz="2000" dirty="0">
                <a:solidFill>
                  <a:srgbClr val="00B050"/>
                </a:solidFill>
              </a:rPr>
              <a:t>查找倒数第</a:t>
            </a:r>
            <a:r>
              <a:rPr lang="en-US" altLang="zh-CN" sz="2000" dirty="0">
                <a:solidFill>
                  <a:srgbClr val="00B050"/>
                </a:solidFill>
              </a:rPr>
              <a:t>m</a:t>
            </a:r>
            <a:r>
              <a:rPr lang="zh-CN" altLang="zh-CN" sz="2000" dirty="0">
                <a:solidFill>
                  <a:srgbClr val="00B050"/>
                </a:solidFill>
              </a:rPr>
              <a:t>个结点</a:t>
            </a:r>
            <a:endParaRPr lang="zh-CN" altLang="zh-CN" sz="2000" dirty="0">
              <a:solidFill>
                <a:srgbClr val="00B050"/>
              </a:solidFill>
            </a:endParaRPr>
          </a:p>
          <a:p>
            <a:pPr lvl="2">
              <a:lnSpc>
                <a:spcPct val="100000"/>
              </a:lnSpc>
            </a:pPr>
            <a:r>
              <a:rPr lang="en-US" altLang="zh-CN" sz="2000" dirty="0"/>
              <a:t>int BackLocate(LinkList L, int m</a:t>
            </a:r>
            <a:r>
              <a:rPr lang="en-US" altLang="zh-CN" sz="2000" dirty="0" smtClean="0"/>
              <a:t>){       </a:t>
            </a:r>
            <a:endParaRPr lang="zh-CN" altLang="zh-CN" sz="2000" dirty="0"/>
          </a:p>
          <a:p>
            <a:pPr lvl="2">
              <a:lnSpc>
                <a:spcPct val="100000"/>
              </a:lnSpc>
            </a:pPr>
            <a:r>
              <a:rPr lang="en-US" altLang="zh-CN" sz="2000" dirty="0"/>
              <a:t>    p = q = L-&gt;next;</a:t>
            </a:r>
            <a:endParaRPr lang="zh-CN" altLang="zh-CN" sz="2000" dirty="0"/>
          </a:p>
          <a:p>
            <a:pPr lvl="2">
              <a:lnSpc>
                <a:spcPct val="100000"/>
              </a:lnSpc>
            </a:pPr>
            <a:r>
              <a:rPr lang="en-US" altLang="zh-CN" sz="2000" dirty="0"/>
              <a:t>    count = 0;</a:t>
            </a:r>
            <a:endParaRPr lang="zh-CN" altLang="zh-CN" sz="2000" dirty="0"/>
          </a:p>
          <a:p>
            <a:pPr lvl="2">
              <a:lnSpc>
                <a:spcPct val="100000"/>
              </a:lnSpc>
            </a:pPr>
            <a:r>
              <a:rPr lang="en-US" altLang="zh-CN" sz="2000" dirty="0"/>
              <a:t>    while(q != NULL</a:t>
            </a:r>
            <a:r>
              <a:rPr lang="en-US" altLang="zh-CN" sz="2000" dirty="0" smtClean="0"/>
              <a:t>)    </a:t>
            </a:r>
            <a:r>
              <a:rPr lang="en-US" altLang="zh-CN" sz="2000" dirty="0"/>
              <a:t>{</a:t>
            </a:r>
            <a:endParaRPr lang="zh-CN" altLang="zh-CN" sz="2000" dirty="0"/>
          </a:p>
          <a:p>
            <a:pPr lvl="2">
              <a:lnSpc>
                <a:spcPct val="100000"/>
              </a:lnSpc>
            </a:pPr>
            <a:r>
              <a:rPr lang="en-US" altLang="zh-CN" sz="2000" dirty="0"/>
              <a:t>        count++;</a:t>
            </a:r>
            <a:endParaRPr lang="zh-CN" altLang="zh-CN" sz="2000" dirty="0"/>
          </a:p>
          <a:p>
            <a:pPr lvl="2">
              <a:lnSpc>
                <a:spcPct val="100000"/>
              </a:lnSpc>
            </a:pPr>
            <a:r>
              <a:rPr lang="en-US" altLang="zh-CN" sz="2000" dirty="0"/>
              <a:t>        if(count &gt; m)</a:t>
            </a:r>
            <a:endParaRPr lang="zh-CN" altLang="zh-CN" sz="2000" dirty="0"/>
          </a:p>
          <a:p>
            <a:pPr lvl="2">
              <a:lnSpc>
                <a:spcPct val="100000"/>
              </a:lnSpc>
            </a:pPr>
            <a:r>
              <a:rPr lang="en-US" altLang="zh-CN" sz="2000" dirty="0"/>
              <a:t>            p = p-&gt;next;</a:t>
            </a:r>
            <a:endParaRPr lang="zh-CN" altLang="zh-CN" sz="2000" dirty="0"/>
          </a:p>
          <a:p>
            <a:pPr lvl="2">
              <a:lnSpc>
                <a:spcPct val="100000"/>
              </a:lnSpc>
            </a:pPr>
            <a:r>
              <a:rPr lang="en-US" altLang="zh-CN" sz="2000" dirty="0"/>
              <a:t>        q = q-&gt;next;</a:t>
            </a:r>
            <a:endParaRPr lang="zh-CN" altLang="zh-CN" sz="2000" dirty="0"/>
          </a:p>
          <a:p>
            <a:pPr lvl="2">
              <a:lnSpc>
                <a:spcPct val="100000"/>
              </a:lnSpc>
            </a:pPr>
            <a:r>
              <a:rPr lang="en-US" altLang="zh-CN" sz="2000" dirty="0"/>
              <a:t>    }</a:t>
            </a:r>
            <a:endParaRPr lang="zh-CN" altLang="zh-CN" sz="2000" dirty="0"/>
          </a:p>
          <a:p>
            <a:pPr lvl="2">
              <a:lnSpc>
                <a:spcPct val="100000"/>
              </a:lnSpc>
            </a:pPr>
            <a:r>
              <a:rPr lang="en-US" altLang="zh-CN" sz="2000" dirty="0"/>
              <a:t>    if(m &gt; count)	</a:t>
            </a:r>
            <a:r>
              <a:rPr lang="en-US" altLang="zh-CN" sz="2000" dirty="0" smtClean="0"/>
              <a:t>  </a:t>
            </a:r>
            <a:r>
              <a:rPr lang="en-US" altLang="zh-CN" sz="2000" dirty="0" smtClean="0">
                <a:solidFill>
                  <a:srgbClr val="00B050"/>
                </a:solidFill>
              </a:rPr>
              <a:t>//</a:t>
            </a:r>
            <a:r>
              <a:rPr lang="zh-CN" altLang="zh-CN" sz="2000" dirty="0">
                <a:solidFill>
                  <a:srgbClr val="00B050"/>
                </a:solidFill>
              </a:rPr>
              <a:t>当</a:t>
            </a:r>
            <a:r>
              <a:rPr lang="en-US" altLang="zh-CN" sz="2000" dirty="0">
                <a:solidFill>
                  <a:srgbClr val="00B050"/>
                </a:solidFill>
              </a:rPr>
              <a:t>m</a:t>
            </a:r>
            <a:r>
              <a:rPr lang="zh-CN" altLang="zh-CN" sz="2000" dirty="0">
                <a:solidFill>
                  <a:srgbClr val="00B050"/>
                </a:solidFill>
              </a:rPr>
              <a:t>大于链表长度时，返回</a:t>
            </a:r>
            <a:r>
              <a:rPr lang="en-US" altLang="zh-CN" sz="2000" dirty="0">
                <a:solidFill>
                  <a:srgbClr val="00B050"/>
                </a:solidFill>
              </a:rPr>
              <a:t>ERROR</a:t>
            </a:r>
            <a:endParaRPr lang="zh-CN" altLang="zh-CN" sz="2000" dirty="0">
              <a:solidFill>
                <a:srgbClr val="00B050"/>
              </a:solidFill>
            </a:endParaRPr>
          </a:p>
          <a:p>
            <a:pPr lvl="2">
              <a:lnSpc>
                <a:spcPct val="100000"/>
              </a:lnSpc>
            </a:pPr>
            <a:r>
              <a:rPr lang="en-US" altLang="zh-CN" sz="2000" dirty="0"/>
              <a:t>        return ERROR;</a:t>
            </a:r>
            <a:endParaRPr lang="zh-CN" altLang="zh-CN" sz="2000" dirty="0"/>
          </a:p>
          <a:p>
            <a:pPr lvl="2">
              <a:lnSpc>
                <a:spcPct val="100000"/>
              </a:lnSpc>
            </a:pPr>
            <a:r>
              <a:rPr lang="en-US" altLang="zh-CN" sz="2000" dirty="0"/>
              <a:t>    return p-&gt;data;</a:t>
            </a:r>
            <a:endParaRPr lang="zh-CN" altLang="zh-CN" sz="2000" dirty="0"/>
          </a:p>
          <a:p>
            <a:pPr lvl="2">
              <a:lnSpc>
                <a:spcPct val="100000"/>
              </a:lnSpc>
            </a:pPr>
            <a:r>
              <a:rPr lang="en-US" altLang="zh-CN" sz="2000" dirty="0" smtClean="0"/>
              <a:t>}</a:t>
            </a:r>
            <a:endParaRPr lang="zh-CN" altLang="zh-CN" sz="2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46301" y="171219"/>
            <a:ext cx="4816300" cy="276999"/>
          </a:xfrm>
        </p:spPr>
        <p:txBody>
          <a:bodyPr/>
          <a:lstStyle/>
          <a:p>
            <a:r>
              <a:rPr lang="zh-CN" altLang="en-US" sz="2000" dirty="0" smtClean="0"/>
              <a:t>线性表经典算法题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>
              <a:lnSpc>
                <a:spcPct val="100000"/>
              </a:lnSpc>
            </a:pPr>
            <a:r>
              <a:rPr lang="en-US" altLang="zh-CN" sz="2400" dirty="0" smtClean="0"/>
              <a:t>9.</a:t>
            </a:r>
            <a:r>
              <a:rPr lang="zh-CN" altLang="zh-CN" sz="2400" dirty="0" smtClean="0"/>
              <a:t>已知</a:t>
            </a:r>
            <a:r>
              <a:rPr lang="zh-CN" altLang="zh-CN" sz="2400" dirty="0"/>
              <a:t>一个带头结点的单链表</a:t>
            </a:r>
            <a:r>
              <a:rPr lang="zh-CN" altLang="zh-CN" sz="2400" dirty="0" smtClean="0"/>
              <a:t>，数据</a:t>
            </a:r>
            <a:r>
              <a:rPr lang="zh-CN" altLang="zh-CN" sz="2400" dirty="0"/>
              <a:t>域值为整型，且递增有序</a:t>
            </a:r>
            <a:r>
              <a:rPr lang="zh-CN" altLang="zh-CN" sz="2400" dirty="0" smtClean="0"/>
              <a:t>，设计</a:t>
            </a:r>
            <a:r>
              <a:rPr lang="zh-CN" altLang="zh-CN" sz="2400" dirty="0"/>
              <a:t>算法删除链表中大于</a:t>
            </a:r>
            <a:r>
              <a:rPr lang="en-US" altLang="zh-CN" sz="2400" dirty="0" smtClean="0"/>
              <a:t>mink</a:t>
            </a:r>
            <a:r>
              <a:rPr lang="zh-CN" altLang="zh-CN" sz="2400" dirty="0" smtClean="0"/>
              <a:t>且</a:t>
            </a:r>
            <a:r>
              <a:rPr lang="zh-CN" altLang="zh-CN" sz="2400" dirty="0"/>
              <a:t>小于</a:t>
            </a:r>
            <a:r>
              <a:rPr lang="en-US" altLang="zh-CN" sz="2400" dirty="0"/>
              <a:t>maxk</a:t>
            </a:r>
            <a:r>
              <a:rPr lang="zh-CN" altLang="zh-CN" sz="2400" dirty="0"/>
              <a:t>的所有元素</a:t>
            </a:r>
            <a:r>
              <a:rPr lang="zh-CN" altLang="zh-CN" sz="2400" dirty="0" smtClean="0"/>
              <a:t>，并</a:t>
            </a:r>
            <a:r>
              <a:rPr lang="zh-CN" altLang="zh-CN" sz="2400" dirty="0"/>
              <a:t>释放被删结点的存储空间。</a:t>
            </a:r>
            <a:endParaRPr lang="zh-CN" altLang="zh-CN" sz="2400" dirty="0"/>
          </a:p>
          <a:p>
            <a:pPr lvl="2">
              <a:lnSpc>
                <a:spcPct val="100000"/>
              </a:lnSpc>
            </a:pPr>
            <a:r>
              <a:rPr lang="zh-CN" altLang="zh-CN" sz="2400" dirty="0">
                <a:solidFill>
                  <a:srgbClr val="FF0000"/>
                </a:solidFill>
              </a:rPr>
              <a:t>算法思想</a:t>
            </a:r>
            <a:r>
              <a:rPr lang="zh-CN" altLang="zh-CN" sz="2400" dirty="0" smtClean="0">
                <a:solidFill>
                  <a:srgbClr val="FF0000"/>
                </a:solidFill>
              </a:rPr>
              <a:t>：</a:t>
            </a:r>
            <a:endParaRPr lang="en-US" altLang="zh-CN" sz="2400" dirty="0" smtClean="0">
              <a:solidFill>
                <a:srgbClr val="FF0000"/>
              </a:solidFill>
            </a:endParaRPr>
          </a:p>
          <a:p>
            <a:pPr lvl="2">
              <a:lnSpc>
                <a:spcPct val="100000"/>
              </a:lnSpc>
            </a:pPr>
            <a:r>
              <a:rPr lang="zh-CN" altLang="zh-CN" sz="2400" dirty="0" smtClean="0"/>
              <a:t>由于</a:t>
            </a:r>
            <a:r>
              <a:rPr lang="zh-CN" altLang="zh-CN" sz="2400" dirty="0"/>
              <a:t>单链表是有序的</a:t>
            </a:r>
            <a:r>
              <a:rPr lang="zh-CN" altLang="zh-CN" sz="2400" dirty="0" smtClean="0"/>
              <a:t>，</a:t>
            </a:r>
            <a:endParaRPr lang="en-US" altLang="zh-CN" sz="2400" dirty="0" smtClean="0"/>
          </a:p>
          <a:p>
            <a:pPr lvl="2">
              <a:lnSpc>
                <a:spcPct val="100000"/>
              </a:lnSpc>
            </a:pPr>
            <a:r>
              <a:rPr lang="zh-CN" altLang="zh-CN" sz="2400" dirty="0" smtClean="0"/>
              <a:t>大于</a:t>
            </a:r>
            <a:r>
              <a:rPr lang="en-US" altLang="zh-CN" sz="2400" dirty="0"/>
              <a:t>mink</a:t>
            </a:r>
            <a:r>
              <a:rPr lang="zh-CN" altLang="zh-CN" sz="2400" dirty="0"/>
              <a:t>且小于</a:t>
            </a:r>
            <a:r>
              <a:rPr lang="en-US" altLang="zh-CN" sz="2400" dirty="0"/>
              <a:t>maxk</a:t>
            </a:r>
            <a:r>
              <a:rPr lang="zh-CN" altLang="zh-CN" sz="2400" dirty="0"/>
              <a:t>的所有</a:t>
            </a:r>
            <a:r>
              <a:rPr lang="zh-CN" altLang="zh-CN" sz="2400" dirty="0" smtClean="0"/>
              <a:t>元素</a:t>
            </a:r>
            <a:r>
              <a:rPr lang="zh-CN" altLang="en-US" sz="2400" dirty="0" smtClean="0"/>
              <a:t>位置连续</a:t>
            </a:r>
            <a:r>
              <a:rPr lang="zh-CN" altLang="zh-CN" sz="2400" dirty="0" smtClean="0"/>
              <a:t>。</a:t>
            </a:r>
            <a:endParaRPr lang="en-US" altLang="zh-CN" sz="2400" dirty="0" smtClean="0"/>
          </a:p>
          <a:p>
            <a:pPr lvl="2">
              <a:lnSpc>
                <a:spcPct val="100000"/>
              </a:lnSpc>
            </a:pPr>
            <a:r>
              <a:rPr lang="zh-CN" altLang="zh-CN" sz="2400" dirty="0" smtClean="0"/>
              <a:t>为此</a:t>
            </a:r>
            <a:r>
              <a:rPr lang="zh-CN" altLang="zh-CN" sz="2400" dirty="0"/>
              <a:t>，可以查找第一个大于</a:t>
            </a:r>
            <a:r>
              <a:rPr lang="en-US" altLang="zh-CN" sz="2400" dirty="0"/>
              <a:t>mink</a:t>
            </a:r>
            <a:r>
              <a:rPr lang="zh-CN" altLang="zh-CN" sz="2400" dirty="0"/>
              <a:t>的结点</a:t>
            </a:r>
            <a:r>
              <a:rPr lang="zh-CN" altLang="zh-CN" sz="2400" dirty="0" smtClean="0"/>
              <a:t>，</a:t>
            </a:r>
            <a:endParaRPr lang="en-US" altLang="zh-CN" sz="2400" dirty="0" smtClean="0"/>
          </a:p>
          <a:p>
            <a:pPr lvl="2">
              <a:lnSpc>
                <a:spcPct val="100000"/>
              </a:lnSpc>
            </a:pPr>
            <a:r>
              <a:rPr lang="zh-CN" altLang="zh-CN" sz="2400" dirty="0" smtClean="0"/>
              <a:t>然后</a:t>
            </a:r>
            <a:r>
              <a:rPr lang="zh-CN" altLang="zh-CN" sz="2400" dirty="0"/>
              <a:t>依次删除小于</a:t>
            </a:r>
            <a:r>
              <a:rPr lang="en-US" altLang="zh-CN" sz="2400" dirty="0"/>
              <a:t>maxk</a:t>
            </a:r>
            <a:r>
              <a:rPr lang="zh-CN" altLang="zh-CN" sz="2400" dirty="0"/>
              <a:t>的结点</a:t>
            </a:r>
            <a:r>
              <a:rPr lang="zh-CN" altLang="zh-CN" sz="2400" dirty="0" smtClean="0"/>
              <a:t>。</a:t>
            </a:r>
            <a:endParaRPr lang="zh-CN" altLang="zh-CN" sz="24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46301" y="171219"/>
            <a:ext cx="4816300" cy="276999"/>
          </a:xfrm>
        </p:spPr>
        <p:txBody>
          <a:bodyPr/>
          <a:lstStyle/>
          <a:p>
            <a:r>
              <a:rPr lang="zh-CN" altLang="en-US" sz="2000" dirty="0" smtClean="0"/>
              <a:t>线性表经典算法题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>
              <a:lnSpc>
                <a:spcPct val="100000"/>
              </a:lnSpc>
            </a:pPr>
            <a:r>
              <a:rPr lang="zh-CN" altLang="zh-CN" sz="2400" dirty="0" smtClean="0"/>
              <a:t>需要</a:t>
            </a:r>
            <a:r>
              <a:rPr lang="zh-CN" altLang="zh-CN" sz="2400" dirty="0"/>
              <a:t>注意：删除结点时需要记住被删结点的前驱结点，可以设指针</a:t>
            </a:r>
            <a:r>
              <a:rPr lang="en-US" altLang="zh-CN" sz="2400" dirty="0"/>
              <a:t>p</a:t>
            </a:r>
            <a:r>
              <a:rPr lang="zh-CN" altLang="zh-CN" sz="2400" dirty="0"/>
              <a:t>指向第一个大于</a:t>
            </a:r>
            <a:r>
              <a:rPr lang="en-US" altLang="zh-CN" sz="2400" dirty="0"/>
              <a:t>mink</a:t>
            </a:r>
            <a:r>
              <a:rPr lang="zh-CN" altLang="zh-CN" sz="2400" dirty="0"/>
              <a:t>的前驱结点，设指针</a:t>
            </a:r>
            <a:r>
              <a:rPr lang="en-US" altLang="zh-CN" sz="2400" dirty="0"/>
              <a:t>q</a:t>
            </a:r>
            <a:r>
              <a:rPr lang="zh-CN" altLang="zh-CN" sz="2400" dirty="0"/>
              <a:t>指向小于</a:t>
            </a:r>
            <a:r>
              <a:rPr lang="en-US" altLang="zh-CN" sz="2400" dirty="0"/>
              <a:t>maxk</a:t>
            </a:r>
            <a:r>
              <a:rPr lang="zh-CN" altLang="zh-CN" sz="2400" dirty="0"/>
              <a:t>的结点，在删除过程中，</a:t>
            </a:r>
            <a:r>
              <a:rPr lang="en-US" altLang="zh-CN" sz="2400" dirty="0"/>
              <a:t>p</a:t>
            </a:r>
            <a:r>
              <a:rPr lang="zh-CN" altLang="zh-CN" sz="2400" dirty="0"/>
              <a:t>是保持不动的。</a:t>
            </a:r>
            <a:endParaRPr lang="zh-CN" altLang="zh-CN" sz="2400" dirty="0"/>
          </a:p>
          <a:p>
            <a:pPr lvl="2">
              <a:lnSpc>
                <a:spcPct val="100000"/>
              </a:lnSpc>
            </a:pPr>
            <a:r>
              <a:rPr lang="zh-CN" altLang="zh-CN" sz="2400" dirty="0"/>
              <a:t>注意：元素值等于</a:t>
            </a:r>
            <a:r>
              <a:rPr lang="en-US" altLang="zh-CN" sz="2400" dirty="0"/>
              <a:t>mink</a:t>
            </a:r>
            <a:r>
              <a:rPr lang="zh-CN" altLang="zh-CN" sz="2400" dirty="0"/>
              <a:t>和</a:t>
            </a:r>
            <a:r>
              <a:rPr lang="en-US" altLang="zh-CN" sz="2400" dirty="0"/>
              <a:t>maxk</a:t>
            </a:r>
            <a:r>
              <a:rPr lang="zh-CN" altLang="zh-CN" sz="2400" dirty="0"/>
              <a:t>的结点不能删除</a:t>
            </a:r>
            <a:r>
              <a:rPr lang="zh-CN" altLang="zh-CN" sz="2400" dirty="0" smtClean="0"/>
              <a:t>。</a:t>
            </a:r>
            <a:endParaRPr lang="zh-CN" altLang="zh-CN" sz="2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46301" y="171219"/>
            <a:ext cx="4816300" cy="276999"/>
          </a:xfrm>
        </p:spPr>
        <p:txBody>
          <a:bodyPr/>
          <a:lstStyle/>
          <a:p>
            <a:r>
              <a:rPr lang="zh-CN" altLang="en-US" sz="2000" dirty="0" smtClean="0"/>
              <a:t>线性表经典算法题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>
              <a:lnSpc>
                <a:spcPct val="100000"/>
              </a:lnSpc>
            </a:pPr>
            <a:r>
              <a:rPr lang="en-US" altLang="zh-CN" sz="1735" dirty="0">
                <a:solidFill>
                  <a:srgbClr val="00B050"/>
                </a:solidFill>
              </a:rPr>
              <a:t>//</a:t>
            </a:r>
            <a:r>
              <a:rPr lang="zh-CN" altLang="zh-CN" sz="1735" dirty="0">
                <a:solidFill>
                  <a:srgbClr val="00B050"/>
                </a:solidFill>
              </a:rPr>
              <a:t>有序链表的连续删除</a:t>
            </a:r>
            <a:endParaRPr lang="zh-CN" altLang="zh-CN" sz="1735" dirty="0">
              <a:solidFill>
                <a:srgbClr val="00B050"/>
              </a:solidFill>
            </a:endParaRPr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void DeleteBetween(LinkList L, int mink, int </a:t>
            </a:r>
            <a:r>
              <a:rPr lang="en-US" altLang="zh-CN" sz="1735" dirty="0" err="1"/>
              <a:t>maxk</a:t>
            </a:r>
            <a:r>
              <a:rPr lang="en-US" altLang="zh-CN" sz="1735" dirty="0" smtClean="0"/>
              <a:t>){</a:t>
            </a:r>
            <a:endParaRPr lang="zh-CN" altLang="zh-CN" sz="1735" dirty="0"/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    p = L;</a:t>
            </a:r>
            <a:endParaRPr lang="zh-CN" altLang="zh-CN" sz="1735" dirty="0"/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    while(p-&gt;next &amp;&amp; p-&gt;next-&gt;data &lt;= mink)</a:t>
            </a:r>
            <a:endParaRPr lang="zh-CN" altLang="zh-CN" sz="1735" dirty="0"/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        p = p-&gt;next;   </a:t>
            </a:r>
            <a:r>
              <a:rPr lang="en-US" altLang="zh-CN" sz="1735" dirty="0">
                <a:solidFill>
                  <a:srgbClr val="00B050"/>
                </a:solidFill>
              </a:rPr>
              <a:t>//p</a:t>
            </a:r>
            <a:r>
              <a:rPr lang="zh-CN" altLang="zh-CN" sz="1735" dirty="0">
                <a:solidFill>
                  <a:srgbClr val="00B050"/>
                </a:solidFill>
              </a:rPr>
              <a:t>指向第一个大于</a:t>
            </a:r>
            <a:r>
              <a:rPr lang="en-US" altLang="zh-CN" sz="1735" dirty="0">
                <a:solidFill>
                  <a:srgbClr val="00B050"/>
                </a:solidFill>
              </a:rPr>
              <a:t>mink</a:t>
            </a:r>
            <a:r>
              <a:rPr lang="zh-CN" altLang="zh-CN" sz="1735" dirty="0">
                <a:solidFill>
                  <a:srgbClr val="00B050"/>
                </a:solidFill>
              </a:rPr>
              <a:t>的前驱结点</a:t>
            </a:r>
            <a:endParaRPr lang="zh-CN" altLang="zh-CN" sz="1735" dirty="0">
              <a:solidFill>
                <a:srgbClr val="00B050"/>
              </a:solidFill>
            </a:endParaRPr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    if(p-&gt;next</a:t>
            </a:r>
            <a:r>
              <a:rPr lang="en-US" altLang="zh-CN" sz="1735" dirty="0" smtClean="0"/>
              <a:t>) </a:t>
            </a:r>
            <a:r>
              <a:rPr lang="en-US" altLang="zh-CN" sz="1735" dirty="0"/>
              <a:t>{</a:t>
            </a:r>
            <a:endParaRPr lang="zh-CN" altLang="zh-CN" sz="1735" dirty="0"/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        q = p-&gt;next;    </a:t>
            </a:r>
            <a:r>
              <a:rPr lang="en-US" altLang="zh-CN" sz="1735" dirty="0">
                <a:solidFill>
                  <a:srgbClr val="00B050"/>
                </a:solidFill>
              </a:rPr>
              <a:t>//p</a:t>
            </a:r>
            <a:r>
              <a:rPr lang="zh-CN" altLang="zh-CN" sz="1735" dirty="0">
                <a:solidFill>
                  <a:srgbClr val="00B050"/>
                </a:solidFill>
              </a:rPr>
              <a:t>不动，</a:t>
            </a:r>
            <a:r>
              <a:rPr lang="en-US" altLang="zh-CN" sz="1735" dirty="0">
                <a:solidFill>
                  <a:srgbClr val="00B050"/>
                </a:solidFill>
              </a:rPr>
              <a:t>q</a:t>
            </a:r>
            <a:r>
              <a:rPr lang="zh-CN" altLang="zh-CN" sz="1735" dirty="0">
                <a:solidFill>
                  <a:srgbClr val="00B050"/>
                </a:solidFill>
              </a:rPr>
              <a:t>指向操作对象</a:t>
            </a:r>
            <a:endParaRPr lang="zh-CN" altLang="zh-CN" sz="1735" dirty="0">
              <a:solidFill>
                <a:srgbClr val="00B050"/>
              </a:solidFill>
            </a:endParaRPr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        while(q-&gt;data &lt; maxk)   </a:t>
            </a:r>
            <a:r>
              <a:rPr lang="en-US" altLang="zh-CN" sz="1735" dirty="0">
                <a:solidFill>
                  <a:srgbClr val="00B050"/>
                </a:solidFill>
              </a:rPr>
              <a:t>//</a:t>
            </a:r>
            <a:r>
              <a:rPr lang="zh-CN" altLang="zh-CN" sz="1735" dirty="0">
                <a:solidFill>
                  <a:srgbClr val="00B050"/>
                </a:solidFill>
              </a:rPr>
              <a:t>依次删除</a:t>
            </a:r>
            <a:r>
              <a:rPr lang="en-US" altLang="zh-CN" sz="1735" dirty="0">
                <a:solidFill>
                  <a:srgbClr val="00B050"/>
                </a:solidFill>
              </a:rPr>
              <a:t>p</a:t>
            </a:r>
            <a:r>
              <a:rPr lang="zh-CN" altLang="zh-CN" sz="1735" dirty="0">
                <a:solidFill>
                  <a:srgbClr val="00B050"/>
                </a:solidFill>
              </a:rPr>
              <a:t>之后小于</a:t>
            </a:r>
            <a:r>
              <a:rPr lang="en-US" altLang="zh-CN" sz="1735" dirty="0">
                <a:solidFill>
                  <a:srgbClr val="00B050"/>
                </a:solidFill>
              </a:rPr>
              <a:t>maxk</a:t>
            </a:r>
            <a:r>
              <a:rPr lang="zh-CN" altLang="zh-CN" sz="1735" dirty="0">
                <a:solidFill>
                  <a:srgbClr val="00B050"/>
                </a:solidFill>
              </a:rPr>
              <a:t>的结点</a:t>
            </a:r>
            <a:endParaRPr lang="zh-CN" altLang="zh-CN" sz="1735" dirty="0">
              <a:solidFill>
                <a:srgbClr val="00B050"/>
              </a:solidFill>
            </a:endParaRPr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        {</a:t>
            </a:r>
            <a:endParaRPr lang="zh-CN" altLang="zh-CN" sz="1735" dirty="0"/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            u = q-&gt;next;       </a:t>
            </a:r>
            <a:r>
              <a:rPr lang="en-US" altLang="zh-CN" sz="1735" dirty="0" smtClean="0"/>
              <a:t>   </a:t>
            </a:r>
            <a:r>
              <a:rPr lang="en-US" altLang="zh-CN" sz="1735" dirty="0">
                <a:solidFill>
                  <a:srgbClr val="00B050"/>
                </a:solidFill>
              </a:rPr>
              <a:t>//u</a:t>
            </a:r>
            <a:r>
              <a:rPr lang="zh-CN" altLang="zh-CN" sz="1735" dirty="0">
                <a:solidFill>
                  <a:srgbClr val="00B050"/>
                </a:solidFill>
              </a:rPr>
              <a:t>暂存后继结点的地址</a:t>
            </a:r>
            <a:endParaRPr lang="zh-CN" altLang="zh-CN" sz="1735" dirty="0">
              <a:solidFill>
                <a:srgbClr val="00B050"/>
              </a:solidFill>
            </a:endParaRPr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            p-&gt;next = q-&gt;next;</a:t>
            </a:r>
            <a:endParaRPr lang="zh-CN" altLang="zh-CN" sz="1735" dirty="0"/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            free(q);</a:t>
            </a:r>
            <a:endParaRPr lang="zh-CN" altLang="zh-CN" sz="1735" dirty="0"/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            q = u;     </a:t>
            </a:r>
            <a:r>
              <a:rPr lang="en-US" altLang="zh-CN" sz="1735" dirty="0" smtClean="0"/>
              <a:t>  </a:t>
            </a:r>
            <a:r>
              <a:rPr lang="en-US" altLang="zh-CN" sz="1735" dirty="0" smtClean="0">
                <a:solidFill>
                  <a:srgbClr val="00B050"/>
                </a:solidFill>
              </a:rPr>
              <a:t>//</a:t>
            </a:r>
            <a:r>
              <a:rPr lang="zh-CN" altLang="zh-CN" sz="1735" dirty="0">
                <a:solidFill>
                  <a:srgbClr val="00B050"/>
                </a:solidFill>
              </a:rPr>
              <a:t>指针</a:t>
            </a:r>
            <a:r>
              <a:rPr lang="en-US" altLang="zh-CN" sz="1735" dirty="0">
                <a:solidFill>
                  <a:srgbClr val="00B050"/>
                </a:solidFill>
              </a:rPr>
              <a:t>q</a:t>
            </a:r>
            <a:r>
              <a:rPr lang="zh-CN" altLang="zh-CN" sz="1735" dirty="0">
                <a:solidFill>
                  <a:srgbClr val="00B050"/>
                </a:solidFill>
              </a:rPr>
              <a:t>后移</a:t>
            </a:r>
            <a:endParaRPr lang="zh-CN" altLang="zh-CN" sz="1735" dirty="0">
              <a:solidFill>
                <a:srgbClr val="00B050"/>
              </a:solidFill>
            </a:endParaRPr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        }</a:t>
            </a:r>
            <a:endParaRPr lang="zh-CN" altLang="zh-CN" sz="1735" dirty="0"/>
          </a:p>
          <a:p>
            <a:pPr lvl="2">
              <a:lnSpc>
                <a:spcPct val="100000"/>
              </a:lnSpc>
            </a:pPr>
            <a:r>
              <a:rPr lang="en-US" altLang="zh-CN" sz="1735" dirty="0"/>
              <a:t>    }</a:t>
            </a:r>
            <a:endParaRPr lang="zh-CN" altLang="zh-CN" sz="1735" dirty="0"/>
          </a:p>
          <a:p>
            <a:pPr lvl="2">
              <a:lnSpc>
                <a:spcPct val="100000"/>
              </a:lnSpc>
            </a:pPr>
            <a:r>
              <a:rPr lang="en-US" altLang="zh-CN" sz="1735" dirty="0" smtClean="0"/>
              <a:t>}</a:t>
            </a:r>
            <a:endParaRPr lang="zh-CN" altLang="zh-CN" sz="1735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46301" y="171219"/>
            <a:ext cx="4816300" cy="276999"/>
          </a:xfrm>
        </p:spPr>
        <p:txBody>
          <a:bodyPr/>
          <a:lstStyle/>
          <a:p>
            <a:r>
              <a:rPr lang="zh-CN" altLang="en-US" sz="2000" dirty="0" smtClean="0"/>
              <a:t>线性表经典算法题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TABLE_BEAUTIFY" val="smartTable{95662fd5-20b1-4acf-a64d-118fd844346c}"/>
</p:tagLst>
</file>

<file path=ppt/tags/tag2.xml><?xml version="1.0" encoding="utf-8"?>
<p:tagLst xmlns:p="http://schemas.openxmlformats.org/presentationml/2006/main">
  <p:tag name="KSO_WPP_MARK_KEY" val="39b07c91-b993-4d7f-a75f-70a2b25ecfb7"/>
  <p:tag name="COMMONDATA" val="eyJoZGlkIjoiY2RkOTFiNGE3ZGMwNWJhNzRjN2YzYTQyNDI1ZmYzMDY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幻灯片</Template>
  <TotalTime>0</TotalTime>
  <Words>4194</Words>
  <Application>WPS 演示</Application>
  <PresentationFormat>全屏显示(16:9)</PresentationFormat>
  <Paragraphs>297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4" baseType="lpstr">
      <vt:lpstr>Arial</vt:lpstr>
      <vt:lpstr>宋体</vt:lpstr>
      <vt:lpstr>Wingdings</vt:lpstr>
      <vt:lpstr>黑体</vt:lpstr>
      <vt:lpstr>华文新魏</vt:lpstr>
      <vt:lpstr>华文彩云</vt:lpstr>
      <vt:lpstr>Times New Roman</vt:lpstr>
      <vt:lpstr>方正隶书简体</vt:lpstr>
      <vt:lpstr>华文楷体</vt:lpstr>
      <vt:lpstr>Calibri</vt:lpstr>
      <vt:lpstr>微软雅黑</vt:lpstr>
      <vt:lpstr>Arial Unicode MS</vt:lpstr>
      <vt:lpstr>Office 主题</vt:lpstr>
      <vt:lpstr>线性表经典算法题</vt:lpstr>
      <vt:lpstr>线性表经典算法题</vt:lpstr>
      <vt:lpstr>线性表经典算法题</vt:lpstr>
      <vt:lpstr>线性表经典算法题</vt:lpstr>
      <vt:lpstr>线性表经典算法题</vt:lpstr>
      <vt:lpstr>线性表经典算法题</vt:lpstr>
      <vt:lpstr>线性表经典算法题</vt:lpstr>
      <vt:lpstr>线性表经典算法题</vt:lpstr>
      <vt:lpstr>线性表经典算法题</vt:lpstr>
      <vt:lpstr>线性表经典算法题</vt:lpstr>
      <vt:lpstr>线性表经典算法题</vt:lpstr>
      <vt:lpstr>线性表经典算法题</vt:lpstr>
      <vt:lpstr>线性表经典算法题</vt:lpstr>
      <vt:lpstr>线性表经典算法题</vt:lpstr>
      <vt:lpstr>线性表经典算法题</vt:lpstr>
      <vt:lpstr>线性表经典算法题</vt:lpstr>
      <vt:lpstr>线性表经典算法题</vt:lpstr>
      <vt:lpstr>线性表经典算法题</vt:lpstr>
      <vt:lpstr>线性表经典算法题</vt:lpstr>
      <vt:lpstr>线性表经典算法题</vt:lpstr>
      <vt:lpstr>线性表经典算法题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绪论</dc:title>
  <dc:creator>PC</dc:creator>
  <cp:lastModifiedBy>Administrator</cp:lastModifiedBy>
  <cp:revision>69</cp:revision>
  <dcterms:created xsi:type="dcterms:W3CDTF">2020-02-02T13:59:00Z</dcterms:created>
  <dcterms:modified xsi:type="dcterms:W3CDTF">2023-03-14T09:31:39Z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2052-11.1.0.13703</vt:lpwstr>
  </property>
  <property fmtid="{D5CDD505-2E9C-101B-9397-08002B2CF9AE}" pid="3" name="ICV">
    <vt:lpwstr>F3087D7FE24B4AC0B1AD562EF1C26337</vt:lpwstr>
  </property>
</Properties>
</file>