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3"/>
    <p:sldMasterId id="2147483656" r:id="rId4"/>
    <p:sldMasterId id="2147483660" r:id="rId5"/>
  </p:sldMasterIdLst>
  <p:notesMasterIdLst>
    <p:notesMasterId r:id="rId40"/>
  </p:notesMasterIdLst>
  <p:sldIdLst>
    <p:sldId id="284" r:id="rId6"/>
    <p:sldId id="324" r:id="rId7"/>
    <p:sldId id="285" r:id="rId8"/>
    <p:sldId id="326" r:id="rId9"/>
    <p:sldId id="325" r:id="rId10"/>
    <p:sldId id="341" r:id="rId11"/>
    <p:sldId id="329" r:id="rId12"/>
    <p:sldId id="540" r:id="rId13"/>
    <p:sldId id="328" r:id="rId14"/>
    <p:sldId id="327" r:id="rId15"/>
    <p:sldId id="331" r:id="rId16"/>
    <p:sldId id="330" r:id="rId17"/>
    <p:sldId id="439" r:id="rId18"/>
    <p:sldId id="333" r:id="rId19"/>
    <p:sldId id="334" r:id="rId20"/>
    <p:sldId id="337" r:id="rId21"/>
    <p:sldId id="336" r:id="rId22"/>
    <p:sldId id="339" r:id="rId23"/>
    <p:sldId id="335" r:id="rId24"/>
    <p:sldId id="340" r:id="rId25"/>
    <p:sldId id="342" r:id="rId26"/>
    <p:sldId id="344" r:id="rId27"/>
    <p:sldId id="343" r:id="rId28"/>
    <p:sldId id="601" r:id="rId29"/>
    <p:sldId id="345" r:id="rId30"/>
    <p:sldId id="694" r:id="rId31"/>
    <p:sldId id="688" r:id="rId32"/>
    <p:sldId id="689" r:id="rId33"/>
    <p:sldId id="690" r:id="rId34"/>
    <p:sldId id="691" r:id="rId35"/>
    <p:sldId id="692" r:id="rId36"/>
    <p:sldId id="693" r:id="rId37"/>
    <p:sldId id="349" r:id="rId38"/>
    <p:sldId id="646" r:id="rId39"/>
    <p:sldId id="647" r:id="rId41"/>
    <p:sldId id="442" r:id="rId42"/>
    <p:sldId id="395" r:id="rId43"/>
    <p:sldId id="407" r:id="rId44"/>
    <p:sldId id="408" r:id="rId45"/>
    <p:sldId id="409" r:id="rId46"/>
    <p:sldId id="410" r:id="rId47"/>
    <p:sldId id="411" r:id="rId48"/>
    <p:sldId id="398" r:id="rId49"/>
    <p:sldId id="397" r:id="rId50"/>
    <p:sldId id="443" r:id="rId51"/>
    <p:sldId id="401" r:id="rId52"/>
    <p:sldId id="400" r:id="rId53"/>
    <p:sldId id="399" r:id="rId54"/>
    <p:sldId id="414" r:id="rId55"/>
    <p:sldId id="415" r:id="rId56"/>
    <p:sldId id="417" r:id="rId57"/>
    <p:sldId id="416" r:id="rId58"/>
    <p:sldId id="350" r:id="rId59"/>
    <p:sldId id="351" r:id="rId60"/>
    <p:sldId id="354" r:id="rId61"/>
    <p:sldId id="362" r:id="rId62"/>
    <p:sldId id="444" r:id="rId63"/>
    <p:sldId id="357" r:id="rId64"/>
    <p:sldId id="360" r:id="rId65"/>
    <p:sldId id="363" r:id="rId66"/>
    <p:sldId id="352" r:id="rId67"/>
    <p:sldId id="364" r:id="rId68"/>
    <p:sldId id="367" r:id="rId69"/>
    <p:sldId id="366" r:id="rId70"/>
    <p:sldId id="445" r:id="rId71"/>
    <p:sldId id="446" r:id="rId72"/>
    <p:sldId id="447" r:id="rId73"/>
    <p:sldId id="448" r:id="rId74"/>
    <p:sldId id="449" r:id="rId75"/>
  </p:sldIdLst>
  <p:sldSz cx="6858000" cy="5143500"/>
  <p:notesSz cx="6858000" cy="9144000"/>
  <p:custDataLst>
    <p:tags r:id="rId79"/>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F0FB"/>
    <a:srgbClr val="00194C"/>
    <a:srgbClr val="CC6600"/>
    <a:srgbClr val="800000"/>
    <a:srgbClr val="990000"/>
    <a:srgbClr val="993300"/>
    <a:srgbClr val="3333FF"/>
    <a:srgbClr val="1A6ED1"/>
    <a:srgbClr val="3079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1115" autoAdjust="0"/>
  </p:normalViewPr>
  <p:slideViewPr>
    <p:cSldViewPr snapToGrid="0">
      <p:cViewPr varScale="1">
        <p:scale>
          <a:sx n="153" d="100"/>
          <a:sy n="153" d="100"/>
        </p:scale>
        <p:origin x="146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9" Type="http://schemas.openxmlformats.org/officeDocument/2006/relationships/tags" Target="tags/tag1.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2.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notesMaster" Target="notesMasters/notesMaster1.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9.emf"/><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460013-E2CC-49A6-99FC-33B54BFB796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7AA911-2240-47A0-A152-528C1809DA1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lvl="2"/>
            <a:r>
              <a:rPr lang="zh-CN" altLang="en-US" dirty="0">
                <a:sym typeface="+mn-lt"/>
              </a:rPr>
              <a:t>必备的三个条件：</a:t>
            </a:r>
            <a:endParaRPr lang="en-US" altLang="zh-CN" dirty="0">
              <a:sym typeface="+mn-lt"/>
            </a:endParaRPr>
          </a:p>
          <a:p>
            <a:pPr marL="342900" lvl="2" indent="-342900" eaLnBrk="0" fontAlgn="base" hangingPunct="0">
              <a:lnSpc>
                <a:spcPts val="3000"/>
              </a:lnSpc>
              <a:spcBef>
                <a:spcPts val="600"/>
              </a:spcBef>
              <a:spcAft>
                <a:spcPct val="0"/>
              </a:spcAft>
              <a:buFont typeface="Wingdings" panose="05000000000000000000" pitchFamily="2" charset="2"/>
              <a:buChar char="Ø"/>
              <a:defRPr/>
            </a:pPr>
            <a:r>
              <a:rPr lang="zh-CN" altLang="en-US" dirty="0">
                <a:sym typeface="+mn-lt"/>
              </a:rPr>
              <a:t>能将一个问题转变成一个新问题，而新问题与原问题的解法相同或类同，不同的仅是处理的对象，且这些处理对象是变化有规律的；</a:t>
            </a:r>
            <a:endParaRPr lang="zh-CN" altLang="en-US" dirty="0">
              <a:sym typeface="+mn-lt"/>
            </a:endParaRPr>
          </a:p>
          <a:p>
            <a:pPr marL="342900" lvl="2" indent="-342900" eaLnBrk="0" fontAlgn="base" hangingPunct="0">
              <a:lnSpc>
                <a:spcPts val="3000"/>
              </a:lnSpc>
              <a:spcBef>
                <a:spcPts val="600"/>
              </a:spcBef>
              <a:spcAft>
                <a:spcPct val="0"/>
              </a:spcAft>
              <a:buFont typeface="Wingdings" panose="05000000000000000000" pitchFamily="2" charset="2"/>
              <a:buChar char="Ø"/>
              <a:defRPr/>
            </a:pPr>
            <a:r>
              <a:rPr lang="zh-CN" altLang="en-US" dirty="0">
                <a:sym typeface="+mn-lt"/>
              </a:rPr>
              <a:t>可以通过上述转化而使问题简化；</a:t>
            </a:r>
            <a:endParaRPr lang="zh-CN" altLang="en-US" dirty="0">
              <a:sym typeface="+mn-lt"/>
            </a:endParaRPr>
          </a:p>
          <a:p>
            <a:pPr marL="342900" lvl="2" indent="-342900" eaLnBrk="0" fontAlgn="base" hangingPunct="0">
              <a:lnSpc>
                <a:spcPts val="3000"/>
              </a:lnSpc>
              <a:spcBef>
                <a:spcPts val="600"/>
              </a:spcBef>
              <a:spcAft>
                <a:spcPct val="0"/>
              </a:spcAft>
              <a:buFont typeface="Wingdings" panose="05000000000000000000" pitchFamily="2" charset="2"/>
              <a:buChar char="Ø"/>
              <a:defRPr/>
            </a:pPr>
            <a:r>
              <a:rPr lang="zh-CN" altLang="en-US" dirty="0">
                <a:sym typeface="+mn-lt"/>
              </a:rPr>
              <a:t>必须有一个明确的递归出口，或称递归的边界。</a:t>
            </a:r>
            <a:endParaRPr lang="zh-CN" altLang="en-US" dirty="0">
              <a:sym typeface="+mn-lt"/>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1.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1.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1.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1.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标题 1"/>
          <p:cNvSpPr>
            <a:spLocks noGrp="1"/>
          </p:cNvSpPr>
          <p:nvPr>
            <p:ph type="ctrTitle" hasCustomPrompt="1"/>
          </p:nvPr>
        </p:nvSpPr>
        <p:spPr>
          <a:xfrm>
            <a:off x="0" y="1274606"/>
            <a:ext cx="6858000" cy="1228873"/>
          </a:xfrm>
          <a:prstGeom prst="rect">
            <a:avLst/>
          </a:prstGeom>
        </p:spPr>
        <p:txBody>
          <a:bodyPr anchor="ctr"/>
          <a:lstStyle>
            <a:lvl1pPr algn="ctr">
              <a:lnSpc>
                <a:spcPct val="120000"/>
              </a:lnSpc>
              <a:defRPr sz="3600" b="1">
                <a:solidFill>
                  <a:srgbClr val="000066"/>
                </a:solidFill>
                <a:effectLst/>
                <a:latin typeface="黑体" panose="02010609060101010101" pitchFamily="49" charset="-122"/>
                <a:ea typeface="黑体" panose="02010609060101010101" pitchFamily="49" charset="-122"/>
              </a:defRPr>
            </a:lvl1pPr>
          </a:lstStyle>
          <a:p>
            <a:r>
              <a:rPr lang="zh-CN" altLang="en-US" dirty="0"/>
              <a:t>  知识点名称</a:t>
            </a:r>
            <a:br>
              <a:rPr lang="en-US" altLang="zh-CN" dirty="0"/>
            </a:br>
            <a:r>
              <a:rPr lang="zh-CN" altLang="en-US" dirty="0"/>
              <a:t>（太长时可以两行）</a:t>
            </a:r>
            <a:endParaRPr lang="zh-CN" altLang="en-US" dirty="0"/>
          </a:p>
        </p:txBody>
      </p:sp>
      <p:sp>
        <p:nvSpPr>
          <p:cNvPr id="8" name="文本占位符 9"/>
          <p:cNvSpPr>
            <a:spLocks noGrp="1"/>
          </p:cNvSpPr>
          <p:nvPr>
            <p:ph type="body" sz="quarter" idx="14" hasCustomPrompt="1"/>
          </p:nvPr>
        </p:nvSpPr>
        <p:spPr>
          <a:xfrm>
            <a:off x="1458000" y="2732290"/>
            <a:ext cx="3941999" cy="480131"/>
          </a:xfrm>
          <a:prstGeom prst="rect">
            <a:avLst/>
          </a:prstGeom>
        </p:spPr>
        <p:txBody>
          <a:bodyPr wrap="square">
            <a:spAutoFit/>
          </a:bodyPr>
          <a:lstStyle>
            <a:lvl1pPr marL="0" indent="0" algn="ctr">
              <a:buNone/>
              <a:defRPr sz="2800">
                <a:solidFill>
                  <a:srgbClr val="800000"/>
                </a:solidFill>
                <a:effectLst/>
                <a:latin typeface="华文新魏" panose="02010800040101010101" pitchFamily="2" charset="-122"/>
                <a:ea typeface="华文新魏" panose="02010800040101010101" pitchFamily="2" charset="-122"/>
              </a:defRPr>
            </a:lvl1pPr>
            <a:lvl2pPr marL="0" indent="0">
              <a:spcBef>
                <a:spcPts val="0"/>
              </a:spcBef>
              <a:buNone/>
              <a:defRPr sz="1350">
                <a:solidFill>
                  <a:srgbClr val="0000FF"/>
                </a:solidFill>
                <a:latin typeface="黑体" panose="02010609060101010101" pitchFamily="49" charset="-122"/>
                <a:ea typeface="黑体" panose="02010609060101010101" pitchFamily="49" charset="-122"/>
              </a:defRPr>
            </a:lvl2pPr>
          </a:lstStyle>
          <a:p>
            <a:pPr lvl="0"/>
            <a:r>
              <a:rPr lang="zh-CN" altLang="en-US" dirty="0"/>
              <a:t>教师名  主讲</a:t>
            </a:r>
            <a:endParaRPr lang="zh-CN" altLang="en-US" dirty="0"/>
          </a:p>
        </p:txBody>
      </p:sp>
      <p:sp>
        <p:nvSpPr>
          <p:cNvPr id="10" name="文本框 9"/>
          <p:cNvSpPr txBox="1"/>
          <p:nvPr userDrawn="1"/>
        </p:nvSpPr>
        <p:spPr>
          <a:xfrm>
            <a:off x="573756" y="114250"/>
            <a:ext cx="1377300" cy="415498"/>
          </a:xfrm>
          <a:prstGeom prst="rect">
            <a:avLst/>
          </a:prstGeom>
          <a:noFill/>
          <a:ln>
            <a:noFill/>
          </a:ln>
        </p:spPr>
        <p:txBody>
          <a:bodyPr wrap="none" rtlCol="0">
            <a:spAutoFit/>
          </a:bodyPr>
          <a:lstStyle/>
          <a:p>
            <a:r>
              <a:rPr lang="zh-CN" altLang="en-US" sz="2100" kern="3000" spc="225" baseline="0" dirty="0">
                <a:solidFill>
                  <a:srgbClr val="1A6ED1"/>
                </a:solidFill>
                <a:latin typeface="华文彩云" panose="02010800040101010101" pitchFamily="2" charset="-122"/>
                <a:ea typeface="华文彩云" panose="02010800040101010101" pitchFamily="2" charset="-122"/>
              </a:rPr>
              <a:t>数据结构</a:t>
            </a:r>
            <a:endParaRPr lang="zh-CN" altLang="en-US" sz="2100" kern="3000" spc="225" baseline="0" dirty="0">
              <a:solidFill>
                <a:srgbClr val="1A6ED1"/>
              </a:solidFill>
              <a:latin typeface="华文彩云" panose="02010800040101010101" pitchFamily="2" charset="-122"/>
              <a:ea typeface="华文彩云" panose="02010800040101010101" pitchFamily="2" charset="-122"/>
            </a:endParaRP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2756" y="126080"/>
            <a:ext cx="350169" cy="35016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全屏幕正文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6052" y="593324"/>
            <a:ext cx="6070651" cy="4085639"/>
          </a:xfrm>
          <a:prstGeom prst="rect">
            <a:avLst/>
          </a:prstGeom>
        </p:spPr>
        <p:txBody>
          <a:bodyPr/>
          <a:lstStyle>
            <a:lvl1pPr marL="0" marR="0" indent="0" algn="just" defTabSz="685800" rtl="0" eaLnBrk="0" fontAlgn="base" latinLnBrk="0" hangingPunct="0">
              <a:lnSpc>
                <a:spcPts val="3000"/>
              </a:lnSpc>
              <a:spcBef>
                <a:spcPts val="600"/>
              </a:spcBef>
              <a:spcAft>
                <a:spcPct val="0"/>
              </a:spcAft>
              <a:buClrTx/>
              <a:buSzTx/>
              <a:buFont typeface="Wingdings" panose="05000000000000000000" pitchFamily="2" charset="2"/>
              <a:buNone/>
              <a:defRPr lang="zh-CN" altLang="en-US" sz="2300" b="1" kern="1200" baseline="0" dirty="0">
                <a:solidFill>
                  <a:srgbClr val="800000"/>
                </a:solidFill>
                <a:effectLst/>
                <a:latin typeface="Times New Roman" panose="02020603050405020304" pitchFamily="18" charset="0"/>
                <a:ea typeface="黑体" panose="02010609060101010101" pitchFamily="49" charset="-122"/>
                <a:cs typeface="+mn-cs"/>
              </a:defRPr>
            </a:lvl1pPr>
            <a:lvl2pPr marL="135255" indent="0" algn="just">
              <a:lnSpc>
                <a:spcPts val="3000"/>
              </a:lnSpc>
              <a:spcBef>
                <a:spcPts val="300"/>
              </a:spcBef>
              <a:buClr>
                <a:srgbClr val="006600"/>
              </a:buClr>
              <a:buFontTx/>
              <a:buNone/>
              <a:defRPr lang="en-US" altLang="zh-CN" sz="2300" b="1" kern="1200" baseline="0" dirty="0">
                <a:solidFill>
                  <a:srgbClr val="CC6600"/>
                </a:solidFill>
                <a:effectLst/>
                <a:latin typeface="方正隶书简体" panose="02010601030101010101" pitchFamily="2" charset="-122"/>
                <a:ea typeface="方正隶书简体" panose="02010601030101010101" pitchFamily="2" charset="-122"/>
                <a:cs typeface="+mn-cs"/>
              </a:defRPr>
            </a:lvl2pPr>
            <a:lvl3pPr marL="135255" indent="0" algn="just" eaLnBrk="1" hangingPunct="1">
              <a:lnSpc>
                <a:spcPts val="3400"/>
              </a:lnSpc>
              <a:spcBef>
                <a:spcPts val="0"/>
              </a:spcBef>
              <a:buClr>
                <a:srgbClr val="800000"/>
              </a:buClr>
              <a:buSzPct val="70000"/>
              <a:buFont typeface="Wingdings" panose="05000000000000000000" pitchFamily="2" charset="2"/>
              <a:buNone/>
              <a:defRPr lang="en-US" altLang="zh-CN" sz="2100" b="1" kern="1200" baseline="0" dirty="0">
                <a:solidFill>
                  <a:srgbClr val="00194C"/>
                </a:solidFill>
                <a:latin typeface="华文楷体" panose="02010600040101010101" pitchFamily="2" charset="-122"/>
                <a:ea typeface="华文楷体" panose="02010600040101010101" pitchFamily="2" charset="-122"/>
                <a:cs typeface="+mn-cs"/>
              </a:defRPr>
            </a:lvl3pPr>
            <a:lvl4pPr marL="135255" indent="0" algn="just" eaLnBrk="1" hangingPunct="1">
              <a:lnSpc>
                <a:spcPts val="2550"/>
              </a:lnSpc>
              <a:spcBef>
                <a:spcPts val="0"/>
              </a:spcBef>
              <a:buFontTx/>
              <a:buNone/>
              <a:defRPr sz="1575" b="1" baseline="0">
                <a:solidFill>
                  <a:srgbClr val="000099"/>
                </a:solidFill>
                <a:latin typeface="Times New Roman" panose="02020603050405020304" pitchFamily="18" charset="0"/>
                <a:ea typeface="黑体" panose="02010609060101010101" pitchFamily="49" charset="-122"/>
              </a:defRPr>
            </a:lvl4pPr>
            <a:lvl5pPr marL="107950" indent="0" algn="just" fontAlgn="ctr">
              <a:lnSpc>
                <a:spcPts val="2550"/>
              </a:lnSpc>
              <a:spcBef>
                <a:spcPts val="0"/>
              </a:spcBef>
              <a:spcAft>
                <a:spcPts val="225"/>
              </a:spcAft>
              <a:buClr>
                <a:srgbClr val="800000"/>
              </a:buClr>
              <a:buSzPct val="160000"/>
              <a:buFontTx/>
              <a:buNone/>
              <a:defRPr lang="en-US" altLang="zh-CN" sz="1575" b="1" kern="1200" baseline="0" dirty="0" smtClean="0">
                <a:solidFill>
                  <a:srgbClr val="6633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5pPr>
            <a:lvl6pPr marL="0" indent="0" algn="just" fontAlgn="ctr">
              <a:lnSpc>
                <a:spcPts val="2550"/>
              </a:lnSpc>
              <a:spcBef>
                <a:spcPts val="0"/>
              </a:spcBef>
              <a:spcAft>
                <a:spcPts val="0"/>
              </a:spcAft>
              <a:buSzPct val="220000"/>
              <a:buFontTx/>
              <a:buNone/>
              <a:defRPr lang="en-US" altLang="zh-CN" sz="1575" b="1" kern="1200" baseline="0" dirty="0" smtClean="0">
                <a:solidFill>
                  <a:srgbClr val="6633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6pPr>
            <a:lvl7pPr marL="0" marR="0" indent="0" algn="l" defTabSz="685800" rtl="0" eaLnBrk="1" fontAlgn="ctr" latinLnBrk="0" hangingPunct="1">
              <a:lnSpc>
                <a:spcPts val="1500"/>
              </a:lnSpc>
              <a:spcBef>
                <a:spcPts val="0"/>
              </a:spcBef>
              <a:spcAft>
                <a:spcPts val="0"/>
              </a:spcAft>
              <a:buClrTx/>
              <a:buSzPct val="300000"/>
              <a:buFontTx/>
              <a:buNone/>
              <a:defRPr lang="en-US" altLang="zh-CN" sz="1350" kern="1200" dirty="0" smtClean="0">
                <a:solidFill>
                  <a:schemeClr val="tx1"/>
                </a:solidFill>
                <a:latin typeface="黑体" panose="02010609060101010101" pitchFamily="49" charset="-122"/>
                <a:ea typeface="黑体" panose="02010609060101010101" pitchFamily="49" charset="-122"/>
                <a:cs typeface="+mn-cs"/>
              </a:defRPr>
            </a:lvl7pPr>
            <a:lvl8pPr marL="257175" indent="-257175" fontAlgn="ctr">
              <a:lnSpc>
                <a:spcPts val="2250"/>
              </a:lnSpc>
              <a:spcBef>
                <a:spcPts val="450"/>
              </a:spcBef>
              <a:buSzPct val="220000"/>
              <a:buFontTx/>
              <a:buBlip>
                <a:blip r:embed="rId2"/>
              </a:buBlip>
              <a:defRPr sz="1800" b="1" baseline="0">
                <a:solidFill>
                  <a:srgbClr val="8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defRPr>
            </a:lvl8pPr>
            <a:lvl9pPr marL="0" indent="-269875" fontAlgn="ctr">
              <a:lnSpc>
                <a:spcPts val="2250"/>
              </a:lnSpc>
              <a:spcBef>
                <a:spcPts val="450"/>
              </a:spcBef>
              <a:buSzPct val="180000"/>
              <a:buFontTx/>
              <a:buBlip>
                <a:blip r:embed="rId3"/>
              </a:buBlip>
              <a:defRPr lang="en-US" altLang="zh-CN" sz="1800" b="1" kern="1200" baseline="0" dirty="0" smtClean="0">
                <a:solidFill>
                  <a:srgbClr val="8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9pPr>
          </a:lstStyle>
          <a:p>
            <a:pPr marL="0" marR="0" lvl="0" indent="0" algn="just" defTabSz="685800" rtl="0" eaLnBrk="0" fontAlgn="base" latinLnBrk="0" hangingPunct="0">
              <a:lnSpc>
                <a:spcPts val="2250"/>
              </a:lnSpc>
              <a:spcBef>
                <a:spcPts val="450"/>
              </a:spcBef>
              <a:spcAft>
                <a:spcPct val="0"/>
              </a:spcAft>
              <a:buClrTx/>
              <a:buSzTx/>
              <a:buFont typeface="Wingdings" panose="05000000000000000000" pitchFamily="2" charset="2"/>
              <a:buNone/>
              <a:defRPr/>
            </a:pPr>
            <a:r>
              <a:rPr lang="zh-CN" altLang="en-US" dirty="0"/>
              <a:t>第一级标题</a:t>
            </a:r>
            <a:endParaRPr lang="zh-CN" altLang="en-US" dirty="0"/>
          </a:p>
          <a:p>
            <a:pPr marL="135255" lvl="1" indent="0" algn="just" defTabSz="685800" rtl="0" eaLnBrk="0" fontAlgn="base" latinLnBrk="0" hangingPunct="0">
              <a:lnSpc>
                <a:spcPts val="2250"/>
              </a:lnSpc>
              <a:spcBef>
                <a:spcPts val="225"/>
              </a:spcBef>
              <a:spcAft>
                <a:spcPct val="0"/>
              </a:spcAft>
              <a:buClr>
                <a:srgbClr val="006600"/>
              </a:buClr>
              <a:buFontTx/>
              <a:buNone/>
            </a:pPr>
            <a:r>
              <a:rPr lang="zh-CN" altLang="en-US" dirty="0"/>
              <a:t>第二级</a:t>
            </a:r>
            <a:endParaRPr lang="en-US" altLang="zh-CN" dirty="0"/>
          </a:p>
          <a:p>
            <a:pPr marL="135255" lvl="2" indent="0" algn="just" defTabSz="685800" rtl="0" eaLnBrk="0" fontAlgn="base" latinLnBrk="0" hangingPunct="0">
              <a:lnSpc>
                <a:spcPts val="2250"/>
              </a:lnSpc>
              <a:spcBef>
                <a:spcPts val="225"/>
              </a:spcBef>
              <a:spcAft>
                <a:spcPct val="0"/>
              </a:spcAft>
              <a:buClr>
                <a:srgbClr val="006600"/>
              </a:buClr>
              <a:buSzPct val="70000"/>
              <a:buFontTx/>
              <a:buNone/>
            </a:pPr>
            <a:r>
              <a:rPr lang="zh-CN" altLang="en-US" dirty="0"/>
              <a:t>第三级</a:t>
            </a:r>
            <a:endParaRPr lang="en-US" altLang="zh-CN" dirty="0"/>
          </a:p>
        </p:txBody>
      </p:sp>
      <p:sp>
        <p:nvSpPr>
          <p:cNvPr id="5" name="标题 13"/>
          <p:cNvSpPr>
            <a:spLocks noGrp="1"/>
          </p:cNvSpPr>
          <p:nvPr>
            <p:ph type="title" hasCustomPrompt="1"/>
          </p:nvPr>
        </p:nvSpPr>
        <p:spPr>
          <a:xfrm>
            <a:off x="559725" y="171218"/>
            <a:ext cx="3612225" cy="249299"/>
          </a:xfrm>
          <a:prstGeom prst="rect">
            <a:avLst/>
          </a:prstGeom>
          <a:noFill/>
        </p:spPr>
        <p:txBody>
          <a:bodyPr wrap="square" lIns="36000" tIns="0" rIns="0" bIns="0">
            <a:spAutoFit/>
          </a:bodyPr>
          <a:lstStyle>
            <a:lvl1pPr marL="0" algn="l" defTabSz="685800" rtl="0" eaLnBrk="1" latinLnBrk="0" hangingPunct="1">
              <a:defRPr lang="zh-CN" altLang="en-US" sz="1800" b="1" kern="1500" spc="0" baseline="0" dirty="0">
                <a:solidFill>
                  <a:srgbClr val="002060"/>
                </a:solidFill>
                <a:latin typeface="黑体" panose="02010609060101010101" pitchFamily="49" charset="-122"/>
                <a:ea typeface="黑体" panose="02010609060101010101" pitchFamily="49" charset="-122"/>
                <a:cs typeface="+mn-cs"/>
              </a:defRPr>
            </a:lvl1pPr>
          </a:lstStyle>
          <a:p>
            <a:pPr lvl="0" algn="l">
              <a:buFontTx/>
            </a:pPr>
            <a:r>
              <a:rPr lang="zh-CN" altLang="en-US" dirty="0"/>
              <a:t>单击此处编辑知识点名称</a:t>
            </a:r>
            <a:endParaRPr lang="zh-CN" altLang="en-US"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5606" y="126080"/>
            <a:ext cx="350169" cy="35016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标题 1"/>
          <p:cNvSpPr>
            <a:spLocks noGrp="1"/>
          </p:cNvSpPr>
          <p:nvPr>
            <p:ph type="ctrTitle" hasCustomPrompt="1"/>
          </p:nvPr>
        </p:nvSpPr>
        <p:spPr>
          <a:xfrm>
            <a:off x="0" y="1274606"/>
            <a:ext cx="6858000" cy="1228873"/>
          </a:xfrm>
          <a:prstGeom prst="rect">
            <a:avLst/>
          </a:prstGeom>
        </p:spPr>
        <p:txBody>
          <a:bodyPr anchor="ctr"/>
          <a:lstStyle>
            <a:lvl1pPr algn="ctr">
              <a:lnSpc>
                <a:spcPct val="120000"/>
              </a:lnSpc>
              <a:defRPr sz="3600" b="1">
                <a:solidFill>
                  <a:srgbClr val="000066"/>
                </a:solidFill>
                <a:effectLst/>
                <a:latin typeface="黑体" panose="02010609060101010101" pitchFamily="49" charset="-122"/>
                <a:ea typeface="黑体" panose="02010609060101010101" pitchFamily="49" charset="-122"/>
              </a:defRPr>
            </a:lvl1pPr>
          </a:lstStyle>
          <a:p>
            <a:r>
              <a:rPr lang="zh-CN" altLang="en-US" dirty="0"/>
              <a:t>  知识点名称</a:t>
            </a:r>
            <a:br>
              <a:rPr lang="en-US" altLang="zh-CN" dirty="0"/>
            </a:br>
            <a:r>
              <a:rPr lang="zh-CN" altLang="en-US" dirty="0"/>
              <a:t>（太长时可以两行）</a:t>
            </a:r>
            <a:endParaRPr lang="zh-CN" altLang="en-US" dirty="0"/>
          </a:p>
        </p:txBody>
      </p:sp>
      <p:sp>
        <p:nvSpPr>
          <p:cNvPr id="8" name="文本占位符 9"/>
          <p:cNvSpPr>
            <a:spLocks noGrp="1"/>
          </p:cNvSpPr>
          <p:nvPr>
            <p:ph type="body" sz="quarter" idx="14" hasCustomPrompt="1"/>
          </p:nvPr>
        </p:nvSpPr>
        <p:spPr>
          <a:xfrm>
            <a:off x="1458000" y="2732290"/>
            <a:ext cx="3941999" cy="480131"/>
          </a:xfrm>
          <a:prstGeom prst="rect">
            <a:avLst/>
          </a:prstGeom>
        </p:spPr>
        <p:txBody>
          <a:bodyPr wrap="square">
            <a:spAutoFit/>
          </a:bodyPr>
          <a:lstStyle>
            <a:lvl1pPr marL="0" indent="0" algn="ctr">
              <a:buNone/>
              <a:defRPr sz="2800">
                <a:solidFill>
                  <a:srgbClr val="800000"/>
                </a:solidFill>
                <a:effectLst/>
                <a:latin typeface="华文新魏" panose="02010800040101010101" pitchFamily="2" charset="-122"/>
                <a:ea typeface="华文新魏" panose="02010800040101010101" pitchFamily="2" charset="-122"/>
              </a:defRPr>
            </a:lvl1pPr>
            <a:lvl2pPr marL="0" indent="0">
              <a:spcBef>
                <a:spcPts val="0"/>
              </a:spcBef>
              <a:buNone/>
              <a:defRPr sz="1350">
                <a:solidFill>
                  <a:srgbClr val="0000FF"/>
                </a:solidFill>
                <a:latin typeface="黑体" panose="02010609060101010101" pitchFamily="49" charset="-122"/>
                <a:ea typeface="黑体" panose="02010609060101010101" pitchFamily="49" charset="-122"/>
              </a:defRPr>
            </a:lvl2pPr>
          </a:lstStyle>
          <a:p>
            <a:pPr lvl="0"/>
            <a:r>
              <a:rPr lang="zh-CN" altLang="en-US" dirty="0"/>
              <a:t>教师名  主讲</a:t>
            </a:r>
            <a:endParaRPr lang="zh-CN" altLang="en-US" dirty="0"/>
          </a:p>
        </p:txBody>
      </p:sp>
      <p:sp>
        <p:nvSpPr>
          <p:cNvPr id="10" name="文本框 9"/>
          <p:cNvSpPr txBox="1"/>
          <p:nvPr userDrawn="1"/>
        </p:nvSpPr>
        <p:spPr>
          <a:xfrm>
            <a:off x="573756" y="114250"/>
            <a:ext cx="1377300" cy="415498"/>
          </a:xfrm>
          <a:prstGeom prst="rect">
            <a:avLst/>
          </a:prstGeom>
          <a:noFill/>
          <a:ln>
            <a:noFill/>
          </a:ln>
        </p:spPr>
        <p:txBody>
          <a:bodyPr wrap="none" rtlCol="0">
            <a:spAutoFit/>
          </a:bodyPr>
          <a:lstStyle/>
          <a:p>
            <a:r>
              <a:rPr lang="zh-CN" altLang="en-US" sz="2100" kern="3000" spc="225" baseline="0" dirty="0">
                <a:solidFill>
                  <a:srgbClr val="1A6ED1"/>
                </a:solidFill>
                <a:latin typeface="华文彩云" panose="02010800040101010101" pitchFamily="2" charset="-122"/>
                <a:ea typeface="华文彩云" panose="02010800040101010101" pitchFamily="2" charset="-122"/>
              </a:rPr>
              <a:t>数据结构</a:t>
            </a:r>
            <a:endParaRPr lang="zh-CN" altLang="en-US" sz="2100" kern="3000" spc="225" baseline="0" dirty="0">
              <a:solidFill>
                <a:srgbClr val="1A6ED1"/>
              </a:solidFill>
              <a:latin typeface="华文彩云" panose="02010800040101010101" pitchFamily="2" charset="-122"/>
              <a:ea typeface="华文彩云" panose="02010800040101010101" pitchFamily="2" charset="-122"/>
            </a:endParaRP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2756" y="126080"/>
            <a:ext cx="350169" cy="35016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全屏幕正文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6052" y="593324"/>
            <a:ext cx="6070651" cy="4085639"/>
          </a:xfrm>
          <a:prstGeom prst="rect">
            <a:avLst/>
          </a:prstGeom>
        </p:spPr>
        <p:txBody>
          <a:bodyPr/>
          <a:lstStyle>
            <a:lvl1pPr marL="0" marR="0" indent="0" algn="just" defTabSz="685800" rtl="0" eaLnBrk="0" fontAlgn="base" latinLnBrk="0" hangingPunct="0">
              <a:lnSpc>
                <a:spcPts val="3000"/>
              </a:lnSpc>
              <a:spcBef>
                <a:spcPts val="600"/>
              </a:spcBef>
              <a:spcAft>
                <a:spcPct val="0"/>
              </a:spcAft>
              <a:buClrTx/>
              <a:buSzTx/>
              <a:buFont typeface="Wingdings" panose="05000000000000000000" pitchFamily="2" charset="2"/>
              <a:buNone/>
              <a:defRPr lang="zh-CN" altLang="en-US" sz="2300" b="1" kern="1200" baseline="0" dirty="0">
                <a:solidFill>
                  <a:srgbClr val="800000"/>
                </a:solidFill>
                <a:effectLst/>
                <a:latin typeface="Times New Roman" panose="02020603050405020304" pitchFamily="18" charset="0"/>
                <a:ea typeface="黑体" panose="02010609060101010101" pitchFamily="49" charset="-122"/>
                <a:cs typeface="+mn-cs"/>
              </a:defRPr>
            </a:lvl1pPr>
            <a:lvl2pPr marL="135255" indent="0" algn="just">
              <a:lnSpc>
                <a:spcPts val="3000"/>
              </a:lnSpc>
              <a:spcBef>
                <a:spcPts val="300"/>
              </a:spcBef>
              <a:buClr>
                <a:srgbClr val="006600"/>
              </a:buClr>
              <a:buFontTx/>
              <a:buNone/>
              <a:defRPr lang="en-US" altLang="zh-CN" sz="2300" b="1" kern="1200" baseline="0" dirty="0">
                <a:solidFill>
                  <a:srgbClr val="CC6600"/>
                </a:solidFill>
                <a:effectLst/>
                <a:latin typeface="方正隶书简体" panose="02010601030101010101" pitchFamily="2" charset="-122"/>
                <a:ea typeface="方正隶书简体" panose="02010601030101010101" pitchFamily="2" charset="-122"/>
                <a:cs typeface="+mn-cs"/>
              </a:defRPr>
            </a:lvl2pPr>
            <a:lvl3pPr marL="135255" indent="0" algn="just" eaLnBrk="1" hangingPunct="1">
              <a:lnSpc>
                <a:spcPts val="3400"/>
              </a:lnSpc>
              <a:spcBef>
                <a:spcPts val="0"/>
              </a:spcBef>
              <a:buClr>
                <a:srgbClr val="800000"/>
              </a:buClr>
              <a:buSzPct val="70000"/>
              <a:buFont typeface="Wingdings" panose="05000000000000000000" pitchFamily="2" charset="2"/>
              <a:buNone/>
              <a:defRPr lang="en-US" altLang="zh-CN" sz="2100" b="1" kern="1200" baseline="0" dirty="0">
                <a:solidFill>
                  <a:srgbClr val="00194C"/>
                </a:solidFill>
                <a:latin typeface="华文楷体" panose="02010600040101010101" pitchFamily="2" charset="-122"/>
                <a:ea typeface="华文楷体" panose="02010600040101010101" pitchFamily="2" charset="-122"/>
                <a:cs typeface="+mn-cs"/>
              </a:defRPr>
            </a:lvl3pPr>
            <a:lvl4pPr marL="135255" indent="0" algn="just" eaLnBrk="1" hangingPunct="1">
              <a:lnSpc>
                <a:spcPts val="2550"/>
              </a:lnSpc>
              <a:spcBef>
                <a:spcPts val="0"/>
              </a:spcBef>
              <a:buFontTx/>
              <a:buNone/>
              <a:defRPr sz="1575" b="1" baseline="0">
                <a:solidFill>
                  <a:srgbClr val="000099"/>
                </a:solidFill>
                <a:latin typeface="Times New Roman" panose="02020603050405020304" pitchFamily="18" charset="0"/>
                <a:ea typeface="黑体" panose="02010609060101010101" pitchFamily="49" charset="-122"/>
              </a:defRPr>
            </a:lvl4pPr>
            <a:lvl5pPr marL="107950" indent="0" algn="just" fontAlgn="ctr">
              <a:lnSpc>
                <a:spcPts val="2550"/>
              </a:lnSpc>
              <a:spcBef>
                <a:spcPts val="0"/>
              </a:spcBef>
              <a:spcAft>
                <a:spcPts val="225"/>
              </a:spcAft>
              <a:buClr>
                <a:srgbClr val="800000"/>
              </a:buClr>
              <a:buSzPct val="160000"/>
              <a:buFontTx/>
              <a:buNone/>
              <a:defRPr lang="en-US" altLang="zh-CN" sz="1575" b="1" kern="1200" baseline="0" dirty="0" smtClean="0">
                <a:solidFill>
                  <a:srgbClr val="6633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5pPr>
            <a:lvl6pPr marL="0" indent="0" algn="just" fontAlgn="ctr">
              <a:lnSpc>
                <a:spcPts val="2550"/>
              </a:lnSpc>
              <a:spcBef>
                <a:spcPts val="0"/>
              </a:spcBef>
              <a:spcAft>
                <a:spcPts val="0"/>
              </a:spcAft>
              <a:buSzPct val="220000"/>
              <a:buFontTx/>
              <a:buNone/>
              <a:defRPr lang="en-US" altLang="zh-CN" sz="1575" b="1" kern="1200" baseline="0" dirty="0" smtClean="0">
                <a:solidFill>
                  <a:srgbClr val="6633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6pPr>
            <a:lvl7pPr marL="0" marR="0" indent="0" algn="l" defTabSz="685800" rtl="0" eaLnBrk="1" fontAlgn="ctr" latinLnBrk="0" hangingPunct="1">
              <a:lnSpc>
                <a:spcPts val="1500"/>
              </a:lnSpc>
              <a:spcBef>
                <a:spcPts val="0"/>
              </a:spcBef>
              <a:spcAft>
                <a:spcPts val="0"/>
              </a:spcAft>
              <a:buClrTx/>
              <a:buSzPct val="300000"/>
              <a:buFontTx/>
              <a:buNone/>
              <a:defRPr lang="en-US" altLang="zh-CN" sz="1350" kern="1200" dirty="0" smtClean="0">
                <a:solidFill>
                  <a:schemeClr val="tx1"/>
                </a:solidFill>
                <a:latin typeface="黑体" panose="02010609060101010101" pitchFamily="49" charset="-122"/>
                <a:ea typeface="黑体" panose="02010609060101010101" pitchFamily="49" charset="-122"/>
                <a:cs typeface="+mn-cs"/>
              </a:defRPr>
            </a:lvl7pPr>
            <a:lvl8pPr marL="257175" indent="-257175" fontAlgn="ctr">
              <a:lnSpc>
                <a:spcPts val="2250"/>
              </a:lnSpc>
              <a:spcBef>
                <a:spcPts val="450"/>
              </a:spcBef>
              <a:buSzPct val="220000"/>
              <a:buFontTx/>
              <a:buBlip>
                <a:blip r:embed="rId2"/>
              </a:buBlip>
              <a:defRPr sz="1800" b="1" baseline="0">
                <a:solidFill>
                  <a:srgbClr val="8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defRPr>
            </a:lvl8pPr>
            <a:lvl9pPr marL="0" indent="-269875" fontAlgn="ctr">
              <a:lnSpc>
                <a:spcPts val="2250"/>
              </a:lnSpc>
              <a:spcBef>
                <a:spcPts val="450"/>
              </a:spcBef>
              <a:buSzPct val="180000"/>
              <a:buFontTx/>
              <a:buBlip>
                <a:blip r:embed="rId3"/>
              </a:buBlip>
              <a:defRPr lang="en-US" altLang="zh-CN" sz="1800" b="1" kern="1200" baseline="0" dirty="0" smtClean="0">
                <a:solidFill>
                  <a:srgbClr val="8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9pPr>
          </a:lstStyle>
          <a:p>
            <a:pPr marL="0" marR="0" lvl="0" indent="0" algn="just" defTabSz="685800" rtl="0" eaLnBrk="0" fontAlgn="base" latinLnBrk="0" hangingPunct="0">
              <a:lnSpc>
                <a:spcPts val="2250"/>
              </a:lnSpc>
              <a:spcBef>
                <a:spcPts val="450"/>
              </a:spcBef>
              <a:spcAft>
                <a:spcPct val="0"/>
              </a:spcAft>
              <a:buClrTx/>
              <a:buSzTx/>
              <a:buFont typeface="Wingdings" panose="05000000000000000000" pitchFamily="2" charset="2"/>
              <a:buNone/>
              <a:defRPr/>
            </a:pPr>
            <a:r>
              <a:rPr lang="zh-CN" altLang="en-US" dirty="0"/>
              <a:t>第一级标题</a:t>
            </a:r>
            <a:endParaRPr lang="zh-CN" altLang="en-US" dirty="0"/>
          </a:p>
          <a:p>
            <a:pPr marL="135255" lvl="1" indent="0" algn="just" defTabSz="685800" rtl="0" eaLnBrk="0" fontAlgn="base" latinLnBrk="0" hangingPunct="0">
              <a:lnSpc>
                <a:spcPts val="2250"/>
              </a:lnSpc>
              <a:spcBef>
                <a:spcPts val="225"/>
              </a:spcBef>
              <a:spcAft>
                <a:spcPct val="0"/>
              </a:spcAft>
              <a:buClr>
                <a:srgbClr val="006600"/>
              </a:buClr>
              <a:buFontTx/>
              <a:buNone/>
            </a:pPr>
            <a:r>
              <a:rPr lang="zh-CN" altLang="en-US" dirty="0"/>
              <a:t>第二级</a:t>
            </a:r>
            <a:endParaRPr lang="en-US" altLang="zh-CN" dirty="0"/>
          </a:p>
          <a:p>
            <a:pPr marL="135255" lvl="2" indent="0" algn="just" defTabSz="685800" rtl="0" eaLnBrk="0" fontAlgn="base" latinLnBrk="0" hangingPunct="0">
              <a:lnSpc>
                <a:spcPts val="2250"/>
              </a:lnSpc>
              <a:spcBef>
                <a:spcPts val="225"/>
              </a:spcBef>
              <a:spcAft>
                <a:spcPct val="0"/>
              </a:spcAft>
              <a:buClr>
                <a:srgbClr val="006600"/>
              </a:buClr>
              <a:buSzPct val="70000"/>
              <a:buFontTx/>
              <a:buNone/>
            </a:pPr>
            <a:r>
              <a:rPr lang="zh-CN" altLang="en-US" dirty="0"/>
              <a:t>第三级</a:t>
            </a:r>
            <a:endParaRPr lang="en-US" altLang="zh-CN" dirty="0"/>
          </a:p>
        </p:txBody>
      </p:sp>
      <p:sp>
        <p:nvSpPr>
          <p:cNvPr id="5" name="标题 13"/>
          <p:cNvSpPr>
            <a:spLocks noGrp="1"/>
          </p:cNvSpPr>
          <p:nvPr>
            <p:ph type="title" hasCustomPrompt="1"/>
          </p:nvPr>
        </p:nvSpPr>
        <p:spPr>
          <a:xfrm>
            <a:off x="559725" y="171218"/>
            <a:ext cx="3612225" cy="249299"/>
          </a:xfrm>
          <a:prstGeom prst="rect">
            <a:avLst/>
          </a:prstGeom>
          <a:noFill/>
        </p:spPr>
        <p:txBody>
          <a:bodyPr wrap="square" lIns="36000" tIns="0" rIns="0" bIns="0">
            <a:spAutoFit/>
          </a:bodyPr>
          <a:lstStyle>
            <a:lvl1pPr marL="0" algn="l" defTabSz="685800" rtl="0" eaLnBrk="1" latinLnBrk="0" hangingPunct="1">
              <a:defRPr lang="zh-CN" altLang="en-US" sz="1800" b="1" kern="1500" spc="0" baseline="0" dirty="0">
                <a:solidFill>
                  <a:srgbClr val="002060"/>
                </a:solidFill>
                <a:latin typeface="黑体" panose="02010609060101010101" pitchFamily="49" charset="-122"/>
                <a:ea typeface="黑体" panose="02010609060101010101" pitchFamily="49" charset="-122"/>
                <a:cs typeface="+mn-cs"/>
              </a:defRPr>
            </a:lvl1pPr>
          </a:lstStyle>
          <a:p>
            <a:pPr lvl="0" algn="l">
              <a:buFontTx/>
            </a:pPr>
            <a:r>
              <a:rPr lang="zh-CN" altLang="en-US" dirty="0"/>
              <a:t>单击此处编辑知识点名称</a:t>
            </a:r>
            <a:endParaRPr lang="zh-CN" altLang="en-US"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5606" y="126080"/>
            <a:ext cx="350169" cy="35016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标题 1"/>
          <p:cNvSpPr>
            <a:spLocks noGrp="1"/>
          </p:cNvSpPr>
          <p:nvPr>
            <p:ph type="ctrTitle" hasCustomPrompt="1"/>
          </p:nvPr>
        </p:nvSpPr>
        <p:spPr>
          <a:xfrm>
            <a:off x="0" y="1274606"/>
            <a:ext cx="6858000" cy="1228873"/>
          </a:xfrm>
          <a:prstGeom prst="rect">
            <a:avLst/>
          </a:prstGeom>
        </p:spPr>
        <p:txBody>
          <a:bodyPr anchor="ctr"/>
          <a:lstStyle>
            <a:lvl1pPr algn="ctr">
              <a:lnSpc>
                <a:spcPct val="120000"/>
              </a:lnSpc>
              <a:defRPr sz="3600" b="1">
                <a:solidFill>
                  <a:srgbClr val="000066"/>
                </a:solidFill>
                <a:effectLst/>
                <a:latin typeface="黑体" panose="02010609060101010101" pitchFamily="49" charset="-122"/>
                <a:ea typeface="黑体" panose="02010609060101010101" pitchFamily="49" charset="-122"/>
              </a:defRPr>
            </a:lvl1pPr>
          </a:lstStyle>
          <a:p>
            <a:r>
              <a:rPr lang="zh-CN" altLang="en-US" dirty="0"/>
              <a:t>  知识点名称</a:t>
            </a:r>
            <a:br>
              <a:rPr lang="en-US" altLang="zh-CN" dirty="0"/>
            </a:br>
            <a:r>
              <a:rPr lang="zh-CN" altLang="en-US" dirty="0"/>
              <a:t>（太长时可以两行）</a:t>
            </a:r>
            <a:endParaRPr lang="zh-CN" altLang="en-US" dirty="0"/>
          </a:p>
        </p:txBody>
      </p:sp>
      <p:sp>
        <p:nvSpPr>
          <p:cNvPr id="8" name="文本占位符 9"/>
          <p:cNvSpPr>
            <a:spLocks noGrp="1"/>
          </p:cNvSpPr>
          <p:nvPr>
            <p:ph type="body" sz="quarter" idx="14" hasCustomPrompt="1"/>
          </p:nvPr>
        </p:nvSpPr>
        <p:spPr>
          <a:xfrm>
            <a:off x="1458000" y="2732290"/>
            <a:ext cx="3941999" cy="480131"/>
          </a:xfrm>
          <a:prstGeom prst="rect">
            <a:avLst/>
          </a:prstGeom>
        </p:spPr>
        <p:txBody>
          <a:bodyPr wrap="square">
            <a:spAutoFit/>
          </a:bodyPr>
          <a:lstStyle>
            <a:lvl1pPr marL="0" indent="0" algn="ctr">
              <a:buNone/>
              <a:defRPr sz="2800">
                <a:solidFill>
                  <a:srgbClr val="800000"/>
                </a:solidFill>
                <a:effectLst/>
                <a:latin typeface="华文新魏" panose="02010800040101010101" pitchFamily="2" charset="-122"/>
                <a:ea typeface="华文新魏" panose="02010800040101010101" pitchFamily="2" charset="-122"/>
              </a:defRPr>
            </a:lvl1pPr>
            <a:lvl2pPr marL="0" indent="0">
              <a:spcBef>
                <a:spcPts val="0"/>
              </a:spcBef>
              <a:buNone/>
              <a:defRPr sz="1350">
                <a:solidFill>
                  <a:srgbClr val="0000FF"/>
                </a:solidFill>
                <a:latin typeface="黑体" panose="02010609060101010101" pitchFamily="49" charset="-122"/>
                <a:ea typeface="黑体" panose="02010609060101010101" pitchFamily="49" charset="-122"/>
              </a:defRPr>
            </a:lvl2pPr>
          </a:lstStyle>
          <a:p>
            <a:pPr lvl="0"/>
            <a:r>
              <a:rPr lang="zh-CN" altLang="en-US" dirty="0"/>
              <a:t>教师名  主讲</a:t>
            </a:r>
            <a:endParaRPr lang="zh-CN" altLang="en-US" dirty="0"/>
          </a:p>
        </p:txBody>
      </p:sp>
      <p:sp>
        <p:nvSpPr>
          <p:cNvPr id="10" name="文本框 9"/>
          <p:cNvSpPr txBox="1"/>
          <p:nvPr userDrawn="1"/>
        </p:nvSpPr>
        <p:spPr>
          <a:xfrm>
            <a:off x="573756" y="114250"/>
            <a:ext cx="1377300" cy="415498"/>
          </a:xfrm>
          <a:prstGeom prst="rect">
            <a:avLst/>
          </a:prstGeom>
          <a:noFill/>
          <a:ln>
            <a:noFill/>
          </a:ln>
        </p:spPr>
        <p:txBody>
          <a:bodyPr wrap="none" rtlCol="0">
            <a:spAutoFit/>
          </a:bodyPr>
          <a:lstStyle/>
          <a:p>
            <a:r>
              <a:rPr lang="zh-CN" altLang="en-US" sz="2100" kern="3000" spc="225" baseline="0" dirty="0">
                <a:solidFill>
                  <a:srgbClr val="1A6ED1"/>
                </a:solidFill>
                <a:latin typeface="华文彩云" panose="02010800040101010101" pitchFamily="2" charset="-122"/>
                <a:ea typeface="华文彩云" panose="02010800040101010101" pitchFamily="2" charset="-122"/>
              </a:rPr>
              <a:t>数据结构</a:t>
            </a:r>
            <a:endParaRPr lang="zh-CN" altLang="en-US" sz="2100" kern="3000" spc="225" baseline="0" dirty="0">
              <a:solidFill>
                <a:srgbClr val="1A6ED1"/>
              </a:solidFill>
              <a:latin typeface="华文彩云" panose="02010800040101010101" pitchFamily="2" charset="-122"/>
              <a:ea typeface="华文彩云" panose="02010800040101010101" pitchFamily="2" charset="-122"/>
            </a:endParaRP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2756" y="126080"/>
            <a:ext cx="350169" cy="35016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全屏幕正文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6052" y="593324"/>
            <a:ext cx="6070651" cy="4085639"/>
          </a:xfrm>
          <a:prstGeom prst="rect">
            <a:avLst/>
          </a:prstGeom>
        </p:spPr>
        <p:txBody>
          <a:bodyPr/>
          <a:lstStyle>
            <a:lvl1pPr marL="0" marR="0" indent="0" algn="just" defTabSz="685800" rtl="0" eaLnBrk="0" fontAlgn="base" latinLnBrk="0" hangingPunct="0">
              <a:lnSpc>
                <a:spcPts val="3000"/>
              </a:lnSpc>
              <a:spcBef>
                <a:spcPts val="600"/>
              </a:spcBef>
              <a:spcAft>
                <a:spcPct val="0"/>
              </a:spcAft>
              <a:buClrTx/>
              <a:buSzTx/>
              <a:buFont typeface="Wingdings" panose="05000000000000000000" pitchFamily="2" charset="2"/>
              <a:buNone/>
              <a:defRPr lang="zh-CN" altLang="en-US" sz="2300" b="1" kern="1200" baseline="0" dirty="0">
                <a:solidFill>
                  <a:srgbClr val="800000"/>
                </a:solidFill>
                <a:effectLst/>
                <a:latin typeface="Times New Roman" panose="02020603050405020304" pitchFamily="18" charset="0"/>
                <a:ea typeface="黑体" panose="02010609060101010101" pitchFamily="49" charset="-122"/>
                <a:cs typeface="+mn-cs"/>
              </a:defRPr>
            </a:lvl1pPr>
            <a:lvl2pPr marL="135255" indent="0" algn="just">
              <a:lnSpc>
                <a:spcPts val="3000"/>
              </a:lnSpc>
              <a:spcBef>
                <a:spcPts val="300"/>
              </a:spcBef>
              <a:buClr>
                <a:srgbClr val="006600"/>
              </a:buClr>
              <a:buFontTx/>
              <a:buNone/>
              <a:defRPr lang="en-US" altLang="zh-CN" sz="2300" b="1" kern="1200" baseline="0" dirty="0">
                <a:solidFill>
                  <a:srgbClr val="CC6600"/>
                </a:solidFill>
                <a:effectLst/>
                <a:latin typeface="方正隶书简体" panose="02010601030101010101" pitchFamily="2" charset="-122"/>
                <a:ea typeface="方正隶书简体" panose="02010601030101010101" pitchFamily="2" charset="-122"/>
                <a:cs typeface="+mn-cs"/>
              </a:defRPr>
            </a:lvl2pPr>
            <a:lvl3pPr marL="135255" indent="0" algn="just" eaLnBrk="1" hangingPunct="1">
              <a:lnSpc>
                <a:spcPts val="3400"/>
              </a:lnSpc>
              <a:spcBef>
                <a:spcPts val="0"/>
              </a:spcBef>
              <a:buClr>
                <a:srgbClr val="800000"/>
              </a:buClr>
              <a:buSzPct val="70000"/>
              <a:buFont typeface="Wingdings" panose="05000000000000000000" pitchFamily="2" charset="2"/>
              <a:buNone/>
              <a:defRPr lang="en-US" altLang="zh-CN" sz="2100" b="1" kern="1200" baseline="0" dirty="0">
                <a:solidFill>
                  <a:srgbClr val="00194C"/>
                </a:solidFill>
                <a:latin typeface="华文楷体" panose="02010600040101010101" pitchFamily="2" charset="-122"/>
                <a:ea typeface="华文楷体" panose="02010600040101010101" pitchFamily="2" charset="-122"/>
                <a:cs typeface="+mn-cs"/>
              </a:defRPr>
            </a:lvl3pPr>
            <a:lvl4pPr marL="135255" indent="0" algn="just" eaLnBrk="1" hangingPunct="1">
              <a:lnSpc>
                <a:spcPts val="2550"/>
              </a:lnSpc>
              <a:spcBef>
                <a:spcPts val="0"/>
              </a:spcBef>
              <a:buFontTx/>
              <a:buNone/>
              <a:defRPr sz="1575" b="1" baseline="0">
                <a:solidFill>
                  <a:srgbClr val="000099"/>
                </a:solidFill>
                <a:latin typeface="Times New Roman" panose="02020603050405020304" pitchFamily="18" charset="0"/>
                <a:ea typeface="黑体" panose="02010609060101010101" pitchFamily="49" charset="-122"/>
              </a:defRPr>
            </a:lvl4pPr>
            <a:lvl5pPr marL="107950" indent="0" algn="just" fontAlgn="ctr">
              <a:lnSpc>
                <a:spcPts val="2550"/>
              </a:lnSpc>
              <a:spcBef>
                <a:spcPts val="0"/>
              </a:spcBef>
              <a:spcAft>
                <a:spcPts val="225"/>
              </a:spcAft>
              <a:buClr>
                <a:srgbClr val="800000"/>
              </a:buClr>
              <a:buSzPct val="160000"/>
              <a:buFontTx/>
              <a:buNone/>
              <a:defRPr lang="en-US" altLang="zh-CN" sz="1575" b="1" kern="1200" baseline="0" dirty="0" smtClean="0">
                <a:solidFill>
                  <a:srgbClr val="6633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5pPr>
            <a:lvl6pPr marL="0" indent="0" algn="just" fontAlgn="ctr">
              <a:lnSpc>
                <a:spcPts val="2550"/>
              </a:lnSpc>
              <a:spcBef>
                <a:spcPts val="0"/>
              </a:spcBef>
              <a:spcAft>
                <a:spcPts val="0"/>
              </a:spcAft>
              <a:buSzPct val="220000"/>
              <a:buFontTx/>
              <a:buNone/>
              <a:defRPr lang="en-US" altLang="zh-CN" sz="1575" b="1" kern="1200" baseline="0" dirty="0" smtClean="0">
                <a:solidFill>
                  <a:srgbClr val="6633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6pPr>
            <a:lvl7pPr marL="0" marR="0" indent="0" algn="l" defTabSz="685800" rtl="0" eaLnBrk="1" fontAlgn="ctr" latinLnBrk="0" hangingPunct="1">
              <a:lnSpc>
                <a:spcPts val="1500"/>
              </a:lnSpc>
              <a:spcBef>
                <a:spcPts val="0"/>
              </a:spcBef>
              <a:spcAft>
                <a:spcPts val="0"/>
              </a:spcAft>
              <a:buClrTx/>
              <a:buSzPct val="300000"/>
              <a:buFontTx/>
              <a:buNone/>
              <a:defRPr lang="en-US" altLang="zh-CN" sz="1350" kern="1200" dirty="0" smtClean="0">
                <a:solidFill>
                  <a:schemeClr val="tx1"/>
                </a:solidFill>
                <a:latin typeface="黑体" panose="02010609060101010101" pitchFamily="49" charset="-122"/>
                <a:ea typeface="黑体" panose="02010609060101010101" pitchFamily="49" charset="-122"/>
                <a:cs typeface="+mn-cs"/>
              </a:defRPr>
            </a:lvl7pPr>
            <a:lvl8pPr marL="257175" indent="-257175" fontAlgn="ctr">
              <a:lnSpc>
                <a:spcPts val="2250"/>
              </a:lnSpc>
              <a:spcBef>
                <a:spcPts val="450"/>
              </a:spcBef>
              <a:buSzPct val="220000"/>
              <a:buFontTx/>
              <a:buBlip>
                <a:blip r:embed="rId2"/>
              </a:buBlip>
              <a:defRPr sz="1800" b="1" baseline="0">
                <a:solidFill>
                  <a:srgbClr val="8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defRPr>
            </a:lvl8pPr>
            <a:lvl9pPr marL="0" indent="-269875" fontAlgn="ctr">
              <a:lnSpc>
                <a:spcPts val="2250"/>
              </a:lnSpc>
              <a:spcBef>
                <a:spcPts val="450"/>
              </a:spcBef>
              <a:buSzPct val="180000"/>
              <a:buFontTx/>
              <a:buBlip>
                <a:blip r:embed="rId3"/>
              </a:buBlip>
              <a:defRPr lang="en-US" altLang="zh-CN" sz="1800" b="1" kern="1200" baseline="0" dirty="0" smtClean="0">
                <a:solidFill>
                  <a:srgbClr val="8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9pPr>
          </a:lstStyle>
          <a:p>
            <a:pPr marL="0" marR="0" lvl="0" indent="0" algn="just" defTabSz="685800" rtl="0" eaLnBrk="0" fontAlgn="base" latinLnBrk="0" hangingPunct="0">
              <a:lnSpc>
                <a:spcPts val="2250"/>
              </a:lnSpc>
              <a:spcBef>
                <a:spcPts val="450"/>
              </a:spcBef>
              <a:spcAft>
                <a:spcPct val="0"/>
              </a:spcAft>
              <a:buClrTx/>
              <a:buSzTx/>
              <a:buFont typeface="Wingdings" panose="05000000000000000000" pitchFamily="2" charset="2"/>
              <a:buNone/>
              <a:defRPr/>
            </a:pPr>
            <a:r>
              <a:rPr lang="zh-CN" altLang="en-US" dirty="0"/>
              <a:t>第一级标题</a:t>
            </a:r>
            <a:endParaRPr lang="zh-CN" altLang="en-US" dirty="0"/>
          </a:p>
          <a:p>
            <a:pPr marL="135255" lvl="1" indent="0" algn="just" defTabSz="685800" rtl="0" eaLnBrk="0" fontAlgn="base" latinLnBrk="0" hangingPunct="0">
              <a:lnSpc>
                <a:spcPts val="2250"/>
              </a:lnSpc>
              <a:spcBef>
                <a:spcPts val="225"/>
              </a:spcBef>
              <a:spcAft>
                <a:spcPct val="0"/>
              </a:spcAft>
              <a:buClr>
                <a:srgbClr val="006600"/>
              </a:buClr>
              <a:buFontTx/>
              <a:buNone/>
            </a:pPr>
            <a:r>
              <a:rPr lang="zh-CN" altLang="en-US" dirty="0"/>
              <a:t>第二级</a:t>
            </a:r>
            <a:endParaRPr lang="en-US" altLang="zh-CN" dirty="0"/>
          </a:p>
          <a:p>
            <a:pPr marL="135255" lvl="2" indent="0" algn="just" defTabSz="685800" rtl="0" eaLnBrk="0" fontAlgn="base" latinLnBrk="0" hangingPunct="0">
              <a:lnSpc>
                <a:spcPts val="2250"/>
              </a:lnSpc>
              <a:spcBef>
                <a:spcPts val="225"/>
              </a:spcBef>
              <a:spcAft>
                <a:spcPct val="0"/>
              </a:spcAft>
              <a:buClr>
                <a:srgbClr val="006600"/>
              </a:buClr>
              <a:buSzPct val="70000"/>
              <a:buFontTx/>
              <a:buNone/>
            </a:pPr>
            <a:r>
              <a:rPr lang="zh-CN" altLang="en-US" dirty="0"/>
              <a:t>第三级</a:t>
            </a:r>
            <a:endParaRPr lang="en-US" altLang="zh-CN" dirty="0"/>
          </a:p>
        </p:txBody>
      </p:sp>
      <p:sp>
        <p:nvSpPr>
          <p:cNvPr id="5" name="标题 13"/>
          <p:cNvSpPr>
            <a:spLocks noGrp="1"/>
          </p:cNvSpPr>
          <p:nvPr>
            <p:ph type="title" hasCustomPrompt="1"/>
          </p:nvPr>
        </p:nvSpPr>
        <p:spPr>
          <a:xfrm>
            <a:off x="559725" y="171218"/>
            <a:ext cx="3612225" cy="249299"/>
          </a:xfrm>
          <a:prstGeom prst="rect">
            <a:avLst/>
          </a:prstGeom>
          <a:noFill/>
        </p:spPr>
        <p:txBody>
          <a:bodyPr wrap="square" lIns="36000" tIns="0" rIns="0" bIns="0">
            <a:spAutoFit/>
          </a:bodyPr>
          <a:lstStyle>
            <a:lvl1pPr marL="0" algn="l" defTabSz="685800" rtl="0" eaLnBrk="1" latinLnBrk="0" hangingPunct="1">
              <a:defRPr lang="zh-CN" altLang="en-US" sz="1800" b="1" kern="1500" spc="0" baseline="0" dirty="0">
                <a:solidFill>
                  <a:srgbClr val="002060"/>
                </a:solidFill>
                <a:latin typeface="黑体" panose="02010609060101010101" pitchFamily="49" charset="-122"/>
                <a:ea typeface="黑体" panose="02010609060101010101" pitchFamily="49" charset="-122"/>
                <a:cs typeface="+mn-cs"/>
              </a:defRPr>
            </a:lvl1pPr>
          </a:lstStyle>
          <a:p>
            <a:pPr lvl="0" algn="l">
              <a:buFontTx/>
            </a:pPr>
            <a:r>
              <a:rPr lang="zh-CN" altLang="en-US" dirty="0"/>
              <a:t>单击此处编辑知识点名称</a:t>
            </a:r>
            <a:endParaRPr lang="zh-CN" altLang="en-US"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5606" y="126080"/>
            <a:ext cx="350169" cy="350169"/>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标题 1"/>
          <p:cNvSpPr>
            <a:spLocks noGrp="1"/>
          </p:cNvSpPr>
          <p:nvPr>
            <p:ph type="ctrTitle" hasCustomPrompt="1"/>
          </p:nvPr>
        </p:nvSpPr>
        <p:spPr>
          <a:xfrm>
            <a:off x="0" y="1274606"/>
            <a:ext cx="6858000" cy="1228873"/>
          </a:xfrm>
          <a:prstGeom prst="rect">
            <a:avLst/>
          </a:prstGeom>
        </p:spPr>
        <p:txBody>
          <a:bodyPr anchor="ctr"/>
          <a:lstStyle>
            <a:lvl1pPr algn="ctr">
              <a:lnSpc>
                <a:spcPct val="120000"/>
              </a:lnSpc>
              <a:defRPr sz="3600" b="1">
                <a:solidFill>
                  <a:srgbClr val="000066"/>
                </a:solidFill>
                <a:effectLst/>
                <a:latin typeface="黑体" panose="02010609060101010101" pitchFamily="49" charset="-122"/>
                <a:ea typeface="黑体" panose="02010609060101010101" pitchFamily="49" charset="-122"/>
              </a:defRPr>
            </a:lvl1pPr>
          </a:lstStyle>
          <a:p>
            <a:r>
              <a:rPr lang="zh-CN" altLang="en-US" dirty="0"/>
              <a:t>  知识点名称</a:t>
            </a:r>
            <a:br>
              <a:rPr lang="en-US" altLang="zh-CN" dirty="0"/>
            </a:br>
            <a:r>
              <a:rPr lang="zh-CN" altLang="en-US" dirty="0"/>
              <a:t>（太长时可以两行）</a:t>
            </a:r>
            <a:endParaRPr lang="zh-CN" altLang="en-US" dirty="0"/>
          </a:p>
        </p:txBody>
      </p:sp>
      <p:sp>
        <p:nvSpPr>
          <p:cNvPr id="8" name="文本占位符 9"/>
          <p:cNvSpPr>
            <a:spLocks noGrp="1"/>
          </p:cNvSpPr>
          <p:nvPr>
            <p:ph type="body" sz="quarter" idx="14" hasCustomPrompt="1"/>
          </p:nvPr>
        </p:nvSpPr>
        <p:spPr>
          <a:xfrm>
            <a:off x="1458000" y="2732290"/>
            <a:ext cx="3941999" cy="480131"/>
          </a:xfrm>
          <a:prstGeom prst="rect">
            <a:avLst/>
          </a:prstGeom>
        </p:spPr>
        <p:txBody>
          <a:bodyPr wrap="square">
            <a:spAutoFit/>
          </a:bodyPr>
          <a:lstStyle>
            <a:lvl1pPr marL="0" indent="0" algn="ctr">
              <a:buNone/>
              <a:defRPr sz="2800">
                <a:solidFill>
                  <a:srgbClr val="800000"/>
                </a:solidFill>
                <a:effectLst/>
                <a:latin typeface="华文新魏" panose="02010800040101010101" pitchFamily="2" charset="-122"/>
                <a:ea typeface="华文新魏" panose="02010800040101010101" pitchFamily="2" charset="-122"/>
              </a:defRPr>
            </a:lvl1pPr>
            <a:lvl2pPr marL="0" indent="0">
              <a:spcBef>
                <a:spcPts val="0"/>
              </a:spcBef>
              <a:buNone/>
              <a:defRPr sz="1350">
                <a:solidFill>
                  <a:srgbClr val="0000FF"/>
                </a:solidFill>
                <a:latin typeface="黑体" panose="02010609060101010101" pitchFamily="49" charset="-122"/>
                <a:ea typeface="黑体" panose="02010609060101010101" pitchFamily="49" charset="-122"/>
              </a:defRPr>
            </a:lvl2pPr>
          </a:lstStyle>
          <a:p>
            <a:pPr lvl="0"/>
            <a:r>
              <a:rPr lang="zh-CN" altLang="en-US" dirty="0"/>
              <a:t>教师名  主讲</a:t>
            </a:r>
            <a:endParaRPr lang="zh-CN" altLang="en-US" dirty="0"/>
          </a:p>
        </p:txBody>
      </p:sp>
      <p:sp>
        <p:nvSpPr>
          <p:cNvPr id="10" name="文本框 9"/>
          <p:cNvSpPr txBox="1"/>
          <p:nvPr userDrawn="1"/>
        </p:nvSpPr>
        <p:spPr>
          <a:xfrm>
            <a:off x="573756" y="114250"/>
            <a:ext cx="1377300" cy="415498"/>
          </a:xfrm>
          <a:prstGeom prst="rect">
            <a:avLst/>
          </a:prstGeom>
          <a:noFill/>
          <a:ln>
            <a:noFill/>
          </a:ln>
        </p:spPr>
        <p:txBody>
          <a:bodyPr wrap="none" rtlCol="0">
            <a:spAutoFit/>
          </a:bodyPr>
          <a:lstStyle/>
          <a:p>
            <a:r>
              <a:rPr lang="zh-CN" altLang="en-US" sz="2100" kern="3000" spc="225" baseline="0" dirty="0">
                <a:solidFill>
                  <a:srgbClr val="1A6ED1"/>
                </a:solidFill>
                <a:latin typeface="华文彩云" panose="02010800040101010101" pitchFamily="2" charset="-122"/>
                <a:ea typeface="华文彩云" panose="02010800040101010101" pitchFamily="2" charset="-122"/>
              </a:rPr>
              <a:t>数据结构</a:t>
            </a:r>
            <a:endParaRPr lang="zh-CN" altLang="en-US" sz="2100" kern="3000" spc="225" baseline="0" dirty="0">
              <a:solidFill>
                <a:srgbClr val="1A6ED1"/>
              </a:solidFill>
              <a:latin typeface="华文彩云" panose="02010800040101010101" pitchFamily="2" charset="-122"/>
              <a:ea typeface="华文彩云" panose="02010800040101010101" pitchFamily="2" charset="-122"/>
            </a:endParaRP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2756" y="126080"/>
            <a:ext cx="350169" cy="35016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全屏幕正文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6052" y="593324"/>
            <a:ext cx="6070651" cy="4085639"/>
          </a:xfrm>
          <a:prstGeom prst="rect">
            <a:avLst/>
          </a:prstGeom>
        </p:spPr>
        <p:txBody>
          <a:bodyPr/>
          <a:lstStyle>
            <a:lvl1pPr marL="0" marR="0" indent="0" algn="just" defTabSz="685800" rtl="0" eaLnBrk="0" fontAlgn="base" latinLnBrk="0" hangingPunct="0">
              <a:lnSpc>
                <a:spcPts val="3000"/>
              </a:lnSpc>
              <a:spcBef>
                <a:spcPts val="600"/>
              </a:spcBef>
              <a:spcAft>
                <a:spcPct val="0"/>
              </a:spcAft>
              <a:buClrTx/>
              <a:buSzTx/>
              <a:buFont typeface="Wingdings" panose="05000000000000000000" pitchFamily="2" charset="2"/>
              <a:buNone/>
              <a:defRPr lang="zh-CN" altLang="en-US" sz="2300" b="1" kern="1200" baseline="0" dirty="0">
                <a:solidFill>
                  <a:srgbClr val="800000"/>
                </a:solidFill>
                <a:effectLst/>
                <a:latin typeface="Times New Roman" panose="02020603050405020304" pitchFamily="18" charset="0"/>
                <a:ea typeface="黑体" panose="02010609060101010101" pitchFamily="49" charset="-122"/>
                <a:cs typeface="+mn-cs"/>
              </a:defRPr>
            </a:lvl1pPr>
            <a:lvl2pPr marL="135255" indent="0" algn="just">
              <a:lnSpc>
                <a:spcPts val="3000"/>
              </a:lnSpc>
              <a:spcBef>
                <a:spcPts val="300"/>
              </a:spcBef>
              <a:buClr>
                <a:srgbClr val="006600"/>
              </a:buClr>
              <a:buFontTx/>
              <a:buNone/>
              <a:defRPr lang="en-US" altLang="zh-CN" sz="2300" b="1" kern="1200" baseline="0" dirty="0">
                <a:solidFill>
                  <a:srgbClr val="CC6600"/>
                </a:solidFill>
                <a:effectLst/>
                <a:latin typeface="方正隶书简体" panose="02010601030101010101" pitchFamily="2" charset="-122"/>
                <a:ea typeface="方正隶书简体" panose="02010601030101010101" pitchFamily="2" charset="-122"/>
                <a:cs typeface="+mn-cs"/>
              </a:defRPr>
            </a:lvl2pPr>
            <a:lvl3pPr marL="135255" indent="0" algn="just" eaLnBrk="1" hangingPunct="1">
              <a:lnSpc>
                <a:spcPts val="3400"/>
              </a:lnSpc>
              <a:spcBef>
                <a:spcPts val="0"/>
              </a:spcBef>
              <a:buClr>
                <a:srgbClr val="800000"/>
              </a:buClr>
              <a:buSzPct val="70000"/>
              <a:buFont typeface="Wingdings" panose="05000000000000000000" pitchFamily="2" charset="2"/>
              <a:buNone/>
              <a:defRPr lang="en-US" altLang="zh-CN" sz="2100" b="1" kern="1200" baseline="0" dirty="0">
                <a:solidFill>
                  <a:srgbClr val="00194C"/>
                </a:solidFill>
                <a:latin typeface="华文楷体" panose="02010600040101010101" pitchFamily="2" charset="-122"/>
                <a:ea typeface="华文楷体" panose="02010600040101010101" pitchFamily="2" charset="-122"/>
                <a:cs typeface="+mn-cs"/>
              </a:defRPr>
            </a:lvl3pPr>
            <a:lvl4pPr marL="135255" indent="0" algn="just" eaLnBrk="1" hangingPunct="1">
              <a:lnSpc>
                <a:spcPts val="2550"/>
              </a:lnSpc>
              <a:spcBef>
                <a:spcPts val="0"/>
              </a:spcBef>
              <a:buFontTx/>
              <a:buNone/>
              <a:defRPr sz="1575" b="1" baseline="0">
                <a:solidFill>
                  <a:srgbClr val="000099"/>
                </a:solidFill>
                <a:latin typeface="Times New Roman" panose="02020603050405020304" pitchFamily="18" charset="0"/>
                <a:ea typeface="黑体" panose="02010609060101010101" pitchFamily="49" charset="-122"/>
              </a:defRPr>
            </a:lvl4pPr>
            <a:lvl5pPr marL="107950" indent="0" algn="just" fontAlgn="ctr">
              <a:lnSpc>
                <a:spcPts val="2550"/>
              </a:lnSpc>
              <a:spcBef>
                <a:spcPts val="0"/>
              </a:spcBef>
              <a:spcAft>
                <a:spcPts val="225"/>
              </a:spcAft>
              <a:buClr>
                <a:srgbClr val="800000"/>
              </a:buClr>
              <a:buSzPct val="160000"/>
              <a:buFontTx/>
              <a:buNone/>
              <a:defRPr lang="en-US" altLang="zh-CN" sz="1575" b="1" kern="1200" baseline="0" dirty="0" smtClean="0">
                <a:solidFill>
                  <a:srgbClr val="6633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5pPr>
            <a:lvl6pPr marL="0" indent="0" algn="just" fontAlgn="ctr">
              <a:lnSpc>
                <a:spcPts val="2550"/>
              </a:lnSpc>
              <a:spcBef>
                <a:spcPts val="0"/>
              </a:spcBef>
              <a:spcAft>
                <a:spcPts val="0"/>
              </a:spcAft>
              <a:buSzPct val="220000"/>
              <a:buFontTx/>
              <a:buNone/>
              <a:defRPr lang="en-US" altLang="zh-CN" sz="1575" b="1" kern="1200" baseline="0" dirty="0" smtClean="0">
                <a:solidFill>
                  <a:srgbClr val="6633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6pPr>
            <a:lvl7pPr marL="0" marR="0" indent="0" algn="l" defTabSz="685800" rtl="0" eaLnBrk="1" fontAlgn="ctr" latinLnBrk="0" hangingPunct="1">
              <a:lnSpc>
                <a:spcPts val="1500"/>
              </a:lnSpc>
              <a:spcBef>
                <a:spcPts val="0"/>
              </a:spcBef>
              <a:spcAft>
                <a:spcPts val="0"/>
              </a:spcAft>
              <a:buClrTx/>
              <a:buSzPct val="300000"/>
              <a:buFontTx/>
              <a:buNone/>
              <a:defRPr lang="en-US" altLang="zh-CN" sz="1350" kern="1200" dirty="0" smtClean="0">
                <a:solidFill>
                  <a:schemeClr val="tx1"/>
                </a:solidFill>
                <a:latin typeface="黑体" panose="02010609060101010101" pitchFamily="49" charset="-122"/>
                <a:ea typeface="黑体" panose="02010609060101010101" pitchFamily="49" charset="-122"/>
                <a:cs typeface="+mn-cs"/>
              </a:defRPr>
            </a:lvl7pPr>
            <a:lvl8pPr marL="257175" indent="-257175" fontAlgn="ctr">
              <a:lnSpc>
                <a:spcPts val="2250"/>
              </a:lnSpc>
              <a:spcBef>
                <a:spcPts val="450"/>
              </a:spcBef>
              <a:buSzPct val="220000"/>
              <a:buFontTx/>
              <a:buBlip>
                <a:blip r:embed="rId2"/>
              </a:buBlip>
              <a:defRPr sz="1800" b="1" baseline="0">
                <a:solidFill>
                  <a:srgbClr val="8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defRPr>
            </a:lvl8pPr>
            <a:lvl9pPr marL="0" indent="-269875" fontAlgn="ctr">
              <a:lnSpc>
                <a:spcPts val="2250"/>
              </a:lnSpc>
              <a:spcBef>
                <a:spcPts val="450"/>
              </a:spcBef>
              <a:buSzPct val="180000"/>
              <a:buFontTx/>
              <a:buBlip>
                <a:blip r:embed="rId3"/>
              </a:buBlip>
              <a:defRPr lang="en-US" altLang="zh-CN" sz="1800" b="1" kern="1200" baseline="0" dirty="0" smtClean="0">
                <a:solidFill>
                  <a:srgbClr val="8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mn-cs"/>
              </a:defRPr>
            </a:lvl9pPr>
          </a:lstStyle>
          <a:p>
            <a:pPr marL="0" marR="0" lvl="0" indent="0" algn="just" defTabSz="685800" rtl="0" eaLnBrk="0" fontAlgn="base" latinLnBrk="0" hangingPunct="0">
              <a:lnSpc>
                <a:spcPts val="2250"/>
              </a:lnSpc>
              <a:spcBef>
                <a:spcPts val="450"/>
              </a:spcBef>
              <a:spcAft>
                <a:spcPct val="0"/>
              </a:spcAft>
              <a:buClrTx/>
              <a:buSzTx/>
              <a:buFont typeface="Wingdings" panose="05000000000000000000" pitchFamily="2" charset="2"/>
              <a:buNone/>
              <a:defRPr/>
            </a:pPr>
            <a:r>
              <a:rPr lang="zh-CN" altLang="en-US" dirty="0"/>
              <a:t>第一级标题</a:t>
            </a:r>
            <a:endParaRPr lang="zh-CN" altLang="en-US" dirty="0"/>
          </a:p>
          <a:p>
            <a:pPr marL="135255" lvl="1" indent="0" algn="just" defTabSz="685800" rtl="0" eaLnBrk="0" fontAlgn="base" latinLnBrk="0" hangingPunct="0">
              <a:lnSpc>
                <a:spcPts val="2250"/>
              </a:lnSpc>
              <a:spcBef>
                <a:spcPts val="225"/>
              </a:spcBef>
              <a:spcAft>
                <a:spcPct val="0"/>
              </a:spcAft>
              <a:buClr>
                <a:srgbClr val="006600"/>
              </a:buClr>
              <a:buFontTx/>
              <a:buNone/>
            </a:pPr>
            <a:r>
              <a:rPr lang="zh-CN" altLang="en-US" dirty="0"/>
              <a:t>第二级</a:t>
            </a:r>
            <a:endParaRPr lang="en-US" altLang="zh-CN" dirty="0"/>
          </a:p>
          <a:p>
            <a:pPr marL="135255" lvl="2" indent="0" algn="just" defTabSz="685800" rtl="0" eaLnBrk="0" fontAlgn="base" latinLnBrk="0" hangingPunct="0">
              <a:lnSpc>
                <a:spcPts val="2250"/>
              </a:lnSpc>
              <a:spcBef>
                <a:spcPts val="225"/>
              </a:spcBef>
              <a:spcAft>
                <a:spcPct val="0"/>
              </a:spcAft>
              <a:buClr>
                <a:srgbClr val="006600"/>
              </a:buClr>
              <a:buSzPct val="70000"/>
              <a:buFontTx/>
              <a:buNone/>
            </a:pPr>
            <a:r>
              <a:rPr lang="zh-CN" altLang="en-US" dirty="0"/>
              <a:t>第三级</a:t>
            </a:r>
            <a:endParaRPr lang="en-US" altLang="zh-CN" dirty="0"/>
          </a:p>
        </p:txBody>
      </p:sp>
      <p:sp>
        <p:nvSpPr>
          <p:cNvPr id="5" name="标题 13"/>
          <p:cNvSpPr>
            <a:spLocks noGrp="1"/>
          </p:cNvSpPr>
          <p:nvPr>
            <p:ph type="title" hasCustomPrompt="1"/>
          </p:nvPr>
        </p:nvSpPr>
        <p:spPr>
          <a:xfrm>
            <a:off x="559725" y="171218"/>
            <a:ext cx="3612225" cy="249299"/>
          </a:xfrm>
          <a:prstGeom prst="rect">
            <a:avLst/>
          </a:prstGeom>
          <a:noFill/>
        </p:spPr>
        <p:txBody>
          <a:bodyPr wrap="square" lIns="36000" tIns="0" rIns="0" bIns="0">
            <a:spAutoFit/>
          </a:bodyPr>
          <a:lstStyle>
            <a:lvl1pPr marL="0" algn="l" defTabSz="685800" rtl="0" eaLnBrk="1" latinLnBrk="0" hangingPunct="1">
              <a:defRPr lang="zh-CN" altLang="en-US" sz="1800" b="1" kern="1500" spc="0" baseline="0" dirty="0">
                <a:solidFill>
                  <a:srgbClr val="002060"/>
                </a:solidFill>
                <a:latin typeface="黑体" panose="02010609060101010101" pitchFamily="49" charset="-122"/>
                <a:ea typeface="黑体" panose="02010609060101010101" pitchFamily="49" charset="-122"/>
                <a:cs typeface="+mn-cs"/>
              </a:defRPr>
            </a:lvl1pPr>
          </a:lstStyle>
          <a:p>
            <a:pPr lvl="0" algn="l">
              <a:buFontTx/>
            </a:pPr>
            <a:r>
              <a:rPr lang="zh-CN" altLang="en-US" dirty="0"/>
              <a:t>单击此处编辑知识点名称</a:t>
            </a:r>
            <a:endParaRPr lang="zh-CN" altLang="en-US"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5606" y="126080"/>
            <a:ext cx="350169" cy="350169"/>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6" Type="http://schemas.openxmlformats.org/officeDocument/2006/relationships/theme" Target="../theme/theme4.xml"/><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57250" y="653653"/>
            <a:ext cx="5143500" cy="3836194"/>
          </a:xfrm>
          <a:prstGeom prst="rect">
            <a:avLst/>
          </a:prstGeom>
        </p:spPr>
      </p:pic>
      <p:pic>
        <p:nvPicPr>
          <p:cNvPr id="2" name="图片 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0" y="-762"/>
            <a:ext cx="6856985" cy="514426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57250" y="653653"/>
            <a:ext cx="5143500" cy="3836194"/>
          </a:xfrm>
          <a:prstGeom prst="rect">
            <a:avLst/>
          </a:prstGeom>
        </p:spPr>
      </p:pic>
      <p:pic>
        <p:nvPicPr>
          <p:cNvPr id="2" name="图片 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0" y="-762"/>
            <a:ext cx="6856985" cy="5144262"/>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57250" y="653653"/>
            <a:ext cx="5143500" cy="3836194"/>
          </a:xfrm>
          <a:prstGeom prst="rect">
            <a:avLst/>
          </a:prstGeom>
        </p:spPr>
      </p:pic>
      <p:pic>
        <p:nvPicPr>
          <p:cNvPr id="2" name="图片 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0" y="-762"/>
            <a:ext cx="6856985" cy="5144262"/>
          </a:xfrm>
          <a:prstGeom prst="rect">
            <a:avLst/>
          </a:prstGeom>
        </p:spPr>
      </p:pic>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57250" y="653653"/>
            <a:ext cx="5143500" cy="3836194"/>
          </a:xfrm>
          <a:prstGeom prst="rect">
            <a:avLst/>
          </a:prstGeom>
        </p:spPr>
      </p:pic>
      <p:pic>
        <p:nvPicPr>
          <p:cNvPr id="2" name="图片 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0" y="-762"/>
            <a:ext cx="6856985" cy="5144262"/>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9.emf"/><Relationship Id="rId7" Type="http://schemas.openxmlformats.org/officeDocument/2006/relationships/oleObject" Target="../embeddings/oleObject6.bin"/><Relationship Id="rId6" Type="http://schemas.openxmlformats.org/officeDocument/2006/relationships/image" Target="../media/image18.emf"/><Relationship Id="rId5" Type="http://schemas.openxmlformats.org/officeDocument/2006/relationships/oleObject" Target="../embeddings/oleObject5.bin"/><Relationship Id="rId4" Type="http://schemas.openxmlformats.org/officeDocument/2006/relationships/image" Target="../media/image17.emf"/><Relationship Id="rId3" Type="http://schemas.openxmlformats.org/officeDocument/2006/relationships/oleObject" Target="../embeddings/oleObject4.bin"/><Relationship Id="rId2" Type="http://schemas.openxmlformats.org/officeDocument/2006/relationships/image" Target="../media/image16.emf"/><Relationship Id="rId10" Type="http://schemas.openxmlformats.org/officeDocument/2006/relationships/vmlDrawing" Target="../drawings/vmlDrawing3.vml"/><Relationship Id="rId1" Type="http://schemas.openxmlformats.org/officeDocument/2006/relationships/oleObject" Target="../embeddings/oleObject3.bin"/></Relationships>
</file>

<file path=ppt/slides/_rels/slide66.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oleObject" Target="../embeddings/oleObject9.bin"/><Relationship Id="rId4" Type="http://schemas.openxmlformats.org/officeDocument/2006/relationships/image" Target="../media/image21.emf"/><Relationship Id="rId3" Type="http://schemas.openxmlformats.org/officeDocument/2006/relationships/oleObject" Target="../embeddings/oleObject8.bin"/><Relationship Id="rId2" Type="http://schemas.openxmlformats.org/officeDocument/2006/relationships/image" Target="../media/image20.emf"/><Relationship Id="rId1" Type="http://schemas.openxmlformats.org/officeDocument/2006/relationships/oleObject" Target="../embeddings/oleObject7.bin"/></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10.bin"/></Relationships>
</file>

<file path=ppt/slides/_rels/slide68.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24.emf"/><Relationship Id="rId3" Type="http://schemas.openxmlformats.org/officeDocument/2006/relationships/oleObject" Target="../embeddings/oleObject12.bin"/><Relationship Id="rId2" Type="http://schemas.openxmlformats.org/officeDocument/2006/relationships/image" Target="../media/image23.emf"/><Relationship Id="rId1" Type="http://schemas.openxmlformats.org/officeDocument/2006/relationships/oleObject" Target="../embeddings/oleObject11.bin"/></Relationships>
</file>

<file path=ppt/slides/_rels/slide69.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25.emf"/><Relationship Id="rId3" Type="http://schemas.openxmlformats.org/officeDocument/2006/relationships/oleObject" Target="../embeddings/oleObject14.bin"/><Relationship Id="rId2" Type="http://schemas.openxmlformats.org/officeDocument/2006/relationships/image" Target="../media/image23.emf"/><Relationship Id="rId1" Type="http://schemas.openxmlformats.org/officeDocument/2006/relationships/oleObject" Target="../embeddings/oleObject1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lstStyle/>
          <a:p>
            <a:r>
              <a:rPr lang="zh-CN" altLang="en-US" dirty="0"/>
              <a:t>栈和队列</a:t>
            </a:r>
            <a:endParaRPr lang="zh-CN" altLang="en-US" dirty="0"/>
          </a:p>
        </p:txBody>
      </p:sp>
      <p:sp>
        <p:nvSpPr>
          <p:cNvPr id="4" name="文本占位符 3"/>
          <p:cNvSpPr>
            <a:spLocks noGrp="1"/>
          </p:cNvSpPr>
          <p:nvPr>
            <p:ph type="body" sz="quarter" idx="14"/>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eaLnBrk="1" hangingPunct="1"/>
            <a:endParaRPr lang="en-US" altLang="zh-CN" sz="2400" dirty="0"/>
          </a:p>
          <a:p>
            <a:pPr eaLnBrk="1" hangingPunct="1"/>
            <a:r>
              <a:rPr lang="en-US" altLang="zh-CN" sz="2400" dirty="0"/>
              <a:t>3.1   </a:t>
            </a:r>
            <a:r>
              <a:rPr lang="zh-CN" altLang="en-US" sz="2400" dirty="0"/>
              <a:t>栈 </a:t>
            </a:r>
            <a:endParaRPr lang="zh-CN" altLang="en-US" sz="2400" dirty="0"/>
          </a:p>
          <a:p>
            <a:pPr eaLnBrk="1" hangingPunct="1"/>
            <a:r>
              <a:rPr lang="en-US" altLang="zh-CN" sz="2400" dirty="0"/>
              <a:t>3.2   </a:t>
            </a:r>
            <a:r>
              <a:rPr lang="zh-CN" altLang="en-US" sz="2400" dirty="0"/>
              <a:t>栈的应用</a:t>
            </a:r>
            <a:endParaRPr lang="zh-CN" altLang="en-US" sz="2400" dirty="0"/>
          </a:p>
          <a:p>
            <a:pPr eaLnBrk="1" hangingPunct="1"/>
            <a:r>
              <a:rPr lang="en-US" altLang="zh-CN" sz="2400" dirty="0"/>
              <a:t>3.3   </a:t>
            </a:r>
            <a:r>
              <a:rPr lang="zh-CN" altLang="en-US" sz="2400" dirty="0"/>
              <a:t>栈与递归的实现</a:t>
            </a:r>
            <a:endParaRPr lang="zh-CN" altLang="en-US" sz="2400" dirty="0"/>
          </a:p>
          <a:p>
            <a:pPr eaLnBrk="1" hangingPunct="1"/>
            <a:r>
              <a:rPr lang="en-US" altLang="zh-CN" sz="2400" dirty="0"/>
              <a:t>3.4   </a:t>
            </a:r>
            <a:r>
              <a:rPr lang="zh-CN" altLang="en-US" sz="2400" dirty="0"/>
              <a:t>队列 </a:t>
            </a:r>
            <a:endParaRPr lang="zh-CN" altLang="en-US" sz="2400" dirty="0"/>
          </a:p>
        </p:txBody>
      </p:sp>
      <p:sp>
        <p:nvSpPr>
          <p:cNvPr id="3" name="标题 2"/>
          <p:cNvSpPr>
            <a:spLocks noGrp="1"/>
          </p:cNvSpPr>
          <p:nvPr>
            <p:ph type="title"/>
          </p:nvPr>
        </p:nvSpPr>
        <p:spPr/>
        <p:txBody>
          <a:bodyPr/>
          <a:lstStyle/>
          <a:p>
            <a:r>
              <a:rPr lang="zh-CN" altLang="en-US" dirty="0"/>
              <a:t>第</a:t>
            </a:r>
            <a:r>
              <a:rPr lang="en-US" altLang="zh-CN" dirty="0"/>
              <a:t>3</a:t>
            </a:r>
            <a:r>
              <a:rPr lang="zh-CN" altLang="en-US" dirty="0"/>
              <a:t>章 栈和队列</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sym typeface="Times New Roman" panose="02020603050405020304" pitchFamily="18" charset="0"/>
              </a:rPr>
              <a:t>什么叫栈？</a:t>
            </a:r>
            <a:endParaRPr lang="en-US" altLang="zh-CN" dirty="0">
              <a:sym typeface="Times New Roman" panose="02020603050405020304" pitchFamily="18" charset="0"/>
            </a:endParaRPr>
          </a:p>
          <a:p>
            <a:pPr lvl="2"/>
            <a:r>
              <a:rPr lang="zh-CN" altLang="en-US" dirty="0">
                <a:sym typeface="Times New Roman" panose="02020603050405020304" pitchFamily="18" charset="0"/>
              </a:rPr>
              <a:t>栈（</a:t>
            </a:r>
            <a:r>
              <a:rPr lang="en-US" altLang="zh-CN" dirty="0">
                <a:sym typeface="Times New Roman" panose="02020603050405020304" pitchFamily="18" charset="0"/>
              </a:rPr>
              <a:t>Stack</a:t>
            </a:r>
            <a:r>
              <a:rPr lang="zh-CN" altLang="en-US" dirty="0">
                <a:sym typeface="Times New Roman" panose="02020603050405020304" pitchFamily="18" charset="0"/>
              </a:rPr>
              <a:t>）：具有一定操作约束的线性表，只在一端（</a:t>
            </a:r>
            <a:r>
              <a:rPr lang="zh-CN" altLang="en-US" dirty="0">
                <a:solidFill>
                  <a:srgbClr val="FF0000"/>
                </a:solidFill>
                <a:sym typeface="Times New Roman" panose="02020603050405020304" pitchFamily="18" charset="0"/>
              </a:rPr>
              <a:t>栈顶，</a:t>
            </a:r>
            <a:r>
              <a:rPr lang="en-US" altLang="zh-CN" dirty="0">
                <a:solidFill>
                  <a:srgbClr val="FF0000"/>
                </a:solidFill>
                <a:sym typeface="Times New Roman" panose="02020603050405020304" pitchFamily="18" charset="0"/>
              </a:rPr>
              <a:t>Top</a:t>
            </a:r>
            <a:r>
              <a:rPr lang="zh-CN" altLang="en-US" dirty="0">
                <a:sym typeface="Times New Roman" panose="02020603050405020304" pitchFamily="18" charset="0"/>
              </a:rPr>
              <a:t>）做插入、删除 </a:t>
            </a:r>
            <a:endParaRPr lang="en-US" altLang="zh-CN" dirty="0">
              <a:sym typeface="Times New Roman" panose="02020603050405020304" pitchFamily="18" charset="0"/>
            </a:endParaRPr>
          </a:p>
          <a:p>
            <a:pPr marL="478155" lvl="2" indent="-342900">
              <a:buFont typeface="Wingdings" panose="05000000000000000000" pitchFamily="2" charset="2"/>
              <a:buChar char="Ø"/>
            </a:pPr>
            <a:r>
              <a:rPr lang="zh-CN" altLang="en-US" dirty="0">
                <a:solidFill>
                  <a:schemeClr val="tx1"/>
                </a:solidFill>
                <a:sym typeface="Times New Roman" panose="02020603050405020304" pitchFamily="18" charset="0"/>
              </a:rPr>
              <a:t>插入数据：</a:t>
            </a:r>
            <a:r>
              <a:rPr lang="zh-CN" altLang="en-US" dirty="0">
                <a:solidFill>
                  <a:srgbClr val="FF0000"/>
                </a:solidFill>
                <a:sym typeface="Times New Roman" panose="02020603050405020304" pitchFamily="18" charset="0"/>
              </a:rPr>
              <a:t>入栈</a:t>
            </a:r>
            <a:r>
              <a:rPr lang="zh-CN" altLang="en-US" dirty="0">
                <a:sym typeface="Times New Roman" panose="02020603050405020304" pitchFamily="18" charset="0"/>
              </a:rPr>
              <a:t>（</a:t>
            </a:r>
            <a:r>
              <a:rPr lang="en-US" altLang="zh-CN" dirty="0">
                <a:sym typeface="Times New Roman" panose="02020603050405020304" pitchFamily="18" charset="0"/>
              </a:rPr>
              <a:t>Push</a:t>
            </a:r>
            <a:r>
              <a:rPr lang="zh-CN" altLang="en-US" dirty="0">
                <a:sym typeface="Times New Roman" panose="02020603050405020304" pitchFamily="18" charset="0"/>
              </a:rPr>
              <a:t>） </a:t>
            </a:r>
            <a:endParaRPr lang="en-US" altLang="zh-CN" dirty="0">
              <a:sym typeface="Times New Roman" panose="02020603050405020304" pitchFamily="18" charset="0"/>
            </a:endParaRPr>
          </a:p>
          <a:p>
            <a:pPr marL="478155" lvl="2" indent="-342900">
              <a:buFont typeface="Wingdings" panose="05000000000000000000" pitchFamily="2" charset="2"/>
              <a:buChar char="Ø"/>
            </a:pPr>
            <a:r>
              <a:rPr lang="zh-CN" altLang="en-US" dirty="0">
                <a:solidFill>
                  <a:schemeClr val="tx1"/>
                </a:solidFill>
                <a:sym typeface="Times New Roman" panose="02020603050405020304" pitchFamily="18" charset="0"/>
              </a:rPr>
              <a:t>删除数据：</a:t>
            </a:r>
            <a:r>
              <a:rPr lang="zh-CN" altLang="en-US" dirty="0">
                <a:solidFill>
                  <a:srgbClr val="FF0000"/>
                </a:solidFill>
                <a:sym typeface="Times New Roman" panose="02020603050405020304" pitchFamily="18" charset="0"/>
              </a:rPr>
              <a:t>出栈</a:t>
            </a:r>
            <a:r>
              <a:rPr lang="zh-CN" altLang="en-US" dirty="0">
                <a:sym typeface="Times New Roman" panose="02020603050405020304" pitchFamily="18" charset="0"/>
              </a:rPr>
              <a:t>（</a:t>
            </a:r>
            <a:r>
              <a:rPr lang="en-US" altLang="zh-CN" dirty="0">
                <a:sym typeface="Times New Roman" panose="02020603050405020304" pitchFamily="18" charset="0"/>
              </a:rPr>
              <a:t>Pop</a:t>
            </a:r>
            <a:r>
              <a:rPr lang="zh-CN" altLang="en-US" dirty="0">
                <a:sym typeface="Times New Roman" panose="02020603050405020304" pitchFamily="18" charset="0"/>
              </a:rPr>
              <a:t>） </a:t>
            </a:r>
            <a:endParaRPr lang="zh-CN" altLang="en-US" dirty="0"/>
          </a:p>
          <a:p>
            <a:endParaRPr lang="zh-CN" altLang="en-US" dirty="0"/>
          </a:p>
        </p:txBody>
      </p:sp>
      <p:sp>
        <p:nvSpPr>
          <p:cNvPr id="3" name="标题 2"/>
          <p:cNvSpPr>
            <a:spLocks noGrp="1"/>
          </p:cNvSpPr>
          <p:nvPr>
            <p:ph type="title"/>
          </p:nvPr>
        </p:nvSpPr>
        <p:spPr/>
        <p:txBody>
          <a:bodyPr/>
          <a:lstStyle/>
          <a:p>
            <a:r>
              <a:rPr lang="en-US" altLang="zh-CN" dirty="0"/>
              <a:t>3.1 </a:t>
            </a:r>
            <a:r>
              <a:rPr lang="zh-CN" altLang="en-US" dirty="0"/>
              <a:t>栈</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69402" y="2788870"/>
            <a:ext cx="2723949" cy="18159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3.1 </a:t>
            </a:r>
            <a:r>
              <a:rPr lang="zh-CN" altLang="en-US" dirty="0"/>
              <a:t>栈</a:t>
            </a:r>
            <a:endParaRPr lang="zh-CN" altLang="en-US" dirty="0"/>
          </a:p>
        </p:txBody>
      </p:sp>
      <p:sp>
        <p:nvSpPr>
          <p:cNvPr id="7" name="Rectangle 41"/>
          <p:cNvSpPr>
            <a:spLocks noChangeArrowheads="1"/>
          </p:cNvSpPr>
          <p:nvPr/>
        </p:nvSpPr>
        <p:spPr bwMode="auto">
          <a:xfrm>
            <a:off x="2407434" y="2565400"/>
            <a:ext cx="1223962" cy="400110"/>
          </a:xfrm>
          <a:prstGeom prst="rect">
            <a:avLst/>
          </a:prstGeom>
          <a:solidFill>
            <a:srgbClr val="D1F0FB"/>
          </a:solidFill>
          <a:ln w="9525">
            <a:solidFill>
              <a:schemeClr val="tx1"/>
            </a:solidFill>
            <a:miter lim="800000"/>
          </a:ln>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rgbClr val="000000"/>
                </a:solidFill>
                <a:sym typeface="Times New Roman" panose="02020603050405020304" pitchFamily="18" charset="0"/>
              </a:rPr>
              <a:t>30</a:t>
            </a:r>
            <a:endParaRPr lang="zh-CN" altLang="en-US" sz="2000" b="1">
              <a:solidFill>
                <a:srgbClr val="000000"/>
              </a:solidFill>
              <a:sym typeface="Times New Roman" panose="02020603050405020304" pitchFamily="18" charset="0"/>
            </a:endParaRPr>
          </a:p>
        </p:txBody>
      </p:sp>
      <p:sp>
        <p:nvSpPr>
          <p:cNvPr id="8" name="Rectangle 49"/>
          <p:cNvSpPr>
            <a:spLocks noChangeArrowheads="1"/>
          </p:cNvSpPr>
          <p:nvPr/>
        </p:nvSpPr>
        <p:spPr bwMode="auto">
          <a:xfrm>
            <a:off x="2407434" y="3033713"/>
            <a:ext cx="1223962" cy="400110"/>
          </a:xfrm>
          <a:prstGeom prst="rect">
            <a:avLst/>
          </a:prstGeom>
          <a:solidFill>
            <a:srgbClr val="D1F0FB"/>
          </a:solidFill>
          <a:ln w="9525">
            <a:solidFill>
              <a:schemeClr val="tx1"/>
            </a:solidFill>
            <a:miter lim="800000"/>
          </a:ln>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rgbClr val="000000"/>
                </a:solidFill>
                <a:sym typeface="Times New Roman" panose="02020603050405020304" pitchFamily="18" charset="0"/>
              </a:rPr>
              <a:t>20</a:t>
            </a:r>
            <a:endParaRPr lang="zh-CN" altLang="en-US" sz="2000" b="1">
              <a:solidFill>
                <a:srgbClr val="000000"/>
              </a:solidFill>
              <a:sym typeface="Times New Roman" panose="02020603050405020304" pitchFamily="18" charset="0"/>
            </a:endParaRPr>
          </a:p>
        </p:txBody>
      </p:sp>
      <p:sp>
        <p:nvSpPr>
          <p:cNvPr id="9" name="Rectangle 54"/>
          <p:cNvSpPr>
            <a:spLocks noChangeArrowheads="1"/>
          </p:cNvSpPr>
          <p:nvPr/>
        </p:nvSpPr>
        <p:spPr bwMode="auto">
          <a:xfrm>
            <a:off x="2407434" y="3898900"/>
            <a:ext cx="1223962" cy="400110"/>
          </a:xfrm>
          <a:prstGeom prst="rect">
            <a:avLst/>
          </a:prstGeom>
          <a:solidFill>
            <a:srgbClr val="D1F0FB"/>
          </a:solidFill>
          <a:ln w="9525">
            <a:solidFill>
              <a:schemeClr val="tx1"/>
            </a:solidFill>
            <a:miter lim="800000"/>
          </a:ln>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rgbClr val="000000"/>
                </a:solidFill>
                <a:sym typeface="Times New Roman" panose="02020603050405020304" pitchFamily="18" charset="0"/>
              </a:rPr>
              <a:t>0</a:t>
            </a:r>
            <a:endParaRPr lang="zh-CN" altLang="en-US" sz="2000" b="1">
              <a:solidFill>
                <a:srgbClr val="000000"/>
              </a:solidFill>
              <a:sym typeface="Times New Roman" panose="02020603050405020304" pitchFamily="18" charset="0"/>
            </a:endParaRPr>
          </a:p>
        </p:txBody>
      </p:sp>
      <p:sp>
        <p:nvSpPr>
          <p:cNvPr id="10" name="Rectangle 49"/>
          <p:cNvSpPr>
            <a:spLocks noChangeArrowheads="1"/>
          </p:cNvSpPr>
          <p:nvPr/>
        </p:nvSpPr>
        <p:spPr bwMode="auto">
          <a:xfrm>
            <a:off x="2407434" y="3467100"/>
            <a:ext cx="1223962" cy="400110"/>
          </a:xfrm>
          <a:prstGeom prst="rect">
            <a:avLst/>
          </a:prstGeom>
          <a:solidFill>
            <a:srgbClr val="D1F0FB"/>
          </a:solidFill>
          <a:ln w="9525">
            <a:solidFill>
              <a:schemeClr val="tx1"/>
            </a:solidFill>
            <a:miter lim="800000"/>
          </a:ln>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rgbClr val="000000"/>
                </a:solidFill>
                <a:sym typeface="Times New Roman" panose="02020603050405020304" pitchFamily="18" charset="0"/>
              </a:rPr>
              <a:t>10</a:t>
            </a:r>
            <a:endParaRPr lang="zh-CN" altLang="en-US" sz="2000" b="1">
              <a:solidFill>
                <a:srgbClr val="000000"/>
              </a:solidFill>
              <a:sym typeface="Times New Roman" panose="02020603050405020304" pitchFamily="18" charset="0"/>
            </a:endParaRPr>
          </a:p>
        </p:txBody>
      </p:sp>
      <p:sp>
        <p:nvSpPr>
          <p:cNvPr id="11" name="Rectangle 49"/>
          <p:cNvSpPr>
            <a:spLocks noChangeArrowheads="1"/>
          </p:cNvSpPr>
          <p:nvPr/>
        </p:nvSpPr>
        <p:spPr bwMode="auto">
          <a:xfrm>
            <a:off x="2407434" y="2133600"/>
            <a:ext cx="1223962" cy="400110"/>
          </a:xfrm>
          <a:prstGeom prst="rect">
            <a:avLst/>
          </a:prstGeom>
          <a:solidFill>
            <a:srgbClr val="D1F0FB"/>
          </a:solidFill>
          <a:ln w="9525">
            <a:solidFill>
              <a:schemeClr val="tx1"/>
            </a:solidFill>
            <a:miter lim="800000"/>
          </a:ln>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en-US" altLang="zh-CN" sz="2000" b="1">
                <a:solidFill>
                  <a:srgbClr val="000000"/>
                </a:solidFill>
                <a:sym typeface="Times New Roman" panose="02020603050405020304" pitchFamily="18" charset="0"/>
              </a:rPr>
              <a:t>40</a:t>
            </a:r>
            <a:endParaRPr lang="zh-CN" altLang="en-US" sz="2000" b="1">
              <a:solidFill>
                <a:srgbClr val="000000"/>
              </a:solidFill>
              <a:sym typeface="Times New Roman" panose="02020603050405020304" pitchFamily="18" charset="0"/>
            </a:endParaRPr>
          </a:p>
        </p:txBody>
      </p:sp>
      <p:sp>
        <p:nvSpPr>
          <p:cNvPr id="12" name="Rectangle 49"/>
          <p:cNvSpPr>
            <a:spLocks noChangeArrowheads="1"/>
          </p:cNvSpPr>
          <p:nvPr/>
        </p:nvSpPr>
        <p:spPr bwMode="auto">
          <a:xfrm>
            <a:off x="2407434" y="1700213"/>
            <a:ext cx="1223962" cy="400110"/>
          </a:xfrm>
          <a:prstGeom prst="rect">
            <a:avLst/>
          </a:prstGeom>
          <a:solidFill>
            <a:srgbClr val="D1F0FB"/>
          </a:solidFill>
          <a:ln w="9525">
            <a:solidFill>
              <a:schemeClr val="tx1"/>
            </a:solidFill>
            <a:miter lim="800000"/>
          </a:ln>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en-US" altLang="zh-CN" sz="2000" b="1" dirty="0">
                <a:solidFill>
                  <a:srgbClr val="000000"/>
                </a:solidFill>
                <a:sym typeface="Times New Roman" panose="02020603050405020304" pitchFamily="18" charset="0"/>
              </a:rPr>
              <a:t>50</a:t>
            </a:r>
            <a:endParaRPr lang="zh-CN" altLang="en-US" sz="2000" b="1" dirty="0">
              <a:solidFill>
                <a:srgbClr val="000000"/>
              </a:solidFill>
              <a:sym typeface="Times New Roman" panose="02020603050405020304" pitchFamily="18" charset="0"/>
            </a:endParaRPr>
          </a:p>
        </p:txBody>
      </p:sp>
      <p:cxnSp>
        <p:nvCxnSpPr>
          <p:cNvPr id="13" name="直接箭头连接符 13"/>
          <p:cNvCxnSpPr>
            <a:cxnSpLocks noChangeShapeType="1"/>
          </p:cNvCxnSpPr>
          <p:nvPr/>
        </p:nvCxnSpPr>
        <p:spPr bwMode="auto">
          <a:xfrm>
            <a:off x="1399371" y="4221163"/>
            <a:ext cx="719138" cy="0"/>
          </a:xfrm>
          <a:prstGeom prst="straightConnector1">
            <a:avLst/>
          </a:prstGeom>
          <a:noFill/>
          <a:ln w="63500" algn="ctr">
            <a:solidFill>
              <a:srgbClr val="FF0000"/>
            </a:solidFill>
            <a:round/>
            <a:tailEnd type="arrow" w="med" len="med"/>
          </a:ln>
          <a:extLst>
            <a:ext uri="{909E8E84-426E-40DD-AFC4-6F175D3DCCD1}">
              <a14:hiddenFill xmlns:a14="http://schemas.microsoft.com/office/drawing/2010/main">
                <a:noFill/>
              </a14:hiddenFill>
            </a:ext>
          </a:extLst>
        </p:spPr>
      </p:cxnSp>
      <p:sp>
        <p:nvSpPr>
          <p:cNvPr id="14" name="TextBox 17"/>
          <p:cNvSpPr txBox="1">
            <a:spLocks noChangeArrowheads="1"/>
          </p:cNvSpPr>
          <p:nvPr/>
        </p:nvSpPr>
        <p:spPr bwMode="auto">
          <a:xfrm>
            <a:off x="391309" y="3995738"/>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en-US" b="1">
                <a:solidFill>
                  <a:srgbClr val="FF0000"/>
                </a:solidFill>
              </a:rPr>
              <a:t>栈底</a:t>
            </a:r>
            <a:endParaRPr lang="zh-CN" altLang="en-US" b="1">
              <a:solidFill>
                <a:srgbClr val="FF0000"/>
              </a:solidFill>
            </a:endParaRPr>
          </a:p>
        </p:txBody>
      </p:sp>
      <p:sp>
        <p:nvSpPr>
          <p:cNvPr id="15" name="上弧形箭头 14"/>
          <p:cNvSpPr>
            <a:spLocks noChangeArrowheads="1"/>
          </p:cNvSpPr>
          <p:nvPr/>
        </p:nvSpPr>
        <p:spPr bwMode="auto">
          <a:xfrm rot="1436946">
            <a:off x="1348571" y="1096963"/>
            <a:ext cx="1733550" cy="473075"/>
          </a:xfrm>
          <a:prstGeom prst="curvedDownArrow">
            <a:avLst>
              <a:gd name="adj1" fmla="val 24972"/>
              <a:gd name="adj2" fmla="val 49979"/>
              <a:gd name="adj3" fmla="val 29653"/>
            </a:avLst>
          </a:prstGeom>
          <a:solidFill>
            <a:srgbClr val="FF0000"/>
          </a:solidFill>
          <a:ln w="9525" algn="ctr">
            <a:solidFill>
              <a:srgbClr val="FF0000"/>
            </a:solidFill>
            <a:rou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endParaRPr lang="zh-CN" altLang="en-US" sz="1800"/>
          </a:p>
        </p:txBody>
      </p:sp>
      <p:sp>
        <p:nvSpPr>
          <p:cNvPr id="16" name="TextBox 21"/>
          <p:cNvSpPr txBox="1">
            <a:spLocks noChangeArrowheads="1"/>
          </p:cNvSpPr>
          <p:nvPr/>
        </p:nvSpPr>
        <p:spPr bwMode="auto">
          <a:xfrm>
            <a:off x="391309" y="765175"/>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en-US" b="1" dirty="0">
                <a:solidFill>
                  <a:srgbClr val="FF0000"/>
                </a:solidFill>
              </a:rPr>
              <a:t>入栈</a:t>
            </a:r>
            <a:endParaRPr lang="zh-CN" altLang="en-US" b="1" dirty="0">
              <a:solidFill>
                <a:srgbClr val="FF0000"/>
              </a:solidFill>
            </a:endParaRPr>
          </a:p>
        </p:txBody>
      </p:sp>
      <p:cxnSp>
        <p:nvCxnSpPr>
          <p:cNvPr id="17" name="直接箭头连接符 16"/>
          <p:cNvCxnSpPr>
            <a:cxnSpLocks noChangeShapeType="1"/>
          </p:cNvCxnSpPr>
          <p:nvPr/>
        </p:nvCxnSpPr>
        <p:spPr bwMode="auto">
          <a:xfrm>
            <a:off x="1399371" y="1925638"/>
            <a:ext cx="719138" cy="0"/>
          </a:xfrm>
          <a:prstGeom prst="straightConnector1">
            <a:avLst/>
          </a:prstGeom>
          <a:noFill/>
          <a:ln w="63500" algn="ctr">
            <a:solidFill>
              <a:srgbClr val="FF0000"/>
            </a:solidFill>
            <a:round/>
            <a:tailEnd type="arrow" w="med" len="med"/>
          </a:ln>
          <a:extLst>
            <a:ext uri="{909E8E84-426E-40DD-AFC4-6F175D3DCCD1}">
              <a14:hiddenFill xmlns:a14="http://schemas.microsoft.com/office/drawing/2010/main">
                <a:noFill/>
              </a14:hiddenFill>
            </a:ext>
          </a:extLst>
        </p:spPr>
      </p:cxnSp>
      <p:sp>
        <p:nvSpPr>
          <p:cNvPr id="18" name="TextBox 23"/>
          <p:cNvSpPr txBox="1">
            <a:spLocks noChangeArrowheads="1"/>
          </p:cNvSpPr>
          <p:nvPr/>
        </p:nvSpPr>
        <p:spPr bwMode="auto">
          <a:xfrm>
            <a:off x="391309" y="1628775"/>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en-US" b="1">
                <a:solidFill>
                  <a:srgbClr val="FF0000"/>
                </a:solidFill>
              </a:rPr>
              <a:t>栈顶</a:t>
            </a:r>
            <a:endParaRPr lang="zh-CN" altLang="en-US" b="1">
              <a:solidFill>
                <a:srgbClr val="FF0000"/>
              </a:solidFill>
            </a:endParaRPr>
          </a:p>
        </p:txBody>
      </p:sp>
      <p:sp>
        <p:nvSpPr>
          <p:cNvPr id="19" name="上弧形箭头 18"/>
          <p:cNvSpPr>
            <a:spLocks noChangeArrowheads="1"/>
          </p:cNvSpPr>
          <p:nvPr/>
        </p:nvSpPr>
        <p:spPr bwMode="auto">
          <a:xfrm rot="20322859">
            <a:off x="3153559" y="1063625"/>
            <a:ext cx="1733550" cy="473075"/>
          </a:xfrm>
          <a:prstGeom prst="curvedDownArrow">
            <a:avLst>
              <a:gd name="adj1" fmla="val 24972"/>
              <a:gd name="adj2" fmla="val 49979"/>
              <a:gd name="adj3" fmla="val 29653"/>
            </a:avLst>
          </a:prstGeom>
          <a:solidFill>
            <a:srgbClr val="FF0000"/>
          </a:solidFill>
          <a:ln w="9525" algn="ctr">
            <a:solidFill>
              <a:srgbClr val="FF0000"/>
            </a:solidFill>
            <a:rou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endParaRPr lang="zh-CN" altLang="en-US" sz="1800"/>
          </a:p>
        </p:txBody>
      </p:sp>
      <p:sp>
        <p:nvSpPr>
          <p:cNvPr id="20" name="TextBox 25"/>
          <p:cNvSpPr txBox="1">
            <a:spLocks noChangeArrowheads="1"/>
          </p:cNvSpPr>
          <p:nvPr/>
        </p:nvSpPr>
        <p:spPr bwMode="auto">
          <a:xfrm>
            <a:off x="4782334" y="765175"/>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en-US" b="1">
                <a:solidFill>
                  <a:srgbClr val="FF0000"/>
                </a:solidFill>
              </a:rPr>
              <a:t>出栈</a:t>
            </a:r>
            <a:endParaRPr lang="zh-CN" altLang="en-US" b="1">
              <a:solidFill>
                <a:srgbClr val="FF0000"/>
              </a:solidFill>
            </a:endParaRPr>
          </a:p>
        </p:txBody>
      </p:sp>
      <p:sp>
        <p:nvSpPr>
          <p:cNvPr id="21" name="Rectangle 6"/>
          <p:cNvSpPr>
            <a:spLocks noChangeArrowheads="1"/>
          </p:cNvSpPr>
          <p:nvPr/>
        </p:nvSpPr>
        <p:spPr bwMode="auto">
          <a:xfrm>
            <a:off x="4283242" y="2276475"/>
            <a:ext cx="207905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en-US" sz="2000" b="1" dirty="0">
                <a:solidFill>
                  <a:srgbClr val="FF0000"/>
                </a:solidFill>
                <a:sym typeface="Times New Roman" panose="02020603050405020304" pitchFamily="18" charset="0"/>
              </a:rPr>
              <a:t>后进先出</a:t>
            </a:r>
            <a:r>
              <a:rPr lang="zh-CN" altLang="en-US" sz="2000" dirty="0">
                <a:solidFill>
                  <a:srgbClr val="000000"/>
                </a:solidFill>
                <a:sym typeface="Times New Roman" panose="02020603050405020304" pitchFamily="18" charset="0"/>
              </a:rPr>
              <a:t>：</a:t>
            </a:r>
            <a:endParaRPr lang="zh-CN" altLang="en-US" sz="2000" dirty="0">
              <a:solidFill>
                <a:srgbClr val="000000"/>
              </a:solidFill>
              <a:sym typeface="Times New Roman" panose="02020603050405020304" pitchFamily="18" charset="0"/>
            </a:endParaRPr>
          </a:p>
          <a:p>
            <a:r>
              <a:rPr lang="en-US" altLang="zh-CN" sz="2000" b="1" dirty="0">
                <a:solidFill>
                  <a:srgbClr val="000000"/>
                </a:solidFill>
                <a:sym typeface="Times New Roman" panose="02020603050405020304" pitchFamily="18" charset="0"/>
              </a:rPr>
              <a:t>Last In First Out</a:t>
            </a:r>
            <a:endParaRPr lang="en-US" altLang="zh-CN" sz="2000" b="1" dirty="0">
              <a:solidFill>
                <a:srgbClr val="000000"/>
              </a:solidFill>
              <a:sym typeface="Times New Roman" panose="02020603050405020304" pitchFamily="18" charset="0"/>
            </a:endParaRPr>
          </a:p>
          <a:p>
            <a:r>
              <a:rPr lang="zh-CN" altLang="en-US" sz="2000" dirty="0">
                <a:solidFill>
                  <a:srgbClr val="000000"/>
                </a:solidFill>
                <a:sym typeface="Times New Roman" panose="02020603050405020304" pitchFamily="18" charset="0"/>
              </a:rPr>
              <a:t>（</a:t>
            </a:r>
            <a:r>
              <a:rPr lang="en-US" altLang="zh-CN" sz="2000" b="1" dirty="0">
                <a:solidFill>
                  <a:srgbClr val="FF0000"/>
                </a:solidFill>
                <a:sym typeface="Times New Roman" panose="02020603050405020304" pitchFamily="18" charset="0"/>
              </a:rPr>
              <a:t>LIFO</a:t>
            </a:r>
            <a:r>
              <a:rPr lang="zh-CN" altLang="en-US" sz="2000" dirty="0">
                <a:solidFill>
                  <a:srgbClr val="000000"/>
                </a:solidFill>
                <a:sym typeface="Times New Roman" panose="02020603050405020304" pitchFamily="18" charset="0"/>
              </a:rPr>
              <a:t>）</a:t>
            </a:r>
            <a:endParaRPr lang="zh-CN" altLang="en-US" sz="1800" dirty="0"/>
          </a:p>
        </p:txBody>
      </p:sp>
      <p:sp>
        <p:nvSpPr>
          <p:cNvPr id="22" name="Rectangle 15" descr="编织物"/>
          <p:cNvSpPr>
            <a:spLocks noChangeArrowheads="1"/>
          </p:cNvSpPr>
          <p:nvPr/>
        </p:nvSpPr>
        <p:spPr bwMode="auto">
          <a:xfrm>
            <a:off x="2179337" y="1249585"/>
            <a:ext cx="215900" cy="3168650"/>
          </a:xfrm>
          <a:prstGeom prst="rect">
            <a:avLst/>
          </a:prstGeom>
          <a:blipFill dpi="0" rotWithShape="1">
            <a:blip r:embed="rId1"/>
            <a:srcRect/>
            <a:tile tx="0" ty="0" sx="100000" sy="100000" flip="none" algn="tl"/>
          </a:blipFill>
          <a:ln w="9525">
            <a:solidFill>
              <a:schemeClr val="tx1"/>
            </a:solidFill>
            <a:miter lim="800000"/>
          </a:ln>
        </p:spPr>
        <p:txBody>
          <a:bodyPr wrap="none" anchor="ct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endParaRPr lang="zh-CN" altLang="zh-CN">
              <a:solidFill>
                <a:srgbClr val="000000"/>
              </a:solidFill>
              <a:sym typeface="Times New Roman" panose="02020603050405020304" pitchFamily="18" charset="0"/>
            </a:endParaRPr>
          </a:p>
        </p:txBody>
      </p:sp>
      <p:sp>
        <p:nvSpPr>
          <p:cNvPr id="23" name="Rectangle 16" descr="编织物"/>
          <p:cNvSpPr>
            <a:spLocks noChangeArrowheads="1"/>
          </p:cNvSpPr>
          <p:nvPr/>
        </p:nvSpPr>
        <p:spPr bwMode="auto">
          <a:xfrm>
            <a:off x="3619199" y="1249585"/>
            <a:ext cx="215900" cy="3168650"/>
          </a:xfrm>
          <a:prstGeom prst="rect">
            <a:avLst/>
          </a:prstGeom>
          <a:blipFill dpi="0" rotWithShape="1">
            <a:blip r:embed="rId1"/>
            <a:srcRect/>
            <a:tile tx="0" ty="0" sx="100000" sy="100000" flip="none" algn="tl"/>
          </a:blipFill>
          <a:ln w="9525">
            <a:solidFill>
              <a:schemeClr val="tx1"/>
            </a:solidFill>
            <a:miter lim="800000"/>
          </a:ln>
        </p:spPr>
        <p:txBody>
          <a:bodyPr wrap="none" anchor="ct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endParaRPr lang="zh-CN" altLang="zh-CN">
              <a:solidFill>
                <a:srgbClr val="000000"/>
              </a:solidFill>
              <a:sym typeface="Times New Roman" panose="02020603050405020304" pitchFamily="18" charset="0"/>
            </a:endParaRPr>
          </a:p>
        </p:txBody>
      </p:sp>
      <p:sp>
        <p:nvSpPr>
          <p:cNvPr id="24" name="Rectangle 17" descr="编织物"/>
          <p:cNvSpPr>
            <a:spLocks noChangeArrowheads="1"/>
          </p:cNvSpPr>
          <p:nvPr/>
        </p:nvSpPr>
        <p:spPr bwMode="auto">
          <a:xfrm>
            <a:off x="2395237" y="4177035"/>
            <a:ext cx="1223962" cy="215900"/>
          </a:xfrm>
          <a:prstGeom prst="rect">
            <a:avLst/>
          </a:prstGeom>
          <a:blipFill dpi="0" rotWithShape="1">
            <a:blip r:embed="rId1"/>
            <a:srcRect/>
            <a:tile tx="0" ty="0" sx="100000" sy="100000" flip="none" algn="tl"/>
          </a:blipFill>
          <a:ln w="9525">
            <a:solidFill>
              <a:schemeClr val="tx1"/>
            </a:solidFill>
            <a:miter lim="800000"/>
          </a:ln>
        </p:spPr>
        <p:txBody>
          <a:bodyPr wrap="none" anchor="ct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endParaRPr lang="zh-CN" altLang="zh-CN">
              <a:solidFill>
                <a:srgbClr val="000000"/>
              </a:solidFill>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1000" fill="hold"/>
                                        <p:tgtEl>
                                          <p:spTgt spid="10"/>
                                        </p:tgtEl>
                                        <p:attrNameLst>
                                          <p:attrName>ppt_x</p:attrName>
                                        </p:attrNameLst>
                                      </p:cBhvr>
                                      <p:tavLst>
                                        <p:tav tm="0">
                                          <p:val>
                                            <p:strVal val="#ppt_x"/>
                                          </p:val>
                                        </p:tav>
                                        <p:tav tm="100000">
                                          <p:val>
                                            <p:strVal val="#ppt_x"/>
                                          </p:val>
                                        </p:tav>
                                      </p:tavLst>
                                    </p:anim>
                                    <p:anim calcmode="lin" valueType="num">
                                      <p:cBhvr additive="base">
                                        <p:cTn id="13" dur="1000" fill="hold"/>
                                        <p:tgtEl>
                                          <p:spTgt spid="10"/>
                                        </p:tgtEl>
                                        <p:attrNameLst>
                                          <p:attrName>ppt_y</p:attrName>
                                        </p:attrNameLst>
                                      </p:cBhvr>
                                      <p:tavLst>
                                        <p:tav tm="0">
                                          <p:val>
                                            <p:strVal val="0-#ppt_h/2"/>
                                          </p:val>
                                        </p:tav>
                                        <p:tav tm="100000">
                                          <p:val>
                                            <p:strVal val="#ppt_y"/>
                                          </p:val>
                                        </p:tav>
                                      </p:tavLst>
                                    </p:anim>
                                  </p:childTnLst>
                                </p:cTn>
                              </p:par>
                            </p:childTnLst>
                          </p:cTn>
                        </p:par>
                        <p:par>
                          <p:cTn id="14" fill="hold">
                            <p:stCondLst>
                              <p:cond delay="2000"/>
                            </p:stCondLst>
                            <p:childTnLst>
                              <p:par>
                                <p:cTn id="15" presetID="2" presetClass="entr" presetSubtype="1"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1000" fill="hold"/>
                                        <p:tgtEl>
                                          <p:spTgt spid="8"/>
                                        </p:tgtEl>
                                        <p:attrNameLst>
                                          <p:attrName>ppt_x</p:attrName>
                                        </p:attrNameLst>
                                      </p:cBhvr>
                                      <p:tavLst>
                                        <p:tav tm="0">
                                          <p:val>
                                            <p:strVal val="#ppt_x"/>
                                          </p:val>
                                        </p:tav>
                                        <p:tav tm="100000">
                                          <p:val>
                                            <p:strVal val="#ppt_x"/>
                                          </p:val>
                                        </p:tav>
                                      </p:tavLst>
                                    </p:anim>
                                    <p:anim calcmode="lin" valueType="num">
                                      <p:cBhvr additive="base">
                                        <p:cTn id="18" dur="1000" fill="hold"/>
                                        <p:tgtEl>
                                          <p:spTgt spid="8"/>
                                        </p:tgtEl>
                                        <p:attrNameLst>
                                          <p:attrName>ppt_y</p:attrName>
                                        </p:attrNameLst>
                                      </p:cBhvr>
                                      <p:tavLst>
                                        <p:tav tm="0">
                                          <p:val>
                                            <p:strVal val="0-#ppt_h/2"/>
                                          </p:val>
                                        </p:tav>
                                        <p:tav tm="100000">
                                          <p:val>
                                            <p:strVal val="#ppt_y"/>
                                          </p:val>
                                        </p:tav>
                                      </p:tavLst>
                                    </p:anim>
                                  </p:childTnLst>
                                </p:cTn>
                              </p:par>
                            </p:childTnLst>
                          </p:cTn>
                        </p:par>
                        <p:par>
                          <p:cTn id="19" fill="hold">
                            <p:stCondLst>
                              <p:cond delay="3000"/>
                            </p:stCondLst>
                            <p:childTnLst>
                              <p:par>
                                <p:cTn id="20" presetID="2" presetClass="entr" presetSubtype="1"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1000" fill="hold"/>
                                        <p:tgtEl>
                                          <p:spTgt spid="7"/>
                                        </p:tgtEl>
                                        <p:attrNameLst>
                                          <p:attrName>ppt_x</p:attrName>
                                        </p:attrNameLst>
                                      </p:cBhvr>
                                      <p:tavLst>
                                        <p:tav tm="0">
                                          <p:val>
                                            <p:strVal val="#ppt_x"/>
                                          </p:val>
                                        </p:tav>
                                        <p:tav tm="100000">
                                          <p:val>
                                            <p:strVal val="#ppt_x"/>
                                          </p:val>
                                        </p:tav>
                                      </p:tavLst>
                                    </p:anim>
                                    <p:anim calcmode="lin" valueType="num">
                                      <p:cBhvr additive="base">
                                        <p:cTn id="23" dur="1000" fill="hold"/>
                                        <p:tgtEl>
                                          <p:spTgt spid="7"/>
                                        </p:tgtEl>
                                        <p:attrNameLst>
                                          <p:attrName>ppt_y</p:attrName>
                                        </p:attrNameLst>
                                      </p:cBhvr>
                                      <p:tavLst>
                                        <p:tav tm="0">
                                          <p:val>
                                            <p:strVal val="0-#ppt_h/2"/>
                                          </p:val>
                                        </p:tav>
                                        <p:tav tm="100000">
                                          <p:val>
                                            <p:strVal val="#ppt_y"/>
                                          </p:val>
                                        </p:tav>
                                      </p:tavLst>
                                    </p:anim>
                                  </p:childTnLst>
                                </p:cTn>
                              </p:par>
                            </p:childTnLst>
                          </p:cTn>
                        </p:par>
                        <p:par>
                          <p:cTn id="24" fill="hold">
                            <p:stCondLst>
                              <p:cond delay="4000"/>
                            </p:stCondLst>
                            <p:childTnLst>
                              <p:par>
                                <p:cTn id="25" presetID="2" presetClass="entr" presetSubtype="1"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1000" fill="hold"/>
                                        <p:tgtEl>
                                          <p:spTgt spid="11"/>
                                        </p:tgtEl>
                                        <p:attrNameLst>
                                          <p:attrName>ppt_x</p:attrName>
                                        </p:attrNameLst>
                                      </p:cBhvr>
                                      <p:tavLst>
                                        <p:tav tm="0">
                                          <p:val>
                                            <p:strVal val="#ppt_x"/>
                                          </p:val>
                                        </p:tav>
                                        <p:tav tm="100000">
                                          <p:val>
                                            <p:strVal val="#ppt_x"/>
                                          </p:val>
                                        </p:tav>
                                      </p:tavLst>
                                    </p:anim>
                                    <p:anim calcmode="lin" valueType="num">
                                      <p:cBhvr additive="base">
                                        <p:cTn id="28" dur="1000" fill="hold"/>
                                        <p:tgtEl>
                                          <p:spTgt spid="11"/>
                                        </p:tgtEl>
                                        <p:attrNameLst>
                                          <p:attrName>ppt_y</p:attrName>
                                        </p:attrNameLst>
                                      </p:cBhvr>
                                      <p:tavLst>
                                        <p:tav tm="0">
                                          <p:val>
                                            <p:strVal val="0-#ppt_h/2"/>
                                          </p:val>
                                        </p:tav>
                                        <p:tav tm="100000">
                                          <p:val>
                                            <p:strVal val="#ppt_y"/>
                                          </p:val>
                                        </p:tav>
                                      </p:tavLst>
                                    </p:anim>
                                  </p:childTnLst>
                                </p:cTn>
                              </p:par>
                            </p:childTnLst>
                          </p:cTn>
                        </p:par>
                        <p:par>
                          <p:cTn id="29" fill="hold">
                            <p:stCondLst>
                              <p:cond delay="5000"/>
                            </p:stCondLst>
                            <p:childTnLst>
                              <p:par>
                                <p:cTn id="30" presetID="2" presetClass="entr" presetSubtype="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1000" fill="hold"/>
                                        <p:tgtEl>
                                          <p:spTgt spid="12"/>
                                        </p:tgtEl>
                                        <p:attrNameLst>
                                          <p:attrName>ppt_x</p:attrName>
                                        </p:attrNameLst>
                                      </p:cBhvr>
                                      <p:tavLst>
                                        <p:tav tm="0">
                                          <p:val>
                                            <p:strVal val="#ppt_x"/>
                                          </p:val>
                                        </p:tav>
                                        <p:tav tm="100000">
                                          <p:val>
                                            <p:strVal val="#ppt_x"/>
                                          </p:val>
                                        </p:tav>
                                      </p:tavLst>
                                    </p:anim>
                                    <p:anim calcmode="lin" valueType="num">
                                      <p:cBhvr additive="base">
                                        <p:cTn id="33" dur="10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dissolve">
                                      <p:cBhvr>
                                        <p:cTn id="38" dur="500"/>
                                        <p:tgtEl>
                                          <p:spTgt spid="15"/>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ssolv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dissolve">
                                      <p:cBhvr>
                                        <p:cTn id="47" dur="500"/>
                                        <p:tgtEl>
                                          <p:spTgt spid="18"/>
                                        </p:tgtEl>
                                      </p:cBhvr>
                                    </p:animEffect>
                                  </p:childTnLst>
                                </p:cTn>
                              </p:par>
                            </p:childTnLst>
                          </p:cTn>
                        </p:par>
                        <p:par>
                          <p:cTn id="48" fill="hold">
                            <p:stCondLst>
                              <p:cond delay="500"/>
                            </p:stCondLst>
                            <p:childTnLst>
                              <p:par>
                                <p:cTn id="49" presetID="55" presetClass="entr" presetSubtype="0" fill="hold" nodeType="afterEffect">
                                  <p:stCondLst>
                                    <p:cond delay="250"/>
                                  </p:stCondLst>
                                  <p:childTnLst>
                                    <p:set>
                                      <p:cBhvr>
                                        <p:cTn id="50" dur="1" fill="hold">
                                          <p:stCondLst>
                                            <p:cond delay="0"/>
                                          </p:stCondLst>
                                        </p:cTn>
                                        <p:tgtEl>
                                          <p:spTgt spid="17"/>
                                        </p:tgtEl>
                                        <p:attrNameLst>
                                          <p:attrName>style.visibility</p:attrName>
                                        </p:attrNameLst>
                                      </p:cBhvr>
                                      <p:to>
                                        <p:strVal val="visible"/>
                                      </p:to>
                                    </p:set>
                                    <p:anim calcmode="lin" valueType="num">
                                      <p:cBhvr>
                                        <p:cTn id="51" dur="500" fill="hold"/>
                                        <p:tgtEl>
                                          <p:spTgt spid="17"/>
                                        </p:tgtEl>
                                        <p:attrNameLst>
                                          <p:attrName>ppt_w</p:attrName>
                                        </p:attrNameLst>
                                      </p:cBhvr>
                                      <p:tavLst>
                                        <p:tav tm="0">
                                          <p:val>
                                            <p:strVal val="#ppt_w*0.70"/>
                                          </p:val>
                                        </p:tav>
                                        <p:tav tm="100000">
                                          <p:val>
                                            <p:strVal val="#ppt_w"/>
                                          </p:val>
                                        </p:tav>
                                      </p:tavLst>
                                    </p:anim>
                                    <p:anim calcmode="lin" valueType="num">
                                      <p:cBhvr>
                                        <p:cTn id="52" dur="500" fill="hold"/>
                                        <p:tgtEl>
                                          <p:spTgt spid="17"/>
                                        </p:tgtEl>
                                        <p:attrNameLst>
                                          <p:attrName>ppt_h</p:attrName>
                                        </p:attrNameLst>
                                      </p:cBhvr>
                                      <p:tavLst>
                                        <p:tav tm="0">
                                          <p:val>
                                            <p:strVal val="#ppt_h"/>
                                          </p:val>
                                        </p:tav>
                                        <p:tav tm="100000">
                                          <p:val>
                                            <p:strVal val="#ppt_h"/>
                                          </p:val>
                                        </p:tav>
                                      </p:tavLst>
                                    </p:anim>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dissolve">
                                      <p:cBhvr>
                                        <p:cTn id="58" dur="500"/>
                                        <p:tgtEl>
                                          <p:spTgt spid="19"/>
                                        </p:tgtEl>
                                      </p:cBhvr>
                                    </p:animEffect>
                                  </p:childTnLst>
                                </p:cTn>
                              </p:par>
                            </p:childTnLst>
                          </p:cTn>
                        </p:par>
                        <p:par>
                          <p:cTn id="59" fill="hold">
                            <p:stCondLst>
                              <p:cond delay="500"/>
                            </p:stCondLst>
                            <p:childTnLst>
                              <p:par>
                                <p:cTn id="60" presetID="9" presetClass="entr" presetSubtype="0" fill="hold" grpId="0" nodeType="after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dissolve">
                                      <p:cBhvr>
                                        <p:cTn id="62" dur="500"/>
                                        <p:tgtEl>
                                          <p:spTgt spid="20"/>
                                        </p:tgtEl>
                                      </p:cBhvr>
                                    </p:animEffect>
                                  </p:childTnLst>
                                </p:cTn>
                              </p:par>
                            </p:childTnLst>
                          </p:cTn>
                        </p:par>
                        <p:par>
                          <p:cTn id="63" fill="hold">
                            <p:stCondLst>
                              <p:cond delay="1000"/>
                            </p:stCondLst>
                            <p:childTnLst>
                              <p:par>
                                <p:cTn id="64" presetID="2" presetClass="exit" presetSubtype="1" fill="hold" grpId="1" nodeType="afterEffect">
                                  <p:stCondLst>
                                    <p:cond delay="500"/>
                                  </p:stCondLst>
                                  <p:childTnLst>
                                    <p:anim calcmode="lin" valueType="num">
                                      <p:cBhvr additive="base">
                                        <p:cTn id="65" dur="1000"/>
                                        <p:tgtEl>
                                          <p:spTgt spid="12"/>
                                        </p:tgtEl>
                                        <p:attrNameLst>
                                          <p:attrName>ppt_x</p:attrName>
                                        </p:attrNameLst>
                                      </p:cBhvr>
                                      <p:tavLst>
                                        <p:tav tm="0">
                                          <p:val>
                                            <p:strVal val="ppt_x"/>
                                          </p:val>
                                        </p:tav>
                                        <p:tav tm="100000">
                                          <p:val>
                                            <p:strVal val="ppt_x"/>
                                          </p:val>
                                        </p:tav>
                                      </p:tavLst>
                                    </p:anim>
                                    <p:anim calcmode="lin" valueType="num">
                                      <p:cBhvr additive="base">
                                        <p:cTn id="66" dur="1000"/>
                                        <p:tgtEl>
                                          <p:spTgt spid="12"/>
                                        </p:tgtEl>
                                        <p:attrNameLst>
                                          <p:attrName>ppt_y</p:attrName>
                                        </p:attrNameLst>
                                      </p:cBhvr>
                                      <p:tavLst>
                                        <p:tav tm="0">
                                          <p:val>
                                            <p:strVal val="ppt_y"/>
                                          </p:val>
                                        </p:tav>
                                        <p:tav tm="100000">
                                          <p:val>
                                            <p:strVal val="0-ppt_h/2"/>
                                          </p:val>
                                        </p:tav>
                                      </p:tavLst>
                                    </p:anim>
                                    <p:set>
                                      <p:cBhvr>
                                        <p:cTn id="67" dur="1" fill="hold">
                                          <p:stCondLst>
                                            <p:cond delay="999"/>
                                          </p:stCondLst>
                                        </p:cTn>
                                        <p:tgtEl>
                                          <p:spTgt spid="12"/>
                                        </p:tgtEl>
                                        <p:attrNameLst>
                                          <p:attrName>style.visibility</p:attrName>
                                        </p:attrNameLst>
                                      </p:cBhvr>
                                      <p:to>
                                        <p:strVal val="hidden"/>
                                      </p:to>
                                    </p:set>
                                  </p:childTnLst>
                                </p:cTn>
                              </p:par>
                            </p:childTnLst>
                          </p:cTn>
                        </p:par>
                        <p:par>
                          <p:cTn id="68" fill="hold">
                            <p:stCondLst>
                              <p:cond delay="2500"/>
                            </p:stCondLst>
                            <p:childTnLst>
                              <p:par>
                                <p:cTn id="69" presetID="42" presetClass="path" presetSubtype="0" accel="50000" decel="50000" fill="hold" grpId="1" nodeType="afterEffect">
                                  <p:stCondLst>
                                    <p:cond delay="250"/>
                                  </p:stCondLst>
                                  <p:childTnLst>
                                    <p:animMotion origin="layout" path="M 3.33333E-6 3.20988E-6 L 3.33333E-6 0.08333 " pathEditMode="relative" rAng="0" ptsTypes="AA">
                                      <p:cBhvr>
                                        <p:cTn id="70" dur="500" fill="hold"/>
                                        <p:tgtEl>
                                          <p:spTgt spid="18"/>
                                        </p:tgtEl>
                                        <p:attrNameLst>
                                          <p:attrName>ppt_x</p:attrName>
                                          <p:attrName>ppt_y</p:attrName>
                                        </p:attrNameLst>
                                      </p:cBhvr>
                                      <p:rCtr x="0" y="4167"/>
                                    </p:animMotion>
                                  </p:childTnLst>
                                </p:cTn>
                              </p:par>
                              <p:par>
                                <p:cTn id="71" presetID="42" presetClass="path" presetSubtype="0" accel="50000" decel="50000" fill="hold" nodeType="withEffect">
                                  <p:stCondLst>
                                    <p:cond delay="250"/>
                                  </p:stCondLst>
                                  <p:childTnLst>
                                    <p:animMotion origin="layout" path="M -1.11111E-6 -2.71605E-6 L -1.11111E-6 0.08272 " pathEditMode="relative" rAng="0" ptsTypes="AA">
                                      <p:cBhvr>
                                        <p:cTn id="72" dur="500" fill="hold"/>
                                        <p:tgtEl>
                                          <p:spTgt spid="17"/>
                                        </p:tgtEl>
                                        <p:attrNameLst>
                                          <p:attrName>ppt_x</p:attrName>
                                          <p:attrName>ppt_y</p:attrName>
                                        </p:attrNameLst>
                                      </p:cBhvr>
                                      <p:rCtr x="0" y="4136"/>
                                    </p:animMotion>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dissolve">
                                      <p:cBhvr>
                                        <p:cTn id="7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2" grpId="1" animBg="1"/>
      <p:bldP spid="15" grpId="0" animBg="1"/>
      <p:bldP spid="16" grpId="0"/>
      <p:bldP spid="18" grpId="0"/>
      <p:bldP spid="18" grpId="1"/>
      <p:bldP spid="19" grpId="0" animBg="1"/>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栈的抽象数据类型</a:t>
            </a:r>
            <a:endParaRPr lang="en-US" altLang="zh-CN" dirty="0"/>
          </a:p>
          <a:p>
            <a:pPr lvl="2">
              <a:lnSpc>
                <a:spcPts val="2700"/>
              </a:lnSpc>
            </a:pPr>
            <a:r>
              <a:rPr lang="en-US" altLang="zh-CN" dirty="0"/>
              <a:t>ADT  Stack{</a:t>
            </a:r>
            <a:endParaRPr lang="en-US" altLang="zh-CN" dirty="0"/>
          </a:p>
          <a:p>
            <a:pPr lvl="2">
              <a:lnSpc>
                <a:spcPts val="2700"/>
              </a:lnSpc>
            </a:pPr>
            <a:r>
              <a:rPr lang="en-US" altLang="zh-CN" dirty="0"/>
              <a:t>  </a:t>
            </a:r>
            <a:r>
              <a:rPr lang="zh-CN" altLang="en-US" dirty="0"/>
              <a:t>数据对象集：一个有穷线性表 </a:t>
            </a:r>
            <a:endParaRPr lang="zh-CN" altLang="en-US" dirty="0"/>
          </a:p>
          <a:p>
            <a:pPr lvl="2">
              <a:lnSpc>
                <a:spcPts val="2700"/>
              </a:lnSpc>
            </a:pPr>
            <a:r>
              <a:rPr lang="zh-CN" altLang="en-US" dirty="0"/>
              <a:t>  基本操作： </a:t>
            </a:r>
            <a:endParaRPr lang="zh-CN" altLang="en-US" dirty="0"/>
          </a:p>
          <a:p>
            <a:pPr lvl="2">
              <a:lnSpc>
                <a:spcPts val="2700"/>
              </a:lnSpc>
            </a:pPr>
            <a:r>
              <a:rPr lang="zh-CN" altLang="en-US" dirty="0"/>
              <a:t>  （</a:t>
            </a:r>
            <a:r>
              <a:rPr lang="en-US" altLang="zh-CN" dirty="0"/>
              <a:t>1</a:t>
            </a:r>
            <a:r>
              <a:rPr lang="zh-CN" altLang="en-US" dirty="0"/>
              <a:t>） </a:t>
            </a:r>
            <a:r>
              <a:rPr lang="en-US" altLang="zh-CN" dirty="0" err="1"/>
              <a:t>InitStack</a:t>
            </a:r>
            <a:r>
              <a:rPr lang="en-US" altLang="zh-CN" dirty="0"/>
              <a:t>(S)</a:t>
            </a:r>
            <a:r>
              <a:rPr lang="zh-CN" altLang="en-US" dirty="0"/>
              <a:t>：初始化空栈</a:t>
            </a:r>
            <a:r>
              <a:rPr lang="en-US" altLang="zh-CN" dirty="0"/>
              <a:t>S</a:t>
            </a:r>
            <a:endParaRPr lang="zh-CN" altLang="en-US" dirty="0"/>
          </a:p>
          <a:p>
            <a:pPr lvl="2">
              <a:lnSpc>
                <a:spcPts val="2700"/>
              </a:lnSpc>
            </a:pPr>
            <a:r>
              <a:rPr lang="zh-CN" altLang="en-US" dirty="0"/>
              <a:t>  （</a:t>
            </a:r>
            <a:r>
              <a:rPr lang="en-US" altLang="zh-CN" dirty="0"/>
              <a:t>2</a:t>
            </a:r>
            <a:r>
              <a:rPr lang="zh-CN" altLang="en-US" dirty="0"/>
              <a:t>） </a:t>
            </a:r>
            <a:r>
              <a:rPr lang="en-US" altLang="zh-CN" dirty="0" err="1"/>
              <a:t>ClearStack</a:t>
            </a:r>
            <a:r>
              <a:rPr lang="en-US" altLang="zh-CN" dirty="0"/>
              <a:t>(S)</a:t>
            </a:r>
            <a:r>
              <a:rPr lang="zh-CN" altLang="en-US" dirty="0"/>
              <a:t>：将栈</a:t>
            </a:r>
            <a:r>
              <a:rPr lang="en-US" altLang="zh-CN" dirty="0"/>
              <a:t>S</a:t>
            </a:r>
            <a:r>
              <a:rPr lang="zh-CN" altLang="en-US" dirty="0"/>
              <a:t>置成空栈 </a:t>
            </a:r>
            <a:endParaRPr lang="en-US" altLang="zh-CN" dirty="0"/>
          </a:p>
          <a:p>
            <a:pPr lvl="2">
              <a:lnSpc>
                <a:spcPts val="2700"/>
              </a:lnSpc>
            </a:pPr>
            <a:r>
              <a:rPr lang="zh-CN" altLang="en-US" dirty="0"/>
              <a:t>  （</a:t>
            </a:r>
            <a:r>
              <a:rPr lang="en-US" altLang="zh-CN" dirty="0"/>
              <a:t>3</a:t>
            </a:r>
            <a:r>
              <a:rPr lang="zh-CN" altLang="en-US" dirty="0"/>
              <a:t>）</a:t>
            </a:r>
            <a:r>
              <a:rPr lang="en-US" altLang="zh-CN" dirty="0" err="1"/>
              <a:t>StackEmpty</a:t>
            </a:r>
            <a:r>
              <a:rPr lang="en-US" altLang="zh-CN" dirty="0"/>
              <a:t>(S)</a:t>
            </a:r>
            <a:r>
              <a:rPr lang="zh-CN" altLang="en-US" dirty="0"/>
              <a:t>：判断栈</a:t>
            </a:r>
            <a:r>
              <a:rPr lang="en-US" altLang="zh-CN" dirty="0"/>
              <a:t>S</a:t>
            </a:r>
            <a:r>
              <a:rPr lang="zh-CN" altLang="en-US" dirty="0"/>
              <a:t>是否为空栈</a:t>
            </a:r>
            <a:endParaRPr lang="en-US" altLang="zh-CN" dirty="0"/>
          </a:p>
          <a:p>
            <a:pPr lvl="2">
              <a:lnSpc>
                <a:spcPts val="2700"/>
              </a:lnSpc>
            </a:pPr>
            <a:r>
              <a:rPr lang="zh-CN" altLang="en-US" dirty="0"/>
              <a:t>  （</a:t>
            </a:r>
            <a:r>
              <a:rPr lang="en-US" altLang="zh-CN" dirty="0"/>
              <a:t>4</a:t>
            </a:r>
            <a:r>
              <a:rPr lang="zh-CN" altLang="en-US" dirty="0"/>
              <a:t>） </a:t>
            </a:r>
            <a:r>
              <a:rPr lang="en-US" altLang="zh-CN" dirty="0"/>
              <a:t>Push(&amp;</a:t>
            </a:r>
            <a:r>
              <a:rPr lang="en-US" altLang="zh-CN" dirty="0" err="1"/>
              <a:t>S,e</a:t>
            </a:r>
            <a:r>
              <a:rPr lang="en-US" altLang="zh-CN" dirty="0"/>
              <a:t>)</a:t>
            </a:r>
            <a:r>
              <a:rPr lang="zh-CN" altLang="en-US" dirty="0"/>
              <a:t>：元素</a:t>
            </a:r>
            <a:r>
              <a:rPr lang="en-US" altLang="zh-CN" dirty="0"/>
              <a:t>e</a:t>
            </a:r>
            <a:r>
              <a:rPr lang="zh-CN" altLang="en-US" dirty="0"/>
              <a:t>入栈</a:t>
            </a:r>
            <a:endParaRPr lang="en-US" altLang="zh-CN" dirty="0"/>
          </a:p>
          <a:p>
            <a:pPr lvl="2">
              <a:lnSpc>
                <a:spcPts val="2700"/>
              </a:lnSpc>
            </a:pPr>
            <a:r>
              <a:rPr lang="zh-CN" altLang="en-US" dirty="0"/>
              <a:t>  （</a:t>
            </a:r>
            <a:r>
              <a:rPr lang="en-US" altLang="zh-CN" dirty="0"/>
              <a:t>5</a:t>
            </a:r>
            <a:r>
              <a:rPr lang="zh-CN" altLang="en-US" dirty="0"/>
              <a:t>） </a:t>
            </a:r>
            <a:r>
              <a:rPr lang="en-US" altLang="zh-CN" dirty="0"/>
              <a:t>Pop(S, e)</a:t>
            </a:r>
            <a:r>
              <a:rPr lang="zh-CN" altLang="en-US" dirty="0"/>
              <a:t>：栈顶元素出栈</a:t>
            </a:r>
            <a:endParaRPr lang="en-US" altLang="zh-CN" dirty="0"/>
          </a:p>
          <a:p>
            <a:pPr lvl="2">
              <a:lnSpc>
                <a:spcPts val="2700"/>
              </a:lnSpc>
            </a:pPr>
            <a:r>
              <a:rPr lang="zh-CN" altLang="en-US" dirty="0"/>
              <a:t>  （</a:t>
            </a:r>
            <a:r>
              <a:rPr lang="en-US" altLang="zh-CN" dirty="0"/>
              <a:t>6</a:t>
            </a:r>
            <a:r>
              <a:rPr lang="zh-CN" altLang="en-US" dirty="0"/>
              <a:t>） </a:t>
            </a:r>
            <a:r>
              <a:rPr lang="en-US" altLang="zh-CN" dirty="0" err="1"/>
              <a:t>GetTop</a:t>
            </a:r>
            <a:r>
              <a:rPr lang="en-US" altLang="zh-CN" dirty="0"/>
              <a:t>(S, e)</a:t>
            </a:r>
            <a:r>
              <a:rPr lang="zh-CN" altLang="en-US" dirty="0"/>
              <a:t>：获取栈顶元素值</a:t>
            </a:r>
            <a:endParaRPr lang="zh-CN" altLang="en-US" dirty="0"/>
          </a:p>
          <a:p>
            <a:pPr lvl="2">
              <a:lnSpc>
                <a:spcPts val="2700"/>
              </a:lnSpc>
            </a:pPr>
            <a:r>
              <a:rPr lang="en-US" altLang="zh-CN" dirty="0"/>
              <a:t>}ADT Stack</a:t>
            </a:r>
            <a:endParaRPr lang="zh-CN" altLang="en-US" dirty="0"/>
          </a:p>
        </p:txBody>
      </p:sp>
      <p:sp>
        <p:nvSpPr>
          <p:cNvPr id="3" name="标题 2"/>
          <p:cNvSpPr>
            <a:spLocks noGrp="1"/>
          </p:cNvSpPr>
          <p:nvPr>
            <p:ph type="title"/>
          </p:nvPr>
        </p:nvSpPr>
        <p:spPr/>
        <p:txBody>
          <a:bodyPr/>
          <a:lstStyle/>
          <a:p>
            <a:r>
              <a:rPr lang="en-US" altLang="zh-CN" dirty="0"/>
              <a:t>3.1 </a:t>
            </a:r>
            <a:r>
              <a:rPr lang="zh-CN" altLang="en-US" dirty="0"/>
              <a:t>栈</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2000" dirty="0"/>
              <a:t>Push </a:t>
            </a:r>
            <a:r>
              <a:rPr lang="zh-CN" altLang="en-US" sz="2000" dirty="0"/>
              <a:t>和 </a:t>
            </a:r>
            <a:r>
              <a:rPr lang="en-US" altLang="zh-CN" sz="2000" dirty="0"/>
              <a:t>Pop </a:t>
            </a:r>
            <a:r>
              <a:rPr lang="zh-CN" altLang="en-US" sz="2000" dirty="0"/>
              <a:t>可以穿插交替进行。 </a:t>
            </a:r>
            <a:endParaRPr lang="zh-CN" altLang="en-US" sz="2000" dirty="0"/>
          </a:p>
          <a:p>
            <a:r>
              <a:rPr lang="zh-CN" altLang="en-US" sz="2000" dirty="0"/>
              <a:t>按照操作系列 </a:t>
            </a:r>
            <a:endParaRPr lang="zh-CN" altLang="en-US" sz="2000" dirty="0"/>
          </a:p>
          <a:p>
            <a:pPr lvl="2"/>
            <a:r>
              <a:rPr lang="en-US" altLang="zh-CN" sz="2000" dirty="0"/>
              <a:t>(1)Push(S,A), Push(S,B),Push((S,C),Pop(S),Pop(S),Pop(S) </a:t>
            </a:r>
            <a:endParaRPr lang="en-US" altLang="zh-CN" sz="2000" dirty="0"/>
          </a:p>
          <a:p>
            <a:pPr lvl="2"/>
            <a:r>
              <a:rPr lang="zh-CN" altLang="en-US" sz="2000" dirty="0"/>
              <a:t>栈输出是？</a:t>
            </a:r>
            <a:endParaRPr lang="zh-CN" altLang="en-US" sz="2000" dirty="0"/>
          </a:p>
          <a:p>
            <a:pPr lvl="2"/>
            <a:r>
              <a:rPr lang="en-US" altLang="zh-CN" sz="2000" dirty="0"/>
              <a:t>(2)Push(S,A), Pop(S),Push(S,B),Push((S,C),Pop(S),Pop(S) </a:t>
            </a:r>
            <a:endParaRPr lang="en-US" altLang="zh-CN" sz="2000" dirty="0"/>
          </a:p>
          <a:p>
            <a:pPr lvl="2"/>
            <a:r>
              <a:rPr lang="zh-CN" altLang="en-US" sz="2000" dirty="0"/>
              <a:t>栈输出是？</a:t>
            </a:r>
            <a:endParaRPr lang="en-US" altLang="zh-CN" sz="2000" dirty="0"/>
          </a:p>
          <a:p>
            <a:pPr lvl="2"/>
            <a:r>
              <a:rPr lang="en-US" altLang="zh-CN" sz="2000" dirty="0"/>
              <a:t>[</a:t>
            </a:r>
            <a:r>
              <a:rPr lang="zh-CN" altLang="en-US" sz="2000" dirty="0"/>
              <a:t>例</a:t>
            </a:r>
            <a:r>
              <a:rPr lang="en-US" altLang="zh-CN" sz="2000" dirty="0"/>
              <a:t>] </a:t>
            </a:r>
            <a:r>
              <a:rPr lang="zh-CN" altLang="en-US" sz="2000" dirty="0"/>
              <a:t>如果三个字符按</a:t>
            </a:r>
            <a:r>
              <a:rPr lang="en-US" altLang="zh-CN" sz="2000" dirty="0">
                <a:solidFill>
                  <a:srgbClr val="FF0000"/>
                </a:solidFill>
              </a:rPr>
              <a:t>ABC</a:t>
            </a:r>
            <a:r>
              <a:rPr lang="zh-CN" altLang="en-US" sz="2000" dirty="0"/>
              <a:t>顺序压入堆栈 </a:t>
            </a:r>
            <a:endParaRPr lang="zh-CN" altLang="en-US" sz="2000" dirty="0"/>
          </a:p>
          <a:p>
            <a:pPr lvl="2"/>
            <a:r>
              <a:rPr lang="en-US" altLang="zh-CN" sz="1800" dirty="0"/>
              <a:t>•ABC</a:t>
            </a:r>
            <a:r>
              <a:rPr lang="zh-CN" altLang="en-US" sz="1800" dirty="0"/>
              <a:t>的所有排列都可能是出栈的序列吗？ </a:t>
            </a:r>
            <a:endParaRPr lang="zh-CN" altLang="en-US" sz="1800" dirty="0"/>
          </a:p>
          <a:p>
            <a:pPr lvl="2"/>
            <a:r>
              <a:rPr lang="en-US" altLang="zh-CN" sz="1800" dirty="0"/>
              <a:t>•</a:t>
            </a:r>
            <a:r>
              <a:rPr lang="zh-CN" altLang="en-US" sz="1800" dirty="0"/>
              <a:t>可以产生</a:t>
            </a:r>
            <a:r>
              <a:rPr lang="en-US" altLang="zh-CN" sz="1800" dirty="0">
                <a:solidFill>
                  <a:srgbClr val="FF0000"/>
                </a:solidFill>
              </a:rPr>
              <a:t>CAB</a:t>
            </a:r>
            <a:r>
              <a:rPr lang="zh-CN" altLang="en-US" sz="1800" dirty="0"/>
              <a:t>这样的序列吗？</a:t>
            </a:r>
            <a:endParaRPr lang="en-US" altLang="zh-CN" sz="1800" dirty="0"/>
          </a:p>
        </p:txBody>
      </p:sp>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
        <p:nvSpPr>
          <p:cNvPr id="4" name="Rectangle 5"/>
          <p:cNvSpPr>
            <a:spLocks noChangeArrowheads="1"/>
          </p:cNvSpPr>
          <p:nvPr/>
        </p:nvSpPr>
        <p:spPr bwMode="auto">
          <a:xfrm>
            <a:off x="2381200" y="2007135"/>
            <a:ext cx="6181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FF0000"/>
                </a:solidFill>
              </a:rPr>
              <a:t>CBA</a:t>
            </a:r>
            <a:endParaRPr lang="zh-CN" altLang="en-US" sz="2000" b="1" dirty="0">
              <a:solidFill>
                <a:srgbClr val="FF0000"/>
              </a:solidFill>
            </a:endParaRPr>
          </a:p>
        </p:txBody>
      </p:sp>
      <p:sp>
        <p:nvSpPr>
          <p:cNvPr id="5" name="Rectangle 6"/>
          <p:cNvSpPr>
            <a:spLocks noChangeArrowheads="1"/>
          </p:cNvSpPr>
          <p:nvPr/>
        </p:nvSpPr>
        <p:spPr bwMode="auto">
          <a:xfrm>
            <a:off x="2381200" y="2793817"/>
            <a:ext cx="617670" cy="506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en-US" altLang="zh-CN" sz="2000" b="1" dirty="0">
                <a:solidFill>
                  <a:srgbClr val="FF0000"/>
                </a:solidFill>
              </a:rPr>
              <a:t>ACB</a:t>
            </a:r>
            <a:endParaRPr lang="en-US" altLang="zh-CN"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 </a:t>
            </a:r>
            <a:r>
              <a:rPr lang="zh-CN" altLang="en-US" dirty="0"/>
              <a:t>顺序栈</a:t>
            </a:r>
            <a:endParaRPr lang="en-US" altLang="zh-CN" dirty="0"/>
          </a:p>
          <a:p>
            <a:pPr lvl="2"/>
            <a:r>
              <a:rPr lang="zh-CN" altLang="en-US" dirty="0"/>
              <a:t>用顺序存储结构实现的栈，由一个</a:t>
            </a:r>
            <a:r>
              <a:rPr lang="zh-CN" altLang="en-US" dirty="0">
                <a:solidFill>
                  <a:srgbClr val="FF0000"/>
                </a:solidFill>
              </a:rPr>
              <a:t>一维数组</a:t>
            </a:r>
            <a:r>
              <a:rPr lang="zh-CN" altLang="en-US" dirty="0"/>
              <a:t>和记录栈顶元素位置的变量组成。</a:t>
            </a:r>
            <a:endParaRPr lang="en-US" altLang="zh-CN" dirty="0"/>
          </a:p>
          <a:p>
            <a:pPr lvl="2"/>
            <a:r>
              <a:rPr lang="en-US" altLang="zh-CN" dirty="0" err="1"/>
              <a:t>typedef</a:t>
            </a:r>
            <a:r>
              <a:rPr lang="en-US" altLang="zh-CN" dirty="0"/>
              <a:t> </a:t>
            </a:r>
            <a:r>
              <a:rPr lang="en-US" altLang="zh-CN" dirty="0" err="1"/>
              <a:t>struct</a:t>
            </a:r>
            <a:r>
              <a:rPr lang="en-US" altLang="zh-CN" dirty="0"/>
              <a:t> {</a:t>
            </a:r>
            <a:endParaRPr lang="en-US" altLang="zh-CN" dirty="0"/>
          </a:p>
          <a:p>
            <a:pPr lvl="2"/>
            <a:r>
              <a:rPr lang="en-US" altLang="zh-CN" dirty="0"/>
              <a:t>    </a:t>
            </a:r>
            <a:r>
              <a:rPr lang="en-US" altLang="zh-CN" dirty="0" err="1"/>
              <a:t>SElemType</a:t>
            </a:r>
            <a:r>
              <a:rPr lang="en-US" altLang="zh-CN" dirty="0"/>
              <a:t>  * </a:t>
            </a:r>
            <a:r>
              <a:rPr lang="en-US" altLang="zh-CN" dirty="0">
                <a:solidFill>
                  <a:srgbClr val="FF0000"/>
                </a:solidFill>
              </a:rPr>
              <a:t>base</a:t>
            </a:r>
            <a:r>
              <a:rPr lang="en-US" altLang="zh-CN" dirty="0"/>
              <a:t>;    /</a:t>
            </a:r>
            <a:r>
              <a:rPr lang="zh-CN" altLang="en-US" dirty="0"/>
              <a:t>*栈底指针  *</a:t>
            </a:r>
            <a:r>
              <a:rPr lang="en-US" altLang="zh-CN" dirty="0"/>
              <a:t>/</a:t>
            </a:r>
            <a:endParaRPr lang="zh-CN" altLang="en-US" dirty="0"/>
          </a:p>
          <a:p>
            <a:pPr lvl="2"/>
            <a:r>
              <a:rPr lang="en-US" altLang="zh-CN" dirty="0"/>
              <a:t>    </a:t>
            </a:r>
            <a:r>
              <a:rPr lang="en-US" altLang="zh-CN" dirty="0" err="1"/>
              <a:t>SElemType</a:t>
            </a:r>
            <a:r>
              <a:rPr lang="en-US" altLang="zh-CN" dirty="0"/>
              <a:t>  *</a:t>
            </a:r>
            <a:r>
              <a:rPr lang="en-US" altLang="zh-CN" dirty="0">
                <a:solidFill>
                  <a:srgbClr val="FF0000"/>
                </a:solidFill>
              </a:rPr>
              <a:t>top</a:t>
            </a:r>
            <a:r>
              <a:rPr lang="en-US" altLang="zh-CN" dirty="0"/>
              <a:t>;      /</a:t>
            </a:r>
            <a:r>
              <a:rPr lang="zh-CN" altLang="en-US" dirty="0"/>
              <a:t>*栈顶指针   </a:t>
            </a:r>
            <a:r>
              <a:rPr lang="en-US" altLang="zh-CN" dirty="0"/>
              <a:t>*/</a:t>
            </a:r>
            <a:endParaRPr lang="en-US" altLang="zh-CN" dirty="0"/>
          </a:p>
          <a:p>
            <a:pPr lvl="2"/>
            <a:r>
              <a:rPr lang="en-US" altLang="zh-CN" dirty="0"/>
              <a:t>    </a:t>
            </a:r>
            <a:r>
              <a:rPr lang="en-US" altLang="zh-CN" dirty="0" err="1"/>
              <a:t>int</a:t>
            </a:r>
            <a:r>
              <a:rPr lang="en-US" altLang="zh-CN" dirty="0"/>
              <a:t>    </a:t>
            </a:r>
            <a:r>
              <a:rPr lang="en-US" altLang="zh-CN" dirty="0" err="1"/>
              <a:t>stacksize</a:t>
            </a:r>
            <a:r>
              <a:rPr lang="en-US" altLang="zh-CN" dirty="0"/>
              <a:t>;           /</a:t>
            </a:r>
            <a:r>
              <a:rPr lang="zh-CN" altLang="en-US" dirty="0"/>
              <a:t>*栈的最大容量  </a:t>
            </a:r>
            <a:r>
              <a:rPr lang="en-US" altLang="zh-CN" dirty="0"/>
              <a:t>*/</a:t>
            </a:r>
            <a:endParaRPr lang="zh-CN" altLang="en-US" dirty="0"/>
          </a:p>
          <a:p>
            <a:pPr lvl="2"/>
            <a:r>
              <a:rPr lang="en-US" altLang="zh-CN" dirty="0"/>
              <a:t>} </a:t>
            </a:r>
            <a:r>
              <a:rPr lang="en-US" altLang="zh-CN" dirty="0" err="1"/>
              <a:t>SqStack</a:t>
            </a:r>
            <a:r>
              <a:rPr lang="en-US" altLang="zh-CN" dirty="0"/>
              <a:t>; </a:t>
            </a:r>
            <a:endParaRPr lang="zh-CN" altLang="en-US" dirty="0"/>
          </a:p>
          <a:p>
            <a:endParaRPr lang="zh-CN" altLang="en-US" dirty="0"/>
          </a:p>
        </p:txBody>
      </p:sp>
      <p:sp>
        <p:nvSpPr>
          <p:cNvPr id="3" name="标题 2"/>
          <p:cNvSpPr>
            <a:spLocks noGrp="1"/>
          </p:cNvSpPr>
          <p:nvPr>
            <p:ph type="title"/>
          </p:nvPr>
        </p:nvSpPr>
        <p:spPr/>
        <p:txBody>
          <a:bodyPr/>
          <a:lstStyle/>
          <a:p>
            <a:r>
              <a:rPr lang="en-US" altLang="zh-CN" dirty="0"/>
              <a:t>3.1 </a:t>
            </a:r>
            <a:r>
              <a:rPr lang="zh-CN" altLang="en-US" dirty="0"/>
              <a:t>栈</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r>
              <a:rPr lang="zh-CN" altLang="en-US"/>
              <a:t>顺序栈示例</a:t>
            </a:r>
            <a:endParaRPr lang="zh-CN" altLang="en-US"/>
          </a:p>
        </p:txBody>
      </p:sp>
      <p:sp>
        <p:nvSpPr>
          <p:cNvPr id="3" name="标题 2"/>
          <p:cNvSpPr>
            <a:spLocks noGrp="1"/>
          </p:cNvSpPr>
          <p:nvPr>
            <p:ph type="title"/>
          </p:nvPr>
        </p:nvSpPr>
        <p:spPr>
          <a:xfrm>
            <a:off x="559725" y="171218"/>
            <a:ext cx="3612225" cy="248285"/>
          </a:xfrm>
        </p:spPr>
        <p:txBody>
          <a:bodyPr/>
          <a:p>
            <a:r>
              <a:rPr lang="en-US" altLang="zh-CN"/>
              <a:t>3.1 </a:t>
            </a:r>
            <a:r>
              <a:t>栈</a:t>
            </a:r>
          </a:p>
        </p:txBody>
      </p:sp>
      <p:graphicFrame>
        <p:nvGraphicFramePr>
          <p:cNvPr id="2050" name="Object 7"/>
          <p:cNvGraphicFramePr/>
          <p:nvPr/>
        </p:nvGraphicFramePr>
        <p:xfrm>
          <a:off x="288290" y="1447800"/>
          <a:ext cx="6363335" cy="2195195"/>
        </p:xfrm>
        <a:graphic>
          <a:graphicData uri="http://schemas.openxmlformats.org/presentationml/2006/ole">
            <mc:AlternateContent xmlns:mc="http://schemas.openxmlformats.org/markup-compatibility/2006">
              <mc:Choice xmlns:v="urn:schemas-microsoft-com:vml" Requires="v">
                <p:oleObj spid="_x0000_s3077" name="" r:id="rId1" imgW="6267450" imgH="2876550" progId="Paint.Picture">
                  <p:embed/>
                </p:oleObj>
              </mc:Choice>
              <mc:Fallback>
                <p:oleObj name="" r:id="rId1" imgW="6267450" imgH="2876550" progId="Paint.Picture">
                  <p:embed/>
                  <p:pic>
                    <p:nvPicPr>
                      <p:cNvPr id="0" name="图片 3076"/>
                      <p:cNvPicPr/>
                      <p:nvPr/>
                    </p:nvPicPr>
                    <p:blipFill>
                      <a:blip r:embed="rId2"/>
                      <a:stretch>
                        <a:fillRect/>
                      </a:stretch>
                    </p:blipFill>
                    <p:spPr>
                      <a:xfrm>
                        <a:off x="288290" y="1447800"/>
                        <a:ext cx="6363335" cy="2195195"/>
                      </a:xfrm>
                      <a:prstGeom prst="rect">
                        <a:avLst/>
                      </a:prstGeom>
                      <a:noFill/>
                      <a:ln w="38100">
                        <a:noFill/>
                        <a:miter/>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 </a:t>
            </a:r>
            <a:r>
              <a:rPr lang="zh-CN" altLang="en-US" dirty="0"/>
              <a:t>栈的初始化</a:t>
            </a:r>
            <a:endParaRPr lang="en-US" altLang="zh-CN" dirty="0"/>
          </a:p>
          <a:p>
            <a:pPr lvl="2"/>
            <a:r>
              <a:rPr lang="en-US" altLang="zh-CN" dirty="0"/>
              <a:t>Status  </a:t>
            </a:r>
            <a:r>
              <a:rPr lang="en-US" altLang="zh-CN" dirty="0" err="1"/>
              <a:t>InitStack</a:t>
            </a:r>
            <a:r>
              <a:rPr lang="en-US" altLang="zh-CN" dirty="0"/>
              <a:t> (</a:t>
            </a:r>
            <a:r>
              <a:rPr lang="en-US" altLang="zh-CN" dirty="0" err="1"/>
              <a:t>SqStack</a:t>
            </a:r>
            <a:r>
              <a:rPr lang="en-US" altLang="zh-CN" dirty="0"/>
              <a:t> &amp;S){  </a:t>
            </a:r>
            <a:endParaRPr lang="en-US" altLang="zh-CN" dirty="0"/>
          </a:p>
          <a:p>
            <a:pPr lvl="2"/>
            <a:r>
              <a:rPr lang="en-US" altLang="zh-CN" dirty="0"/>
              <a:t>    </a:t>
            </a:r>
            <a:r>
              <a:rPr lang="en-US" altLang="zh-CN" dirty="0" err="1">
                <a:solidFill>
                  <a:srgbClr val="FF0000"/>
                </a:solidFill>
              </a:rPr>
              <a:t>S.base</a:t>
            </a:r>
            <a:r>
              <a:rPr lang="en-US" altLang="zh-CN" dirty="0">
                <a:solidFill>
                  <a:schemeClr val="accent2"/>
                </a:solidFill>
              </a:rPr>
              <a:t> </a:t>
            </a:r>
            <a:r>
              <a:rPr lang="en-US" altLang="zh-CN" dirty="0"/>
              <a:t>= (</a:t>
            </a:r>
            <a:r>
              <a:rPr lang="en-US" altLang="zh-CN" dirty="0" err="1"/>
              <a:t>SElemType</a:t>
            </a:r>
            <a:r>
              <a:rPr lang="en-US" altLang="zh-CN" dirty="0"/>
              <a:t> *)</a:t>
            </a:r>
            <a:r>
              <a:rPr lang="en-US" altLang="zh-CN" dirty="0" err="1"/>
              <a:t>malloc</a:t>
            </a:r>
            <a:endParaRPr lang="en-US" altLang="zh-CN" dirty="0"/>
          </a:p>
          <a:p>
            <a:pPr lvl="2"/>
            <a:r>
              <a:rPr lang="en-US" altLang="zh-CN" dirty="0"/>
              <a:t>      (STACK_INIT_SIZE *</a:t>
            </a:r>
            <a:r>
              <a:rPr lang="en-US" altLang="zh-CN" dirty="0" err="1"/>
              <a:t>sizeof</a:t>
            </a:r>
            <a:r>
              <a:rPr lang="en-US" altLang="zh-CN" dirty="0"/>
              <a:t>(</a:t>
            </a:r>
            <a:r>
              <a:rPr lang="en-US" altLang="zh-CN" dirty="0" err="1"/>
              <a:t>SElemType</a:t>
            </a:r>
            <a:r>
              <a:rPr lang="en-US" altLang="zh-CN" dirty="0"/>
              <a:t>));</a:t>
            </a:r>
            <a:endParaRPr lang="en-US" altLang="zh-CN" dirty="0"/>
          </a:p>
          <a:p>
            <a:pPr lvl="2"/>
            <a:r>
              <a:rPr lang="en-US" altLang="zh-CN" dirty="0"/>
              <a:t>    if (! </a:t>
            </a:r>
            <a:r>
              <a:rPr lang="en-US" altLang="zh-CN" dirty="0" err="1"/>
              <a:t>S.base</a:t>
            </a:r>
            <a:r>
              <a:rPr lang="en-US" altLang="zh-CN" dirty="0"/>
              <a:t>)  exit (OVERFLOW);</a:t>
            </a:r>
            <a:endParaRPr lang="en-US" altLang="zh-CN" dirty="0"/>
          </a:p>
          <a:p>
            <a:pPr lvl="2"/>
            <a:r>
              <a:rPr lang="en-US" altLang="zh-CN" dirty="0"/>
              <a:t>    </a:t>
            </a:r>
            <a:r>
              <a:rPr lang="en-US" altLang="zh-CN" dirty="0" err="1">
                <a:solidFill>
                  <a:srgbClr val="FF0000"/>
                </a:solidFill>
              </a:rPr>
              <a:t>S.top</a:t>
            </a:r>
            <a:r>
              <a:rPr lang="en-US" altLang="zh-CN" dirty="0">
                <a:solidFill>
                  <a:schemeClr val="accent2"/>
                </a:solidFill>
              </a:rPr>
              <a:t> </a:t>
            </a:r>
            <a:r>
              <a:rPr lang="en-US" altLang="zh-CN" dirty="0"/>
              <a:t>= </a:t>
            </a:r>
            <a:r>
              <a:rPr lang="en-US" altLang="zh-CN" dirty="0" err="1"/>
              <a:t>S.base</a:t>
            </a:r>
            <a:r>
              <a:rPr lang="en-US" altLang="zh-CN" dirty="0"/>
              <a:t>;  </a:t>
            </a:r>
            <a:endParaRPr lang="en-US" altLang="zh-CN" dirty="0"/>
          </a:p>
          <a:p>
            <a:pPr lvl="2"/>
            <a:r>
              <a:rPr lang="en-US" altLang="zh-CN" dirty="0"/>
              <a:t>    </a:t>
            </a:r>
            <a:r>
              <a:rPr lang="en-US" altLang="zh-CN" dirty="0" err="1">
                <a:solidFill>
                  <a:srgbClr val="FF0000"/>
                </a:solidFill>
              </a:rPr>
              <a:t>S.stacksize</a:t>
            </a:r>
            <a:r>
              <a:rPr lang="en-US" altLang="zh-CN" dirty="0">
                <a:solidFill>
                  <a:schemeClr val="accent2"/>
                </a:solidFill>
              </a:rPr>
              <a:t> </a:t>
            </a:r>
            <a:r>
              <a:rPr lang="en-US" altLang="zh-CN" dirty="0"/>
              <a:t>= STACK_INIT_SIZE;</a:t>
            </a:r>
            <a:endParaRPr lang="en-US" altLang="zh-CN" dirty="0"/>
          </a:p>
          <a:p>
            <a:pPr lvl="2"/>
            <a:r>
              <a:rPr lang="en-US" altLang="zh-CN" dirty="0"/>
              <a:t>    return OK;</a:t>
            </a:r>
            <a:endParaRPr lang="en-US" altLang="zh-CN" dirty="0"/>
          </a:p>
          <a:p>
            <a:pPr lvl="2"/>
            <a:r>
              <a:rPr lang="en-US" altLang="zh-CN" dirty="0"/>
              <a:t>}</a:t>
            </a:r>
            <a:endParaRPr lang="zh-CN" altLang="en-US" dirty="0"/>
          </a:p>
        </p:txBody>
      </p:sp>
      <p:sp>
        <p:nvSpPr>
          <p:cNvPr id="3" name="标题 2"/>
          <p:cNvSpPr>
            <a:spLocks noGrp="1"/>
          </p:cNvSpPr>
          <p:nvPr>
            <p:ph type="title"/>
          </p:nvPr>
        </p:nvSpPr>
        <p:spPr/>
        <p:txBody>
          <a:bodyPr/>
          <a:lstStyle/>
          <a:p>
            <a:r>
              <a:rPr lang="en-US" altLang="zh-CN" dirty="0"/>
              <a:t>3.1 </a:t>
            </a:r>
            <a:r>
              <a:rPr lang="zh-CN" altLang="en-US" dirty="0"/>
              <a:t>栈</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ts val="2400"/>
              </a:lnSpc>
              <a:spcBef>
                <a:spcPts val="0"/>
              </a:spcBef>
            </a:pPr>
            <a:r>
              <a:rPr lang="en-US" altLang="zh-CN" sz="2000" dirty="0"/>
              <a:t>2. </a:t>
            </a:r>
            <a:r>
              <a:rPr lang="zh-CN" altLang="en-US" sz="2000" dirty="0"/>
              <a:t>入栈</a:t>
            </a:r>
            <a:endParaRPr lang="en-US" altLang="zh-CN" sz="2000" dirty="0"/>
          </a:p>
          <a:p>
            <a:pPr lvl="2">
              <a:lnSpc>
                <a:spcPts val="2400"/>
              </a:lnSpc>
              <a:spcBef>
                <a:spcPts val="0"/>
              </a:spcBef>
            </a:pPr>
            <a:r>
              <a:rPr lang="en-US" altLang="zh-CN" sz="1800" dirty="0"/>
              <a:t>Status Push(</a:t>
            </a:r>
            <a:r>
              <a:rPr lang="en-US" altLang="zh-CN" sz="1800" dirty="0" err="1"/>
              <a:t>SqStack</a:t>
            </a:r>
            <a:r>
              <a:rPr lang="en-US" altLang="zh-CN" sz="1800" dirty="0"/>
              <a:t> &amp;S, </a:t>
            </a:r>
            <a:r>
              <a:rPr lang="en-US" altLang="zh-CN" sz="1800" dirty="0" err="1"/>
              <a:t>SElemType</a:t>
            </a:r>
            <a:r>
              <a:rPr lang="en-US" altLang="zh-CN" sz="1800" dirty="0"/>
              <a:t> e){</a:t>
            </a:r>
            <a:endParaRPr lang="en-US" altLang="zh-CN" sz="1800" dirty="0"/>
          </a:p>
          <a:p>
            <a:pPr marL="0" lvl="2">
              <a:lnSpc>
                <a:spcPts val="2400"/>
              </a:lnSpc>
              <a:spcBef>
                <a:spcPts val="0"/>
              </a:spcBef>
            </a:pPr>
            <a:r>
              <a:rPr lang="en-US" altLang="zh-CN" sz="1800" dirty="0"/>
              <a:t>    if (</a:t>
            </a:r>
            <a:r>
              <a:rPr lang="en-US" altLang="zh-CN" sz="1800" dirty="0" err="1">
                <a:solidFill>
                  <a:srgbClr val="FF0000"/>
                </a:solidFill>
              </a:rPr>
              <a:t>S.top</a:t>
            </a:r>
            <a:r>
              <a:rPr lang="en-US" altLang="zh-CN" sz="1800" dirty="0">
                <a:solidFill>
                  <a:srgbClr val="FF0000"/>
                </a:solidFill>
              </a:rPr>
              <a:t> - </a:t>
            </a:r>
            <a:r>
              <a:rPr lang="en-US" altLang="zh-CN" sz="1800" dirty="0" err="1">
                <a:solidFill>
                  <a:srgbClr val="FF0000"/>
                </a:solidFill>
              </a:rPr>
              <a:t>S.base</a:t>
            </a:r>
            <a:r>
              <a:rPr lang="en-US" altLang="zh-CN" sz="1800" dirty="0">
                <a:solidFill>
                  <a:srgbClr val="FF0000"/>
                </a:solidFill>
              </a:rPr>
              <a:t>&gt;= </a:t>
            </a:r>
            <a:r>
              <a:rPr lang="en-US" altLang="zh-CN" sz="1800" dirty="0" err="1">
                <a:solidFill>
                  <a:srgbClr val="FF0000"/>
                </a:solidFill>
              </a:rPr>
              <a:t>S.stacksize</a:t>
            </a:r>
            <a:r>
              <a:rPr lang="en-US" altLang="zh-CN" sz="1800" dirty="0"/>
              <a:t>){ //</a:t>
            </a:r>
            <a:r>
              <a:rPr lang="zh-CN" altLang="en-US" sz="1800" dirty="0"/>
              <a:t>栈满，</a:t>
            </a:r>
            <a:r>
              <a:rPr lang="zh-CN" altLang="en-US" sz="1800">
                <a:sym typeface="+mn-ea"/>
              </a:rPr>
              <a:t>追加空间</a:t>
            </a:r>
            <a:endParaRPr lang="en-US" altLang="zh-CN" sz="1800" dirty="0"/>
          </a:p>
          <a:p>
            <a:pPr lvl="2">
              <a:lnSpc>
                <a:spcPts val="2400"/>
              </a:lnSpc>
              <a:spcBef>
                <a:spcPts val="0"/>
              </a:spcBef>
            </a:pPr>
            <a:r>
              <a:rPr sz="1800" dirty="0" err="1">
                <a:solidFill>
                  <a:srgbClr val="FF0000"/>
                </a:solidFill>
                <a:sym typeface="+mn-ea"/>
              </a:rPr>
              <a:t>	S.base</a:t>
            </a:r>
            <a:r>
              <a:rPr sz="1800">
                <a:solidFill>
                  <a:schemeClr val="accent2"/>
                </a:solidFill>
                <a:sym typeface="+mn-ea"/>
              </a:rPr>
              <a:t> </a:t>
            </a:r>
            <a:r>
              <a:rPr sz="1800">
                <a:sym typeface="+mn-ea"/>
              </a:rPr>
              <a:t>= (</a:t>
            </a:r>
            <a:r>
              <a:rPr sz="1800" dirty="0" err="1">
                <a:sym typeface="+mn-ea"/>
              </a:rPr>
              <a:t>SElemType</a:t>
            </a:r>
            <a:r>
              <a:rPr sz="1800">
                <a:sym typeface="+mn-ea"/>
              </a:rPr>
              <a:t> *)re</a:t>
            </a:r>
            <a:r>
              <a:rPr sz="1800" dirty="0" err="1">
                <a:sym typeface="+mn-ea"/>
              </a:rPr>
              <a:t>alloc</a:t>
            </a:r>
            <a:r>
              <a:rPr sz="1600">
                <a:sym typeface="+mn-ea"/>
              </a:rPr>
              <a:t>( S.base,</a:t>
            </a:r>
            <a:endParaRPr sz="1600">
              <a:sym typeface="+mn-ea"/>
            </a:endParaRPr>
          </a:p>
          <a:p>
            <a:pPr lvl="2">
              <a:lnSpc>
                <a:spcPts val="2400"/>
              </a:lnSpc>
              <a:spcBef>
                <a:spcPts val="0"/>
              </a:spcBef>
            </a:pPr>
            <a:r>
              <a:rPr sz="1600">
                <a:sym typeface="+mn-ea"/>
              </a:rPr>
              <a:t>              (S.stacksize+STACKINCREMENT) *</a:t>
            </a:r>
            <a:r>
              <a:rPr sz="1600" dirty="0" err="1">
                <a:sym typeface="+mn-ea"/>
              </a:rPr>
              <a:t>sizeof</a:t>
            </a:r>
            <a:r>
              <a:rPr sz="1600">
                <a:sym typeface="+mn-ea"/>
              </a:rPr>
              <a:t>(</a:t>
            </a:r>
            <a:r>
              <a:rPr sz="1600" dirty="0" err="1">
                <a:sym typeface="+mn-ea"/>
              </a:rPr>
              <a:t>SElemType</a:t>
            </a:r>
            <a:r>
              <a:rPr sz="1600">
                <a:sym typeface="+mn-ea"/>
              </a:rPr>
              <a:t>));</a:t>
            </a:r>
            <a:endParaRPr lang="en-US" altLang="zh-CN" sz="1600" dirty="0"/>
          </a:p>
          <a:p>
            <a:pPr lvl="2">
              <a:lnSpc>
                <a:spcPts val="2400"/>
              </a:lnSpc>
              <a:spcBef>
                <a:spcPts val="0"/>
              </a:spcBef>
            </a:pPr>
            <a:r>
              <a:rPr sz="1800">
                <a:sym typeface="+mn-ea"/>
              </a:rPr>
              <a:t>         if (! </a:t>
            </a:r>
            <a:r>
              <a:rPr sz="1800" dirty="0" err="1">
                <a:sym typeface="+mn-ea"/>
              </a:rPr>
              <a:t>S.base</a:t>
            </a:r>
            <a:r>
              <a:rPr sz="1800">
                <a:sym typeface="+mn-ea"/>
              </a:rPr>
              <a:t>)  exit (OVERFLOW);</a:t>
            </a:r>
            <a:endParaRPr sz="1800">
              <a:sym typeface="+mn-ea"/>
            </a:endParaRPr>
          </a:p>
          <a:p>
            <a:pPr lvl="2">
              <a:lnSpc>
                <a:spcPts val="2400"/>
              </a:lnSpc>
              <a:spcBef>
                <a:spcPts val="0"/>
              </a:spcBef>
            </a:pPr>
            <a:r>
              <a:rPr sz="1800">
                <a:sym typeface="+mn-ea"/>
              </a:rPr>
              <a:t>         S.top = S.base + S.stacksize;</a:t>
            </a:r>
            <a:endParaRPr sz="1800">
              <a:sym typeface="+mn-ea"/>
            </a:endParaRPr>
          </a:p>
          <a:p>
            <a:pPr lvl="2">
              <a:lnSpc>
                <a:spcPts val="2400"/>
              </a:lnSpc>
              <a:spcBef>
                <a:spcPts val="0"/>
              </a:spcBef>
            </a:pPr>
            <a:r>
              <a:rPr sz="1800">
                <a:sym typeface="+mn-ea"/>
              </a:rPr>
              <a:t>         S.stacksize += </a:t>
            </a:r>
            <a:r>
              <a:rPr sz="1800">
                <a:sym typeface="+mn-ea"/>
              </a:rPr>
              <a:t>STACKINCREMENT;</a:t>
            </a:r>
            <a:r>
              <a:rPr lang="en-US" altLang="zh-CN" sz="1800" dirty="0"/>
              <a:t>  </a:t>
            </a:r>
            <a:endParaRPr lang="en-US" altLang="zh-CN" sz="1800" dirty="0"/>
          </a:p>
          <a:p>
            <a:pPr lvl="2">
              <a:lnSpc>
                <a:spcPts val="2400"/>
              </a:lnSpc>
              <a:spcBef>
                <a:spcPts val="0"/>
              </a:spcBef>
            </a:pPr>
            <a:r>
              <a:rPr lang="en-US" altLang="zh-CN" sz="1800" dirty="0"/>
              <a:t>    }</a:t>
            </a:r>
            <a:endParaRPr lang="en-US" altLang="zh-CN" sz="1800" dirty="0"/>
          </a:p>
          <a:p>
            <a:pPr lvl="2">
              <a:lnSpc>
                <a:spcPts val="2400"/>
              </a:lnSpc>
              <a:spcBef>
                <a:spcPts val="0"/>
              </a:spcBef>
            </a:pPr>
            <a:r>
              <a:rPr lang="en-US" altLang="zh-CN" sz="1800" dirty="0"/>
              <a:t>    </a:t>
            </a:r>
            <a:r>
              <a:rPr lang="en-US" altLang="zh-CN" sz="1800" dirty="0">
                <a:solidFill>
                  <a:srgbClr val="FF0000"/>
                </a:solidFill>
              </a:rPr>
              <a:t>*</a:t>
            </a:r>
            <a:r>
              <a:rPr lang="en-US" altLang="zh-CN" sz="1800" dirty="0" err="1">
                <a:solidFill>
                  <a:srgbClr val="FF0000"/>
                </a:solidFill>
              </a:rPr>
              <a:t>S.top</a:t>
            </a:r>
            <a:r>
              <a:rPr lang="en-US" altLang="zh-CN" sz="1800" dirty="0">
                <a:solidFill>
                  <a:srgbClr val="FF0000"/>
                </a:solidFill>
              </a:rPr>
              <a:t>++=e;</a:t>
            </a:r>
            <a:endParaRPr lang="en-US" altLang="zh-CN" sz="1800" dirty="0">
              <a:solidFill>
                <a:srgbClr val="FF0000"/>
              </a:solidFill>
            </a:endParaRPr>
          </a:p>
          <a:p>
            <a:pPr lvl="2">
              <a:lnSpc>
                <a:spcPts val="2400"/>
              </a:lnSpc>
              <a:spcBef>
                <a:spcPts val="0"/>
              </a:spcBef>
            </a:pPr>
            <a:r>
              <a:rPr lang="en-US" altLang="zh-CN" sz="1800" dirty="0"/>
              <a:t>     return OK;</a:t>
            </a:r>
            <a:endParaRPr lang="en-US" altLang="zh-CN" sz="1800" dirty="0"/>
          </a:p>
          <a:p>
            <a:pPr lvl="2">
              <a:lnSpc>
                <a:spcPts val="2400"/>
              </a:lnSpc>
              <a:spcBef>
                <a:spcPts val="0"/>
              </a:spcBef>
            </a:pPr>
            <a:r>
              <a:rPr lang="en-US" altLang="zh-CN" sz="1800" dirty="0"/>
              <a:t>} </a:t>
            </a:r>
            <a:endParaRPr lang="en-US" altLang="zh-CN" sz="1800" dirty="0"/>
          </a:p>
        </p:txBody>
      </p:sp>
      <p:sp>
        <p:nvSpPr>
          <p:cNvPr id="3" name="标题 2"/>
          <p:cNvSpPr>
            <a:spLocks noGrp="1"/>
          </p:cNvSpPr>
          <p:nvPr>
            <p:ph type="title"/>
          </p:nvPr>
        </p:nvSpPr>
        <p:spPr/>
        <p:txBody>
          <a:bodyPr/>
          <a:lstStyle/>
          <a:p>
            <a:r>
              <a:rPr lang="en-US" altLang="zh-CN" dirty="0"/>
              <a:t>3.1 </a:t>
            </a:r>
            <a:r>
              <a:rPr lang="zh-CN" altLang="en-US" dirty="0"/>
              <a:t>栈</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3. </a:t>
            </a:r>
            <a:r>
              <a:rPr lang="zh-CN" altLang="en-US" dirty="0"/>
              <a:t>出栈</a:t>
            </a:r>
            <a:endParaRPr lang="en-US" altLang="zh-CN" dirty="0"/>
          </a:p>
          <a:p>
            <a:pPr lvl="2">
              <a:lnSpc>
                <a:spcPct val="110000"/>
              </a:lnSpc>
              <a:spcBef>
                <a:spcPct val="50000"/>
              </a:spcBef>
            </a:pPr>
            <a:r>
              <a:rPr lang="en-US" altLang="zh-CN" dirty="0"/>
              <a:t>Status Pop(</a:t>
            </a:r>
            <a:r>
              <a:rPr lang="en-US" altLang="zh-CN" dirty="0" err="1"/>
              <a:t>SqStack</a:t>
            </a:r>
            <a:r>
              <a:rPr lang="en-US" altLang="zh-CN" dirty="0"/>
              <a:t> S, </a:t>
            </a:r>
            <a:r>
              <a:rPr lang="en-US" altLang="zh-CN" dirty="0" err="1"/>
              <a:t>SelemType</a:t>
            </a:r>
            <a:r>
              <a:rPr lang="en-US" altLang="zh-CN" dirty="0"/>
              <a:t> &amp;e){</a:t>
            </a:r>
            <a:endParaRPr lang="en-US" altLang="zh-CN" dirty="0"/>
          </a:p>
          <a:p>
            <a:pPr lvl="2">
              <a:lnSpc>
                <a:spcPct val="110000"/>
              </a:lnSpc>
              <a:spcBef>
                <a:spcPct val="50000"/>
              </a:spcBef>
            </a:pPr>
            <a:r>
              <a:rPr lang="en-US" altLang="zh-CN" dirty="0"/>
              <a:t>    if( </a:t>
            </a:r>
            <a:r>
              <a:rPr lang="en-US" altLang="zh-CN" dirty="0" err="1">
                <a:solidFill>
                  <a:srgbClr val="FF0000"/>
                </a:solidFill>
              </a:rPr>
              <a:t>S.top</a:t>
            </a:r>
            <a:r>
              <a:rPr lang="en-US" altLang="zh-CN" dirty="0">
                <a:solidFill>
                  <a:srgbClr val="FF0000"/>
                </a:solidFill>
              </a:rPr>
              <a:t> == </a:t>
            </a:r>
            <a:r>
              <a:rPr lang="en-US" altLang="zh-CN" dirty="0" err="1">
                <a:solidFill>
                  <a:srgbClr val="FF0000"/>
                </a:solidFill>
              </a:rPr>
              <a:t>S.base</a:t>
            </a:r>
            <a:r>
              <a:rPr lang="en-US" altLang="zh-CN" dirty="0"/>
              <a:t>) return ERROR;</a:t>
            </a:r>
            <a:endParaRPr lang="en-US" altLang="zh-CN" dirty="0"/>
          </a:p>
          <a:p>
            <a:pPr lvl="2">
              <a:lnSpc>
                <a:spcPct val="110000"/>
              </a:lnSpc>
              <a:spcBef>
                <a:spcPct val="50000"/>
              </a:spcBef>
            </a:pPr>
            <a:r>
              <a:rPr lang="en-US" altLang="zh-CN" dirty="0">
                <a:solidFill>
                  <a:srgbClr val="FF0000"/>
                </a:solidFill>
              </a:rPr>
              <a:t>    e=*--</a:t>
            </a:r>
            <a:r>
              <a:rPr lang="en-US" altLang="zh-CN" dirty="0" err="1">
                <a:solidFill>
                  <a:srgbClr val="FF0000"/>
                </a:solidFill>
              </a:rPr>
              <a:t>S.top</a:t>
            </a:r>
            <a:r>
              <a:rPr lang="en-US" altLang="zh-CN" dirty="0">
                <a:solidFill>
                  <a:srgbClr val="FF0000"/>
                </a:solidFill>
              </a:rPr>
              <a:t>;</a:t>
            </a:r>
            <a:endParaRPr lang="en-US" altLang="zh-CN" dirty="0">
              <a:solidFill>
                <a:srgbClr val="FF0000"/>
              </a:solidFill>
            </a:endParaRPr>
          </a:p>
          <a:p>
            <a:pPr lvl="2">
              <a:lnSpc>
                <a:spcPct val="110000"/>
              </a:lnSpc>
              <a:spcBef>
                <a:spcPct val="50000"/>
              </a:spcBef>
            </a:pPr>
            <a:r>
              <a:rPr lang="en-US" altLang="zh-CN" dirty="0"/>
              <a:t>    return OK;</a:t>
            </a:r>
            <a:endParaRPr lang="en-US" altLang="zh-CN" dirty="0"/>
          </a:p>
          <a:p>
            <a:pPr lvl="2">
              <a:lnSpc>
                <a:spcPct val="110000"/>
              </a:lnSpc>
              <a:spcBef>
                <a:spcPct val="50000"/>
              </a:spcBef>
            </a:pPr>
            <a:r>
              <a:rPr lang="en-US" altLang="zh-CN" dirty="0"/>
              <a:t>}</a:t>
            </a:r>
            <a:endParaRPr lang="en-US" altLang="zh-CN" dirty="0"/>
          </a:p>
        </p:txBody>
      </p:sp>
      <p:sp>
        <p:nvSpPr>
          <p:cNvPr id="3" name="标题 2"/>
          <p:cNvSpPr>
            <a:spLocks noGrp="1"/>
          </p:cNvSpPr>
          <p:nvPr>
            <p:ph type="title"/>
          </p:nvPr>
        </p:nvSpPr>
        <p:spPr/>
        <p:txBody>
          <a:bodyPr/>
          <a:lstStyle/>
          <a:p>
            <a:r>
              <a:rPr lang="en-US" altLang="zh-CN" dirty="0"/>
              <a:t>3.1 </a:t>
            </a:r>
            <a:r>
              <a:rPr lang="zh-CN" altLang="en-US" dirty="0"/>
              <a:t>栈</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4. </a:t>
            </a:r>
            <a:r>
              <a:rPr lang="zh-CN" altLang="en-US" dirty="0"/>
              <a:t>取栈顶元素值</a:t>
            </a:r>
            <a:endParaRPr lang="en-US" altLang="zh-CN" dirty="0"/>
          </a:p>
          <a:p>
            <a:pPr lvl="2">
              <a:lnSpc>
                <a:spcPct val="110000"/>
              </a:lnSpc>
              <a:spcBef>
                <a:spcPct val="50000"/>
              </a:spcBef>
            </a:pPr>
            <a:r>
              <a:rPr lang="en-US" altLang="zh-CN" dirty="0"/>
              <a:t>Status GetTop(</a:t>
            </a:r>
            <a:r>
              <a:rPr lang="en-US" altLang="zh-CN" dirty="0" err="1"/>
              <a:t>SqStack</a:t>
            </a:r>
            <a:r>
              <a:rPr lang="en-US" altLang="zh-CN" dirty="0"/>
              <a:t> S, </a:t>
            </a:r>
            <a:r>
              <a:rPr lang="en-US" altLang="zh-CN" dirty="0" err="1"/>
              <a:t>SelemType</a:t>
            </a:r>
            <a:r>
              <a:rPr lang="en-US" altLang="zh-CN" dirty="0"/>
              <a:t> &amp;e){</a:t>
            </a:r>
            <a:endParaRPr lang="en-US" altLang="zh-CN" dirty="0"/>
          </a:p>
          <a:p>
            <a:pPr lvl="2">
              <a:lnSpc>
                <a:spcPct val="110000"/>
              </a:lnSpc>
              <a:spcBef>
                <a:spcPct val="50000"/>
              </a:spcBef>
            </a:pPr>
            <a:r>
              <a:rPr lang="en-US" altLang="zh-CN" dirty="0"/>
              <a:t>    if( </a:t>
            </a:r>
            <a:r>
              <a:rPr lang="en-US" altLang="zh-CN" dirty="0" err="1">
                <a:solidFill>
                  <a:srgbClr val="FF0000"/>
                </a:solidFill>
              </a:rPr>
              <a:t>S.top</a:t>
            </a:r>
            <a:r>
              <a:rPr lang="en-US" altLang="zh-CN" dirty="0">
                <a:solidFill>
                  <a:srgbClr val="FF0000"/>
                </a:solidFill>
              </a:rPr>
              <a:t> == </a:t>
            </a:r>
            <a:r>
              <a:rPr lang="en-US" altLang="zh-CN" dirty="0" err="1">
                <a:solidFill>
                  <a:srgbClr val="FF0000"/>
                </a:solidFill>
              </a:rPr>
              <a:t>S.base</a:t>
            </a:r>
            <a:r>
              <a:rPr lang="en-US" altLang="zh-CN" dirty="0"/>
              <a:t>) return ERROR;</a:t>
            </a:r>
            <a:endParaRPr lang="en-US" altLang="zh-CN" dirty="0"/>
          </a:p>
          <a:p>
            <a:pPr lvl="2">
              <a:lnSpc>
                <a:spcPct val="110000"/>
              </a:lnSpc>
              <a:spcBef>
                <a:spcPct val="50000"/>
              </a:spcBef>
            </a:pPr>
            <a:r>
              <a:rPr lang="en-US" altLang="zh-CN" sz="1800" dirty="0">
                <a:solidFill>
                  <a:srgbClr val="FF0000"/>
                </a:solidFill>
              </a:rPr>
              <a:t>    </a:t>
            </a:r>
            <a:r>
              <a:rPr lang="en-US" altLang="zh-CN" sz="2000" dirty="0">
                <a:solidFill>
                  <a:srgbClr val="FF0000"/>
                </a:solidFill>
              </a:rPr>
              <a:t>e = * (S.top-1);</a:t>
            </a:r>
            <a:endParaRPr lang="en-US" altLang="zh-CN" sz="2000" dirty="0">
              <a:solidFill>
                <a:srgbClr val="FF0000"/>
              </a:solidFill>
            </a:endParaRPr>
          </a:p>
          <a:p>
            <a:pPr lvl="2">
              <a:lnSpc>
                <a:spcPct val="110000"/>
              </a:lnSpc>
              <a:spcBef>
                <a:spcPct val="50000"/>
              </a:spcBef>
            </a:pPr>
            <a:r>
              <a:rPr lang="en-US" altLang="zh-CN" dirty="0"/>
              <a:t>    return OK;</a:t>
            </a:r>
            <a:endParaRPr lang="en-US" altLang="zh-CN" dirty="0"/>
          </a:p>
          <a:p>
            <a:pPr lvl="2">
              <a:lnSpc>
                <a:spcPct val="110000"/>
              </a:lnSpc>
              <a:spcBef>
                <a:spcPct val="50000"/>
              </a:spcBef>
            </a:pPr>
            <a:r>
              <a:rPr lang="en-US" altLang="zh-CN" dirty="0"/>
              <a:t>}</a:t>
            </a:r>
            <a:endParaRPr lang="en-US" altLang="zh-CN" dirty="0"/>
          </a:p>
        </p:txBody>
      </p:sp>
      <p:sp>
        <p:nvSpPr>
          <p:cNvPr id="3" name="标题 2"/>
          <p:cNvSpPr>
            <a:spLocks noGrp="1"/>
          </p:cNvSpPr>
          <p:nvPr>
            <p:ph type="title"/>
          </p:nvPr>
        </p:nvSpPr>
        <p:spPr/>
        <p:txBody>
          <a:bodyPr/>
          <a:lstStyle/>
          <a:p>
            <a:r>
              <a:rPr lang="en-US" altLang="zh-CN" dirty="0"/>
              <a:t>3.1 </a:t>
            </a:r>
            <a:r>
              <a:rPr lang="zh-CN" altLang="en-US" dirty="0"/>
              <a:t>栈</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双栈共享一个栈空间</a:t>
            </a:r>
            <a:endParaRPr lang="zh-CN" altLang="en-US" dirty="0"/>
          </a:p>
          <a:p>
            <a:endParaRPr lang="zh-CN" altLang="en-US" dirty="0"/>
          </a:p>
          <a:p>
            <a:endParaRPr lang="zh-CN" altLang="en-US" dirty="0"/>
          </a:p>
          <a:p>
            <a:endParaRPr lang="zh-CN" altLang="en-US" dirty="0"/>
          </a:p>
          <a:p>
            <a:endParaRPr lang="zh-CN" altLang="en-US" dirty="0"/>
          </a:p>
          <a:p>
            <a:endParaRPr b="0" noProof="0" dirty="0">
              <a:ln>
                <a:noFill/>
              </a:ln>
              <a:solidFill>
                <a:srgbClr val="FF0000"/>
              </a:solidFill>
              <a:uLnTx/>
              <a:uFillTx/>
              <a:latin typeface="+mn-lt"/>
              <a:ea typeface="+mn-ea"/>
              <a:cs typeface="+mn-ea"/>
              <a:sym typeface="+mn-lt"/>
            </a:endParaRPr>
          </a:p>
          <a:p>
            <a:r>
              <a:rPr b="0" noProof="0" dirty="0">
                <a:ln>
                  <a:noFill/>
                </a:ln>
                <a:solidFill>
                  <a:srgbClr val="FF0000"/>
                </a:solidFill>
                <a:uLnTx/>
                <a:uFillTx/>
                <a:latin typeface="+mn-lt"/>
                <a:ea typeface="+mn-ea"/>
                <a:cs typeface="+mn-ea"/>
                <a:sym typeface="+mn-lt"/>
              </a:rPr>
              <a:t>优点：互相调剂，灵活性强，减少溢出机会</a:t>
            </a:r>
            <a:endParaRPr lang="zh-CN" altLang="en-US" dirty="0"/>
          </a:p>
        </p:txBody>
      </p:sp>
      <p:sp>
        <p:nvSpPr>
          <p:cNvPr id="3" name="标题 2"/>
          <p:cNvSpPr>
            <a:spLocks noGrp="1"/>
          </p:cNvSpPr>
          <p:nvPr>
            <p:ph type="title"/>
          </p:nvPr>
        </p:nvSpPr>
        <p:spPr>
          <a:xfrm>
            <a:off x="559725" y="171218"/>
            <a:ext cx="3612225" cy="248285"/>
          </a:xfrm>
        </p:spPr>
        <p:txBody>
          <a:bodyPr/>
          <a:lstStyle/>
          <a:p>
            <a:r>
              <a:rPr lang="en-US" altLang="zh-CN">
                <a:sym typeface="+mn-ea"/>
              </a:rPr>
              <a:t>3.1 </a:t>
            </a:r>
            <a:r>
              <a:rPr>
                <a:sym typeface="+mn-ea"/>
              </a:rPr>
              <a:t>栈</a:t>
            </a:r>
            <a:endParaRPr lang="zh-CN" altLang="en-US"/>
          </a:p>
        </p:txBody>
      </p:sp>
      <p:grpSp>
        <p:nvGrpSpPr>
          <p:cNvPr id="52227" name="Group 6"/>
          <p:cNvGrpSpPr/>
          <p:nvPr/>
        </p:nvGrpSpPr>
        <p:grpSpPr>
          <a:xfrm>
            <a:off x="285783" y="1450136"/>
            <a:ext cx="6297897" cy="1475593"/>
            <a:chOff x="379" y="1335"/>
            <a:chExt cx="4933" cy="2283"/>
          </a:xfrm>
        </p:grpSpPr>
        <p:sp>
          <p:nvSpPr>
            <p:cNvPr id="44037" name="Text Box 7"/>
            <p:cNvSpPr txBox="1">
              <a:spLocks noChangeArrowheads="1"/>
            </p:cNvSpPr>
            <p:nvPr/>
          </p:nvSpPr>
          <p:spPr bwMode="auto">
            <a:xfrm>
              <a:off x="384" y="2808"/>
              <a:ext cx="4928"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1" u="none" strike="noStrike" kern="1200" cap="none" spc="0" normalizeH="0" baseline="0" noProof="0" dirty="0">
                  <a:ln>
                    <a:noFill/>
                  </a:ln>
                  <a:solidFill>
                    <a:srgbClr val="0000FF"/>
                  </a:solidFill>
                  <a:effectLst/>
                  <a:uLnTx/>
                  <a:uFillTx/>
                  <a:latin typeface="+mn-lt"/>
                  <a:ea typeface="+mn-ea"/>
                  <a:cs typeface="+mn-ea"/>
                  <a:sym typeface="+mn-lt"/>
                </a:rPr>
                <a:t>base1</a:t>
              </a:r>
              <a:r>
                <a:rPr kumimoji="0" lang="en-US" altLang="zh-CN" sz="2800" b="1" i="0" u="none" strike="noStrike" kern="1200" cap="none" spc="0" normalizeH="0" baseline="0" noProof="0" dirty="0">
                  <a:ln>
                    <a:noFill/>
                  </a:ln>
                  <a:solidFill>
                    <a:srgbClr val="0000FF"/>
                  </a:solidFill>
                  <a:effectLst/>
                  <a:uLnTx/>
                  <a:uFillTx/>
                  <a:latin typeface="+mn-lt"/>
                  <a:ea typeface="+mn-ea"/>
                  <a:cs typeface="+mn-ea"/>
                  <a:sym typeface="+mn-lt"/>
                </a:rPr>
                <a:t>                  </a:t>
              </a:r>
              <a:r>
                <a:rPr kumimoji="0" lang="en-US" altLang="zh-CN" sz="2800" b="1" i="1" u="none" strike="noStrike" kern="1200" cap="none" spc="0" normalizeH="0" baseline="0" noProof="0" dirty="0">
                  <a:ln>
                    <a:noFill/>
                  </a:ln>
                  <a:solidFill>
                    <a:srgbClr val="0000FF"/>
                  </a:solidFill>
                  <a:effectLst/>
                  <a:uLnTx/>
                  <a:uFillTx/>
                  <a:latin typeface="+mn-lt"/>
                  <a:ea typeface="+mn-ea"/>
                  <a:cs typeface="+mn-ea"/>
                  <a:sym typeface="+mn-lt"/>
                </a:rPr>
                <a:t>top1</a:t>
              </a:r>
              <a:r>
                <a:rPr kumimoji="0" lang="en-US" altLang="zh-CN" sz="2800" b="1" i="0" u="none" strike="noStrike" kern="1200" cap="none" spc="0" normalizeH="0" baseline="0" noProof="0" dirty="0">
                  <a:ln>
                    <a:noFill/>
                  </a:ln>
                  <a:solidFill>
                    <a:srgbClr val="0000FF"/>
                  </a:solidFill>
                  <a:effectLst/>
                  <a:uLnTx/>
                  <a:uFillTx/>
                  <a:latin typeface="+mn-lt"/>
                  <a:ea typeface="+mn-ea"/>
                  <a:cs typeface="+mn-ea"/>
                  <a:sym typeface="+mn-lt"/>
                </a:rPr>
                <a:t>     top2           </a:t>
              </a:r>
              <a:r>
                <a:rPr kumimoji="0" lang="en-US" altLang="zh-CN" sz="2800" b="1" i="1" u="none" strike="noStrike" kern="1200" cap="none" spc="0" normalizeH="0" baseline="0" noProof="0" dirty="0">
                  <a:ln>
                    <a:noFill/>
                  </a:ln>
                  <a:solidFill>
                    <a:srgbClr val="0000FF"/>
                  </a:solidFill>
                  <a:effectLst/>
                  <a:uLnTx/>
                  <a:uFillTx/>
                  <a:latin typeface="+mn-lt"/>
                  <a:ea typeface="+mn-ea"/>
                  <a:cs typeface="+mn-ea"/>
                  <a:sym typeface="+mn-lt"/>
                </a:rPr>
                <a:t>base2</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44038" name="Line 8"/>
            <p:cNvSpPr>
              <a:spLocks noChangeShapeType="1"/>
            </p:cNvSpPr>
            <p:nvPr/>
          </p:nvSpPr>
          <p:spPr bwMode="auto">
            <a:xfrm flipV="1">
              <a:off x="680" y="2616"/>
              <a:ext cx="0" cy="240"/>
            </a:xfrm>
            <a:prstGeom prst="line">
              <a:avLst/>
            </a:prstGeom>
            <a:noFill/>
            <a:ln w="38100">
              <a:solidFill>
                <a:srgbClr val="FF00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39" name="Line 9"/>
            <p:cNvSpPr>
              <a:spLocks noChangeShapeType="1"/>
            </p:cNvSpPr>
            <p:nvPr/>
          </p:nvSpPr>
          <p:spPr bwMode="auto">
            <a:xfrm flipV="1">
              <a:off x="2700" y="2616"/>
              <a:ext cx="0" cy="240"/>
            </a:xfrm>
            <a:prstGeom prst="line">
              <a:avLst/>
            </a:prstGeom>
            <a:noFill/>
            <a:ln w="38100">
              <a:solidFill>
                <a:srgbClr val="FF00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0" name="Line 10"/>
            <p:cNvSpPr>
              <a:spLocks noChangeShapeType="1"/>
            </p:cNvSpPr>
            <p:nvPr/>
          </p:nvSpPr>
          <p:spPr bwMode="auto">
            <a:xfrm flipV="1">
              <a:off x="3184" y="2616"/>
              <a:ext cx="0" cy="240"/>
            </a:xfrm>
            <a:prstGeom prst="line">
              <a:avLst/>
            </a:prstGeom>
            <a:noFill/>
            <a:ln w="38100">
              <a:solidFill>
                <a:srgbClr val="FF00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1" name="Line 11"/>
            <p:cNvSpPr>
              <a:spLocks noChangeShapeType="1"/>
            </p:cNvSpPr>
            <p:nvPr/>
          </p:nvSpPr>
          <p:spPr bwMode="auto">
            <a:xfrm flipV="1">
              <a:off x="4892" y="2616"/>
              <a:ext cx="0" cy="240"/>
            </a:xfrm>
            <a:prstGeom prst="line">
              <a:avLst/>
            </a:prstGeom>
            <a:noFill/>
            <a:ln w="38100">
              <a:solidFill>
                <a:srgbClr val="FF00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2" name="Rectangle 12"/>
            <p:cNvSpPr>
              <a:spLocks noChangeArrowheads="1"/>
            </p:cNvSpPr>
            <p:nvPr/>
          </p:nvSpPr>
          <p:spPr bwMode="auto">
            <a:xfrm>
              <a:off x="672" y="2280"/>
              <a:ext cx="2064" cy="336"/>
            </a:xfrm>
            <a:prstGeom prst="rect">
              <a:avLst/>
            </a:prstGeom>
            <a:solidFill>
              <a:schemeClr val="accent1"/>
            </a:solidFill>
            <a:ln>
              <a:noFill/>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3" name="Rectangle 13"/>
            <p:cNvSpPr>
              <a:spLocks noChangeArrowheads="1"/>
            </p:cNvSpPr>
            <p:nvPr/>
          </p:nvSpPr>
          <p:spPr bwMode="auto">
            <a:xfrm>
              <a:off x="2736" y="2280"/>
              <a:ext cx="432" cy="336"/>
            </a:xfrm>
            <a:prstGeom prst="rect">
              <a:avLst/>
            </a:prstGeom>
            <a:solidFill>
              <a:srgbClr val="FFFFCC"/>
            </a:solidFill>
            <a:ln>
              <a:noFill/>
            </a:ln>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4" name="Rectangle 14"/>
            <p:cNvSpPr>
              <a:spLocks noChangeArrowheads="1"/>
            </p:cNvSpPr>
            <p:nvPr/>
          </p:nvSpPr>
          <p:spPr bwMode="auto">
            <a:xfrm>
              <a:off x="3168" y="2280"/>
              <a:ext cx="1728" cy="336"/>
            </a:xfrm>
            <a:prstGeom prst="rect">
              <a:avLst/>
            </a:prstGeom>
            <a:solidFill>
              <a:schemeClr val="accent2"/>
            </a:solidFill>
            <a:ln>
              <a:noFill/>
            </a:ln>
            <a:scene3d>
              <a:camera prst="legacyObliqueTopRight"/>
              <a:lightRig rig="legacyFlat3" dir="b"/>
            </a:scene3d>
            <a:sp3d extrusionH="430200" prstMaterial="legacyMatte">
              <a:bevelT w="13500" h="13500" prst="angle"/>
              <a:bevelB w="13500" h="13500" prst="angle"/>
              <a:extrusionClr>
                <a:schemeClr val="accent2"/>
              </a:extrusionClr>
              <a:contourClr>
                <a:schemeClr val="accent2"/>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5" name="Text Box 15"/>
            <p:cNvSpPr txBox="1">
              <a:spLocks noChangeArrowheads="1"/>
            </p:cNvSpPr>
            <p:nvPr/>
          </p:nvSpPr>
          <p:spPr bwMode="auto">
            <a:xfrm>
              <a:off x="720" y="1335"/>
              <a:ext cx="4418" cy="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0">
                  <a:ln>
                    <a:noFill/>
                  </a:ln>
                  <a:solidFill>
                    <a:schemeClr val="tx2"/>
                  </a:solidFill>
                  <a:effectLst/>
                  <a:uLnTx/>
                  <a:uFillTx/>
                  <a:latin typeface="+mn-lt"/>
                  <a:ea typeface="+mn-ea"/>
                  <a:cs typeface="+mn-ea"/>
                  <a:sym typeface="+mn-lt"/>
                </a:rPr>
                <a:t>0                                                          m-1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6" name="Text Box 16"/>
            <p:cNvSpPr txBox="1">
              <a:spLocks noChangeArrowheads="1"/>
            </p:cNvSpPr>
            <p:nvPr/>
          </p:nvSpPr>
          <p:spPr bwMode="auto">
            <a:xfrm>
              <a:off x="379" y="1953"/>
              <a:ext cx="301" cy="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0000FF"/>
                  </a:solidFill>
                  <a:effectLst/>
                  <a:uLnTx/>
                  <a:uFillTx/>
                  <a:latin typeface="+mn-lt"/>
                  <a:ea typeface="+mn-ea"/>
                  <a:cs typeface="+mn-ea"/>
                  <a:sym typeface="+mn-lt"/>
                </a:rPr>
                <a:t>V</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7" name="Line 17"/>
            <p:cNvSpPr>
              <a:spLocks noChangeShapeType="1"/>
            </p:cNvSpPr>
            <p:nvPr/>
          </p:nvSpPr>
          <p:spPr bwMode="auto">
            <a:xfrm>
              <a:off x="720" y="2424"/>
              <a:ext cx="1968" cy="0"/>
            </a:xfrm>
            <a:prstGeom prst="line">
              <a:avLst/>
            </a:prstGeom>
            <a:noFill/>
            <a:ln w="38100">
              <a:solidFill>
                <a:srgbClr val="969696"/>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8" name="Line 18"/>
            <p:cNvSpPr>
              <a:spLocks noChangeShapeType="1"/>
            </p:cNvSpPr>
            <p:nvPr/>
          </p:nvSpPr>
          <p:spPr bwMode="auto">
            <a:xfrm>
              <a:off x="3216" y="2424"/>
              <a:ext cx="1632" cy="0"/>
            </a:xfrm>
            <a:prstGeom prst="line">
              <a:avLst/>
            </a:prstGeom>
            <a:noFill/>
            <a:ln w="38100">
              <a:solidFill>
                <a:srgbClr val="969696"/>
              </a:solidFill>
              <a:round/>
              <a:headEnd type="triangle" w="med" len="lg"/>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链栈</a:t>
            </a:r>
            <a:endParaRPr lang="en-US" altLang="zh-CN" dirty="0"/>
          </a:p>
          <a:p>
            <a:pPr marL="0" lvl="2" eaLnBrk="0" fontAlgn="base" hangingPunct="0">
              <a:lnSpc>
                <a:spcPts val="2250"/>
              </a:lnSpc>
              <a:spcBef>
                <a:spcPts val="450"/>
              </a:spcBef>
              <a:spcAft>
                <a:spcPct val="0"/>
              </a:spcAft>
              <a:buClrTx/>
              <a:buSzTx/>
            </a:pPr>
            <a:r>
              <a:rPr lang="zh-CN" altLang="en-US" dirty="0"/>
              <a:t>    栈的链式存储结构实际上是一个</a:t>
            </a:r>
            <a:r>
              <a:rPr lang="zh-CN" altLang="en-US" dirty="0">
                <a:solidFill>
                  <a:srgbClr val="FF0000"/>
                </a:solidFill>
              </a:rPr>
              <a:t>单链表</a:t>
            </a:r>
            <a:r>
              <a:rPr lang="zh-CN" altLang="en-US" dirty="0"/>
              <a:t>，叫做链栈。插入和删除操作只能在链栈的</a:t>
            </a:r>
            <a:r>
              <a:rPr lang="zh-CN" altLang="en-US" dirty="0">
                <a:solidFill>
                  <a:srgbClr val="FF0000"/>
                </a:solidFill>
              </a:rPr>
              <a:t>栈顶</a:t>
            </a:r>
            <a:r>
              <a:rPr lang="zh-CN" altLang="en-US" dirty="0"/>
              <a:t>进行。</a:t>
            </a:r>
            <a:endParaRPr lang="en-US" altLang="zh-CN" dirty="0"/>
          </a:p>
          <a:p>
            <a:pPr marL="0" lvl="2" eaLnBrk="0" fontAlgn="base" hangingPunct="0">
              <a:lnSpc>
                <a:spcPts val="2250"/>
              </a:lnSpc>
              <a:spcBef>
                <a:spcPts val="450"/>
              </a:spcBef>
              <a:spcAft>
                <a:spcPct val="0"/>
              </a:spcAft>
              <a:buClrTx/>
              <a:buSzTx/>
            </a:pPr>
            <a:endParaRPr lang="en-US" altLang="zh-CN" dirty="0"/>
          </a:p>
          <a:p>
            <a:pPr marL="0" lvl="2" eaLnBrk="0" fontAlgn="base" hangingPunct="0">
              <a:lnSpc>
                <a:spcPts val="2250"/>
              </a:lnSpc>
              <a:spcBef>
                <a:spcPts val="450"/>
              </a:spcBef>
              <a:spcAft>
                <a:spcPct val="0"/>
              </a:spcAft>
              <a:buClrTx/>
              <a:buSzTx/>
            </a:pPr>
            <a:r>
              <a:rPr lang="zh-CN" altLang="en-US" dirty="0">
                <a:solidFill>
                  <a:srgbClr val="FF0000"/>
                </a:solidFill>
              </a:rPr>
              <a:t>思考：</a:t>
            </a:r>
            <a:endParaRPr lang="en-US" altLang="zh-CN" dirty="0">
              <a:solidFill>
                <a:srgbClr val="FF0000"/>
              </a:solidFill>
            </a:endParaRPr>
          </a:p>
          <a:p>
            <a:pPr marL="0" lvl="2" eaLnBrk="0" fontAlgn="base" hangingPunct="0">
              <a:lnSpc>
                <a:spcPts val="2250"/>
              </a:lnSpc>
              <a:spcBef>
                <a:spcPts val="450"/>
              </a:spcBef>
              <a:spcAft>
                <a:spcPct val="0"/>
              </a:spcAft>
              <a:buClrTx/>
              <a:buSzTx/>
            </a:pPr>
            <a:r>
              <a:rPr lang="en-US" altLang="zh-CN" dirty="0">
                <a:solidFill>
                  <a:srgbClr val="FF0000"/>
                </a:solidFill>
              </a:rPr>
              <a:t>    </a:t>
            </a:r>
            <a:r>
              <a:rPr lang="zh-CN" altLang="en-US" dirty="0">
                <a:solidFill>
                  <a:srgbClr val="FF0000"/>
                </a:solidFill>
              </a:rPr>
              <a:t>栈顶指针</a:t>
            </a:r>
            <a:r>
              <a:rPr lang="en-US" altLang="zh-CN" dirty="0">
                <a:solidFill>
                  <a:srgbClr val="FF0000"/>
                </a:solidFill>
              </a:rPr>
              <a:t>Top</a:t>
            </a:r>
            <a:r>
              <a:rPr lang="zh-CN" altLang="en-US" dirty="0">
                <a:solidFill>
                  <a:srgbClr val="FF0000"/>
                </a:solidFill>
              </a:rPr>
              <a:t>可以设置在链表的哪一端？ </a:t>
            </a:r>
            <a:endParaRPr lang="zh-CN" altLang="en-US" dirty="0">
              <a:solidFill>
                <a:srgbClr val="FF0000"/>
              </a:solidFill>
            </a:endParaRPr>
          </a:p>
          <a:p>
            <a:endParaRPr lang="zh-CN" altLang="en-US" dirty="0"/>
          </a:p>
        </p:txBody>
      </p:sp>
      <p:sp>
        <p:nvSpPr>
          <p:cNvPr id="3" name="标题 2"/>
          <p:cNvSpPr>
            <a:spLocks noGrp="1"/>
          </p:cNvSpPr>
          <p:nvPr>
            <p:ph type="title"/>
          </p:nvPr>
        </p:nvSpPr>
        <p:spPr/>
        <p:txBody>
          <a:bodyPr/>
          <a:lstStyle/>
          <a:p>
            <a:r>
              <a:rPr lang="en-US" altLang="zh-CN" dirty="0"/>
              <a:t>3.1 </a:t>
            </a:r>
            <a:r>
              <a:rPr lang="zh-CN" altLang="en-US" dirty="0"/>
              <a:t>栈</a:t>
            </a:r>
            <a:endParaRPr lang="zh-CN" altLang="en-US" dirty="0"/>
          </a:p>
        </p:txBody>
      </p:sp>
      <p:graphicFrame>
        <p:nvGraphicFramePr>
          <p:cNvPr id="4" name="表格 3"/>
          <p:cNvGraphicFramePr>
            <a:graphicFrameLocks noGrp="1"/>
          </p:cNvGraphicFramePr>
          <p:nvPr/>
        </p:nvGraphicFramePr>
        <p:xfrm>
          <a:off x="1178996" y="3087293"/>
          <a:ext cx="3602782" cy="297180"/>
        </p:xfrm>
        <a:graphic>
          <a:graphicData uri="http://schemas.openxmlformats.org/drawingml/2006/table">
            <a:tbl>
              <a:tblPr firstRow="1" bandRow="1">
                <a:tableStyleId>{5C22544A-7EE6-4342-B048-85BDC9FD1C3A}</a:tableStyleId>
              </a:tblPr>
              <a:tblGrid>
                <a:gridCol w="428625"/>
                <a:gridCol w="238553"/>
                <a:gridCol w="318098"/>
                <a:gridCol w="206334"/>
                <a:gridCol w="223013"/>
                <a:gridCol w="443704"/>
                <a:gridCol w="162560"/>
                <a:gridCol w="292307"/>
                <a:gridCol w="438460"/>
                <a:gridCol w="335293"/>
                <a:gridCol w="326695"/>
                <a:gridCol w="189140"/>
              </a:tblGrid>
              <a:tr h="297180">
                <a:tc>
                  <a:txBody>
                    <a:bodyPr/>
                    <a:lstStyle/>
                    <a:p>
                      <a:pPr algn="ctr"/>
                      <a:r>
                        <a:rPr lang="en-US" altLang="zh-CN" sz="1500" dirty="0">
                          <a:solidFill>
                            <a:schemeClr val="tx1"/>
                          </a:solidFill>
                        </a:rPr>
                        <a:t>Top</a:t>
                      </a:r>
                      <a:endParaRPr lang="zh-CN" altLang="en-US" sz="1500" dirty="0">
                        <a:solidFill>
                          <a:schemeClr val="tx1"/>
                        </a:solidFill>
                      </a:endParaRPr>
                    </a:p>
                  </a:txBody>
                  <a:tcPr marL="68580" marR="68580" marT="34290" marB="3429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500" dirty="0">
                        <a:solidFill>
                          <a:schemeClr val="tx1"/>
                        </a:solidFill>
                      </a:endParaRPr>
                    </a:p>
                  </a:txBody>
                  <a:tcPr marL="68580" marR="68580" marT="34290" marB="34290">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chemeClr val="tx1"/>
                          </a:solidFill>
                        </a:rPr>
                        <a:t>a</a:t>
                      </a:r>
                      <a:r>
                        <a:rPr lang="en-US" altLang="zh-CN" sz="1500" baseline="-25000" dirty="0">
                          <a:solidFill>
                            <a:schemeClr val="tx1"/>
                          </a:solidFill>
                        </a:rPr>
                        <a:t>n</a:t>
                      </a:r>
                      <a:endParaRPr lang="zh-CN" altLang="en-US" sz="1500" baseline="-25000" dirty="0">
                        <a:solidFill>
                          <a:schemeClr val="tx1"/>
                        </a:solidFill>
                      </a:endParaRPr>
                    </a:p>
                  </a:txBody>
                  <a:tcPr marL="68580" marR="68580" marT="34290" marB="3429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zh-CN" altLang="en-US" sz="1500" dirty="0">
                        <a:solidFill>
                          <a:schemeClr val="tx1"/>
                        </a:solidFill>
                      </a:endParaRPr>
                    </a:p>
                  </a:txBody>
                  <a:tcPr marL="68580" marR="68580" marT="34290" marB="3429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zh-CN" altLang="en-US" sz="1500" dirty="0">
                        <a:solidFill>
                          <a:schemeClr val="tx1"/>
                        </a:solidFill>
                      </a:endParaRPr>
                    </a:p>
                  </a:txBody>
                  <a:tcPr marL="68580" marR="68580" marT="34290" marB="3429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baseline="0" dirty="0">
                          <a:solidFill>
                            <a:schemeClr val="tx1"/>
                          </a:solidFill>
                        </a:rPr>
                        <a:t>a</a:t>
                      </a:r>
                      <a:r>
                        <a:rPr lang="en-US" altLang="zh-CN" sz="1500" baseline="-25000" dirty="0">
                          <a:solidFill>
                            <a:schemeClr val="tx1"/>
                          </a:solidFill>
                        </a:rPr>
                        <a:t>n-1</a:t>
                      </a:r>
                      <a:endParaRPr lang="zh-CN" altLang="en-US" sz="1500" baseline="-25000" dirty="0">
                        <a:solidFill>
                          <a:schemeClr val="tx1"/>
                        </a:solidFill>
                      </a:endParaRPr>
                    </a:p>
                  </a:txBody>
                  <a:tcPr marL="68580" marR="68580" marT="34290" marB="3429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zh-CN" altLang="en-US" sz="1500" dirty="0">
                        <a:solidFill>
                          <a:schemeClr val="tx1"/>
                        </a:solidFill>
                      </a:endParaRPr>
                    </a:p>
                  </a:txBody>
                  <a:tcPr marL="68580" marR="68580" marT="34290" marB="3429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500" dirty="0">
                        <a:solidFill>
                          <a:schemeClr val="tx1"/>
                        </a:solidFill>
                      </a:endParaRPr>
                    </a:p>
                  </a:txBody>
                  <a:tcPr marL="68580" marR="68580" marT="34290" marB="34290">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altLang="zh-CN" sz="1500" dirty="0">
                          <a:solidFill>
                            <a:schemeClr val="tx1"/>
                          </a:solidFill>
                        </a:rPr>
                        <a:t>…</a:t>
                      </a:r>
                      <a:endParaRPr lang="zh-CN" altLang="en-US" sz="1500" dirty="0">
                        <a:solidFill>
                          <a:schemeClr val="tx1"/>
                        </a:solidFill>
                      </a:endParaRPr>
                    </a:p>
                  </a:txBody>
                  <a:tcPr marL="68580" marR="68580" marT="34290" marB="3429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500" dirty="0">
                        <a:solidFill>
                          <a:schemeClr val="tx1"/>
                        </a:solidFill>
                      </a:endParaRPr>
                    </a:p>
                  </a:txBody>
                  <a:tcPr marL="68580" marR="68580" marT="34290" marB="34290">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chemeClr val="tx1"/>
                          </a:solidFill>
                        </a:rPr>
                        <a:t>a</a:t>
                      </a:r>
                      <a:r>
                        <a:rPr lang="en-US" altLang="zh-CN" sz="1500" baseline="-25000" dirty="0">
                          <a:solidFill>
                            <a:schemeClr val="tx1"/>
                          </a:solidFill>
                        </a:rPr>
                        <a:t>1</a:t>
                      </a:r>
                      <a:endParaRPr lang="zh-CN" altLang="en-US" sz="1500" baseline="-25000" dirty="0">
                        <a:solidFill>
                          <a:schemeClr val="tx1"/>
                        </a:solidFill>
                      </a:endParaRPr>
                    </a:p>
                  </a:txBody>
                  <a:tcPr marL="68580" marR="68580" marT="34290" marB="3429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zh-CN" altLang="en-US" sz="1500" dirty="0">
                          <a:solidFill>
                            <a:schemeClr val="tx1"/>
                          </a:solidFill>
                        </a:rPr>
                        <a:t>˄</a:t>
                      </a:r>
                      <a:endParaRPr lang="zh-CN" altLang="en-US" sz="1500" dirty="0">
                        <a:solidFill>
                          <a:schemeClr val="tx1"/>
                        </a:solidFill>
                      </a:endParaRPr>
                    </a:p>
                  </a:txBody>
                  <a:tcPr marL="68580" marR="68580" marT="34290" marB="3429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r>
            </a:tbl>
          </a:graphicData>
        </a:graphic>
      </p:graphicFrame>
      <p:cxnSp>
        <p:nvCxnSpPr>
          <p:cNvPr id="5" name="直接箭头连接符 4"/>
          <p:cNvCxnSpPr/>
          <p:nvPr/>
        </p:nvCxnSpPr>
        <p:spPr>
          <a:xfrm>
            <a:off x="1607620" y="3231482"/>
            <a:ext cx="23894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2257901" y="3231482"/>
            <a:ext cx="3307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3111527" y="3235715"/>
            <a:ext cx="39793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3848660" y="3248415"/>
            <a:ext cx="39793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表达式求值</a:t>
            </a:r>
            <a:endParaRPr lang="en-US" altLang="zh-CN" dirty="0"/>
          </a:p>
          <a:p>
            <a:pPr lvl="2"/>
            <a:r>
              <a:rPr lang="zh-CN" altLang="en-US" dirty="0"/>
              <a:t>例</a:t>
            </a:r>
            <a:r>
              <a:rPr lang="en-US" altLang="zh-CN" dirty="0"/>
              <a:t>: </a:t>
            </a:r>
            <a:r>
              <a:rPr lang="zh-CN" altLang="en-US" dirty="0"/>
              <a:t>求解算术表达式</a:t>
            </a:r>
            <a:r>
              <a:rPr lang="en-US" altLang="zh-CN" dirty="0"/>
              <a:t>6/2-3+4*2</a:t>
            </a:r>
            <a:r>
              <a:rPr lang="zh-CN" altLang="en-US" dirty="0"/>
              <a:t>。</a:t>
            </a:r>
            <a:endParaRPr lang="en-US" altLang="zh-CN" dirty="0"/>
          </a:p>
          <a:p>
            <a:pPr marL="0" lvl="2"/>
            <a:r>
              <a:rPr lang="zh-CN" altLang="en-US" dirty="0"/>
              <a:t>正确理解：</a:t>
            </a:r>
            <a:r>
              <a:rPr lang="en-US" altLang="zh-CN" dirty="0"/>
              <a:t> </a:t>
            </a:r>
            <a:r>
              <a:rPr lang="en-US" altLang="zh-CN" dirty="0">
                <a:solidFill>
                  <a:srgbClr val="C00000"/>
                </a:solidFill>
              </a:rPr>
              <a:t>6/2</a:t>
            </a:r>
            <a:r>
              <a:rPr lang="en-US" altLang="zh-CN" dirty="0"/>
              <a:t>-3+4*2 = </a:t>
            </a:r>
            <a:r>
              <a:rPr lang="en-US" altLang="zh-CN" dirty="0">
                <a:solidFill>
                  <a:srgbClr val="C00000"/>
                </a:solidFill>
              </a:rPr>
              <a:t>3-3</a:t>
            </a:r>
            <a:r>
              <a:rPr lang="en-US" altLang="zh-CN" dirty="0"/>
              <a:t>+4*2 = 0+</a:t>
            </a:r>
            <a:r>
              <a:rPr lang="en-US" altLang="zh-CN" dirty="0">
                <a:solidFill>
                  <a:srgbClr val="C00000"/>
                </a:solidFill>
              </a:rPr>
              <a:t>4*2</a:t>
            </a:r>
            <a:r>
              <a:rPr lang="en-US" altLang="zh-CN" dirty="0"/>
              <a:t> = </a:t>
            </a:r>
            <a:r>
              <a:rPr lang="en-US" altLang="zh-CN" dirty="0">
                <a:solidFill>
                  <a:srgbClr val="C00000"/>
                </a:solidFill>
              </a:rPr>
              <a:t>0+8</a:t>
            </a:r>
            <a:r>
              <a:rPr lang="en-US" altLang="zh-CN" dirty="0"/>
              <a:t> = 8</a:t>
            </a:r>
            <a:endParaRPr lang="en-US" altLang="zh-CN" dirty="0"/>
          </a:p>
          <a:p>
            <a:pPr lvl="2"/>
            <a:endParaRPr lang="en-US" altLang="zh-CN" dirty="0"/>
          </a:p>
          <a:p>
            <a:pPr marL="478155" lvl="2" indent="-342900">
              <a:buFont typeface="Wingdings" panose="05000000000000000000" pitchFamily="2" charset="2"/>
              <a:buChar char="u"/>
            </a:pPr>
            <a:r>
              <a:rPr lang="zh-CN" altLang="en-US" dirty="0"/>
              <a:t>由两类对象构成： </a:t>
            </a:r>
            <a:endParaRPr lang="zh-CN" altLang="en-US" dirty="0"/>
          </a:p>
          <a:p>
            <a:pPr marL="478155" lvl="2" indent="-25400" fontAlgn="base">
              <a:spcAft>
                <a:spcPct val="0"/>
              </a:spcAft>
              <a:buFont typeface="Wingdings" panose="05000000000000000000" pitchFamily="2" charset="2"/>
              <a:buChar char="Ø"/>
            </a:pPr>
            <a:r>
              <a:rPr lang="zh-CN" altLang="en-US" dirty="0"/>
              <a:t>运算数：如</a:t>
            </a:r>
            <a:r>
              <a:rPr lang="en-US" altLang="zh-CN" dirty="0"/>
              <a:t>2</a:t>
            </a:r>
            <a:r>
              <a:rPr lang="zh-CN" altLang="en-US" dirty="0"/>
              <a:t>、</a:t>
            </a:r>
            <a:r>
              <a:rPr lang="en-US" altLang="zh-CN" dirty="0"/>
              <a:t>3</a:t>
            </a:r>
            <a:r>
              <a:rPr lang="zh-CN" altLang="en-US" dirty="0"/>
              <a:t>、</a:t>
            </a:r>
            <a:r>
              <a:rPr lang="en-US" altLang="zh-CN" dirty="0"/>
              <a:t>4 </a:t>
            </a:r>
            <a:endParaRPr lang="en-US" altLang="zh-CN" dirty="0"/>
          </a:p>
          <a:p>
            <a:pPr marL="478155" lvl="2" indent="-25400" fontAlgn="base">
              <a:spcAft>
                <a:spcPct val="0"/>
              </a:spcAft>
              <a:buFont typeface="Wingdings" panose="05000000000000000000" pitchFamily="2" charset="2"/>
              <a:buChar char="Ø"/>
            </a:pPr>
            <a:r>
              <a:rPr lang="zh-CN" altLang="en-US" dirty="0"/>
              <a:t>运算符号：如</a:t>
            </a:r>
            <a:r>
              <a:rPr lang="en-US" altLang="zh-CN" dirty="0"/>
              <a:t>+</a:t>
            </a:r>
            <a:r>
              <a:rPr lang="zh-CN" altLang="en-US" dirty="0"/>
              <a:t>、</a:t>
            </a:r>
            <a:r>
              <a:rPr lang="en-US" altLang="zh-CN" dirty="0"/>
              <a:t>-</a:t>
            </a:r>
            <a:r>
              <a:rPr lang="zh-CN" altLang="en-US" dirty="0"/>
              <a:t>、*、</a:t>
            </a:r>
            <a:r>
              <a:rPr lang="en-US" altLang="zh-CN" dirty="0"/>
              <a:t>/ </a:t>
            </a:r>
            <a:endParaRPr lang="en-US" altLang="zh-CN" dirty="0"/>
          </a:p>
          <a:p>
            <a:pPr marL="478155" lvl="2" indent="-342900">
              <a:buFont typeface="Wingdings" panose="05000000000000000000" pitchFamily="2" charset="2"/>
              <a:buChar char="u"/>
            </a:pPr>
            <a:r>
              <a:rPr lang="zh-CN" altLang="en-US" dirty="0"/>
              <a:t>不同运算符号优先级不一样 </a:t>
            </a:r>
            <a:endParaRPr lang="zh-CN" altLang="en-US" dirty="0"/>
          </a:p>
        </p:txBody>
      </p:sp>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表达式求值</a:t>
            </a:r>
            <a:endParaRPr lang="en-US" altLang="zh-CN" dirty="0"/>
          </a:p>
          <a:p>
            <a:pPr marL="478155" lvl="2" indent="-342900">
              <a:buFont typeface="Wingdings" panose="05000000000000000000" pitchFamily="2" charset="2"/>
              <a:buChar char="Ø"/>
            </a:pPr>
            <a:r>
              <a:rPr lang="zh-CN" altLang="en-US" dirty="0"/>
              <a:t>中缀表达式：运算符号位于两个运算数之间。如 </a:t>
            </a:r>
            <a:r>
              <a:rPr lang="en-US" altLang="zh-CN" dirty="0"/>
              <a:t>6 </a:t>
            </a:r>
            <a:r>
              <a:rPr lang="en-US" altLang="zh-CN" dirty="0">
                <a:solidFill>
                  <a:srgbClr val="FF0000"/>
                </a:solidFill>
              </a:rPr>
              <a:t>/</a:t>
            </a:r>
            <a:r>
              <a:rPr lang="en-US" altLang="zh-CN" dirty="0"/>
              <a:t> 2 </a:t>
            </a:r>
            <a:r>
              <a:rPr lang="en-US" altLang="zh-CN" dirty="0">
                <a:solidFill>
                  <a:srgbClr val="FF0000"/>
                </a:solidFill>
              </a:rPr>
              <a:t>- </a:t>
            </a:r>
            <a:r>
              <a:rPr lang="en-US" altLang="zh-CN" dirty="0"/>
              <a:t>3 </a:t>
            </a:r>
            <a:r>
              <a:rPr lang="en-US" altLang="zh-CN" dirty="0">
                <a:solidFill>
                  <a:srgbClr val="FF0000"/>
                </a:solidFill>
              </a:rPr>
              <a:t>+</a:t>
            </a:r>
            <a:r>
              <a:rPr lang="en-US" altLang="zh-CN" dirty="0"/>
              <a:t> 4 </a:t>
            </a:r>
            <a:r>
              <a:rPr lang="en-US" altLang="zh-CN" dirty="0">
                <a:solidFill>
                  <a:srgbClr val="FF0000"/>
                </a:solidFill>
              </a:rPr>
              <a:t>*</a:t>
            </a:r>
            <a:r>
              <a:rPr lang="en-US" altLang="zh-CN" dirty="0"/>
              <a:t> 2</a:t>
            </a:r>
            <a:endParaRPr lang="en-US" altLang="zh-CN" dirty="0"/>
          </a:p>
          <a:p>
            <a:pPr marL="478155" lvl="2" indent="-342900">
              <a:buFont typeface="Wingdings" panose="05000000000000000000" pitchFamily="2" charset="2"/>
              <a:buChar char="Ø"/>
            </a:pPr>
            <a:r>
              <a:rPr lang="zh-CN" altLang="en-US" dirty="0"/>
              <a:t>后缀表达式：运算符号位于两个运算数之后。如 </a:t>
            </a:r>
            <a:r>
              <a:rPr lang="en-US" altLang="zh-CN" dirty="0"/>
              <a:t>a b c </a:t>
            </a:r>
            <a:r>
              <a:rPr lang="en-US" altLang="zh-CN" dirty="0">
                <a:solidFill>
                  <a:srgbClr val="FF0000"/>
                </a:solidFill>
              </a:rPr>
              <a:t>*+</a:t>
            </a:r>
            <a:r>
              <a:rPr lang="en-US" altLang="zh-CN" dirty="0"/>
              <a:t> d e </a:t>
            </a:r>
            <a:r>
              <a:rPr lang="en-US" altLang="zh-CN" dirty="0">
                <a:solidFill>
                  <a:srgbClr val="FF0000"/>
                </a:solidFill>
              </a:rPr>
              <a:t>/-</a:t>
            </a:r>
            <a:endParaRPr lang="en-US" altLang="zh-CN" dirty="0"/>
          </a:p>
          <a:p>
            <a:pPr lvl="2"/>
            <a:endParaRPr lang="zh-CN" altLang="en-US" dirty="0"/>
          </a:p>
          <a:p>
            <a:pPr lvl="2"/>
            <a:r>
              <a:rPr lang="en-US" altLang="zh-CN" dirty="0"/>
              <a:t>〖</a:t>
            </a:r>
            <a:r>
              <a:rPr lang="zh-CN" altLang="en-US" dirty="0"/>
              <a:t>例</a:t>
            </a:r>
            <a:r>
              <a:rPr lang="en-US" altLang="zh-CN" dirty="0"/>
              <a:t>〗 6 2 / 3 - 4 2 *+ =</a:t>
            </a:r>
            <a:r>
              <a:rPr lang="zh-CN" altLang="en-US" dirty="0"/>
              <a:t>？</a:t>
            </a:r>
            <a:r>
              <a:rPr lang="en-US" altLang="zh-CN" dirty="0"/>
              <a:t> </a:t>
            </a:r>
            <a:endParaRPr lang="en-US" altLang="zh-CN" dirty="0"/>
          </a:p>
        </p:txBody>
      </p:sp>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后缀表达式求值</a:t>
            </a:r>
            <a:endParaRPr lang="en-US" altLang="zh-CN" dirty="0"/>
          </a:p>
          <a:p>
            <a:pPr lvl="2"/>
            <a:r>
              <a:rPr lang="zh-CN" altLang="en-US" dirty="0"/>
              <a:t>后缀表达式求值策略：</a:t>
            </a:r>
            <a:r>
              <a:rPr lang="zh-CN" altLang="en-US" dirty="0">
                <a:solidFill>
                  <a:srgbClr val="FF0000"/>
                </a:solidFill>
              </a:rPr>
              <a:t>从左向右“扫描”，逐个处理运算数和运算符号 。</a:t>
            </a:r>
            <a:endParaRPr lang="en-US" altLang="zh-CN" dirty="0">
              <a:solidFill>
                <a:srgbClr val="FF0000"/>
              </a:solidFill>
            </a:endParaRPr>
          </a:p>
          <a:p>
            <a:pPr lvl="2"/>
            <a:r>
              <a:rPr lang="en-US" altLang="zh-CN" dirty="0"/>
              <a:t>1. </a:t>
            </a:r>
            <a:r>
              <a:rPr lang="zh-CN" altLang="en-US" dirty="0">
                <a:solidFill>
                  <a:srgbClr val="C00000"/>
                </a:solidFill>
              </a:rPr>
              <a:t>遇到运算数怎么办？</a:t>
            </a:r>
            <a:r>
              <a:rPr lang="zh-CN" altLang="en-US" dirty="0"/>
              <a:t>如何“记住”目前还不未参与运算的数？ </a:t>
            </a:r>
            <a:endParaRPr lang="zh-CN" altLang="en-US" dirty="0"/>
          </a:p>
          <a:p>
            <a:pPr lvl="2"/>
            <a:r>
              <a:rPr lang="en-US" altLang="zh-CN" dirty="0"/>
              <a:t>2. </a:t>
            </a:r>
            <a:r>
              <a:rPr lang="zh-CN" altLang="en-US" dirty="0">
                <a:solidFill>
                  <a:srgbClr val="C00000"/>
                </a:solidFill>
              </a:rPr>
              <a:t>遇到运算符号怎么办？</a:t>
            </a:r>
            <a:r>
              <a:rPr lang="zh-CN" altLang="en-US" dirty="0"/>
              <a:t>对应的运算数是什么？</a:t>
            </a:r>
            <a:endParaRPr lang="en-US" altLang="zh-CN" dirty="0"/>
          </a:p>
          <a:p>
            <a:pPr lvl="2"/>
            <a:endParaRPr lang="en-US" altLang="zh-CN" dirty="0"/>
          </a:p>
          <a:p>
            <a:pPr algn="l"/>
            <a:r>
              <a:rPr lang="zh-CN" altLang="en-US" sz="2100" dirty="0">
                <a:solidFill>
                  <a:srgbClr val="FF0000"/>
                </a:solidFill>
                <a:latin typeface="华文楷体" panose="02010600040101010101" pitchFamily="2" charset="-122"/>
                <a:ea typeface="华文楷体" panose="02010600040101010101" pitchFamily="2" charset="-122"/>
              </a:rPr>
              <a:t>启示：需要有种存储方法，能顺序存储运算数， </a:t>
            </a:r>
            <a:endParaRPr lang="zh-CN" altLang="en-US" sz="2100" dirty="0">
              <a:solidFill>
                <a:srgbClr val="FF0000"/>
              </a:solidFill>
              <a:latin typeface="华文楷体" panose="02010600040101010101" pitchFamily="2" charset="-122"/>
              <a:ea typeface="华文楷体" panose="02010600040101010101" pitchFamily="2" charset="-122"/>
            </a:endParaRPr>
          </a:p>
          <a:p>
            <a:pPr algn="l"/>
            <a:r>
              <a:rPr lang="zh-CN" altLang="en-US" sz="2100" dirty="0">
                <a:solidFill>
                  <a:srgbClr val="FF0000"/>
                </a:solidFill>
                <a:latin typeface="华文楷体" panose="02010600040101010101" pitchFamily="2" charset="-122"/>
                <a:ea typeface="华文楷体" panose="02010600040101010101" pitchFamily="2" charset="-122"/>
              </a:rPr>
              <a:t>            并在需要时“倒序”输出！ </a:t>
            </a:r>
            <a:endParaRPr lang="zh-CN" altLang="en-US" sz="2100" dirty="0">
              <a:solidFill>
                <a:srgbClr val="FF0000"/>
              </a:solidFill>
              <a:latin typeface="华文楷体" panose="02010600040101010101" pitchFamily="2" charset="-122"/>
              <a:ea typeface="华文楷体" panose="02010600040101010101" pitchFamily="2" charset="-122"/>
            </a:endParaRPr>
          </a:p>
        </p:txBody>
      </p:sp>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应用</a:t>
            </a:r>
            <a:r>
              <a:rPr lang="zh-CN" altLang="en-US" dirty="0">
                <a:solidFill>
                  <a:srgbClr val="FF0000"/>
                </a:solidFill>
              </a:rPr>
              <a:t>栈</a:t>
            </a:r>
            <a:r>
              <a:rPr lang="zh-CN" altLang="en-US" dirty="0"/>
              <a:t>实现后缀表达式求值</a:t>
            </a:r>
            <a:endParaRPr lang="en-US" altLang="zh-CN" dirty="0"/>
          </a:p>
          <a:p>
            <a:pPr lvl="2"/>
            <a:r>
              <a:rPr lang="zh-CN" altLang="en-US" dirty="0"/>
              <a:t>      </a:t>
            </a:r>
            <a:r>
              <a:rPr lang="zh-CN" altLang="en-US" dirty="0">
                <a:solidFill>
                  <a:srgbClr val="FF0000"/>
                </a:solidFill>
              </a:rPr>
              <a:t>从左到右</a:t>
            </a:r>
            <a:r>
              <a:rPr lang="zh-CN" altLang="en-US" dirty="0"/>
              <a:t>读入后缀表达式的各项</a:t>
            </a:r>
            <a:endParaRPr lang="zh-CN" altLang="en-US" dirty="0"/>
          </a:p>
          <a:p>
            <a:pPr lvl="2"/>
            <a:r>
              <a:rPr lang="zh-CN" altLang="en-US" dirty="0"/>
              <a:t> </a:t>
            </a:r>
            <a:endParaRPr lang="zh-CN" altLang="en-US" dirty="0"/>
          </a:p>
          <a:p>
            <a:pPr lvl="2"/>
            <a:r>
              <a:rPr lang="en-US" altLang="zh-CN" dirty="0"/>
              <a:t>1.</a:t>
            </a:r>
            <a:r>
              <a:rPr lang="zh-CN" altLang="en-US" dirty="0">
                <a:solidFill>
                  <a:srgbClr val="FF0000"/>
                </a:solidFill>
              </a:rPr>
              <a:t>运算数</a:t>
            </a:r>
            <a:r>
              <a:rPr lang="zh-CN" altLang="en-US" dirty="0"/>
              <a:t>：入栈； </a:t>
            </a:r>
            <a:endParaRPr lang="zh-CN" altLang="en-US" dirty="0"/>
          </a:p>
          <a:p>
            <a:pPr lvl="2"/>
            <a:r>
              <a:rPr lang="en-US" altLang="zh-CN" dirty="0"/>
              <a:t>2.</a:t>
            </a:r>
            <a:r>
              <a:rPr lang="zh-CN" altLang="en-US" dirty="0">
                <a:solidFill>
                  <a:srgbClr val="FF0000"/>
                </a:solidFill>
              </a:rPr>
              <a:t>运算符</a:t>
            </a:r>
            <a:r>
              <a:rPr lang="zh-CN" altLang="en-US" dirty="0"/>
              <a:t>：从栈中弹出适当数量的运算数，计算并结果入栈； </a:t>
            </a:r>
            <a:endParaRPr lang="zh-CN" altLang="en-US" dirty="0"/>
          </a:p>
          <a:p>
            <a:pPr lvl="2"/>
            <a:r>
              <a:rPr lang="en-US" altLang="zh-CN" dirty="0"/>
              <a:t>3.</a:t>
            </a:r>
            <a:r>
              <a:rPr lang="zh-CN" altLang="en-US" dirty="0"/>
              <a:t>最后，栈顶元素就是表达式的结果值</a:t>
            </a:r>
            <a:r>
              <a:rPr lang="zh-CN" altLang="en-US" sz="2200" dirty="0"/>
              <a:t>。</a:t>
            </a:r>
            <a:endParaRPr lang="en-US" altLang="zh-CN" dirty="0"/>
          </a:p>
        </p:txBody>
      </p:sp>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
        <p:nvSpPr>
          <p:cNvPr id="4" name="内容占位符 3"/>
          <p:cNvSpPr>
            <a:spLocks noGrp="1"/>
          </p:cNvSpPr>
          <p:nvPr>
            <p:ph idx="1"/>
          </p:nvPr>
        </p:nvSpPr>
        <p:spPr>
          <a:xfrm>
            <a:off x="178486" y="587069"/>
            <a:ext cx="6070651" cy="4085639"/>
          </a:xfrm>
        </p:spPr>
        <p:txBody>
          <a:bodyPr/>
          <a:lstStyle/>
          <a:p>
            <a:r>
              <a:rPr lang="en-US" altLang="zh-CN" dirty="0"/>
              <a:t>〖</a:t>
            </a:r>
            <a:r>
              <a:rPr lang="zh-CN" altLang="en-US" dirty="0"/>
              <a:t>例</a:t>
            </a:r>
            <a:r>
              <a:rPr lang="en-US" altLang="zh-CN" dirty="0"/>
              <a:t>〗 6 2 / 3 - 4 2 *+ = ? </a:t>
            </a:r>
            <a:endParaRPr lang="en-US" altLang="zh-CN" dirty="0"/>
          </a:p>
        </p:txBody>
      </p:sp>
      <p:sp>
        <p:nvSpPr>
          <p:cNvPr id="5" name="Rectangle 4"/>
          <p:cNvSpPr>
            <a:spLocks noChangeArrowheads="1"/>
          </p:cNvSpPr>
          <p:nvPr/>
        </p:nvSpPr>
        <p:spPr bwMode="auto">
          <a:xfrm>
            <a:off x="3130487" y="1282188"/>
            <a:ext cx="1652052"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dirty="0"/>
              <a:t>对象</a:t>
            </a:r>
            <a:r>
              <a:rPr lang="en-US" altLang="zh-CN" sz="1600" b="1" dirty="0"/>
              <a:t>: 6 (</a:t>
            </a:r>
            <a:r>
              <a:rPr lang="zh-CN" altLang="en-US" sz="1600" dirty="0"/>
              <a:t>运算数 </a:t>
            </a:r>
            <a:r>
              <a:rPr lang="en-US" altLang="zh-CN" sz="1600" b="1" dirty="0"/>
              <a:t>)</a:t>
            </a:r>
            <a:endParaRPr lang="zh-CN" altLang="en-US" sz="1600" b="1" dirty="0"/>
          </a:p>
        </p:txBody>
      </p:sp>
      <p:sp>
        <p:nvSpPr>
          <p:cNvPr id="7" name="Rectangle 6"/>
          <p:cNvSpPr>
            <a:spLocks noChangeArrowheads="1"/>
          </p:cNvSpPr>
          <p:nvPr/>
        </p:nvSpPr>
        <p:spPr bwMode="auto">
          <a:xfrm>
            <a:off x="4877757" y="1282188"/>
            <a:ext cx="1701832"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a:t>对象</a:t>
            </a:r>
            <a:r>
              <a:rPr lang="en-US" altLang="zh-CN" sz="1600" b="1"/>
              <a:t>: 2 ( </a:t>
            </a:r>
            <a:r>
              <a:rPr lang="zh-CN" altLang="en-US" sz="1600"/>
              <a:t>运算数 </a:t>
            </a:r>
            <a:r>
              <a:rPr lang="en-US" altLang="zh-CN" sz="1600" b="1"/>
              <a:t>)</a:t>
            </a:r>
            <a:endParaRPr lang="zh-CN" altLang="en-US" sz="1600" b="1"/>
          </a:p>
        </p:txBody>
      </p:sp>
      <p:sp>
        <p:nvSpPr>
          <p:cNvPr id="8" name="Rectangle 7"/>
          <p:cNvSpPr>
            <a:spLocks noChangeArrowheads="1"/>
          </p:cNvSpPr>
          <p:nvPr/>
        </p:nvSpPr>
        <p:spPr bwMode="auto">
          <a:xfrm>
            <a:off x="3136837" y="1787430"/>
            <a:ext cx="166904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dirty="0"/>
              <a:t>对象</a:t>
            </a:r>
            <a:r>
              <a:rPr lang="en-US" altLang="zh-CN" sz="1600" b="1" dirty="0"/>
              <a:t>:</a:t>
            </a:r>
            <a:r>
              <a:rPr lang="en-US" altLang="zh-CN" sz="1600" b="1" dirty="0">
                <a:solidFill>
                  <a:srgbClr val="FF0000"/>
                </a:solidFill>
              </a:rPr>
              <a:t> /</a:t>
            </a:r>
            <a:r>
              <a:rPr lang="zh-CN" altLang="en-US" sz="1600" dirty="0"/>
              <a:t> </a:t>
            </a:r>
            <a:r>
              <a:rPr lang="en-US" altLang="zh-CN" sz="1600" b="1" dirty="0"/>
              <a:t>( </a:t>
            </a:r>
            <a:r>
              <a:rPr lang="zh-CN" altLang="en-US" sz="1600" dirty="0"/>
              <a:t>运算符 </a:t>
            </a:r>
            <a:r>
              <a:rPr lang="en-US" altLang="zh-CN" sz="1600" b="1" dirty="0"/>
              <a:t>)</a:t>
            </a:r>
            <a:endParaRPr lang="zh-CN" altLang="en-US" sz="1600" b="1" dirty="0"/>
          </a:p>
        </p:txBody>
      </p:sp>
      <p:sp>
        <p:nvSpPr>
          <p:cNvPr id="9" name="Rectangle 8"/>
          <p:cNvSpPr>
            <a:spLocks noChangeArrowheads="1"/>
          </p:cNvSpPr>
          <p:nvPr/>
        </p:nvSpPr>
        <p:spPr bwMode="auto">
          <a:xfrm>
            <a:off x="4855999" y="1811037"/>
            <a:ext cx="16850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dirty="0"/>
              <a:t>对象</a:t>
            </a:r>
            <a:r>
              <a:rPr lang="en-US" altLang="zh-CN" sz="1600" b="1" dirty="0"/>
              <a:t>: 3 (</a:t>
            </a:r>
            <a:r>
              <a:rPr lang="zh-CN" altLang="en-US" sz="1600" dirty="0"/>
              <a:t>运算数 </a:t>
            </a:r>
            <a:r>
              <a:rPr lang="en-US" altLang="zh-CN" sz="1600" b="1" dirty="0"/>
              <a:t>)</a:t>
            </a:r>
            <a:r>
              <a:rPr lang="en-US" altLang="zh-CN" sz="1600" dirty="0"/>
              <a:t> </a:t>
            </a:r>
            <a:endParaRPr lang="en-US" altLang="zh-CN" sz="1600" dirty="0"/>
          </a:p>
        </p:txBody>
      </p:sp>
      <p:sp>
        <p:nvSpPr>
          <p:cNvPr id="10" name="Rectangle 9"/>
          <p:cNvSpPr>
            <a:spLocks noChangeArrowheads="1"/>
          </p:cNvSpPr>
          <p:nvPr/>
        </p:nvSpPr>
        <p:spPr bwMode="auto">
          <a:xfrm>
            <a:off x="3130487" y="2196214"/>
            <a:ext cx="173961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dirty="0"/>
              <a:t>对象</a:t>
            </a:r>
            <a:r>
              <a:rPr lang="en-US" altLang="zh-CN" sz="1600" b="1" dirty="0"/>
              <a:t>: </a:t>
            </a:r>
            <a:r>
              <a:rPr lang="en-US" altLang="zh-CN" sz="1600" b="1" dirty="0">
                <a:solidFill>
                  <a:srgbClr val="FF0000"/>
                </a:solidFill>
              </a:rPr>
              <a:t>-</a:t>
            </a:r>
            <a:r>
              <a:rPr lang="en-US" altLang="zh-CN" sz="1600" dirty="0"/>
              <a:t> </a:t>
            </a:r>
            <a:r>
              <a:rPr lang="en-US" altLang="zh-CN" sz="1600" b="1" dirty="0"/>
              <a:t>( </a:t>
            </a:r>
            <a:r>
              <a:rPr lang="zh-CN" altLang="en-US" sz="1600" dirty="0"/>
              <a:t>运算符 </a:t>
            </a:r>
            <a:r>
              <a:rPr lang="en-US" altLang="zh-CN" sz="1600" b="1" dirty="0"/>
              <a:t>)</a:t>
            </a:r>
            <a:r>
              <a:rPr lang="en-US" altLang="zh-CN" sz="1600" dirty="0"/>
              <a:t> </a:t>
            </a:r>
            <a:endParaRPr lang="en-US" altLang="zh-CN" sz="1600" dirty="0"/>
          </a:p>
        </p:txBody>
      </p:sp>
      <p:sp>
        <p:nvSpPr>
          <p:cNvPr id="11" name="Rectangle 10"/>
          <p:cNvSpPr>
            <a:spLocks noChangeArrowheads="1"/>
          </p:cNvSpPr>
          <p:nvPr/>
        </p:nvSpPr>
        <p:spPr bwMode="auto">
          <a:xfrm>
            <a:off x="4855999" y="2226531"/>
            <a:ext cx="172358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dirty="0"/>
              <a:t>对象</a:t>
            </a:r>
            <a:r>
              <a:rPr lang="en-US" altLang="zh-CN" sz="1600" b="1" dirty="0"/>
              <a:t>: 4 (</a:t>
            </a:r>
            <a:r>
              <a:rPr lang="zh-CN" altLang="en-US" sz="1600" dirty="0"/>
              <a:t>运算数 </a:t>
            </a:r>
            <a:r>
              <a:rPr lang="en-US" altLang="zh-CN" sz="1600" b="1" dirty="0"/>
              <a:t>)</a:t>
            </a:r>
            <a:r>
              <a:rPr lang="en-US" altLang="zh-CN" sz="1600" dirty="0"/>
              <a:t> </a:t>
            </a:r>
            <a:endParaRPr lang="en-US" altLang="zh-CN" sz="1600" dirty="0"/>
          </a:p>
        </p:txBody>
      </p:sp>
      <p:sp>
        <p:nvSpPr>
          <p:cNvPr id="12" name="Rectangle 11"/>
          <p:cNvSpPr>
            <a:spLocks noChangeArrowheads="1"/>
          </p:cNvSpPr>
          <p:nvPr/>
        </p:nvSpPr>
        <p:spPr bwMode="auto">
          <a:xfrm>
            <a:off x="3140930" y="2613532"/>
            <a:ext cx="16850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dirty="0"/>
              <a:t>对象</a:t>
            </a:r>
            <a:r>
              <a:rPr lang="en-US" altLang="zh-CN" sz="1600" b="1" dirty="0"/>
              <a:t>: 2 (</a:t>
            </a:r>
            <a:r>
              <a:rPr lang="zh-CN" altLang="en-US" sz="1600" dirty="0"/>
              <a:t>运算数 </a:t>
            </a:r>
            <a:r>
              <a:rPr lang="en-US" altLang="zh-CN" sz="1600" b="1" dirty="0"/>
              <a:t>)</a:t>
            </a:r>
            <a:r>
              <a:rPr lang="en-US" altLang="zh-CN" sz="1600" dirty="0"/>
              <a:t> </a:t>
            </a:r>
            <a:endParaRPr lang="en-US" altLang="zh-CN" sz="1600" dirty="0"/>
          </a:p>
        </p:txBody>
      </p:sp>
      <p:sp>
        <p:nvSpPr>
          <p:cNvPr id="13" name="Rectangle 12"/>
          <p:cNvSpPr>
            <a:spLocks noChangeArrowheads="1"/>
          </p:cNvSpPr>
          <p:nvPr/>
        </p:nvSpPr>
        <p:spPr bwMode="auto">
          <a:xfrm>
            <a:off x="4923031" y="2646899"/>
            <a:ext cx="168347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dirty="0"/>
              <a:t>对象</a:t>
            </a:r>
            <a:r>
              <a:rPr lang="en-US" altLang="zh-CN" sz="1600" b="1" dirty="0"/>
              <a:t>: </a:t>
            </a:r>
            <a:r>
              <a:rPr lang="en-US" altLang="zh-CN" sz="1600" b="1" dirty="0">
                <a:solidFill>
                  <a:srgbClr val="FF0000"/>
                </a:solidFill>
              </a:rPr>
              <a:t>*</a:t>
            </a:r>
            <a:r>
              <a:rPr lang="en-US" altLang="zh-CN" sz="1600" dirty="0"/>
              <a:t> </a:t>
            </a:r>
            <a:r>
              <a:rPr lang="en-US" altLang="zh-CN" sz="1600" b="1" dirty="0"/>
              <a:t>( </a:t>
            </a:r>
            <a:r>
              <a:rPr lang="zh-CN" altLang="en-US" sz="1600" dirty="0"/>
              <a:t>运算符 </a:t>
            </a:r>
            <a:r>
              <a:rPr lang="en-US" altLang="zh-CN" sz="1600" b="1" dirty="0"/>
              <a:t>)</a:t>
            </a:r>
            <a:endParaRPr lang="zh-CN" altLang="en-US" sz="1600" b="1" dirty="0"/>
          </a:p>
        </p:txBody>
      </p:sp>
      <p:sp>
        <p:nvSpPr>
          <p:cNvPr id="14" name="Rectangle 13"/>
          <p:cNvSpPr>
            <a:spLocks noChangeArrowheads="1"/>
          </p:cNvSpPr>
          <p:nvPr/>
        </p:nvSpPr>
        <p:spPr bwMode="auto">
          <a:xfrm>
            <a:off x="3181800" y="3060798"/>
            <a:ext cx="16369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dirty="0"/>
              <a:t>对象</a:t>
            </a:r>
            <a:r>
              <a:rPr lang="en-US" altLang="zh-CN" sz="1600" b="1" dirty="0"/>
              <a:t>: </a:t>
            </a:r>
            <a:r>
              <a:rPr lang="en-US" altLang="zh-CN" sz="1600" b="1" dirty="0">
                <a:solidFill>
                  <a:srgbClr val="FF0000"/>
                </a:solidFill>
              </a:rPr>
              <a:t>+</a:t>
            </a:r>
            <a:r>
              <a:rPr lang="en-US" altLang="zh-CN" sz="1600" dirty="0"/>
              <a:t> </a:t>
            </a:r>
            <a:r>
              <a:rPr lang="en-US" altLang="zh-CN" sz="1600" b="1" dirty="0"/>
              <a:t>(</a:t>
            </a:r>
            <a:r>
              <a:rPr lang="zh-CN" altLang="en-US" sz="1600" dirty="0"/>
              <a:t>运算符</a:t>
            </a:r>
            <a:r>
              <a:rPr lang="en-US" altLang="zh-CN" sz="1600" b="1" dirty="0"/>
              <a:t>)</a:t>
            </a:r>
            <a:r>
              <a:rPr lang="en-US" altLang="zh-CN" sz="1600" dirty="0"/>
              <a:t> </a:t>
            </a:r>
            <a:endParaRPr lang="en-US" altLang="zh-CN" sz="1600" dirty="0"/>
          </a:p>
        </p:txBody>
      </p:sp>
      <p:sp>
        <p:nvSpPr>
          <p:cNvPr id="15" name="Rectangle 14"/>
          <p:cNvSpPr>
            <a:spLocks noChangeArrowheads="1"/>
          </p:cNvSpPr>
          <p:nvPr/>
        </p:nvSpPr>
        <p:spPr bwMode="auto">
          <a:xfrm>
            <a:off x="4923031" y="3078475"/>
            <a:ext cx="161804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600" b="1" dirty="0"/>
              <a:t>Pop: 8</a:t>
            </a:r>
            <a:endParaRPr lang="zh-CN" altLang="en-US" sz="1600" b="1" dirty="0"/>
          </a:p>
        </p:txBody>
      </p:sp>
      <p:sp>
        <p:nvSpPr>
          <p:cNvPr id="16" name="Rectangle 15" descr="编织物"/>
          <p:cNvSpPr>
            <a:spLocks noChangeArrowheads="1"/>
          </p:cNvSpPr>
          <p:nvPr/>
        </p:nvSpPr>
        <p:spPr bwMode="auto">
          <a:xfrm>
            <a:off x="410563" y="1361175"/>
            <a:ext cx="215900" cy="3168650"/>
          </a:xfrm>
          <a:prstGeom prst="rect">
            <a:avLst/>
          </a:prstGeom>
          <a:blipFill dpi="0" rotWithShape="1">
            <a:blip r:embed="rId1"/>
            <a:srcRect/>
            <a:tile tx="0" ty="0" sx="100000" sy="100000" flip="none" algn="tl"/>
          </a:blip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 name="Rectangle 16" descr="编织物"/>
          <p:cNvSpPr>
            <a:spLocks noChangeArrowheads="1"/>
          </p:cNvSpPr>
          <p:nvPr/>
        </p:nvSpPr>
        <p:spPr bwMode="auto">
          <a:xfrm>
            <a:off x="1850425" y="1361175"/>
            <a:ext cx="215900" cy="3168650"/>
          </a:xfrm>
          <a:prstGeom prst="rect">
            <a:avLst/>
          </a:prstGeom>
          <a:blipFill dpi="0" rotWithShape="1">
            <a:blip r:embed="rId1"/>
            <a:srcRect/>
            <a:tile tx="0" ty="0" sx="100000" sy="100000" flip="none" algn="tl"/>
          </a:blip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 name="Rectangle 17" descr="编织物"/>
          <p:cNvSpPr>
            <a:spLocks noChangeArrowheads="1"/>
          </p:cNvSpPr>
          <p:nvPr/>
        </p:nvSpPr>
        <p:spPr bwMode="auto">
          <a:xfrm>
            <a:off x="626463" y="4279000"/>
            <a:ext cx="1223962" cy="215900"/>
          </a:xfrm>
          <a:prstGeom prst="rect">
            <a:avLst/>
          </a:prstGeom>
          <a:blipFill dpi="0" rotWithShape="1">
            <a:blip r:embed="rId1"/>
            <a:srcRect/>
            <a:tile tx="0" ty="0" sx="100000" sy="100000" flip="none" algn="tl"/>
          </a:blip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19" name="Group 20"/>
          <p:cNvGrpSpPr/>
          <p:nvPr/>
        </p:nvGrpSpPr>
        <p:grpSpPr bwMode="auto">
          <a:xfrm>
            <a:off x="2161093" y="4385370"/>
            <a:ext cx="906462" cy="338138"/>
            <a:chOff x="1156" y="3022"/>
            <a:chExt cx="571" cy="213"/>
          </a:xfrm>
        </p:grpSpPr>
        <p:sp>
          <p:nvSpPr>
            <p:cNvPr id="20" name="Rectangle 18"/>
            <p:cNvSpPr>
              <a:spLocks noChangeArrowheads="1"/>
            </p:cNvSpPr>
            <p:nvPr/>
          </p:nvSpPr>
          <p:spPr bwMode="auto">
            <a:xfrm>
              <a:off x="1428" y="3022"/>
              <a:ext cx="299"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a:solidFill>
                    <a:schemeClr val="accent1"/>
                  </a:solidFill>
                </a:rPr>
                <a:t>top</a:t>
              </a:r>
              <a:endParaRPr lang="zh-CN" altLang="en-US" sz="1600" b="1">
                <a:solidFill>
                  <a:schemeClr val="accent1"/>
                </a:solidFill>
              </a:endParaRPr>
            </a:p>
          </p:txBody>
        </p:sp>
        <p:sp>
          <p:nvSpPr>
            <p:cNvPr id="21" name="Line 19"/>
            <p:cNvSpPr>
              <a:spLocks noChangeShapeType="1"/>
            </p:cNvSpPr>
            <p:nvPr/>
          </p:nvSpPr>
          <p:spPr bwMode="auto">
            <a:xfrm flipH="1">
              <a:off x="1156" y="3203"/>
              <a:ext cx="272" cy="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600"/>
            </a:p>
          </p:txBody>
        </p:sp>
      </p:grpSp>
      <p:sp>
        <p:nvSpPr>
          <p:cNvPr id="22" name="Rectangle 21"/>
          <p:cNvSpPr>
            <a:spLocks noChangeArrowheads="1"/>
          </p:cNvSpPr>
          <p:nvPr/>
        </p:nvSpPr>
        <p:spPr bwMode="auto">
          <a:xfrm>
            <a:off x="626463" y="3847200"/>
            <a:ext cx="1223962" cy="338554"/>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t>6</a:t>
            </a:r>
            <a:endParaRPr lang="zh-CN" altLang="en-US" sz="1600" b="1"/>
          </a:p>
        </p:txBody>
      </p:sp>
      <p:sp>
        <p:nvSpPr>
          <p:cNvPr id="23" name="Rectangle 22"/>
          <p:cNvSpPr>
            <a:spLocks noChangeArrowheads="1"/>
          </p:cNvSpPr>
          <p:nvPr/>
        </p:nvSpPr>
        <p:spPr bwMode="auto">
          <a:xfrm>
            <a:off x="626463" y="3413813"/>
            <a:ext cx="1223962" cy="338554"/>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t>2</a:t>
            </a:r>
            <a:endParaRPr lang="zh-CN" altLang="en-US" sz="1600" b="1"/>
          </a:p>
        </p:txBody>
      </p:sp>
      <p:grpSp>
        <p:nvGrpSpPr>
          <p:cNvPr id="24" name="Group 23"/>
          <p:cNvGrpSpPr/>
          <p:nvPr/>
        </p:nvGrpSpPr>
        <p:grpSpPr bwMode="auto">
          <a:xfrm>
            <a:off x="2137763" y="3702745"/>
            <a:ext cx="906462" cy="338138"/>
            <a:chOff x="1156" y="3022"/>
            <a:chExt cx="571" cy="213"/>
          </a:xfrm>
        </p:grpSpPr>
        <p:sp>
          <p:nvSpPr>
            <p:cNvPr id="25" name="Rectangle 24"/>
            <p:cNvSpPr>
              <a:spLocks noChangeArrowheads="1"/>
            </p:cNvSpPr>
            <p:nvPr/>
          </p:nvSpPr>
          <p:spPr bwMode="auto">
            <a:xfrm>
              <a:off x="1428" y="3022"/>
              <a:ext cx="299"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a:solidFill>
                    <a:schemeClr val="accent1"/>
                  </a:solidFill>
                </a:rPr>
                <a:t>top</a:t>
              </a:r>
              <a:endParaRPr lang="zh-CN" altLang="en-US" sz="1600" b="1">
                <a:solidFill>
                  <a:schemeClr val="accent1"/>
                </a:solidFill>
              </a:endParaRPr>
            </a:p>
          </p:txBody>
        </p:sp>
        <p:sp>
          <p:nvSpPr>
            <p:cNvPr id="26" name="Line 25"/>
            <p:cNvSpPr>
              <a:spLocks noChangeShapeType="1"/>
            </p:cNvSpPr>
            <p:nvPr/>
          </p:nvSpPr>
          <p:spPr bwMode="auto">
            <a:xfrm flipH="1">
              <a:off x="1156" y="3203"/>
              <a:ext cx="272" cy="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600"/>
            </a:p>
          </p:txBody>
        </p:sp>
      </p:grpSp>
      <p:grpSp>
        <p:nvGrpSpPr>
          <p:cNvPr id="27" name="Group 26"/>
          <p:cNvGrpSpPr/>
          <p:nvPr/>
        </p:nvGrpSpPr>
        <p:grpSpPr bwMode="auto">
          <a:xfrm>
            <a:off x="2151154" y="3201372"/>
            <a:ext cx="1039812" cy="338138"/>
            <a:chOff x="1156" y="3022"/>
            <a:chExt cx="655" cy="213"/>
          </a:xfrm>
        </p:grpSpPr>
        <p:sp>
          <p:nvSpPr>
            <p:cNvPr id="28" name="Rectangle 27"/>
            <p:cNvSpPr>
              <a:spLocks noChangeArrowheads="1"/>
            </p:cNvSpPr>
            <p:nvPr/>
          </p:nvSpPr>
          <p:spPr bwMode="auto">
            <a:xfrm>
              <a:off x="1428" y="3022"/>
              <a:ext cx="383"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600" b="1">
                  <a:solidFill>
                    <a:schemeClr val="accent1"/>
                  </a:solidFill>
                </a:rPr>
                <a:t>top</a:t>
              </a:r>
              <a:endParaRPr lang="zh-CN" altLang="en-US" sz="1600" b="1">
                <a:solidFill>
                  <a:schemeClr val="accent1"/>
                </a:solidFill>
              </a:endParaRPr>
            </a:p>
          </p:txBody>
        </p:sp>
        <p:sp>
          <p:nvSpPr>
            <p:cNvPr id="29" name="Line 28"/>
            <p:cNvSpPr>
              <a:spLocks noChangeShapeType="1"/>
            </p:cNvSpPr>
            <p:nvPr/>
          </p:nvSpPr>
          <p:spPr bwMode="auto">
            <a:xfrm flipH="1">
              <a:off x="1156" y="3203"/>
              <a:ext cx="272" cy="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600"/>
            </a:p>
          </p:txBody>
        </p:sp>
      </p:grpSp>
      <p:sp>
        <p:nvSpPr>
          <p:cNvPr id="30" name="Rectangle 29"/>
          <p:cNvSpPr>
            <a:spLocks noChangeArrowheads="1"/>
          </p:cNvSpPr>
          <p:nvPr/>
        </p:nvSpPr>
        <p:spPr bwMode="auto">
          <a:xfrm>
            <a:off x="3654173" y="3586989"/>
            <a:ext cx="335348"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2</a:t>
            </a:r>
            <a:r>
              <a:rPr lang="en-US" altLang="zh-CN" sz="1600" dirty="0"/>
              <a:t> </a:t>
            </a:r>
            <a:endParaRPr lang="en-US" altLang="zh-CN" sz="1600" dirty="0"/>
          </a:p>
        </p:txBody>
      </p:sp>
      <p:sp>
        <p:nvSpPr>
          <p:cNvPr id="31" name="Rectangle 30"/>
          <p:cNvSpPr>
            <a:spLocks noChangeArrowheads="1"/>
          </p:cNvSpPr>
          <p:nvPr/>
        </p:nvSpPr>
        <p:spPr bwMode="auto">
          <a:xfrm>
            <a:off x="3189999" y="3586989"/>
            <a:ext cx="28886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6</a:t>
            </a:r>
            <a:endParaRPr lang="zh-CN" altLang="en-US" sz="1600" b="1" dirty="0"/>
          </a:p>
        </p:txBody>
      </p:sp>
      <p:sp>
        <p:nvSpPr>
          <p:cNvPr id="32" name="Rectangle 31"/>
          <p:cNvSpPr>
            <a:spLocks noChangeArrowheads="1"/>
          </p:cNvSpPr>
          <p:nvPr/>
        </p:nvSpPr>
        <p:spPr bwMode="auto">
          <a:xfrm>
            <a:off x="3353446" y="3586989"/>
            <a:ext cx="319318"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t> </a:t>
            </a:r>
            <a:r>
              <a:rPr lang="en-US" altLang="zh-CN" sz="1600" b="1" dirty="0">
                <a:solidFill>
                  <a:srgbClr val="FF0000"/>
                </a:solidFill>
              </a:rPr>
              <a:t>/</a:t>
            </a:r>
            <a:endParaRPr lang="zh-CN" altLang="en-US" sz="1600" b="1" dirty="0">
              <a:solidFill>
                <a:srgbClr val="FF0000"/>
              </a:solidFill>
            </a:endParaRPr>
          </a:p>
        </p:txBody>
      </p:sp>
      <p:sp>
        <p:nvSpPr>
          <p:cNvPr id="33" name="Rectangle 32"/>
          <p:cNvSpPr>
            <a:spLocks noChangeArrowheads="1"/>
          </p:cNvSpPr>
          <p:nvPr/>
        </p:nvSpPr>
        <p:spPr bwMode="auto">
          <a:xfrm>
            <a:off x="3889875" y="3580084"/>
            <a:ext cx="43794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 3</a:t>
            </a:r>
            <a:endParaRPr lang="zh-CN" altLang="en-US" sz="1600" b="1" dirty="0"/>
          </a:p>
        </p:txBody>
      </p:sp>
      <p:sp>
        <p:nvSpPr>
          <p:cNvPr id="34" name="Rectangle 33"/>
          <p:cNvSpPr>
            <a:spLocks noChangeArrowheads="1"/>
          </p:cNvSpPr>
          <p:nvPr/>
        </p:nvSpPr>
        <p:spPr bwMode="auto">
          <a:xfrm>
            <a:off x="626463" y="3918638"/>
            <a:ext cx="1223962" cy="338554"/>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t>3</a:t>
            </a:r>
            <a:endParaRPr lang="zh-CN" altLang="en-US" sz="1600" b="1"/>
          </a:p>
        </p:txBody>
      </p:sp>
      <p:sp>
        <p:nvSpPr>
          <p:cNvPr id="35" name="Rectangle 34"/>
          <p:cNvSpPr>
            <a:spLocks noChangeArrowheads="1"/>
          </p:cNvSpPr>
          <p:nvPr/>
        </p:nvSpPr>
        <p:spPr bwMode="auto">
          <a:xfrm>
            <a:off x="626463" y="3486838"/>
            <a:ext cx="1223962" cy="338554"/>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t>3</a:t>
            </a:r>
            <a:endParaRPr lang="zh-CN" altLang="en-US" sz="1600" b="1"/>
          </a:p>
        </p:txBody>
      </p:sp>
      <p:sp>
        <p:nvSpPr>
          <p:cNvPr id="36" name="Rectangle 35"/>
          <p:cNvSpPr>
            <a:spLocks noChangeArrowheads="1"/>
          </p:cNvSpPr>
          <p:nvPr/>
        </p:nvSpPr>
        <p:spPr bwMode="auto">
          <a:xfrm>
            <a:off x="3668047" y="4210877"/>
            <a:ext cx="28886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3</a:t>
            </a:r>
            <a:endParaRPr lang="zh-CN" altLang="en-US" sz="1600" b="1" dirty="0"/>
          </a:p>
        </p:txBody>
      </p:sp>
      <p:sp>
        <p:nvSpPr>
          <p:cNvPr id="37" name="Rectangle 36"/>
          <p:cNvSpPr>
            <a:spLocks noChangeArrowheads="1"/>
          </p:cNvSpPr>
          <p:nvPr/>
        </p:nvSpPr>
        <p:spPr bwMode="auto">
          <a:xfrm>
            <a:off x="3213812" y="4210877"/>
            <a:ext cx="28886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3</a:t>
            </a:r>
            <a:endParaRPr lang="zh-CN" altLang="en-US" sz="1600" b="1" dirty="0"/>
          </a:p>
        </p:txBody>
      </p:sp>
      <p:sp>
        <p:nvSpPr>
          <p:cNvPr id="38" name="Rectangle 37"/>
          <p:cNvSpPr>
            <a:spLocks noChangeArrowheads="1"/>
          </p:cNvSpPr>
          <p:nvPr/>
        </p:nvSpPr>
        <p:spPr bwMode="auto">
          <a:xfrm>
            <a:off x="3432958" y="4193069"/>
            <a:ext cx="247184"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solidFill>
                  <a:srgbClr val="FF0000"/>
                </a:solidFill>
              </a:rPr>
              <a:t>-</a:t>
            </a:r>
            <a:endParaRPr lang="zh-CN" altLang="en-US" sz="1600" b="1" dirty="0">
              <a:solidFill>
                <a:srgbClr val="FF0000"/>
              </a:solidFill>
            </a:endParaRPr>
          </a:p>
        </p:txBody>
      </p:sp>
      <p:sp>
        <p:nvSpPr>
          <p:cNvPr id="39" name="Rectangle 38"/>
          <p:cNvSpPr>
            <a:spLocks noChangeArrowheads="1"/>
          </p:cNvSpPr>
          <p:nvPr/>
        </p:nvSpPr>
        <p:spPr bwMode="auto">
          <a:xfrm>
            <a:off x="3910397" y="4188714"/>
            <a:ext cx="43794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 0</a:t>
            </a:r>
            <a:endParaRPr lang="zh-CN" altLang="en-US" sz="1600" b="1" dirty="0"/>
          </a:p>
        </p:txBody>
      </p:sp>
      <p:sp>
        <p:nvSpPr>
          <p:cNvPr id="40" name="Rectangle 39"/>
          <p:cNvSpPr>
            <a:spLocks noChangeArrowheads="1"/>
          </p:cNvSpPr>
          <p:nvPr/>
        </p:nvSpPr>
        <p:spPr bwMode="auto">
          <a:xfrm>
            <a:off x="626463" y="3918638"/>
            <a:ext cx="1223962" cy="338554"/>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t>0</a:t>
            </a:r>
            <a:endParaRPr lang="zh-CN" altLang="en-US" sz="1600" b="1"/>
          </a:p>
        </p:txBody>
      </p:sp>
      <p:sp>
        <p:nvSpPr>
          <p:cNvPr id="41" name="Rectangle 40"/>
          <p:cNvSpPr>
            <a:spLocks noChangeArrowheads="1"/>
          </p:cNvSpPr>
          <p:nvPr/>
        </p:nvSpPr>
        <p:spPr bwMode="auto">
          <a:xfrm>
            <a:off x="626463" y="3451913"/>
            <a:ext cx="1223962" cy="338554"/>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t>4</a:t>
            </a:r>
            <a:endParaRPr lang="zh-CN" altLang="en-US" sz="1600" b="1"/>
          </a:p>
        </p:txBody>
      </p:sp>
      <p:sp>
        <p:nvSpPr>
          <p:cNvPr id="42" name="Rectangle 41"/>
          <p:cNvSpPr>
            <a:spLocks noChangeArrowheads="1"/>
          </p:cNvSpPr>
          <p:nvPr/>
        </p:nvSpPr>
        <p:spPr bwMode="auto">
          <a:xfrm>
            <a:off x="626463" y="3055038"/>
            <a:ext cx="1223962" cy="338554"/>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t>2</a:t>
            </a:r>
            <a:endParaRPr lang="zh-CN" altLang="en-US" sz="1600" b="1"/>
          </a:p>
        </p:txBody>
      </p:sp>
      <p:grpSp>
        <p:nvGrpSpPr>
          <p:cNvPr id="43" name="Group 42"/>
          <p:cNvGrpSpPr/>
          <p:nvPr/>
        </p:nvGrpSpPr>
        <p:grpSpPr bwMode="auto">
          <a:xfrm>
            <a:off x="2161093" y="2811192"/>
            <a:ext cx="1039812" cy="338138"/>
            <a:chOff x="1156" y="3022"/>
            <a:chExt cx="655" cy="213"/>
          </a:xfrm>
        </p:grpSpPr>
        <p:sp>
          <p:nvSpPr>
            <p:cNvPr id="44" name="Rectangle 43"/>
            <p:cNvSpPr>
              <a:spLocks noChangeArrowheads="1"/>
            </p:cNvSpPr>
            <p:nvPr/>
          </p:nvSpPr>
          <p:spPr bwMode="auto">
            <a:xfrm>
              <a:off x="1428" y="3022"/>
              <a:ext cx="383"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600" b="1" dirty="0">
                  <a:solidFill>
                    <a:schemeClr val="accent1"/>
                  </a:solidFill>
                </a:rPr>
                <a:t>top</a:t>
              </a:r>
              <a:endParaRPr lang="zh-CN" altLang="en-US" sz="1600" b="1" dirty="0">
                <a:solidFill>
                  <a:schemeClr val="accent1"/>
                </a:solidFill>
              </a:endParaRPr>
            </a:p>
          </p:txBody>
        </p:sp>
        <p:sp>
          <p:nvSpPr>
            <p:cNvPr id="45" name="Line 44"/>
            <p:cNvSpPr>
              <a:spLocks noChangeShapeType="1"/>
            </p:cNvSpPr>
            <p:nvPr/>
          </p:nvSpPr>
          <p:spPr bwMode="auto">
            <a:xfrm flipH="1">
              <a:off x="1156" y="3203"/>
              <a:ext cx="272" cy="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600"/>
            </a:p>
          </p:txBody>
        </p:sp>
      </p:grpSp>
      <p:sp>
        <p:nvSpPr>
          <p:cNvPr id="46" name="Rectangle 45"/>
          <p:cNvSpPr>
            <a:spLocks noChangeArrowheads="1"/>
          </p:cNvSpPr>
          <p:nvPr/>
        </p:nvSpPr>
        <p:spPr bwMode="auto">
          <a:xfrm>
            <a:off x="5162507" y="3584919"/>
            <a:ext cx="28886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2</a:t>
            </a:r>
            <a:endParaRPr lang="zh-CN" altLang="en-US" sz="1600" b="1" dirty="0"/>
          </a:p>
        </p:txBody>
      </p:sp>
      <p:sp>
        <p:nvSpPr>
          <p:cNvPr id="47" name="Rectangle 46"/>
          <p:cNvSpPr>
            <a:spLocks noChangeArrowheads="1"/>
          </p:cNvSpPr>
          <p:nvPr/>
        </p:nvSpPr>
        <p:spPr bwMode="auto">
          <a:xfrm>
            <a:off x="4702472" y="3589813"/>
            <a:ext cx="28886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4</a:t>
            </a:r>
            <a:endParaRPr lang="zh-CN" altLang="en-US" sz="1600" b="1" dirty="0"/>
          </a:p>
        </p:txBody>
      </p:sp>
      <p:sp>
        <p:nvSpPr>
          <p:cNvPr id="48" name="Rectangle 47"/>
          <p:cNvSpPr>
            <a:spLocks noChangeArrowheads="1"/>
          </p:cNvSpPr>
          <p:nvPr/>
        </p:nvSpPr>
        <p:spPr bwMode="auto">
          <a:xfrm>
            <a:off x="4935492" y="3590441"/>
            <a:ext cx="287258"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solidFill>
                  <a:srgbClr val="FF0000"/>
                </a:solidFill>
              </a:rPr>
              <a:t>*</a:t>
            </a:r>
            <a:endParaRPr lang="zh-CN" altLang="en-US" sz="1600" b="1" dirty="0">
              <a:solidFill>
                <a:srgbClr val="FF0000"/>
              </a:solidFill>
            </a:endParaRPr>
          </a:p>
        </p:txBody>
      </p:sp>
      <p:sp>
        <p:nvSpPr>
          <p:cNvPr id="49" name="Rectangle 48"/>
          <p:cNvSpPr>
            <a:spLocks noChangeArrowheads="1"/>
          </p:cNvSpPr>
          <p:nvPr/>
        </p:nvSpPr>
        <p:spPr bwMode="auto">
          <a:xfrm>
            <a:off x="5393871" y="3584919"/>
            <a:ext cx="43794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 8</a:t>
            </a:r>
            <a:endParaRPr lang="zh-CN" altLang="en-US" sz="1600" b="1"/>
          </a:p>
        </p:txBody>
      </p:sp>
      <p:sp>
        <p:nvSpPr>
          <p:cNvPr id="50" name="Rectangle 49"/>
          <p:cNvSpPr>
            <a:spLocks noChangeArrowheads="1"/>
          </p:cNvSpPr>
          <p:nvPr/>
        </p:nvSpPr>
        <p:spPr bwMode="auto">
          <a:xfrm>
            <a:off x="626463" y="3451913"/>
            <a:ext cx="1223962" cy="338554"/>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t>8</a:t>
            </a:r>
            <a:endParaRPr lang="zh-CN" altLang="en-US" sz="1600" b="1"/>
          </a:p>
        </p:txBody>
      </p:sp>
      <p:sp>
        <p:nvSpPr>
          <p:cNvPr id="51" name="Rectangle 50"/>
          <p:cNvSpPr>
            <a:spLocks noChangeArrowheads="1"/>
          </p:cNvSpPr>
          <p:nvPr/>
        </p:nvSpPr>
        <p:spPr bwMode="auto">
          <a:xfrm>
            <a:off x="5170374" y="4176643"/>
            <a:ext cx="28886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8</a:t>
            </a:r>
            <a:endParaRPr lang="zh-CN" altLang="en-US" sz="1600" b="1"/>
          </a:p>
        </p:txBody>
      </p:sp>
      <p:sp>
        <p:nvSpPr>
          <p:cNvPr id="52" name="Rectangle 51"/>
          <p:cNvSpPr>
            <a:spLocks noChangeArrowheads="1"/>
          </p:cNvSpPr>
          <p:nvPr/>
        </p:nvSpPr>
        <p:spPr bwMode="auto">
          <a:xfrm>
            <a:off x="4712411" y="4185954"/>
            <a:ext cx="28886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0</a:t>
            </a:r>
            <a:endParaRPr lang="zh-CN" altLang="en-US" sz="1600" b="1" dirty="0"/>
          </a:p>
        </p:txBody>
      </p:sp>
      <p:sp>
        <p:nvSpPr>
          <p:cNvPr id="53" name="Rectangle 52"/>
          <p:cNvSpPr>
            <a:spLocks noChangeArrowheads="1"/>
          </p:cNvSpPr>
          <p:nvPr/>
        </p:nvSpPr>
        <p:spPr bwMode="auto">
          <a:xfrm>
            <a:off x="4935492" y="4166704"/>
            <a:ext cx="287258"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solidFill>
                  <a:srgbClr val="FF0000"/>
                </a:solidFill>
              </a:rPr>
              <a:t>+</a:t>
            </a:r>
            <a:endParaRPr lang="zh-CN" altLang="en-US" sz="1600" b="1">
              <a:solidFill>
                <a:srgbClr val="FF0000"/>
              </a:solidFill>
            </a:endParaRPr>
          </a:p>
        </p:txBody>
      </p:sp>
      <p:sp>
        <p:nvSpPr>
          <p:cNvPr id="54" name="Rectangle 53"/>
          <p:cNvSpPr>
            <a:spLocks noChangeArrowheads="1"/>
          </p:cNvSpPr>
          <p:nvPr/>
        </p:nvSpPr>
        <p:spPr bwMode="auto">
          <a:xfrm>
            <a:off x="5413333" y="4176643"/>
            <a:ext cx="43794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 8</a:t>
            </a:r>
            <a:endParaRPr lang="zh-CN" altLang="en-US" sz="1600" b="1"/>
          </a:p>
        </p:txBody>
      </p:sp>
      <p:sp>
        <p:nvSpPr>
          <p:cNvPr id="55" name="Rectangle 54"/>
          <p:cNvSpPr>
            <a:spLocks noChangeArrowheads="1"/>
          </p:cNvSpPr>
          <p:nvPr/>
        </p:nvSpPr>
        <p:spPr bwMode="auto">
          <a:xfrm>
            <a:off x="626463" y="3918638"/>
            <a:ext cx="1223962" cy="338554"/>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t>8</a:t>
            </a:r>
            <a:endParaRPr lang="zh-CN" altLang="en-US" sz="1600" b="1"/>
          </a:p>
        </p:txBody>
      </p:sp>
      <p:sp>
        <p:nvSpPr>
          <p:cNvPr id="56" name="Rectangle 55"/>
          <p:cNvSpPr>
            <a:spLocks noChangeArrowheads="1"/>
          </p:cNvSpPr>
          <p:nvPr/>
        </p:nvSpPr>
        <p:spPr bwMode="auto">
          <a:xfrm>
            <a:off x="4923031" y="664890"/>
            <a:ext cx="1683474"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600" b="1" i="1" dirty="0"/>
              <a:t>T</a:t>
            </a:r>
            <a:r>
              <a:rPr lang="en-US" altLang="zh-CN" sz="1600" b="1" dirty="0"/>
              <a:t>( </a:t>
            </a:r>
            <a:r>
              <a:rPr lang="en-US" altLang="zh-CN" sz="1600" b="1" i="1" dirty="0"/>
              <a:t>N </a:t>
            </a:r>
            <a:r>
              <a:rPr lang="en-US" altLang="zh-CN" sz="1600" b="1" dirty="0"/>
              <a:t>) = O ( </a:t>
            </a:r>
            <a:r>
              <a:rPr lang="en-US" altLang="zh-CN" sz="1600" b="1" i="1" dirty="0"/>
              <a:t>N </a:t>
            </a:r>
            <a:r>
              <a:rPr lang="en-US" altLang="zh-CN" sz="1600" b="1" dirty="0"/>
              <a:t>)</a:t>
            </a:r>
            <a:endParaRPr lang="zh-CN" altLang="en-US" sz="1600" b="1" dirty="0"/>
          </a:p>
        </p:txBody>
      </p:sp>
      <p:sp>
        <p:nvSpPr>
          <p:cNvPr id="57" name="Rectangle 56"/>
          <p:cNvSpPr>
            <a:spLocks noChangeArrowheads="1"/>
          </p:cNvSpPr>
          <p:nvPr/>
        </p:nvSpPr>
        <p:spPr bwMode="auto">
          <a:xfrm>
            <a:off x="4126900" y="652357"/>
            <a:ext cx="2888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solidFill>
                  <a:srgbClr val="FF0000"/>
                </a:solidFill>
              </a:rPr>
              <a:t>8</a:t>
            </a:r>
            <a:endParaRPr lang="zh-CN" altLang="en-US" sz="16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
                                        <p:tgtEl>
                                          <p:spTgt spid="19"/>
                                        </p:tgtEl>
                                      </p:cBhvr>
                                    </p:animEffect>
                                    <p:set>
                                      <p:cBhvr>
                                        <p:cTn id="12" dur="1" fill="hold">
                                          <p:stCondLst>
                                            <p:cond delay="499"/>
                                          </p:stCondLst>
                                        </p:cTn>
                                        <p:tgtEl>
                                          <p:spTgt spid="1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par>
                                <p:cTn id="18" presetID="9" presetClass="entr" presetSubtype="0"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dissolv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dissolv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xit" presetSubtype="0" fill="hold" nodeType="clickEffect">
                                  <p:stCondLst>
                                    <p:cond delay="0"/>
                                  </p:stCondLst>
                                  <p:childTnLst>
                                    <p:animEffect transition="out" filter="dissolve">
                                      <p:cBhvr>
                                        <p:cTn id="29" dur="500"/>
                                        <p:tgtEl>
                                          <p:spTgt spid="24"/>
                                        </p:tgtEl>
                                      </p:cBhvr>
                                    </p:animEffect>
                                    <p:set>
                                      <p:cBhvr>
                                        <p:cTn id="30" dur="1" fill="hold">
                                          <p:stCondLst>
                                            <p:cond delay="499"/>
                                          </p:stCondLst>
                                        </p:cTn>
                                        <p:tgtEl>
                                          <p:spTgt spid="2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3">
                                            <p:bg/>
                                          </p:spTgt>
                                        </p:tgtEl>
                                        <p:attrNameLst>
                                          <p:attrName>style.visibility</p:attrName>
                                        </p:attrNameLst>
                                      </p:cBhvr>
                                      <p:to>
                                        <p:strVal val="visible"/>
                                      </p:to>
                                    </p:set>
                                    <p:animEffect transition="in" filter="dissolve">
                                      <p:cBhvr>
                                        <p:cTn id="35" dur="500"/>
                                        <p:tgtEl>
                                          <p:spTgt spid="23">
                                            <p:bg/>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3">
                                            <p:txEl>
                                              <p:pRg st="0" end="0"/>
                                            </p:txEl>
                                          </p:spTgt>
                                        </p:tgtEl>
                                        <p:attrNameLst>
                                          <p:attrName>style.visibility</p:attrName>
                                        </p:attrNameLst>
                                      </p:cBhvr>
                                      <p:to>
                                        <p:strVal val="visible"/>
                                      </p:to>
                                    </p:set>
                                    <p:animEffect transition="in" filter="dissolve">
                                      <p:cBhvr>
                                        <p:cTn id="38" dur="500"/>
                                        <p:tgtEl>
                                          <p:spTgt spid="23">
                                            <p:txEl>
                                              <p:pRg st="0" end="0"/>
                                            </p:txEl>
                                          </p:spTgt>
                                        </p:tgtEl>
                                      </p:cBhvr>
                                    </p:animEffect>
                                  </p:childTnLst>
                                </p:cTn>
                              </p:par>
                              <p:par>
                                <p:cTn id="39" presetID="9"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dissolve">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8">
                                            <p:txEl>
                                              <p:pRg st="0" end="0"/>
                                            </p:txEl>
                                          </p:spTgt>
                                        </p:tgtEl>
                                        <p:attrNameLst>
                                          <p:attrName>style.visibility</p:attrName>
                                        </p:attrNameLst>
                                      </p:cBhvr>
                                      <p:to>
                                        <p:strVal val="visible"/>
                                      </p:to>
                                    </p:set>
                                    <p:animEffect transition="in" filter="dissolve">
                                      <p:cBhvr>
                                        <p:cTn id="46" dur="500"/>
                                        <p:tgtEl>
                                          <p:spTgt spid="8">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xit" presetSubtype="0" fill="hold" nodeType="clickEffect">
                                  <p:stCondLst>
                                    <p:cond delay="0"/>
                                  </p:stCondLst>
                                  <p:childTnLst>
                                    <p:animEffect transition="out" filter="dissolve">
                                      <p:cBhvr>
                                        <p:cTn id="50" dur="500"/>
                                        <p:tgtEl>
                                          <p:spTgt spid="27"/>
                                        </p:tgtEl>
                                      </p:cBhvr>
                                    </p:animEffect>
                                    <p:set>
                                      <p:cBhvr>
                                        <p:cTn id="51" dur="1" fill="hold">
                                          <p:stCondLst>
                                            <p:cond delay="499"/>
                                          </p:stCondLst>
                                        </p:cTn>
                                        <p:tgtEl>
                                          <p:spTgt spid="27"/>
                                        </p:tgtEl>
                                        <p:attrNameLst>
                                          <p:attrName>style.visibility</p:attrName>
                                        </p:attrNameLst>
                                      </p:cBhvr>
                                      <p:to>
                                        <p:strVal val="hidden"/>
                                      </p:to>
                                    </p:set>
                                  </p:childTnLst>
                                </p:cTn>
                              </p:par>
                              <p:par>
                                <p:cTn id="52" presetID="9" presetClass="exit" presetSubtype="0" fill="hold" grpId="1" nodeType="withEffect">
                                  <p:stCondLst>
                                    <p:cond delay="0"/>
                                  </p:stCondLst>
                                  <p:childTnLst>
                                    <p:animEffect transition="out" filter="dissolve">
                                      <p:cBhvr>
                                        <p:cTn id="53" dur="500"/>
                                        <p:tgtEl>
                                          <p:spTgt spid="23">
                                            <p:txEl>
                                              <p:pRg st="0" end="0"/>
                                            </p:txEl>
                                          </p:spTgt>
                                        </p:tgtEl>
                                      </p:cBhvr>
                                    </p:animEffect>
                                    <p:set>
                                      <p:cBhvr>
                                        <p:cTn id="54" dur="1" fill="hold">
                                          <p:stCondLst>
                                            <p:cond delay="499"/>
                                          </p:stCondLst>
                                        </p:cTn>
                                        <p:tgtEl>
                                          <p:spTgt spid="23">
                                            <p:txEl>
                                              <p:pRg st="0" end="0"/>
                                            </p:txEl>
                                          </p:spTgt>
                                        </p:tgtEl>
                                        <p:attrNameLst>
                                          <p:attrName>style.visibility</p:attrName>
                                        </p:attrNameLst>
                                      </p:cBhvr>
                                      <p:to>
                                        <p:strVal val="hidden"/>
                                      </p:to>
                                    </p:set>
                                  </p:childTnLst>
                                </p:cTn>
                              </p:par>
                              <p:par>
                                <p:cTn id="55" presetID="9" presetClass="exit" presetSubtype="0" fill="hold" grpId="1" nodeType="withEffect">
                                  <p:stCondLst>
                                    <p:cond delay="0"/>
                                  </p:stCondLst>
                                  <p:childTnLst>
                                    <p:animEffect transition="out" filter="dissolve">
                                      <p:cBhvr>
                                        <p:cTn id="56" dur="500"/>
                                        <p:tgtEl>
                                          <p:spTgt spid="23">
                                            <p:bg/>
                                          </p:spTgt>
                                        </p:tgtEl>
                                      </p:cBhvr>
                                    </p:animEffect>
                                    <p:set>
                                      <p:cBhvr>
                                        <p:cTn id="57" dur="1" fill="hold">
                                          <p:stCondLst>
                                            <p:cond delay="499"/>
                                          </p:stCondLst>
                                        </p:cTn>
                                        <p:tgtEl>
                                          <p:spTgt spid="23">
                                            <p:bg/>
                                          </p:spTgt>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dissolve">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dissolve">
                                      <p:cBhvr>
                                        <p:cTn id="67" dur="50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xit" presetSubtype="0" fill="hold" grpId="1" nodeType="clickEffect">
                                  <p:stCondLst>
                                    <p:cond delay="0"/>
                                  </p:stCondLst>
                                  <p:childTnLst>
                                    <p:animEffect transition="out" filter="dissolve">
                                      <p:cBhvr>
                                        <p:cTn id="71" dur="500"/>
                                        <p:tgtEl>
                                          <p:spTgt spid="22"/>
                                        </p:tgtEl>
                                      </p:cBhvr>
                                    </p:animEffect>
                                    <p:set>
                                      <p:cBhvr>
                                        <p:cTn id="72" dur="1" fill="hold">
                                          <p:stCondLst>
                                            <p:cond delay="499"/>
                                          </p:stCondLst>
                                        </p:cTn>
                                        <p:tgtEl>
                                          <p:spTgt spid="22"/>
                                        </p:tgtEl>
                                        <p:attrNameLst>
                                          <p:attrName>style.visibility</p:attrName>
                                        </p:attrNameLst>
                                      </p:cBhvr>
                                      <p:to>
                                        <p:strVal val="hidden"/>
                                      </p:to>
                                    </p:set>
                                  </p:childTnLst>
                                </p:cTn>
                              </p:par>
                              <p:par>
                                <p:cTn id="73" presetID="9" presetClass="exit" presetSubtype="0" fill="hold" nodeType="withEffect">
                                  <p:stCondLst>
                                    <p:cond delay="0"/>
                                  </p:stCondLst>
                                  <p:childTnLst>
                                    <p:animEffect transition="out" filter="dissolve">
                                      <p:cBhvr>
                                        <p:cTn id="74" dur="500"/>
                                        <p:tgtEl>
                                          <p:spTgt spid="24"/>
                                        </p:tgtEl>
                                      </p:cBhvr>
                                    </p:animEffect>
                                    <p:set>
                                      <p:cBhvr>
                                        <p:cTn id="75" dur="1" fill="hold">
                                          <p:stCondLst>
                                            <p:cond delay="499"/>
                                          </p:stCondLst>
                                        </p:cTn>
                                        <p:tgtEl>
                                          <p:spTgt spid="24"/>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nodeType="click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dissolve">
                                      <p:cBhvr>
                                        <p:cTn id="80" dur="500"/>
                                        <p:tgtEl>
                                          <p:spTgt spid="19"/>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dissolve">
                                      <p:cBhvr>
                                        <p:cTn id="85" dur="500"/>
                                        <p:tgtEl>
                                          <p:spTgt spid="31"/>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dissolve">
                                      <p:cBhvr>
                                        <p:cTn id="88" dur="500"/>
                                        <p:tgtEl>
                                          <p:spTgt spid="32"/>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dissolve">
                                      <p:cBhvr>
                                        <p:cTn id="93" dur="500"/>
                                        <p:tgtEl>
                                          <p:spTgt spid="33"/>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xit" presetSubtype="0" fill="hold" nodeType="clickEffect">
                                  <p:stCondLst>
                                    <p:cond delay="0"/>
                                  </p:stCondLst>
                                  <p:childTnLst>
                                    <p:animEffect transition="out" filter="dissolve">
                                      <p:cBhvr>
                                        <p:cTn id="97" dur="500"/>
                                        <p:tgtEl>
                                          <p:spTgt spid="19"/>
                                        </p:tgtEl>
                                      </p:cBhvr>
                                    </p:animEffect>
                                    <p:set>
                                      <p:cBhvr>
                                        <p:cTn id="98" dur="1" fill="hold">
                                          <p:stCondLst>
                                            <p:cond delay="499"/>
                                          </p:stCondLst>
                                        </p:cTn>
                                        <p:tgtEl>
                                          <p:spTgt spid="19"/>
                                        </p:tgtEl>
                                        <p:attrNameLst>
                                          <p:attrName>style.visibility</p:attrName>
                                        </p:attrNameLst>
                                      </p:cBhvr>
                                      <p:to>
                                        <p:strVal val="hidden"/>
                                      </p:to>
                                    </p:set>
                                  </p:childTnLst>
                                </p:cTn>
                              </p:par>
                              <p:par>
                                <p:cTn id="99" presetID="9"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dissolve">
                                      <p:cBhvr>
                                        <p:cTn id="101" dur="500"/>
                                        <p:tgtEl>
                                          <p:spTgt spid="34"/>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ntr" presetSubtype="0" fill="hold" nodeType="clickEffect">
                                  <p:stCondLst>
                                    <p:cond delay="0"/>
                                  </p:stCondLst>
                                  <p:childTnLst>
                                    <p:set>
                                      <p:cBhvr>
                                        <p:cTn id="105" dur="1" fill="hold">
                                          <p:stCondLst>
                                            <p:cond delay="0"/>
                                          </p:stCondLst>
                                        </p:cTn>
                                        <p:tgtEl>
                                          <p:spTgt spid="9">
                                            <p:txEl>
                                              <p:pRg st="0" end="0"/>
                                            </p:txEl>
                                          </p:spTgt>
                                        </p:tgtEl>
                                        <p:attrNameLst>
                                          <p:attrName>style.visibility</p:attrName>
                                        </p:attrNameLst>
                                      </p:cBhvr>
                                      <p:to>
                                        <p:strVal val="visible"/>
                                      </p:to>
                                    </p:set>
                                    <p:animEffect transition="in" filter="dissolve">
                                      <p:cBhvr>
                                        <p:cTn id="106" dur="500"/>
                                        <p:tgtEl>
                                          <p:spTgt spid="9">
                                            <p:txEl>
                                              <p:pRg st="0" end="0"/>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9" presetClass="exit" presetSubtype="0" fill="hold" nodeType="clickEffect">
                                  <p:stCondLst>
                                    <p:cond delay="0"/>
                                  </p:stCondLst>
                                  <p:childTnLst>
                                    <p:animEffect transition="out" filter="dissolve">
                                      <p:cBhvr>
                                        <p:cTn id="110" dur="500"/>
                                        <p:tgtEl>
                                          <p:spTgt spid="24"/>
                                        </p:tgtEl>
                                      </p:cBhvr>
                                    </p:animEffect>
                                    <p:set>
                                      <p:cBhvr>
                                        <p:cTn id="111" dur="1" fill="hold">
                                          <p:stCondLst>
                                            <p:cond delay="499"/>
                                          </p:stCondLst>
                                        </p:cTn>
                                        <p:tgtEl>
                                          <p:spTgt spid="24"/>
                                        </p:tgtEl>
                                        <p:attrNameLst>
                                          <p:attrName>style.visibility</p:attrName>
                                        </p:attrNameLst>
                                      </p:cBhvr>
                                      <p:to>
                                        <p:strVal val="hidden"/>
                                      </p:to>
                                    </p:set>
                                  </p:childTnLst>
                                </p:cTn>
                              </p:par>
                            </p:childTnLst>
                          </p:cTn>
                        </p:par>
                      </p:childTnLst>
                    </p:cTn>
                  </p:par>
                  <p:par>
                    <p:cTn id="112" fill="hold">
                      <p:stCondLst>
                        <p:cond delay="indefinite"/>
                      </p:stCondLst>
                      <p:childTnLst>
                        <p:par>
                          <p:cTn id="113" fill="hold">
                            <p:stCondLst>
                              <p:cond delay="0"/>
                            </p:stCondLst>
                            <p:childTnLst>
                              <p:par>
                                <p:cTn id="114" presetID="9" presetClass="entr" presetSubtype="0" fill="hold" grpId="0" nodeType="clickEffect">
                                  <p:stCondLst>
                                    <p:cond delay="0"/>
                                  </p:stCondLst>
                                  <p:childTnLst>
                                    <p:set>
                                      <p:cBhvr>
                                        <p:cTn id="115" dur="1" fill="hold">
                                          <p:stCondLst>
                                            <p:cond delay="0"/>
                                          </p:stCondLst>
                                        </p:cTn>
                                        <p:tgtEl>
                                          <p:spTgt spid="35"/>
                                        </p:tgtEl>
                                        <p:attrNameLst>
                                          <p:attrName>style.visibility</p:attrName>
                                        </p:attrNameLst>
                                      </p:cBhvr>
                                      <p:to>
                                        <p:strVal val="visible"/>
                                      </p:to>
                                    </p:set>
                                    <p:animEffect transition="in" filter="dissolve">
                                      <p:cBhvr>
                                        <p:cTn id="116" dur="500"/>
                                        <p:tgtEl>
                                          <p:spTgt spid="35"/>
                                        </p:tgtEl>
                                      </p:cBhvr>
                                    </p:animEffect>
                                  </p:childTnLst>
                                </p:cTn>
                              </p:par>
                              <p:par>
                                <p:cTn id="117" presetID="9" presetClass="entr" presetSubtype="0" fill="hold" nodeType="withEffect">
                                  <p:stCondLst>
                                    <p:cond delay="0"/>
                                  </p:stCondLst>
                                  <p:childTnLst>
                                    <p:set>
                                      <p:cBhvr>
                                        <p:cTn id="118" dur="1" fill="hold">
                                          <p:stCondLst>
                                            <p:cond delay="0"/>
                                          </p:stCondLst>
                                        </p:cTn>
                                        <p:tgtEl>
                                          <p:spTgt spid="27"/>
                                        </p:tgtEl>
                                        <p:attrNameLst>
                                          <p:attrName>style.visibility</p:attrName>
                                        </p:attrNameLst>
                                      </p:cBhvr>
                                      <p:to>
                                        <p:strVal val="visible"/>
                                      </p:to>
                                    </p:set>
                                    <p:animEffect transition="in" filter="dissolve">
                                      <p:cBhvr>
                                        <p:cTn id="119" dur="500"/>
                                        <p:tgtEl>
                                          <p:spTgt spid="27"/>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ntr" presetSubtype="0" fill="hold" nodeType="clickEffect">
                                  <p:stCondLst>
                                    <p:cond delay="0"/>
                                  </p:stCondLst>
                                  <p:childTnLst>
                                    <p:set>
                                      <p:cBhvr>
                                        <p:cTn id="123" dur="1" fill="hold">
                                          <p:stCondLst>
                                            <p:cond delay="0"/>
                                          </p:stCondLst>
                                        </p:cTn>
                                        <p:tgtEl>
                                          <p:spTgt spid="10">
                                            <p:txEl>
                                              <p:pRg st="0" end="0"/>
                                            </p:txEl>
                                          </p:spTgt>
                                        </p:tgtEl>
                                        <p:attrNameLst>
                                          <p:attrName>style.visibility</p:attrName>
                                        </p:attrNameLst>
                                      </p:cBhvr>
                                      <p:to>
                                        <p:strVal val="visible"/>
                                      </p:to>
                                    </p:set>
                                    <p:animEffect transition="in" filter="dissolve">
                                      <p:cBhvr>
                                        <p:cTn id="124" dur="500"/>
                                        <p:tgtEl>
                                          <p:spTgt spid="10">
                                            <p:txEl>
                                              <p:pRg st="0" end="0"/>
                                            </p:txEl>
                                          </p:spTgt>
                                        </p:tgtEl>
                                      </p:cBhvr>
                                    </p:animEffect>
                                  </p:childTnLst>
                                </p:cTn>
                              </p:par>
                            </p:childTnLst>
                          </p:cTn>
                        </p:par>
                      </p:childTnLst>
                    </p:cTn>
                  </p:par>
                  <p:par>
                    <p:cTn id="125" fill="hold">
                      <p:stCondLst>
                        <p:cond delay="indefinite"/>
                      </p:stCondLst>
                      <p:childTnLst>
                        <p:par>
                          <p:cTn id="126" fill="hold">
                            <p:stCondLst>
                              <p:cond delay="0"/>
                            </p:stCondLst>
                            <p:childTnLst>
                              <p:par>
                                <p:cTn id="127" presetID="9" presetClass="exit" presetSubtype="0" fill="hold" grpId="1" nodeType="clickEffect">
                                  <p:stCondLst>
                                    <p:cond delay="0"/>
                                  </p:stCondLst>
                                  <p:childTnLst>
                                    <p:animEffect transition="out" filter="dissolve">
                                      <p:cBhvr>
                                        <p:cTn id="128" dur="500"/>
                                        <p:tgtEl>
                                          <p:spTgt spid="35"/>
                                        </p:tgtEl>
                                      </p:cBhvr>
                                    </p:animEffect>
                                    <p:set>
                                      <p:cBhvr>
                                        <p:cTn id="129" dur="1" fill="hold">
                                          <p:stCondLst>
                                            <p:cond delay="499"/>
                                          </p:stCondLst>
                                        </p:cTn>
                                        <p:tgtEl>
                                          <p:spTgt spid="35"/>
                                        </p:tgtEl>
                                        <p:attrNameLst>
                                          <p:attrName>style.visibility</p:attrName>
                                        </p:attrNameLst>
                                      </p:cBhvr>
                                      <p:to>
                                        <p:strVal val="hidden"/>
                                      </p:to>
                                    </p:set>
                                  </p:childTnLst>
                                </p:cTn>
                              </p:par>
                              <p:par>
                                <p:cTn id="130" presetID="9" presetClass="exit" presetSubtype="0" fill="hold" nodeType="withEffect">
                                  <p:stCondLst>
                                    <p:cond delay="0"/>
                                  </p:stCondLst>
                                  <p:childTnLst>
                                    <p:animEffect transition="out" filter="dissolve">
                                      <p:cBhvr>
                                        <p:cTn id="131" dur="500"/>
                                        <p:tgtEl>
                                          <p:spTgt spid="27"/>
                                        </p:tgtEl>
                                      </p:cBhvr>
                                    </p:animEffect>
                                    <p:set>
                                      <p:cBhvr>
                                        <p:cTn id="132" dur="1" fill="hold">
                                          <p:stCondLst>
                                            <p:cond delay="499"/>
                                          </p:stCondLst>
                                        </p:cTn>
                                        <p:tgtEl>
                                          <p:spTgt spid="27"/>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36"/>
                                        </p:tgtEl>
                                        <p:attrNameLst>
                                          <p:attrName>style.visibility</p:attrName>
                                        </p:attrNameLst>
                                      </p:cBhvr>
                                      <p:to>
                                        <p:strVal val="visible"/>
                                      </p:to>
                                    </p:set>
                                    <p:animEffect transition="in" filter="dissolve">
                                      <p:cBhvr>
                                        <p:cTn id="137" dur="500"/>
                                        <p:tgtEl>
                                          <p:spTgt spid="36"/>
                                        </p:tgtEl>
                                      </p:cBhvr>
                                    </p:animEffect>
                                  </p:childTnLst>
                                </p:cTn>
                              </p:par>
                            </p:childTnLst>
                          </p:cTn>
                        </p:par>
                      </p:childTnLst>
                    </p:cTn>
                  </p:par>
                  <p:par>
                    <p:cTn id="138" fill="hold">
                      <p:stCondLst>
                        <p:cond delay="indefinite"/>
                      </p:stCondLst>
                      <p:childTnLst>
                        <p:par>
                          <p:cTn id="139" fill="hold">
                            <p:stCondLst>
                              <p:cond delay="0"/>
                            </p:stCondLst>
                            <p:childTnLst>
                              <p:par>
                                <p:cTn id="140" presetID="9" presetClass="exit" presetSubtype="0" fill="hold" grpId="1" nodeType="clickEffect">
                                  <p:stCondLst>
                                    <p:cond delay="0"/>
                                  </p:stCondLst>
                                  <p:childTnLst>
                                    <p:animEffect transition="out" filter="dissolve">
                                      <p:cBhvr>
                                        <p:cTn id="141" dur="500"/>
                                        <p:tgtEl>
                                          <p:spTgt spid="34"/>
                                        </p:tgtEl>
                                      </p:cBhvr>
                                    </p:animEffect>
                                    <p:set>
                                      <p:cBhvr>
                                        <p:cTn id="142" dur="1" fill="hold">
                                          <p:stCondLst>
                                            <p:cond delay="499"/>
                                          </p:stCondLst>
                                        </p:cTn>
                                        <p:tgtEl>
                                          <p:spTgt spid="34"/>
                                        </p:tgtEl>
                                        <p:attrNameLst>
                                          <p:attrName>style.visibility</p:attrName>
                                        </p:attrNameLst>
                                      </p:cBhvr>
                                      <p:to>
                                        <p:strVal val="hidden"/>
                                      </p:to>
                                    </p:set>
                                  </p:childTnLst>
                                </p:cTn>
                              </p:par>
                              <p:par>
                                <p:cTn id="143" presetID="9" presetClass="exit" presetSubtype="0" fill="hold" nodeType="withEffect">
                                  <p:stCondLst>
                                    <p:cond delay="0"/>
                                  </p:stCondLst>
                                  <p:childTnLst>
                                    <p:animEffect transition="out" filter="dissolve">
                                      <p:cBhvr>
                                        <p:cTn id="144" dur="500"/>
                                        <p:tgtEl>
                                          <p:spTgt spid="24"/>
                                        </p:tgtEl>
                                      </p:cBhvr>
                                    </p:animEffect>
                                    <p:set>
                                      <p:cBhvr>
                                        <p:cTn id="145" dur="1" fill="hold">
                                          <p:stCondLst>
                                            <p:cond delay="499"/>
                                          </p:stCondLst>
                                        </p:cTn>
                                        <p:tgtEl>
                                          <p:spTgt spid="24"/>
                                        </p:tgtEl>
                                        <p:attrNameLst>
                                          <p:attrName>style.visibility</p:attrName>
                                        </p:attrNameLst>
                                      </p:cBhvr>
                                      <p:to>
                                        <p:strVal val="hidden"/>
                                      </p:to>
                                    </p:set>
                                  </p:childTnLst>
                                </p:cTn>
                              </p:par>
                            </p:childTnLst>
                          </p:cTn>
                        </p:par>
                      </p:childTnLst>
                    </p:cTn>
                  </p:par>
                  <p:par>
                    <p:cTn id="146" fill="hold">
                      <p:stCondLst>
                        <p:cond delay="indefinite"/>
                      </p:stCondLst>
                      <p:childTnLst>
                        <p:par>
                          <p:cTn id="147" fill="hold">
                            <p:stCondLst>
                              <p:cond delay="0"/>
                            </p:stCondLst>
                            <p:childTnLst>
                              <p:par>
                                <p:cTn id="148" presetID="9" presetClass="entr" presetSubtype="0" fill="hold" nodeType="clickEffect">
                                  <p:stCondLst>
                                    <p:cond delay="0"/>
                                  </p:stCondLst>
                                  <p:childTnLst>
                                    <p:set>
                                      <p:cBhvr>
                                        <p:cTn id="149" dur="1" fill="hold">
                                          <p:stCondLst>
                                            <p:cond delay="0"/>
                                          </p:stCondLst>
                                        </p:cTn>
                                        <p:tgtEl>
                                          <p:spTgt spid="19"/>
                                        </p:tgtEl>
                                        <p:attrNameLst>
                                          <p:attrName>style.visibility</p:attrName>
                                        </p:attrNameLst>
                                      </p:cBhvr>
                                      <p:to>
                                        <p:strVal val="visible"/>
                                      </p:to>
                                    </p:set>
                                    <p:animEffect transition="in" filter="dissolve">
                                      <p:cBhvr>
                                        <p:cTn id="150" dur="500"/>
                                        <p:tgtEl>
                                          <p:spTgt spid="19"/>
                                        </p:tgtEl>
                                      </p:cBhvr>
                                    </p:animEffect>
                                  </p:childTnLst>
                                </p:cTn>
                              </p:par>
                            </p:childTnLst>
                          </p:cTn>
                        </p:par>
                      </p:childTnLst>
                    </p:cTn>
                  </p:par>
                  <p:par>
                    <p:cTn id="151" fill="hold">
                      <p:stCondLst>
                        <p:cond delay="indefinite"/>
                      </p:stCondLst>
                      <p:childTnLst>
                        <p:par>
                          <p:cTn id="152" fill="hold">
                            <p:stCondLst>
                              <p:cond delay="0"/>
                            </p:stCondLst>
                            <p:childTnLst>
                              <p:par>
                                <p:cTn id="153" presetID="9" presetClass="entr" presetSubtype="0" fill="hold" grpId="0" nodeType="clickEffect">
                                  <p:stCondLst>
                                    <p:cond delay="0"/>
                                  </p:stCondLst>
                                  <p:childTnLst>
                                    <p:set>
                                      <p:cBhvr>
                                        <p:cTn id="154" dur="1" fill="hold">
                                          <p:stCondLst>
                                            <p:cond delay="0"/>
                                          </p:stCondLst>
                                        </p:cTn>
                                        <p:tgtEl>
                                          <p:spTgt spid="37"/>
                                        </p:tgtEl>
                                        <p:attrNameLst>
                                          <p:attrName>style.visibility</p:attrName>
                                        </p:attrNameLst>
                                      </p:cBhvr>
                                      <p:to>
                                        <p:strVal val="visible"/>
                                      </p:to>
                                    </p:set>
                                    <p:animEffect transition="in" filter="dissolve">
                                      <p:cBhvr>
                                        <p:cTn id="155" dur="500"/>
                                        <p:tgtEl>
                                          <p:spTgt spid="37"/>
                                        </p:tgtEl>
                                      </p:cBhvr>
                                    </p:animEffect>
                                  </p:childTnLst>
                                </p:cTn>
                              </p:par>
                            </p:childTnLst>
                          </p:cTn>
                        </p:par>
                      </p:childTnLst>
                    </p:cTn>
                  </p:par>
                  <p:par>
                    <p:cTn id="156" fill="hold">
                      <p:stCondLst>
                        <p:cond delay="indefinite"/>
                      </p:stCondLst>
                      <p:childTnLst>
                        <p:par>
                          <p:cTn id="157" fill="hold">
                            <p:stCondLst>
                              <p:cond delay="0"/>
                            </p:stCondLst>
                            <p:childTnLst>
                              <p:par>
                                <p:cTn id="158" presetID="9" presetClass="entr" presetSubtype="0" fill="hold" grpId="0" nodeType="clickEffect">
                                  <p:stCondLst>
                                    <p:cond delay="0"/>
                                  </p:stCondLst>
                                  <p:childTnLst>
                                    <p:set>
                                      <p:cBhvr>
                                        <p:cTn id="159" dur="1" fill="hold">
                                          <p:stCondLst>
                                            <p:cond delay="0"/>
                                          </p:stCondLst>
                                        </p:cTn>
                                        <p:tgtEl>
                                          <p:spTgt spid="38"/>
                                        </p:tgtEl>
                                        <p:attrNameLst>
                                          <p:attrName>style.visibility</p:attrName>
                                        </p:attrNameLst>
                                      </p:cBhvr>
                                      <p:to>
                                        <p:strVal val="visible"/>
                                      </p:to>
                                    </p:set>
                                    <p:animEffect transition="in" filter="dissolve">
                                      <p:cBhvr>
                                        <p:cTn id="160" dur="500"/>
                                        <p:tgtEl>
                                          <p:spTgt spid="38"/>
                                        </p:tgtEl>
                                      </p:cBhvr>
                                    </p:animEffect>
                                  </p:childTnLst>
                                </p:cTn>
                              </p:par>
                            </p:childTnLst>
                          </p:cTn>
                        </p:par>
                      </p:childTnLst>
                    </p:cTn>
                  </p:par>
                  <p:par>
                    <p:cTn id="161" fill="hold">
                      <p:stCondLst>
                        <p:cond delay="indefinite"/>
                      </p:stCondLst>
                      <p:childTnLst>
                        <p:par>
                          <p:cTn id="162" fill="hold">
                            <p:stCondLst>
                              <p:cond delay="0"/>
                            </p:stCondLst>
                            <p:childTnLst>
                              <p:par>
                                <p:cTn id="163" presetID="9" presetClass="entr" presetSubtype="0" fill="hold" grpId="0" nodeType="clickEffect">
                                  <p:stCondLst>
                                    <p:cond delay="0"/>
                                  </p:stCondLst>
                                  <p:childTnLst>
                                    <p:set>
                                      <p:cBhvr>
                                        <p:cTn id="164" dur="1" fill="hold">
                                          <p:stCondLst>
                                            <p:cond delay="0"/>
                                          </p:stCondLst>
                                        </p:cTn>
                                        <p:tgtEl>
                                          <p:spTgt spid="39"/>
                                        </p:tgtEl>
                                        <p:attrNameLst>
                                          <p:attrName>style.visibility</p:attrName>
                                        </p:attrNameLst>
                                      </p:cBhvr>
                                      <p:to>
                                        <p:strVal val="visible"/>
                                      </p:to>
                                    </p:set>
                                    <p:animEffect transition="in" filter="dissolve">
                                      <p:cBhvr>
                                        <p:cTn id="165" dur="500"/>
                                        <p:tgtEl>
                                          <p:spTgt spid="39"/>
                                        </p:tgtEl>
                                      </p:cBhvr>
                                    </p:animEffect>
                                  </p:childTnLst>
                                </p:cTn>
                              </p:par>
                            </p:childTnLst>
                          </p:cTn>
                        </p:par>
                      </p:childTnLst>
                    </p:cTn>
                  </p:par>
                  <p:par>
                    <p:cTn id="166" fill="hold">
                      <p:stCondLst>
                        <p:cond delay="indefinite"/>
                      </p:stCondLst>
                      <p:childTnLst>
                        <p:par>
                          <p:cTn id="167" fill="hold">
                            <p:stCondLst>
                              <p:cond delay="0"/>
                            </p:stCondLst>
                            <p:childTnLst>
                              <p:par>
                                <p:cTn id="168" presetID="9" presetClass="exit" presetSubtype="0" fill="hold" nodeType="clickEffect">
                                  <p:stCondLst>
                                    <p:cond delay="0"/>
                                  </p:stCondLst>
                                  <p:childTnLst>
                                    <p:animEffect transition="out" filter="dissolve">
                                      <p:cBhvr>
                                        <p:cTn id="169" dur="500"/>
                                        <p:tgtEl>
                                          <p:spTgt spid="19"/>
                                        </p:tgtEl>
                                      </p:cBhvr>
                                    </p:animEffect>
                                    <p:set>
                                      <p:cBhvr>
                                        <p:cTn id="170" dur="1" fill="hold">
                                          <p:stCondLst>
                                            <p:cond delay="499"/>
                                          </p:stCondLst>
                                        </p:cTn>
                                        <p:tgtEl>
                                          <p:spTgt spid="19"/>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9" presetClass="entr" presetSubtype="0" fill="hold" grpId="0" nodeType="clickEffect">
                                  <p:stCondLst>
                                    <p:cond delay="0"/>
                                  </p:stCondLst>
                                  <p:childTnLst>
                                    <p:set>
                                      <p:cBhvr>
                                        <p:cTn id="174" dur="1" fill="hold">
                                          <p:stCondLst>
                                            <p:cond delay="0"/>
                                          </p:stCondLst>
                                        </p:cTn>
                                        <p:tgtEl>
                                          <p:spTgt spid="40"/>
                                        </p:tgtEl>
                                        <p:attrNameLst>
                                          <p:attrName>style.visibility</p:attrName>
                                        </p:attrNameLst>
                                      </p:cBhvr>
                                      <p:to>
                                        <p:strVal val="visible"/>
                                      </p:to>
                                    </p:set>
                                    <p:animEffect transition="in" filter="dissolve">
                                      <p:cBhvr>
                                        <p:cTn id="175" dur="500"/>
                                        <p:tgtEl>
                                          <p:spTgt spid="40"/>
                                        </p:tgtEl>
                                      </p:cBhvr>
                                    </p:animEffect>
                                  </p:childTnLst>
                                </p:cTn>
                              </p:par>
                            </p:childTnLst>
                          </p:cTn>
                        </p:par>
                      </p:childTnLst>
                    </p:cTn>
                  </p:par>
                  <p:par>
                    <p:cTn id="176" fill="hold">
                      <p:stCondLst>
                        <p:cond delay="indefinite"/>
                      </p:stCondLst>
                      <p:childTnLst>
                        <p:par>
                          <p:cTn id="177" fill="hold">
                            <p:stCondLst>
                              <p:cond delay="0"/>
                            </p:stCondLst>
                            <p:childTnLst>
                              <p:par>
                                <p:cTn id="178" presetID="9" presetClass="entr" presetSubtype="0" fill="hold" nodeType="clickEffect">
                                  <p:stCondLst>
                                    <p:cond delay="0"/>
                                  </p:stCondLst>
                                  <p:childTnLst>
                                    <p:set>
                                      <p:cBhvr>
                                        <p:cTn id="179" dur="1" fill="hold">
                                          <p:stCondLst>
                                            <p:cond delay="0"/>
                                          </p:stCondLst>
                                        </p:cTn>
                                        <p:tgtEl>
                                          <p:spTgt spid="11">
                                            <p:txEl>
                                              <p:pRg st="0" end="0"/>
                                            </p:txEl>
                                          </p:spTgt>
                                        </p:tgtEl>
                                        <p:attrNameLst>
                                          <p:attrName>style.visibility</p:attrName>
                                        </p:attrNameLst>
                                      </p:cBhvr>
                                      <p:to>
                                        <p:strVal val="visible"/>
                                      </p:to>
                                    </p:set>
                                    <p:animEffect transition="in" filter="dissolve">
                                      <p:cBhvr>
                                        <p:cTn id="180" dur="500"/>
                                        <p:tgtEl>
                                          <p:spTgt spid="11">
                                            <p:txEl>
                                              <p:pRg st="0" end="0"/>
                                            </p:txEl>
                                          </p:spTgt>
                                        </p:tgtEl>
                                      </p:cBhvr>
                                    </p:animEffect>
                                  </p:childTnLst>
                                </p:cTn>
                              </p:par>
                            </p:childTnLst>
                          </p:cTn>
                        </p:par>
                      </p:childTnLst>
                    </p:cTn>
                  </p:par>
                  <p:par>
                    <p:cTn id="181" fill="hold">
                      <p:stCondLst>
                        <p:cond delay="indefinite"/>
                      </p:stCondLst>
                      <p:childTnLst>
                        <p:par>
                          <p:cTn id="182" fill="hold">
                            <p:stCondLst>
                              <p:cond delay="0"/>
                            </p:stCondLst>
                            <p:childTnLst>
                              <p:par>
                                <p:cTn id="183" presetID="9" presetClass="entr" presetSubtype="0" fill="hold" grpId="0" nodeType="clickEffect">
                                  <p:stCondLst>
                                    <p:cond delay="0"/>
                                  </p:stCondLst>
                                  <p:childTnLst>
                                    <p:set>
                                      <p:cBhvr>
                                        <p:cTn id="184" dur="1" fill="hold">
                                          <p:stCondLst>
                                            <p:cond delay="0"/>
                                          </p:stCondLst>
                                        </p:cTn>
                                        <p:tgtEl>
                                          <p:spTgt spid="41"/>
                                        </p:tgtEl>
                                        <p:attrNameLst>
                                          <p:attrName>style.visibility</p:attrName>
                                        </p:attrNameLst>
                                      </p:cBhvr>
                                      <p:to>
                                        <p:strVal val="visible"/>
                                      </p:to>
                                    </p:set>
                                    <p:animEffect transition="in" filter="dissolve">
                                      <p:cBhvr>
                                        <p:cTn id="185" dur="500"/>
                                        <p:tgtEl>
                                          <p:spTgt spid="41"/>
                                        </p:tgtEl>
                                      </p:cBhvr>
                                    </p:animEffect>
                                  </p:childTnLst>
                                </p:cTn>
                              </p:par>
                            </p:childTnLst>
                          </p:cTn>
                        </p:par>
                      </p:childTnLst>
                    </p:cTn>
                  </p:par>
                  <p:par>
                    <p:cTn id="186" fill="hold">
                      <p:stCondLst>
                        <p:cond delay="indefinite"/>
                      </p:stCondLst>
                      <p:childTnLst>
                        <p:par>
                          <p:cTn id="187" fill="hold">
                            <p:stCondLst>
                              <p:cond delay="0"/>
                            </p:stCondLst>
                            <p:childTnLst>
                              <p:par>
                                <p:cTn id="188" presetID="9" presetClass="entr" presetSubtype="0" fill="hold" nodeType="clickEffect">
                                  <p:stCondLst>
                                    <p:cond delay="0"/>
                                  </p:stCondLst>
                                  <p:childTnLst>
                                    <p:set>
                                      <p:cBhvr>
                                        <p:cTn id="189" dur="1" fill="hold">
                                          <p:stCondLst>
                                            <p:cond delay="0"/>
                                          </p:stCondLst>
                                        </p:cTn>
                                        <p:tgtEl>
                                          <p:spTgt spid="12">
                                            <p:txEl>
                                              <p:pRg st="0" end="0"/>
                                            </p:txEl>
                                          </p:spTgt>
                                        </p:tgtEl>
                                        <p:attrNameLst>
                                          <p:attrName>style.visibility</p:attrName>
                                        </p:attrNameLst>
                                      </p:cBhvr>
                                      <p:to>
                                        <p:strVal val="visible"/>
                                      </p:to>
                                    </p:set>
                                    <p:animEffect transition="in" filter="dissolve">
                                      <p:cBhvr>
                                        <p:cTn id="190" dur="500"/>
                                        <p:tgtEl>
                                          <p:spTgt spid="12">
                                            <p:txEl>
                                              <p:pRg st="0" end="0"/>
                                            </p:txEl>
                                          </p:spTgt>
                                        </p:tgtEl>
                                      </p:cBhvr>
                                    </p:animEffect>
                                  </p:childTnLst>
                                </p:cTn>
                              </p:par>
                            </p:childTnLst>
                          </p:cTn>
                        </p:par>
                      </p:childTnLst>
                    </p:cTn>
                  </p:par>
                  <p:par>
                    <p:cTn id="191" fill="hold">
                      <p:stCondLst>
                        <p:cond delay="indefinite"/>
                      </p:stCondLst>
                      <p:childTnLst>
                        <p:par>
                          <p:cTn id="192" fill="hold">
                            <p:stCondLst>
                              <p:cond delay="0"/>
                            </p:stCondLst>
                            <p:childTnLst>
                              <p:par>
                                <p:cTn id="193" presetID="9" presetClass="entr" presetSubtype="0" fill="hold" grpId="0" nodeType="clickEffect">
                                  <p:stCondLst>
                                    <p:cond delay="0"/>
                                  </p:stCondLst>
                                  <p:childTnLst>
                                    <p:set>
                                      <p:cBhvr>
                                        <p:cTn id="194" dur="1" fill="hold">
                                          <p:stCondLst>
                                            <p:cond delay="0"/>
                                          </p:stCondLst>
                                        </p:cTn>
                                        <p:tgtEl>
                                          <p:spTgt spid="42"/>
                                        </p:tgtEl>
                                        <p:attrNameLst>
                                          <p:attrName>style.visibility</p:attrName>
                                        </p:attrNameLst>
                                      </p:cBhvr>
                                      <p:to>
                                        <p:strVal val="visible"/>
                                      </p:to>
                                    </p:set>
                                    <p:animEffect transition="in" filter="dissolve">
                                      <p:cBhvr>
                                        <p:cTn id="195" dur="500"/>
                                        <p:tgtEl>
                                          <p:spTgt spid="42"/>
                                        </p:tgtEl>
                                      </p:cBhvr>
                                    </p:animEffect>
                                  </p:childTnLst>
                                </p:cTn>
                              </p:par>
                            </p:childTnLst>
                          </p:cTn>
                        </p:par>
                      </p:childTnLst>
                    </p:cTn>
                  </p:par>
                  <p:par>
                    <p:cTn id="196" fill="hold">
                      <p:stCondLst>
                        <p:cond delay="indefinite"/>
                      </p:stCondLst>
                      <p:childTnLst>
                        <p:par>
                          <p:cTn id="197" fill="hold">
                            <p:stCondLst>
                              <p:cond delay="0"/>
                            </p:stCondLst>
                            <p:childTnLst>
                              <p:par>
                                <p:cTn id="198" presetID="9" presetClass="entr" presetSubtype="0" fill="hold" nodeType="clickEffect">
                                  <p:stCondLst>
                                    <p:cond delay="0"/>
                                  </p:stCondLst>
                                  <p:childTnLst>
                                    <p:set>
                                      <p:cBhvr>
                                        <p:cTn id="199" dur="1" fill="hold">
                                          <p:stCondLst>
                                            <p:cond delay="0"/>
                                          </p:stCondLst>
                                        </p:cTn>
                                        <p:tgtEl>
                                          <p:spTgt spid="43"/>
                                        </p:tgtEl>
                                        <p:attrNameLst>
                                          <p:attrName>style.visibility</p:attrName>
                                        </p:attrNameLst>
                                      </p:cBhvr>
                                      <p:to>
                                        <p:strVal val="visible"/>
                                      </p:to>
                                    </p:set>
                                    <p:animEffect transition="in" filter="dissolve">
                                      <p:cBhvr>
                                        <p:cTn id="200" dur="500"/>
                                        <p:tgtEl>
                                          <p:spTgt spid="43"/>
                                        </p:tgtEl>
                                      </p:cBhvr>
                                    </p:animEffect>
                                  </p:childTnLst>
                                </p:cTn>
                              </p:par>
                            </p:childTnLst>
                          </p:cTn>
                        </p:par>
                      </p:childTnLst>
                    </p:cTn>
                  </p:par>
                  <p:par>
                    <p:cTn id="201" fill="hold">
                      <p:stCondLst>
                        <p:cond delay="indefinite"/>
                      </p:stCondLst>
                      <p:childTnLst>
                        <p:par>
                          <p:cTn id="202" fill="hold">
                            <p:stCondLst>
                              <p:cond delay="0"/>
                            </p:stCondLst>
                            <p:childTnLst>
                              <p:par>
                                <p:cTn id="203" presetID="9" presetClass="entr" presetSubtype="0" fill="hold" nodeType="clickEffect">
                                  <p:stCondLst>
                                    <p:cond delay="0"/>
                                  </p:stCondLst>
                                  <p:childTnLst>
                                    <p:set>
                                      <p:cBhvr>
                                        <p:cTn id="204" dur="1" fill="hold">
                                          <p:stCondLst>
                                            <p:cond delay="0"/>
                                          </p:stCondLst>
                                        </p:cTn>
                                        <p:tgtEl>
                                          <p:spTgt spid="13">
                                            <p:txEl>
                                              <p:pRg st="0" end="0"/>
                                            </p:txEl>
                                          </p:spTgt>
                                        </p:tgtEl>
                                        <p:attrNameLst>
                                          <p:attrName>style.visibility</p:attrName>
                                        </p:attrNameLst>
                                      </p:cBhvr>
                                      <p:to>
                                        <p:strVal val="visible"/>
                                      </p:to>
                                    </p:set>
                                    <p:animEffect transition="in" filter="dissolve">
                                      <p:cBhvr>
                                        <p:cTn id="205" dur="500"/>
                                        <p:tgtEl>
                                          <p:spTgt spid="13">
                                            <p:txEl>
                                              <p:pRg st="0" end="0"/>
                                            </p:txEl>
                                          </p:spTgt>
                                        </p:tgtEl>
                                      </p:cBhvr>
                                    </p:animEffect>
                                  </p:childTnLst>
                                </p:cTn>
                              </p:par>
                            </p:childTnLst>
                          </p:cTn>
                        </p:par>
                      </p:childTnLst>
                    </p:cTn>
                  </p:par>
                  <p:par>
                    <p:cTn id="206" fill="hold">
                      <p:stCondLst>
                        <p:cond delay="indefinite"/>
                      </p:stCondLst>
                      <p:childTnLst>
                        <p:par>
                          <p:cTn id="207" fill="hold">
                            <p:stCondLst>
                              <p:cond delay="0"/>
                            </p:stCondLst>
                            <p:childTnLst>
                              <p:par>
                                <p:cTn id="208" presetID="9" presetClass="exit" presetSubtype="0" fill="hold" grpId="1" nodeType="clickEffect">
                                  <p:stCondLst>
                                    <p:cond delay="0"/>
                                  </p:stCondLst>
                                  <p:childTnLst>
                                    <p:animEffect transition="out" filter="dissolve">
                                      <p:cBhvr>
                                        <p:cTn id="209" dur="500"/>
                                        <p:tgtEl>
                                          <p:spTgt spid="42"/>
                                        </p:tgtEl>
                                      </p:cBhvr>
                                    </p:animEffect>
                                    <p:set>
                                      <p:cBhvr>
                                        <p:cTn id="210" dur="1" fill="hold">
                                          <p:stCondLst>
                                            <p:cond delay="499"/>
                                          </p:stCondLst>
                                        </p:cTn>
                                        <p:tgtEl>
                                          <p:spTgt spid="42"/>
                                        </p:tgtEl>
                                        <p:attrNameLst>
                                          <p:attrName>style.visibility</p:attrName>
                                        </p:attrNameLst>
                                      </p:cBhvr>
                                      <p:to>
                                        <p:strVal val="hidden"/>
                                      </p:to>
                                    </p:set>
                                  </p:childTnLst>
                                </p:cTn>
                              </p:par>
                              <p:par>
                                <p:cTn id="211" presetID="9" presetClass="exit" presetSubtype="0" fill="hold" nodeType="withEffect">
                                  <p:stCondLst>
                                    <p:cond delay="0"/>
                                  </p:stCondLst>
                                  <p:childTnLst>
                                    <p:animEffect transition="out" filter="dissolve">
                                      <p:cBhvr>
                                        <p:cTn id="212" dur="500"/>
                                        <p:tgtEl>
                                          <p:spTgt spid="43"/>
                                        </p:tgtEl>
                                      </p:cBhvr>
                                    </p:animEffect>
                                    <p:set>
                                      <p:cBhvr>
                                        <p:cTn id="213" dur="1" fill="hold">
                                          <p:stCondLst>
                                            <p:cond delay="499"/>
                                          </p:stCondLst>
                                        </p:cTn>
                                        <p:tgtEl>
                                          <p:spTgt spid="43"/>
                                        </p:tgtEl>
                                        <p:attrNameLst>
                                          <p:attrName>style.visibility</p:attrName>
                                        </p:attrNameLst>
                                      </p:cBhvr>
                                      <p:to>
                                        <p:strVal val="hidden"/>
                                      </p:to>
                                    </p:set>
                                  </p:childTnLst>
                                </p:cTn>
                              </p:par>
                            </p:childTnLst>
                          </p:cTn>
                        </p:par>
                      </p:childTnLst>
                    </p:cTn>
                  </p:par>
                  <p:par>
                    <p:cTn id="214" fill="hold">
                      <p:stCondLst>
                        <p:cond delay="indefinite"/>
                      </p:stCondLst>
                      <p:childTnLst>
                        <p:par>
                          <p:cTn id="215" fill="hold">
                            <p:stCondLst>
                              <p:cond delay="0"/>
                            </p:stCondLst>
                            <p:childTnLst>
                              <p:par>
                                <p:cTn id="216" presetID="9" presetClass="entr" presetSubtype="0" fill="hold" grpId="0" nodeType="clickEffect">
                                  <p:stCondLst>
                                    <p:cond delay="0"/>
                                  </p:stCondLst>
                                  <p:childTnLst>
                                    <p:set>
                                      <p:cBhvr>
                                        <p:cTn id="217" dur="1" fill="hold">
                                          <p:stCondLst>
                                            <p:cond delay="0"/>
                                          </p:stCondLst>
                                        </p:cTn>
                                        <p:tgtEl>
                                          <p:spTgt spid="46"/>
                                        </p:tgtEl>
                                        <p:attrNameLst>
                                          <p:attrName>style.visibility</p:attrName>
                                        </p:attrNameLst>
                                      </p:cBhvr>
                                      <p:to>
                                        <p:strVal val="visible"/>
                                      </p:to>
                                    </p:set>
                                    <p:animEffect transition="in" filter="dissolve">
                                      <p:cBhvr>
                                        <p:cTn id="218" dur="500"/>
                                        <p:tgtEl>
                                          <p:spTgt spid="46"/>
                                        </p:tgtEl>
                                      </p:cBhvr>
                                    </p:animEffect>
                                  </p:childTnLst>
                                </p:cTn>
                              </p:par>
                            </p:childTnLst>
                          </p:cTn>
                        </p:par>
                      </p:childTnLst>
                    </p:cTn>
                  </p:par>
                  <p:par>
                    <p:cTn id="219" fill="hold">
                      <p:stCondLst>
                        <p:cond delay="indefinite"/>
                      </p:stCondLst>
                      <p:childTnLst>
                        <p:par>
                          <p:cTn id="220" fill="hold">
                            <p:stCondLst>
                              <p:cond delay="0"/>
                            </p:stCondLst>
                            <p:childTnLst>
                              <p:par>
                                <p:cTn id="221" presetID="9" presetClass="exit" presetSubtype="0" fill="hold" grpId="1" nodeType="clickEffect">
                                  <p:stCondLst>
                                    <p:cond delay="0"/>
                                  </p:stCondLst>
                                  <p:childTnLst>
                                    <p:animEffect transition="out" filter="dissolve">
                                      <p:cBhvr>
                                        <p:cTn id="222" dur="500"/>
                                        <p:tgtEl>
                                          <p:spTgt spid="41"/>
                                        </p:tgtEl>
                                      </p:cBhvr>
                                    </p:animEffect>
                                    <p:set>
                                      <p:cBhvr>
                                        <p:cTn id="223" dur="1" fill="hold">
                                          <p:stCondLst>
                                            <p:cond delay="499"/>
                                          </p:stCondLst>
                                        </p:cTn>
                                        <p:tgtEl>
                                          <p:spTgt spid="41"/>
                                        </p:tgtEl>
                                        <p:attrNameLst>
                                          <p:attrName>style.visibility</p:attrName>
                                        </p:attrNameLst>
                                      </p:cBhvr>
                                      <p:to>
                                        <p:strVal val="hidden"/>
                                      </p:to>
                                    </p:set>
                                  </p:childTnLst>
                                </p:cTn>
                              </p:par>
                            </p:childTnLst>
                          </p:cTn>
                        </p:par>
                      </p:childTnLst>
                    </p:cTn>
                  </p:par>
                  <p:par>
                    <p:cTn id="224" fill="hold">
                      <p:stCondLst>
                        <p:cond delay="indefinite"/>
                      </p:stCondLst>
                      <p:childTnLst>
                        <p:par>
                          <p:cTn id="225" fill="hold">
                            <p:stCondLst>
                              <p:cond delay="0"/>
                            </p:stCondLst>
                            <p:childTnLst>
                              <p:par>
                                <p:cTn id="226" presetID="9" presetClass="entr" presetSubtype="0" fill="hold" grpId="0" nodeType="clickEffect">
                                  <p:stCondLst>
                                    <p:cond delay="0"/>
                                  </p:stCondLst>
                                  <p:childTnLst>
                                    <p:set>
                                      <p:cBhvr>
                                        <p:cTn id="227" dur="1" fill="hold">
                                          <p:stCondLst>
                                            <p:cond delay="0"/>
                                          </p:stCondLst>
                                        </p:cTn>
                                        <p:tgtEl>
                                          <p:spTgt spid="47"/>
                                        </p:tgtEl>
                                        <p:attrNameLst>
                                          <p:attrName>style.visibility</p:attrName>
                                        </p:attrNameLst>
                                      </p:cBhvr>
                                      <p:to>
                                        <p:strVal val="visible"/>
                                      </p:to>
                                    </p:set>
                                    <p:animEffect transition="in" filter="dissolve">
                                      <p:cBhvr>
                                        <p:cTn id="228" dur="500"/>
                                        <p:tgtEl>
                                          <p:spTgt spid="47"/>
                                        </p:tgtEl>
                                      </p:cBhvr>
                                    </p:animEffect>
                                  </p:childTnLst>
                                </p:cTn>
                              </p:par>
                            </p:childTnLst>
                          </p:cTn>
                        </p:par>
                      </p:childTnLst>
                    </p:cTn>
                  </p:par>
                  <p:par>
                    <p:cTn id="229" fill="hold">
                      <p:stCondLst>
                        <p:cond delay="indefinite"/>
                      </p:stCondLst>
                      <p:childTnLst>
                        <p:par>
                          <p:cTn id="230" fill="hold">
                            <p:stCondLst>
                              <p:cond delay="0"/>
                            </p:stCondLst>
                            <p:childTnLst>
                              <p:par>
                                <p:cTn id="231" presetID="9" presetClass="entr" presetSubtype="0" fill="hold" grpId="0" nodeType="clickEffect">
                                  <p:stCondLst>
                                    <p:cond delay="0"/>
                                  </p:stCondLst>
                                  <p:childTnLst>
                                    <p:set>
                                      <p:cBhvr>
                                        <p:cTn id="232" dur="1" fill="hold">
                                          <p:stCondLst>
                                            <p:cond delay="0"/>
                                          </p:stCondLst>
                                        </p:cTn>
                                        <p:tgtEl>
                                          <p:spTgt spid="48"/>
                                        </p:tgtEl>
                                        <p:attrNameLst>
                                          <p:attrName>style.visibility</p:attrName>
                                        </p:attrNameLst>
                                      </p:cBhvr>
                                      <p:to>
                                        <p:strVal val="visible"/>
                                      </p:to>
                                    </p:set>
                                    <p:animEffect transition="in" filter="dissolve">
                                      <p:cBhvr>
                                        <p:cTn id="233" dur="500"/>
                                        <p:tgtEl>
                                          <p:spTgt spid="48"/>
                                        </p:tgtEl>
                                      </p:cBhvr>
                                    </p:animEffect>
                                  </p:childTnLst>
                                </p:cTn>
                              </p:par>
                            </p:childTnLst>
                          </p:cTn>
                        </p:par>
                      </p:childTnLst>
                    </p:cTn>
                  </p:par>
                  <p:par>
                    <p:cTn id="234" fill="hold">
                      <p:stCondLst>
                        <p:cond delay="indefinite"/>
                      </p:stCondLst>
                      <p:childTnLst>
                        <p:par>
                          <p:cTn id="235" fill="hold">
                            <p:stCondLst>
                              <p:cond delay="0"/>
                            </p:stCondLst>
                            <p:childTnLst>
                              <p:par>
                                <p:cTn id="236" presetID="9" presetClass="entr" presetSubtype="0" fill="hold" grpId="0" nodeType="clickEffect">
                                  <p:stCondLst>
                                    <p:cond delay="0"/>
                                  </p:stCondLst>
                                  <p:childTnLst>
                                    <p:set>
                                      <p:cBhvr>
                                        <p:cTn id="237" dur="1" fill="hold">
                                          <p:stCondLst>
                                            <p:cond delay="0"/>
                                          </p:stCondLst>
                                        </p:cTn>
                                        <p:tgtEl>
                                          <p:spTgt spid="49"/>
                                        </p:tgtEl>
                                        <p:attrNameLst>
                                          <p:attrName>style.visibility</p:attrName>
                                        </p:attrNameLst>
                                      </p:cBhvr>
                                      <p:to>
                                        <p:strVal val="visible"/>
                                      </p:to>
                                    </p:set>
                                    <p:animEffect transition="in" filter="dissolve">
                                      <p:cBhvr>
                                        <p:cTn id="238" dur="500"/>
                                        <p:tgtEl>
                                          <p:spTgt spid="49"/>
                                        </p:tgtEl>
                                      </p:cBhvr>
                                    </p:animEffect>
                                  </p:childTnLst>
                                </p:cTn>
                              </p:par>
                            </p:childTnLst>
                          </p:cTn>
                        </p:par>
                      </p:childTnLst>
                    </p:cTn>
                  </p:par>
                  <p:par>
                    <p:cTn id="239" fill="hold">
                      <p:stCondLst>
                        <p:cond delay="indefinite"/>
                      </p:stCondLst>
                      <p:childTnLst>
                        <p:par>
                          <p:cTn id="240" fill="hold">
                            <p:stCondLst>
                              <p:cond delay="0"/>
                            </p:stCondLst>
                            <p:childTnLst>
                              <p:par>
                                <p:cTn id="241" presetID="9" presetClass="entr" presetSubtype="0" fill="hold" grpId="0" nodeType="clickEffect">
                                  <p:stCondLst>
                                    <p:cond delay="0"/>
                                  </p:stCondLst>
                                  <p:childTnLst>
                                    <p:set>
                                      <p:cBhvr>
                                        <p:cTn id="242" dur="1" fill="hold">
                                          <p:stCondLst>
                                            <p:cond delay="0"/>
                                          </p:stCondLst>
                                        </p:cTn>
                                        <p:tgtEl>
                                          <p:spTgt spid="50"/>
                                        </p:tgtEl>
                                        <p:attrNameLst>
                                          <p:attrName>style.visibility</p:attrName>
                                        </p:attrNameLst>
                                      </p:cBhvr>
                                      <p:to>
                                        <p:strVal val="visible"/>
                                      </p:to>
                                    </p:set>
                                    <p:animEffect transition="in" filter="dissolve">
                                      <p:cBhvr>
                                        <p:cTn id="243" dur="500"/>
                                        <p:tgtEl>
                                          <p:spTgt spid="50"/>
                                        </p:tgtEl>
                                      </p:cBhvr>
                                    </p:animEffect>
                                  </p:childTnLst>
                                </p:cTn>
                              </p:par>
                            </p:childTnLst>
                          </p:cTn>
                        </p:par>
                      </p:childTnLst>
                    </p:cTn>
                  </p:par>
                  <p:par>
                    <p:cTn id="244" fill="hold">
                      <p:stCondLst>
                        <p:cond delay="indefinite"/>
                      </p:stCondLst>
                      <p:childTnLst>
                        <p:par>
                          <p:cTn id="245" fill="hold">
                            <p:stCondLst>
                              <p:cond delay="0"/>
                            </p:stCondLst>
                            <p:childTnLst>
                              <p:par>
                                <p:cTn id="246" presetID="9" presetClass="entr" presetSubtype="0" fill="hold" nodeType="clickEffect">
                                  <p:stCondLst>
                                    <p:cond delay="0"/>
                                  </p:stCondLst>
                                  <p:childTnLst>
                                    <p:set>
                                      <p:cBhvr>
                                        <p:cTn id="247" dur="1" fill="hold">
                                          <p:stCondLst>
                                            <p:cond delay="0"/>
                                          </p:stCondLst>
                                        </p:cTn>
                                        <p:tgtEl>
                                          <p:spTgt spid="14">
                                            <p:txEl>
                                              <p:pRg st="0" end="0"/>
                                            </p:txEl>
                                          </p:spTgt>
                                        </p:tgtEl>
                                        <p:attrNameLst>
                                          <p:attrName>style.visibility</p:attrName>
                                        </p:attrNameLst>
                                      </p:cBhvr>
                                      <p:to>
                                        <p:strVal val="visible"/>
                                      </p:to>
                                    </p:set>
                                    <p:animEffect transition="in" filter="dissolve">
                                      <p:cBhvr>
                                        <p:cTn id="248" dur="500"/>
                                        <p:tgtEl>
                                          <p:spTgt spid="14">
                                            <p:txEl>
                                              <p:pRg st="0" end="0"/>
                                            </p:txEl>
                                          </p:spTgt>
                                        </p:tgtEl>
                                      </p:cBhvr>
                                    </p:animEffect>
                                  </p:childTnLst>
                                </p:cTn>
                              </p:par>
                            </p:childTnLst>
                          </p:cTn>
                        </p:par>
                      </p:childTnLst>
                    </p:cTn>
                  </p:par>
                  <p:par>
                    <p:cTn id="249" fill="hold">
                      <p:stCondLst>
                        <p:cond delay="indefinite"/>
                      </p:stCondLst>
                      <p:childTnLst>
                        <p:par>
                          <p:cTn id="250" fill="hold">
                            <p:stCondLst>
                              <p:cond delay="0"/>
                            </p:stCondLst>
                            <p:childTnLst>
                              <p:par>
                                <p:cTn id="251" presetID="9" presetClass="exit" presetSubtype="0" fill="hold" grpId="1" nodeType="clickEffect">
                                  <p:stCondLst>
                                    <p:cond delay="0"/>
                                  </p:stCondLst>
                                  <p:childTnLst>
                                    <p:animEffect transition="out" filter="dissolve">
                                      <p:cBhvr>
                                        <p:cTn id="252" dur="500"/>
                                        <p:tgtEl>
                                          <p:spTgt spid="50"/>
                                        </p:tgtEl>
                                      </p:cBhvr>
                                    </p:animEffect>
                                    <p:set>
                                      <p:cBhvr>
                                        <p:cTn id="253" dur="1" fill="hold">
                                          <p:stCondLst>
                                            <p:cond delay="499"/>
                                          </p:stCondLst>
                                        </p:cTn>
                                        <p:tgtEl>
                                          <p:spTgt spid="50"/>
                                        </p:tgtEl>
                                        <p:attrNameLst>
                                          <p:attrName>style.visibility</p:attrName>
                                        </p:attrNameLst>
                                      </p:cBhvr>
                                      <p:to>
                                        <p:strVal val="hidden"/>
                                      </p:to>
                                    </p:set>
                                  </p:childTnLst>
                                </p:cTn>
                              </p:par>
                            </p:childTnLst>
                          </p:cTn>
                        </p:par>
                      </p:childTnLst>
                    </p:cTn>
                  </p:par>
                  <p:par>
                    <p:cTn id="254" fill="hold">
                      <p:stCondLst>
                        <p:cond delay="indefinite"/>
                      </p:stCondLst>
                      <p:childTnLst>
                        <p:par>
                          <p:cTn id="255" fill="hold">
                            <p:stCondLst>
                              <p:cond delay="0"/>
                            </p:stCondLst>
                            <p:childTnLst>
                              <p:par>
                                <p:cTn id="256" presetID="9" presetClass="entr" presetSubtype="0" fill="hold" grpId="0" nodeType="clickEffect">
                                  <p:stCondLst>
                                    <p:cond delay="0"/>
                                  </p:stCondLst>
                                  <p:childTnLst>
                                    <p:set>
                                      <p:cBhvr>
                                        <p:cTn id="257" dur="1" fill="hold">
                                          <p:stCondLst>
                                            <p:cond delay="0"/>
                                          </p:stCondLst>
                                        </p:cTn>
                                        <p:tgtEl>
                                          <p:spTgt spid="51"/>
                                        </p:tgtEl>
                                        <p:attrNameLst>
                                          <p:attrName>style.visibility</p:attrName>
                                        </p:attrNameLst>
                                      </p:cBhvr>
                                      <p:to>
                                        <p:strVal val="visible"/>
                                      </p:to>
                                    </p:set>
                                    <p:animEffect transition="in" filter="dissolve">
                                      <p:cBhvr>
                                        <p:cTn id="258" dur="500"/>
                                        <p:tgtEl>
                                          <p:spTgt spid="51"/>
                                        </p:tgtEl>
                                      </p:cBhvr>
                                    </p:animEffect>
                                  </p:childTnLst>
                                </p:cTn>
                              </p:par>
                            </p:childTnLst>
                          </p:cTn>
                        </p:par>
                      </p:childTnLst>
                    </p:cTn>
                  </p:par>
                  <p:par>
                    <p:cTn id="259" fill="hold">
                      <p:stCondLst>
                        <p:cond delay="indefinite"/>
                      </p:stCondLst>
                      <p:childTnLst>
                        <p:par>
                          <p:cTn id="260" fill="hold">
                            <p:stCondLst>
                              <p:cond delay="0"/>
                            </p:stCondLst>
                            <p:childTnLst>
                              <p:par>
                                <p:cTn id="261" presetID="9" presetClass="exit" presetSubtype="0" fill="hold" grpId="1" nodeType="clickEffect">
                                  <p:stCondLst>
                                    <p:cond delay="0"/>
                                  </p:stCondLst>
                                  <p:childTnLst>
                                    <p:animEffect transition="out" filter="dissolve">
                                      <p:cBhvr>
                                        <p:cTn id="262" dur="500"/>
                                        <p:tgtEl>
                                          <p:spTgt spid="40"/>
                                        </p:tgtEl>
                                      </p:cBhvr>
                                    </p:animEffect>
                                    <p:set>
                                      <p:cBhvr>
                                        <p:cTn id="263" dur="1" fill="hold">
                                          <p:stCondLst>
                                            <p:cond delay="499"/>
                                          </p:stCondLst>
                                        </p:cTn>
                                        <p:tgtEl>
                                          <p:spTgt spid="40"/>
                                        </p:tgtEl>
                                        <p:attrNameLst>
                                          <p:attrName>style.visibility</p:attrName>
                                        </p:attrNameLst>
                                      </p:cBhvr>
                                      <p:to>
                                        <p:strVal val="hidden"/>
                                      </p:to>
                                    </p:set>
                                  </p:childTnLst>
                                </p:cTn>
                              </p:par>
                            </p:childTnLst>
                          </p:cTn>
                        </p:par>
                      </p:childTnLst>
                    </p:cTn>
                  </p:par>
                  <p:par>
                    <p:cTn id="264" fill="hold">
                      <p:stCondLst>
                        <p:cond delay="indefinite"/>
                      </p:stCondLst>
                      <p:childTnLst>
                        <p:par>
                          <p:cTn id="265" fill="hold">
                            <p:stCondLst>
                              <p:cond delay="0"/>
                            </p:stCondLst>
                            <p:childTnLst>
                              <p:par>
                                <p:cTn id="266" presetID="9" presetClass="entr" presetSubtype="0" fill="hold" grpId="0" nodeType="clickEffect">
                                  <p:stCondLst>
                                    <p:cond delay="0"/>
                                  </p:stCondLst>
                                  <p:childTnLst>
                                    <p:set>
                                      <p:cBhvr>
                                        <p:cTn id="267" dur="1" fill="hold">
                                          <p:stCondLst>
                                            <p:cond delay="0"/>
                                          </p:stCondLst>
                                        </p:cTn>
                                        <p:tgtEl>
                                          <p:spTgt spid="52"/>
                                        </p:tgtEl>
                                        <p:attrNameLst>
                                          <p:attrName>style.visibility</p:attrName>
                                        </p:attrNameLst>
                                      </p:cBhvr>
                                      <p:to>
                                        <p:strVal val="visible"/>
                                      </p:to>
                                    </p:set>
                                    <p:animEffect transition="in" filter="dissolve">
                                      <p:cBhvr>
                                        <p:cTn id="268" dur="500"/>
                                        <p:tgtEl>
                                          <p:spTgt spid="52"/>
                                        </p:tgtEl>
                                      </p:cBhvr>
                                    </p:animEffect>
                                  </p:childTnLst>
                                </p:cTn>
                              </p:par>
                            </p:childTnLst>
                          </p:cTn>
                        </p:par>
                      </p:childTnLst>
                    </p:cTn>
                  </p:par>
                  <p:par>
                    <p:cTn id="269" fill="hold">
                      <p:stCondLst>
                        <p:cond delay="indefinite"/>
                      </p:stCondLst>
                      <p:childTnLst>
                        <p:par>
                          <p:cTn id="270" fill="hold">
                            <p:stCondLst>
                              <p:cond delay="0"/>
                            </p:stCondLst>
                            <p:childTnLst>
                              <p:par>
                                <p:cTn id="271" presetID="9" presetClass="entr" presetSubtype="0" fill="hold" grpId="0" nodeType="clickEffect">
                                  <p:stCondLst>
                                    <p:cond delay="0"/>
                                  </p:stCondLst>
                                  <p:childTnLst>
                                    <p:set>
                                      <p:cBhvr>
                                        <p:cTn id="272" dur="1" fill="hold">
                                          <p:stCondLst>
                                            <p:cond delay="0"/>
                                          </p:stCondLst>
                                        </p:cTn>
                                        <p:tgtEl>
                                          <p:spTgt spid="53"/>
                                        </p:tgtEl>
                                        <p:attrNameLst>
                                          <p:attrName>style.visibility</p:attrName>
                                        </p:attrNameLst>
                                      </p:cBhvr>
                                      <p:to>
                                        <p:strVal val="visible"/>
                                      </p:to>
                                    </p:set>
                                    <p:animEffect transition="in" filter="dissolve">
                                      <p:cBhvr>
                                        <p:cTn id="273" dur="500"/>
                                        <p:tgtEl>
                                          <p:spTgt spid="53"/>
                                        </p:tgtEl>
                                      </p:cBhvr>
                                    </p:animEffect>
                                  </p:childTnLst>
                                </p:cTn>
                              </p:par>
                            </p:childTnLst>
                          </p:cTn>
                        </p:par>
                      </p:childTnLst>
                    </p:cTn>
                  </p:par>
                  <p:par>
                    <p:cTn id="274" fill="hold">
                      <p:stCondLst>
                        <p:cond delay="indefinite"/>
                      </p:stCondLst>
                      <p:childTnLst>
                        <p:par>
                          <p:cTn id="275" fill="hold">
                            <p:stCondLst>
                              <p:cond delay="0"/>
                            </p:stCondLst>
                            <p:childTnLst>
                              <p:par>
                                <p:cTn id="276" presetID="9" presetClass="entr" presetSubtype="0" fill="hold" grpId="0" nodeType="clickEffect">
                                  <p:stCondLst>
                                    <p:cond delay="0"/>
                                  </p:stCondLst>
                                  <p:childTnLst>
                                    <p:set>
                                      <p:cBhvr>
                                        <p:cTn id="277" dur="1" fill="hold">
                                          <p:stCondLst>
                                            <p:cond delay="0"/>
                                          </p:stCondLst>
                                        </p:cTn>
                                        <p:tgtEl>
                                          <p:spTgt spid="54"/>
                                        </p:tgtEl>
                                        <p:attrNameLst>
                                          <p:attrName>style.visibility</p:attrName>
                                        </p:attrNameLst>
                                      </p:cBhvr>
                                      <p:to>
                                        <p:strVal val="visible"/>
                                      </p:to>
                                    </p:set>
                                    <p:animEffect transition="in" filter="dissolve">
                                      <p:cBhvr>
                                        <p:cTn id="278" dur="500"/>
                                        <p:tgtEl>
                                          <p:spTgt spid="54"/>
                                        </p:tgtEl>
                                      </p:cBhvr>
                                    </p:animEffect>
                                  </p:childTnLst>
                                </p:cTn>
                              </p:par>
                            </p:childTnLst>
                          </p:cTn>
                        </p:par>
                      </p:childTnLst>
                    </p:cTn>
                  </p:par>
                  <p:par>
                    <p:cTn id="279" fill="hold">
                      <p:stCondLst>
                        <p:cond delay="indefinite"/>
                      </p:stCondLst>
                      <p:childTnLst>
                        <p:par>
                          <p:cTn id="280" fill="hold">
                            <p:stCondLst>
                              <p:cond delay="0"/>
                            </p:stCondLst>
                            <p:childTnLst>
                              <p:par>
                                <p:cTn id="281" presetID="9" presetClass="entr" presetSubtype="0" fill="hold" grpId="0" nodeType="clickEffect">
                                  <p:stCondLst>
                                    <p:cond delay="0"/>
                                  </p:stCondLst>
                                  <p:childTnLst>
                                    <p:set>
                                      <p:cBhvr>
                                        <p:cTn id="282" dur="1" fill="hold">
                                          <p:stCondLst>
                                            <p:cond delay="0"/>
                                          </p:stCondLst>
                                        </p:cTn>
                                        <p:tgtEl>
                                          <p:spTgt spid="55"/>
                                        </p:tgtEl>
                                        <p:attrNameLst>
                                          <p:attrName>style.visibility</p:attrName>
                                        </p:attrNameLst>
                                      </p:cBhvr>
                                      <p:to>
                                        <p:strVal val="visible"/>
                                      </p:to>
                                    </p:set>
                                    <p:animEffect transition="in" filter="dissolve">
                                      <p:cBhvr>
                                        <p:cTn id="283" dur="500"/>
                                        <p:tgtEl>
                                          <p:spTgt spid="55"/>
                                        </p:tgtEl>
                                      </p:cBhvr>
                                    </p:animEffect>
                                  </p:childTnLst>
                                </p:cTn>
                              </p:par>
                            </p:childTnLst>
                          </p:cTn>
                        </p:par>
                      </p:childTnLst>
                    </p:cTn>
                  </p:par>
                  <p:par>
                    <p:cTn id="284" fill="hold">
                      <p:stCondLst>
                        <p:cond delay="indefinite"/>
                      </p:stCondLst>
                      <p:childTnLst>
                        <p:par>
                          <p:cTn id="285" fill="hold">
                            <p:stCondLst>
                              <p:cond delay="0"/>
                            </p:stCondLst>
                            <p:childTnLst>
                              <p:par>
                                <p:cTn id="286" presetID="9" presetClass="entr" presetSubtype="0" fill="hold" nodeType="clickEffect">
                                  <p:stCondLst>
                                    <p:cond delay="0"/>
                                  </p:stCondLst>
                                  <p:childTnLst>
                                    <p:set>
                                      <p:cBhvr>
                                        <p:cTn id="287" dur="1" fill="hold">
                                          <p:stCondLst>
                                            <p:cond delay="0"/>
                                          </p:stCondLst>
                                        </p:cTn>
                                        <p:tgtEl>
                                          <p:spTgt spid="15">
                                            <p:txEl>
                                              <p:pRg st="0" end="0"/>
                                            </p:txEl>
                                          </p:spTgt>
                                        </p:tgtEl>
                                        <p:attrNameLst>
                                          <p:attrName>style.visibility</p:attrName>
                                        </p:attrNameLst>
                                      </p:cBhvr>
                                      <p:to>
                                        <p:strVal val="visible"/>
                                      </p:to>
                                    </p:set>
                                    <p:animEffect transition="in" filter="dissolve">
                                      <p:cBhvr>
                                        <p:cTn id="288" dur="500"/>
                                        <p:tgtEl>
                                          <p:spTgt spid="15">
                                            <p:txEl>
                                              <p:pRg st="0" end="0"/>
                                            </p:txEl>
                                          </p:spTgt>
                                        </p:tgtEl>
                                      </p:cBhvr>
                                    </p:animEffect>
                                  </p:childTnLst>
                                </p:cTn>
                              </p:par>
                            </p:childTnLst>
                          </p:cTn>
                        </p:par>
                      </p:childTnLst>
                    </p:cTn>
                  </p:par>
                  <p:par>
                    <p:cTn id="289" fill="hold">
                      <p:stCondLst>
                        <p:cond delay="indefinite"/>
                      </p:stCondLst>
                      <p:childTnLst>
                        <p:par>
                          <p:cTn id="290" fill="hold">
                            <p:stCondLst>
                              <p:cond delay="0"/>
                            </p:stCondLst>
                            <p:childTnLst>
                              <p:par>
                                <p:cTn id="291" presetID="9" presetClass="exit" presetSubtype="0" fill="hold" grpId="1" nodeType="clickEffect">
                                  <p:stCondLst>
                                    <p:cond delay="0"/>
                                  </p:stCondLst>
                                  <p:childTnLst>
                                    <p:animEffect transition="out" filter="dissolve">
                                      <p:cBhvr>
                                        <p:cTn id="292" dur="500"/>
                                        <p:tgtEl>
                                          <p:spTgt spid="55"/>
                                        </p:tgtEl>
                                      </p:cBhvr>
                                    </p:animEffect>
                                    <p:set>
                                      <p:cBhvr>
                                        <p:cTn id="293" dur="1" fill="hold">
                                          <p:stCondLst>
                                            <p:cond delay="499"/>
                                          </p:stCondLst>
                                        </p:cTn>
                                        <p:tgtEl>
                                          <p:spTgt spid="55"/>
                                        </p:tgtEl>
                                        <p:attrNameLst>
                                          <p:attrName>style.visibility</p:attrName>
                                        </p:attrNameLst>
                                      </p:cBhvr>
                                      <p:to>
                                        <p:strVal val="hidden"/>
                                      </p:to>
                                    </p:set>
                                  </p:childTnLst>
                                </p:cTn>
                              </p:par>
                            </p:childTnLst>
                          </p:cTn>
                        </p:par>
                      </p:childTnLst>
                    </p:cTn>
                  </p:par>
                  <p:par>
                    <p:cTn id="294" fill="hold">
                      <p:stCondLst>
                        <p:cond delay="indefinite"/>
                      </p:stCondLst>
                      <p:childTnLst>
                        <p:par>
                          <p:cTn id="295" fill="hold">
                            <p:stCondLst>
                              <p:cond delay="0"/>
                            </p:stCondLst>
                            <p:childTnLst>
                              <p:par>
                                <p:cTn id="296" presetID="9" presetClass="entr" presetSubtype="0" fill="hold" grpId="0" nodeType="clickEffect">
                                  <p:stCondLst>
                                    <p:cond delay="0"/>
                                  </p:stCondLst>
                                  <p:childTnLst>
                                    <p:set>
                                      <p:cBhvr>
                                        <p:cTn id="297" dur="1" fill="hold">
                                          <p:stCondLst>
                                            <p:cond delay="0"/>
                                          </p:stCondLst>
                                        </p:cTn>
                                        <p:tgtEl>
                                          <p:spTgt spid="57"/>
                                        </p:tgtEl>
                                        <p:attrNameLst>
                                          <p:attrName>style.visibility</p:attrName>
                                        </p:attrNameLst>
                                      </p:cBhvr>
                                      <p:to>
                                        <p:strVal val="visible"/>
                                      </p:to>
                                    </p:set>
                                    <p:animEffect transition="in" filter="dissolve">
                                      <p:cBhvr>
                                        <p:cTn id="298" dur="500"/>
                                        <p:tgtEl>
                                          <p:spTgt spid="57"/>
                                        </p:tgtEl>
                                      </p:cBhvr>
                                    </p:animEffect>
                                  </p:childTnLst>
                                </p:cTn>
                              </p:par>
                            </p:childTnLst>
                          </p:cTn>
                        </p:par>
                      </p:childTnLst>
                    </p:cTn>
                  </p:par>
                  <p:par>
                    <p:cTn id="299" fill="hold">
                      <p:stCondLst>
                        <p:cond delay="indefinite"/>
                      </p:stCondLst>
                      <p:childTnLst>
                        <p:par>
                          <p:cTn id="300" fill="hold">
                            <p:stCondLst>
                              <p:cond delay="0"/>
                            </p:stCondLst>
                            <p:childTnLst>
                              <p:par>
                                <p:cTn id="301" presetID="9" presetClass="entr" presetSubtype="0" fill="hold" grpId="0" nodeType="clickEffect">
                                  <p:stCondLst>
                                    <p:cond delay="0"/>
                                  </p:stCondLst>
                                  <p:childTnLst>
                                    <p:set>
                                      <p:cBhvr>
                                        <p:cTn id="302" dur="1" fill="hold">
                                          <p:stCondLst>
                                            <p:cond delay="0"/>
                                          </p:stCondLst>
                                        </p:cTn>
                                        <p:tgtEl>
                                          <p:spTgt spid="56"/>
                                        </p:tgtEl>
                                        <p:attrNameLst>
                                          <p:attrName>style.visibility</p:attrName>
                                        </p:attrNameLst>
                                      </p:cBhvr>
                                      <p:to>
                                        <p:strVal val="visible"/>
                                      </p:to>
                                    </p:set>
                                    <p:animEffect transition="in" filter="dissolve">
                                      <p:cBhvr>
                                        <p:cTn id="303"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2" grpId="0" animBg="1"/>
      <p:bldP spid="22" grpId="1" animBg="1"/>
      <p:bldP spid="23" grpId="0" animBg="1" build="allAtOnce"/>
      <p:bldP spid="23" grpId="1" animBg="1" build="allAtOnce"/>
      <p:bldP spid="30" grpId="0"/>
      <p:bldP spid="31" grpId="0"/>
      <p:bldP spid="32" grpId="0"/>
      <p:bldP spid="33" grpId="0"/>
      <p:bldP spid="34" grpId="0" animBg="1"/>
      <p:bldP spid="34" grpId="1" animBg="1"/>
      <p:bldP spid="35" grpId="0" animBg="1"/>
      <p:bldP spid="35" grpId="1" animBg="1"/>
      <p:bldP spid="36" grpId="0"/>
      <p:bldP spid="37" grpId="0"/>
      <p:bldP spid="38" grpId="0"/>
      <p:bldP spid="39" grpId="0"/>
      <p:bldP spid="40" grpId="0" animBg="1"/>
      <p:bldP spid="40" grpId="1" animBg="1"/>
      <p:bldP spid="41" grpId="0" animBg="1"/>
      <p:bldP spid="41" grpId="1" animBg="1"/>
      <p:bldP spid="42" grpId="0" animBg="1"/>
      <p:bldP spid="42" grpId="1" animBg="1"/>
      <p:bldP spid="46" grpId="0"/>
      <p:bldP spid="47" grpId="0"/>
      <p:bldP spid="48" grpId="0"/>
      <p:bldP spid="49" grpId="0"/>
      <p:bldP spid="50" grpId="0" animBg="1"/>
      <p:bldP spid="50" grpId="1" animBg="1"/>
      <p:bldP spid="51" grpId="0"/>
      <p:bldP spid="52" grpId="0"/>
      <p:bldP spid="53" grpId="0"/>
      <p:bldP spid="54" grpId="0"/>
      <p:bldP spid="55" grpId="0" animBg="1"/>
      <p:bldP spid="55" grpId="1" animBg="1"/>
      <p:bldP spid="56" grpId="0"/>
      <p:bldP spid="5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ts val="2900"/>
              </a:lnSpc>
              <a:spcBef>
                <a:spcPts val="0"/>
              </a:spcBef>
              <a:spcAft>
                <a:spcPts val="0"/>
              </a:spcAft>
            </a:pPr>
            <a:r>
              <a:rPr lang="zh-CN" altLang="en-US" dirty="0"/>
              <a:t>中缀表达式求值 </a:t>
            </a:r>
            <a:endParaRPr lang="zh-CN" altLang="en-US" dirty="0"/>
          </a:p>
          <a:p>
            <a:pPr marL="478155" lvl="2" indent="-342900">
              <a:lnSpc>
                <a:spcPts val="2900"/>
              </a:lnSpc>
              <a:buFont typeface="Wingdings" panose="05000000000000000000" pitchFamily="2" charset="2"/>
              <a:buChar char="Ø"/>
            </a:pPr>
            <a:r>
              <a:rPr lang="zh-CN" altLang="en-US" dirty="0"/>
              <a:t>基本策略：将中缀表达式转换为后缀表达式，然后求值 </a:t>
            </a:r>
            <a:endParaRPr lang="zh-CN" altLang="en-US" dirty="0"/>
          </a:p>
          <a:p>
            <a:pPr marL="478155" lvl="2" indent="-342900">
              <a:lnSpc>
                <a:spcPts val="2900"/>
              </a:lnSpc>
              <a:buFont typeface="Wingdings" panose="05000000000000000000" pitchFamily="2" charset="2"/>
              <a:buChar char="Ø"/>
            </a:pPr>
            <a:r>
              <a:rPr lang="zh-CN" altLang="en-US" dirty="0"/>
              <a:t>如何将中缀表达式转换为后缀？ </a:t>
            </a:r>
            <a:endParaRPr lang="zh-CN" altLang="en-US" dirty="0"/>
          </a:p>
          <a:p>
            <a:pPr lvl="2">
              <a:lnSpc>
                <a:spcPts val="2900"/>
              </a:lnSpc>
            </a:pPr>
            <a:r>
              <a:rPr lang="zh-CN" altLang="en-US" dirty="0"/>
              <a:t>观察一个简单例子： </a:t>
            </a:r>
            <a:r>
              <a:rPr lang="en-US" altLang="zh-CN" dirty="0"/>
              <a:t>3 + 4 * 5  -6     3 4 5 * + 6 – </a:t>
            </a:r>
            <a:endParaRPr lang="en-US" altLang="zh-CN" dirty="0"/>
          </a:p>
          <a:p>
            <a:pPr lvl="2">
              <a:lnSpc>
                <a:spcPts val="2900"/>
              </a:lnSpc>
            </a:pPr>
            <a:endParaRPr lang="en-US" altLang="zh-CN" dirty="0"/>
          </a:p>
          <a:p>
            <a:pPr lvl="2">
              <a:lnSpc>
                <a:spcPts val="2900"/>
              </a:lnSpc>
            </a:pPr>
            <a:r>
              <a:rPr lang="en-US" altLang="zh-CN" dirty="0"/>
              <a:t>1.</a:t>
            </a:r>
            <a:r>
              <a:rPr lang="zh-CN" altLang="en-US" dirty="0"/>
              <a:t>运算数相对顺序不变 </a:t>
            </a:r>
            <a:endParaRPr lang="zh-CN" altLang="en-US" dirty="0"/>
          </a:p>
          <a:p>
            <a:pPr lvl="2">
              <a:lnSpc>
                <a:spcPts val="2900"/>
              </a:lnSpc>
            </a:pPr>
            <a:r>
              <a:rPr lang="en-US" altLang="zh-CN" dirty="0"/>
              <a:t>2.</a:t>
            </a:r>
            <a:r>
              <a:rPr lang="zh-CN" altLang="en-US" dirty="0"/>
              <a:t>运算符号顺序发生改变 </a:t>
            </a:r>
            <a:endParaRPr lang="zh-CN" altLang="en-US" dirty="0"/>
          </a:p>
          <a:p>
            <a:pPr marL="478155" lvl="2" indent="-342900" fontAlgn="base">
              <a:lnSpc>
                <a:spcPts val="2900"/>
              </a:lnSpc>
              <a:buFont typeface="Wingdings" panose="05000000000000000000" pitchFamily="2" charset="2"/>
              <a:buChar char="Ø"/>
            </a:pPr>
            <a:r>
              <a:rPr lang="zh-CN" altLang="en-US" dirty="0"/>
              <a:t>需要存储“等待中”的运算符号 </a:t>
            </a:r>
            <a:endParaRPr lang="zh-CN" altLang="en-US" dirty="0"/>
          </a:p>
          <a:p>
            <a:pPr marL="478155" lvl="2" indent="-342900" fontAlgn="base">
              <a:lnSpc>
                <a:spcPts val="2900"/>
              </a:lnSpc>
              <a:buFont typeface="Wingdings" panose="05000000000000000000" pitchFamily="2" charset="2"/>
              <a:buChar char="Ø"/>
            </a:pPr>
            <a:r>
              <a:rPr lang="zh-CN" altLang="en-US" dirty="0"/>
              <a:t>要将当前运算符号与“等待中”的最后一个运算符号比较 </a:t>
            </a:r>
            <a:endParaRPr lang="zh-CN" altLang="en-US" dirty="0"/>
          </a:p>
        </p:txBody>
      </p:sp>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
        <p:nvSpPr>
          <p:cNvPr id="4" name="AutoShape 5"/>
          <p:cNvSpPr>
            <a:spLocks noChangeArrowheads="1"/>
          </p:cNvSpPr>
          <p:nvPr/>
        </p:nvSpPr>
        <p:spPr bwMode="auto">
          <a:xfrm>
            <a:off x="5214303" y="3118584"/>
            <a:ext cx="1150937" cy="452521"/>
          </a:xfrm>
          <a:prstGeom prst="wedgeRoundRectCallout">
            <a:avLst>
              <a:gd name="adj1" fmla="val -105373"/>
              <a:gd name="adj2" fmla="val 146270"/>
              <a:gd name="adj3" fmla="val 16667"/>
            </a:avLst>
          </a:prstGeom>
          <a:solidFill>
            <a:srgbClr val="D1F0FB"/>
          </a:solidFill>
          <a:ln w="9525" algn="ctr">
            <a:solidFill>
              <a:schemeClr val="accent1"/>
            </a:solidFill>
            <a:miter lim="800000"/>
          </a:ln>
          <a:effectLst/>
        </p:spPr>
        <p:txBody>
          <a:bodyPr/>
          <a:lstStyle/>
          <a:p>
            <a:pPr algn="ctr"/>
            <a:r>
              <a:rPr lang="zh-CN" altLang="en-US" sz="2400" dirty="0">
                <a:solidFill>
                  <a:srgbClr val="FF0000"/>
                </a:solidFill>
              </a:rPr>
              <a:t>栈</a:t>
            </a:r>
            <a:endParaRPr lang="en-US" altLang="zh-CN" sz="2400" dirty="0">
              <a:solidFill>
                <a:srgbClr val="FF0000"/>
              </a:solidFill>
            </a:endParaRPr>
          </a:p>
        </p:txBody>
      </p:sp>
      <p:sp>
        <p:nvSpPr>
          <p:cNvPr id="5" name="Rectangle 6"/>
          <p:cNvSpPr>
            <a:spLocks noChangeArrowheads="1"/>
          </p:cNvSpPr>
          <p:nvPr/>
        </p:nvSpPr>
        <p:spPr bwMode="auto">
          <a:xfrm>
            <a:off x="2548673" y="4394570"/>
            <a:ext cx="1991251" cy="400110"/>
          </a:xfrm>
          <a:prstGeom prst="rect">
            <a:avLst/>
          </a:prstGeom>
          <a:solidFill>
            <a:srgbClr val="FFFF66"/>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b="1" dirty="0">
                <a:solidFill>
                  <a:srgbClr val="FF0000"/>
                </a:solidFill>
              </a:rPr>
              <a:t>有括号怎么办？</a:t>
            </a:r>
            <a:endParaRPr lang="zh-CN" altLang="en-US"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中缀表达式如何转换为后缀表达式 </a:t>
            </a:r>
            <a:endParaRPr lang="zh-CN" altLang="en-US" dirty="0"/>
          </a:p>
          <a:p>
            <a:pPr lvl="2" algn="l"/>
            <a:r>
              <a:rPr lang="zh-CN" altLang="en-US" dirty="0">
                <a:solidFill>
                  <a:srgbClr val="FF0000"/>
                </a:solidFill>
              </a:rPr>
              <a:t>从头到尾</a:t>
            </a:r>
            <a:r>
              <a:rPr lang="zh-CN" altLang="en-US" dirty="0"/>
              <a:t>读取中缀表达式的每个对象，不同对象按不同的情况处理。 </a:t>
            </a:r>
            <a:endParaRPr lang="zh-CN" altLang="en-US" dirty="0"/>
          </a:p>
          <a:p>
            <a:pPr lvl="2" algn="l"/>
            <a:r>
              <a:rPr lang="zh-CN" altLang="en-US" dirty="0"/>
              <a:t>① 运算数：直接输出； </a:t>
            </a:r>
            <a:endParaRPr lang="zh-CN" altLang="en-US" dirty="0"/>
          </a:p>
          <a:p>
            <a:pPr lvl="2" algn="l"/>
            <a:r>
              <a:rPr lang="zh-CN" altLang="en-US" dirty="0"/>
              <a:t>② 左括号：入栈； </a:t>
            </a:r>
            <a:endParaRPr lang="zh-CN" altLang="en-US" dirty="0"/>
          </a:p>
          <a:p>
            <a:pPr lvl="2" algn="l"/>
            <a:r>
              <a:rPr lang="zh-CN" altLang="en-US" dirty="0"/>
              <a:t>③ 右括号：将栈顶的运算符弹出并输出，直到遇到左括号（出栈，不输出）； </a:t>
            </a:r>
            <a:endParaRPr lang="zh-CN" altLang="en-US" dirty="0"/>
          </a:p>
        </p:txBody>
      </p:sp>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中缀表达式如何转换为后缀表达式 </a:t>
            </a:r>
            <a:endParaRPr lang="zh-CN" altLang="en-US" dirty="0"/>
          </a:p>
          <a:p>
            <a:pPr lvl="2" algn="l"/>
            <a:r>
              <a:rPr lang="zh-CN" altLang="en-US" dirty="0"/>
              <a:t>④ 运算符： </a:t>
            </a:r>
            <a:endParaRPr lang="zh-CN" altLang="en-US" dirty="0"/>
          </a:p>
          <a:p>
            <a:pPr marL="478155" lvl="2" indent="-342900" algn="l" fontAlgn="base">
              <a:spcAft>
                <a:spcPct val="0"/>
              </a:spcAft>
              <a:buFont typeface="Wingdings" panose="05000000000000000000" pitchFamily="2" charset="2"/>
              <a:buChar char="Ø"/>
            </a:pPr>
            <a:r>
              <a:rPr lang="zh-CN" altLang="en-US" dirty="0"/>
              <a:t>若</a:t>
            </a:r>
            <a:r>
              <a:rPr lang="zh-CN" altLang="en-US" dirty="0">
                <a:solidFill>
                  <a:srgbClr val="FF0000"/>
                </a:solidFill>
              </a:rPr>
              <a:t>优先级大于栈顶运算符</a:t>
            </a:r>
            <a:r>
              <a:rPr lang="zh-CN" altLang="en-US" dirty="0"/>
              <a:t>时，则把它</a:t>
            </a:r>
            <a:r>
              <a:rPr lang="zh-CN" altLang="en-US" dirty="0">
                <a:solidFill>
                  <a:srgbClr val="FF0000"/>
                </a:solidFill>
              </a:rPr>
              <a:t>入栈</a:t>
            </a:r>
            <a:r>
              <a:rPr lang="zh-CN" altLang="en-US" dirty="0"/>
              <a:t>； </a:t>
            </a:r>
            <a:endParaRPr lang="zh-CN" altLang="en-US" dirty="0"/>
          </a:p>
          <a:p>
            <a:pPr marL="478155" lvl="2" indent="-342900" algn="l" fontAlgn="base">
              <a:spcAft>
                <a:spcPct val="0"/>
              </a:spcAft>
              <a:buFont typeface="Wingdings" panose="05000000000000000000" pitchFamily="2" charset="2"/>
              <a:buChar char="Ø"/>
            </a:pPr>
            <a:r>
              <a:rPr lang="zh-CN" altLang="en-US" dirty="0"/>
              <a:t>若</a:t>
            </a:r>
            <a:r>
              <a:rPr lang="zh-CN" altLang="en-US" dirty="0">
                <a:solidFill>
                  <a:srgbClr val="FF0000"/>
                </a:solidFill>
              </a:rPr>
              <a:t>优先级小于等于栈顶运算符</a:t>
            </a:r>
            <a:r>
              <a:rPr lang="zh-CN" altLang="en-US" dirty="0"/>
              <a:t>时，将</a:t>
            </a:r>
            <a:r>
              <a:rPr lang="zh-CN" altLang="en-US" dirty="0">
                <a:solidFill>
                  <a:srgbClr val="FF0000"/>
                </a:solidFill>
              </a:rPr>
              <a:t>栈顶运算符出栈</a:t>
            </a:r>
            <a:r>
              <a:rPr lang="zh-CN" altLang="en-US" dirty="0"/>
              <a:t>并输出；再比较新的栈顶运算符，直到该运算符大于栈顶运算符优先级为止，然后</a:t>
            </a:r>
            <a:r>
              <a:rPr lang="zh-CN" altLang="en-US" dirty="0">
                <a:solidFill>
                  <a:srgbClr val="FF0000"/>
                </a:solidFill>
              </a:rPr>
              <a:t>将该运算符入栈</a:t>
            </a:r>
            <a:r>
              <a:rPr lang="zh-CN" altLang="en-US" dirty="0"/>
              <a:t>；</a:t>
            </a:r>
            <a:endParaRPr lang="zh-CN" altLang="en-US" dirty="0"/>
          </a:p>
          <a:p>
            <a:pPr lvl="2" algn="l"/>
            <a:r>
              <a:rPr lang="zh-CN" altLang="en-US" dirty="0"/>
              <a:t>⑤ 若各对象</a:t>
            </a:r>
            <a:r>
              <a:rPr lang="zh-CN" altLang="en-US" dirty="0">
                <a:solidFill>
                  <a:srgbClr val="FF0000"/>
                </a:solidFill>
              </a:rPr>
              <a:t>处理完毕</a:t>
            </a:r>
            <a:r>
              <a:rPr lang="zh-CN" altLang="en-US" dirty="0"/>
              <a:t>，则把栈中存留的</a:t>
            </a:r>
            <a:r>
              <a:rPr lang="zh-CN" altLang="en-US" dirty="0">
                <a:solidFill>
                  <a:srgbClr val="FF0000"/>
                </a:solidFill>
              </a:rPr>
              <a:t>运算符一并输出</a:t>
            </a:r>
            <a:r>
              <a:rPr lang="zh-CN" altLang="en-US" dirty="0"/>
              <a:t>。</a:t>
            </a:r>
            <a:endParaRPr lang="en-US" altLang="zh-CN" dirty="0"/>
          </a:p>
        </p:txBody>
      </p:sp>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
        <p:nvSpPr>
          <p:cNvPr id="4" name="内容占位符 3"/>
          <p:cNvSpPr>
            <a:spLocks noGrp="1"/>
          </p:cNvSpPr>
          <p:nvPr>
            <p:ph idx="1"/>
          </p:nvPr>
        </p:nvSpPr>
        <p:spPr>
          <a:xfrm>
            <a:off x="215517" y="659407"/>
            <a:ext cx="6070651" cy="4085639"/>
          </a:xfrm>
        </p:spPr>
        <p:txBody>
          <a:bodyPr/>
          <a:lstStyle/>
          <a:p>
            <a:r>
              <a:rPr lang="en-US" altLang="zh-CN" sz="2000" dirty="0"/>
              <a:t>〖</a:t>
            </a:r>
            <a:r>
              <a:rPr lang="zh-CN" altLang="en-US" sz="2000" dirty="0"/>
              <a:t>例</a:t>
            </a:r>
            <a:r>
              <a:rPr lang="en-US" altLang="zh-CN" sz="2000" dirty="0"/>
              <a:t>〗 </a:t>
            </a:r>
            <a:r>
              <a:rPr lang="en-US" altLang="zh-CN" sz="2000" i="1" dirty="0"/>
              <a:t>3 *</a:t>
            </a:r>
            <a:r>
              <a:rPr lang="en-US" altLang="zh-CN" sz="2000" dirty="0"/>
              <a:t> (4</a:t>
            </a:r>
            <a:r>
              <a:rPr lang="en-US" altLang="zh-CN" sz="2000" i="1" dirty="0"/>
              <a:t> +</a:t>
            </a:r>
            <a:r>
              <a:rPr lang="en-US" altLang="zh-CN" sz="2000" dirty="0"/>
              <a:t>5</a:t>
            </a:r>
            <a:r>
              <a:rPr lang="en-US" altLang="zh-CN" sz="2000" i="1" dirty="0"/>
              <a:t> </a:t>
            </a:r>
            <a:r>
              <a:rPr lang="en-US" altLang="zh-CN" sz="2000" dirty="0"/>
              <a:t>) /</a:t>
            </a:r>
            <a:r>
              <a:rPr lang="zh-CN" altLang="en-US" sz="2000" dirty="0"/>
              <a:t> </a:t>
            </a:r>
            <a:r>
              <a:rPr lang="en-US" altLang="zh-CN" sz="2000" dirty="0"/>
              <a:t>6</a:t>
            </a:r>
            <a:r>
              <a:rPr lang="en-US" altLang="zh-CN" sz="2000" i="1" dirty="0"/>
              <a:t> </a:t>
            </a:r>
            <a:r>
              <a:rPr lang="en-US" altLang="zh-CN" sz="2000" dirty="0"/>
              <a:t>= ? </a:t>
            </a:r>
            <a:endParaRPr lang="zh-CN" altLang="en-US" sz="2000" dirty="0"/>
          </a:p>
        </p:txBody>
      </p:sp>
      <p:sp>
        <p:nvSpPr>
          <p:cNvPr id="6" name="Rectangle 5"/>
          <p:cNvSpPr>
            <a:spLocks noChangeArrowheads="1"/>
          </p:cNvSpPr>
          <p:nvPr/>
        </p:nvSpPr>
        <p:spPr bwMode="auto">
          <a:xfrm>
            <a:off x="3336703" y="736341"/>
            <a:ext cx="19446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i="1" dirty="0"/>
              <a:t>3 4 5 + * 6 /</a:t>
            </a:r>
            <a:endParaRPr lang="zh-CN" altLang="en-US" sz="1800" b="1" i="1" dirty="0"/>
          </a:p>
        </p:txBody>
      </p:sp>
      <p:sp>
        <p:nvSpPr>
          <p:cNvPr id="7" name="Rectangle 6" descr="编织物"/>
          <p:cNvSpPr>
            <a:spLocks noChangeArrowheads="1"/>
          </p:cNvSpPr>
          <p:nvPr/>
        </p:nvSpPr>
        <p:spPr bwMode="auto">
          <a:xfrm>
            <a:off x="410563" y="1447800"/>
            <a:ext cx="215900" cy="3168650"/>
          </a:xfrm>
          <a:prstGeom prst="rect">
            <a:avLst/>
          </a:prstGeom>
          <a:blipFill dpi="0" rotWithShape="1">
            <a:blip r:embed="rId1"/>
            <a:srcRect/>
            <a:tile tx="0" ty="0" sx="100000" sy="100000" flip="none" algn="tl"/>
          </a:blip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 name="Rectangle 7" descr="编织物"/>
          <p:cNvSpPr>
            <a:spLocks noChangeArrowheads="1"/>
          </p:cNvSpPr>
          <p:nvPr/>
        </p:nvSpPr>
        <p:spPr bwMode="auto">
          <a:xfrm>
            <a:off x="1850425" y="1447800"/>
            <a:ext cx="215900" cy="3168650"/>
          </a:xfrm>
          <a:prstGeom prst="rect">
            <a:avLst/>
          </a:prstGeom>
          <a:blipFill dpi="0" rotWithShape="1">
            <a:blip r:embed="rId1"/>
            <a:srcRect/>
            <a:tile tx="0" ty="0" sx="100000" sy="100000" flip="none" algn="tl"/>
          </a:blip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9" name="Group 8"/>
          <p:cNvGrpSpPr/>
          <p:nvPr/>
        </p:nvGrpSpPr>
        <p:grpSpPr bwMode="auto">
          <a:xfrm>
            <a:off x="1921865" y="4508507"/>
            <a:ext cx="906463" cy="338138"/>
            <a:chOff x="1156" y="3022"/>
            <a:chExt cx="571" cy="213"/>
          </a:xfrm>
        </p:grpSpPr>
        <p:sp>
          <p:nvSpPr>
            <p:cNvPr id="10" name="Rectangle 9"/>
            <p:cNvSpPr>
              <a:spLocks noChangeArrowheads="1"/>
            </p:cNvSpPr>
            <p:nvPr/>
          </p:nvSpPr>
          <p:spPr bwMode="auto">
            <a:xfrm>
              <a:off x="1428" y="3022"/>
              <a:ext cx="299"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dirty="0">
                  <a:solidFill>
                    <a:schemeClr val="accent1"/>
                  </a:solidFill>
                </a:rPr>
                <a:t>top</a:t>
              </a:r>
              <a:endParaRPr lang="zh-CN" altLang="en-US" sz="1600" b="1" dirty="0">
                <a:solidFill>
                  <a:schemeClr val="accent1"/>
                </a:solidFill>
              </a:endParaRPr>
            </a:p>
          </p:txBody>
        </p:sp>
        <p:sp>
          <p:nvSpPr>
            <p:cNvPr id="11" name="Line 10"/>
            <p:cNvSpPr>
              <a:spLocks noChangeShapeType="1"/>
            </p:cNvSpPr>
            <p:nvPr/>
          </p:nvSpPr>
          <p:spPr bwMode="auto">
            <a:xfrm flipH="1">
              <a:off x="1156" y="3203"/>
              <a:ext cx="272" cy="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600"/>
            </a:p>
          </p:txBody>
        </p:sp>
      </p:grpSp>
      <p:sp>
        <p:nvSpPr>
          <p:cNvPr id="12" name="Rectangle 12" descr="编织物"/>
          <p:cNvSpPr>
            <a:spLocks noChangeArrowheads="1"/>
          </p:cNvSpPr>
          <p:nvPr/>
        </p:nvSpPr>
        <p:spPr bwMode="auto">
          <a:xfrm>
            <a:off x="626463" y="4365625"/>
            <a:ext cx="1223962" cy="215900"/>
          </a:xfrm>
          <a:prstGeom prst="rect">
            <a:avLst/>
          </a:prstGeom>
          <a:blipFill dpi="0" rotWithShape="1">
            <a:blip r:embed="rId1"/>
            <a:srcRect/>
            <a:tile tx="0" ty="0" sx="100000" sy="100000" flip="none" algn="tl"/>
          </a:blip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 name="Rectangle 13"/>
          <p:cNvSpPr>
            <a:spLocks noChangeArrowheads="1"/>
          </p:cNvSpPr>
          <p:nvPr/>
        </p:nvSpPr>
        <p:spPr bwMode="auto">
          <a:xfrm>
            <a:off x="2990253" y="1242048"/>
            <a:ext cx="11509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1600" dirty="0"/>
              <a:t>输出</a:t>
            </a:r>
            <a:r>
              <a:rPr lang="en-US" altLang="zh-CN" sz="1600" b="1" dirty="0"/>
              <a:t>: 3</a:t>
            </a:r>
            <a:endParaRPr lang="zh-CN" altLang="en-US" sz="1600" b="1" dirty="0"/>
          </a:p>
        </p:txBody>
      </p:sp>
      <p:sp>
        <p:nvSpPr>
          <p:cNvPr id="14" name="Rectangle 14"/>
          <p:cNvSpPr>
            <a:spLocks noChangeArrowheads="1"/>
          </p:cNvSpPr>
          <p:nvPr/>
        </p:nvSpPr>
        <p:spPr bwMode="auto">
          <a:xfrm>
            <a:off x="2629891" y="1675712"/>
            <a:ext cx="2048959"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dirty="0"/>
              <a:t>输入对象</a:t>
            </a:r>
            <a:r>
              <a:rPr lang="en-US" altLang="zh-CN" sz="1600" b="1" dirty="0"/>
              <a:t>: </a:t>
            </a:r>
            <a:r>
              <a:rPr lang="en-US" altLang="zh-CN" sz="1600" b="1" i="1" dirty="0"/>
              <a:t>3 </a:t>
            </a:r>
            <a:r>
              <a:rPr lang="en-US" altLang="zh-CN" sz="1600" b="1" dirty="0"/>
              <a:t>(</a:t>
            </a:r>
            <a:r>
              <a:rPr lang="zh-CN" altLang="en-US" sz="1600" dirty="0"/>
              <a:t>操作数</a:t>
            </a:r>
            <a:r>
              <a:rPr lang="en-US" altLang="zh-CN" sz="1600" b="1" dirty="0"/>
              <a:t>)</a:t>
            </a:r>
            <a:r>
              <a:rPr lang="en-US" altLang="zh-CN" sz="1600" dirty="0"/>
              <a:t> </a:t>
            </a:r>
            <a:endParaRPr lang="en-US" altLang="zh-CN" sz="1600" dirty="0"/>
          </a:p>
        </p:txBody>
      </p:sp>
      <p:sp>
        <p:nvSpPr>
          <p:cNvPr id="15" name="Rectangle 15"/>
          <p:cNvSpPr>
            <a:spLocks noChangeArrowheads="1"/>
          </p:cNvSpPr>
          <p:nvPr/>
        </p:nvSpPr>
        <p:spPr bwMode="auto">
          <a:xfrm>
            <a:off x="4849140" y="1675712"/>
            <a:ext cx="1949224"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dirty="0"/>
              <a:t>输入对象</a:t>
            </a:r>
            <a:r>
              <a:rPr lang="en-US" altLang="zh-CN" sz="1600" b="1" dirty="0"/>
              <a:t>: </a:t>
            </a:r>
            <a:r>
              <a:rPr lang="en-US" altLang="zh-CN" sz="1600" b="1" dirty="0">
                <a:solidFill>
                  <a:srgbClr val="FF0000"/>
                </a:solidFill>
              </a:rPr>
              <a:t>*</a:t>
            </a:r>
            <a:r>
              <a:rPr lang="en-US" altLang="zh-CN" sz="1600" dirty="0"/>
              <a:t> </a:t>
            </a:r>
            <a:r>
              <a:rPr lang="en-US" altLang="zh-CN" sz="1600" b="1" dirty="0"/>
              <a:t>(</a:t>
            </a:r>
            <a:r>
              <a:rPr lang="zh-CN" altLang="en-US" sz="1600" dirty="0"/>
              <a:t>乘法</a:t>
            </a:r>
            <a:r>
              <a:rPr lang="en-US" altLang="zh-CN" sz="1600" b="1" dirty="0"/>
              <a:t>)</a:t>
            </a:r>
            <a:endParaRPr lang="zh-CN" altLang="en-US" sz="1600" b="1" dirty="0"/>
          </a:p>
        </p:txBody>
      </p:sp>
      <p:sp>
        <p:nvSpPr>
          <p:cNvPr id="16" name="Rectangle 16"/>
          <p:cNvSpPr>
            <a:spLocks noChangeArrowheads="1"/>
          </p:cNvSpPr>
          <p:nvPr/>
        </p:nvSpPr>
        <p:spPr bwMode="auto">
          <a:xfrm>
            <a:off x="2629891" y="2323412"/>
            <a:ext cx="2048959"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a:t>输入对象</a:t>
            </a:r>
            <a:r>
              <a:rPr lang="en-US" altLang="zh-CN" sz="1600" b="1"/>
              <a:t>: </a:t>
            </a:r>
            <a:r>
              <a:rPr lang="en-US" altLang="zh-CN" sz="1600" b="1">
                <a:solidFill>
                  <a:srgbClr val="FF0000"/>
                </a:solidFill>
              </a:rPr>
              <a:t>(</a:t>
            </a:r>
            <a:r>
              <a:rPr lang="en-US" altLang="zh-CN" sz="1600" b="1"/>
              <a:t> (</a:t>
            </a:r>
            <a:r>
              <a:rPr lang="zh-CN" altLang="en-US" sz="1600"/>
              <a:t>左括号</a:t>
            </a:r>
            <a:r>
              <a:rPr lang="en-US" altLang="zh-CN" sz="1600" b="1"/>
              <a:t>)</a:t>
            </a:r>
            <a:endParaRPr lang="zh-CN" altLang="en-US" sz="1600" b="1"/>
          </a:p>
        </p:txBody>
      </p:sp>
      <p:sp>
        <p:nvSpPr>
          <p:cNvPr id="17" name="Rectangle 17"/>
          <p:cNvSpPr>
            <a:spLocks noChangeArrowheads="1"/>
          </p:cNvSpPr>
          <p:nvPr/>
        </p:nvSpPr>
        <p:spPr bwMode="auto">
          <a:xfrm>
            <a:off x="4849139" y="2323412"/>
            <a:ext cx="1949227"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dirty="0"/>
              <a:t>输入对象</a:t>
            </a:r>
            <a:r>
              <a:rPr lang="en-US" altLang="zh-CN" sz="1600" b="1" dirty="0"/>
              <a:t>: </a:t>
            </a:r>
            <a:r>
              <a:rPr lang="en-US" altLang="zh-CN" sz="1600" b="1" i="1" dirty="0"/>
              <a:t>4 </a:t>
            </a:r>
            <a:r>
              <a:rPr lang="en-US" altLang="zh-CN" sz="1600" b="1" dirty="0"/>
              <a:t>(</a:t>
            </a:r>
            <a:r>
              <a:rPr lang="zh-CN" altLang="en-US" sz="1600" dirty="0"/>
              <a:t>操作数</a:t>
            </a:r>
            <a:r>
              <a:rPr lang="en-US" altLang="zh-CN" sz="1600" b="1" dirty="0"/>
              <a:t>)</a:t>
            </a:r>
            <a:endParaRPr lang="zh-CN" altLang="en-US" sz="1600" b="1" dirty="0"/>
          </a:p>
        </p:txBody>
      </p:sp>
      <p:sp>
        <p:nvSpPr>
          <p:cNvPr id="18" name="Rectangle 18"/>
          <p:cNvSpPr>
            <a:spLocks noChangeArrowheads="1"/>
          </p:cNvSpPr>
          <p:nvPr/>
        </p:nvSpPr>
        <p:spPr bwMode="auto">
          <a:xfrm>
            <a:off x="2629891" y="2948924"/>
            <a:ext cx="2073908"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a:t>输入对象</a:t>
            </a:r>
            <a:r>
              <a:rPr lang="en-US" altLang="zh-CN" sz="1600" b="1"/>
              <a:t>:  </a:t>
            </a:r>
            <a:r>
              <a:rPr lang="en-US" altLang="zh-CN" sz="1600" b="1">
                <a:solidFill>
                  <a:srgbClr val="FF0000"/>
                </a:solidFill>
              </a:rPr>
              <a:t>+</a:t>
            </a:r>
            <a:r>
              <a:rPr lang="en-US" altLang="zh-CN" sz="1600"/>
              <a:t> </a:t>
            </a:r>
            <a:r>
              <a:rPr lang="en-US" altLang="zh-CN" sz="1600" b="1"/>
              <a:t>(</a:t>
            </a:r>
            <a:r>
              <a:rPr lang="zh-CN" altLang="en-US" sz="1600"/>
              <a:t>加法</a:t>
            </a:r>
            <a:r>
              <a:rPr lang="en-US" altLang="zh-CN" sz="1600" b="1"/>
              <a:t>)</a:t>
            </a:r>
            <a:endParaRPr lang="zh-CN" altLang="en-US" sz="1600" b="1"/>
          </a:p>
        </p:txBody>
      </p:sp>
      <p:sp>
        <p:nvSpPr>
          <p:cNvPr id="19" name="Rectangle 19"/>
          <p:cNvSpPr>
            <a:spLocks noChangeArrowheads="1"/>
          </p:cNvSpPr>
          <p:nvPr/>
        </p:nvSpPr>
        <p:spPr bwMode="auto">
          <a:xfrm>
            <a:off x="4849140" y="2924303"/>
            <a:ext cx="1949225"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dirty="0"/>
              <a:t>输入对象</a:t>
            </a:r>
            <a:r>
              <a:rPr lang="en-US" altLang="zh-CN" sz="1600" b="1" dirty="0"/>
              <a:t>: </a:t>
            </a:r>
            <a:r>
              <a:rPr lang="en-US" altLang="zh-CN" sz="1600" b="1" i="1" dirty="0"/>
              <a:t>5 </a:t>
            </a:r>
            <a:r>
              <a:rPr lang="en-US" altLang="zh-CN" sz="1600" b="1" dirty="0"/>
              <a:t>(</a:t>
            </a:r>
            <a:r>
              <a:rPr lang="zh-CN" altLang="en-US" sz="1600" dirty="0"/>
              <a:t>操作数</a:t>
            </a:r>
            <a:r>
              <a:rPr lang="en-US" altLang="zh-CN" sz="1600" b="1" dirty="0"/>
              <a:t>)</a:t>
            </a:r>
            <a:endParaRPr lang="zh-CN" altLang="en-US" sz="1600" b="1" dirty="0"/>
          </a:p>
        </p:txBody>
      </p:sp>
      <p:sp>
        <p:nvSpPr>
          <p:cNvPr id="20" name="Rectangle 20"/>
          <p:cNvSpPr>
            <a:spLocks noChangeArrowheads="1"/>
          </p:cNvSpPr>
          <p:nvPr/>
        </p:nvSpPr>
        <p:spPr bwMode="auto">
          <a:xfrm>
            <a:off x="2629891" y="3568915"/>
            <a:ext cx="2073908"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dirty="0"/>
              <a:t>输入对象</a:t>
            </a:r>
            <a:r>
              <a:rPr lang="en-US" altLang="zh-CN" sz="1600" b="1" dirty="0"/>
              <a:t>: </a:t>
            </a:r>
            <a:r>
              <a:rPr lang="en-US" altLang="zh-CN" sz="1600" b="1" dirty="0">
                <a:solidFill>
                  <a:srgbClr val="FF0000"/>
                </a:solidFill>
              </a:rPr>
              <a:t>)</a:t>
            </a:r>
            <a:r>
              <a:rPr lang="en-US" altLang="zh-CN" sz="1600" b="1" dirty="0"/>
              <a:t> (</a:t>
            </a:r>
            <a:r>
              <a:rPr lang="zh-CN" altLang="en-US" sz="1600" dirty="0"/>
              <a:t>右括号</a:t>
            </a:r>
            <a:r>
              <a:rPr lang="en-US" altLang="zh-CN" sz="1600" b="1" dirty="0"/>
              <a:t>)</a:t>
            </a:r>
            <a:endParaRPr lang="zh-CN" altLang="en-US" sz="1600" b="1" dirty="0"/>
          </a:p>
        </p:txBody>
      </p:sp>
      <p:sp>
        <p:nvSpPr>
          <p:cNvPr id="21" name="Rectangle 21"/>
          <p:cNvSpPr>
            <a:spLocks noChangeArrowheads="1"/>
          </p:cNvSpPr>
          <p:nvPr/>
        </p:nvSpPr>
        <p:spPr bwMode="auto">
          <a:xfrm>
            <a:off x="4849139" y="3587316"/>
            <a:ext cx="1949225"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dirty="0"/>
              <a:t>输入对象</a:t>
            </a:r>
            <a:r>
              <a:rPr lang="en-US" altLang="zh-CN" sz="1600" b="1" dirty="0"/>
              <a:t>: </a:t>
            </a:r>
            <a:r>
              <a:rPr lang="en-US" altLang="zh-CN" sz="1600" b="1" dirty="0">
                <a:solidFill>
                  <a:srgbClr val="FF0000"/>
                </a:solidFill>
              </a:rPr>
              <a:t>/</a:t>
            </a:r>
            <a:r>
              <a:rPr lang="en-US" altLang="zh-CN" sz="1600" dirty="0"/>
              <a:t> </a:t>
            </a:r>
            <a:r>
              <a:rPr lang="en-US" altLang="zh-CN" sz="1600" b="1" dirty="0"/>
              <a:t>(</a:t>
            </a:r>
            <a:r>
              <a:rPr lang="zh-CN" altLang="en-US" sz="1600" dirty="0"/>
              <a:t>除法</a:t>
            </a:r>
            <a:r>
              <a:rPr lang="en-US" altLang="zh-CN" sz="1600" b="1" dirty="0"/>
              <a:t>)</a:t>
            </a:r>
            <a:endParaRPr lang="zh-CN" altLang="en-US" sz="1600" b="1" dirty="0"/>
          </a:p>
        </p:txBody>
      </p:sp>
      <p:sp>
        <p:nvSpPr>
          <p:cNvPr id="22" name="Rectangle 22"/>
          <p:cNvSpPr>
            <a:spLocks noChangeArrowheads="1"/>
          </p:cNvSpPr>
          <p:nvPr/>
        </p:nvSpPr>
        <p:spPr bwMode="auto">
          <a:xfrm>
            <a:off x="2629891" y="4116836"/>
            <a:ext cx="2073908" cy="338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600" dirty="0"/>
              <a:t>输入对象</a:t>
            </a:r>
            <a:r>
              <a:rPr lang="en-US" altLang="zh-CN" sz="1600" b="1" dirty="0"/>
              <a:t>: </a:t>
            </a:r>
            <a:r>
              <a:rPr lang="en-US" altLang="zh-CN" sz="1600" b="1" i="1" dirty="0"/>
              <a:t>6 </a:t>
            </a:r>
            <a:r>
              <a:rPr lang="en-US" altLang="zh-CN" sz="1600" b="1" dirty="0"/>
              <a:t>(</a:t>
            </a:r>
            <a:r>
              <a:rPr lang="zh-CN" altLang="en-US" sz="1600" dirty="0"/>
              <a:t>操作数</a:t>
            </a:r>
            <a:r>
              <a:rPr lang="en-US" altLang="zh-CN" sz="1600" b="1" dirty="0"/>
              <a:t>)</a:t>
            </a:r>
            <a:endParaRPr lang="zh-CN" altLang="en-US" sz="1600" b="1" dirty="0"/>
          </a:p>
        </p:txBody>
      </p:sp>
      <p:sp>
        <p:nvSpPr>
          <p:cNvPr id="23" name="Rectangle 25"/>
          <p:cNvSpPr>
            <a:spLocks noChangeArrowheads="1"/>
          </p:cNvSpPr>
          <p:nvPr/>
        </p:nvSpPr>
        <p:spPr bwMode="auto">
          <a:xfrm>
            <a:off x="626463" y="3500438"/>
            <a:ext cx="1223962" cy="369332"/>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800"/>
              <a:t>(</a:t>
            </a:r>
            <a:endParaRPr lang="zh-CN" altLang="en-US" sz="1800"/>
          </a:p>
        </p:txBody>
      </p:sp>
      <p:sp>
        <p:nvSpPr>
          <p:cNvPr id="24" name="Rectangle 26"/>
          <p:cNvSpPr>
            <a:spLocks noChangeArrowheads="1"/>
          </p:cNvSpPr>
          <p:nvPr/>
        </p:nvSpPr>
        <p:spPr bwMode="auto">
          <a:xfrm>
            <a:off x="4141191" y="1242048"/>
            <a:ext cx="2888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i="1"/>
              <a:t>4</a:t>
            </a:r>
            <a:endParaRPr lang="zh-CN" altLang="en-US" sz="1600" b="1" i="1"/>
          </a:p>
        </p:txBody>
      </p:sp>
      <p:sp>
        <p:nvSpPr>
          <p:cNvPr id="25" name="Rectangle 27"/>
          <p:cNvSpPr>
            <a:spLocks noChangeArrowheads="1"/>
          </p:cNvSpPr>
          <p:nvPr/>
        </p:nvSpPr>
        <p:spPr bwMode="auto">
          <a:xfrm>
            <a:off x="626463" y="3033713"/>
            <a:ext cx="1223962" cy="369332"/>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800"/>
              <a:t>+</a:t>
            </a:r>
            <a:endParaRPr lang="zh-CN" altLang="en-US" sz="1800"/>
          </a:p>
        </p:txBody>
      </p:sp>
      <p:sp>
        <p:nvSpPr>
          <p:cNvPr id="26" name="Rectangle 28"/>
          <p:cNvSpPr>
            <a:spLocks noChangeArrowheads="1"/>
          </p:cNvSpPr>
          <p:nvPr/>
        </p:nvSpPr>
        <p:spPr bwMode="auto">
          <a:xfrm>
            <a:off x="4501553" y="1242048"/>
            <a:ext cx="2888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i="1"/>
              <a:t>5</a:t>
            </a:r>
            <a:endParaRPr lang="zh-CN" altLang="en-US" sz="1600" b="1" i="1"/>
          </a:p>
        </p:txBody>
      </p:sp>
      <p:sp>
        <p:nvSpPr>
          <p:cNvPr id="27" name="Rectangle 29"/>
          <p:cNvSpPr>
            <a:spLocks noChangeArrowheads="1"/>
          </p:cNvSpPr>
          <p:nvPr/>
        </p:nvSpPr>
        <p:spPr bwMode="auto">
          <a:xfrm>
            <a:off x="5109026" y="755813"/>
            <a:ext cx="15327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00" b="1" i="1" dirty="0">
                <a:solidFill>
                  <a:srgbClr val="FF0000"/>
                </a:solidFill>
              </a:rPr>
              <a:t>T</a:t>
            </a:r>
            <a:r>
              <a:rPr lang="en-US" altLang="zh-CN" sz="1800" b="1" dirty="0">
                <a:solidFill>
                  <a:srgbClr val="FF0000"/>
                </a:solidFill>
              </a:rPr>
              <a:t>( </a:t>
            </a:r>
            <a:r>
              <a:rPr lang="en-US" altLang="zh-CN" sz="1800" b="1" i="1" dirty="0">
                <a:solidFill>
                  <a:srgbClr val="FF0000"/>
                </a:solidFill>
              </a:rPr>
              <a:t>N </a:t>
            </a:r>
            <a:r>
              <a:rPr lang="en-US" altLang="zh-CN" sz="1800" b="1" dirty="0">
                <a:solidFill>
                  <a:srgbClr val="FF0000"/>
                </a:solidFill>
              </a:rPr>
              <a:t>) = O ( </a:t>
            </a:r>
            <a:r>
              <a:rPr lang="en-US" altLang="zh-CN" sz="1800" b="1" i="1" dirty="0">
                <a:solidFill>
                  <a:srgbClr val="FF0000"/>
                </a:solidFill>
              </a:rPr>
              <a:t>N </a:t>
            </a:r>
            <a:r>
              <a:rPr lang="en-US" altLang="zh-CN" sz="1800" b="1" dirty="0">
                <a:solidFill>
                  <a:srgbClr val="FF0000"/>
                </a:solidFill>
              </a:rPr>
              <a:t>)</a:t>
            </a:r>
            <a:endParaRPr lang="zh-CN" altLang="en-US" sz="1800" b="1" dirty="0">
              <a:solidFill>
                <a:srgbClr val="FF0000"/>
              </a:solidFill>
            </a:endParaRPr>
          </a:p>
        </p:txBody>
      </p:sp>
      <p:sp>
        <p:nvSpPr>
          <p:cNvPr id="28" name="Rectangle 30"/>
          <p:cNvSpPr>
            <a:spLocks noChangeArrowheads="1"/>
          </p:cNvSpPr>
          <p:nvPr/>
        </p:nvSpPr>
        <p:spPr bwMode="auto">
          <a:xfrm>
            <a:off x="626463" y="3933825"/>
            <a:ext cx="1223962" cy="369332"/>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800"/>
              <a:t>*</a:t>
            </a:r>
            <a:endParaRPr lang="zh-CN" altLang="en-US" sz="1800"/>
          </a:p>
        </p:txBody>
      </p:sp>
      <p:sp>
        <p:nvSpPr>
          <p:cNvPr id="29" name="Rectangle 31"/>
          <p:cNvSpPr>
            <a:spLocks noChangeArrowheads="1"/>
          </p:cNvSpPr>
          <p:nvPr/>
        </p:nvSpPr>
        <p:spPr bwMode="auto">
          <a:xfrm>
            <a:off x="4790478" y="1242048"/>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a:t>+</a:t>
            </a:r>
            <a:endParaRPr lang="zh-CN" altLang="en-US" sz="1600" b="1"/>
          </a:p>
        </p:txBody>
      </p:sp>
      <p:sp>
        <p:nvSpPr>
          <p:cNvPr id="30" name="Rectangle 32"/>
          <p:cNvSpPr>
            <a:spLocks noChangeArrowheads="1"/>
          </p:cNvSpPr>
          <p:nvPr/>
        </p:nvSpPr>
        <p:spPr bwMode="auto">
          <a:xfrm>
            <a:off x="5149236" y="1278523"/>
            <a:ext cx="3365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600" b="1" i="1" dirty="0"/>
              <a:t>*</a:t>
            </a:r>
            <a:endParaRPr lang="zh-CN" altLang="en-US" sz="1600" b="1" i="1" dirty="0"/>
          </a:p>
        </p:txBody>
      </p:sp>
      <p:sp>
        <p:nvSpPr>
          <p:cNvPr id="31" name="Rectangle 33"/>
          <p:cNvSpPr>
            <a:spLocks noChangeArrowheads="1"/>
          </p:cNvSpPr>
          <p:nvPr/>
        </p:nvSpPr>
        <p:spPr bwMode="auto">
          <a:xfrm>
            <a:off x="626463" y="3933825"/>
            <a:ext cx="1223962" cy="369332"/>
          </a:xfrm>
          <a:prstGeom prst="rect">
            <a:avLst/>
          </a:prstGeom>
          <a:solidFill>
            <a:srgbClr val="FFFF66"/>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800"/>
              <a:t>/</a:t>
            </a:r>
            <a:endParaRPr lang="en-US" altLang="zh-CN" sz="1800"/>
          </a:p>
        </p:txBody>
      </p:sp>
      <p:sp>
        <p:nvSpPr>
          <p:cNvPr id="32" name="Rectangle 34"/>
          <p:cNvSpPr>
            <a:spLocks noChangeArrowheads="1"/>
          </p:cNvSpPr>
          <p:nvPr/>
        </p:nvSpPr>
        <p:spPr bwMode="auto">
          <a:xfrm>
            <a:off x="5509616" y="1242048"/>
            <a:ext cx="2888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i="1"/>
              <a:t>6</a:t>
            </a:r>
            <a:endParaRPr lang="zh-CN" altLang="en-US" sz="1600" b="1" i="1"/>
          </a:p>
        </p:txBody>
      </p:sp>
      <p:sp>
        <p:nvSpPr>
          <p:cNvPr id="33" name="Rectangle 35"/>
          <p:cNvSpPr>
            <a:spLocks noChangeArrowheads="1"/>
          </p:cNvSpPr>
          <p:nvPr/>
        </p:nvSpPr>
        <p:spPr bwMode="auto">
          <a:xfrm>
            <a:off x="5869978" y="1242048"/>
            <a:ext cx="27443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600" b="1" i="1"/>
              <a:t>/</a:t>
            </a:r>
            <a:endParaRPr lang="zh-CN" altLang="en-US" sz="1600" b="1"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nodeType="clickEffect">
                                  <p:stCondLst>
                                    <p:cond delay="0"/>
                                  </p:stCondLst>
                                  <p:childTnLst>
                                    <p:animEffect transition="out" filter="dissolve">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dissolv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dissolv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dissolv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dissolv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dissolv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dissolve">
                                      <p:cBhvr>
                                        <p:cTn id="62" dur="500"/>
                                        <p:tgtEl>
                                          <p:spTgt spid="19"/>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dissolve">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dissolve">
                                      <p:cBhvr>
                                        <p:cTn id="72" dur="500"/>
                                        <p:tgtEl>
                                          <p:spTgt spid="20"/>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xit" presetSubtype="0" fill="hold" grpId="1" nodeType="clickEffect">
                                  <p:stCondLst>
                                    <p:cond delay="0"/>
                                  </p:stCondLst>
                                  <p:childTnLst>
                                    <p:animEffect transition="out" filter="dissolve">
                                      <p:cBhvr>
                                        <p:cTn id="76" dur="500"/>
                                        <p:tgtEl>
                                          <p:spTgt spid="25"/>
                                        </p:tgtEl>
                                      </p:cBhvr>
                                    </p:animEffect>
                                    <p:set>
                                      <p:cBhvr>
                                        <p:cTn id="77" dur="1" fill="hold">
                                          <p:stCondLst>
                                            <p:cond delay="499"/>
                                          </p:stCondLst>
                                        </p:cTn>
                                        <p:tgtEl>
                                          <p:spTgt spid="25"/>
                                        </p:tgtEl>
                                        <p:attrNameLst>
                                          <p:attrName>style.visibility</p:attrName>
                                        </p:attrNameLst>
                                      </p:cBhvr>
                                      <p:to>
                                        <p:strVal val="hidden"/>
                                      </p:to>
                                    </p:set>
                                  </p:childTnLst>
                                </p:cTn>
                              </p:par>
                            </p:childTnLst>
                          </p:cTn>
                        </p:par>
                        <p:par>
                          <p:cTn id="78" fill="hold">
                            <p:stCondLst>
                              <p:cond delay="500"/>
                            </p:stCondLst>
                            <p:childTnLst>
                              <p:par>
                                <p:cTn id="79" presetID="9" presetClass="entr" presetSubtype="0"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dissolve">
                                      <p:cBhvr>
                                        <p:cTn id="81" dur="500"/>
                                        <p:tgtEl>
                                          <p:spTgt spid="29"/>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xit" presetSubtype="0" fill="hold" grpId="1" nodeType="clickEffect">
                                  <p:stCondLst>
                                    <p:cond delay="0"/>
                                  </p:stCondLst>
                                  <p:childTnLst>
                                    <p:animEffect transition="out" filter="dissolve">
                                      <p:cBhvr>
                                        <p:cTn id="85" dur="500"/>
                                        <p:tgtEl>
                                          <p:spTgt spid="23"/>
                                        </p:tgtEl>
                                      </p:cBhvr>
                                    </p:animEffect>
                                    <p:set>
                                      <p:cBhvr>
                                        <p:cTn id="86" dur="1" fill="hold">
                                          <p:stCondLst>
                                            <p:cond delay="499"/>
                                          </p:stCondLst>
                                        </p:cTn>
                                        <p:tgtEl>
                                          <p:spTgt spid="23"/>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dissolve">
                                      <p:cBhvr>
                                        <p:cTn id="91" dur="500"/>
                                        <p:tgtEl>
                                          <p:spTgt spid="21"/>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xit" presetSubtype="0" fill="hold" grpId="1" nodeType="clickEffect">
                                  <p:stCondLst>
                                    <p:cond delay="0"/>
                                  </p:stCondLst>
                                  <p:childTnLst>
                                    <p:animEffect transition="out" filter="dissolve">
                                      <p:cBhvr>
                                        <p:cTn id="95" dur="500"/>
                                        <p:tgtEl>
                                          <p:spTgt spid="28"/>
                                        </p:tgtEl>
                                      </p:cBhvr>
                                    </p:animEffect>
                                    <p:set>
                                      <p:cBhvr>
                                        <p:cTn id="96" dur="1" fill="hold">
                                          <p:stCondLst>
                                            <p:cond delay="499"/>
                                          </p:stCondLst>
                                        </p:cTn>
                                        <p:tgtEl>
                                          <p:spTgt spid="28"/>
                                        </p:tgtEl>
                                        <p:attrNameLst>
                                          <p:attrName>style.visibility</p:attrName>
                                        </p:attrNameLst>
                                      </p:cBhvr>
                                      <p:to>
                                        <p:strVal val="hidden"/>
                                      </p:to>
                                    </p:set>
                                  </p:childTnLst>
                                </p:cTn>
                              </p:par>
                            </p:childTnLst>
                          </p:cTn>
                        </p:par>
                        <p:par>
                          <p:cTn id="97" fill="hold">
                            <p:stCondLst>
                              <p:cond delay="500"/>
                            </p:stCondLst>
                            <p:childTnLst>
                              <p:par>
                                <p:cTn id="98" presetID="9" presetClass="entr" presetSubtype="0" fill="hold" grpId="0" nodeType="after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dissolve">
                                      <p:cBhvr>
                                        <p:cTn id="100" dur="500"/>
                                        <p:tgtEl>
                                          <p:spTgt spid="30"/>
                                        </p:tgtEl>
                                      </p:cBhvr>
                                    </p:animEffect>
                                  </p:childTnLst>
                                </p:cTn>
                              </p:par>
                            </p:childTnLst>
                          </p:cTn>
                        </p:par>
                      </p:childTnLst>
                    </p:cTn>
                  </p:par>
                  <p:par>
                    <p:cTn id="101" fill="hold">
                      <p:stCondLst>
                        <p:cond delay="indefinite"/>
                      </p:stCondLst>
                      <p:childTnLst>
                        <p:par>
                          <p:cTn id="102" fill="hold">
                            <p:stCondLst>
                              <p:cond delay="0"/>
                            </p:stCondLst>
                            <p:childTnLst>
                              <p:par>
                                <p:cTn id="103" presetID="9"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dissolve">
                                      <p:cBhvr>
                                        <p:cTn id="105" dur="500"/>
                                        <p:tgtEl>
                                          <p:spTgt spid="31"/>
                                        </p:tgtEl>
                                      </p:cBhvr>
                                    </p:animEffect>
                                  </p:childTnLst>
                                </p:cTn>
                              </p:par>
                            </p:childTnLst>
                          </p:cTn>
                        </p:par>
                      </p:childTnLst>
                    </p:cTn>
                  </p:par>
                  <p:par>
                    <p:cTn id="106" fill="hold">
                      <p:stCondLst>
                        <p:cond delay="indefinite"/>
                      </p:stCondLst>
                      <p:childTnLst>
                        <p:par>
                          <p:cTn id="107" fill="hold">
                            <p:stCondLst>
                              <p:cond delay="0"/>
                            </p:stCondLst>
                            <p:childTnLst>
                              <p:par>
                                <p:cTn id="108" presetID="9" presetClass="entr" presetSubtype="0" fill="hold" grpId="0" nodeType="clickEffect">
                                  <p:stCondLst>
                                    <p:cond delay="0"/>
                                  </p:stCondLst>
                                  <p:childTnLst>
                                    <p:set>
                                      <p:cBhvr>
                                        <p:cTn id="109" dur="1" fill="hold">
                                          <p:stCondLst>
                                            <p:cond delay="0"/>
                                          </p:stCondLst>
                                        </p:cTn>
                                        <p:tgtEl>
                                          <p:spTgt spid="22"/>
                                        </p:tgtEl>
                                        <p:attrNameLst>
                                          <p:attrName>style.visibility</p:attrName>
                                        </p:attrNameLst>
                                      </p:cBhvr>
                                      <p:to>
                                        <p:strVal val="visible"/>
                                      </p:to>
                                    </p:set>
                                    <p:animEffect transition="in" filter="dissolve">
                                      <p:cBhvr>
                                        <p:cTn id="110" dur="500"/>
                                        <p:tgtEl>
                                          <p:spTgt spid="22"/>
                                        </p:tgtEl>
                                      </p:cBhvr>
                                    </p:animEffect>
                                  </p:childTnLst>
                                </p:cTn>
                              </p:par>
                            </p:childTnLst>
                          </p:cTn>
                        </p:par>
                        <p:par>
                          <p:cTn id="111" fill="hold">
                            <p:stCondLst>
                              <p:cond delay="500"/>
                            </p:stCondLst>
                            <p:childTnLst>
                              <p:par>
                                <p:cTn id="112" presetID="9" presetClass="entr" presetSubtype="0" fill="hold" grpId="0" nodeType="after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dissolve">
                                      <p:cBhvr>
                                        <p:cTn id="114" dur="500"/>
                                        <p:tgtEl>
                                          <p:spTgt spid="32"/>
                                        </p:tgtEl>
                                      </p:cBhvr>
                                    </p:animEffect>
                                  </p:childTnLst>
                                </p:cTn>
                              </p:par>
                            </p:childTnLst>
                          </p:cTn>
                        </p:par>
                      </p:childTnLst>
                    </p:cTn>
                  </p:par>
                  <p:par>
                    <p:cTn id="115" fill="hold">
                      <p:stCondLst>
                        <p:cond delay="indefinite"/>
                      </p:stCondLst>
                      <p:childTnLst>
                        <p:par>
                          <p:cTn id="116" fill="hold">
                            <p:stCondLst>
                              <p:cond delay="0"/>
                            </p:stCondLst>
                            <p:childTnLst>
                              <p:par>
                                <p:cTn id="117" presetID="9" presetClass="exit" presetSubtype="0" fill="hold" grpId="1" nodeType="clickEffect">
                                  <p:stCondLst>
                                    <p:cond delay="0"/>
                                  </p:stCondLst>
                                  <p:childTnLst>
                                    <p:animEffect transition="out" filter="dissolve">
                                      <p:cBhvr>
                                        <p:cTn id="118" dur="500"/>
                                        <p:tgtEl>
                                          <p:spTgt spid="31"/>
                                        </p:tgtEl>
                                      </p:cBhvr>
                                    </p:animEffect>
                                    <p:set>
                                      <p:cBhvr>
                                        <p:cTn id="119" dur="1" fill="hold">
                                          <p:stCondLst>
                                            <p:cond delay="499"/>
                                          </p:stCondLst>
                                        </p:cTn>
                                        <p:tgtEl>
                                          <p:spTgt spid="31"/>
                                        </p:tgtEl>
                                        <p:attrNameLst>
                                          <p:attrName>style.visibility</p:attrName>
                                        </p:attrNameLst>
                                      </p:cBhvr>
                                      <p:to>
                                        <p:strVal val="hidden"/>
                                      </p:to>
                                    </p:set>
                                  </p:childTnLst>
                                </p:cTn>
                              </p:par>
                            </p:childTnLst>
                          </p:cTn>
                        </p:par>
                        <p:par>
                          <p:cTn id="120" fill="hold">
                            <p:stCondLst>
                              <p:cond delay="500"/>
                            </p:stCondLst>
                            <p:childTnLst>
                              <p:par>
                                <p:cTn id="121" presetID="9" presetClass="entr" presetSubtype="0" fill="hold" grpId="0" nodeType="afterEffect">
                                  <p:stCondLst>
                                    <p:cond delay="0"/>
                                  </p:stCondLst>
                                  <p:childTnLst>
                                    <p:set>
                                      <p:cBhvr>
                                        <p:cTn id="122" dur="1" fill="hold">
                                          <p:stCondLst>
                                            <p:cond delay="0"/>
                                          </p:stCondLst>
                                        </p:cTn>
                                        <p:tgtEl>
                                          <p:spTgt spid="33"/>
                                        </p:tgtEl>
                                        <p:attrNameLst>
                                          <p:attrName>style.visibility</p:attrName>
                                        </p:attrNameLst>
                                      </p:cBhvr>
                                      <p:to>
                                        <p:strVal val="visible"/>
                                      </p:to>
                                    </p:set>
                                    <p:animEffect transition="in" filter="dissolve">
                                      <p:cBhvr>
                                        <p:cTn id="123" dur="500"/>
                                        <p:tgtEl>
                                          <p:spTgt spid="33"/>
                                        </p:tgtEl>
                                      </p:cBhvr>
                                    </p:animEffect>
                                  </p:childTnLst>
                                </p:cTn>
                              </p:par>
                              <p:par>
                                <p:cTn id="124" presetID="9" presetClass="entr" presetSubtype="0" fill="hold" nodeType="withEffect">
                                  <p:stCondLst>
                                    <p:cond delay="0"/>
                                  </p:stCondLst>
                                  <p:childTnLst>
                                    <p:set>
                                      <p:cBhvr>
                                        <p:cTn id="125" dur="1" fill="hold">
                                          <p:stCondLst>
                                            <p:cond delay="0"/>
                                          </p:stCondLst>
                                        </p:cTn>
                                        <p:tgtEl>
                                          <p:spTgt spid="9"/>
                                        </p:tgtEl>
                                        <p:attrNameLst>
                                          <p:attrName>style.visibility</p:attrName>
                                        </p:attrNameLst>
                                      </p:cBhvr>
                                      <p:to>
                                        <p:strVal val="visible"/>
                                      </p:to>
                                    </p:set>
                                    <p:animEffect transition="in" filter="dissolve">
                                      <p:cBhvr>
                                        <p:cTn id="126" dur="500"/>
                                        <p:tgtEl>
                                          <p:spTgt spid="9"/>
                                        </p:tgtEl>
                                      </p:cBhvr>
                                    </p:animEffect>
                                  </p:childTnLst>
                                </p:cTn>
                              </p:par>
                            </p:childTnLst>
                          </p:cTn>
                        </p:par>
                      </p:childTnLst>
                    </p:cTn>
                  </p:par>
                  <p:par>
                    <p:cTn id="127" fill="hold">
                      <p:stCondLst>
                        <p:cond delay="indefinite"/>
                      </p:stCondLst>
                      <p:childTnLst>
                        <p:par>
                          <p:cTn id="128" fill="hold">
                            <p:stCondLst>
                              <p:cond delay="0"/>
                            </p:stCondLst>
                            <p:childTnLst>
                              <p:par>
                                <p:cTn id="129" presetID="9" presetClass="entr" presetSubtype="0" fill="hold" grpId="0" nodeType="clickEffect">
                                  <p:stCondLst>
                                    <p:cond delay="0"/>
                                  </p:stCondLst>
                                  <p:childTnLst>
                                    <p:set>
                                      <p:cBhvr>
                                        <p:cTn id="130" dur="1" fill="hold">
                                          <p:stCondLst>
                                            <p:cond delay="0"/>
                                          </p:stCondLst>
                                        </p:cTn>
                                        <p:tgtEl>
                                          <p:spTgt spid="27"/>
                                        </p:tgtEl>
                                        <p:attrNameLst>
                                          <p:attrName>style.visibility</p:attrName>
                                        </p:attrNameLst>
                                      </p:cBhvr>
                                      <p:to>
                                        <p:strVal val="visible"/>
                                      </p:to>
                                    </p:set>
                                    <p:animEffect transition="in" filter="dissolve">
                                      <p:cBhvr>
                                        <p:cTn id="13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3" grpId="1" animBg="1"/>
      <p:bldP spid="24" grpId="0"/>
      <p:bldP spid="25" grpId="0" animBg="1"/>
      <p:bldP spid="25" grpId="1" animBg="1"/>
      <p:bldP spid="26" grpId="0"/>
      <p:bldP spid="27" grpId="0"/>
      <p:bldP spid="28" grpId="0" animBg="1"/>
      <p:bldP spid="28" grpId="1" animBg="1"/>
      <p:bldP spid="29" grpId="0"/>
      <p:bldP spid="30" grpId="0"/>
      <p:bldP spid="31" grpId="0" animBg="1"/>
      <p:bldP spid="31" grpId="1" animBg="1"/>
      <p:bldP spid="32" grpId="0"/>
      <p:bldP spid="3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不同运算符优先级的设置：</a:t>
            </a:r>
            <a:endParaRPr lang="en-US" altLang="zh-CN" dirty="0"/>
          </a:p>
          <a:p>
            <a:pPr marL="478155" lvl="2" indent="-342900" fontAlgn="base">
              <a:spcAft>
                <a:spcPct val="0"/>
              </a:spcAft>
              <a:buFont typeface="Wingdings" panose="05000000000000000000" pitchFamily="2" charset="2"/>
              <a:buChar char="Ø"/>
            </a:pPr>
            <a:r>
              <a:rPr lang="zh-CN" altLang="en-US" dirty="0"/>
              <a:t>可以用一个数来代表运算符的优先级</a:t>
            </a:r>
            <a:endParaRPr lang="zh-CN" altLang="en-US" dirty="0"/>
          </a:p>
          <a:p>
            <a:pPr marL="478155" lvl="2" indent="-342900" fontAlgn="base">
              <a:spcAft>
                <a:spcPct val="0"/>
              </a:spcAft>
              <a:buFont typeface="Wingdings" panose="05000000000000000000" pitchFamily="2" charset="2"/>
              <a:buChar char="Ø"/>
            </a:pPr>
            <a:r>
              <a:rPr lang="zh-CN" altLang="en-US" dirty="0"/>
              <a:t>数值越大，表示优先级越高</a:t>
            </a:r>
            <a:endParaRPr lang="zh-CN" altLang="en-US" dirty="0"/>
          </a:p>
          <a:p>
            <a:pPr marL="478155" lvl="2" indent="-342900" fontAlgn="base">
              <a:spcAft>
                <a:spcPct val="0"/>
              </a:spcAft>
              <a:buFont typeface="Wingdings" panose="05000000000000000000" pitchFamily="2" charset="2"/>
              <a:buChar char="Ø"/>
            </a:pPr>
            <a:r>
              <a:rPr lang="zh-CN" altLang="en-US" dirty="0"/>
              <a:t>优先级的比较就转换为两个数大小的比较</a:t>
            </a:r>
            <a:endParaRPr lang="zh-CN" altLang="en-US" dirty="0"/>
          </a:p>
          <a:p>
            <a:pPr lvl="2" fontAlgn="base">
              <a:spcAft>
                <a:spcPct val="0"/>
              </a:spcAft>
              <a:buFont typeface="Wingdings" panose="05000000000000000000" pitchFamily="2" charset="2"/>
            </a:pPr>
            <a:endParaRPr lang="en-US" altLang="zh-CN" dirty="0"/>
          </a:p>
          <a:p>
            <a:pPr lvl="2" fontAlgn="base">
              <a:spcAft>
                <a:spcPct val="0"/>
              </a:spcAft>
              <a:buFont typeface="Wingdings" panose="05000000000000000000" pitchFamily="2" charset="2"/>
            </a:pPr>
            <a:r>
              <a:rPr lang="zh-CN" altLang="en-US" dirty="0"/>
              <a:t>编译原理：文法分析</a:t>
            </a:r>
            <a:endParaRPr lang="en-US" altLang="zh-CN" dirty="0"/>
          </a:p>
          <a:p>
            <a:pPr lvl="2" algn="l"/>
            <a:endParaRPr lang="zh-CN" altLang="en-US" dirty="0"/>
          </a:p>
        </p:txBody>
      </p:sp>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栈的其他应用： </a:t>
            </a:r>
            <a:endParaRPr lang="en-US" altLang="zh-CN" dirty="0"/>
          </a:p>
          <a:p>
            <a:pPr marL="478155" lvl="2" indent="-342900" fontAlgn="base">
              <a:spcAft>
                <a:spcPct val="0"/>
              </a:spcAft>
              <a:buFont typeface="Wingdings" panose="05000000000000000000" pitchFamily="2" charset="2"/>
              <a:buChar char="Ø"/>
            </a:pPr>
            <a:r>
              <a:rPr lang="zh-CN" altLang="en-US" dirty="0"/>
              <a:t>函数调用及递归实现 </a:t>
            </a:r>
            <a:endParaRPr lang="zh-CN" altLang="en-US" dirty="0"/>
          </a:p>
          <a:p>
            <a:pPr marL="478155" lvl="2" indent="-342900" fontAlgn="base">
              <a:spcAft>
                <a:spcPct val="0"/>
              </a:spcAft>
              <a:buFont typeface="Wingdings" panose="05000000000000000000" pitchFamily="2" charset="2"/>
              <a:buChar char="Ø"/>
            </a:pPr>
            <a:r>
              <a:rPr lang="zh-CN" altLang="en-US" dirty="0"/>
              <a:t>深度优先搜索 </a:t>
            </a:r>
            <a:endParaRPr lang="zh-CN" altLang="en-US" dirty="0"/>
          </a:p>
          <a:p>
            <a:pPr marL="478155" lvl="2" indent="-342900" fontAlgn="base">
              <a:spcAft>
                <a:spcPct val="0"/>
              </a:spcAft>
              <a:buFont typeface="Wingdings" panose="05000000000000000000" pitchFamily="2" charset="2"/>
              <a:buChar char="Ø"/>
            </a:pPr>
            <a:r>
              <a:rPr lang="zh-CN" altLang="en-US" dirty="0"/>
              <a:t>回溯算法 </a:t>
            </a:r>
            <a:endParaRPr lang="zh-CN" altLang="en-US" dirty="0"/>
          </a:p>
          <a:p>
            <a:pPr marL="478155" lvl="2" indent="-342900" fontAlgn="base">
              <a:spcAft>
                <a:spcPct val="0"/>
              </a:spcAft>
              <a:buFont typeface="Wingdings" panose="05000000000000000000" pitchFamily="2" charset="2"/>
              <a:buChar char="Ø"/>
            </a:pPr>
            <a:r>
              <a:rPr lang="en-US" altLang="zh-CN" dirty="0"/>
              <a:t>…… </a:t>
            </a:r>
            <a:endParaRPr lang="en-US" altLang="zh-CN" dirty="0"/>
          </a:p>
          <a:p>
            <a:pPr lvl="2" algn="l"/>
            <a:endParaRPr lang="zh-CN" altLang="en-US" dirty="0"/>
          </a:p>
        </p:txBody>
      </p:sp>
      <p:sp>
        <p:nvSpPr>
          <p:cNvPr id="3" name="标题 2"/>
          <p:cNvSpPr>
            <a:spLocks noGrp="1"/>
          </p:cNvSpPr>
          <p:nvPr>
            <p:ph type="title"/>
          </p:nvPr>
        </p:nvSpPr>
        <p:spPr/>
        <p:txBody>
          <a:bodyPr/>
          <a:lstStyle/>
          <a:p>
            <a:r>
              <a:rPr lang="en-US" altLang="zh-CN" dirty="0"/>
              <a:t>3.2 </a:t>
            </a:r>
            <a:r>
              <a:rPr lang="zh-CN" altLang="en-US" dirty="0"/>
              <a:t>栈的应用</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1800" dirty="0"/>
              <a:t>     </a:t>
            </a:r>
            <a:r>
              <a:rPr lang="zh-CN" altLang="en-US" dirty="0"/>
              <a:t>栈非常重要的一个应用是在程序设计语言中用来实现函数调用。</a:t>
            </a:r>
            <a:r>
              <a:rPr lang="zh-CN" altLang="en-US" dirty="0">
                <a:solidFill>
                  <a:srgbClr val="FF0000"/>
                </a:solidFill>
              </a:rPr>
              <a:t>递归</a:t>
            </a:r>
            <a:r>
              <a:rPr lang="zh-CN" altLang="en-US" dirty="0"/>
              <a:t>是指在定义自身的同时又出现了对自身的调用。</a:t>
            </a:r>
            <a:endParaRPr lang="en-US" altLang="zh-CN" dirty="0"/>
          </a:p>
          <a:p>
            <a:pPr marL="478155" lvl="2" indent="-342900">
              <a:buFont typeface="Wingdings" panose="05000000000000000000" pitchFamily="2" charset="2"/>
              <a:buChar char="Ø"/>
            </a:pPr>
            <a:r>
              <a:rPr lang="zh-CN" altLang="en-US" dirty="0"/>
              <a:t>直接递归函数</a:t>
            </a:r>
            <a:endParaRPr lang="en-US" altLang="zh-CN" dirty="0"/>
          </a:p>
          <a:p>
            <a:pPr marL="478155" lvl="2" indent="-342900">
              <a:buFont typeface="Wingdings" panose="05000000000000000000" pitchFamily="2" charset="2"/>
              <a:buChar char="Ø"/>
            </a:pPr>
            <a:r>
              <a:rPr lang="zh-CN" altLang="en-US" dirty="0"/>
              <a:t>间接递归函数</a:t>
            </a:r>
            <a:endParaRPr lang="zh-CN" altLang="en-US" dirty="0"/>
          </a:p>
          <a:p>
            <a:pPr marL="0" lvl="2">
              <a:buFont typeface="Wingdings" panose="05000000000000000000" pitchFamily="2" charset="2"/>
            </a:pPr>
            <a:r>
              <a:rPr lang="zh-CN" altLang="en-US">
                <a:solidFill>
                  <a:srgbClr val="800000"/>
                </a:solidFill>
                <a:effectLst/>
                <a:latin typeface="Times New Roman" panose="02020603050405020304" pitchFamily="18" charset="0"/>
                <a:ea typeface="黑体" panose="02010609060101010101" pitchFamily="49" charset="-122"/>
                <a:sym typeface="+mn-ea"/>
              </a:rPr>
              <a:t>递归一般采用</a:t>
            </a:r>
            <a:r>
              <a:rPr lang="zh-CN" altLang="en-US">
                <a:solidFill>
                  <a:srgbClr val="FF0000"/>
                </a:solidFill>
                <a:effectLst/>
                <a:latin typeface="Times New Roman" panose="02020603050405020304" pitchFamily="18" charset="0"/>
                <a:ea typeface="黑体" panose="02010609060101010101" pitchFamily="49" charset="-122"/>
                <a:sym typeface="+mn-ea"/>
              </a:rPr>
              <a:t>分治法</a:t>
            </a:r>
            <a:r>
              <a:rPr lang="zh-CN" altLang="en-US">
                <a:solidFill>
                  <a:srgbClr val="800000"/>
                </a:solidFill>
                <a:effectLst/>
                <a:latin typeface="Times New Roman" panose="02020603050405020304" pitchFamily="18" charset="0"/>
                <a:ea typeface="黑体" panose="02010609060101010101" pitchFamily="49" charset="-122"/>
                <a:sym typeface="+mn-ea"/>
              </a:rPr>
              <a:t>的算法思想。</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6052" y="453624"/>
            <a:ext cx="6070651" cy="4085639"/>
          </a:xfrm>
        </p:spPr>
        <p:txBody>
          <a:bodyPr/>
          <a:lstStyle/>
          <a:p>
            <a:r>
              <a:rPr sz="2000">
                <a:sym typeface="+mn-ea"/>
              </a:rPr>
              <a:t>栈非常重要的一个应用是在程序设计语言中用来实现函数调用。</a:t>
            </a:r>
            <a:endParaRPr lang="en-US" altLang="zh-CN" dirty="0"/>
          </a:p>
          <a:p>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graphicFrame>
        <p:nvGraphicFramePr>
          <p:cNvPr id="4" name="表格 3"/>
          <p:cNvGraphicFramePr>
            <a:graphicFrameLocks noGrp="1"/>
          </p:cNvGraphicFramePr>
          <p:nvPr/>
        </p:nvGraphicFramePr>
        <p:xfrm>
          <a:off x="1269208" y="1343431"/>
          <a:ext cx="1997869" cy="3188494"/>
        </p:xfrm>
        <a:graphic>
          <a:graphicData uri="http://schemas.openxmlformats.org/drawingml/2006/table">
            <a:tbl>
              <a:tblPr/>
              <a:tblGrid>
                <a:gridCol w="1997869"/>
              </a:tblGrid>
              <a:tr h="432197">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代码区</a:t>
                      </a:r>
                      <a:endParaRPr kumimoji="0" 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L="68580" marR="68580" marT="34290" marB="34290"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432197">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常量存储</a:t>
                      </a:r>
                      <a:r>
                        <a:rPr kumimoji="0" 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区</a:t>
                      </a:r>
                      <a:endParaRPr kumimoji="0" 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L="68580" marR="68580" marT="34290" marB="34290"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bevel/>
                      <a:headEnd type="none" w="med" len="med"/>
                      <a:tailEnd type="none" w="med" len="med"/>
                    </a:lnB>
                    <a:lnTlToBr>
                      <a:noFill/>
                    </a:lnTlToBr>
                    <a:lnBlToTr>
                      <a:noFill/>
                    </a:lnBlToTr>
                    <a:solidFill>
                      <a:srgbClr val="FFFFFF"/>
                    </a:solidFill>
                  </a:tcPr>
                </a:tc>
              </a:tr>
              <a:tr h="432197">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静态存储</a:t>
                      </a:r>
                      <a:r>
                        <a:rPr kumimoji="0" 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区</a:t>
                      </a:r>
                      <a:endParaRPr kumimoji="0" 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L="68580" marR="68580" marT="34290" marB="34290"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bevel/>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31006">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堆（</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heap)</a:t>
                      </a:r>
                      <a:endParaRPr kumimoji="0" 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L="68580" marR="68580" marT="34290" marB="34290"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r>
              <a:tr h="1028700">
                <a:tc>
                  <a:txBody>
                    <a:bodyPr/>
                    <a:lstStyle/>
                    <a:p>
                      <a:pPr marL="0" marR="0" lvl="0" indent="0" algn="ctr" defTabSz="0" rtl="0" eaLnBrk="1" fontAlgn="base" latinLnBrk="0" hangingPunct="1">
                        <a:lnSpc>
                          <a:spcPct val="100000"/>
                        </a:lnSpc>
                        <a:spcBef>
                          <a:spcPct val="0"/>
                        </a:spcBef>
                        <a:spcAft>
                          <a:spcPct val="0"/>
                        </a:spcAft>
                        <a:buClrTx/>
                        <a:buSzTx/>
                        <a:buFontTx/>
                        <a:buNone/>
                      </a:pPr>
                      <a:endParaRPr kumimoji="0" lang="en-US"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ctr" defTabSz="0" rtl="0" eaLnBrk="1" fontAlgn="base" latinLnBrk="0" hangingPunct="1">
                        <a:lnSpc>
                          <a:spcPct val="100000"/>
                        </a:lnSpc>
                        <a:spcBef>
                          <a:spcPct val="0"/>
                        </a:spcBef>
                        <a:spcAft>
                          <a:spcPct val="0"/>
                        </a:spcAft>
                        <a:buClrTx/>
                        <a:buSzTx/>
                        <a:buFontTx/>
                        <a:buNone/>
                      </a:pPr>
                      <a:endParaRPr kumimoji="0" lang="en-US"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ctr" defTabSz="0" rtl="0" eaLnBrk="1" fontAlgn="base" latinLnBrk="0" hangingPunct="1">
                        <a:lnSpc>
                          <a:spcPct val="100000"/>
                        </a:lnSpc>
                        <a:spcBef>
                          <a:spcPct val="0"/>
                        </a:spcBef>
                        <a:spcAft>
                          <a:spcPct val="0"/>
                        </a:spcAft>
                        <a:buClrTx/>
                        <a:buSzTx/>
                        <a:buFontTx/>
                        <a:buNone/>
                      </a:pPr>
                      <a:endParaRPr kumimoji="0" 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r>
              <a:tr h="432197">
                <a:tc>
                  <a:txBody>
                    <a:bodyPr/>
                    <a:lstStyle/>
                    <a:p>
                      <a:pPr marL="0" marR="0" lvl="0" indent="0" algn="ctr" defTabSz="0" rtl="0" eaLnBrk="1" fontAlgn="base" latinLnBrk="0" hangingPunct="1">
                        <a:lnSpc>
                          <a:spcPct val="100000"/>
                        </a:lnSpc>
                        <a:spcBef>
                          <a:spcPct val="0"/>
                        </a:spcBef>
                        <a:spcAft>
                          <a:spcPct val="0"/>
                        </a:spcAft>
                        <a:buClrTx/>
                        <a:buSzTx/>
                        <a:buFontTx/>
                        <a:buNone/>
                        <a:defRPr/>
                      </a:pPr>
                      <a:r>
                        <a:rPr kumimoji="0" lang="zh-CN"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sym typeface="Times New Roman" panose="02020603050405020304" pitchFamily="18" charset="0"/>
                        </a:rPr>
                        <a:t>栈</a:t>
                      </a:r>
                      <a:r>
                        <a:rPr kumimoji="0" lang="zh-CN" altLang="en-US"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sym typeface="Times New Roman" panose="02020603050405020304" pitchFamily="18" charset="0"/>
                        </a:rPr>
                        <a:t>（</a:t>
                      </a:r>
                      <a:r>
                        <a:rPr kumimoji="0" lang="en-US"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sym typeface="Times New Roman" panose="02020603050405020304" pitchFamily="18" charset="0"/>
                        </a:rPr>
                        <a:t>stack</a:t>
                      </a:r>
                      <a:r>
                        <a:rPr kumimoji="0" lang="zh-CN" altLang="en-US"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sym typeface="Times New Roman" panose="02020603050405020304" pitchFamily="18" charset="0"/>
                        </a:rPr>
                        <a:t>）</a:t>
                      </a:r>
                      <a:endParaRPr kumimoji="0" lang="zh-CN"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L="68580" marR="68580" marT="34290" marB="34290" horzOverflow="overflow">
                    <a:lnL w="12700" cap="flat" cmpd="sng" algn="ctr">
                      <a:solidFill>
                        <a:schemeClr val="tx1"/>
                      </a:solidFill>
                      <a:prstDash val="solid"/>
                      <a:bevel/>
                      <a:headEnd type="none" w="med" len="med"/>
                      <a:tailEnd type="none" w="med" len="med"/>
                    </a:lnL>
                    <a:lnR w="12700" cap="flat" cmpd="sng" algn="ctr">
                      <a:solidFill>
                        <a:schemeClr val="tx1"/>
                      </a:solidFill>
                      <a:prstDash val="solid"/>
                      <a:bevel/>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r>
            </a:tbl>
          </a:graphicData>
        </a:graphic>
      </p:graphicFrame>
      <p:cxnSp>
        <p:nvCxnSpPr>
          <p:cNvPr id="5" name="直接箭头连接符 4"/>
          <p:cNvCxnSpPr>
            <a:cxnSpLocks noChangeShapeType="1"/>
          </p:cNvCxnSpPr>
          <p:nvPr/>
        </p:nvCxnSpPr>
        <p:spPr bwMode="auto">
          <a:xfrm>
            <a:off x="2187180" y="3071029"/>
            <a:ext cx="0" cy="325040"/>
          </a:xfrm>
          <a:prstGeom prst="straightConnector1">
            <a:avLst/>
          </a:prstGeom>
          <a:noFill/>
          <a:ln w="38100"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6" name="直接箭头连接符 9"/>
          <p:cNvCxnSpPr>
            <a:cxnSpLocks noChangeShapeType="1"/>
          </p:cNvCxnSpPr>
          <p:nvPr/>
        </p:nvCxnSpPr>
        <p:spPr bwMode="auto">
          <a:xfrm flipV="1">
            <a:off x="2187180" y="3773497"/>
            <a:ext cx="0" cy="323850"/>
          </a:xfrm>
          <a:prstGeom prst="straightConnector1">
            <a:avLst/>
          </a:prstGeom>
          <a:noFill/>
          <a:ln w="38100" algn="ctr">
            <a:solidFill>
              <a:schemeClr val="tx1"/>
            </a:solidFill>
            <a:round/>
            <a:tailEnd type="arrow" w="med" len="med"/>
          </a:ln>
          <a:extLst>
            <a:ext uri="{909E8E84-426E-40DD-AFC4-6F175D3DCCD1}">
              <a14:hiddenFill xmlns:a14="http://schemas.microsoft.com/office/drawing/2010/main">
                <a:noFill/>
              </a14:hiddenFill>
            </a:ext>
          </a:extLst>
        </p:spPr>
      </p:cxnSp>
      <p:sp>
        <p:nvSpPr>
          <p:cNvPr id="7" name="TextBox 11"/>
          <p:cNvSpPr txBox="1">
            <a:spLocks noChangeArrowheads="1"/>
          </p:cNvSpPr>
          <p:nvPr/>
        </p:nvSpPr>
        <p:spPr bwMode="auto">
          <a:xfrm>
            <a:off x="1566573" y="974099"/>
            <a:ext cx="15792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dirty="0"/>
              <a:t>内存低地址端</a:t>
            </a:r>
            <a:endParaRPr lang="zh-CN" altLang="en-US" sz="1800" b="1" dirty="0"/>
          </a:p>
        </p:txBody>
      </p:sp>
      <p:sp>
        <p:nvSpPr>
          <p:cNvPr id="8" name="TextBox 12"/>
          <p:cNvSpPr txBox="1">
            <a:spLocks noChangeArrowheads="1"/>
          </p:cNvSpPr>
          <p:nvPr/>
        </p:nvSpPr>
        <p:spPr bwMode="auto">
          <a:xfrm>
            <a:off x="1417518" y="4622475"/>
            <a:ext cx="15792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dirty="0"/>
              <a:t>内存高地址端</a:t>
            </a:r>
            <a:endParaRPr lang="zh-CN" altLang="en-US" sz="1800" b="1" dirty="0"/>
          </a:p>
        </p:txBody>
      </p:sp>
      <p:sp>
        <p:nvSpPr>
          <p:cNvPr id="9" name="左大括号 13"/>
          <p:cNvSpPr/>
          <p:nvPr/>
        </p:nvSpPr>
        <p:spPr bwMode="auto">
          <a:xfrm>
            <a:off x="1052514" y="1505357"/>
            <a:ext cx="161925" cy="594122"/>
          </a:xfrm>
          <a:prstGeom prst="leftBrace">
            <a:avLst>
              <a:gd name="adj1" fmla="val 8340"/>
              <a:gd name="adj2" fmla="val 50000"/>
            </a:avLst>
          </a:prstGeom>
          <a:solidFill>
            <a:schemeClr val="bg1"/>
          </a:solidFill>
          <a:ln w="38100" algn="ctr">
            <a:solidFill>
              <a:schemeClr val="tx1"/>
            </a:solidFill>
            <a:rou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p>
        </p:txBody>
      </p:sp>
      <p:sp>
        <p:nvSpPr>
          <p:cNvPr id="10" name="左大括号 14"/>
          <p:cNvSpPr/>
          <p:nvPr/>
        </p:nvSpPr>
        <p:spPr bwMode="auto">
          <a:xfrm>
            <a:off x="998936" y="2855525"/>
            <a:ext cx="215503" cy="1458516"/>
          </a:xfrm>
          <a:prstGeom prst="leftBrace">
            <a:avLst>
              <a:gd name="adj1" fmla="val 8366"/>
              <a:gd name="adj2" fmla="val 50000"/>
            </a:avLst>
          </a:prstGeom>
          <a:solidFill>
            <a:schemeClr val="bg1"/>
          </a:solidFill>
          <a:ln w="38100" algn="ctr">
            <a:solidFill>
              <a:schemeClr val="tx1"/>
            </a:solidFill>
            <a:rou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p>
        </p:txBody>
      </p:sp>
      <p:sp>
        <p:nvSpPr>
          <p:cNvPr id="11" name="TextBox 16"/>
          <p:cNvSpPr txBox="1">
            <a:spLocks noChangeArrowheads="1"/>
          </p:cNvSpPr>
          <p:nvPr/>
        </p:nvSpPr>
        <p:spPr bwMode="auto">
          <a:xfrm>
            <a:off x="270273" y="1505357"/>
            <a:ext cx="83700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只读</a:t>
            </a:r>
            <a:endParaRPr lang="en-US" altLang="zh-CN" sz="1800" b="1"/>
          </a:p>
          <a:p>
            <a:pPr algn="ctr" eaLnBrk="1" hangingPunct="1">
              <a:spcBef>
                <a:spcPct val="0"/>
              </a:spcBef>
              <a:buFontTx/>
              <a:buNone/>
            </a:pPr>
            <a:r>
              <a:rPr lang="zh-CN" altLang="en-US" sz="1800" b="1"/>
              <a:t>存储区</a:t>
            </a:r>
            <a:endParaRPr lang="zh-CN" altLang="en-US" sz="1800" b="1"/>
          </a:p>
        </p:txBody>
      </p:sp>
      <p:sp>
        <p:nvSpPr>
          <p:cNvPr id="12" name="TextBox 17"/>
          <p:cNvSpPr txBox="1">
            <a:spLocks noChangeArrowheads="1"/>
          </p:cNvSpPr>
          <p:nvPr/>
        </p:nvSpPr>
        <p:spPr bwMode="auto">
          <a:xfrm>
            <a:off x="215505" y="3287723"/>
            <a:ext cx="83700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动态</a:t>
            </a:r>
            <a:endParaRPr lang="en-US" altLang="zh-CN" sz="1800" b="1"/>
          </a:p>
          <a:p>
            <a:pPr algn="ctr" eaLnBrk="1" hangingPunct="1">
              <a:spcBef>
                <a:spcPct val="0"/>
              </a:spcBef>
              <a:buFontTx/>
              <a:buNone/>
            </a:pPr>
            <a:r>
              <a:rPr lang="zh-CN" altLang="en-US" sz="1800" b="1"/>
              <a:t>存储区</a:t>
            </a:r>
            <a:endParaRPr lang="zh-CN" altLang="en-US" sz="1800" b="1"/>
          </a:p>
        </p:txBody>
      </p:sp>
      <p:sp>
        <p:nvSpPr>
          <p:cNvPr id="13" name="TextBox 4"/>
          <p:cNvSpPr>
            <a:spLocks noChangeArrowheads="1"/>
          </p:cNvSpPr>
          <p:nvPr/>
        </p:nvSpPr>
        <p:spPr bwMode="auto">
          <a:xfrm>
            <a:off x="3990976" y="2238781"/>
            <a:ext cx="2732485" cy="369332"/>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a:solidFill>
                  <a:srgbClr val="000000"/>
                </a:solidFill>
                <a:sym typeface="Times New Roman" panose="02020603050405020304" pitchFamily="18" charset="0"/>
              </a:rPr>
              <a:t>全局变量、静态局部变量</a:t>
            </a:r>
            <a:endParaRPr lang="zh-CN" altLang="en-US" sz="1800">
              <a:solidFill>
                <a:srgbClr val="000000"/>
              </a:solidFill>
              <a:sym typeface="Times New Roman" panose="02020603050405020304" pitchFamily="18" charset="0"/>
            </a:endParaRPr>
          </a:p>
        </p:txBody>
      </p:sp>
      <p:sp>
        <p:nvSpPr>
          <p:cNvPr id="14" name="TextBox 6"/>
          <p:cNvSpPr>
            <a:spLocks noChangeArrowheads="1"/>
          </p:cNvSpPr>
          <p:nvPr/>
        </p:nvSpPr>
        <p:spPr bwMode="auto">
          <a:xfrm>
            <a:off x="3996930" y="1530360"/>
            <a:ext cx="2726531" cy="646331"/>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solidFill>
                  <a:srgbClr val="000000"/>
                </a:solidFill>
                <a:sym typeface="Times New Roman" panose="02020603050405020304" pitchFamily="18" charset="0"/>
              </a:rPr>
              <a:t>程序代码和部分整数常量（立即数）、字符串常量</a:t>
            </a:r>
            <a:endParaRPr lang="zh-CN" altLang="en-US" sz="1800"/>
          </a:p>
        </p:txBody>
      </p:sp>
      <p:sp>
        <p:nvSpPr>
          <p:cNvPr id="15" name="TextBox 7"/>
          <p:cNvSpPr>
            <a:spLocks noChangeArrowheads="1"/>
          </p:cNvSpPr>
          <p:nvPr/>
        </p:nvSpPr>
        <p:spPr bwMode="auto">
          <a:xfrm>
            <a:off x="4027886" y="4066392"/>
            <a:ext cx="2695575" cy="923330"/>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solidFill>
                  <a:srgbClr val="FF0000"/>
                </a:solidFill>
                <a:sym typeface="Times New Roman" panose="02020603050405020304" pitchFamily="18" charset="0"/>
              </a:rPr>
              <a:t>存放局部变量和函数参数，由编译器来自动分配释放</a:t>
            </a:r>
            <a:endParaRPr lang="zh-CN" altLang="en-US" sz="1800"/>
          </a:p>
        </p:txBody>
      </p:sp>
      <p:sp>
        <p:nvSpPr>
          <p:cNvPr id="16" name="TextBox 8"/>
          <p:cNvSpPr>
            <a:spLocks noChangeArrowheads="1"/>
          </p:cNvSpPr>
          <p:nvPr/>
        </p:nvSpPr>
        <p:spPr bwMode="auto">
          <a:xfrm>
            <a:off x="3969545" y="2679313"/>
            <a:ext cx="2807494" cy="646331"/>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solidFill>
                  <a:srgbClr val="000000"/>
                </a:solidFill>
                <a:sym typeface="Times New Roman" panose="02020603050405020304" pitchFamily="18" charset="0"/>
              </a:rPr>
              <a:t>动态分配的内存，由程序来负责分配释放</a:t>
            </a:r>
            <a:endParaRPr lang="zh-CN" altLang="en-US" sz="1800"/>
          </a:p>
        </p:txBody>
      </p:sp>
      <p:sp>
        <p:nvSpPr>
          <p:cNvPr id="17" name="右箭头 14"/>
          <p:cNvSpPr/>
          <p:nvPr/>
        </p:nvSpPr>
        <p:spPr bwMode="auto">
          <a:xfrm flipH="1" flipV="1">
            <a:off x="3320655" y="1775629"/>
            <a:ext cx="592931" cy="107156"/>
          </a:xfrm>
          <a:prstGeom prst="rightArrow">
            <a:avLst>
              <a:gd name="adj1" fmla="val 50000"/>
              <a:gd name="adj2" fmla="val 50389"/>
            </a:avLst>
          </a:prstGeom>
          <a:solidFill>
            <a:schemeClr val="accent1"/>
          </a:solidFill>
          <a:ln w="9525">
            <a:solidFill>
              <a:schemeClr val="tx1"/>
            </a:solidFill>
            <a:bevel/>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b="1" i="1">
              <a:sym typeface="Times New Roman" panose="02020603050405020304" pitchFamily="18" charset="0"/>
            </a:endParaRPr>
          </a:p>
        </p:txBody>
      </p:sp>
      <p:sp>
        <p:nvSpPr>
          <p:cNvPr id="18" name="右箭头 14"/>
          <p:cNvSpPr/>
          <p:nvPr/>
        </p:nvSpPr>
        <p:spPr bwMode="auto">
          <a:xfrm flipH="1" flipV="1">
            <a:off x="3320655" y="2369751"/>
            <a:ext cx="592931" cy="107156"/>
          </a:xfrm>
          <a:prstGeom prst="rightArrow">
            <a:avLst>
              <a:gd name="adj1" fmla="val 50000"/>
              <a:gd name="adj2" fmla="val 50389"/>
            </a:avLst>
          </a:prstGeom>
          <a:solidFill>
            <a:schemeClr val="accent1"/>
          </a:solidFill>
          <a:ln w="9525">
            <a:solidFill>
              <a:schemeClr val="tx1"/>
            </a:solidFill>
            <a:bevel/>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b="1" i="1">
              <a:sym typeface="Times New Roman" panose="02020603050405020304" pitchFamily="18" charset="0"/>
            </a:endParaRPr>
          </a:p>
        </p:txBody>
      </p:sp>
      <p:sp>
        <p:nvSpPr>
          <p:cNvPr id="19" name="右箭头 14"/>
          <p:cNvSpPr/>
          <p:nvPr/>
        </p:nvSpPr>
        <p:spPr bwMode="auto">
          <a:xfrm flipH="1" flipV="1">
            <a:off x="3375424" y="4283085"/>
            <a:ext cx="592931" cy="108347"/>
          </a:xfrm>
          <a:prstGeom prst="rightArrow">
            <a:avLst>
              <a:gd name="adj1" fmla="val 50000"/>
              <a:gd name="adj2" fmla="val 49836"/>
            </a:avLst>
          </a:prstGeom>
          <a:solidFill>
            <a:schemeClr val="accent1"/>
          </a:solidFill>
          <a:ln w="9525">
            <a:solidFill>
              <a:schemeClr val="tx1"/>
            </a:solidFill>
            <a:bevel/>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b="1" i="1">
              <a:sym typeface="Times New Roman" panose="02020603050405020304" pitchFamily="18" charset="0"/>
            </a:endParaRPr>
          </a:p>
        </p:txBody>
      </p:sp>
      <p:sp>
        <p:nvSpPr>
          <p:cNvPr id="20" name="右箭头 14"/>
          <p:cNvSpPr/>
          <p:nvPr/>
        </p:nvSpPr>
        <p:spPr bwMode="auto">
          <a:xfrm flipH="1" flipV="1">
            <a:off x="3320655" y="2823378"/>
            <a:ext cx="592931" cy="108347"/>
          </a:xfrm>
          <a:prstGeom prst="rightArrow">
            <a:avLst>
              <a:gd name="adj1" fmla="val 50000"/>
              <a:gd name="adj2" fmla="val 49836"/>
            </a:avLst>
          </a:prstGeom>
          <a:solidFill>
            <a:schemeClr val="accent1"/>
          </a:solidFill>
          <a:ln w="9525">
            <a:solidFill>
              <a:schemeClr val="tx1"/>
            </a:solidFill>
            <a:bevel/>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b="1" i="1">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dissolv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dissolve">
                                      <p:cBhvr>
                                        <p:cTn id="15" dur="500"/>
                                        <p:tgtEl>
                                          <p:spTgt spid="1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dissolve">
                                      <p:cBhvr>
                                        <p:cTn id="23" dur="500"/>
                                        <p:tgtEl>
                                          <p:spTgt spid="20"/>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dissolv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dissolve">
                                      <p:cBhvr>
                                        <p:cTn id="31" dur="500"/>
                                        <p:tgtEl>
                                          <p:spTgt spid="1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dissolv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vl="2">
              <a:lnSpc>
                <a:spcPts val="2800"/>
              </a:lnSpc>
            </a:pPr>
            <a:r>
              <a:rPr lang="zh-CN" altLang="en-US" sz="2300" dirty="0">
                <a:solidFill>
                  <a:srgbClr val="800000"/>
                </a:solidFill>
                <a:effectLst/>
                <a:latin typeface="Times New Roman" panose="02020603050405020304" pitchFamily="18" charset="0"/>
                <a:ea typeface="黑体" panose="02010609060101010101" pitchFamily="49" charset="-122"/>
                <a:sym typeface="宋体" panose="02010600030101010101" pitchFamily="2" charset="-122"/>
              </a:rPr>
              <a:t>一个函数调用另一个函数时，在运行被调用函数之前，系统做的工作有:</a:t>
            </a:r>
            <a:r>
              <a:rPr lang="zh-CN" altLang="en-US" sz="2300" dirty="0">
                <a:solidFill>
                  <a:srgbClr val="800000"/>
                </a:solidFill>
                <a:effectLst/>
                <a:latin typeface="Times New Roman" panose="02020603050405020304" pitchFamily="18" charset="0"/>
                <a:ea typeface="黑体" panose="02010609060101010101" pitchFamily="49" charset="-122"/>
                <a:sym typeface="Times New Roman" panose="02020603050405020304" pitchFamily="18" charset="0"/>
              </a:rPr>
              <a:t>  </a:t>
            </a:r>
            <a:endParaRPr lang="zh-CN" altLang="en-US" sz="2300" dirty="0">
              <a:solidFill>
                <a:srgbClr val="800000"/>
              </a:solidFill>
              <a:effectLst/>
              <a:latin typeface="Times New Roman" panose="02020603050405020304" pitchFamily="18" charset="0"/>
              <a:ea typeface="黑体" panose="02010609060101010101" pitchFamily="49" charset="-122"/>
              <a:sym typeface="Times New Roman" panose="02020603050405020304" pitchFamily="18" charset="0"/>
            </a:endParaRPr>
          </a:p>
          <a:p>
            <a:pPr lvl="2">
              <a:lnSpc>
                <a:spcPts val="2800"/>
              </a:lnSpc>
            </a:pPr>
            <a:r>
              <a:rPr lang="zh-CN" altLang="en-US" dirty="0">
                <a:sym typeface="Times New Roman" panose="02020603050405020304" pitchFamily="18" charset="0"/>
              </a:rPr>
              <a:t> </a:t>
            </a:r>
            <a:r>
              <a:rPr lang="en-US" altLang="zh-CN" dirty="0">
                <a:sym typeface="Times New Roman" panose="02020603050405020304" pitchFamily="18" charset="0"/>
              </a:rPr>
              <a:t>(1) </a:t>
            </a:r>
            <a:r>
              <a:rPr lang="zh-CN" altLang="en-US" dirty="0">
                <a:sym typeface="Times New Roman" panose="02020603050405020304" pitchFamily="18" charset="0"/>
              </a:rPr>
              <a:t>保留本层参数与返回地址（将所有的实在参数、返回地址等信息传递给被调用函数保存）； </a:t>
            </a:r>
            <a:endParaRPr lang="zh-CN" altLang="en-US" dirty="0">
              <a:sym typeface="Times New Roman" panose="02020603050405020304" pitchFamily="18" charset="0"/>
            </a:endParaRPr>
          </a:p>
          <a:p>
            <a:pPr lvl="2">
              <a:lnSpc>
                <a:spcPts val="2800"/>
              </a:lnSpc>
            </a:pPr>
            <a:r>
              <a:rPr lang="zh-CN" altLang="en-US" dirty="0">
                <a:sym typeface="Times New Roman" panose="02020603050405020304" pitchFamily="18" charset="0"/>
              </a:rPr>
              <a:t> </a:t>
            </a:r>
            <a:r>
              <a:rPr lang="en-US" altLang="zh-CN" dirty="0">
                <a:sym typeface="Times New Roman" panose="02020603050405020304" pitchFamily="18" charset="0"/>
              </a:rPr>
              <a:t>(2) </a:t>
            </a:r>
            <a:r>
              <a:rPr lang="zh-CN" altLang="en-US" dirty="0">
                <a:sym typeface="Times New Roman" panose="02020603050405020304" pitchFamily="18" charset="0"/>
              </a:rPr>
              <a:t>给下层参数赋值（为被调用函数的局部变量分配存储区）； </a:t>
            </a:r>
            <a:endParaRPr lang="zh-CN" altLang="en-US" dirty="0">
              <a:sym typeface="Times New Roman" panose="02020603050405020304" pitchFamily="18" charset="0"/>
            </a:endParaRPr>
          </a:p>
          <a:p>
            <a:pPr lvl="2">
              <a:lnSpc>
                <a:spcPts val="2800"/>
              </a:lnSpc>
            </a:pPr>
            <a:r>
              <a:rPr lang="zh-CN" altLang="en-US" dirty="0">
                <a:sym typeface="Times New Roman" panose="02020603050405020304" pitchFamily="18" charset="0"/>
              </a:rPr>
              <a:t> </a:t>
            </a:r>
            <a:r>
              <a:rPr lang="en-US" altLang="zh-CN" dirty="0">
                <a:sym typeface="Times New Roman" panose="02020603050405020304" pitchFamily="18" charset="0"/>
              </a:rPr>
              <a:t>(3) </a:t>
            </a:r>
            <a:r>
              <a:rPr lang="zh-CN" altLang="en-US" dirty="0">
                <a:sym typeface="Times New Roman" panose="02020603050405020304" pitchFamily="18" charset="0"/>
              </a:rPr>
              <a:t>将程序转移到被调函数的入口。</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sym typeface="Times New Roman" panose="02020603050405020304" pitchFamily="18" charset="0"/>
              </a:rPr>
              <a:t>从被调用函数返回调用函数之前，系统也应完成三件工作： </a:t>
            </a:r>
            <a:endParaRPr lang="zh-CN" altLang="en-US" dirty="0">
              <a:sym typeface="Times New Roman" panose="02020603050405020304" pitchFamily="18" charset="0"/>
            </a:endParaRPr>
          </a:p>
          <a:p>
            <a:pPr lvl="2"/>
            <a:r>
              <a:rPr lang="zh-CN" altLang="en-US" dirty="0">
                <a:sym typeface="Times New Roman" panose="02020603050405020304" pitchFamily="18" charset="0"/>
              </a:rPr>
              <a:t> </a:t>
            </a:r>
            <a:r>
              <a:rPr lang="en-US" altLang="zh-CN" dirty="0">
                <a:sym typeface="Times New Roman" panose="02020603050405020304" pitchFamily="18" charset="0"/>
              </a:rPr>
              <a:t>(1) </a:t>
            </a:r>
            <a:r>
              <a:rPr lang="zh-CN" altLang="en-US" dirty="0">
                <a:sym typeface="Times New Roman" panose="02020603050405020304" pitchFamily="18" charset="0"/>
              </a:rPr>
              <a:t>保存被调函数的计算结果； </a:t>
            </a:r>
            <a:endParaRPr lang="zh-CN" altLang="en-US" dirty="0">
              <a:sym typeface="Times New Roman" panose="02020603050405020304" pitchFamily="18" charset="0"/>
            </a:endParaRPr>
          </a:p>
          <a:p>
            <a:pPr lvl="2"/>
            <a:r>
              <a:rPr lang="zh-CN" altLang="en-US" dirty="0">
                <a:sym typeface="Times New Roman" panose="02020603050405020304" pitchFamily="18" charset="0"/>
              </a:rPr>
              <a:t> </a:t>
            </a:r>
            <a:r>
              <a:rPr lang="en-US" altLang="zh-CN" dirty="0">
                <a:sym typeface="Times New Roman" panose="02020603050405020304" pitchFamily="18" charset="0"/>
              </a:rPr>
              <a:t>(2) </a:t>
            </a:r>
            <a:r>
              <a:rPr lang="zh-CN" altLang="en-US" dirty="0">
                <a:sym typeface="Times New Roman" panose="02020603050405020304" pitchFamily="18" charset="0"/>
              </a:rPr>
              <a:t>恢复上层参数（释放被调函数的数据区）； </a:t>
            </a:r>
            <a:endParaRPr lang="zh-CN" altLang="en-US" dirty="0">
              <a:sym typeface="Times New Roman" panose="02020603050405020304" pitchFamily="18" charset="0"/>
            </a:endParaRPr>
          </a:p>
          <a:p>
            <a:pPr lvl="2"/>
            <a:r>
              <a:rPr lang="zh-CN" altLang="en-US" dirty="0">
                <a:sym typeface="Times New Roman" panose="02020603050405020304" pitchFamily="18" charset="0"/>
              </a:rPr>
              <a:t> </a:t>
            </a:r>
            <a:r>
              <a:rPr lang="en-US" altLang="zh-CN" dirty="0">
                <a:sym typeface="Times New Roman" panose="02020603050405020304" pitchFamily="18" charset="0"/>
              </a:rPr>
              <a:t>(3) </a:t>
            </a:r>
            <a:r>
              <a:rPr lang="zh-CN" altLang="en-US" dirty="0">
                <a:sym typeface="Times New Roman" panose="02020603050405020304" pitchFamily="18" charset="0"/>
              </a:rPr>
              <a:t>依照被调函数保存的返回地址，将控制转移回调用函数。 </a:t>
            </a:r>
            <a:endParaRPr lang="zh-CN" altLang="en-US" dirty="0">
              <a:sym typeface="Times New Roman" panose="02020603050405020304" pitchFamily="18" charset="0"/>
            </a:endParaRPr>
          </a:p>
          <a:p>
            <a:pPr lvl="2"/>
            <a:endParaRPr lang="en-US" altLang="zh-CN" dirty="0">
              <a:sym typeface="宋体" panose="02010600030101010101" pitchFamily="2" charset="-122"/>
            </a:endParaRPr>
          </a:p>
          <a:p>
            <a:pPr lvl="2"/>
            <a:r>
              <a:rPr lang="zh-CN" altLang="en-US" dirty="0">
                <a:sym typeface="宋体" panose="02010600030101010101" pitchFamily="2" charset="-122"/>
              </a:rPr>
              <a:t>多个函数调用时按</a:t>
            </a:r>
            <a:r>
              <a:rPr lang="zh-CN" altLang="en-US" dirty="0">
                <a:solidFill>
                  <a:srgbClr val="FF0000"/>
                </a:solidFill>
                <a:sym typeface="宋体" panose="02010600030101010101" pitchFamily="2" charset="-122"/>
              </a:rPr>
              <a:t>后调用先返回</a:t>
            </a:r>
            <a:r>
              <a:rPr lang="zh-CN" altLang="en-US" dirty="0">
                <a:sym typeface="宋体" panose="02010600030101010101" pitchFamily="2" charset="-122"/>
              </a:rPr>
              <a:t>的原则。</a:t>
            </a:r>
            <a:r>
              <a:rPr lang="zh-CN" altLang="en-US" dirty="0">
                <a:sym typeface="Times New Roman" panose="02020603050405020304" pitchFamily="18" charset="0"/>
              </a:rPr>
              <a:t> </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400" dirty="0">
                <a:latin typeface="宋体" panose="02010600030101010101" pitchFamily="2" charset="-122"/>
                <a:sym typeface="宋体" panose="02010600030101010101" pitchFamily="2" charset="-122"/>
              </a:rPr>
              <a:t>例：求组合数</a:t>
            </a:r>
            <a:r>
              <a:rPr lang="en-US" altLang="zh-CN" sz="2000" dirty="0">
                <a:solidFill>
                  <a:srgbClr val="000000"/>
                </a:solidFill>
                <a:sym typeface="Times New Roman" panose="02020603050405020304" pitchFamily="18" charset="0"/>
              </a:rPr>
              <a:t>	</a:t>
            </a:r>
            <a:endParaRPr lang="zh-CN" altLang="en-US" sz="2000" dirty="0"/>
          </a:p>
          <a:p>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pic>
        <p:nvPicPr>
          <p:cNvPr id="4"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90249" y="593324"/>
            <a:ext cx="2080022" cy="702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0"/>
          <p:cNvSpPr txBox="1"/>
          <p:nvPr/>
        </p:nvSpPr>
        <p:spPr>
          <a:xfrm>
            <a:off x="235148" y="1491854"/>
            <a:ext cx="1944291" cy="2448560"/>
          </a:xfrm>
          <a:prstGeom prst="rect">
            <a:avLst/>
          </a:prstGeom>
          <a:noFill/>
        </p:spPr>
        <p:txBody>
          <a:bodyPr>
            <a:spAutoFit/>
          </a:bodyPr>
          <a:lstStyle/>
          <a:p>
            <a:pPr marL="257175" indent="-257175" defTabSz="0">
              <a:lnSpc>
                <a:spcPct val="90000"/>
              </a:lnSpc>
              <a:spcBef>
                <a:spcPct val="20000"/>
              </a:spcBef>
              <a:buClr>
                <a:schemeClr val="tx1"/>
              </a:buClr>
              <a:defRPr/>
            </a:pPr>
            <a:r>
              <a:rPr lang="en-US" altLang="zh-CN" sz="1600" kern="0" dirty="0" err="1">
                <a:sym typeface="Times New Roman" panose="02020603050405020304" pitchFamily="18" charset="0"/>
              </a:rPr>
              <a:t>int</a:t>
            </a:r>
            <a:r>
              <a:rPr lang="en-US" altLang="zh-CN" sz="1600" kern="0" dirty="0">
                <a:sym typeface="Times New Roman" panose="02020603050405020304" pitchFamily="18" charset="0"/>
              </a:rPr>
              <a:t> main(void)</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a:t>
            </a:r>
            <a:r>
              <a:rPr lang="en-US" altLang="zh-CN" sz="1600" kern="0" dirty="0" err="1">
                <a:sym typeface="Times New Roman" panose="02020603050405020304" pitchFamily="18" charset="0"/>
              </a:rPr>
              <a:t>int</a:t>
            </a:r>
            <a:r>
              <a:rPr lang="en-US" altLang="zh-CN" sz="1600" kern="0" dirty="0">
                <a:sym typeface="Times New Roman" panose="02020603050405020304" pitchFamily="18" charset="0"/>
              </a:rPr>
              <a:t> m, k, p;    </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a:t>
            </a:r>
            <a:r>
              <a:rPr lang="en-US" altLang="zh-CN" sz="1600" kern="0" dirty="0">
                <a:solidFill>
                  <a:srgbClr val="FF0000"/>
                </a:solidFill>
                <a:sym typeface="Times New Roman" panose="02020603050405020304" pitchFamily="18" charset="0"/>
              </a:rPr>
              <a:t>1</a:t>
            </a:r>
            <a:r>
              <a:rPr lang="zh-CN" altLang="en-US" sz="1600" kern="0" dirty="0">
                <a:solidFill>
                  <a:srgbClr val="FF0000"/>
                </a:solidFill>
                <a:sym typeface="Times New Roman" panose="02020603050405020304" pitchFamily="18" charset="0"/>
              </a:rPr>
              <a:t>：</a:t>
            </a:r>
            <a:r>
              <a:rPr lang="en-US" altLang="zh-CN" sz="1600" kern="0" dirty="0">
                <a:sym typeface="Times New Roman" panose="02020603050405020304" pitchFamily="18" charset="0"/>
              </a:rPr>
              <a:t> p = Comb(m, k);</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return 0;</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a:t>
            </a:r>
            <a:endParaRPr lang="zh-CN" altLang="en-US" sz="1600" kern="0" dirty="0">
              <a:sym typeface="Times New Roman" panose="02020603050405020304" pitchFamily="18" charset="0"/>
            </a:endParaRPr>
          </a:p>
          <a:p>
            <a:pPr algn="ctr" eaLnBrk="1" hangingPunct="1">
              <a:defRPr/>
            </a:pPr>
            <a:endParaRPr lang="zh-CN" altLang="en-US" sz="1600" dirty="0"/>
          </a:p>
        </p:txBody>
      </p:sp>
      <p:sp>
        <p:nvSpPr>
          <p:cNvPr id="17" name="矩形 16"/>
          <p:cNvSpPr/>
          <p:nvPr/>
        </p:nvSpPr>
        <p:spPr>
          <a:xfrm>
            <a:off x="1919012" y="1545431"/>
            <a:ext cx="3604022" cy="2202180"/>
          </a:xfrm>
          <a:prstGeom prst="rect">
            <a:avLst/>
          </a:prstGeom>
        </p:spPr>
        <p:txBody>
          <a:bodyPr>
            <a:spAutoFit/>
          </a:bodyPr>
          <a:lstStyle/>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long  Comb(</a:t>
            </a:r>
            <a:r>
              <a:rPr lang="en-US" altLang="zh-CN" sz="1600" kern="0" dirty="0" err="1">
                <a:sym typeface="Times New Roman" panose="02020603050405020304" pitchFamily="18" charset="0"/>
              </a:rPr>
              <a:t>int</a:t>
            </a:r>
            <a:r>
              <a:rPr lang="en-US" altLang="zh-CN" sz="1600" kern="0" dirty="0">
                <a:sym typeface="Times New Roman" panose="02020603050405020304" pitchFamily="18" charset="0"/>
              </a:rPr>
              <a:t> m, </a:t>
            </a:r>
            <a:r>
              <a:rPr lang="en-US" altLang="zh-CN" sz="1600" kern="0" dirty="0" err="1">
                <a:sym typeface="Times New Roman" panose="02020603050405020304" pitchFamily="18" charset="0"/>
              </a:rPr>
              <a:t>int</a:t>
            </a:r>
            <a:r>
              <a:rPr lang="en-US" altLang="zh-CN" sz="1600" kern="0" dirty="0">
                <a:sym typeface="Times New Roman" panose="02020603050405020304" pitchFamily="18" charset="0"/>
              </a:rPr>
              <a:t> k)</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long s;    </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a:t>
            </a:r>
            <a:r>
              <a:rPr lang="en-US" altLang="zh-CN" sz="1600" kern="0" dirty="0">
                <a:solidFill>
                  <a:srgbClr val="FF0000"/>
                </a:solidFill>
                <a:sym typeface="Times New Roman" panose="02020603050405020304" pitchFamily="18" charset="0"/>
              </a:rPr>
              <a:t>2</a:t>
            </a:r>
            <a:r>
              <a:rPr lang="zh-CN" altLang="en-US" sz="1600" kern="0" dirty="0">
                <a:solidFill>
                  <a:srgbClr val="FF0000"/>
                </a:solidFill>
                <a:sym typeface="Times New Roman" panose="02020603050405020304" pitchFamily="18" charset="0"/>
              </a:rPr>
              <a:t>：</a:t>
            </a:r>
            <a:r>
              <a:rPr lang="en-US" altLang="zh-CN" sz="1600" kern="0" dirty="0">
                <a:sym typeface="Times New Roman" panose="02020603050405020304" pitchFamily="18" charset="0"/>
              </a:rPr>
              <a:t> s = fact(m) / (fact(k) * fact(m - k));</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return s;</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a:t>
            </a:r>
            <a:endParaRPr lang="zh-CN" altLang="en-US" sz="1600" kern="0" dirty="0">
              <a:sym typeface="Times New Roman" panose="02020603050405020304" pitchFamily="18" charset="0"/>
            </a:endParaRPr>
          </a:p>
        </p:txBody>
      </p:sp>
      <p:sp>
        <p:nvSpPr>
          <p:cNvPr id="18" name="矩形 17"/>
          <p:cNvSpPr/>
          <p:nvPr/>
        </p:nvSpPr>
        <p:spPr>
          <a:xfrm>
            <a:off x="5109570" y="1491854"/>
            <a:ext cx="1565672" cy="2209836"/>
          </a:xfrm>
          <a:prstGeom prst="rect">
            <a:avLst/>
          </a:prstGeom>
        </p:spPr>
        <p:txBody>
          <a:bodyPr>
            <a:spAutoFit/>
          </a:bodyPr>
          <a:lstStyle/>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long fact(</a:t>
            </a:r>
            <a:r>
              <a:rPr lang="en-US" altLang="zh-CN" sz="1600" kern="0" dirty="0" err="1">
                <a:sym typeface="Times New Roman" panose="02020603050405020304" pitchFamily="18" charset="0"/>
              </a:rPr>
              <a:t>int</a:t>
            </a:r>
            <a:r>
              <a:rPr lang="en-US" altLang="zh-CN" sz="1600" kern="0" dirty="0">
                <a:sym typeface="Times New Roman" panose="02020603050405020304" pitchFamily="18" charset="0"/>
              </a:rPr>
              <a:t> n)</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a:t>
            </a:r>
            <a:r>
              <a:rPr lang="en-US" altLang="zh-CN" sz="1600" kern="0" dirty="0" err="1">
                <a:sym typeface="Times New Roman" panose="02020603050405020304" pitchFamily="18" charset="0"/>
              </a:rPr>
              <a:t>int</a:t>
            </a:r>
            <a:r>
              <a:rPr lang="en-US" altLang="zh-CN" sz="1600" kern="0" dirty="0">
                <a:sym typeface="Times New Roman" panose="02020603050405020304" pitchFamily="18" charset="0"/>
              </a:rPr>
              <a:t> </a:t>
            </a:r>
            <a:r>
              <a:rPr lang="en-US" altLang="zh-CN" sz="1600" kern="0" dirty="0" err="1">
                <a:sym typeface="Times New Roman" panose="02020603050405020304" pitchFamily="18" charset="0"/>
              </a:rPr>
              <a:t>i</a:t>
            </a:r>
            <a:r>
              <a:rPr lang="en-US" altLang="zh-CN" sz="1600" kern="0" dirty="0">
                <a:sym typeface="Times New Roman" panose="02020603050405020304" pitchFamily="18" charset="0"/>
              </a:rPr>
              <a:t>;  </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long result;  </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    return result;</a:t>
            </a:r>
            <a:endParaRPr lang="en-US" altLang="zh-CN" sz="1600" kern="0" dirty="0">
              <a:sym typeface="Times New Roman" panose="02020603050405020304" pitchFamily="18" charset="0"/>
            </a:endParaRPr>
          </a:p>
          <a:p>
            <a:pPr marL="257175" indent="-257175" defTabSz="0">
              <a:lnSpc>
                <a:spcPct val="90000"/>
              </a:lnSpc>
              <a:spcBef>
                <a:spcPct val="20000"/>
              </a:spcBef>
              <a:buClr>
                <a:schemeClr val="tx1"/>
              </a:buClr>
              <a:defRPr/>
            </a:pPr>
            <a:r>
              <a:rPr lang="en-US" altLang="zh-CN" sz="1600" kern="0" dirty="0">
                <a:sym typeface="Times New Roman" panose="02020603050405020304" pitchFamily="18" charset="0"/>
              </a:rPr>
              <a:t>}</a:t>
            </a:r>
            <a:endParaRPr lang="zh-CN" altLang="en-US" sz="1600" kern="0" dirty="0">
              <a:sym typeface="Times New Roman" panose="02020603050405020304" pitchFamily="18" charset="0"/>
            </a:endParaRPr>
          </a:p>
        </p:txBody>
      </p:sp>
      <p:cxnSp>
        <p:nvCxnSpPr>
          <p:cNvPr id="19" name="直接箭头连接符 18"/>
          <p:cNvCxnSpPr>
            <a:cxnSpLocks noChangeShapeType="1"/>
          </p:cNvCxnSpPr>
          <p:nvPr/>
        </p:nvCxnSpPr>
        <p:spPr bwMode="auto">
          <a:xfrm>
            <a:off x="782241" y="1815703"/>
            <a:ext cx="0" cy="756047"/>
          </a:xfrm>
          <a:prstGeom prst="straightConnector1">
            <a:avLst/>
          </a:prstGeom>
          <a:noFill/>
          <a:ln w="38100" algn="ctr">
            <a:solidFill>
              <a:schemeClr val="accent2"/>
            </a:solidFill>
            <a:round/>
            <a:tailEnd type="arrow" w="med" len="med"/>
          </a:ln>
          <a:extLst>
            <a:ext uri="{909E8E84-426E-40DD-AFC4-6F175D3DCCD1}">
              <a14:hiddenFill xmlns:a14="http://schemas.microsoft.com/office/drawing/2010/main">
                <a:noFill/>
              </a14:hiddenFill>
            </a:ext>
          </a:extLst>
        </p:spPr>
      </p:cxnSp>
      <p:cxnSp>
        <p:nvCxnSpPr>
          <p:cNvPr id="20" name="直接箭头连接符 19"/>
          <p:cNvCxnSpPr>
            <a:cxnSpLocks noChangeShapeType="1"/>
          </p:cNvCxnSpPr>
          <p:nvPr/>
        </p:nvCxnSpPr>
        <p:spPr bwMode="auto">
          <a:xfrm>
            <a:off x="782241" y="2873878"/>
            <a:ext cx="0" cy="594122"/>
          </a:xfrm>
          <a:prstGeom prst="straightConnector1">
            <a:avLst/>
          </a:prstGeom>
          <a:noFill/>
          <a:ln w="38100" algn="ctr">
            <a:solidFill>
              <a:schemeClr val="accent2"/>
            </a:solidFill>
            <a:round/>
            <a:tailEnd type="arrow" w="med" len="med"/>
          </a:ln>
          <a:extLst>
            <a:ext uri="{909E8E84-426E-40DD-AFC4-6F175D3DCCD1}">
              <a14:hiddenFill xmlns:a14="http://schemas.microsoft.com/office/drawing/2010/main">
                <a:noFill/>
              </a14:hiddenFill>
            </a:ext>
          </a:extLst>
        </p:spPr>
      </p:cxnSp>
      <p:cxnSp>
        <p:nvCxnSpPr>
          <p:cNvPr id="21" name="直接箭头连接符 20"/>
          <p:cNvCxnSpPr>
            <a:cxnSpLocks noChangeShapeType="1"/>
          </p:cNvCxnSpPr>
          <p:nvPr/>
        </p:nvCxnSpPr>
        <p:spPr bwMode="auto">
          <a:xfrm>
            <a:off x="3644504" y="1762125"/>
            <a:ext cx="0" cy="809625"/>
          </a:xfrm>
          <a:prstGeom prst="straightConnector1">
            <a:avLst/>
          </a:prstGeom>
          <a:noFill/>
          <a:ln w="38100" algn="ctr">
            <a:solidFill>
              <a:schemeClr val="accent2"/>
            </a:solidFill>
            <a:round/>
            <a:tailEnd type="arrow" w="med" len="med"/>
          </a:ln>
          <a:extLst>
            <a:ext uri="{909E8E84-426E-40DD-AFC4-6F175D3DCCD1}">
              <a14:hiddenFill xmlns:a14="http://schemas.microsoft.com/office/drawing/2010/main">
                <a:noFill/>
              </a14:hiddenFill>
            </a:ext>
          </a:extLst>
        </p:spPr>
      </p:cxnSp>
      <p:cxnSp>
        <p:nvCxnSpPr>
          <p:cNvPr id="22" name="直接箭头连接符 21"/>
          <p:cNvCxnSpPr>
            <a:cxnSpLocks noChangeShapeType="1"/>
          </p:cNvCxnSpPr>
          <p:nvPr/>
        </p:nvCxnSpPr>
        <p:spPr bwMode="auto">
          <a:xfrm>
            <a:off x="3644504" y="2873878"/>
            <a:ext cx="0" cy="594122"/>
          </a:xfrm>
          <a:prstGeom prst="straightConnector1">
            <a:avLst/>
          </a:prstGeom>
          <a:noFill/>
          <a:ln w="38100" algn="ctr">
            <a:solidFill>
              <a:schemeClr val="accent2"/>
            </a:solidFill>
            <a:round/>
            <a:tailEnd type="arrow" w="med" len="med"/>
          </a:ln>
          <a:extLst>
            <a:ext uri="{909E8E84-426E-40DD-AFC4-6F175D3DCCD1}">
              <a14:hiddenFill xmlns:a14="http://schemas.microsoft.com/office/drawing/2010/main">
                <a:noFill/>
              </a14:hiddenFill>
            </a:ext>
          </a:extLst>
        </p:spPr>
      </p:cxnSp>
      <p:cxnSp>
        <p:nvCxnSpPr>
          <p:cNvPr id="23" name="直接箭头连接符 22"/>
          <p:cNvCxnSpPr>
            <a:cxnSpLocks noChangeShapeType="1"/>
          </p:cNvCxnSpPr>
          <p:nvPr/>
        </p:nvCxnSpPr>
        <p:spPr bwMode="auto">
          <a:xfrm>
            <a:off x="6129338" y="1653778"/>
            <a:ext cx="0" cy="1565672"/>
          </a:xfrm>
          <a:prstGeom prst="straightConnector1">
            <a:avLst/>
          </a:prstGeom>
          <a:noFill/>
          <a:ln w="38100" algn="ctr">
            <a:solidFill>
              <a:schemeClr val="accent2"/>
            </a:solidFill>
            <a:round/>
            <a:tailEnd type="arrow" w="med" len="med"/>
          </a:ln>
          <a:extLst>
            <a:ext uri="{909E8E84-426E-40DD-AFC4-6F175D3DCCD1}">
              <a14:hiddenFill xmlns:a14="http://schemas.microsoft.com/office/drawing/2010/main">
                <a:noFill/>
              </a14:hiddenFill>
            </a:ext>
          </a:extLst>
        </p:spPr>
      </p:cxnSp>
      <p:cxnSp>
        <p:nvCxnSpPr>
          <p:cNvPr id="24" name="直接箭头连接符 23"/>
          <p:cNvCxnSpPr>
            <a:cxnSpLocks noChangeShapeType="1"/>
          </p:cNvCxnSpPr>
          <p:nvPr/>
        </p:nvCxnSpPr>
        <p:spPr bwMode="auto">
          <a:xfrm flipV="1">
            <a:off x="837010" y="1762125"/>
            <a:ext cx="1155419" cy="756048"/>
          </a:xfrm>
          <a:prstGeom prst="straightConnector1">
            <a:avLst/>
          </a:prstGeom>
          <a:noFill/>
          <a:ln w="38100" algn="ctr">
            <a:solidFill>
              <a:schemeClr val="accent2"/>
            </a:solidFill>
            <a:round/>
            <a:tailEnd type="arrow" w="med" len="med"/>
          </a:ln>
          <a:extLst>
            <a:ext uri="{909E8E84-426E-40DD-AFC4-6F175D3DCCD1}">
              <a14:hiddenFill xmlns:a14="http://schemas.microsoft.com/office/drawing/2010/main">
                <a:noFill/>
              </a14:hiddenFill>
            </a:ext>
          </a:extLst>
        </p:spPr>
      </p:cxnSp>
      <p:cxnSp>
        <p:nvCxnSpPr>
          <p:cNvPr id="25" name="直接箭头连接符 24"/>
          <p:cNvCxnSpPr>
            <a:cxnSpLocks noChangeShapeType="1"/>
          </p:cNvCxnSpPr>
          <p:nvPr/>
        </p:nvCxnSpPr>
        <p:spPr bwMode="auto">
          <a:xfrm flipV="1">
            <a:off x="3699273" y="1653778"/>
            <a:ext cx="1479119" cy="864396"/>
          </a:xfrm>
          <a:prstGeom prst="straightConnector1">
            <a:avLst/>
          </a:prstGeom>
          <a:noFill/>
          <a:ln w="38100" algn="ctr">
            <a:solidFill>
              <a:schemeClr val="accent2"/>
            </a:solidFill>
            <a:round/>
            <a:tailEnd type="arrow" w="med" len="med"/>
          </a:ln>
          <a:extLst>
            <a:ext uri="{909E8E84-426E-40DD-AFC4-6F175D3DCCD1}">
              <a14:hiddenFill xmlns:a14="http://schemas.microsoft.com/office/drawing/2010/main">
                <a:noFill/>
              </a14:hiddenFill>
            </a:ext>
          </a:extLst>
        </p:spPr>
      </p:cxnSp>
      <p:cxnSp>
        <p:nvCxnSpPr>
          <p:cNvPr id="26" name="直接箭头连接符 25"/>
          <p:cNvCxnSpPr>
            <a:cxnSpLocks noChangeShapeType="1"/>
          </p:cNvCxnSpPr>
          <p:nvPr/>
        </p:nvCxnSpPr>
        <p:spPr bwMode="auto">
          <a:xfrm flipH="1" flipV="1">
            <a:off x="3644504" y="2873880"/>
            <a:ext cx="1675209" cy="345570"/>
          </a:xfrm>
          <a:prstGeom prst="straightConnector1">
            <a:avLst/>
          </a:prstGeom>
          <a:noFill/>
          <a:ln w="38100" algn="ctr">
            <a:solidFill>
              <a:schemeClr val="accent2"/>
            </a:solidFill>
            <a:round/>
            <a:tailEnd type="arrow" w="med" len="med"/>
          </a:ln>
          <a:extLst>
            <a:ext uri="{909E8E84-426E-40DD-AFC4-6F175D3DCCD1}">
              <a14:hiddenFill xmlns:a14="http://schemas.microsoft.com/office/drawing/2010/main">
                <a:noFill/>
              </a14:hiddenFill>
            </a:ext>
          </a:extLst>
        </p:spPr>
      </p:cxnSp>
      <p:cxnSp>
        <p:nvCxnSpPr>
          <p:cNvPr id="27" name="直接箭头连接符 26"/>
          <p:cNvCxnSpPr>
            <a:cxnSpLocks noChangeShapeType="1"/>
          </p:cNvCxnSpPr>
          <p:nvPr/>
        </p:nvCxnSpPr>
        <p:spPr bwMode="auto">
          <a:xfrm flipH="1" flipV="1">
            <a:off x="782242" y="2873879"/>
            <a:ext cx="1296590" cy="486965"/>
          </a:xfrm>
          <a:prstGeom prst="straightConnector1">
            <a:avLst/>
          </a:prstGeom>
          <a:noFill/>
          <a:ln w="38100" algn="ctr">
            <a:solidFill>
              <a:schemeClr val="accent2"/>
            </a:solidFill>
            <a:rou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strVal val="#ppt_w*0.70"/>
                                          </p:val>
                                        </p:tav>
                                        <p:tav tm="100000">
                                          <p:val>
                                            <p:strVal val="#ppt_w"/>
                                          </p:val>
                                        </p:tav>
                                      </p:tavLst>
                                    </p:anim>
                                    <p:anim calcmode="lin" valueType="num">
                                      <p:cBhvr>
                                        <p:cTn id="8" dur="500" fill="hold"/>
                                        <p:tgtEl>
                                          <p:spTgt spid="19"/>
                                        </p:tgtEl>
                                        <p:attrNameLst>
                                          <p:attrName>ppt_h</p:attrName>
                                        </p:attrNameLst>
                                      </p:cBhvr>
                                      <p:tavLst>
                                        <p:tav tm="0">
                                          <p:val>
                                            <p:strVal val="#ppt_h"/>
                                          </p:val>
                                        </p:tav>
                                        <p:tav tm="100000">
                                          <p:val>
                                            <p:strVal val="#ppt_h"/>
                                          </p:val>
                                        </p:tav>
                                      </p:tavLst>
                                    </p:anim>
                                    <p:animEffect transition="in" filter="fade">
                                      <p:cBhvr>
                                        <p:cTn id="9" dur="500"/>
                                        <p:tgtEl>
                                          <p:spTgt spid="19"/>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500" fill="hold"/>
                                        <p:tgtEl>
                                          <p:spTgt spid="24"/>
                                        </p:tgtEl>
                                        <p:attrNameLst>
                                          <p:attrName>ppt_w</p:attrName>
                                        </p:attrNameLst>
                                      </p:cBhvr>
                                      <p:tavLst>
                                        <p:tav tm="0">
                                          <p:val>
                                            <p:strVal val="#ppt_w*0.70"/>
                                          </p:val>
                                        </p:tav>
                                        <p:tav tm="100000">
                                          <p:val>
                                            <p:strVal val="#ppt_w"/>
                                          </p:val>
                                        </p:tav>
                                      </p:tavLst>
                                    </p:anim>
                                    <p:anim calcmode="lin" valueType="num">
                                      <p:cBhvr>
                                        <p:cTn id="15" dur="500" fill="hold"/>
                                        <p:tgtEl>
                                          <p:spTgt spid="24"/>
                                        </p:tgtEl>
                                        <p:attrNameLst>
                                          <p:attrName>ppt_h</p:attrName>
                                        </p:attrNameLst>
                                      </p:cBhvr>
                                      <p:tavLst>
                                        <p:tav tm="0">
                                          <p:val>
                                            <p:strVal val="#ppt_h"/>
                                          </p:val>
                                        </p:tav>
                                        <p:tav tm="100000">
                                          <p:val>
                                            <p:strVal val="#ppt_h"/>
                                          </p:val>
                                        </p:tav>
                                      </p:tavLst>
                                    </p:anim>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500" fill="hold"/>
                                        <p:tgtEl>
                                          <p:spTgt spid="21"/>
                                        </p:tgtEl>
                                        <p:attrNameLst>
                                          <p:attrName>ppt_w</p:attrName>
                                        </p:attrNameLst>
                                      </p:cBhvr>
                                      <p:tavLst>
                                        <p:tav tm="0">
                                          <p:val>
                                            <p:strVal val="#ppt_w*0.70"/>
                                          </p:val>
                                        </p:tav>
                                        <p:tav tm="100000">
                                          <p:val>
                                            <p:strVal val="#ppt_w"/>
                                          </p:val>
                                        </p:tav>
                                      </p:tavLst>
                                    </p:anim>
                                    <p:anim calcmode="lin" valueType="num">
                                      <p:cBhvr>
                                        <p:cTn id="22" dur="500" fill="hold"/>
                                        <p:tgtEl>
                                          <p:spTgt spid="21"/>
                                        </p:tgtEl>
                                        <p:attrNameLst>
                                          <p:attrName>ppt_h</p:attrName>
                                        </p:attrNameLst>
                                      </p:cBhvr>
                                      <p:tavLst>
                                        <p:tav tm="0">
                                          <p:val>
                                            <p:strVal val="#ppt_h"/>
                                          </p:val>
                                        </p:tav>
                                        <p:tav tm="100000">
                                          <p:val>
                                            <p:strVal val="#ppt_h"/>
                                          </p:val>
                                        </p:tav>
                                      </p:tavLst>
                                    </p:anim>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p:cTn id="28" dur="500" fill="hold"/>
                                        <p:tgtEl>
                                          <p:spTgt spid="25"/>
                                        </p:tgtEl>
                                        <p:attrNameLst>
                                          <p:attrName>ppt_w</p:attrName>
                                        </p:attrNameLst>
                                      </p:cBhvr>
                                      <p:tavLst>
                                        <p:tav tm="0">
                                          <p:val>
                                            <p:strVal val="#ppt_w*0.70"/>
                                          </p:val>
                                        </p:tav>
                                        <p:tav tm="100000">
                                          <p:val>
                                            <p:strVal val="#ppt_w"/>
                                          </p:val>
                                        </p:tav>
                                      </p:tavLst>
                                    </p:anim>
                                    <p:anim calcmode="lin" valueType="num">
                                      <p:cBhvr>
                                        <p:cTn id="29" dur="500" fill="hold"/>
                                        <p:tgtEl>
                                          <p:spTgt spid="25"/>
                                        </p:tgtEl>
                                        <p:attrNameLst>
                                          <p:attrName>ppt_h</p:attrName>
                                        </p:attrNameLst>
                                      </p:cBhvr>
                                      <p:tavLst>
                                        <p:tav tm="0">
                                          <p:val>
                                            <p:strVal val="#ppt_h"/>
                                          </p:val>
                                        </p:tav>
                                        <p:tav tm="100000">
                                          <p:val>
                                            <p:strVal val="#ppt_h"/>
                                          </p:val>
                                        </p:tav>
                                      </p:tavLst>
                                    </p:anim>
                                    <p:animEffect transition="in" filter="fade">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p:cTn id="35" dur="500" fill="hold"/>
                                        <p:tgtEl>
                                          <p:spTgt spid="23"/>
                                        </p:tgtEl>
                                        <p:attrNameLst>
                                          <p:attrName>ppt_w</p:attrName>
                                        </p:attrNameLst>
                                      </p:cBhvr>
                                      <p:tavLst>
                                        <p:tav tm="0">
                                          <p:val>
                                            <p:strVal val="#ppt_w*0.70"/>
                                          </p:val>
                                        </p:tav>
                                        <p:tav tm="100000">
                                          <p:val>
                                            <p:strVal val="#ppt_w"/>
                                          </p:val>
                                        </p:tav>
                                      </p:tavLst>
                                    </p:anim>
                                    <p:anim calcmode="lin" valueType="num">
                                      <p:cBhvr>
                                        <p:cTn id="36" dur="500" fill="hold"/>
                                        <p:tgtEl>
                                          <p:spTgt spid="23"/>
                                        </p:tgtEl>
                                        <p:attrNameLst>
                                          <p:attrName>ppt_h</p:attrName>
                                        </p:attrNameLst>
                                      </p:cBhvr>
                                      <p:tavLst>
                                        <p:tav tm="0">
                                          <p:val>
                                            <p:strVal val="#ppt_h"/>
                                          </p:val>
                                        </p:tav>
                                        <p:tav tm="100000">
                                          <p:val>
                                            <p:strVal val="#ppt_h"/>
                                          </p:val>
                                        </p:tav>
                                      </p:tavLst>
                                    </p:anim>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ppt_w</p:attrName>
                                        </p:attrNameLst>
                                      </p:cBhvr>
                                      <p:tavLst>
                                        <p:tav tm="0">
                                          <p:val>
                                            <p:strVal val="#ppt_w*0.70"/>
                                          </p:val>
                                        </p:tav>
                                        <p:tav tm="100000">
                                          <p:val>
                                            <p:strVal val="#ppt_w"/>
                                          </p:val>
                                        </p:tav>
                                      </p:tavLst>
                                    </p:anim>
                                    <p:anim calcmode="lin" valueType="num">
                                      <p:cBhvr>
                                        <p:cTn id="43" dur="500" fill="hold"/>
                                        <p:tgtEl>
                                          <p:spTgt spid="26"/>
                                        </p:tgtEl>
                                        <p:attrNameLst>
                                          <p:attrName>ppt_h</p:attrName>
                                        </p:attrNameLst>
                                      </p:cBhvr>
                                      <p:tavLst>
                                        <p:tav tm="0">
                                          <p:val>
                                            <p:strVal val="#ppt_h"/>
                                          </p:val>
                                        </p:tav>
                                        <p:tav tm="100000">
                                          <p:val>
                                            <p:strVal val="#ppt_h"/>
                                          </p:val>
                                        </p:tav>
                                      </p:tavLst>
                                    </p:anim>
                                    <p:animEffect transition="in" filter="fade">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p:cTn id="49" dur="500" fill="hold"/>
                                        <p:tgtEl>
                                          <p:spTgt spid="22"/>
                                        </p:tgtEl>
                                        <p:attrNameLst>
                                          <p:attrName>ppt_w</p:attrName>
                                        </p:attrNameLst>
                                      </p:cBhvr>
                                      <p:tavLst>
                                        <p:tav tm="0">
                                          <p:val>
                                            <p:strVal val="#ppt_w*0.70"/>
                                          </p:val>
                                        </p:tav>
                                        <p:tav tm="100000">
                                          <p:val>
                                            <p:strVal val="#ppt_w"/>
                                          </p:val>
                                        </p:tav>
                                      </p:tavLst>
                                    </p:anim>
                                    <p:anim calcmode="lin" valueType="num">
                                      <p:cBhvr>
                                        <p:cTn id="50" dur="500" fill="hold"/>
                                        <p:tgtEl>
                                          <p:spTgt spid="22"/>
                                        </p:tgtEl>
                                        <p:attrNameLst>
                                          <p:attrName>ppt_h</p:attrName>
                                        </p:attrNameLst>
                                      </p:cBhvr>
                                      <p:tavLst>
                                        <p:tav tm="0">
                                          <p:val>
                                            <p:strVal val="#ppt_h"/>
                                          </p:val>
                                        </p:tav>
                                        <p:tav tm="100000">
                                          <p:val>
                                            <p:strVal val="#ppt_h"/>
                                          </p:val>
                                        </p:tav>
                                      </p:tavLst>
                                    </p:anim>
                                    <p:animEffect transition="in" filter="fade">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55" presetClass="entr" presetSubtype="0" fill="hold" nodeType="clickEffect">
                                  <p:stCondLst>
                                    <p:cond delay="0"/>
                                  </p:stCondLst>
                                  <p:childTnLst>
                                    <p:set>
                                      <p:cBhvr>
                                        <p:cTn id="55" dur="1" fill="hold">
                                          <p:stCondLst>
                                            <p:cond delay="0"/>
                                          </p:stCondLst>
                                        </p:cTn>
                                        <p:tgtEl>
                                          <p:spTgt spid="27"/>
                                        </p:tgtEl>
                                        <p:attrNameLst>
                                          <p:attrName>style.visibility</p:attrName>
                                        </p:attrNameLst>
                                      </p:cBhvr>
                                      <p:to>
                                        <p:strVal val="visible"/>
                                      </p:to>
                                    </p:set>
                                    <p:anim calcmode="lin" valueType="num">
                                      <p:cBhvr>
                                        <p:cTn id="56" dur="500" fill="hold"/>
                                        <p:tgtEl>
                                          <p:spTgt spid="27"/>
                                        </p:tgtEl>
                                        <p:attrNameLst>
                                          <p:attrName>ppt_w</p:attrName>
                                        </p:attrNameLst>
                                      </p:cBhvr>
                                      <p:tavLst>
                                        <p:tav tm="0">
                                          <p:val>
                                            <p:strVal val="#ppt_w*0.70"/>
                                          </p:val>
                                        </p:tav>
                                        <p:tav tm="100000">
                                          <p:val>
                                            <p:strVal val="#ppt_w"/>
                                          </p:val>
                                        </p:tav>
                                      </p:tavLst>
                                    </p:anim>
                                    <p:anim calcmode="lin" valueType="num">
                                      <p:cBhvr>
                                        <p:cTn id="57" dur="500" fill="hold"/>
                                        <p:tgtEl>
                                          <p:spTgt spid="27"/>
                                        </p:tgtEl>
                                        <p:attrNameLst>
                                          <p:attrName>ppt_h</p:attrName>
                                        </p:attrNameLst>
                                      </p:cBhvr>
                                      <p:tavLst>
                                        <p:tav tm="0">
                                          <p:val>
                                            <p:strVal val="#ppt_h"/>
                                          </p:val>
                                        </p:tav>
                                        <p:tav tm="100000">
                                          <p:val>
                                            <p:strVal val="#ppt_h"/>
                                          </p:val>
                                        </p:tav>
                                      </p:tavLst>
                                    </p:anim>
                                    <p:animEffect transition="in" filter="fade">
                                      <p:cBhvr>
                                        <p:cTn id="58"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1" presetID="55" presetClass="entr" presetSubtype="0"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p:cTn id="63" dur="500" fill="hold"/>
                                        <p:tgtEl>
                                          <p:spTgt spid="20"/>
                                        </p:tgtEl>
                                        <p:attrNameLst>
                                          <p:attrName>ppt_w</p:attrName>
                                        </p:attrNameLst>
                                      </p:cBhvr>
                                      <p:tavLst>
                                        <p:tav tm="0">
                                          <p:val>
                                            <p:strVal val="#ppt_w*0.70"/>
                                          </p:val>
                                        </p:tav>
                                        <p:tav tm="100000">
                                          <p:val>
                                            <p:strVal val="#ppt_w"/>
                                          </p:val>
                                        </p:tav>
                                      </p:tavLst>
                                    </p:anim>
                                    <p:anim calcmode="lin" valueType="num">
                                      <p:cBhvr>
                                        <p:cTn id="64" dur="500" fill="hold"/>
                                        <p:tgtEl>
                                          <p:spTgt spid="20"/>
                                        </p:tgtEl>
                                        <p:attrNameLst>
                                          <p:attrName>ppt_h</p:attrName>
                                        </p:attrNameLst>
                                      </p:cBhvr>
                                      <p:tavLst>
                                        <p:tav tm="0">
                                          <p:val>
                                            <p:strVal val="#ppt_h"/>
                                          </p:val>
                                        </p:tav>
                                        <p:tav tm="100000">
                                          <p:val>
                                            <p:strVal val="#ppt_h"/>
                                          </p:val>
                                        </p:tav>
                                      </p:tavLst>
                                    </p:anim>
                                    <p:animEffect transition="in" filter="fade">
                                      <p:cBhvr>
                                        <p:cTn id="6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vl="0">
              <a:lnSpc>
                <a:spcPts val="2800"/>
              </a:lnSpc>
              <a:buFont typeface="Wingdings" panose="05000000000000000000" pitchFamily="2" charset="2"/>
            </a:pPr>
            <a:r>
              <a:rPr lang="zh-CN" altLang="en-US">
                <a:sym typeface="+mn-ea"/>
              </a:rPr>
              <a:t>总结：</a:t>
            </a:r>
            <a:endParaRPr lang="zh-CN" altLang="zh-CN" dirty="0"/>
          </a:p>
          <a:p>
            <a:pPr marL="478155" lvl="2" indent="-342900">
              <a:lnSpc>
                <a:spcPts val="2800"/>
              </a:lnSpc>
              <a:buFont typeface="Wingdings" panose="05000000000000000000" pitchFamily="2" charset="2"/>
              <a:buChar char="p"/>
            </a:pPr>
            <a:r>
              <a:rPr lang="zh-CN" altLang="zh-CN" dirty="0"/>
              <a:t>程序调用函数时，主调函数的返回地址必须压入</a:t>
            </a:r>
            <a:r>
              <a:rPr lang="zh-CN" altLang="en-US" dirty="0"/>
              <a:t>函数调用</a:t>
            </a:r>
            <a:r>
              <a:rPr lang="zh-CN" altLang="zh-CN" dirty="0"/>
              <a:t>栈（</a:t>
            </a:r>
            <a:r>
              <a:rPr lang="en-US" altLang="zh-CN" dirty="0"/>
              <a:t>stack</a:t>
            </a:r>
            <a:r>
              <a:rPr lang="zh-CN" altLang="en-US" dirty="0"/>
              <a:t>）。</a:t>
            </a:r>
            <a:endParaRPr lang="en-US" altLang="zh-CN" dirty="0"/>
          </a:p>
          <a:p>
            <a:pPr marL="478155" lvl="2" indent="-342900" fontAlgn="base">
              <a:lnSpc>
                <a:spcPts val="2800"/>
              </a:lnSpc>
              <a:buFont typeface="Wingdings" panose="05000000000000000000" pitchFamily="2" charset="2"/>
              <a:buChar char="Ø"/>
            </a:pPr>
            <a:r>
              <a:rPr lang="zh-CN" altLang="en-US" sz="1800" dirty="0"/>
              <a:t>一系列的函数调用，其对应的一组</a:t>
            </a:r>
            <a:r>
              <a:rPr lang="zh-CN" altLang="en-US" sz="1800" dirty="0">
                <a:solidFill>
                  <a:srgbClr val="FF0000"/>
                </a:solidFill>
              </a:rPr>
              <a:t>返回地址</a:t>
            </a:r>
            <a:r>
              <a:rPr lang="zh-CN" altLang="en-US" sz="1800" dirty="0"/>
              <a:t>将按照</a:t>
            </a:r>
            <a:r>
              <a:rPr lang="zh-CN" altLang="en-US" sz="1800" dirty="0">
                <a:solidFill>
                  <a:srgbClr val="FF0000"/>
                </a:solidFill>
              </a:rPr>
              <a:t>后进先出</a:t>
            </a:r>
            <a:r>
              <a:rPr lang="zh-CN" altLang="en-US" sz="1800" dirty="0"/>
              <a:t>的顺序被压入函数调用</a:t>
            </a:r>
            <a:r>
              <a:rPr lang="zh-CN" altLang="zh-CN" sz="1800" dirty="0"/>
              <a:t>栈</a:t>
            </a:r>
            <a:r>
              <a:rPr lang="zh-CN" altLang="en-US" sz="1800" dirty="0"/>
              <a:t>，这样每个函数才能够正确地返回到它的主调函数。</a:t>
            </a:r>
            <a:endParaRPr lang="en-US" altLang="zh-CN" sz="1800" dirty="0"/>
          </a:p>
          <a:p>
            <a:pPr marL="478155" lvl="2" indent="-342900">
              <a:lnSpc>
                <a:spcPts val="2800"/>
              </a:lnSpc>
              <a:buFont typeface="Wingdings" panose="05000000000000000000" pitchFamily="2" charset="2"/>
              <a:buChar char="p"/>
            </a:pPr>
            <a:r>
              <a:rPr lang="zh-CN" altLang="en-US" dirty="0"/>
              <a:t>函数每次被调用时产生的局部变量，保存在函数调用</a:t>
            </a:r>
            <a:r>
              <a:rPr lang="zh-CN" altLang="zh-CN" dirty="0"/>
              <a:t>栈</a:t>
            </a:r>
            <a:r>
              <a:rPr lang="zh-CN" altLang="en-US" dirty="0"/>
              <a:t>中，称为函数调用的活动记录。</a:t>
            </a:r>
            <a:endParaRPr lang="en-US" altLang="zh-CN" dirty="0"/>
          </a:p>
          <a:p>
            <a:pPr marL="478155" lvl="2" indent="-342900" fontAlgn="base">
              <a:lnSpc>
                <a:spcPts val="2800"/>
              </a:lnSpc>
              <a:buFont typeface="Wingdings" panose="05000000000000000000" pitchFamily="2" charset="2"/>
              <a:buChar char="Ø"/>
            </a:pPr>
            <a:r>
              <a:rPr lang="zh-CN" altLang="en-US" dirty="0"/>
              <a:t>发生一次</a:t>
            </a:r>
            <a:r>
              <a:rPr lang="zh-CN" altLang="en-US" dirty="0">
                <a:solidFill>
                  <a:srgbClr val="FF0000"/>
                </a:solidFill>
              </a:rPr>
              <a:t>函数调用</a:t>
            </a:r>
            <a:r>
              <a:rPr lang="zh-CN" altLang="en-US" dirty="0"/>
              <a:t>，对应的活动记录</a:t>
            </a:r>
            <a:r>
              <a:rPr lang="zh-CN" altLang="en-US" dirty="0">
                <a:solidFill>
                  <a:srgbClr val="FF0000"/>
                </a:solidFill>
              </a:rPr>
              <a:t>入</a:t>
            </a:r>
            <a:r>
              <a:rPr lang="zh-CN" altLang="zh-CN" dirty="0">
                <a:solidFill>
                  <a:srgbClr val="FF0000"/>
                </a:solidFill>
              </a:rPr>
              <a:t>栈</a:t>
            </a:r>
            <a:r>
              <a:rPr lang="zh-CN" altLang="en-US" dirty="0"/>
              <a:t>。</a:t>
            </a:r>
            <a:endParaRPr lang="en-US" altLang="zh-CN" dirty="0"/>
          </a:p>
          <a:p>
            <a:pPr marL="478155" lvl="2" indent="-342900" fontAlgn="base">
              <a:lnSpc>
                <a:spcPts val="2800"/>
              </a:lnSpc>
              <a:buFont typeface="Wingdings" panose="05000000000000000000" pitchFamily="2" charset="2"/>
              <a:buChar char="Ø"/>
            </a:pPr>
            <a:r>
              <a:rPr lang="zh-CN" altLang="en-US" dirty="0"/>
              <a:t>当</a:t>
            </a:r>
            <a:r>
              <a:rPr lang="zh-CN" altLang="en-US" dirty="0">
                <a:solidFill>
                  <a:srgbClr val="FF0000"/>
                </a:solidFill>
              </a:rPr>
              <a:t>函数返回</a:t>
            </a:r>
            <a:r>
              <a:rPr lang="zh-CN" altLang="en-US" dirty="0"/>
              <a:t>时，对应的活动记录</a:t>
            </a:r>
            <a:r>
              <a:rPr lang="zh-CN" altLang="en-US" dirty="0">
                <a:solidFill>
                  <a:srgbClr val="FF0000"/>
                </a:solidFill>
              </a:rPr>
              <a:t>出</a:t>
            </a:r>
            <a:r>
              <a:rPr lang="zh-CN" altLang="zh-CN" dirty="0">
                <a:solidFill>
                  <a:srgbClr val="FF0000"/>
                </a:solidFill>
              </a:rPr>
              <a:t>栈</a:t>
            </a:r>
            <a:r>
              <a:rPr lang="zh-CN" altLang="en-US" dirty="0"/>
              <a:t>。 </a:t>
            </a:r>
            <a:endParaRPr lang="zh-CN" altLang="en-US" dirty="0"/>
          </a:p>
          <a:p>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
        <p:nvSpPr>
          <p:cNvPr id="4" name="矩形 3"/>
          <p:cNvSpPr/>
          <p:nvPr/>
        </p:nvSpPr>
        <p:spPr>
          <a:xfrm>
            <a:off x="950695" y="4240326"/>
            <a:ext cx="4651208" cy="400110"/>
          </a:xfrm>
          <a:prstGeom prst="rect">
            <a:avLst/>
          </a:prstGeom>
          <a:solidFill>
            <a:schemeClr val="bg1">
              <a:lumMod val="85000"/>
            </a:schemeClr>
          </a:solidFill>
        </p:spPr>
        <p:txBody>
          <a:bodyPr wrap="square">
            <a:spAutoFit/>
          </a:bodyPr>
          <a:lstStyle/>
          <a:p>
            <a:pPr eaLnBrk="1" hangingPunct="1">
              <a:defRPr/>
            </a:pPr>
            <a:r>
              <a:rPr lang="zh-CN" altLang="en-US" sz="2000" b="1" dirty="0">
                <a:solidFill>
                  <a:srgbClr val="FF0000"/>
                </a:solidFill>
                <a:latin typeface="宋体" panose="02010600030101010101" pitchFamily="2" charset="-122"/>
              </a:rPr>
              <a:t>当前正在运行函数的活动记录必在栈顶。</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堆栈溢出：</a:t>
            </a:r>
            <a:endParaRPr lang="en-US" altLang="zh-CN" dirty="0"/>
          </a:p>
          <a:p>
            <a:pPr lvl="2"/>
            <a:r>
              <a:rPr lang="zh-CN" altLang="en-US" dirty="0">
                <a:sym typeface="宋体" panose="02010600030101010101" pitchFamily="2" charset="-122"/>
              </a:rPr>
              <a:t>由于计算机中的内存容量是有限的，所以程序执行堆栈中用来保存活动记录的存储单元的总数有一个上限。如果连续发生多次函数调用产生的活动记录超过了这一上限，将会发生</a:t>
            </a:r>
            <a:r>
              <a:rPr lang="zh-CN" altLang="en-US" dirty="0">
                <a:solidFill>
                  <a:srgbClr val="FF0000"/>
                </a:solidFill>
                <a:sym typeface="宋体" panose="02010600030101010101" pitchFamily="2" charset="-122"/>
              </a:rPr>
              <a:t>堆栈溢出</a:t>
            </a:r>
            <a:r>
              <a:rPr lang="zh-CN" altLang="en-US" dirty="0">
                <a:sym typeface="宋体" panose="02010600030101010101" pitchFamily="2" charset="-122"/>
              </a:rPr>
              <a:t>（</a:t>
            </a:r>
            <a:r>
              <a:rPr lang="en-US" altLang="zh-CN" dirty="0">
                <a:sym typeface="宋体" panose="02010600030101010101" pitchFamily="2" charset="-122"/>
              </a:rPr>
              <a:t>stack  overflow</a:t>
            </a:r>
            <a:r>
              <a:rPr lang="zh-CN" altLang="en-US" dirty="0">
                <a:sym typeface="宋体" panose="02010600030101010101" pitchFamily="2" charset="-122"/>
              </a:rPr>
              <a:t>）错误。</a:t>
            </a:r>
            <a:endParaRPr lang="en-US" altLang="zh-CN" dirty="0">
              <a:sym typeface="宋体" panose="02010600030101010101" pitchFamily="2" charset="-122"/>
            </a:endParaRPr>
          </a:p>
          <a:p>
            <a:pPr lvl="2"/>
            <a:endParaRPr lang="en-US" altLang="zh-CN" dirty="0">
              <a:sym typeface="宋体" panose="02010600030101010101" pitchFamily="2" charset="-122"/>
            </a:endParaRPr>
          </a:p>
          <a:p>
            <a:pPr lvl="2"/>
            <a:r>
              <a:rPr lang="zh-CN" altLang="en-US" dirty="0">
                <a:sym typeface="宋体" panose="02010600030101010101" pitchFamily="2" charset="-122"/>
              </a:rPr>
              <a:t>回想一下我们的讨论题</a:t>
            </a:r>
            <a:r>
              <a:rPr lang="en-US" altLang="zh-CN" dirty="0">
                <a:sym typeface="宋体" panose="02010600030101010101" pitchFamily="2" charset="-122"/>
              </a:rPr>
              <a:t>1.2</a:t>
            </a:r>
            <a:r>
              <a:rPr lang="zh-CN" altLang="en-US" dirty="0">
                <a:sym typeface="宋体" panose="02010600030101010101" pitchFamily="2" charset="-122"/>
              </a:rPr>
              <a:t> 关于求 </a:t>
            </a:r>
            <a:r>
              <a:rPr lang="en-US" altLang="zh-CN" dirty="0">
                <a:sym typeface="宋体" panose="02010600030101010101" pitchFamily="2" charset="-122"/>
              </a:rPr>
              <a:t>n!</a:t>
            </a:r>
            <a:r>
              <a:rPr lang="zh-CN" altLang="en-US" dirty="0">
                <a:sym typeface="宋体" panose="02010600030101010101" pitchFamily="2" charset="-122"/>
              </a:rPr>
              <a:t> 的运行结果</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1800" dirty="0"/>
              <a:t>   </a:t>
            </a:r>
            <a:r>
              <a:rPr lang="en-US" altLang="zh-CN" sz="1800" dirty="0"/>
              <a:t>  </a:t>
            </a:r>
            <a:r>
              <a:rPr lang="zh-CN" altLang="en-US" dirty="0">
                <a:solidFill>
                  <a:srgbClr val="FF0000"/>
                </a:solidFill>
              </a:rPr>
              <a:t>递归</a:t>
            </a:r>
            <a:r>
              <a:rPr lang="zh-CN" altLang="en-US" dirty="0"/>
              <a:t>是指在定义自身的同时又出现了对自身的调用。</a:t>
            </a:r>
            <a:endParaRPr lang="en-US" altLang="zh-CN" dirty="0"/>
          </a:p>
          <a:p>
            <a:pPr marL="478155" lvl="2" indent="-342900">
              <a:buFont typeface="Wingdings" panose="05000000000000000000" pitchFamily="2" charset="2"/>
              <a:buChar char="Ø"/>
            </a:pPr>
            <a:r>
              <a:rPr lang="zh-CN" altLang="en-US" dirty="0"/>
              <a:t>直接递归函数</a:t>
            </a:r>
            <a:endParaRPr lang="en-US" altLang="zh-CN" dirty="0"/>
          </a:p>
          <a:p>
            <a:pPr marL="478155" lvl="2" indent="-342900">
              <a:buFont typeface="Wingdings" panose="05000000000000000000" pitchFamily="2" charset="2"/>
              <a:buChar char="Ø"/>
            </a:pPr>
            <a:r>
              <a:rPr lang="zh-CN" altLang="en-US" dirty="0"/>
              <a:t>间接递归函数</a:t>
            </a:r>
            <a:endParaRPr lang="zh-CN" altLang="en-US" dirty="0"/>
          </a:p>
          <a:p>
            <a:pPr marL="0" lvl="2">
              <a:buFont typeface="Wingdings" panose="05000000000000000000" pitchFamily="2" charset="2"/>
            </a:pPr>
            <a:r>
              <a:rPr lang="zh-CN" altLang="en-US">
                <a:solidFill>
                  <a:srgbClr val="800000"/>
                </a:solidFill>
                <a:effectLst/>
                <a:latin typeface="Times New Roman" panose="02020603050405020304" pitchFamily="18" charset="0"/>
                <a:ea typeface="黑体" panose="02010609060101010101" pitchFamily="49" charset="-122"/>
                <a:sym typeface="+mn-ea"/>
              </a:rPr>
              <a:t>递归一般采用</a:t>
            </a:r>
            <a:r>
              <a:rPr lang="zh-CN" altLang="en-US">
                <a:solidFill>
                  <a:srgbClr val="FF0000"/>
                </a:solidFill>
                <a:effectLst/>
                <a:latin typeface="Times New Roman" panose="02020603050405020304" pitchFamily="18" charset="0"/>
                <a:ea typeface="黑体" panose="02010609060101010101" pitchFamily="49" charset="-122"/>
                <a:sym typeface="+mn-ea"/>
              </a:rPr>
              <a:t>分治法</a:t>
            </a:r>
            <a:r>
              <a:rPr lang="zh-CN" altLang="en-US">
                <a:solidFill>
                  <a:srgbClr val="800000"/>
                </a:solidFill>
                <a:effectLst/>
                <a:latin typeface="Times New Roman" panose="02020603050405020304" pitchFamily="18" charset="0"/>
                <a:ea typeface="黑体" panose="02010609060101010101" pitchFamily="49" charset="-122"/>
                <a:sym typeface="+mn-ea"/>
              </a:rPr>
              <a:t>的算法思想。</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6240" y="593090"/>
            <a:ext cx="6196965" cy="4085590"/>
          </a:xfrm>
        </p:spPr>
        <p:txBody>
          <a:bodyPr/>
          <a:lstStyle/>
          <a:p>
            <a:r>
              <a:rPr lang="zh-CN" altLang="en-US" dirty="0">
                <a:solidFill>
                  <a:srgbClr val="FF0000"/>
                </a:solidFill>
                <a:sym typeface="+mn-lt"/>
              </a:rPr>
              <a:t>分治法</a:t>
            </a:r>
            <a:r>
              <a:rPr lang="zh-CN" altLang="en-US" dirty="0">
                <a:sym typeface="+mn-lt"/>
              </a:rPr>
              <a:t>：对于一个较为复杂的问题，能够分解成几个相对简单的且解法相同或类似的子问题来求解。</a:t>
            </a:r>
            <a:endParaRPr lang="zh-CN" altLang="en-US" dirty="0">
              <a:sym typeface="+mn-lt"/>
            </a:endParaRPr>
          </a:p>
          <a:p>
            <a:pPr lvl="2">
              <a:lnSpc>
                <a:spcPts val="2600"/>
              </a:lnSpc>
              <a:defRPr/>
            </a:pPr>
            <a:r>
              <a:rPr sz="1800">
                <a:sym typeface="+mn-lt"/>
              </a:rPr>
              <a:t>分治法求解递归问题算法的一般形式：</a:t>
            </a:r>
            <a:endParaRPr lang="zh-CN" altLang="en-US" sz="1800" dirty="0">
              <a:sym typeface="+mn-lt"/>
            </a:endParaRPr>
          </a:p>
          <a:p>
            <a:pPr lvl="2">
              <a:lnSpc>
                <a:spcPts val="2600"/>
              </a:lnSpc>
              <a:defRPr/>
            </a:pPr>
            <a:r>
              <a:rPr lang="en-US" altLang="zh-CN" sz="1800">
                <a:sym typeface="+mn-lt"/>
              </a:rPr>
              <a:t>void  </a:t>
            </a:r>
            <a:r>
              <a:rPr lang="en-US" altLang="zh-CN" sz="1800">
                <a:solidFill>
                  <a:srgbClr val="FF0000"/>
                </a:solidFill>
                <a:sym typeface="+mn-lt"/>
              </a:rPr>
              <a:t> f</a:t>
            </a:r>
            <a:r>
              <a:rPr lang="en-US" altLang="zh-CN" sz="1800">
                <a:sym typeface="+mn-lt"/>
              </a:rPr>
              <a:t>(</a:t>
            </a:r>
            <a:r>
              <a:rPr sz="1800">
                <a:sym typeface="+mn-lt"/>
              </a:rPr>
              <a:t>参数表</a:t>
            </a:r>
            <a:r>
              <a:rPr lang="en-US" altLang="zh-CN" sz="1800">
                <a:sym typeface="+mn-lt"/>
              </a:rPr>
              <a:t>)</a:t>
            </a:r>
            <a:endParaRPr lang="en-US" altLang="zh-CN" sz="1800" dirty="0">
              <a:sym typeface="+mn-lt"/>
            </a:endParaRPr>
          </a:p>
          <a:p>
            <a:pPr lvl="2">
              <a:lnSpc>
                <a:spcPts val="2600"/>
              </a:lnSpc>
              <a:defRPr/>
            </a:pPr>
            <a:r>
              <a:rPr lang="en-US" altLang="zh-CN" sz="1800">
                <a:sym typeface="+mn-lt"/>
              </a:rPr>
              <a:t>{</a:t>
            </a:r>
            <a:endParaRPr lang="en-US" altLang="zh-CN" sz="1800" dirty="0">
              <a:sym typeface="+mn-lt"/>
            </a:endParaRPr>
          </a:p>
          <a:p>
            <a:pPr lvl="2">
              <a:lnSpc>
                <a:spcPts val="2600"/>
              </a:lnSpc>
              <a:defRPr/>
            </a:pPr>
            <a:r>
              <a:rPr lang="en-US" altLang="zh-CN" sz="1800">
                <a:sym typeface="+mn-lt"/>
              </a:rPr>
              <a:t>        if</a:t>
            </a:r>
            <a:r>
              <a:rPr sz="1800">
                <a:sym typeface="+mn-lt"/>
              </a:rPr>
              <a:t>（递归结束条件）可直接求解步骤；  </a:t>
            </a:r>
            <a:r>
              <a:rPr lang="en-US" altLang="zh-CN" sz="1800">
                <a:solidFill>
                  <a:srgbClr val="FF0000"/>
                </a:solidFill>
                <a:sym typeface="+mn-lt"/>
              </a:rPr>
              <a:t>-----</a:t>
            </a:r>
            <a:r>
              <a:rPr sz="1800">
                <a:solidFill>
                  <a:srgbClr val="FF0000"/>
                </a:solidFill>
                <a:sym typeface="+mn-lt"/>
              </a:rPr>
              <a:t>基本项</a:t>
            </a:r>
            <a:endParaRPr lang="zh-CN" altLang="en-US" sz="1800" dirty="0">
              <a:solidFill>
                <a:srgbClr val="FF0000"/>
              </a:solidFill>
              <a:sym typeface="+mn-lt"/>
            </a:endParaRPr>
          </a:p>
          <a:p>
            <a:pPr lvl="2">
              <a:lnSpc>
                <a:spcPts val="2600"/>
              </a:lnSpc>
              <a:defRPr/>
            </a:pPr>
            <a:r>
              <a:rPr sz="1800">
                <a:sym typeface="+mn-lt"/>
              </a:rPr>
              <a:t>        </a:t>
            </a:r>
            <a:r>
              <a:rPr lang="en-US" altLang="zh-CN" sz="1800">
                <a:sym typeface="+mn-lt"/>
              </a:rPr>
              <a:t>else  </a:t>
            </a:r>
            <a:r>
              <a:rPr lang="en-US" altLang="zh-CN" sz="1800">
                <a:solidFill>
                  <a:srgbClr val="FF0000"/>
                </a:solidFill>
                <a:sym typeface="+mn-lt"/>
              </a:rPr>
              <a:t>f</a:t>
            </a:r>
            <a:r>
              <a:rPr lang="en-US" altLang="zh-CN" sz="1800">
                <a:sym typeface="+mn-lt"/>
              </a:rPr>
              <a:t>(</a:t>
            </a:r>
            <a:r>
              <a:rPr sz="1800">
                <a:sym typeface="+mn-lt"/>
              </a:rPr>
              <a:t>较小的参数)； </a:t>
            </a:r>
            <a:r>
              <a:rPr lang="en-US" altLang="zh-CN" sz="1800">
                <a:solidFill>
                  <a:srgbClr val="FF0000"/>
                </a:solidFill>
                <a:sym typeface="+mn-lt"/>
              </a:rPr>
              <a:t>------</a:t>
            </a:r>
            <a:r>
              <a:rPr sz="1800">
                <a:solidFill>
                  <a:srgbClr val="FF0000"/>
                </a:solidFill>
                <a:sym typeface="+mn-lt"/>
              </a:rPr>
              <a:t>归纳项</a:t>
            </a:r>
            <a:endParaRPr lang="zh-CN" altLang="en-US" sz="1800" dirty="0">
              <a:solidFill>
                <a:srgbClr val="FF0000"/>
              </a:solidFill>
              <a:sym typeface="+mn-lt"/>
            </a:endParaRPr>
          </a:p>
          <a:p>
            <a:pPr lvl="2">
              <a:lnSpc>
                <a:spcPts val="2600"/>
              </a:lnSpc>
              <a:defRPr/>
            </a:pPr>
            <a:r>
              <a:rPr lang="en-US" altLang="zh-CN" sz="1800">
                <a:sym typeface="+mn-lt"/>
              </a:rPr>
              <a:t>} </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vl="2">
              <a:lnSpc>
                <a:spcPts val="2600"/>
              </a:lnSpc>
              <a:defRPr/>
            </a:pPr>
            <a:r>
              <a:rPr lang="zh-CN" altLang="en-US" sz="2300">
                <a:solidFill>
                  <a:srgbClr val="800000"/>
                </a:solidFill>
                <a:effectLst/>
                <a:latin typeface="Times New Roman" panose="02020603050405020304" pitchFamily="18" charset="0"/>
                <a:ea typeface="黑体" panose="02010609060101010101" pitchFamily="49" charset="-122"/>
                <a:sym typeface="+mn-lt"/>
              </a:rPr>
              <a:t>例：求</a:t>
            </a:r>
            <a:r>
              <a:rPr lang="zh-CN" altLang="en-US" sz="2300">
                <a:solidFill>
                  <a:srgbClr val="800000"/>
                </a:solidFill>
                <a:effectLst/>
                <a:latin typeface="Times New Roman" panose="02020603050405020304" pitchFamily="18" charset="0"/>
                <a:ea typeface="黑体" panose="02010609060101010101" pitchFamily="49" charset="-122"/>
                <a:sym typeface="+mn-ea"/>
              </a:rPr>
              <a:t>n!</a:t>
            </a:r>
            <a:endParaRPr lang="zh-CN" altLang="en-US" sz="2300" dirty="0">
              <a:solidFill>
                <a:srgbClr val="800000"/>
              </a:solidFill>
              <a:effectLst/>
              <a:latin typeface="Times New Roman" panose="02020603050405020304" pitchFamily="18" charset="0"/>
              <a:ea typeface="黑体" panose="02010609060101010101" pitchFamily="49" charset="-122"/>
              <a:sym typeface="+mn-lt"/>
            </a:endParaRPr>
          </a:p>
          <a:p>
            <a:pPr lvl="2">
              <a:lnSpc>
                <a:spcPts val="2600"/>
              </a:lnSpc>
              <a:defRPr/>
            </a:pPr>
            <a:r>
              <a:rPr lang="en-US" altLang="zh-CN" sz="1800" dirty="0">
                <a:sym typeface="+mn-lt"/>
              </a:rPr>
              <a:t>long Fact ( long n ) </a:t>
            </a:r>
            <a:endParaRPr lang="en-US" altLang="zh-CN" sz="1800" dirty="0">
              <a:sym typeface="+mn-lt"/>
            </a:endParaRPr>
          </a:p>
          <a:p>
            <a:pPr lvl="2">
              <a:lnSpc>
                <a:spcPts val="2600"/>
              </a:lnSpc>
              <a:defRPr/>
            </a:pPr>
            <a:r>
              <a:rPr lang="en-US" altLang="zh-CN" sz="1800" dirty="0">
                <a:sym typeface="+mn-lt"/>
              </a:rPr>
              <a:t>{</a:t>
            </a:r>
            <a:endParaRPr lang="en-US" altLang="zh-CN" sz="1800" dirty="0">
              <a:sym typeface="+mn-lt"/>
            </a:endParaRPr>
          </a:p>
          <a:p>
            <a:pPr lvl="2">
              <a:lnSpc>
                <a:spcPts val="2600"/>
              </a:lnSpc>
              <a:defRPr/>
            </a:pPr>
            <a:r>
              <a:rPr lang="en-US" altLang="zh-CN" sz="1800" dirty="0">
                <a:sym typeface="+mn-lt"/>
              </a:rPr>
              <a:t>    if ( n == 0) return 1;              //</a:t>
            </a:r>
            <a:r>
              <a:rPr lang="zh-CN" altLang="en-US" sz="1800" dirty="0">
                <a:sym typeface="+mn-lt"/>
              </a:rPr>
              <a:t>基本项</a:t>
            </a:r>
            <a:endParaRPr lang="zh-CN" altLang="en-US" sz="1800" dirty="0">
              <a:sym typeface="+mn-lt"/>
            </a:endParaRPr>
          </a:p>
          <a:p>
            <a:pPr lvl="2">
              <a:lnSpc>
                <a:spcPts val="2600"/>
              </a:lnSpc>
              <a:defRPr/>
            </a:pPr>
            <a:r>
              <a:rPr lang="zh-CN" altLang="en-US" sz="1800" dirty="0">
                <a:sym typeface="+mn-lt"/>
              </a:rPr>
              <a:t>    </a:t>
            </a:r>
            <a:r>
              <a:rPr lang="en-US" altLang="zh-CN" sz="1800" dirty="0">
                <a:sym typeface="+mn-lt"/>
              </a:rPr>
              <a:t>else return n * Fact (n-1);      //</a:t>
            </a:r>
            <a:r>
              <a:rPr lang="zh-CN" altLang="en-US" sz="1800" dirty="0">
                <a:sym typeface="+mn-lt"/>
              </a:rPr>
              <a:t>归纳项</a:t>
            </a:r>
            <a:endParaRPr lang="en-US" altLang="zh-CN" sz="1800" dirty="0">
              <a:sym typeface="+mn-lt"/>
            </a:endParaRPr>
          </a:p>
          <a:p>
            <a:pPr lvl="2">
              <a:lnSpc>
                <a:spcPts val="2600"/>
              </a:lnSpc>
              <a:defRPr/>
            </a:pPr>
            <a:r>
              <a:rPr lang="en-US" altLang="zh-CN" sz="1800" dirty="0">
                <a:sym typeface="+mn-lt"/>
              </a:rPr>
              <a:t>}</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汉诺塔</a:t>
            </a:r>
            <a:endParaRPr lang="en-US" altLang="zh-CN" dirty="0"/>
          </a:p>
          <a:p>
            <a:pPr lvl="2">
              <a:lnSpc>
                <a:spcPts val="2800"/>
              </a:lnSpc>
            </a:pPr>
            <a:r>
              <a:rPr lang="zh-CN" altLang="en-US" sz="1800" dirty="0">
                <a:sym typeface="+mn-lt"/>
              </a:rPr>
              <a:t>在印度圣庙里，一块黄铜板上插着三根宝石针。</a:t>
            </a:r>
            <a:endParaRPr lang="en-US" altLang="zh-CN" sz="1800" dirty="0">
              <a:sym typeface="+mn-lt"/>
            </a:endParaRPr>
          </a:p>
          <a:p>
            <a:pPr lvl="2">
              <a:lnSpc>
                <a:spcPts val="2800"/>
              </a:lnSpc>
            </a:pPr>
            <a:r>
              <a:rPr lang="zh-CN" altLang="en-US" sz="1800" dirty="0">
                <a:sym typeface="+mn-lt"/>
              </a:rPr>
              <a:t>主神梵天在创造世界时，在其中一根针上穿好了由大到小的</a:t>
            </a:r>
            <a:r>
              <a:rPr lang="en-US" altLang="zh-CN" sz="1800" dirty="0">
                <a:sym typeface="+mn-lt"/>
              </a:rPr>
              <a:t>64</a:t>
            </a:r>
            <a:r>
              <a:rPr lang="zh-CN" altLang="en-US" sz="1800" dirty="0">
                <a:sym typeface="+mn-lt"/>
              </a:rPr>
              <a:t>片金片，这就是汉诺塔。</a:t>
            </a:r>
            <a:endParaRPr lang="en-US" altLang="zh-CN" sz="1800" dirty="0">
              <a:sym typeface="+mn-lt"/>
            </a:endParaRPr>
          </a:p>
          <a:p>
            <a:pPr lvl="2">
              <a:lnSpc>
                <a:spcPts val="2800"/>
              </a:lnSpc>
            </a:pPr>
            <a:r>
              <a:rPr lang="zh-CN" altLang="en-US" sz="1800" dirty="0">
                <a:sym typeface="+mn-lt"/>
              </a:rPr>
              <a:t>僧侣不停移动这些金片，一次只移动一片，小片必在大片上面。当所有的金片都移到另外一个针上时，世界将会灭亡。 </a:t>
            </a:r>
            <a:endParaRPr lang="zh-CN" altLang="en-US" sz="1800" dirty="0">
              <a:sym typeface="+mn-lt"/>
            </a:endParaRPr>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grpSp>
        <p:nvGrpSpPr>
          <p:cNvPr id="4" name="Group 3"/>
          <p:cNvGrpSpPr/>
          <p:nvPr/>
        </p:nvGrpSpPr>
        <p:grpSpPr bwMode="auto">
          <a:xfrm>
            <a:off x="457200" y="3339353"/>
            <a:ext cx="5943600" cy="1478756"/>
            <a:chOff x="384" y="1257"/>
            <a:chExt cx="4992" cy="1656"/>
          </a:xfrm>
        </p:grpSpPr>
        <p:grpSp>
          <p:nvGrpSpPr>
            <p:cNvPr id="5" name="Group 4"/>
            <p:cNvGrpSpPr/>
            <p:nvPr/>
          </p:nvGrpSpPr>
          <p:grpSpPr bwMode="auto">
            <a:xfrm>
              <a:off x="384" y="1257"/>
              <a:ext cx="1392" cy="1134"/>
              <a:chOff x="384" y="1824"/>
              <a:chExt cx="1392" cy="1134"/>
            </a:xfrm>
          </p:grpSpPr>
          <p:sp>
            <p:nvSpPr>
              <p:cNvPr id="21" name="Line 5"/>
              <p:cNvSpPr>
                <a:spLocks noChangeShapeType="1"/>
              </p:cNvSpPr>
              <p:nvPr/>
            </p:nvSpPr>
            <p:spPr bwMode="auto">
              <a:xfrm>
                <a:off x="3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22" name="Line 6"/>
              <p:cNvSpPr>
                <a:spLocks noChangeShapeType="1"/>
              </p:cNvSpPr>
              <p:nvPr/>
            </p:nvSpPr>
            <p:spPr bwMode="auto">
              <a:xfrm>
                <a:off x="10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6" name="Group 7"/>
            <p:cNvGrpSpPr/>
            <p:nvPr/>
          </p:nvGrpSpPr>
          <p:grpSpPr bwMode="auto">
            <a:xfrm>
              <a:off x="502" y="1439"/>
              <a:ext cx="1134" cy="941"/>
              <a:chOff x="502" y="2006"/>
              <a:chExt cx="1134" cy="941"/>
            </a:xfrm>
          </p:grpSpPr>
          <p:sp>
            <p:nvSpPr>
              <p:cNvPr id="16" name="Rectangle 8"/>
              <p:cNvSpPr>
                <a:spLocks noChangeArrowheads="1"/>
              </p:cNvSpPr>
              <p:nvPr/>
            </p:nvSpPr>
            <p:spPr bwMode="auto">
              <a:xfrm>
                <a:off x="502" y="2765"/>
                <a:ext cx="1134"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17" name="Rectangle 9"/>
              <p:cNvSpPr>
                <a:spLocks noChangeArrowheads="1"/>
              </p:cNvSpPr>
              <p:nvPr/>
            </p:nvSpPr>
            <p:spPr bwMode="auto">
              <a:xfrm>
                <a:off x="629" y="2577"/>
                <a:ext cx="907"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18" name="Rectangle 10"/>
              <p:cNvSpPr>
                <a:spLocks noChangeArrowheads="1"/>
              </p:cNvSpPr>
              <p:nvPr/>
            </p:nvSpPr>
            <p:spPr bwMode="auto">
              <a:xfrm>
                <a:off x="738" y="2389"/>
                <a:ext cx="680" cy="181"/>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19" name="Rectangle 11"/>
              <p:cNvSpPr>
                <a:spLocks noChangeArrowheads="1"/>
              </p:cNvSpPr>
              <p:nvPr/>
            </p:nvSpPr>
            <p:spPr bwMode="auto">
              <a:xfrm>
                <a:off x="843" y="2200"/>
                <a:ext cx="453" cy="179"/>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20" name="Rectangle 12"/>
              <p:cNvSpPr>
                <a:spLocks noChangeArrowheads="1"/>
              </p:cNvSpPr>
              <p:nvPr/>
            </p:nvSpPr>
            <p:spPr bwMode="auto">
              <a:xfrm>
                <a:off x="958" y="2008"/>
                <a:ext cx="227"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grpSp>
        <p:grpSp>
          <p:nvGrpSpPr>
            <p:cNvPr id="7" name="Group 13"/>
            <p:cNvGrpSpPr/>
            <p:nvPr/>
          </p:nvGrpSpPr>
          <p:grpSpPr bwMode="auto">
            <a:xfrm>
              <a:off x="2208" y="1257"/>
              <a:ext cx="1392" cy="1134"/>
              <a:chOff x="2208" y="1824"/>
              <a:chExt cx="1392" cy="1134"/>
            </a:xfrm>
          </p:grpSpPr>
          <p:sp>
            <p:nvSpPr>
              <p:cNvPr id="14" name="Line 14"/>
              <p:cNvSpPr>
                <a:spLocks noChangeShapeType="1"/>
              </p:cNvSpPr>
              <p:nvPr/>
            </p:nvSpPr>
            <p:spPr bwMode="auto">
              <a:xfrm>
                <a:off x="2208"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15" name="Line 15"/>
              <p:cNvSpPr>
                <a:spLocks noChangeShapeType="1"/>
              </p:cNvSpPr>
              <p:nvPr/>
            </p:nvSpPr>
            <p:spPr bwMode="auto">
              <a:xfrm>
                <a:off x="2902"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8" name="Group 16"/>
            <p:cNvGrpSpPr/>
            <p:nvPr/>
          </p:nvGrpSpPr>
          <p:grpSpPr bwMode="auto">
            <a:xfrm>
              <a:off x="3984" y="1257"/>
              <a:ext cx="1392" cy="1134"/>
              <a:chOff x="3984" y="1824"/>
              <a:chExt cx="1392" cy="1134"/>
            </a:xfrm>
          </p:grpSpPr>
          <p:sp>
            <p:nvSpPr>
              <p:cNvPr id="12" name="Line 17"/>
              <p:cNvSpPr>
                <a:spLocks noChangeShapeType="1"/>
              </p:cNvSpPr>
              <p:nvPr/>
            </p:nvSpPr>
            <p:spPr bwMode="auto">
              <a:xfrm>
                <a:off x="39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13" name="Line 18"/>
              <p:cNvSpPr>
                <a:spLocks noChangeShapeType="1"/>
              </p:cNvSpPr>
              <p:nvPr/>
            </p:nvSpPr>
            <p:spPr bwMode="auto">
              <a:xfrm>
                <a:off x="46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sp>
          <p:nvSpPr>
            <p:cNvPr id="9" name="Text Box 19"/>
            <p:cNvSpPr txBox="1">
              <a:spLocks noChangeArrowheads="1"/>
            </p:cNvSpPr>
            <p:nvPr/>
          </p:nvSpPr>
          <p:spPr bwMode="auto">
            <a:xfrm>
              <a:off x="960" y="2601"/>
              <a:ext cx="20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A</a:t>
              </a:r>
              <a:endParaRPr lang="en-US" altLang="zh-CN" sz="1350" b="1">
                <a:latin typeface="Calibri" panose="020F0502020204030204" charset="0"/>
              </a:endParaRPr>
            </a:p>
          </p:txBody>
        </p:sp>
        <p:sp>
          <p:nvSpPr>
            <p:cNvPr id="10" name="Text Box 20"/>
            <p:cNvSpPr txBox="1">
              <a:spLocks noChangeArrowheads="1"/>
            </p:cNvSpPr>
            <p:nvPr/>
          </p:nvSpPr>
          <p:spPr bwMode="auto">
            <a:xfrm>
              <a:off x="2762" y="2601"/>
              <a:ext cx="19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B</a:t>
              </a:r>
              <a:endParaRPr lang="en-US" altLang="zh-CN" sz="1350" b="1">
                <a:latin typeface="Calibri" panose="020F0502020204030204" charset="0"/>
              </a:endParaRPr>
            </a:p>
          </p:txBody>
        </p:sp>
        <p:sp>
          <p:nvSpPr>
            <p:cNvPr id="11" name="Text Box 21"/>
            <p:cNvSpPr txBox="1">
              <a:spLocks noChangeArrowheads="1"/>
            </p:cNvSpPr>
            <p:nvPr/>
          </p:nvSpPr>
          <p:spPr bwMode="auto">
            <a:xfrm>
              <a:off x="4582" y="2601"/>
              <a:ext cx="19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C</a:t>
              </a:r>
              <a:endParaRPr lang="en-US" altLang="zh-CN" sz="1350" b="1">
                <a:latin typeface="Calibri" panose="020F0502020204030204" charset="0"/>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vl="2"/>
            <a:r>
              <a:rPr lang="en-US" altLang="zh-CN" dirty="0"/>
              <a:t> n</a:t>
            </a:r>
            <a:r>
              <a:rPr lang="zh-CN" altLang="en-US" dirty="0"/>
              <a:t>阶</a:t>
            </a:r>
            <a:r>
              <a:rPr lang="en-US" altLang="zh-CN" dirty="0"/>
              <a:t>Hanoi</a:t>
            </a:r>
            <a:r>
              <a:rPr lang="zh-CN" altLang="en-US" dirty="0"/>
              <a:t>塔问题：假设有三个分别命名为</a:t>
            </a:r>
            <a:r>
              <a:rPr lang="en-US" altLang="zh-CN" dirty="0"/>
              <a:t>X</a:t>
            </a:r>
            <a:r>
              <a:rPr lang="zh-CN" altLang="en-US" dirty="0"/>
              <a:t>、</a:t>
            </a:r>
            <a:r>
              <a:rPr lang="en-US" altLang="zh-CN" dirty="0"/>
              <a:t>Y</a:t>
            </a:r>
            <a:r>
              <a:rPr lang="zh-CN" altLang="en-US" dirty="0"/>
              <a:t>和</a:t>
            </a:r>
            <a:r>
              <a:rPr lang="en-US" altLang="zh-CN" dirty="0"/>
              <a:t>Z</a:t>
            </a:r>
            <a:r>
              <a:rPr lang="zh-CN" altLang="en-US" dirty="0"/>
              <a:t>的塔座，在塔座</a:t>
            </a:r>
            <a:r>
              <a:rPr lang="en-US" altLang="zh-CN" dirty="0"/>
              <a:t>X</a:t>
            </a:r>
            <a:r>
              <a:rPr lang="zh-CN" altLang="en-US" dirty="0"/>
              <a:t>上插有</a:t>
            </a:r>
            <a:r>
              <a:rPr lang="en-US" altLang="zh-CN" dirty="0"/>
              <a:t>n</a:t>
            </a:r>
            <a:r>
              <a:rPr lang="zh-CN" altLang="en-US" dirty="0"/>
              <a:t>个直径大小各不相同、依小到大编号为</a:t>
            </a:r>
            <a:r>
              <a:rPr lang="en-US" altLang="zh-CN" dirty="0"/>
              <a:t>1</a:t>
            </a:r>
            <a:r>
              <a:rPr lang="zh-CN" altLang="en-US" dirty="0"/>
              <a:t>，</a:t>
            </a:r>
            <a:r>
              <a:rPr lang="en-US" altLang="zh-CN" dirty="0"/>
              <a:t>2, …</a:t>
            </a:r>
            <a:r>
              <a:rPr lang="zh-CN" altLang="en-US" dirty="0"/>
              <a:t>，</a:t>
            </a:r>
            <a:r>
              <a:rPr lang="en-US" altLang="zh-CN" dirty="0"/>
              <a:t>n</a:t>
            </a:r>
            <a:r>
              <a:rPr lang="zh-CN" altLang="en-US" dirty="0"/>
              <a:t>的圆盘。现要求将</a:t>
            </a:r>
            <a:r>
              <a:rPr lang="en-US" altLang="zh-CN" dirty="0"/>
              <a:t>X</a:t>
            </a:r>
            <a:r>
              <a:rPr lang="zh-CN" altLang="en-US" dirty="0"/>
              <a:t>轴上的</a:t>
            </a:r>
            <a:r>
              <a:rPr lang="en-US" altLang="zh-CN" dirty="0"/>
              <a:t>n</a:t>
            </a:r>
            <a:r>
              <a:rPr lang="zh-CN" altLang="en-US" dirty="0"/>
              <a:t>个圆盘移至塔座</a:t>
            </a:r>
            <a:r>
              <a:rPr lang="en-US" altLang="zh-CN" dirty="0"/>
              <a:t>Z</a:t>
            </a:r>
            <a:r>
              <a:rPr lang="zh-CN" altLang="en-US" dirty="0"/>
              <a:t>上并仍按同样顺序叠排，圆盘移动时必须遵循下列原则：</a:t>
            </a:r>
            <a:endParaRPr lang="zh-CN" altLang="en-US" dirty="0"/>
          </a:p>
          <a:p>
            <a:pPr lvl="2"/>
            <a:r>
              <a:rPr lang="zh-CN" altLang="en-US" dirty="0"/>
              <a:t> </a:t>
            </a:r>
            <a:r>
              <a:rPr lang="en-US" altLang="zh-CN" dirty="0"/>
              <a:t>(1) </a:t>
            </a:r>
            <a:r>
              <a:rPr lang="zh-CN" altLang="en-US" dirty="0"/>
              <a:t>每次只能移动一个圆盘； </a:t>
            </a:r>
            <a:endParaRPr lang="zh-CN" altLang="en-US" dirty="0"/>
          </a:p>
          <a:p>
            <a:pPr lvl="2"/>
            <a:r>
              <a:rPr lang="zh-CN" altLang="en-US" dirty="0"/>
              <a:t> </a:t>
            </a:r>
            <a:r>
              <a:rPr lang="en-US" altLang="zh-CN" dirty="0"/>
              <a:t>(2) </a:t>
            </a:r>
            <a:r>
              <a:rPr lang="zh-CN" altLang="en-US" dirty="0"/>
              <a:t>圆盘可以插在</a:t>
            </a:r>
            <a:r>
              <a:rPr lang="en-US" altLang="zh-CN" dirty="0"/>
              <a:t>X</a:t>
            </a:r>
            <a:r>
              <a:rPr lang="zh-CN" altLang="en-US" dirty="0"/>
              <a:t>、</a:t>
            </a:r>
            <a:r>
              <a:rPr lang="en-US" altLang="zh-CN" dirty="0"/>
              <a:t>Y</a:t>
            </a:r>
            <a:r>
              <a:rPr lang="zh-CN" altLang="en-US" dirty="0"/>
              <a:t>和</a:t>
            </a:r>
            <a:r>
              <a:rPr lang="en-US" altLang="zh-CN" dirty="0"/>
              <a:t>Z</a:t>
            </a:r>
            <a:r>
              <a:rPr lang="zh-CN" altLang="en-US" dirty="0"/>
              <a:t>中的任何一个塔座上； </a:t>
            </a:r>
            <a:endParaRPr lang="zh-CN" altLang="en-US" dirty="0"/>
          </a:p>
          <a:p>
            <a:pPr lvl="2"/>
            <a:r>
              <a:rPr lang="zh-CN" altLang="en-US" dirty="0"/>
              <a:t> </a:t>
            </a:r>
            <a:r>
              <a:rPr lang="en-US" altLang="zh-CN" dirty="0"/>
              <a:t>(3) </a:t>
            </a:r>
            <a:r>
              <a:rPr lang="zh-CN" altLang="en-US" dirty="0"/>
              <a:t>任何时刻都不能将一个较大的圆盘压在较小的圆盘之上。  </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如何实现移动圆盘的操作？</a:t>
            </a:r>
            <a:endParaRPr lang="en-US" altLang="zh-CN"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grpSp>
        <p:nvGrpSpPr>
          <p:cNvPr id="4" name="Group 3"/>
          <p:cNvGrpSpPr/>
          <p:nvPr/>
        </p:nvGrpSpPr>
        <p:grpSpPr bwMode="auto">
          <a:xfrm>
            <a:off x="457200" y="2065735"/>
            <a:ext cx="5943600" cy="1478756"/>
            <a:chOff x="384" y="1257"/>
            <a:chExt cx="4992" cy="1656"/>
          </a:xfrm>
        </p:grpSpPr>
        <p:grpSp>
          <p:nvGrpSpPr>
            <p:cNvPr id="5" name="Group 4"/>
            <p:cNvGrpSpPr/>
            <p:nvPr/>
          </p:nvGrpSpPr>
          <p:grpSpPr bwMode="auto">
            <a:xfrm>
              <a:off x="384" y="1257"/>
              <a:ext cx="1392" cy="1134"/>
              <a:chOff x="384" y="1824"/>
              <a:chExt cx="1392" cy="1134"/>
            </a:xfrm>
          </p:grpSpPr>
          <p:sp>
            <p:nvSpPr>
              <p:cNvPr id="21" name="Line 5"/>
              <p:cNvSpPr>
                <a:spLocks noChangeShapeType="1"/>
              </p:cNvSpPr>
              <p:nvPr/>
            </p:nvSpPr>
            <p:spPr bwMode="auto">
              <a:xfrm>
                <a:off x="3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22" name="Line 6"/>
              <p:cNvSpPr>
                <a:spLocks noChangeShapeType="1"/>
              </p:cNvSpPr>
              <p:nvPr/>
            </p:nvSpPr>
            <p:spPr bwMode="auto">
              <a:xfrm>
                <a:off x="10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6" name="Group 7"/>
            <p:cNvGrpSpPr/>
            <p:nvPr/>
          </p:nvGrpSpPr>
          <p:grpSpPr bwMode="auto">
            <a:xfrm>
              <a:off x="502" y="1439"/>
              <a:ext cx="1134" cy="941"/>
              <a:chOff x="502" y="2006"/>
              <a:chExt cx="1134" cy="941"/>
            </a:xfrm>
          </p:grpSpPr>
          <p:sp>
            <p:nvSpPr>
              <p:cNvPr id="16" name="Rectangle 8"/>
              <p:cNvSpPr>
                <a:spLocks noChangeArrowheads="1"/>
              </p:cNvSpPr>
              <p:nvPr/>
            </p:nvSpPr>
            <p:spPr bwMode="auto">
              <a:xfrm>
                <a:off x="502" y="2765"/>
                <a:ext cx="1134"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17" name="Rectangle 9"/>
              <p:cNvSpPr>
                <a:spLocks noChangeArrowheads="1"/>
              </p:cNvSpPr>
              <p:nvPr/>
            </p:nvSpPr>
            <p:spPr bwMode="auto">
              <a:xfrm>
                <a:off x="629" y="2577"/>
                <a:ext cx="907"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18" name="Rectangle 10"/>
              <p:cNvSpPr>
                <a:spLocks noChangeArrowheads="1"/>
              </p:cNvSpPr>
              <p:nvPr/>
            </p:nvSpPr>
            <p:spPr bwMode="auto">
              <a:xfrm>
                <a:off x="738" y="2389"/>
                <a:ext cx="680" cy="181"/>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19" name="Rectangle 11"/>
              <p:cNvSpPr>
                <a:spLocks noChangeArrowheads="1"/>
              </p:cNvSpPr>
              <p:nvPr/>
            </p:nvSpPr>
            <p:spPr bwMode="auto">
              <a:xfrm>
                <a:off x="843" y="2200"/>
                <a:ext cx="453" cy="179"/>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20" name="Rectangle 12"/>
              <p:cNvSpPr>
                <a:spLocks noChangeArrowheads="1"/>
              </p:cNvSpPr>
              <p:nvPr/>
            </p:nvSpPr>
            <p:spPr bwMode="auto">
              <a:xfrm>
                <a:off x="958" y="2008"/>
                <a:ext cx="227"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grpSp>
        <p:grpSp>
          <p:nvGrpSpPr>
            <p:cNvPr id="7" name="Group 13"/>
            <p:cNvGrpSpPr/>
            <p:nvPr/>
          </p:nvGrpSpPr>
          <p:grpSpPr bwMode="auto">
            <a:xfrm>
              <a:off x="2208" y="1257"/>
              <a:ext cx="1392" cy="1134"/>
              <a:chOff x="2208" y="1824"/>
              <a:chExt cx="1392" cy="1134"/>
            </a:xfrm>
          </p:grpSpPr>
          <p:sp>
            <p:nvSpPr>
              <p:cNvPr id="14" name="Line 14"/>
              <p:cNvSpPr>
                <a:spLocks noChangeShapeType="1"/>
              </p:cNvSpPr>
              <p:nvPr/>
            </p:nvSpPr>
            <p:spPr bwMode="auto">
              <a:xfrm>
                <a:off x="2208"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15" name="Line 15"/>
              <p:cNvSpPr>
                <a:spLocks noChangeShapeType="1"/>
              </p:cNvSpPr>
              <p:nvPr/>
            </p:nvSpPr>
            <p:spPr bwMode="auto">
              <a:xfrm>
                <a:off x="2902"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8" name="Group 16"/>
            <p:cNvGrpSpPr/>
            <p:nvPr/>
          </p:nvGrpSpPr>
          <p:grpSpPr bwMode="auto">
            <a:xfrm>
              <a:off x="3984" y="1257"/>
              <a:ext cx="1392" cy="1134"/>
              <a:chOff x="3984" y="1824"/>
              <a:chExt cx="1392" cy="1134"/>
            </a:xfrm>
          </p:grpSpPr>
          <p:sp>
            <p:nvSpPr>
              <p:cNvPr id="12" name="Line 17"/>
              <p:cNvSpPr>
                <a:spLocks noChangeShapeType="1"/>
              </p:cNvSpPr>
              <p:nvPr/>
            </p:nvSpPr>
            <p:spPr bwMode="auto">
              <a:xfrm>
                <a:off x="39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13" name="Line 18"/>
              <p:cNvSpPr>
                <a:spLocks noChangeShapeType="1"/>
              </p:cNvSpPr>
              <p:nvPr/>
            </p:nvSpPr>
            <p:spPr bwMode="auto">
              <a:xfrm>
                <a:off x="46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sp>
          <p:nvSpPr>
            <p:cNvPr id="9" name="Text Box 19"/>
            <p:cNvSpPr txBox="1">
              <a:spLocks noChangeArrowheads="1"/>
            </p:cNvSpPr>
            <p:nvPr/>
          </p:nvSpPr>
          <p:spPr bwMode="auto">
            <a:xfrm>
              <a:off x="960" y="2601"/>
              <a:ext cx="20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A</a:t>
              </a:r>
              <a:endParaRPr lang="en-US" altLang="zh-CN" sz="1350" b="1">
                <a:latin typeface="Calibri" panose="020F0502020204030204" charset="0"/>
              </a:endParaRPr>
            </a:p>
          </p:txBody>
        </p:sp>
        <p:sp>
          <p:nvSpPr>
            <p:cNvPr id="10" name="Text Box 20"/>
            <p:cNvSpPr txBox="1">
              <a:spLocks noChangeArrowheads="1"/>
            </p:cNvSpPr>
            <p:nvPr/>
          </p:nvSpPr>
          <p:spPr bwMode="auto">
            <a:xfrm>
              <a:off x="2762" y="2601"/>
              <a:ext cx="19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B</a:t>
              </a:r>
              <a:endParaRPr lang="en-US" altLang="zh-CN" sz="1350" b="1">
                <a:latin typeface="Calibri" panose="020F0502020204030204" charset="0"/>
              </a:endParaRPr>
            </a:p>
          </p:txBody>
        </p:sp>
        <p:sp>
          <p:nvSpPr>
            <p:cNvPr id="11" name="Text Box 21"/>
            <p:cNvSpPr txBox="1">
              <a:spLocks noChangeArrowheads="1"/>
            </p:cNvSpPr>
            <p:nvPr/>
          </p:nvSpPr>
          <p:spPr bwMode="auto">
            <a:xfrm>
              <a:off x="4582" y="2601"/>
              <a:ext cx="19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C</a:t>
              </a:r>
              <a:endParaRPr lang="en-US" altLang="zh-CN" sz="1350" b="1">
                <a:latin typeface="Calibri" panose="020F050202020403020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200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如何实现移动圆盘的操作？</a:t>
            </a:r>
            <a:endParaRPr lang="en-US" altLang="zh-CN"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grpSp>
        <p:nvGrpSpPr>
          <p:cNvPr id="4" name="Group 3"/>
          <p:cNvGrpSpPr/>
          <p:nvPr/>
        </p:nvGrpSpPr>
        <p:grpSpPr bwMode="auto">
          <a:xfrm>
            <a:off x="457200" y="2065735"/>
            <a:ext cx="5943600" cy="1478756"/>
            <a:chOff x="384" y="1257"/>
            <a:chExt cx="4992" cy="1656"/>
          </a:xfrm>
        </p:grpSpPr>
        <p:grpSp>
          <p:nvGrpSpPr>
            <p:cNvPr id="5" name="Group 4"/>
            <p:cNvGrpSpPr/>
            <p:nvPr/>
          </p:nvGrpSpPr>
          <p:grpSpPr bwMode="auto">
            <a:xfrm>
              <a:off x="384" y="1257"/>
              <a:ext cx="1392" cy="1134"/>
              <a:chOff x="384" y="1824"/>
              <a:chExt cx="1392" cy="1134"/>
            </a:xfrm>
          </p:grpSpPr>
          <p:sp>
            <p:nvSpPr>
              <p:cNvPr id="21" name="Line 5"/>
              <p:cNvSpPr>
                <a:spLocks noChangeShapeType="1"/>
              </p:cNvSpPr>
              <p:nvPr/>
            </p:nvSpPr>
            <p:spPr bwMode="auto">
              <a:xfrm>
                <a:off x="3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22" name="Line 6"/>
              <p:cNvSpPr>
                <a:spLocks noChangeShapeType="1"/>
              </p:cNvSpPr>
              <p:nvPr/>
            </p:nvSpPr>
            <p:spPr bwMode="auto">
              <a:xfrm>
                <a:off x="10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6" name="Group 7"/>
            <p:cNvGrpSpPr/>
            <p:nvPr/>
          </p:nvGrpSpPr>
          <p:grpSpPr bwMode="auto">
            <a:xfrm>
              <a:off x="502" y="1439"/>
              <a:ext cx="1134" cy="941"/>
              <a:chOff x="502" y="2006"/>
              <a:chExt cx="1134" cy="941"/>
            </a:xfrm>
          </p:grpSpPr>
          <p:sp>
            <p:nvSpPr>
              <p:cNvPr id="16" name="Rectangle 8"/>
              <p:cNvSpPr>
                <a:spLocks noChangeArrowheads="1"/>
              </p:cNvSpPr>
              <p:nvPr/>
            </p:nvSpPr>
            <p:spPr bwMode="auto">
              <a:xfrm>
                <a:off x="502" y="2765"/>
                <a:ext cx="1134"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17" name="Rectangle 9"/>
              <p:cNvSpPr>
                <a:spLocks noChangeArrowheads="1"/>
              </p:cNvSpPr>
              <p:nvPr/>
            </p:nvSpPr>
            <p:spPr bwMode="auto">
              <a:xfrm>
                <a:off x="629" y="2577"/>
                <a:ext cx="907"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18" name="Rectangle 10"/>
              <p:cNvSpPr>
                <a:spLocks noChangeArrowheads="1"/>
              </p:cNvSpPr>
              <p:nvPr/>
            </p:nvSpPr>
            <p:spPr bwMode="auto">
              <a:xfrm>
                <a:off x="738" y="2389"/>
                <a:ext cx="680" cy="181"/>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19" name="Rectangle 11"/>
              <p:cNvSpPr>
                <a:spLocks noChangeArrowheads="1"/>
              </p:cNvSpPr>
              <p:nvPr/>
            </p:nvSpPr>
            <p:spPr bwMode="auto">
              <a:xfrm>
                <a:off x="843" y="2200"/>
                <a:ext cx="453" cy="179"/>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20" name="Rectangle 12"/>
              <p:cNvSpPr>
                <a:spLocks noChangeArrowheads="1"/>
              </p:cNvSpPr>
              <p:nvPr/>
            </p:nvSpPr>
            <p:spPr bwMode="auto">
              <a:xfrm>
                <a:off x="958" y="2008"/>
                <a:ext cx="227"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grpSp>
        <p:grpSp>
          <p:nvGrpSpPr>
            <p:cNvPr id="7" name="Group 13"/>
            <p:cNvGrpSpPr/>
            <p:nvPr/>
          </p:nvGrpSpPr>
          <p:grpSpPr bwMode="auto">
            <a:xfrm>
              <a:off x="2208" y="1257"/>
              <a:ext cx="1392" cy="1134"/>
              <a:chOff x="2208" y="1824"/>
              <a:chExt cx="1392" cy="1134"/>
            </a:xfrm>
          </p:grpSpPr>
          <p:sp>
            <p:nvSpPr>
              <p:cNvPr id="14" name="Line 14"/>
              <p:cNvSpPr>
                <a:spLocks noChangeShapeType="1"/>
              </p:cNvSpPr>
              <p:nvPr/>
            </p:nvSpPr>
            <p:spPr bwMode="auto">
              <a:xfrm>
                <a:off x="2208"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15" name="Line 15"/>
              <p:cNvSpPr>
                <a:spLocks noChangeShapeType="1"/>
              </p:cNvSpPr>
              <p:nvPr/>
            </p:nvSpPr>
            <p:spPr bwMode="auto">
              <a:xfrm>
                <a:off x="2902"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8" name="Group 16"/>
            <p:cNvGrpSpPr/>
            <p:nvPr/>
          </p:nvGrpSpPr>
          <p:grpSpPr bwMode="auto">
            <a:xfrm>
              <a:off x="3984" y="1257"/>
              <a:ext cx="1392" cy="1134"/>
              <a:chOff x="3984" y="1824"/>
              <a:chExt cx="1392" cy="1134"/>
            </a:xfrm>
          </p:grpSpPr>
          <p:sp>
            <p:nvSpPr>
              <p:cNvPr id="12" name="Line 17"/>
              <p:cNvSpPr>
                <a:spLocks noChangeShapeType="1"/>
              </p:cNvSpPr>
              <p:nvPr/>
            </p:nvSpPr>
            <p:spPr bwMode="auto">
              <a:xfrm>
                <a:off x="39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13" name="Line 18"/>
              <p:cNvSpPr>
                <a:spLocks noChangeShapeType="1"/>
              </p:cNvSpPr>
              <p:nvPr/>
            </p:nvSpPr>
            <p:spPr bwMode="auto">
              <a:xfrm>
                <a:off x="46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sp>
          <p:nvSpPr>
            <p:cNvPr id="9" name="Text Box 19"/>
            <p:cNvSpPr txBox="1">
              <a:spLocks noChangeArrowheads="1"/>
            </p:cNvSpPr>
            <p:nvPr/>
          </p:nvSpPr>
          <p:spPr bwMode="auto">
            <a:xfrm>
              <a:off x="960" y="2601"/>
              <a:ext cx="20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A</a:t>
              </a:r>
              <a:endParaRPr lang="en-US" altLang="zh-CN" sz="1350" b="1">
                <a:latin typeface="Calibri" panose="020F0502020204030204" charset="0"/>
              </a:endParaRPr>
            </a:p>
          </p:txBody>
        </p:sp>
        <p:sp>
          <p:nvSpPr>
            <p:cNvPr id="10" name="Text Box 20"/>
            <p:cNvSpPr txBox="1">
              <a:spLocks noChangeArrowheads="1"/>
            </p:cNvSpPr>
            <p:nvPr/>
          </p:nvSpPr>
          <p:spPr bwMode="auto">
            <a:xfrm>
              <a:off x="2762" y="2601"/>
              <a:ext cx="19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B</a:t>
              </a:r>
              <a:endParaRPr lang="en-US" altLang="zh-CN" sz="1350" b="1">
                <a:latin typeface="Calibri" panose="020F0502020204030204" charset="0"/>
              </a:endParaRPr>
            </a:p>
          </p:txBody>
        </p:sp>
        <p:sp>
          <p:nvSpPr>
            <p:cNvPr id="11" name="Text Box 21"/>
            <p:cNvSpPr txBox="1">
              <a:spLocks noChangeArrowheads="1"/>
            </p:cNvSpPr>
            <p:nvPr/>
          </p:nvSpPr>
          <p:spPr bwMode="auto">
            <a:xfrm>
              <a:off x="4582" y="2601"/>
              <a:ext cx="19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C</a:t>
              </a:r>
              <a:endParaRPr lang="en-US" altLang="zh-CN" sz="1350" b="1">
                <a:latin typeface="Calibri" panose="020F0502020204030204" charset="0"/>
              </a:endParaRPr>
            </a:p>
          </p:txBody>
        </p:sp>
      </p:grpSp>
      <p:grpSp>
        <p:nvGrpSpPr>
          <p:cNvPr id="42" name="Group 2"/>
          <p:cNvGrpSpPr/>
          <p:nvPr/>
        </p:nvGrpSpPr>
        <p:grpSpPr bwMode="auto">
          <a:xfrm>
            <a:off x="457200" y="2065734"/>
            <a:ext cx="5943600" cy="1478756"/>
            <a:chOff x="384" y="1593"/>
            <a:chExt cx="4992" cy="1656"/>
          </a:xfrm>
        </p:grpSpPr>
        <p:grpSp>
          <p:nvGrpSpPr>
            <p:cNvPr id="43" name="Group 3"/>
            <p:cNvGrpSpPr/>
            <p:nvPr/>
          </p:nvGrpSpPr>
          <p:grpSpPr bwMode="auto">
            <a:xfrm>
              <a:off x="384" y="1593"/>
              <a:ext cx="1392" cy="1134"/>
              <a:chOff x="384" y="1824"/>
              <a:chExt cx="1392" cy="1134"/>
            </a:xfrm>
          </p:grpSpPr>
          <p:sp>
            <p:nvSpPr>
              <p:cNvPr id="59" name="Line 4"/>
              <p:cNvSpPr>
                <a:spLocks noChangeShapeType="1"/>
              </p:cNvSpPr>
              <p:nvPr/>
            </p:nvSpPr>
            <p:spPr bwMode="auto">
              <a:xfrm>
                <a:off x="3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60" name="Line 5"/>
              <p:cNvSpPr>
                <a:spLocks noChangeShapeType="1"/>
              </p:cNvSpPr>
              <p:nvPr/>
            </p:nvSpPr>
            <p:spPr bwMode="auto">
              <a:xfrm>
                <a:off x="10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44" name="Group 6"/>
            <p:cNvGrpSpPr/>
            <p:nvPr/>
          </p:nvGrpSpPr>
          <p:grpSpPr bwMode="auto">
            <a:xfrm>
              <a:off x="502" y="1775"/>
              <a:ext cx="1134" cy="941"/>
              <a:chOff x="502" y="1814"/>
              <a:chExt cx="1134" cy="941"/>
            </a:xfrm>
          </p:grpSpPr>
          <p:sp>
            <p:nvSpPr>
              <p:cNvPr id="54" name="Rectangle 7"/>
              <p:cNvSpPr>
                <a:spLocks noChangeArrowheads="1"/>
              </p:cNvSpPr>
              <p:nvPr/>
            </p:nvSpPr>
            <p:spPr bwMode="auto">
              <a:xfrm>
                <a:off x="502" y="2573"/>
                <a:ext cx="1134"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55" name="Rectangle 8"/>
              <p:cNvSpPr>
                <a:spLocks noChangeArrowheads="1"/>
              </p:cNvSpPr>
              <p:nvPr/>
            </p:nvSpPr>
            <p:spPr bwMode="auto">
              <a:xfrm>
                <a:off x="629" y="2385"/>
                <a:ext cx="907" cy="180"/>
              </a:xfrm>
              <a:prstGeom prst="rect">
                <a:avLst/>
              </a:prstGeom>
              <a:solidFill>
                <a:srgbClr val="FFCC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56" name="Rectangle 9"/>
              <p:cNvSpPr>
                <a:spLocks noChangeArrowheads="1"/>
              </p:cNvSpPr>
              <p:nvPr/>
            </p:nvSpPr>
            <p:spPr bwMode="auto">
              <a:xfrm>
                <a:off x="738" y="2197"/>
                <a:ext cx="680" cy="181"/>
              </a:xfrm>
              <a:prstGeom prst="rect">
                <a:avLst/>
              </a:prstGeom>
              <a:solidFill>
                <a:srgbClr val="FFCC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57" name="Rectangle 10"/>
              <p:cNvSpPr>
                <a:spLocks noChangeArrowheads="1"/>
              </p:cNvSpPr>
              <p:nvPr/>
            </p:nvSpPr>
            <p:spPr bwMode="auto">
              <a:xfrm>
                <a:off x="843" y="2008"/>
                <a:ext cx="453" cy="179"/>
              </a:xfrm>
              <a:prstGeom prst="rect">
                <a:avLst/>
              </a:prstGeom>
              <a:solidFill>
                <a:srgbClr val="FFCC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sp>
            <p:nvSpPr>
              <p:cNvPr id="58" name="Rectangle 11"/>
              <p:cNvSpPr>
                <a:spLocks noChangeArrowheads="1"/>
              </p:cNvSpPr>
              <p:nvPr/>
            </p:nvSpPr>
            <p:spPr bwMode="auto">
              <a:xfrm>
                <a:off x="958" y="1816"/>
                <a:ext cx="227" cy="180"/>
              </a:xfrm>
              <a:prstGeom prst="rect">
                <a:avLst/>
              </a:prstGeom>
              <a:solidFill>
                <a:srgbClr val="FFCC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grpSp>
        <p:grpSp>
          <p:nvGrpSpPr>
            <p:cNvPr id="45" name="Group 12"/>
            <p:cNvGrpSpPr/>
            <p:nvPr/>
          </p:nvGrpSpPr>
          <p:grpSpPr bwMode="auto">
            <a:xfrm>
              <a:off x="2208" y="1593"/>
              <a:ext cx="1392" cy="1134"/>
              <a:chOff x="2208" y="1824"/>
              <a:chExt cx="1392" cy="1134"/>
            </a:xfrm>
          </p:grpSpPr>
          <p:sp>
            <p:nvSpPr>
              <p:cNvPr id="52" name="Line 13"/>
              <p:cNvSpPr>
                <a:spLocks noChangeShapeType="1"/>
              </p:cNvSpPr>
              <p:nvPr/>
            </p:nvSpPr>
            <p:spPr bwMode="auto">
              <a:xfrm>
                <a:off x="2208"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53" name="Line 14"/>
              <p:cNvSpPr>
                <a:spLocks noChangeShapeType="1"/>
              </p:cNvSpPr>
              <p:nvPr/>
            </p:nvSpPr>
            <p:spPr bwMode="auto">
              <a:xfrm>
                <a:off x="2902"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46" name="Group 15"/>
            <p:cNvGrpSpPr/>
            <p:nvPr/>
          </p:nvGrpSpPr>
          <p:grpSpPr bwMode="auto">
            <a:xfrm>
              <a:off x="3984" y="1593"/>
              <a:ext cx="1392" cy="1134"/>
              <a:chOff x="3984" y="1824"/>
              <a:chExt cx="1392" cy="1134"/>
            </a:xfrm>
          </p:grpSpPr>
          <p:sp>
            <p:nvSpPr>
              <p:cNvPr id="50" name="Line 16"/>
              <p:cNvSpPr>
                <a:spLocks noChangeShapeType="1"/>
              </p:cNvSpPr>
              <p:nvPr/>
            </p:nvSpPr>
            <p:spPr bwMode="auto">
              <a:xfrm>
                <a:off x="39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51" name="Line 17"/>
              <p:cNvSpPr>
                <a:spLocks noChangeShapeType="1"/>
              </p:cNvSpPr>
              <p:nvPr/>
            </p:nvSpPr>
            <p:spPr bwMode="auto">
              <a:xfrm>
                <a:off x="46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sp>
          <p:nvSpPr>
            <p:cNvPr id="47" name="Text Box 18"/>
            <p:cNvSpPr txBox="1">
              <a:spLocks noChangeArrowheads="1"/>
            </p:cNvSpPr>
            <p:nvPr/>
          </p:nvSpPr>
          <p:spPr bwMode="auto">
            <a:xfrm>
              <a:off x="960" y="2937"/>
              <a:ext cx="20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A</a:t>
              </a:r>
              <a:endParaRPr lang="en-US" altLang="zh-CN" sz="1350" b="1">
                <a:latin typeface="Calibri" panose="020F0502020204030204" charset="0"/>
              </a:endParaRPr>
            </a:p>
          </p:txBody>
        </p:sp>
        <p:sp>
          <p:nvSpPr>
            <p:cNvPr id="48" name="Text Box 19"/>
            <p:cNvSpPr txBox="1">
              <a:spLocks noChangeArrowheads="1"/>
            </p:cNvSpPr>
            <p:nvPr/>
          </p:nvSpPr>
          <p:spPr bwMode="auto">
            <a:xfrm>
              <a:off x="2762" y="2937"/>
              <a:ext cx="19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B</a:t>
              </a:r>
              <a:endParaRPr lang="en-US" altLang="zh-CN" sz="1350" b="1">
                <a:latin typeface="Calibri" panose="020F0502020204030204" charset="0"/>
              </a:endParaRPr>
            </a:p>
          </p:txBody>
        </p:sp>
        <p:sp>
          <p:nvSpPr>
            <p:cNvPr id="49" name="Text Box 20"/>
            <p:cNvSpPr txBox="1">
              <a:spLocks noChangeArrowheads="1"/>
            </p:cNvSpPr>
            <p:nvPr/>
          </p:nvSpPr>
          <p:spPr bwMode="auto">
            <a:xfrm>
              <a:off x="4582" y="2937"/>
              <a:ext cx="19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C</a:t>
              </a:r>
              <a:endParaRPr lang="en-US" altLang="zh-CN" sz="1350" b="1">
                <a:latin typeface="Calibri" panose="020F0502020204030204" charset="0"/>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
          <p:cNvGrpSpPr/>
          <p:nvPr/>
        </p:nvGrpSpPr>
        <p:grpSpPr bwMode="auto">
          <a:xfrm>
            <a:off x="457200" y="2079129"/>
            <a:ext cx="5943600" cy="1478756"/>
            <a:chOff x="384" y="1545"/>
            <a:chExt cx="4992" cy="1656"/>
          </a:xfrm>
        </p:grpSpPr>
        <p:grpSp>
          <p:nvGrpSpPr>
            <p:cNvPr id="24" name="Group 3"/>
            <p:cNvGrpSpPr/>
            <p:nvPr/>
          </p:nvGrpSpPr>
          <p:grpSpPr bwMode="auto">
            <a:xfrm>
              <a:off x="384" y="1545"/>
              <a:ext cx="1392" cy="1134"/>
              <a:chOff x="384" y="1824"/>
              <a:chExt cx="1392" cy="1134"/>
            </a:xfrm>
          </p:grpSpPr>
          <p:sp>
            <p:nvSpPr>
              <p:cNvPr id="40" name="Line 4"/>
              <p:cNvSpPr>
                <a:spLocks noChangeShapeType="1"/>
              </p:cNvSpPr>
              <p:nvPr/>
            </p:nvSpPr>
            <p:spPr bwMode="auto">
              <a:xfrm>
                <a:off x="3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41" name="Line 5"/>
              <p:cNvSpPr>
                <a:spLocks noChangeShapeType="1"/>
              </p:cNvSpPr>
              <p:nvPr/>
            </p:nvSpPr>
            <p:spPr bwMode="auto">
              <a:xfrm>
                <a:off x="10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sp>
          <p:nvSpPr>
            <p:cNvPr id="25" name="Rectangle 6"/>
            <p:cNvSpPr>
              <a:spLocks noChangeArrowheads="1"/>
            </p:cNvSpPr>
            <p:nvPr/>
          </p:nvSpPr>
          <p:spPr bwMode="auto">
            <a:xfrm>
              <a:off x="502" y="2488"/>
              <a:ext cx="1134"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grpSp>
          <p:nvGrpSpPr>
            <p:cNvPr id="26" name="Group 7"/>
            <p:cNvGrpSpPr/>
            <p:nvPr/>
          </p:nvGrpSpPr>
          <p:grpSpPr bwMode="auto">
            <a:xfrm>
              <a:off x="2208" y="1545"/>
              <a:ext cx="1392" cy="1134"/>
              <a:chOff x="2208" y="1824"/>
              <a:chExt cx="1392" cy="1134"/>
            </a:xfrm>
          </p:grpSpPr>
          <p:sp>
            <p:nvSpPr>
              <p:cNvPr id="38" name="Line 8"/>
              <p:cNvSpPr>
                <a:spLocks noChangeShapeType="1"/>
              </p:cNvSpPr>
              <p:nvPr/>
            </p:nvSpPr>
            <p:spPr bwMode="auto">
              <a:xfrm>
                <a:off x="2208"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39" name="Line 9"/>
              <p:cNvSpPr>
                <a:spLocks noChangeShapeType="1"/>
              </p:cNvSpPr>
              <p:nvPr/>
            </p:nvSpPr>
            <p:spPr bwMode="auto">
              <a:xfrm>
                <a:off x="2902"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27" name="Group 10"/>
            <p:cNvGrpSpPr/>
            <p:nvPr/>
          </p:nvGrpSpPr>
          <p:grpSpPr bwMode="auto">
            <a:xfrm>
              <a:off x="3984" y="1545"/>
              <a:ext cx="1392" cy="1134"/>
              <a:chOff x="3984" y="1824"/>
              <a:chExt cx="1392" cy="1134"/>
            </a:xfrm>
          </p:grpSpPr>
          <p:sp>
            <p:nvSpPr>
              <p:cNvPr id="36" name="Line 11"/>
              <p:cNvSpPr>
                <a:spLocks noChangeShapeType="1"/>
              </p:cNvSpPr>
              <p:nvPr/>
            </p:nvSpPr>
            <p:spPr bwMode="auto">
              <a:xfrm>
                <a:off x="39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37" name="Line 12"/>
              <p:cNvSpPr>
                <a:spLocks noChangeShapeType="1"/>
              </p:cNvSpPr>
              <p:nvPr/>
            </p:nvSpPr>
            <p:spPr bwMode="auto">
              <a:xfrm>
                <a:off x="46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sp>
          <p:nvSpPr>
            <p:cNvPr id="28" name="Text Box 13"/>
            <p:cNvSpPr txBox="1">
              <a:spLocks noChangeArrowheads="1"/>
            </p:cNvSpPr>
            <p:nvPr/>
          </p:nvSpPr>
          <p:spPr bwMode="auto">
            <a:xfrm>
              <a:off x="960" y="2889"/>
              <a:ext cx="20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A</a:t>
              </a:r>
              <a:endParaRPr lang="en-US" altLang="zh-CN" sz="1350" b="1">
                <a:latin typeface="Calibri" panose="020F0502020204030204" charset="0"/>
              </a:endParaRPr>
            </a:p>
          </p:txBody>
        </p:sp>
        <p:sp>
          <p:nvSpPr>
            <p:cNvPr id="29" name="Text Box 14"/>
            <p:cNvSpPr txBox="1">
              <a:spLocks noChangeArrowheads="1"/>
            </p:cNvSpPr>
            <p:nvPr/>
          </p:nvSpPr>
          <p:spPr bwMode="auto">
            <a:xfrm>
              <a:off x="2762" y="2889"/>
              <a:ext cx="19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B</a:t>
              </a:r>
              <a:endParaRPr lang="en-US" altLang="zh-CN" sz="1350" b="1">
                <a:latin typeface="Calibri" panose="020F0502020204030204" charset="0"/>
              </a:endParaRPr>
            </a:p>
          </p:txBody>
        </p:sp>
        <p:sp>
          <p:nvSpPr>
            <p:cNvPr id="30" name="Text Box 15"/>
            <p:cNvSpPr txBox="1">
              <a:spLocks noChangeArrowheads="1"/>
            </p:cNvSpPr>
            <p:nvPr/>
          </p:nvSpPr>
          <p:spPr bwMode="auto">
            <a:xfrm>
              <a:off x="4582" y="2889"/>
              <a:ext cx="19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C</a:t>
              </a:r>
              <a:endParaRPr lang="en-US" altLang="zh-CN" sz="1350" b="1">
                <a:latin typeface="Calibri" panose="020F0502020204030204" charset="0"/>
              </a:endParaRPr>
            </a:p>
          </p:txBody>
        </p:sp>
        <p:grpSp>
          <p:nvGrpSpPr>
            <p:cNvPr id="31" name="Group 16"/>
            <p:cNvGrpSpPr/>
            <p:nvPr/>
          </p:nvGrpSpPr>
          <p:grpSpPr bwMode="auto">
            <a:xfrm>
              <a:off x="2453" y="1920"/>
              <a:ext cx="907" cy="752"/>
              <a:chOff x="2453" y="2032"/>
              <a:chExt cx="907" cy="752"/>
            </a:xfrm>
          </p:grpSpPr>
          <p:sp>
            <p:nvSpPr>
              <p:cNvPr id="32" name="Rectangle 17"/>
              <p:cNvSpPr>
                <a:spLocks noChangeArrowheads="1"/>
              </p:cNvSpPr>
              <p:nvPr/>
            </p:nvSpPr>
            <p:spPr bwMode="auto">
              <a:xfrm>
                <a:off x="2453" y="2602"/>
                <a:ext cx="907" cy="180"/>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sp>
            <p:nvSpPr>
              <p:cNvPr id="33" name="Rectangle 18"/>
              <p:cNvSpPr>
                <a:spLocks noChangeArrowheads="1"/>
              </p:cNvSpPr>
              <p:nvPr/>
            </p:nvSpPr>
            <p:spPr bwMode="auto">
              <a:xfrm>
                <a:off x="2562" y="2414"/>
                <a:ext cx="680" cy="180"/>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sp>
            <p:nvSpPr>
              <p:cNvPr id="34" name="Rectangle 19"/>
              <p:cNvSpPr>
                <a:spLocks noChangeArrowheads="1"/>
              </p:cNvSpPr>
              <p:nvPr/>
            </p:nvSpPr>
            <p:spPr bwMode="auto">
              <a:xfrm>
                <a:off x="2667" y="2224"/>
                <a:ext cx="453" cy="181"/>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sp>
            <p:nvSpPr>
              <p:cNvPr id="35" name="Rectangle 20"/>
              <p:cNvSpPr>
                <a:spLocks noChangeArrowheads="1"/>
              </p:cNvSpPr>
              <p:nvPr/>
            </p:nvSpPr>
            <p:spPr bwMode="auto">
              <a:xfrm>
                <a:off x="2782" y="2032"/>
                <a:ext cx="227" cy="181"/>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grpSp>
      </p:grpSp>
      <p:sp>
        <p:nvSpPr>
          <p:cNvPr id="2" name="内容占位符 1"/>
          <p:cNvSpPr>
            <a:spLocks noGrp="1"/>
          </p:cNvSpPr>
          <p:nvPr>
            <p:ph idx="1"/>
          </p:nvPr>
        </p:nvSpPr>
        <p:spPr/>
        <p:txBody>
          <a:bodyPr/>
          <a:lstStyle/>
          <a:p>
            <a:r>
              <a:rPr lang="zh-CN" altLang="en-US" dirty="0"/>
              <a:t>如何实现移动圆盘的操作？</a:t>
            </a:r>
            <a:endParaRPr lang="en-US" altLang="zh-CN"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2"/>
          <p:cNvGrpSpPr/>
          <p:nvPr/>
        </p:nvGrpSpPr>
        <p:grpSpPr bwMode="auto">
          <a:xfrm>
            <a:off x="457200" y="2065735"/>
            <a:ext cx="5943600" cy="1478756"/>
            <a:chOff x="384" y="1545"/>
            <a:chExt cx="4992" cy="1656"/>
          </a:xfrm>
        </p:grpSpPr>
        <p:grpSp>
          <p:nvGrpSpPr>
            <p:cNvPr id="43" name="Group 3"/>
            <p:cNvGrpSpPr/>
            <p:nvPr/>
          </p:nvGrpSpPr>
          <p:grpSpPr bwMode="auto">
            <a:xfrm>
              <a:off x="384" y="1545"/>
              <a:ext cx="1392" cy="1134"/>
              <a:chOff x="384" y="1824"/>
              <a:chExt cx="1392" cy="1134"/>
            </a:xfrm>
          </p:grpSpPr>
          <p:sp>
            <p:nvSpPr>
              <p:cNvPr id="59" name="Line 4"/>
              <p:cNvSpPr>
                <a:spLocks noChangeShapeType="1"/>
              </p:cNvSpPr>
              <p:nvPr/>
            </p:nvSpPr>
            <p:spPr bwMode="auto">
              <a:xfrm>
                <a:off x="3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60" name="Line 5"/>
              <p:cNvSpPr>
                <a:spLocks noChangeShapeType="1"/>
              </p:cNvSpPr>
              <p:nvPr/>
            </p:nvSpPr>
            <p:spPr bwMode="auto">
              <a:xfrm>
                <a:off x="10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44" name="Group 6"/>
            <p:cNvGrpSpPr/>
            <p:nvPr/>
          </p:nvGrpSpPr>
          <p:grpSpPr bwMode="auto">
            <a:xfrm>
              <a:off x="2208" y="1545"/>
              <a:ext cx="1392" cy="1134"/>
              <a:chOff x="2208" y="1824"/>
              <a:chExt cx="1392" cy="1134"/>
            </a:xfrm>
          </p:grpSpPr>
          <p:sp>
            <p:nvSpPr>
              <p:cNvPr id="57" name="Line 7"/>
              <p:cNvSpPr>
                <a:spLocks noChangeShapeType="1"/>
              </p:cNvSpPr>
              <p:nvPr/>
            </p:nvSpPr>
            <p:spPr bwMode="auto">
              <a:xfrm>
                <a:off x="2208"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58" name="Line 8"/>
              <p:cNvSpPr>
                <a:spLocks noChangeShapeType="1"/>
              </p:cNvSpPr>
              <p:nvPr/>
            </p:nvSpPr>
            <p:spPr bwMode="auto">
              <a:xfrm>
                <a:off x="2902"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45" name="Group 9"/>
            <p:cNvGrpSpPr/>
            <p:nvPr/>
          </p:nvGrpSpPr>
          <p:grpSpPr bwMode="auto">
            <a:xfrm>
              <a:off x="3984" y="1545"/>
              <a:ext cx="1392" cy="1134"/>
              <a:chOff x="3984" y="1824"/>
              <a:chExt cx="1392" cy="1134"/>
            </a:xfrm>
          </p:grpSpPr>
          <p:sp>
            <p:nvSpPr>
              <p:cNvPr id="55" name="Line 10"/>
              <p:cNvSpPr>
                <a:spLocks noChangeShapeType="1"/>
              </p:cNvSpPr>
              <p:nvPr/>
            </p:nvSpPr>
            <p:spPr bwMode="auto">
              <a:xfrm>
                <a:off x="39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56" name="Line 11"/>
              <p:cNvSpPr>
                <a:spLocks noChangeShapeType="1"/>
              </p:cNvSpPr>
              <p:nvPr/>
            </p:nvSpPr>
            <p:spPr bwMode="auto">
              <a:xfrm>
                <a:off x="46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sp>
          <p:nvSpPr>
            <p:cNvPr id="46" name="Text Box 12"/>
            <p:cNvSpPr txBox="1">
              <a:spLocks noChangeArrowheads="1"/>
            </p:cNvSpPr>
            <p:nvPr/>
          </p:nvSpPr>
          <p:spPr bwMode="auto">
            <a:xfrm>
              <a:off x="960" y="2889"/>
              <a:ext cx="20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A</a:t>
              </a:r>
              <a:endParaRPr lang="en-US" altLang="zh-CN" sz="1350" b="1">
                <a:latin typeface="Calibri" panose="020F0502020204030204" charset="0"/>
              </a:endParaRPr>
            </a:p>
          </p:txBody>
        </p:sp>
        <p:sp>
          <p:nvSpPr>
            <p:cNvPr id="47" name="Text Box 13"/>
            <p:cNvSpPr txBox="1">
              <a:spLocks noChangeArrowheads="1"/>
            </p:cNvSpPr>
            <p:nvPr/>
          </p:nvSpPr>
          <p:spPr bwMode="auto">
            <a:xfrm>
              <a:off x="2762" y="2889"/>
              <a:ext cx="19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B</a:t>
              </a:r>
              <a:endParaRPr lang="en-US" altLang="zh-CN" sz="1350" b="1">
                <a:latin typeface="Calibri" panose="020F0502020204030204" charset="0"/>
              </a:endParaRPr>
            </a:p>
          </p:txBody>
        </p:sp>
        <p:sp>
          <p:nvSpPr>
            <p:cNvPr id="48" name="Text Box 14"/>
            <p:cNvSpPr txBox="1">
              <a:spLocks noChangeArrowheads="1"/>
            </p:cNvSpPr>
            <p:nvPr/>
          </p:nvSpPr>
          <p:spPr bwMode="auto">
            <a:xfrm>
              <a:off x="4582" y="2889"/>
              <a:ext cx="19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C</a:t>
              </a:r>
              <a:endParaRPr lang="en-US" altLang="zh-CN" sz="1350" b="1">
                <a:latin typeface="Calibri" panose="020F0502020204030204" charset="0"/>
              </a:endParaRPr>
            </a:p>
          </p:txBody>
        </p:sp>
        <p:grpSp>
          <p:nvGrpSpPr>
            <p:cNvPr id="49" name="Group 15"/>
            <p:cNvGrpSpPr/>
            <p:nvPr/>
          </p:nvGrpSpPr>
          <p:grpSpPr bwMode="auto">
            <a:xfrm>
              <a:off x="2453" y="1921"/>
              <a:ext cx="907" cy="752"/>
              <a:chOff x="2453" y="2032"/>
              <a:chExt cx="907" cy="752"/>
            </a:xfrm>
          </p:grpSpPr>
          <p:sp>
            <p:nvSpPr>
              <p:cNvPr id="51" name="Rectangle 16"/>
              <p:cNvSpPr>
                <a:spLocks noChangeArrowheads="1"/>
              </p:cNvSpPr>
              <p:nvPr/>
            </p:nvSpPr>
            <p:spPr bwMode="auto">
              <a:xfrm>
                <a:off x="2453" y="2603"/>
                <a:ext cx="907" cy="181"/>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sp>
            <p:nvSpPr>
              <p:cNvPr id="52" name="Rectangle 17"/>
              <p:cNvSpPr>
                <a:spLocks noChangeArrowheads="1"/>
              </p:cNvSpPr>
              <p:nvPr/>
            </p:nvSpPr>
            <p:spPr bwMode="auto">
              <a:xfrm>
                <a:off x="2562" y="2415"/>
                <a:ext cx="680" cy="181"/>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sp>
            <p:nvSpPr>
              <p:cNvPr id="53" name="Rectangle 18"/>
              <p:cNvSpPr>
                <a:spLocks noChangeArrowheads="1"/>
              </p:cNvSpPr>
              <p:nvPr/>
            </p:nvSpPr>
            <p:spPr bwMode="auto">
              <a:xfrm>
                <a:off x="2667" y="2224"/>
                <a:ext cx="453" cy="181"/>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sp>
            <p:nvSpPr>
              <p:cNvPr id="54" name="Rectangle 19"/>
              <p:cNvSpPr>
                <a:spLocks noChangeArrowheads="1"/>
              </p:cNvSpPr>
              <p:nvPr/>
            </p:nvSpPr>
            <p:spPr bwMode="auto">
              <a:xfrm>
                <a:off x="2782" y="2032"/>
                <a:ext cx="227" cy="181"/>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grpSp>
        <p:sp>
          <p:nvSpPr>
            <p:cNvPr id="50" name="Rectangle 20"/>
            <p:cNvSpPr>
              <a:spLocks noChangeArrowheads="1"/>
            </p:cNvSpPr>
            <p:nvPr/>
          </p:nvSpPr>
          <p:spPr bwMode="auto">
            <a:xfrm>
              <a:off x="4128" y="2488"/>
              <a:ext cx="1134"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grpSp>
      <p:sp>
        <p:nvSpPr>
          <p:cNvPr id="2" name="内容占位符 1"/>
          <p:cNvSpPr>
            <a:spLocks noGrp="1"/>
          </p:cNvSpPr>
          <p:nvPr>
            <p:ph idx="1"/>
          </p:nvPr>
        </p:nvSpPr>
        <p:spPr/>
        <p:txBody>
          <a:bodyPr/>
          <a:lstStyle/>
          <a:p>
            <a:r>
              <a:rPr lang="zh-CN" altLang="en-US" dirty="0"/>
              <a:t>如何实现移动圆盘的操作？</a:t>
            </a:r>
            <a:endParaRPr lang="en-US" altLang="zh-CN"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如何实现移动圆盘的操作？</a:t>
            </a:r>
            <a:endParaRPr lang="en-US" altLang="zh-CN"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grpSp>
        <p:nvGrpSpPr>
          <p:cNvPr id="23" name="Group 2"/>
          <p:cNvGrpSpPr/>
          <p:nvPr/>
        </p:nvGrpSpPr>
        <p:grpSpPr bwMode="auto">
          <a:xfrm>
            <a:off x="457200" y="2084933"/>
            <a:ext cx="5943600" cy="1478756"/>
            <a:chOff x="384" y="1593"/>
            <a:chExt cx="4992" cy="1656"/>
          </a:xfrm>
        </p:grpSpPr>
        <p:grpSp>
          <p:nvGrpSpPr>
            <p:cNvPr id="24" name="Group 3"/>
            <p:cNvGrpSpPr/>
            <p:nvPr/>
          </p:nvGrpSpPr>
          <p:grpSpPr bwMode="auto">
            <a:xfrm>
              <a:off x="384" y="1593"/>
              <a:ext cx="1392" cy="1134"/>
              <a:chOff x="384" y="1824"/>
              <a:chExt cx="1392" cy="1134"/>
            </a:xfrm>
          </p:grpSpPr>
          <p:sp>
            <p:nvSpPr>
              <p:cNvPr id="40" name="Line 4"/>
              <p:cNvSpPr>
                <a:spLocks noChangeShapeType="1"/>
              </p:cNvSpPr>
              <p:nvPr/>
            </p:nvSpPr>
            <p:spPr bwMode="auto">
              <a:xfrm>
                <a:off x="3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41" name="Line 5"/>
              <p:cNvSpPr>
                <a:spLocks noChangeShapeType="1"/>
              </p:cNvSpPr>
              <p:nvPr/>
            </p:nvSpPr>
            <p:spPr bwMode="auto">
              <a:xfrm>
                <a:off x="10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25" name="Group 6"/>
            <p:cNvGrpSpPr/>
            <p:nvPr/>
          </p:nvGrpSpPr>
          <p:grpSpPr bwMode="auto">
            <a:xfrm>
              <a:off x="2208" y="1593"/>
              <a:ext cx="1392" cy="1134"/>
              <a:chOff x="2208" y="1824"/>
              <a:chExt cx="1392" cy="1134"/>
            </a:xfrm>
          </p:grpSpPr>
          <p:sp>
            <p:nvSpPr>
              <p:cNvPr id="38" name="Line 7"/>
              <p:cNvSpPr>
                <a:spLocks noChangeShapeType="1"/>
              </p:cNvSpPr>
              <p:nvPr/>
            </p:nvSpPr>
            <p:spPr bwMode="auto">
              <a:xfrm>
                <a:off x="2208"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39" name="Line 8"/>
              <p:cNvSpPr>
                <a:spLocks noChangeShapeType="1"/>
              </p:cNvSpPr>
              <p:nvPr/>
            </p:nvSpPr>
            <p:spPr bwMode="auto">
              <a:xfrm>
                <a:off x="2902"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grpSp>
          <p:nvGrpSpPr>
            <p:cNvPr id="26" name="Group 9"/>
            <p:cNvGrpSpPr/>
            <p:nvPr/>
          </p:nvGrpSpPr>
          <p:grpSpPr bwMode="auto">
            <a:xfrm>
              <a:off x="3984" y="1593"/>
              <a:ext cx="1392" cy="1134"/>
              <a:chOff x="3984" y="1824"/>
              <a:chExt cx="1392" cy="1134"/>
            </a:xfrm>
          </p:grpSpPr>
          <p:sp>
            <p:nvSpPr>
              <p:cNvPr id="36" name="Line 10"/>
              <p:cNvSpPr>
                <a:spLocks noChangeShapeType="1"/>
              </p:cNvSpPr>
              <p:nvPr/>
            </p:nvSpPr>
            <p:spPr bwMode="auto">
              <a:xfrm>
                <a:off x="3984" y="2961"/>
                <a:ext cx="1392" cy="0"/>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sp>
            <p:nvSpPr>
              <p:cNvPr id="37" name="Line 11"/>
              <p:cNvSpPr>
                <a:spLocks noChangeShapeType="1"/>
              </p:cNvSpPr>
              <p:nvPr/>
            </p:nvSpPr>
            <p:spPr bwMode="auto">
              <a:xfrm>
                <a:off x="4678" y="1824"/>
                <a:ext cx="0" cy="1137"/>
              </a:xfrm>
              <a:prstGeom prst="line">
                <a:avLst/>
              </a:prstGeom>
              <a:noFill/>
              <a:ln w="57150">
                <a:solidFill>
                  <a:schemeClr val="tx1"/>
                </a:solidFill>
                <a:round/>
              </a:ln>
            </p:spPr>
            <p:txBody>
              <a:bodyPr wrap="none" lIns="67500" tIns="35100" rIns="67500" bIns="35100" anchor="ctr"/>
              <a:lstStyle/>
              <a:p>
                <a:pPr>
                  <a:defRPr/>
                </a:pPr>
                <a:endParaRPr lang="zh-CN" altLang="en-US" sz="1015"/>
              </a:p>
            </p:txBody>
          </p:sp>
        </p:grpSp>
        <p:sp>
          <p:nvSpPr>
            <p:cNvPr id="27" name="Text Box 12"/>
            <p:cNvSpPr txBox="1">
              <a:spLocks noChangeArrowheads="1"/>
            </p:cNvSpPr>
            <p:nvPr/>
          </p:nvSpPr>
          <p:spPr bwMode="auto">
            <a:xfrm>
              <a:off x="960" y="2937"/>
              <a:ext cx="20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dirty="0">
                  <a:latin typeface="Calibri" panose="020F0502020204030204" charset="0"/>
                </a:rPr>
                <a:t>A</a:t>
              </a:r>
              <a:endParaRPr lang="en-US" altLang="zh-CN" sz="1350" b="1" dirty="0">
                <a:latin typeface="Calibri" panose="020F0502020204030204" charset="0"/>
              </a:endParaRPr>
            </a:p>
          </p:txBody>
        </p:sp>
        <p:sp>
          <p:nvSpPr>
            <p:cNvPr id="28" name="Text Box 13"/>
            <p:cNvSpPr txBox="1">
              <a:spLocks noChangeArrowheads="1"/>
            </p:cNvSpPr>
            <p:nvPr/>
          </p:nvSpPr>
          <p:spPr bwMode="auto">
            <a:xfrm>
              <a:off x="2762" y="2937"/>
              <a:ext cx="19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B</a:t>
              </a:r>
              <a:endParaRPr lang="en-US" altLang="zh-CN" sz="1350" b="1">
                <a:latin typeface="Calibri" panose="020F0502020204030204" charset="0"/>
              </a:endParaRPr>
            </a:p>
          </p:txBody>
        </p:sp>
        <p:sp>
          <p:nvSpPr>
            <p:cNvPr id="29" name="Text Box 14"/>
            <p:cNvSpPr txBox="1">
              <a:spLocks noChangeArrowheads="1"/>
            </p:cNvSpPr>
            <p:nvPr/>
          </p:nvSpPr>
          <p:spPr bwMode="auto">
            <a:xfrm>
              <a:off x="4582" y="2937"/>
              <a:ext cx="191"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67500" tIns="35100" rIns="67500" bIns="35100" anchor="ct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350" b="1">
                  <a:latin typeface="Calibri" panose="020F0502020204030204" charset="0"/>
                </a:rPr>
                <a:t>C</a:t>
              </a:r>
              <a:endParaRPr lang="en-US" altLang="zh-CN" sz="1350" b="1">
                <a:latin typeface="Calibri" panose="020F0502020204030204" charset="0"/>
              </a:endParaRPr>
            </a:p>
          </p:txBody>
        </p:sp>
        <p:sp>
          <p:nvSpPr>
            <p:cNvPr id="30" name="Rectangle 15"/>
            <p:cNvSpPr>
              <a:spLocks noChangeArrowheads="1"/>
            </p:cNvSpPr>
            <p:nvPr/>
          </p:nvSpPr>
          <p:spPr bwMode="auto">
            <a:xfrm>
              <a:off x="4128" y="2536"/>
              <a:ext cx="1134" cy="180"/>
            </a:xfrm>
            <a:prstGeom prst="rect">
              <a:avLst/>
            </a:prstGeom>
            <a:solidFill>
              <a:srgbClr val="FFFF00"/>
            </a:solidFill>
            <a:ln w="6350">
              <a:solidFill>
                <a:schemeClr val="tx1"/>
              </a:solidFill>
              <a:miter lim="800000"/>
            </a:ln>
            <a:effectLst>
              <a:outerShdw dist="64758" dir="20921404" algn="ctr" rotWithShape="0">
                <a:schemeClr val="bg2"/>
              </a:outerShdw>
            </a:effectLst>
          </p:spPr>
          <p:txBody>
            <a:bodyPr wrap="none" lIns="67500" tIns="35100" rIns="67500" bIns="35100" anchor="ctr"/>
            <a:lstStyle/>
            <a:p>
              <a:pPr>
                <a:defRPr/>
              </a:pPr>
              <a:endParaRPr lang="zh-CN" altLang="en-US" sz="1015"/>
            </a:p>
          </p:txBody>
        </p:sp>
        <p:grpSp>
          <p:nvGrpSpPr>
            <p:cNvPr id="31" name="Group 16"/>
            <p:cNvGrpSpPr/>
            <p:nvPr/>
          </p:nvGrpSpPr>
          <p:grpSpPr bwMode="auto">
            <a:xfrm>
              <a:off x="4229" y="1774"/>
              <a:ext cx="907" cy="752"/>
              <a:chOff x="2453" y="2032"/>
              <a:chExt cx="907" cy="752"/>
            </a:xfrm>
          </p:grpSpPr>
          <p:sp>
            <p:nvSpPr>
              <p:cNvPr id="32" name="Rectangle 17"/>
              <p:cNvSpPr>
                <a:spLocks noChangeArrowheads="1"/>
              </p:cNvSpPr>
              <p:nvPr/>
            </p:nvSpPr>
            <p:spPr bwMode="auto">
              <a:xfrm>
                <a:off x="2453" y="2603"/>
                <a:ext cx="907" cy="181"/>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sp>
            <p:nvSpPr>
              <p:cNvPr id="33" name="Rectangle 18"/>
              <p:cNvSpPr>
                <a:spLocks noChangeArrowheads="1"/>
              </p:cNvSpPr>
              <p:nvPr/>
            </p:nvSpPr>
            <p:spPr bwMode="auto">
              <a:xfrm>
                <a:off x="2562" y="2415"/>
                <a:ext cx="680" cy="181"/>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sp>
            <p:nvSpPr>
              <p:cNvPr id="34" name="Rectangle 19"/>
              <p:cNvSpPr>
                <a:spLocks noChangeArrowheads="1"/>
              </p:cNvSpPr>
              <p:nvPr/>
            </p:nvSpPr>
            <p:spPr bwMode="auto">
              <a:xfrm>
                <a:off x="2667" y="2224"/>
                <a:ext cx="453" cy="181"/>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sp>
            <p:nvSpPr>
              <p:cNvPr id="35" name="Rectangle 20"/>
              <p:cNvSpPr>
                <a:spLocks noChangeArrowheads="1"/>
              </p:cNvSpPr>
              <p:nvPr/>
            </p:nvSpPr>
            <p:spPr bwMode="auto">
              <a:xfrm>
                <a:off x="2782" y="2032"/>
                <a:ext cx="227" cy="181"/>
              </a:xfrm>
              <a:prstGeom prst="rect">
                <a:avLst/>
              </a:prstGeom>
              <a:solidFill>
                <a:srgbClr val="FFCC00"/>
              </a:solidFill>
              <a:ln w="6350">
                <a:solidFill>
                  <a:schemeClr val="tx1"/>
                </a:solidFill>
                <a:miter lim="800000"/>
              </a:ln>
              <a:effectLst>
                <a:outerShdw dist="64758" dir="678596" algn="ctr" rotWithShape="0">
                  <a:schemeClr val="bg2"/>
                </a:outerShdw>
              </a:effectLst>
            </p:spPr>
            <p:txBody>
              <a:bodyPr wrap="none" lIns="67500" tIns="35100" rIns="67500" bIns="35100" anchor="ctr"/>
              <a:lstStyle/>
              <a:p>
                <a:pPr>
                  <a:defRPr/>
                </a:pPr>
                <a:endParaRPr lang="zh-CN" altLang="en-US" sz="1015"/>
              </a:p>
            </p:txBody>
          </p:sp>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如何实现移动圆盘的操作？</a:t>
            </a:r>
            <a:endParaRPr lang="en-US" altLang="zh-CN" dirty="0"/>
          </a:p>
          <a:p>
            <a:pPr lvl="2"/>
            <a:r>
              <a:rPr lang="zh-CN" altLang="en-US" sz="1800" dirty="0"/>
              <a:t> </a:t>
            </a:r>
            <a:r>
              <a:rPr lang="en-US" altLang="zh-CN" dirty="0"/>
              <a:t>n=1</a:t>
            </a:r>
            <a:r>
              <a:rPr lang="zh-CN" altLang="en-US" dirty="0"/>
              <a:t>时    </a:t>
            </a:r>
            <a:r>
              <a:rPr lang="en-US" altLang="zh-CN" dirty="0">
                <a:solidFill>
                  <a:srgbClr val="FF0000"/>
                </a:solidFill>
              </a:rPr>
              <a:t>1</a:t>
            </a:r>
            <a:r>
              <a:rPr lang="zh-CN" altLang="en-US" dirty="0">
                <a:solidFill>
                  <a:srgbClr val="FF0000"/>
                </a:solidFill>
              </a:rPr>
              <a:t>：</a:t>
            </a:r>
            <a:r>
              <a:rPr dirty="0">
                <a:solidFill>
                  <a:srgbClr val="FF0000"/>
                </a:solidFill>
              </a:rPr>
              <a:t>A</a:t>
            </a:r>
            <a:r>
              <a:rPr lang="en-US" altLang="zh-CN" dirty="0">
                <a:solidFill>
                  <a:srgbClr val="FF0000"/>
                </a:solidFill>
              </a:rPr>
              <a:t> -&gt; C</a:t>
            </a:r>
            <a:endParaRPr lang="zh-CN" altLang="en-US" dirty="0">
              <a:solidFill>
                <a:srgbClr val="FF0000"/>
              </a:solidFill>
            </a:endParaRPr>
          </a:p>
          <a:p>
            <a:pPr lvl="2"/>
            <a:r>
              <a:rPr lang="zh-CN" altLang="en-US" dirty="0"/>
              <a:t> </a:t>
            </a:r>
            <a:r>
              <a:rPr lang="en-US" altLang="zh-CN" dirty="0"/>
              <a:t>n&gt;1</a:t>
            </a:r>
            <a:r>
              <a:rPr lang="zh-CN" altLang="en-US" dirty="0"/>
              <a:t>时  </a:t>
            </a:r>
            <a:endParaRPr lang="zh-CN" altLang="en-US" dirty="0"/>
          </a:p>
          <a:p>
            <a:pPr lvl="2"/>
            <a:r>
              <a:rPr lang="en-US" altLang="zh-CN" dirty="0">
                <a:solidFill>
                  <a:srgbClr val="FF0000"/>
                </a:solidFill>
              </a:rPr>
              <a:t>            1—(n-1)</a:t>
            </a:r>
            <a:r>
              <a:rPr lang="zh-CN" altLang="en-US" dirty="0">
                <a:solidFill>
                  <a:srgbClr val="FF0000"/>
                </a:solidFill>
              </a:rPr>
              <a:t>：</a:t>
            </a:r>
            <a:r>
              <a:rPr dirty="0">
                <a:solidFill>
                  <a:srgbClr val="FF0000"/>
                </a:solidFill>
              </a:rPr>
              <a:t>A</a:t>
            </a:r>
            <a:r>
              <a:rPr lang="en-US" altLang="zh-CN" dirty="0">
                <a:solidFill>
                  <a:srgbClr val="FF0000"/>
                </a:solidFill>
              </a:rPr>
              <a:t> -&gt; B</a:t>
            </a:r>
            <a:endParaRPr lang="zh-CN" altLang="en-US" dirty="0">
              <a:solidFill>
                <a:srgbClr val="FF0000"/>
              </a:solidFill>
            </a:endParaRPr>
          </a:p>
          <a:p>
            <a:pPr lvl="2"/>
            <a:r>
              <a:rPr lang="en-US" altLang="zh-CN" dirty="0">
                <a:solidFill>
                  <a:srgbClr val="FF0000"/>
                </a:solidFill>
              </a:rPr>
              <a:t>            n</a:t>
            </a:r>
            <a:r>
              <a:rPr lang="zh-CN" altLang="en-US" dirty="0">
                <a:solidFill>
                  <a:srgbClr val="FF0000"/>
                </a:solidFill>
              </a:rPr>
              <a:t>：</a:t>
            </a:r>
            <a:r>
              <a:rPr dirty="0">
                <a:solidFill>
                  <a:srgbClr val="FF0000"/>
                </a:solidFill>
              </a:rPr>
              <a:t>A</a:t>
            </a:r>
            <a:r>
              <a:rPr lang="en-US" altLang="zh-CN" dirty="0">
                <a:solidFill>
                  <a:srgbClr val="FF0000"/>
                </a:solidFill>
              </a:rPr>
              <a:t> -&gt; C</a:t>
            </a:r>
            <a:endParaRPr lang="zh-CN" altLang="en-US" dirty="0">
              <a:solidFill>
                <a:srgbClr val="FF0000"/>
              </a:solidFill>
            </a:endParaRPr>
          </a:p>
          <a:p>
            <a:pPr lvl="2"/>
            <a:r>
              <a:rPr lang="zh-CN" altLang="en-US" dirty="0">
                <a:solidFill>
                  <a:srgbClr val="FF0000"/>
                </a:solidFill>
              </a:rPr>
              <a:t>            </a:t>
            </a:r>
            <a:r>
              <a:rPr lang="en-US" altLang="zh-CN" dirty="0">
                <a:solidFill>
                  <a:srgbClr val="FF0000"/>
                </a:solidFill>
              </a:rPr>
              <a:t>1 —(n-1)</a:t>
            </a:r>
            <a:r>
              <a:rPr lang="zh-CN" altLang="en-US" dirty="0">
                <a:solidFill>
                  <a:srgbClr val="FF0000"/>
                </a:solidFill>
              </a:rPr>
              <a:t>：</a:t>
            </a:r>
            <a:r>
              <a:rPr dirty="0">
                <a:solidFill>
                  <a:srgbClr val="FF0000"/>
                </a:solidFill>
              </a:rPr>
              <a:t>B</a:t>
            </a:r>
            <a:r>
              <a:rPr lang="en-US" altLang="zh-CN" dirty="0">
                <a:solidFill>
                  <a:srgbClr val="FF0000"/>
                </a:solidFill>
              </a:rPr>
              <a:t> -&gt; C</a:t>
            </a:r>
            <a:endParaRPr lang="en-US" altLang="zh-CN" dirty="0">
              <a:solidFill>
                <a:srgbClr val="FF0000"/>
              </a:solidFill>
            </a:endParaRPr>
          </a:p>
          <a:p>
            <a:pPr lvl="2"/>
            <a:r>
              <a:rPr lang="zh-CN" altLang="en-US" dirty="0"/>
              <a:t>        将</a:t>
            </a:r>
            <a:r>
              <a:rPr lang="en-US" altLang="zh-CN" dirty="0"/>
              <a:t>n-1</a:t>
            </a:r>
            <a:r>
              <a:rPr lang="zh-CN" altLang="en-US" dirty="0"/>
              <a:t>个圆盘从一个塔座移至另一个塔座问题是一个和原问题具有相同特征属性的问题，只是问题的规模少</a:t>
            </a:r>
            <a:r>
              <a:rPr lang="en-US" altLang="zh-CN" dirty="0"/>
              <a:t>1</a:t>
            </a:r>
            <a:r>
              <a:rPr lang="zh-CN" altLang="en-US" dirty="0"/>
              <a:t>，因此可以用同样方法求解。</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vl="2">
              <a:lnSpc>
                <a:spcPct val="100000"/>
              </a:lnSpc>
              <a:spcBef>
                <a:spcPct val="0"/>
              </a:spcBef>
            </a:pPr>
            <a:r>
              <a:rPr lang="en-US" altLang="zh-CN" sz="1800" dirty="0"/>
              <a:t> /*</a:t>
            </a:r>
            <a:r>
              <a:rPr lang="zh-CN" altLang="en-US" sz="1800" dirty="0"/>
              <a:t>将塔座</a:t>
            </a:r>
            <a:r>
              <a:rPr lang="en-US" altLang="zh-CN" sz="1800" dirty="0"/>
              <a:t>X</a:t>
            </a:r>
            <a:r>
              <a:rPr lang="zh-CN" altLang="en-US" sz="1800" dirty="0"/>
              <a:t>上编号为</a:t>
            </a:r>
            <a:r>
              <a:rPr lang="en-US" altLang="zh-CN" sz="1800" dirty="0"/>
              <a:t>1</a:t>
            </a:r>
            <a:r>
              <a:rPr lang="zh-CN" altLang="en-US" sz="1800" dirty="0"/>
              <a:t>至</a:t>
            </a:r>
            <a:r>
              <a:rPr lang="en-US" altLang="zh-CN" sz="1800" dirty="0"/>
              <a:t>n</a:t>
            </a:r>
            <a:r>
              <a:rPr lang="zh-CN" altLang="en-US" sz="1800" dirty="0"/>
              <a:t>的</a:t>
            </a:r>
            <a:r>
              <a:rPr lang="en-US" altLang="zh-CN" sz="1800" dirty="0"/>
              <a:t>n</a:t>
            </a:r>
            <a:r>
              <a:rPr lang="zh-CN" altLang="en-US" sz="1800" dirty="0"/>
              <a:t>个圆盘按规则搬到塔座</a:t>
            </a:r>
            <a:r>
              <a:rPr lang="en-US" altLang="zh-CN" sz="1800" dirty="0"/>
              <a:t>Z</a:t>
            </a:r>
            <a:r>
              <a:rPr lang="zh-CN" altLang="en-US" sz="1800" dirty="0"/>
              <a:t>上， </a:t>
            </a:r>
            <a:r>
              <a:rPr lang="en-US" altLang="zh-CN" sz="1800" dirty="0"/>
              <a:t>Y</a:t>
            </a:r>
            <a:r>
              <a:rPr lang="zh-CN" altLang="en-US" sz="1800" dirty="0"/>
              <a:t>可用作辅助塔座 *</a:t>
            </a:r>
            <a:r>
              <a:rPr lang="en-US" altLang="zh-CN" sz="1800" dirty="0"/>
              <a:t>/ </a:t>
            </a:r>
            <a:endParaRPr lang="en-US" altLang="zh-CN" sz="1800" dirty="0"/>
          </a:p>
          <a:p>
            <a:pPr lvl="2">
              <a:lnSpc>
                <a:spcPct val="100000"/>
              </a:lnSpc>
              <a:spcBef>
                <a:spcPct val="0"/>
              </a:spcBef>
            </a:pPr>
            <a:r>
              <a:rPr lang="en-US" altLang="zh-CN" sz="1800" dirty="0"/>
              <a:t>void </a:t>
            </a:r>
            <a:r>
              <a:rPr lang="en-US" altLang="zh-CN" sz="1800" dirty="0" err="1"/>
              <a:t>hanoi</a:t>
            </a:r>
            <a:r>
              <a:rPr lang="en-US" altLang="zh-CN" sz="1800" dirty="0"/>
              <a:t>(</a:t>
            </a:r>
            <a:r>
              <a:rPr lang="en-US" altLang="zh-CN" sz="1800" dirty="0" err="1"/>
              <a:t>int</a:t>
            </a:r>
            <a:r>
              <a:rPr lang="en-US" altLang="zh-CN" sz="1800" dirty="0"/>
              <a:t> </a:t>
            </a:r>
            <a:r>
              <a:rPr lang="en-US" altLang="zh-CN" sz="1800" dirty="0" err="1"/>
              <a:t>n,char</a:t>
            </a:r>
            <a:r>
              <a:rPr lang="en-US" altLang="zh-CN" sz="1800" dirty="0"/>
              <a:t> </a:t>
            </a:r>
            <a:r>
              <a:rPr lang="en-US" altLang="zh-CN" sz="1800" dirty="0" err="1"/>
              <a:t>x,char</a:t>
            </a:r>
            <a:r>
              <a:rPr lang="en-US" altLang="zh-CN" sz="1800" dirty="0"/>
              <a:t> </a:t>
            </a:r>
            <a:r>
              <a:rPr lang="en-US" altLang="zh-CN" sz="1800" dirty="0" err="1"/>
              <a:t>y,char</a:t>
            </a:r>
            <a:r>
              <a:rPr lang="en-US" altLang="zh-CN" sz="1800" dirty="0"/>
              <a:t> z)</a:t>
            </a:r>
            <a:endParaRPr lang="en-US" altLang="zh-CN" sz="1800" dirty="0"/>
          </a:p>
          <a:p>
            <a:pPr lvl="2">
              <a:lnSpc>
                <a:spcPct val="100000"/>
              </a:lnSpc>
              <a:spcBef>
                <a:spcPct val="0"/>
              </a:spcBef>
            </a:pPr>
            <a:r>
              <a:rPr lang="en-US" altLang="zh-CN" sz="1800" dirty="0">
                <a:solidFill>
                  <a:srgbClr val="FF00FF"/>
                </a:solidFill>
              </a:rPr>
              <a:t>1</a:t>
            </a:r>
            <a:r>
              <a:rPr lang="en-US" altLang="zh-CN" sz="1800" dirty="0"/>
              <a:t>{</a:t>
            </a:r>
            <a:endParaRPr lang="en-US" altLang="zh-CN" sz="1800" dirty="0"/>
          </a:p>
          <a:p>
            <a:pPr lvl="2">
              <a:lnSpc>
                <a:spcPct val="100000"/>
              </a:lnSpc>
              <a:spcBef>
                <a:spcPct val="0"/>
              </a:spcBef>
            </a:pPr>
            <a:r>
              <a:rPr lang="en-US" altLang="zh-CN" sz="1800" dirty="0">
                <a:solidFill>
                  <a:srgbClr val="FF00FF"/>
                </a:solidFill>
              </a:rPr>
              <a:t>2</a:t>
            </a:r>
            <a:r>
              <a:rPr lang="en-US" altLang="zh-CN" sz="1800" dirty="0"/>
              <a:t>   if(n==1) </a:t>
            </a:r>
            <a:endParaRPr lang="en-US" altLang="zh-CN" sz="1800" dirty="0"/>
          </a:p>
          <a:p>
            <a:pPr lvl="2">
              <a:lnSpc>
                <a:spcPct val="100000"/>
              </a:lnSpc>
              <a:spcBef>
                <a:spcPct val="0"/>
              </a:spcBef>
            </a:pPr>
            <a:r>
              <a:rPr lang="en-US" altLang="zh-CN" sz="1800" dirty="0">
                <a:solidFill>
                  <a:srgbClr val="FF00FF"/>
                </a:solidFill>
              </a:rPr>
              <a:t>3</a:t>
            </a:r>
            <a:r>
              <a:rPr lang="en-US" altLang="zh-CN" sz="1800" dirty="0"/>
              <a:t>     move(x,1,z); /* </a:t>
            </a:r>
            <a:r>
              <a:rPr lang="zh-CN" altLang="en-US" sz="1800" dirty="0"/>
              <a:t>将编号为</a:t>
            </a:r>
            <a:r>
              <a:rPr lang="en-US" altLang="zh-CN" sz="1800" dirty="0"/>
              <a:t>1</a:t>
            </a:r>
            <a:r>
              <a:rPr lang="zh-CN" altLang="en-US" sz="1800" dirty="0"/>
              <a:t>的圆盘从</a:t>
            </a:r>
            <a:r>
              <a:rPr lang="en-US" altLang="zh-CN" sz="1800" dirty="0"/>
              <a:t>X</a:t>
            </a:r>
            <a:r>
              <a:rPr lang="zh-CN" altLang="en-US" sz="1800" dirty="0"/>
              <a:t>移动</a:t>
            </a:r>
            <a:r>
              <a:rPr lang="en-US" altLang="zh-CN" sz="1800" dirty="0"/>
              <a:t>Z */</a:t>
            </a:r>
            <a:endParaRPr lang="en-US" altLang="zh-CN" sz="1800" dirty="0"/>
          </a:p>
          <a:p>
            <a:pPr lvl="2">
              <a:lnSpc>
                <a:spcPct val="100000"/>
              </a:lnSpc>
              <a:spcBef>
                <a:spcPct val="0"/>
              </a:spcBef>
            </a:pPr>
            <a:r>
              <a:rPr lang="en-US" altLang="zh-CN" sz="1800" dirty="0">
                <a:solidFill>
                  <a:srgbClr val="FF00FF"/>
                </a:solidFill>
              </a:rPr>
              <a:t>4</a:t>
            </a:r>
            <a:r>
              <a:rPr lang="en-US" altLang="zh-CN" sz="1800" dirty="0"/>
              <a:t>   else {</a:t>
            </a:r>
            <a:endParaRPr lang="en-US" altLang="zh-CN" sz="1800" dirty="0">
              <a:solidFill>
                <a:srgbClr val="FF0000"/>
              </a:solidFill>
            </a:endParaRPr>
          </a:p>
          <a:p>
            <a:pPr lvl="2">
              <a:lnSpc>
                <a:spcPct val="100000"/>
              </a:lnSpc>
              <a:spcBef>
                <a:spcPct val="0"/>
              </a:spcBef>
            </a:pPr>
            <a:r>
              <a:rPr lang="en-US" altLang="zh-CN" sz="1800" dirty="0">
                <a:solidFill>
                  <a:srgbClr val="FF00FF"/>
                </a:solidFill>
              </a:rPr>
              <a:t>5</a:t>
            </a:r>
            <a:r>
              <a:rPr lang="en-US" altLang="zh-CN" sz="1800" dirty="0"/>
              <a:t>        </a:t>
            </a:r>
            <a:r>
              <a:rPr lang="en-US" altLang="zh-CN" sz="1800" dirty="0" err="1">
                <a:solidFill>
                  <a:srgbClr val="FF0000"/>
                </a:solidFill>
              </a:rPr>
              <a:t>hanoi</a:t>
            </a:r>
            <a:r>
              <a:rPr lang="en-US" altLang="zh-CN" sz="1800" dirty="0">
                <a:solidFill>
                  <a:srgbClr val="FF0000"/>
                </a:solidFill>
              </a:rPr>
              <a:t>(n-1,x,z,y);</a:t>
            </a:r>
            <a:r>
              <a:rPr lang="en-US" altLang="zh-CN" sz="1800" dirty="0"/>
              <a:t> /* </a:t>
            </a:r>
            <a:r>
              <a:rPr lang="zh-CN" altLang="en-US" sz="1800" dirty="0"/>
              <a:t>将</a:t>
            </a:r>
            <a:r>
              <a:rPr lang="en-US" altLang="zh-CN" sz="1800" dirty="0"/>
              <a:t>X</a:t>
            </a:r>
            <a:r>
              <a:rPr lang="zh-CN" altLang="en-US" sz="1800" dirty="0"/>
              <a:t>上编号为</a:t>
            </a:r>
            <a:r>
              <a:rPr lang="en-US" altLang="zh-CN" sz="1800" dirty="0"/>
              <a:t>1</a:t>
            </a:r>
            <a:r>
              <a:rPr lang="zh-CN" altLang="en-US" sz="1800" dirty="0"/>
              <a:t>至</a:t>
            </a:r>
            <a:r>
              <a:rPr lang="en-US" altLang="zh-CN" sz="1800" dirty="0"/>
              <a:t>n-1</a:t>
            </a:r>
            <a:r>
              <a:rPr lang="zh-CN" altLang="en-US" sz="1800" dirty="0"/>
              <a:t>的圆盘移到</a:t>
            </a:r>
            <a:r>
              <a:rPr lang="en-US" altLang="zh-CN" sz="1800" dirty="0"/>
              <a:t>Y,Z</a:t>
            </a:r>
            <a:r>
              <a:rPr lang="zh-CN" altLang="en-US" sz="1800" dirty="0"/>
              <a:t>作辅助塔 *</a:t>
            </a:r>
            <a:r>
              <a:rPr lang="en-US" altLang="zh-CN" sz="1800" dirty="0"/>
              <a:t>/ </a:t>
            </a:r>
            <a:endParaRPr lang="en-US" altLang="zh-CN" sz="1800" dirty="0"/>
          </a:p>
          <a:p>
            <a:pPr lvl="2">
              <a:lnSpc>
                <a:spcPct val="100000"/>
              </a:lnSpc>
              <a:spcBef>
                <a:spcPct val="0"/>
              </a:spcBef>
            </a:pPr>
            <a:r>
              <a:rPr lang="en-US" altLang="zh-CN" sz="1800" dirty="0">
                <a:solidFill>
                  <a:srgbClr val="FF00FF"/>
                </a:solidFill>
              </a:rPr>
              <a:t>6</a:t>
            </a:r>
            <a:r>
              <a:rPr lang="en-US" altLang="zh-CN" sz="1800" dirty="0"/>
              <a:t>        </a:t>
            </a:r>
            <a:r>
              <a:rPr lang="en-US" altLang="zh-CN" sz="1800" dirty="0">
                <a:solidFill>
                  <a:srgbClr val="FF0000"/>
                </a:solidFill>
              </a:rPr>
              <a:t>move(</a:t>
            </a:r>
            <a:r>
              <a:rPr lang="en-US" altLang="zh-CN" sz="1800" dirty="0" err="1">
                <a:solidFill>
                  <a:srgbClr val="FF0000"/>
                </a:solidFill>
              </a:rPr>
              <a:t>x,n,z</a:t>
            </a:r>
            <a:r>
              <a:rPr lang="en-US" altLang="zh-CN" sz="1800" dirty="0">
                <a:solidFill>
                  <a:srgbClr val="FF0000"/>
                </a:solidFill>
              </a:rPr>
              <a:t>);</a:t>
            </a:r>
            <a:r>
              <a:rPr lang="en-US" altLang="zh-CN" sz="1800" dirty="0"/>
              <a:t> /* </a:t>
            </a:r>
            <a:r>
              <a:rPr lang="zh-CN" altLang="en-US" sz="1800" dirty="0"/>
              <a:t>将编号为</a:t>
            </a:r>
            <a:r>
              <a:rPr lang="en-US" altLang="zh-CN" sz="1800" dirty="0"/>
              <a:t>n</a:t>
            </a:r>
            <a:r>
              <a:rPr lang="zh-CN" altLang="en-US" sz="1800" dirty="0"/>
              <a:t>的圆盘从</a:t>
            </a:r>
            <a:r>
              <a:rPr lang="en-US" altLang="zh-CN" sz="1800" dirty="0"/>
              <a:t>X</a:t>
            </a:r>
            <a:r>
              <a:rPr lang="zh-CN" altLang="en-US" sz="1800" dirty="0"/>
              <a:t>移到</a:t>
            </a:r>
            <a:r>
              <a:rPr lang="en-US" altLang="zh-CN" sz="1800" dirty="0"/>
              <a:t>Z */ </a:t>
            </a:r>
            <a:endParaRPr lang="en-US" altLang="zh-CN" sz="1800" dirty="0"/>
          </a:p>
          <a:p>
            <a:pPr lvl="2">
              <a:lnSpc>
                <a:spcPct val="100000"/>
              </a:lnSpc>
              <a:spcBef>
                <a:spcPct val="0"/>
              </a:spcBef>
            </a:pPr>
            <a:r>
              <a:rPr lang="en-US" altLang="zh-CN" sz="1800" dirty="0">
                <a:solidFill>
                  <a:srgbClr val="FF00FF"/>
                </a:solidFill>
              </a:rPr>
              <a:t>7</a:t>
            </a:r>
            <a:r>
              <a:rPr lang="en-US" altLang="zh-CN" sz="1800" dirty="0"/>
              <a:t>       </a:t>
            </a:r>
            <a:r>
              <a:rPr lang="en-US" altLang="zh-CN" sz="1800" dirty="0" err="1">
                <a:solidFill>
                  <a:srgbClr val="FF0000"/>
                </a:solidFill>
              </a:rPr>
              <a:t>hanoi</a:t>
            </a:r>
            <a:r>
              <a:rPr lang="en-US" altLang="zh-CN" sz="1800" dirty="0">
                <a:solidFill>
                  <a:srgbClr val="FF0000"/>
                </a:solidFill>
              </a:rPr>
              <a:t>(n-1,y,x,z);</a:t>
            </a:r>
            <a:r>
              <a:rPr lang="en-US" altLang="zh-CN" sz="1800" dirty="0"/>
              <a:t> /* </a:t>
            </a:r>
            <a:r>
              <a:rPr lang="zh-CN" altLang="en-US" sz="1800" dirty="0"/>
              <a:t>将</a:t>
            </a:r>
            <a:r>
              <a:rPr lang="en-US" altLang="zh-CN" sz="1800" dirty="0"/>
              <a:t>Y</a:t>
            </a:r>
            <a:r>
              <a:rPr lang="zh-CN" altLang="en-US" sz="1800" dirty="0"/>
              <a:t>上编号为</a:t>
            </a:r>
            <a:r>
              <a:rPr lang="en-US" altLang="zh-CN" sz="1800" dirty="0"/>
              <a:t>1</a:t>
            </a:r>
            <a:r>
              <a:rPr lang="zh-CN" altLang="en-US" sz="1800" dirty="0"/>
              <a:t>至</a:t>
            </a:r>
            <a:r>
              <a:rPr lang="en-US" altLang="zh-CN" sz="1800" dirty="0"/>
              <a:t>n-1</a:t>
            </a:r>
            <a:r>
              <a:rPr lang="zh-CN" altLang="en-US" sz="1800" dirty="0"/>
              <a:t>的圆盘移动到</a:t>
            </a:r>
            <a:r>
              <a:rPr lang="en-US" altLang="zh-CN" sz="1800" dirty="0"/>
              <a:t>Z</a:t>
            </a:r>
            <a:r>
              <a:rPr lang="zh-CN" altLang="en-US" sz="1800" dirty="0"/>
              <a:t>， </a:t>
            </a:r>
            <a:r>
              <a:rPr lang="en-US" altLang="zh-CN" sz="1800" dirty="0"/>
              <a:t>X</a:t>
            </a:r>
            <a:r>
              <a:rPr lang="zh-CN" altLang="en-US" sz="1800" dirty="0"/>
              <a:t>作辅助塔 *</a:t>
            </a:r>
            <a:r>
              <a:rPr lang="en-US" altLang="zh-CN" sz="1800" dirty="0"/>
              <a:t>/</a:t>
            </a:r>
            <a:endParaRPr lang="en-US" altLang="zh-CN" sz="1800" dirty="0"/>
          </a:p>
          <a:p>
            <a:pPr lvl="2">
              <a:lnSpc>
                <a:spcPct val="100000"/>
              </a:lnSpc>
              <a:spcBef>
                <a:spcPct val="0"/>
              </a:spcBef>
            </a:pPr>
            <a:r>
              <a:rPr lang="en-US" altLang="zh-CN" sz="1800" dirty="0">
                <a:solidFill>
                  <a:srgbClr val="FF00FF"/>
                </a:solidFill>
              </a:rPr>
              <a:t>8</a:t>
            </a:r>
            <a:r>
              <a:rPr lang="en-US" altLang="zh-CN" sz="1800" dirty="0"/>
              <a:t>      }</a:t>
            </a:r>
            <a:endParaRPr lang="en-US" altLang="zh-CN" sz="1800" dirty="0"/>
          </a:p>
          <a:p>
            <a:pPr lvl="2">
              <a:lnSpc>
                <a:spcPct val="100000"/>
              </a:lnSpc>
              <a:spcBef>
                <a:spcPct val="0"/>
              </a:spcBef>
            </a:pPr>
            <a:r>
              <a:rPr lang="en-US" altLang="zh-CN" sz="1800" dirty="0">
                <a:solidFill>
                  <a:srgbClr val="FF00FF"/>
                </a:solidFill>
              </a:rPr>
              <a:t>9</a:t>
            </a:r>
            <a:r>
              <a:rPr lang="en-US" altLang="zh-CN" sz="1800" dirty="0"/>
              <a:t>}  </a:t>
            </a:r>
            <a:endParaRPr lang="en-US" altLang="zh-CN" sz="1800"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000" dirty="0">
                <a:latin typeface="华文楷体" panose="02010600040101010101" pitchFamily="2" charset="-122"/>
                <a:ea typeface="华文楷体" panose="02010600040101010101" pitchFamily="2" charset="-122"/>
              </a:rPr>
              <a:t>三个盘子搬动</a:t>
            </a:r>
            <a:r>
              <a:rPr lang="en-US" altLang="zh-CN" sz="2000" dirty="0" err="1">
                <a:latin typeface="华文楷体" panose="02010600040101010101" pitchFamily="2" charset="-122"/>
                <a:ea typeface="华文楷体" panose="02010600040101010101" pitchFamily="2" charset="-122"/>
              </a:rPr>
              <a:t>hanoi</a:t>
            </a:r>
            <a:r>
              <a:rPr lang="en-US" altLang="zh-CN" sz="2000" dirty="0">
                <a:latin typeface="华文楷体" panose="02010600040101010101" pitchFamily="2" charset="-122"/>
                <a:ea typeface="华文楷体" panose="02010600040101010101" pitchFamily="2" charset="-122"/>
              </a:rPr>
              <a:t>(3, a, b, c) </a:t>
            </a:r>
            <a:r>
              <a:rPr lang="zh-CN" altLang="en-US" sz="2000" dirty="0">
                <a:latin typeface="华文楷体" panose="02010600040101010101" pitchFamily="2" charset="-122"/>
                <a:ea typeface="华文楷体" panose="02010600040101010101" pitchFamily="2" charset="-122"/>
              </a:rPr>
              <a:t>递归函数调用执行过程</a:t>
            </a:r>
            <a:r>
              <a:rPr lang="en-US" altLang="zh-CN" sz="2000" dirty="0">
                <a:latin typeface="华文楷体" panose="02010600040101010101" pitchFamily="2" charset="-122"/>
                <a:ea typeface="华文楷体" panose="02010600040101010101" pitchFamily="2" charset="-122"/>
              </a:rPr>
              <a:t>:</a:t>
            </a:r>
            <a:endParaRPr lang="en-US" altLang="zh-CN" sz="2000" dirty="0">
              <a:latin typeface="华文楷体" panose="02010600040101010101" pitchFamily="2" charset="-122"/>
              <a:ea typeface="华文楷体" panose="02010600040101010101" pitchFamily="2" charset="-122"/>
            </a:endParaRPr>
          </a:p>
          <a:p>
            <a:pPr lvl="2">
              <a:lnSpc>
                <a:spcPct val="155000"/>
              </a:lnSpc>
            </a:pPr>
            <a:r>
              <a:rPr lang="en-US" altLang="zh-CN" sz="1800" dirty="0" err="1">
                <a:solidFill>
                  <a:srgbClr val="FF0000"/>
                </a:solidFill>
                <a:latin typeface="Calibri" panose="020F0502020204030204" charset="0"/>
              </a:rPr>
              <a:t>hanoi</a:t>
            </a:r>
            <a:r>
              <a:rPr lang="en-US" altLang="zh-CN" sz="1800" dirty="0">
                <a:solidFill>
                  <a:srgbClr val="FF0000"/>
                </a:solidFill>
                <a:latin typeface="Calibri" panose="020F0502020204030204" charset="0"/>
              </a:rPr>
              <a:t>(2,a,c,b):</a:t>
            </a:r>
            <a:endParaRPr lang="en-US" altLang="zh-CN" sz="1800" dirty="0">
              <a:solidFill>
                <a:srgbClr val="FF0000"/>
              </a:solidFill>
              <a:latin typeface="Calibri" panose="020F0502020204030204" charset="0"/>
            </a:endParaRPr>
          </a:p>
          <a:p>
            <a:pPr lvl="2">
              <a:lnSpc>
                <a:spcPct val="155000"/>
              </a:lnSpc>
            </a:pPr>
            <a:r>
              <a:rPr lang="en-US" altLang="zh-CN" sz="1800" dirty="0">
                <a:latin typeface="Calibri" panose="020F0502020204030204" charset="0"/>
              </a:rPr>
              <a:t>            </a:t>
            </a:r>
            <a:r>
              <a:rPr lang="en-US" altLang="zh-CN" sz="1800" dirty="0" err="1">
                <a:latin typeface="Calibri" panose="020F0502020204030204" charset="0"/>
              </a:rPr>
              <a:t>hanoi</a:t>
            </a:r>
            <a:r>
              <a:rPr lang="en-US" altLang="zh-CN" sz="1800" dirty="0">
                <a:latin typeface="Calibri" panose="020F0502020204030204" charset="0"/>
              </a:rPr>
              <a:t>(1,a,b,c)     move(a-&gt;c)      1</a:t>
            </a:r>
            <a:r>
              <a:rPr lang="zh-CN" altLang="en-US" sz="1800" dirty="0">
                <a:latin typeface="Calibri" panose="020F0502020204030204" charset="0"/>
              </a:rPr>
              <a:t>号从</a:t>
            </a:r>
            <a:r>
              <a:rPr lang="en-US" altLang="zh-CN" sz="1800" dirty="0">
                <a:latin typeface="Calibri" panose="020F0502020204030204" charset="0"/>
              </a:rPr>
              <a:t>a</a:t>
            </a:r>
            <a:r>
              <a:rPr lang="zh-CN" altLang="en-US" sz="1800" dirty="0">
                <a:latin typeface="Calibri" panose="020F0502020204030204" charset="0"/>
              </a:rPr>
              <a:t>搬到</a:t>
            </a:r>
            <a:r>
              <a:rPr lang="en-US" altLang="zh-CN" sz="1800" dirty="0">
                <a:latin typeface="Calibri" panose="020F0502020204030204" charset="0"/>
              </a:rPr>
              <a:t>c</a:t>
            </a:r>
            <a:endParaRPr lang="en-US" altLang="zh-CN" sz="1800" dirty="0">
              <a:latin typeface="Calibri" panose="020F0502020204030204" charset="0"/>
            </a:endParaRPr>
          </a:p>
          <a:p>
            <a:pPr lvl="2">
              <a:lnSpc>
                <a:spcPct val="155000"/>
              </a:lnSpc>
            </a:pPr>
            <a:r>
              <a:rPr lang="en-US" altLang="zh-CN" sz="1800" dirty="0">
                <a:latin typeface="Calibri" panose="020F0502020204030204" charset="0"/>
              </a:rPr>
              <a:t>            move(a-&gt;b)   			      2</a:t>
            </a:r>
            <a:r>
              <a:rPr lang="zh-CN" altLang="en-US" sz="1800" dirty="0">
                <a:latin typeface="Calibri" panose="020F0502020204030204" charset="0"/>
              </a:rPr>
              <a:t>号从</a:t>
            </a:r>
            <a:r>
              <a:rPr lang="en-US" altLang="zh-CN" sz="1800" dirty="0">
                <a:latin typeface="Calibri" panose="020F0502020204030204" charset="0"/>
              </a:rPr>
              <a:t>a</a:t>
            </a:r>
            <a:r>
              <a:rPr lang="zh-CN" altLang="en-US" sz="1800" dirty="0">
                <a:latin typeface="Calibri" panose="020F0502020204030204" charset="0"/>
              </a:rPr>
              <a:t>搬到</a:t>
            </a:r>
            <a:r>
              <a:rPr lang="en-US" altLang="zh-CN" sz="1800" dirty="0">
                <a:latin typeface="Calibri" panose="020F0502020204030204" charset="0"/>
              </a:rPr>
              <a:t>b</a:t>
            </a:r>
            <a:endParaRPr lang="en-US" altLang="zh-CN" sz="1800" dirty="0">
              <a:latin typeface="Calibri" panose="020F0502020204030204" charset="0"/>
            </a:endParaRPr>
          </a:p>
          <a:p>
            <a:pPr lvl="2">
              <a:lnSpc>
                <a:spcPct val="155000"/>
              </a:lnSpc>
            </a:pPr>
            <a:r>
              <a:rPr lang="en-US" altLang="zh-CN" sz="1800" dirty="0">
                <a:latin typeface="Calibri" panose="020F0502020204030204" charset="0"/>
              </a:rPr>
              <a:t>            </a:t>
            </a:r>
            <a:r>
              <a:rPr lang="en-US" altLang="zh-CN" sz="1800" dirty="0" err="1">
                <a:latin typeface="Calibri" panose="020F0502020204030204" charset="0"/>
              </a:rPr>
              <a:t>hanoi</a:t>
            </a:r>
            <a:r>
              <a:rPr lang="en-US" altLang="zh-CN" sz="1800" dirty="0">
                <a:latin typeface="Calibri" panose="020F0502020204030204" charset="0"/>
              </a:rPr>
              <a:t>(1,c,a,b)     move(c-&gt;b)      1</a:t>
            </a:r>
            <a:r>
              <a:rPr lang="zh-CN" altLang="en-US" sz="1800" dirty="0">
                <a:latin typeface="Calibri" panose="020F0502020204030204" charset="0"/>
              </a:rPr>
              <a:t>号从</a:t>
            </a:r>
            <a:r>
              <a:rPr lang="en-US" altLang="zh-CN" sz="1800" dirty="0">
                <a:latin typeface="Calibri" panose="020F0502020204030204" charset="0"/>
              </a:rPr>
              <a:t>c</a:t>
            </a:r>
            <a:r>
              <a:rPr lang="zh-CN" altLang="en-US" sz="1800" dirty="0">
                <a:latin typeface="Calibri" panose="020F0502020204030204" charset="0"/>
              </a:rPr>
              <a:t>搬到</a:t>
            </a:r>
            <a:r>
              <a:rPr lang="en-US" altLang="zh-CN" sz="1800" dirty="0">
                <a:latin typeface="Calibri" panose="020F0502020204030204" charset="0"/>
              </a:rPr>
              <a:t>b</a:t>
            </a:r>
            <a:endParaRPr lang="en-US" altLang="zh-CN" sz="1800" dirty="0">
              <a:latin typeface="Calibri" panose="020F0502020204030204" charset="0"/>
            </a:endParaRPr>
          </a:p>
          <a:p>
            <a:pPr lvl="2">
              <a:lnSpc>
                <a:spcPct val="155000"/>
              </a:lnSpc>
            </a:pPr>
            <a:r>
              <a:rPr lang="en-US" altLang="zh-CN" sz="1800" dirty="0">
                <a:latin typeface="Calibri" panose="020F0502020204030204" charset="0"/>
              </a:rPr>
              <a:t> </a:t>
            </a:r>
            <a:r>
              <a:rPr lang="en-US" altLang="zh-CN" sz="1800" dirty="0">
                <a:solidFill>
                  <a:srgbClr val="FF0000"/>
                </a:solidFill>
                <a:latin typeface="Calibri" panose="020F0502020204030204" charset="0"/>
              </a:rPr>
              <a:t>move(a-&gt;c)  </a:t>
            </a:r>
            <a:r>
              <a:rPr lang="en-US" altLang="zh-CN" sz="1800" dirty="0">
                <a:latin typeface="Calibri" panose="020F0502020204030204" charset="0"/>
              </a:rPr>
              <a:t>				      3</a:t>
            </a:r>
            <a:r>
              <a:rPr lang="zh-CN" altLang="en-US" sz="1800" dirty="0">
                <a:latin typeface="Calibri" panose="020F0502020204030204" charset="0"/>
              </a:rPr>
              <a:t>号从</a:t>
            </a:r>
            <a:r>
              <a:rPr lang="en-US" altLang="zh-CN" sz="1800" dirty="0">
                <a:latin typeface="Calibri" panose="020F0502020204030204" charset="0"/>
              </a:rPr>
              <a:t>a</a:t>
            </a:r>
            <a:r>
              <a:rPr lang="zh-CN" altLang="en-US" sz="1800" dirty="0">
                <a:latin typeface="Calibri" panose="020F0502020204030204" charset="0"/>
              </a:rPr>
              <a:t>搬到</a:t>
            </a:r>
            <a:r>
              <a:rPr lang="en-US" altLang="zh-CN" sz="1800" dirty="0">
                <a:latin typeface="Calibri" panose="020F0502020204030204" charset="0"/>
              </a:rPr>
              <a:t>c</a:t>
            </a:r>
            <a:endParaRPr lang="en-US" altLang="zh-CN" sz="1800" dirty="0">
              <a:latin typeface="Calibri" panose="020F0502020204030204" charset="0"/>
            </a:endParaRPr>
          </a:p>
          <a:p>
            <a:pPr lvl="2">
              <a:lnSpc>
                <a:spcPct val="155000"/>
              </a:lnSpc>
            </a:pPr>
            <a:r>
              <a:rPr lang="en-US" altLang="zh-CN" sz="1800" dirty="0">
                <a:latin typeface="Calibri" panose="020F0502020204030204" charset="0"/>
              </a:rPr>
              <a:t> </a:t>
            </a:r>
            <a:r>
              <a:rPr lang="en-US" altLang="zh-CN" sz="1800" dirty="0" err="1">
                <a:solidFill>
                  <a:srgbClr val="FF0000"/>
                </a:solidFill>
                <a:latin typeface="Calibri" panose="020F0502020204030204" charset="0"/>
              </a:rPr>
              <a:t>hanoi</a:t>
            </a:r>
            <a:r>
              <a:rPr lang="en-US" altLang="zh-CN" sz="1800" dirty="0">
                <a:solidFill>
                  <a:srgbClr val="FF0000"/>
                </a:solidFill>
                <a:latin typeface="Calibri" panose="020F0502020204030204" charset="0"/>
              </a:rPr>
              <a:t>(2,b,a,c):</a:t>
            </a:r>
            <a:endParaRPr lang="en-US" altLang="zh-CN" sz="1800" dirty="0">
              <a:solidFill>
                <a:srgbClr val="FF0000"/>
              </a:solidFill>
              <a:latin typeface="Calibri" panose="020F0502020204030204" charset="0"/>
            </a:endParaRPr>
          </a:p>
          <a:p>
            <a:pPr lvl="2">
              <a:lnSpc>
                <a:spcPct val="155000"/>
              </a:lnSpc>
            </a:pPr>
            <a:r>
              <a:rPr lang="en-US" altLang="zh-CN" sz="1800" dirty="0">
                <a:latin typeface="Calibri" panose="020F0502020204030204" charset="0"/>
              </a:rPr>
              <a:t>          </a:t>
            </a:r>
            <a:r>
              <a:rPr lang="en-US" altLang="zh-CN" sz="1800" dirty="0" err="1">
                <a:latin typeface="Calibri" panose="020F0502020204030204" charset="0"/>
              </a:rPr>
              <a:t>hanoi</a:t>
            </a:r>
            <a:r>
              <a:rPr lang="en-US" altLang="zh-CN" sz="1800" dirty="0">
                <a:latin typeface="Calibri" panose="020F0502020204030204" charset="0"/>
              </a:rPr>
              <a:t>(1,b,c,a)     move(b-&gt;a) 	      1</a:t>
            </a:r>
            <a:r>
              <a:rPr lang="zh-CN" altLang="en-US" sz="1800" dirty="0">
                <a:latin typeface="Calibri" panose="020F0502020204030204" charset="0"/>
              </a:rPr>
              <a:t>号从</a:t>
            </a:r>
            <a:r>
              <a:rPr lang="en-US" altLang="zh-CN" sz="1800" dirty="0">
                <a:latin typeface="Calibri" panose="020F0502020204030204" charset="0"/>
              </a:rPr>
              <a:t>b</a:t>
            </a:r>
            <a:r>
              <a:rPr lang="zh-CN" altLang="en-US" sz="1800" dirty="0">
                <a:latin typeface="Calibri" panose="020F0502020204030204" charset="0"/>
              </a:rPr>
              <a:t>搬到</a:t>
            </a:r>
            <a:r>
              <a:rPr lang="en-US" altLang="zh-CN" sz="1800" dirty="0">
                <a:latin typeface="Calibri" panose="020F0502020204030204" charset="0"/>
              </a:rPr>
              <a:t>a</a:t>
            </a:r>
            <a:endParaRPr lang="en-US" altLang="zh-CN" sz="1800" dirty="0">
              <a:latin typeface="Calibri" panose="020F0502020204030204" charset="0"/>
            </a:endParaRPr>
          </a:p>
          <a:p>
            <a:pPr lvl="2">
              <a:lnSpc>
                <a:spcPct val="155000"/>
              </a:lnSpc>
            </a:pPr>
            <a:r>
              <a:rPr lang="en-US" altLang="zh-CN" sz="1800" dirty="0">
                <a:latin typeface="Calibri" panose="020F0502020204030204" charset="0"/>
              </a:rPr>
              <a:t>          move(b-&gt;c)                                      2</a:t>
            </a:r>
            <a:r>
              <a:rPr lang="zh-CN" altLang="en-US" sz="1800" dirty="0">
                <a:latin typeface="Calibri" panose="020F0502020204030204" charset="0"/>
              </a:rPr>
              <a:t>号从</a:t>
            </a:r>
            <a:r>
              <a:rPr lang="en-US" altLang="zh-CN" sz="1800" dirty="0">
                <a:latin typeface="Calibri" panose="020F0502020204030204" charset="0"/>
              </a:rPr>
              <a:t>b</a:t>
            </a:r>
            <a:r>
              <a:rPr lang="zh-CN" altLang="en-US" sz="1800" dirty="0">
                <a:latin typeface="Calibri" panose="020F0502020204030204" charset="0"/>
              </a:rPr>
              <a:t>搬到</a:t>
            </a:r>
            <a:r>
              <a:rPr lang="en-US" altLang="zh-CN" sz="1800" dirty="0">
                <a:latin typeface="Calibri" panose="020F0502020204030204" charset="0"/>
              </a:rPr>
              <a:t>c</a:t>
            </a:r>
            <a:endParaRPr lang="en-US" altLang="zh-CN" sz="1800" dirty="0">
              <a:latin typeface="Calibri" panose="020F0502020204030204" charset="0"/>
            </a:endParaRPr>
          </a:p>
          <a:p>
            <a:pPr lvl="2">
              <a:lnSpc>
                <a:spcPct val="155000"/>
              </a:lnSpc>
            </a:pPr>
            <a:r>
              <a:rPr lang="en-US" altLang="zh-CN" sz="1800" dirty="0">
                <a:latin typeface="Calibri" panose="020F0502020204030204" charset="0"/>
              </a:rPr>
              <a:t>          </a:t>
            </a:r>
            <a:r>
              <a:rPr lang="en-US" altLang="zh-CN" sz="1800" dirty="0" err="1">
                <a:latin typeface="Calibri" panose="020F0502020204030204" charset="0"/>
              </a:rPr>
              <a:t>hanoi</a:t>
            </a:r>
            <a:r>
              <a:rPr lang="en-US" altLang="zh-CN" sz="1800" dirty="0">
                <a:latin typeface="Calibri" panose="020F0502020204030204" charset="0"/>
              </a:rPr>
              <a:t>(1,a,b,c)     move(a-&gt;c)  	      1</a:t>
            </a:r>
            <a:r>
              <a:rPr lang="zh-CN" altLang="en-US" sz="1800" dirty="0">
                <a:latin typeface="Calibri" panose="020F0502020204030204" charset="0"/>
              </a:rPr>
              <a:t>号从</a:t>
            </a:r>
            <a:r>
              <a:rPr lang="en-US" altLang="zh-CN" sz="1800" dirty="0">
                <a:latin typeface="Calibri" panose="020F0502020204030204" charset="0"/>
              </a:rPr>
              <a:t>a</a:t>
            </a:r>
            <a:r>
              <a:rPr lang="zh-CN" altLang="en-US" sz="1800" dirty="0">
                <a:latin typeface="Calibri" panose="020F0502020204030204" charset="0"/>
              </a:rPr>
              <a:t>搬到</a:t>
            </a:r>
            <a:r>
              <a:rPr lang="en-US" altLang="zh-CN" sz="1800" dirty="0">
                <a:latin typeface="Calibri" panose="020F0502020204030204" charset="0"/>
              </a:rPr>
              <a:t>c </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vl="1">
              <a:lnSpc>
                <a:spcPts val="2100"/>
              </a:lnSpc>
              <a:spcBef>
                <a:spcPts val="0"/>
              </a:spcBef>
            </a:pPr>
            <a:r>
              <a:rPr lang="en-US" altLang="zh-CN" sz="2000" dirty="0">
                <a:latin typeface="Calibri" panose="020F0502020204030204" charset="0"/>
              </a:rPr>
              <a:t>move</a:t>
            </a:r>
            <a:r>
              <a:rPr lang="zh-CN" altLang="en-US" sz="2000" dirty="0">
                <a:latin typeface="Calibri" panose="020F0502020204030204" charset="0"/>
              </a:rPr>
              <a:t>函数</a:t>
            </a:r>
            <a:endParaRPr lang="en-US" altLang="zh-CN" sz="2000" dirty="0">
              <a:latin typeface="Calibri" panose="020F0502020204030204" charset="0"/>
            </a:endParaRPr>
          </a:p>
          <a:p>
            <a:pPr lvl="2">
              <a:lnSpc>
                <a:spcPts val="2100"/>
              </a:lnSpc>
            </a:pPr>
            <a:r>
              <a:rPr lang="en-US" altLang="zh-CN" sz="2000" dirty="0">
                <a:latin typeface="Calibri" panose="020F0502020204030204" charset="0"/>
              </a:rPr>
              <a:t>void move(char </a:t>
            </a:r>
            <a:r>
              <a:rPr lang="en-US" altLang="zh-CN" sz="2000" dirty="0" err="1">
                <a:latin typeface="Calibri" panose="020F0502020204030204" charset="0"/>
              </a:rPr>
              <a:t>x,int</a:t>
            </a:r>
            <a:r>
              <a:rPr lang="en-US" altLang="zh-CN" sz="2000" dirty="0">
                <a:latin typeface="Calibri" panose="020F0502020204030204" charset="0"/>
              </a:rPr>
              <a:t> </a:t>
            </a:r>
            <a:r>
              <a:rPr lang="en-US" altLang="zh-CN" sz="2000" dirty="0" err="1">
                <a:latin typeface="Calibri" panose="020F0502020204030204" charset="0"/>
              </a:rPr>
              <a:t>n,char</a:t>
            </a:r>
            <a:r>
              <a:rPr lang="en-US" altLang="zh-CN" sz="2000" dirty="0">
                <a:latin typeface="Calibri" panose="020F0502020204030204" charset="0"/>
              </a:rPr>
              <a:t> z){</a:t>
            </a:r>
            <a:endParaRPr lang="en-US" altLang="zh-CN" sz="2000" dirty="0">
              <a:latin typeface="Calibri" panose="020F0502020204030204" charset="0"/>
            </a:endParaRPr>
          </a:p>
          <a:p>
            <a:pPr lvl="2">
              <a:lnSpc>
                <a:spcPts val="2100"/>
              </a:lnSpc>
            </a:pPr>
            <a:r>
              <a:rPr lang="en-US" altLang="zh-CN" sz="2000" dirty="0">
                <a:latin typeface="Calibri" panose="020F0502020204030204" charset="0"/>
              </a:rPr>
              <a:t>             </a:t>
            </a:r>
            <a:r>
              <a:rPr lang="en-US" altLang="zh-CN" sz="2000" dirty="0" err="1">
                <a:latin typeface="Calibri" panose="020F0502020204030204" charset="0"/>
              </a:rPr>
              <a:t>printf</a:t>
            </a:r>
            <a:r>
              <a:rPr lang="en-US" altLang="zh-CN" sz="2000" dirty="0">
                <a:latin typeface="Calibri" panose="020F0502020204030204" charset="0"/>
              </a:rPr>
              <a:t>("%d</a:t>
            </a:r>
            <a:r>
              <a:rPr lang="zh-CN" altLang="en-US" sz="2000" dirty="0">
                <a:latin typeface="Calibri" panose="020F0502020204030204" charset="0"/>
              </a:rPr>
              <a:t>号盘</a:t>
            </a:r>
            <a:r>
              <a:rPr lang="en-US" altLang="zh-CN" sz="2000" dirty="0">
                <a:latin typeface="Calibri" panose="020F0502020204030204" charset="0"/>
              </a:rPr>
              <a:t>: %c</a:t>
            </a:r>
            <a:r>
              <a:rPr lang="zh-CN" altLang="en-US" sz="2000" dirty="0">
                <a:latin typeface="Calibri" panose="020F0502020204030204" charset="0"/>
              </a:rPr>
              <a:t>轴</a:t>
            </a:r>
            <a:r>
              <a:rPr lang="en-US" altLang="zh-CN" sz="2000" dirty="0">
                <a:latin typeface="Calibri" panose="020F0502020204030204" charset="0"/>
              </a:rPr>
              <a:t>--&gt;%c</a:t>
            </a:r>
            <a:r>
              <a:rPr lang="zh-CN" altLang="en-US" sz="2000" dirty="0">
                <a:latin typeface="Calibri" panose="020F0502020204030204" charset="0"/>
              </a:rPr>
              <a:t>轴</a:t>
            </a:r>
            <a:r>
              <a:rPr lang="en-US" altLang="zh-CN" sz="2000" dirty="0">
                <a:latin typeface="Calibri" panose="020F0502020204030204" charset="0"/>
              </a:rPr>
              <a:t>\n",</a:t>
            </a:r>
            <a:r>
              <a:rPr lang="en-US" altLang="zh-CN" sz="2000" dirty="0" err="1">
                <a:latin typeface="Calibri" panose="020F0502020204030204" charset="0"/>
              </a:rPr>
              <a:t>n,x,z</a:t>
            </a:r>
            <a:r>
              <a:rPr lang="en-US" altLang="zh-CN" sz="2000" dirty="0">
                <a:latin typeface="Calibri" panose="020F0502020204030204" charset="0"/>
              </a:rPr>
              <a:t>);</a:t>
            </a:r>
            <a:endParaRPr lang="en-US" altLang="zh-CN" sz="2000" dirty="0">
              <a:latin typeface="Calibri" panose="020F0502020204030204" charset="0"/>
            </a:endParaRPr>
          </a:p>
          <a:p>
            <a:pPr lvl="2">
              <a:lnSpc>
                <a:spcPts val="2100"/>
              </a:lnSpc>
            </a:pPr>
            <a:r>
              <a:rPr lang="en-US" altLang="zh-CN" sz="2000" dirty="0">
                <a:latin typeface="Calibri" panose="020F0502020204030204" charset="0"/>
              </a:rPr>
              <a:t>}</a:t>
            </a:r>
            <a:endParaRPr lang="en-US" altLang="zh-CN" sz="2000" dirty="0">
              <a:latin typeface="Calibri" panose="020F0502020204030204" charset="0"/>
            </a:endParaRPr>
          </a:p>
          <a:p>
            <a:pPr lvl="1">
              <a:lnSpc>
                <a:spcPts val="2100"/>
              </a:lnSpc>
              <a:spcBef>
                <a:spcPts val="0"/>
              </a:spcBef>
            </a:pPr>
            <a:r>
              <a:rPr lang="en-US" altLang="zh-CN" sz="2000" dirty="0">
                <a:latin typeface="Calibri" panose="020F0502020204030204" charset="0"/>
              </a:rPr>
              <a:t>main</a:t>
            </a:r>
            <a:r>
              <a:rPr lang="zh-CN" altLang="en-US" sz="2000" dirty="0">
                <a:latin typeface="Calibri" panose="020F0502020204030204" charset="0"/>
              </a:rPr>
              <a:t>函数</a:t>
            </a:r>
            <a:endParaRPr lang="en-US" altLang="zh-CN" sz="2000" dirty="0">
              <a:latin typeface="Calibri" panose="020F0502020204030204" charset="0"/>
            </a:endParaRPr>
          </a:p>
          <a:p>
            <a:pPr lvl="2">
              <a:lnSpc>
                <a:spcPts val="2100"/>
              </a:lnSpc>
            </a:pPr>
            <a:r>
              <a:rPr lang="en-US" altLang="zh-CN" sz="2000" dirty="0">
                <a:latin typeface="Calibri" panose="020F0502020204030204" charset="0"/>
              </a:rPr>
              <a:t>void main (void) { </a:t>
            </a:r>
            <a:endParaRPr lang="en-US" altLang="zh-CN" sz="2000" dirty="0">
              <a:latin typeface="Calibri" panose="020F0502020204030204" charset="0"/>
            </a:endParaRPr>
          </a:p>
          <a:p>
            <a:pPr lvl="2">
              <a:lnSpc>
                <a:spcPts val="2100"/>
              </a:lnSpc>
            </a:pPr>
            <a:r>
              <a:rPr lang="en-US" altLang="zh-CN" sz="2000" dirty="0">
                <a:latin typeface="Calibri" panose="020F0502020204030204" charset="0"/>
              </a:rPr>
              <a:t>    </a:t>
            </a:r>
            <a:r>
              <a:rPr lang="en-US" altLang="zh-CN" sz="2000" dirty="0" err="1">
                <a:latin typeface="Calibri" panose="020F0502020204030204" charset="0"/>
              </a:rPr>
              <a:t>int</a:t>
            </a:r>
            <a:r>
              <a:rPr lang="en-US" altLang="zh-CN" sz="2000" dirty="0">
                <a:latin typeface="Calibri" panose="020F0502020204030204" charset="0"/>
              </a:rPr>
              <a:t> n;</a:t>
            </a:r>
            <a:endParaRPr lang="en-US" altLang="zh-CN" sz="2000" dirty="0">
              <a:latin typeface="Calibri" panose="020F0502020204030204" charset="0"/>
            </a:endParaRPr>
          </a:p>
          <a:p>
            <a:pPr lvl="2">
              <a:lnSpc>
                <a:spcPts val="2100"/>
              </a:lnSpc>
            </a:pPr>
            <a:r>
              <a:rPr lang="en-US" altLang="zh-CN" sz="2000" dirty="0">
                <a:latin typeface="Calibri" panose="020F0502020204030204" charset="0"/>
              </a:rPr>
              <a:t>    </a:t>
            </a:r>
            <a:r>
              <a:rPr lang="en-US" altLang="zh-CN" sz="2000" dirty="0" err="1">
                <a:latin typeface="Calibri" panose="020F0502020204030204" charset="0"/>
              </a:rPr>
              <a:t>printf</a:t>
            </a:r>
            <a:r>
              <a:rPr lang="en-US" altLang="zh-CN" sz="2000" dirty="0">
                <a:latin typeface="Calibri" panose="020F0502020204030204" charset="0"/>
              </a:rPr>
              <a:t>("</a:t>
            </a:r>
            <a:r>
              <a:rPr lang="zh-CN" altLang="en-US" sz="2000" dirty="0">
                <a:latin typeface="Calibri" panose="020F0502020204030204" charset="0"/>
              </a:rPr>
              <a:t>请输入盘子总数</a:t>
            </a:r>
            <a:r>
              <a:rPr lang="en-US" altLang="zh-CN" sz="2000" dirty="0">
                <a:latin typeface="Calibri" panose="020F0502020204030204" charset="0"/>
              </a:rPr>
              <a:t>:");</a:t>
            </a:r>
            <a:endParaRPr lang="en-US" altLang="zh-CN" sz="2000" dirty="0">
              <a:latin typeface="Calibri" panose="020F0502020204030204" charset="0"/>
            </a:endParaRPr>
          </a:p>
          <a:p>
            <a:pPr lvl="2">
              <a:lnSpc>
                <a:spcPts val="2100"/>
              </a:lnSpc>
            </a:pPr>
            <a:r>
              <a:rPr lang="en-US" altLang="zh-CN" sz="2000" dirty="0">
                <a:latin typeface="Calibri" panose="020F0502020204030204" charset="0"/>
              </a:rPr>
              <a:t>    </a:t>
            </a:r>
            <a:r>
              <a:rPr lang="en-US" altLang="zh-CN" sz="2000" dirty="0" err="1">
                <a:latin typeface="Calibri" panose="020F0502020204030204" charset="0"/>
              </a:rPr>
              <a:t>scanf</a:t>
            </a:r>
            <a:r>
              <a:rPr lang="en-US" altLang="zh-CN" sz="2000" dirty="0">
                <a:latin typeface="Calibri" panose="020F0502020204030204" charset="0"/>
              </a:rPr>
              <a:t>("%</a:t>
            </a:r>
            <a:r>
              <a:rPr lang="en-US" altLang="zh-CN" sz="2000" dirty="0" err="1">
                <a:latin typeface="Calibri" panose="020F0502020204030204" charset="0"/>
              </a:rPr>
              <a:t>d",&amp;n</a:t>
            </a:r>
            <a:r>
              <a:rPr lang="en-US" altLang="zh-CN" sz="2000" dirty="0">
                <a:latin typeface="Calibri" panose="020F0502020204030204" charset="0"/>
              </a:rPr>
              <a:t>);</a:t>
            </a:r>
            <a:endParaRPr lang="en-US" altLang="zh-CN" sz="2000" dirty="0">
              <a:latin typeface="Calibri" panose="020F0502020204030204" charset="0"/>
            </a:endParaRPr>
          </a:p>
          <a:p>
            <a:pPr lvl="2">
              <a:lnSpc>
                <a:spcPts val="2100"/>
              </a:lnSpc>
            </a:pPr>
            <a:r>
              <a:rPr lang="en-US" altLang="zh-CN" sz="2000" dirty="0">
                <a:latin typeface="Calibri" panose="020F0502020204030204" charset="0"/>
              </a:rPr>
              <a:t>    </a:t>
            </a:r>
            <a:r>
              <a:rPr lang="en-US" altLang="zh-CN" sz="2000" dirty="0" err="1">
                <a:latin typeface="Calibri" panose="020F0502020204030204" charset="0"/>
              </a:rPr>
              <a:t>hanoi</a:t>
            </a:r>
            <a:r>
              <a:rPr lang="en-US" altLang="zh-CN" sz="2000" dirty="0">
                <a:latin typeface="Calibri" panose="020F0502020204030204" charset="0"/>
              </a:rPr>
              <a:t>(n, 'a', 'b', 'c');    </a:t>
            </a:r>
            <a:endParaRPr lang="en-US" altLang="zh-CN" sz="2000" dirty="0">
              <a:latin typeface="Calibri" panose="020F0502020204030204" charset="0"/>
            </a:endParaRPr>
          </a:p>
          <a:p>
            <a:pPr lvl="2">
              <a:lnSpc>
                <a:spcPts val="2100"/>
              </a:lnSpc>
            </a:pPr>
            <a:r>
              <a:rPr lang="en-US" altLang="zh-CN" sz="2000" dirty="0">
                <a:latin typeface="Calibri" panose="020F0502020204030204" charset="0"/>
              </a:rPr>
              <a:t>}</a:t>
            </a:r>
            <a:endParaRPr lang="zh-CN" altLang="en-US" sz="2000"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pic>
        <p:nvPicPr>
          <p:cNvPr id="4" name="Picture 2" descr="C:\Documents and Settings\user\桌面\2016.10.26\实验结果2.bmp"/>
          <p:cNvPicPr>
            <a:picLocks noChangeAspect="1" noChangeArrowheads="1"/>
          </p:cNvPicPr>
          <p:nvPr/>
        </p:nvPicPr>
        <p:blipFill rotWithShape="1">
          <a:blip r:embed="rId1">
            <a:extLst>
              <a:ext uri="{28A0092B-C50C-407E-A947-70E740481C1C}">
                <a14:useLocalDpi xmlns:a14="http://schemas.microsoft.com/office/drawing/2010/main" val="0"/>
              </a:ext>
            </a:extLst>
          </a:blip>
          <a:srcRect r="41833" b="13373"/>
          <a:stretch>
            <a:fillRect/>
          </a:stretch>
        </p:blipFill>
        <p:spPr bwMode="auto">
          <a:xfrm>
            <a:off x="3073191" y="2883542"/>
            <a:ext cx="3393512" cy="172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graphicFrame>
        <p:nvGraphicFramePr>
          <p:cNvPr id="4" name="Object 5"/>
          <p:cNvGraphicFramePr>
            <a:graphicFrameLocks noChangeAspect="1"/>
          </p:cNvGraphicFramePr>
          <p:nvPr/>
        </p:nvGraphicFramePr>
        <p:xfrm>
          <a:off x="250227" y="1036972"/>
          <a:ext cx="6362299" cy="2306333"/>
        </p:xfrm>
        <a:graphic>
          <a:graphicData uri="http://schemas.openxmlformats.org/presentationml/2006/ole">
            <mc:AlternateContent xmlns:mc="http://schemas.openxmlformats.org/markup-compatibility/2006">
              <mc:Choice xmlns:v="urn:schemas-microsoft-com:vml" Requires="v">
                <p:oleObj spid="_x0000_s17422" name="VISIO" r:id="rId1" imgW="5288280" imgH="1744980" progId="Visio.Drawing.11">
                  <p:embed/>
                </p:oleObj>
              </mc:Choice>
              <mc:Fallback>
                <p:oleObj name="VISIO" r:id="rId1" imgW="5288280" imgH="1744980"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227" y="1036972"/>
                        <a:ext cx="6362299" cy="2306333"/>
                      </a:xfrm>
                      <a:prstGeom prst="rect">
                        <a:avLst/>
                      </a:prstGeom>
                      <a:noFill/>
                      <a:ln>
                        <a:noFill/>
                      </a:ln>
                      <a:effectLst/>
                    </p:spPr>
                  </p:pic>
                </p:oleObj>
              </mc:Fallback>
            </mc:AlternateContent>
          </a:graphicData>
        </a:graphic>
      </p:graphicFrame>
      <p:sp>
        <p:nvSpPr>
          <p:cNvPr id="5" name="Text Box 4"/>
          <p:cNvSpPr txBox="1">
            <a:spLocks noChangeArrowheads="1"/>
          </p:cNvSpPr>
          <p:nvPr/>
        </p:nvSpPr>
        <p:spPr bwMode="auto">
          <a:xfrm>
            <a:off x="1831176" y="3475218"/>
            <a:ext cx="32004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r>
              <a:rPr lang="en-US" altLang="zh-CN" sz="1500" b="1" dirty="0">
                <a:latin typeface="Calibri" panose="020F0502020204030204" charset="0"/>
                <a:ea typeface="华文楷体" panose="02010600040101010101" pitchFamily="2" charset="-122"/>
              </a:rPr>
              <a:t>   Hanoi</a:t>
            </a:r>
            <a:r>
              <a:rPr lang="zh-CN" altLang="en-US" sz="1500" b="1" dirty="0">
                <a:latin typeface="Calibri" panose="020F0502020204030204" charset="0"/>
                <a:ea typeface="华文楷体" panose="02010600040101010101" pitchFamily="2" charset="-122"/>
              </a:rPr>
              <a:t>塔的递归函数运行示意图 </a:t>
            </a:r>
            <a:endParaRPr lang="zh-CN" altLang="en-US" sz="1500" b="1" dirty="0">
              <a:latin typeface="Calibri" panose="020F0502020204030204" charset="0"/>
              <a:ea typeface="华文楷体" panose="0201060004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grpSp>
        <p:nvGrpSpPr>
          <p:cNvPr id="4" name="Group 5"/>
          <p:cNvGrpSpPr/>
          <p:nvPr/>
        </p:nvGrpSpPr>
        <p:grpSpPr bwMode="auto">
          <a:xfrm>
            <a:off x="559594" y="958454"/>
            <a:ext cx="5100638" cy="899829"/>
            <a:chOff x="-684" y="960"/>
            <a:chExt cx="4284" cy="1007"/>
          </a:xfrm>
        </p:grpSpPr>
        <p:sp>
          <p:nvSpPr>
            <p:cNvPr id="5" name="Text Box 6"/>
            <p:cNvSpPr txBox="1">
              <a:spLocks noChangeArrowheads="1"/>
            </p:cNvSpPr>
            <p:nvPr/>
          </p:nvSpPr>
          <p:spPr bwMode="auto">
            <a:xfrm>
              <a:off x="1536" y="960"/>
              <a:ext cx="2064" cy="1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100" b="1">
                  <a:latin typeface="Calibri" panose="020F0502020204030204" charset="0"/>
                </a:rPr>
                <a:t>1,           n = 1</a:t>
              </a:r>
              <a:endParaRPr lang="en-US" altLang="zh-CN" sz="2100" b="1">
                <a:latin typeface="Calibri" panose="020F0502020204030204" charset="0"/>
              </a:endParaRPr>
            </a:p>
            <a:p>
              <a:pPr eaLnBrk="1" hangingPunct="1">
                <a:spcBef>
                  <a:spcPct val="50000"/>
                </a:spcBef>
              </a:pPr>
              <a:r>
                <a:rPr lang="en-US" altLang="zh-CN" sz="2100" b="1">
                  <a:latin typeface="Calibri" panose="020F0502020204030204" charset="0"/>
                </a:rPr>
                <a:t>2T(n-1) + 1,  n&gt;1</a:t>
              </a:r>
              <a:endParaRPr lang="en-US" altLang="zh-CN" sz="2100" b="1">
                <a:latin typeface="Calibri" panose="020F0502020204030204" charset="0"/>
              </a:endParaRPr>
            </a:p>
          </p:txBody>
        </p:sp>
        <p:sp>
          <p:nvSpPr>
            <p:cNvPr id="6" name="Text Box 7"/>
            <p:cNvSpPr txBox="1">
              <a:spLocks noChangeArrowheads="1"/>
            </p:cNvSpPr>
            <p:nvPr/>
          </p:nvSpPr>
          <p:spPr bwMode="auto">
            <a:xfrm>
              <a:off x="-684" y="1131"/>
              <a:ext cx="193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100" b="1" dirty="0">
                  <a:latin typeface="Calibri" panose="020F0502020204030204" charset="0"/>
                </a:rPr>
                <a:t>时间复杂度  </a:t>
              </a:r>
              <a:r>
                <a:rPr lang="en-US" altLang="zh-CN" sz="2100" b="1" dirty="0">
                  <a:latin typeface="Calibri" panose="020F0502020204030204" charset="0"/>
                </a:rPr>
                <a:t>T(n) =</a:t>
              </a:r>
              <a:endParaRPr lang="en-US" altLang="zh-CN" sz="2100" b="1" dirty="0">
                <a:latin typeface="Calibri" panose="020F0502020204030204" charset="0"/>
              </a:endParaRPr>
            </a:p>
          </p:txBody>
        </p:sp>
        <p:sp>
          <p:nvSpPr>
            <p:cNvPr id="7" name="AutoShape 8"/>
            <p:cNvSpPr/>
            <p:nvPr/>
          </p:nvSpPr>
          <p:spPr bwMode="auto">
            <a:xfrm>
              <a:off x="1296" y="1104"/>
              <a:ext cx="144" cy="528"/>
            </a:xfrm>
            <a:prstGeom prst="leftBrace">
              <a:avLst>
                <a:gd name="adj1" fmla="val 30556"/>
                <a:gd name="adj2" fmla="val 50000"/>
              </a:avLst>
            </a:prstGeom>
            <a:noFill/>
            <a:ln w="38100">
              <a:solidFill>
                <a:schemeClr val="tx1"/>
              </a:solidFill>
              <a:round/>
            </a:ln>
          </p:spPr>
          <p:txBody>
            <a:bodyPr wrap="none" anchor="ctr"/>
            <a:lstStyle/>
            <a:p>
              <a:pPr>
                <a:defRPr/>
              </a:pPr>
              <a:endParaRPr lang="zh-CN" altLang="en-US" sz="1015"/>
            </a:p>
          </p:txBody>
        </p:sp>
      </p:grpSp>
      <p:sp>
        <p:nvSpPr>
          <p:cNvPr id="8" name="Text Box 9"/>
          <p:cNvSpPr txBox="1">
            <a:spLocks noChangeArrowheads="1"/>
          </p:cNvSpPr>
          <p:nvPr/>
        </p:nvSpPr>
        <p:spPr bwMode="auto">
          <a:xfrm>
            <a:off x="666750" y="1884760"/>
            <a:ext cx="5108408" cy="186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Arial" panose="020B0604020202020204" pitchFamily="34" charset="0"/>
                <a:ea typeface="宋体" panose="02010600030101010101" pitchFamily="2" charset="-122"/>
              </a:defRPr>
            </a:lvl1pPr>
            <a:lvl2pPr marL="742950" indent="-285750">
              <a:defRPr sz="1300">
                <a:solidFill>
                  <a:schemeClr val="tx1"/>
                </a:solidFill>
                <a:latin typeface="Arial" panose="020B0604020202020204" pitchFamily="34" charset="0"/>
                <a:ea typeface="宋体" panose="02010600030101010101" pitchFamily="2" charset="-122"/>
              </a:defRPr>
            </a:lvl2pPr>
            <a:lvl3pPr marL="1143000" indent="-228600">
              <a:defRPr sz="1300">
                <a:solidFill>
                  <a:schemeClr val="tx1"/>
                </a:solidFill>
                <a:latin typeface="Arial" panose="020B0604020202020204" pitchFamily="34" charset="0"/>
                <a:ea typeface="宋体" panose="02010600030101010101" pitchFamily="2" charset="-122"/>
              </a:defRPr>
            </a:lvl3pPr>
            <a:lvl4pPr marL="1600200" indent="-228600">
              <a:defRPr sz="1300">
                <a:solidFill>
                  <a:schemeClr val="tx1"/>
                </a:solidFill>
                <a:latin typeface="Arial" panose="020B0604020202020204" pitchFamily="34" charset="0"/>
                <a:ea typeface="宋体" panose="02010600030101010101" pitchFamily="2" charset="-122"/>
              </a:defRPr>
            </a:lvl4pPr>
            <a:lvl5pPr marL="2057400" indent="-228600">
              <a:defRPr sz="1300">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宋体" panose="02010600030101010101" pitchFamily="2" charset="-122"/>
              </a:defRPr>
            </a:lvl9pPr>
          </a:lstStyle>
          <a:p>
            <a:pPr>
              <a:lnSpc>
                <a:spcPts val="2250"/>
              </a:lnSpc>
            </a:pPr>
            <a:r>
              <a:rPr lang="en-US" altLang="zh-CN" sz="2100" b="1" dirty="0">
                <a:latin typeface="Calibri" panose="020F0502020204030204" charset="0"/>
              </a:rPr>
              <a:t> T(n) = 2T(n-1) + 1 = 2[ 2T(n-2)+1] + 1 </a:t>
            </a:r>
            <a:endParaRPr lang="en-US" altLang="zh-CN" sz="2100" b="1" dirty="0">
              <a:latin typeface="Calibri" panose="020F0502020204030204" charset="0"/>
            </a:endParaRPr>
          </a:p>
          <a:p>
            <a:pPr>
              <a:lnSpc>
                <a:spcPts val="2250"/>
              </a:lnSpc>
            </a:pPr>
            <a:r>
              <a:rPr lang="en-US" altLang="zh-CN" sz="2100" b="1" dirty="0">
                <a:latin typeface="Calibri" panose="020F0502020204030204" charset="0"/>
              </a:rPr>
              <a:t>         = 2</a:t>
            </a:r>
            <a:r>
              <a:rPr lang="en-US" altLang="zh-CN" sz="2100" b="1" baseline="30000" dirty="0">
                <a:latin typeface="Calibri" panose="020F0502020204030204" charset="0"/>
              </a:rPr>
              <a:t>2</a:t>
            </a:r>
            <a:r>
              <a:rPr lang="en-US" altLang="zh-CN" sz="2100" b="1" dirty="0">
                <a:latin typeface="Calibri" panose="020F0502020204030204" charset="0"/>
              </a:rPr>
              <a:t>T(n-2) + 2 + 1 = 2</a:t>
            </a:r>
            <a:r>
              <a:rPr lang="en-US" altLang="zh-CN" sz="2100" b="1" baseline="30000" dirty="0">
                <a:latin typeface="Calibri" panose="020F0502020204030204" charset="0"/>
              </a:rPr>
              <a:t>3</a:t>
            </a:r>
            <a:r>
              <a:rPr lang="en-US" altLang="zh-CN" sz="2100" b="1" dirty="0">
                <a:latin typeface="Calibri" panose="020F0502020204030204" charset="0"/>
              </a:rPr>
              <a:t>T(n-3) + 2</a:t>
            </a:r>
            <a:r>
              <a:rPr lang="en-US" altLang="zh-CN" sz="2100" b="1" baseline="30000" dirty="0">
                <a:latin typeface="Calibri" panose="020F0502020204030204" charset="0"/>
              </a:rPr>
              <a:t>2</a:t>
            </a:r>
            <a:r>
              <a:rPr lang="en-US" altLang="zh-CN" sz="2100" b="1" dirty="0">
                <a:latin typeface="Calibri" panose="020F0502020204030204" charset="0"/>
              </a:rPr>
              <a:t> + 2 + 1</a:t>
            </a:r>
            <a:endParaRPr lang="en-US" altLang="zh-CN" sz="2100" b="1" dirty="0">
              <a:latin typeface="Calibri" panose="020F0502020204030204" charset="0"/>
            </a:endParaRPr>
          </a:p>
          <a:p>
            <a:pPr>
              <a:lnSpc>
                <a:spcPts val="2250"/>
              </a:lnSpc>
            </a:pPr>
            <a:r>
              <a:rPr lang="en-US" altLang="zh-CN" sz="2100" b="1" dirty="0">
                <a:latin typeface="Calibri" panose="020F0502020204030204" charset="0"/>
              </a:rPr>
              <a:t>         = ……</a:t>
            </a:r>
            <a:endParaRPr lang="en-US" altLang="zh-CN" sz="2100" b="1" dirty="0">
              <a:latin typeface="Calibri" panose="020F0502020204030204" charset="0"/>
            </a:endParaRPr>
          </a:p>
          <a:p>
            <a:pPr>
              <a:lnSpc>
                <a:spcPts val="2250"/>
              </a:lnSpc>
            </a:pPr>
            <a:r>
              <a:rPr lang="en-US" altLang="zh-CN" sz="2100" b="1" dirty="0">
                <a:latin typeface="Calibri" panose="020F0502020204030204" charset="0"/>
              </a:rPr>
              <a:t>         = 2</a:t>
            </a:r>
            <a:r>
              <a:rPr lang="en-US" altLang="zh-CN" sz="2100" b="1" baseline="30000" dirty="0">
                <a:latin typeface="Calibri" panose="020F0502020204030204" charset="0"/>
              </a:rPr>
              <a:t>n-1</a:t>
            </a:r>
            <a:r>
              <a:rPr lang="en-US" altLang="zh-CN" sz="2100" b="1" dirty="0">
                <a:latin typeface="Calibri" panose="020F0502020204030204" charset="0"/>
              </a:rPr>
              <a:t>T(1) + 2</a:t>
            </a:r>
            <a:r>
              <a:rPr lang="en-US" altLang="zh-CN" sz="2100" b="1" baseline="30000" dirty="0">
                <a:latin typeface="Calibri" panose="020F0502020204030204" charset="0"/>
              </a:rPr>
              <a:t>n-2</a:t>
            </a:r>
            <a:r>
              <a:rPr lang="en-US" altLang="zh-CN" sz="2100" b="1" dirty="0">
                <a:latin typeface="Calibri" panose="020F0502020204030204" charset="0"/>
              </a:rPr>
              <a:t> + …… + 2</a:t>
            </a:r>
            <a:r>
              <a:rPr lang="en-US" altLang="zh-CN" sz="2100" b="1" baseline="30000" dirty="0">
                <a:latin typeface="Calibri" panose="020F0502020204030204" charset="0"/>
              </a:rPr>
              <a:t>3</a:t>
            </a:r>
            <a:r>
              <a:rPr lang="en-US" altLang="zh-CN" sz="2100" b="1" dirty="0">
                <a:latin typeface="Calibri" panose="020F0502020204030204" charset="0"/>
              </a:rPr>
              <a:t> + 2</a:t>
            </a:r>
            <a:r>
              <a:rPr lang="en-US" altLang="zh-CN" sz="2100" b="1" baseline="30000" dirty="0">
                <a:latin typeface="Calibri" panose="020F0502020204030204" charset="0"/>
              </a:rPr>
              <a:t>2</a:t>
            </a:r>
            <a:r>
              <a:rPr lang="en-US" altLang="zh-CN" sz="2100" b="1" dirty="0">
                <a:latin typeface="Calibri" panose="020F0502020204030204" charset="0"/>
              </a:rPr>
              <a:t> + 2 + 1</a:t>
            </a:r>
            <a:endParaRPr lang="en-US" altLang="zh-CN" sz="2100" b="1" dirty="0">
              <a:latin typeface="Calibri" panose="020F0502020204030204" charset="0"/>
            </a:endParaRPr>
          </a:p>
          <a:p>
            <a:pPr>
              <a:lnSpc>
                <a:spcPts val="2250"/>
              </a:lnSpc>
            </a:pPr>
            <a:r>
              <a:rPr lang="en-US" altLang="zh-CN" sz="2100" b="1" dirty="0">
                <a:latin typeface="Calibri" panose="020F0502020204030204" charset="0"/>
              </a:rPr>
              <a:t>         = 2</a:t>
            </a:r>
            <a:r>
              <a:rPr lang="en-US" altLang="zh-CN" sz="2100" b="1" baseline="30000" dirty="0">
                <a:latin typeface="Calibri" panose="020F0502020204030204" charset="0"/>
              </a:rPr>
              <a:t>n-1</a:t>
            </a:r>
            <a:r>
              <a:rPr lang="en-US" altLang="zh-CN" sz="2100" b="1" dirty="0">
                <a:latin typeface="Calibri" panose="020F0502020204030204" charset="0"/>
              </a:rPr>
              <a:t> + 2</a:t>
            </a:r>
            <a:r>
              <a:rPr lang="en-US" altLang="zh-CN" sz="2100" b="1" baseline="30000" dirty="0">
                <a:latin typeface="Calibri" panose="020F0502020204030204" charset="0"/>
              </a:rPr>
              <a:t>n-2</a:t>
            </a:r>
            <a:r>
              <a:rPr lang="en-US" altLang="zh-CN" sz="2100" b="1" dirty="0">
                <a:latin typeface="Calibri" panose="020F0502020204030204" charset="0"/>
              </a:rPr>
              <a:t> + …… + 2</a:t>
            </a:r>
            <a:r>
              <a:rPr lang="en-US" altLang="zh-CN" sz="2100" b="1" baseline="30000" dirty="0">
                <a:latin typeface="Calibri" panose="020F0502020204030204" charset="0"/>
              </a:rPr>
              <a:t>3</a:t>
            </a:r>
            <a:r>
              <a:rPr lang="en-US" altLang="zh-CN" sz="2100" b="1" dirty="0">
                <a:latin typeface="Calibri" panose="020F0502020204030204" charset="0"/>
              </a:rPr>
              <a:t> + 2</a:t>
            </a:r>
            <a:r>
              <a:rPr lang="en-US" altLang="zh-CN" sz="2100" b="1" baseline="30000" dirty="0">
                <a:latin typeface="Calibri" panose="020F0502020204030204" charset="0"/>
              </a:rPr>
              <a:t>2</a:t>
            </a:r>
            <a:r>
              <a:rPr lang="en-US" altLang="zh-CN" sz="2100" b="1" dirty="0">
                <a:latin typeface="Calibri" panose="020F0502020204030204" charset="0"/>
              </a:rPr>
              <a:t> + 2 + 1</a:t>
            </a:r>
            <a:endParaRPr lang="en-US" altLang="zh-CN" sz="2100" b="1" dirty="0">
              <a:latin typeface="Calibri" panose="020F0502020204030204" charset="0"/>
            </a:endParaRPr>
          </a:p>
          <a:p>
            <a:pPr>
              <a:lnSpc>
                <a:spcPts val="2250"/>
              </a:lnSpc>
            </a:pPr>
            <a:r>
              <a:rPr lang="en-US" altLang="zh-CN" sz="2100" b="1" dirty="0">
                <a:latin typeface="Calibri" panose="020F0502020204030204" charset="0"/>
              </a:rPr>
              <a:t>         = </a:t>
            </a:r>
            <a:r>
              <a:rPr lang="en-US" altLang="zh-CN" sz="2100" b="1" dirty="0">
                <a:solidFill>
                  <a:srgbClr val="FF0000"/>
                </a:solidFill>
                <a:latin typeface="Calibri" panose="020F0502020204030204" charset="0"/>
              </a:rPr>
              <a:t>2</a:t>
            </a:r>
            <a:r>
              <a:rPr lang="en-US" altLang="zh-CN" sz="2100" b="1" baseline="30000" dirty="0">
                <a:solidFill>
                  <a:srgbClr val="FF0000"/>
                </a:solidFill>
                <a:latin typeface="Calibri" panose="020F0502020204030204" charset="0"/>
              </a:rPr>
              <a:t>n</a:t>
            </a:r>
            <a:r>
              <a:rPr lang="en-US" altLang="zh-CN" sz="2100" b="1" dirty="0">
                <a:solidFill>
                  <a:srgbClr val="FF0000"/>
                </a:solidFill>
                <a:latin typeface="Calibri" panose="020F0502020204030204" charset="0"/>
              </a:rPr>
              <a:t> -1</a:t>
            </a:r>
            <a:endParaRPr lang="en-US" altLang="zh-CN" sz="2100" b="1" dirty="0">
              <a:solidFill>
                <a:srgbClr val="FF0000"/>
              </a:solidFill>
              <a:latin typeface="Calibri" panose="020F050202020403020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总结：</a:t>
            </a:r>
            <a:endParaRPr lang="en-US" altLang="zh-CN" dirty="0"/>
          </a:p>
          <a:p>
            <a:pPr lvl="2"/>
            <a:r>
              <a:rPr lang="zh-CN" altLang="en-US" dirty="0"/>
              <a:t>由分治法产生的子问题往往是原问题的较小模式，这就为使用递归技术提供了方便。在这种情况下，反复应用分治手段，可以使子问题与原问题类型一致而其规模却不断缩小，最终使子问题缩小到很容易直接求出其解。</a:t>
            </a:r>
            <a:endParaRPr lang="zh-CN" altLang="en-US" dirty="0"/>
          </a:p>
          <a:p>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vl="1"/>
            <a:r>
              <a:rPr lang="zh-CN" altLang="en-US" dirty="0"/>
              <a:t>递归的优点</a:t>
            </a:r>
            <a:endParaRPr lang="zh-CN" altLang="en-US" dirty="0"/>
          </a:p>
          <a:p>
            <a:pPr lvl="2"/>
            <a:r>
              <a:rPr lang="zh-CN" altLang="en-US" dirty="0"/>
              <a:t>        通过上面的例子可看出，递归既是强有力的数学方法，也是程序设计中一个很有用的工具。其特点是对递归问题描述简捷，结构清晰，程序的正确性容易证明。 </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vl="1"/>
            <a:r>
              <a:rPr lang="zh-CN" altLang="en-US" dirty="0"/>
              <a:t>递归算法求解问题的要素</a:t>
            </a:r>
            <a:endParaRPr lang="zh-CN" altLang="en-US" dirty="0"/>
          </a:p>
          <a:p>
            <a:pPr lvl="2"/>
            <a:r>
              <a:rPr lang="zh-CN" altLang="en-US" dirty="0"/>
              <a:t>        递归算法就是算法中有直接或间接调用算法本身的算法。 递归算法的要点如下： </a:t>
            </a:r>
            <a:endParaRPr lang="zh-CN" altLang="en-US" dirty="0"/>
          </a:p>
          <a:p>
            <a:pPr lvl="2"/>
            <a:r>
              <a:rPr lang="zh-CN" altLang="en-US" dirty="0"/>
              <a:t>        </a:t>
            </a:r>
            <a:r>
              <a:rPr lang="en-US" altLang="zh-CN" dirty="0"/>
              <a:t>(1) </a:t>
            </a:r>
            <a:r>
              <a:rPr lang="zh-CN" altLang="en-US" dirty="0"/>
              <a:t>问题具有类同自身的子问题的性质，被定义项在定义中的应用具有更小的尺度。 </a:t>
            </a:r>
            <a:endParaRPr lang="zh-CN" altLang="en-US" dirty="0"/>
          </a:p>
          <a:p>
            <a:pPr lvl="2"/>
            <a:r>
              <a:rPr lang="zh-CN" altLang="en-US" dirty="0"/>
              <a:t>       </a:t>
            </a:r>
            <a:r>
              <a:rPr lang="en-US" altLang="zh-CN" dirty="0"/>
              <a:t>(2) </a:t>
            </a:r>
            <a:r>
              <a:rPr lang="zh-CN" altLang="en-US" dirty="0"/>
              <a:t>被定义项在最小尺度上有直接解。 </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设计递归算法的方法是：</a:t>
            </a:r>
            <a:endParaRPr lang="zh-CN" altLang="en-US" dirty="0"/>
          </a:p>
          <a:p>
            <a:pPr lvl="2"/>
            <a:r>
              <a:rPr lang="zh-CN" altLang="en-US" dirty="0"/>
              <a:t> </a:t>
            </a:r>
            <a:r>
              <a:rPr lang="en-US" altLang="zh-CN" dirty="0"/>
              <a:t>(1) </a:t>
            </a:r>
            <a:r>
              <a:rPr lang="zh-CN" altLang="en-US" dirty="0"/>
              <a:t>寻找方法，</a:t>
            </a:r>
            <a:r>
              <a:rPr lang="zh-CN" altLang="en-US" dirty="0">
                <a:solidFill>
                  <a:srgbClr val="FF0000"/>
                </a:solidFill>
              </a:rPr>
              <a:t>将问题化为原问题的子问题求解</a:t>
            </a:r>
            <a:r>
              <a:rPr lang="zh-CN" altLang="en-US" dirty="0"/>
              <a:t>（例</a:t>
            </a:r>
            <a:r>
              <a:rPr lang="en-US" altLang="zh-CN" dirty="0"/>
              <a:t>n!=n*(n-1)!</a:t>
            </a:r>
            <a:r>
              <a:rPr lang="zh-CN" altLang="en-US" dirty="0"/>
              <a:t>）。 </a:t>
            </a:r>
            <a:endParaRPr lang="zh-CN" altLang="en-US" dirty="0"/>
          </a:p>
          <a:p>
            <a:pPr lvl="2"/>
            <a:r>
              <a:rPr lang="zh-CN" altLang="en-US" dirty="0"/>
              <a:t> </a:t>
            </a:r>
            <a:r>
              <a:rPr lang="en-US" altLang="zh-CN" dirty="0"/>
              <a:t>(2) </a:t>
            </a:r>
            <a:r>
              <a:rPr lang="zh-CN" altLang="en-US" dirty="0"/>
              <a:t>设计递归出口，</a:t>
            </a:r>
            <a:r>
              <a:rPr lang="zh-CN" altLang="en-US" dirty="0">
                <a:solidFill>
                  <a:srgbClr val="FF0000"/>
                </a:solidFill>
              </a:rPr>
              <a:t>确定递归终止条件</a:t>
            </a:r>
            <a:r>
              <a:rPr lang="en-US" altLang="zh-CN" dirty="0"/>
              <a:t>(</a:t>
            </a:r>
            <a:r>
              <a:rPr lang="zh-CN" altLang="en-US" dirty="0"/>
              <a:t>例求解</a:t>
            </a:r>
            <a:r>
              <a:rPr lang="en-US" altLang="zh-CN" dirty="0"/>
              <a:t>n!</a:t>
            </a:r>
            <a:r>
              <a:rPr lang="zh-CN" altLang="en-US" dirty="0"/>
              <a:t>时，当</a:t>
            </a:r>
            <a:r>
              <a:rPr lang="en-US" altLang="zh-CN" dirty="0"/>
              <a:t>n=1</a:t>
            </a:r>
            <a:r>
              <a:rPr lang="zh-CN" altLang="en-US" dirty="0"/>
              <a:t>时，</a:t>
            </a:r>
            <a:r>
              <a:rPr lang="en-US" altLang="zh-CN" dirty="0"/>
              <a:t>n! =1)</a:t>
            </a:r>
            <a:r>
              <a:rPr lang="zh-CN" altLang="en-US" dirty="0"/>
              <a:t>。</a:t>
            </a:r>
            <a:endParaRPr lang="zh-CN" altLang="en-US" dirty="0"/>
          </a:p>
        </p:txBody>
      </p:sp>
      <p:sp>
        <p:nvSpPr>
          <p:cNvPr id="3" name="标题 2"/>
          <p:cNvSpPr>
            <a:spLocks noGrp="1"/>
          </p:cNvSpPr>
          <p:nvPr>
            <p:ph type="title"/>
          </p:nvPr>
        </p:nvSpPr>
        <p:spPr/>
        <p:txBody>
          <a:bodyPr/>
          <a:lstStyle/>
          <a:p>
            <a:r>
              <a:rPr lang="en-US" altLang="zh-CN" dirty="0"/>
              <a:t>3.3 </a:t>
            </a:r>
            <a:r>
              <a:rPr lang="zh-CN" altLang="en-US" dirty="0"/>
              <a:t>栈与递归的实现</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队列应用案例</a:t>
            </a:r>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6052" y="1091261"/>
            <a:ext cx="2880098" cy="1928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8967" y="1055114"/>
            <a:ext cx="2802958" cy="1965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7908" y="3163287"/>
            <a:ext cx="3326937" cy="1688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队列</a:t>
            </a:r>
            <a:r>
              <a:rPr lang="en-US" altLang="zh-CN" dirty="0"/>
              <a:t>(Queue)</a:t>
            </a:r>
            <a:r>
              <a:rPr lang="zh-CN" altLang="en-US" dirty="0"/>
              <a:t>：具有一定操作约束的线性表。</a:t>
            </a:r>
            <a:endParaRPr lang="en-US" altLang="zh-CN" dirty="0"/>
          </a:p>
          <a:p>
            <a:pPr marL="478155" lvl="2" indent="-342900">
              <a:buFont typeface="Wingdings" panose="05000000000000000000" pitchFamily="2" charset="2"/>
              <a:buChar char="Ø"/>
            </a:pPr>
            <a:r>
              <a:rPr lang="zh-CN" altLang="en-US" dirty="0"/>
              <a:t>插入和删除操作：只能在</a:t>
            </a:r>
            <a:r>
              <a:rPr lang="zh-CN" altLang="en-US" dirty="0">
                <a:solidFill>
                  <a:srgbClr val="FF0000"/>
                </a:solidFill>
              </a:rPr>
              <a:t>一端插入（队尾）</a:t>
            </a:r>
            <a:r>
              <a:rPr lang="zh-CN" altLang="en-US" dirty="0"/>
              <a:t>，而在</a:t>
            </a:r>
            <a:r>
              <a:rPr lang="zh-CN" altLang="en-US" dirty="0">
                <a:solidFill>
                  <a:srgbClr val="FF0000"/>
                </a:solidFill>
              </a:rPr>
              <a:t>另一端删除（队头）</a:t>
            </a:r>
            <a:r>
              <a:rPr lang="zh-CN" altLang="en-US" dirty="0"/>
              <a:t>。</a:t>
            </a:r>
            <a:endParaRPr lang="zh-CN" altLang="en-US" dirty="0"/>
          </a:p>
          <a:p>
            <a:pPr marL="478155" lvl="3" indent="62230">
              <a:buFont typeface="Wingdings" panose="05000000000000000000" pitchFamily="2" charset="2"/>
              <a:buChar char="Ø"/>
            </a:pPr>
            <a:r>
              <a:rPr lang="zh-CN" altLang="en-US" dirty="0"/>
              <a:t> 数据插入：入队列</a:t>
            </a:r>
            <a:endParaRPr lang="zh-CN" altLang="en-US" dirty="0"/>
          </a:p>
          <a:p>
            <a:pPr marL="478155" lvl="3" indent="62230">
              <a:buFont typeface="Wingdings" panose="05000000000000000000" pitchFamily="2" charset="2"/>
              <a:buChar char="Ø"/>
            </a:pPr>
            <a:r>
              <a:rPr lang="zh-CN" altLang="en-US" dirty="0"/>
              <a:t> 数据删除：出队列</a:t>
            </a:r>
            <a:endParaRPr lang="zh-CN" altLang="en-US" dirty="0"/>
          </a:p>
          <a:p>
            <a:pPr marL="478155" lvl="3" indent="62230">
              <a:buFont typeface="Wingdings" panose="05000000000000000000" pitchFamily="2" charset="2"/>
              <a:buChar char="Ø"/>
            </a:pPr>
            <a:r>
              <a:rPr lang="zh-CN" altLang="en-US" dirty="0"/>
              <a:t> </a:t>
            </a:r>
            <a:r>
              <a:rPr lang="zh-CN" altLang="en-US" dirty="0">
                <a:solidFill>
                  <a:srgbClr val="FF0000"/>
                </a:solidFill>
              </a:rPr>
              <a:t>先来先服务 </a:t>
            </a:r>
            <a:endParaRPr lang="zh-CN" altLang="en-US" dirty="0">
              <a:solidFill>
                <a:srgbClr val="FF0000"/>
              </a:solidFill>
            </a:endParaRPr>
          </a:p>
          <a:p>
            <a:pPr marL="478155" lvl="3" indent="62230">
              <a:buFont typeface="Wingdings" panose="05000000000000000000" pitchFamily="2" charset="2"/>
              <a:buChar char="Ø"/>
            </a:pPr>
            <a:r>
              <a:rPr lang="zh-CN" altLang="en-US" dirty="0"/>
              <a:t> </a:t>
            </a:r>
            <a:r>
              <a:rPr lang="zh-CN" altLang="en-US" dirty="0">
                <a:solidFill>
                  <a:srgbClr val="FF0000"/>
                </a:solidFill>
              </a:rPr>
              <a:t>先进先出：</a:t>
            </a:r>
            <a:r>
              <a:rPr lang="en-US" altLang="zh-CN" dirty="0">
                <a:solidFill>
                  <a:srgbClr val="FF0000"/>
                </a:solidFill>
              </a:rPr>
              <a:t>FIFO </a:t>
            </a:r>
            <a:endParaRPr lang="zh-CN" altLang="en-US" dirty="0">
              <a:solidFill>
                <a:srgbClr val="FF0000"/>
              </a:solidFill>
            </a:endParaRPr>
          </a:p>
          <a:p>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队列的抽象数据类型定义</a:t>
            </a:r>
            <a:endParaRPr lang="en-US" altLang="zh-CN" dirty="0"/>
          </a:p>
          <a:p>
            <a:pPr lvl="2">
              <a:lnSpc>
                <a:spcPts val="2200"/>
              </a:lnSpc>
            </a:pPr>
            <a:r>
              <a:rPr lang="en-US" altLang="zh-CN" sz="1500" dirty="0">
                <a:solidFill>
                  <a:schemeClr val="tx1"/>
                </a:solidFill>
              </a:rPr>
              <a:t>ADT  List{</a:t>
            </a:r>
            <a:endParaRPr lang="en-US" altLang="zh-CN" sz="1500" dirty="0">
              <a:solidFill>
                <a:schemeClr val="tx1"/>
              </a:solidFill>
            </a:endParaRPr>
          </a:p>
          <a:p>
            <a:pPr marL="135255" lvl="2">
              <a:lnSpc>
                <a:spcPts val="2200"/>
              </a:lnSpc>
            </a:pPr>
            <a:r>
              <a:rPr lang="zh-CN" altLang="en-US" sz="1500" dirty="0">
                <a:solidFill>
                  <a:schemeClr val="tx1"/>
                </a:solidFill>
              </a:rPr>
              <a:t>数据对象：</a:t>
            </a:r>
            <a:r>
              <a:rPr lang="en-US" altLang="zh-CN" sz="1500" dirty="0">
                <a:solidFill>
                  <a:schemeClr val="tx1"/>
                </a:solidFill>
              </a:rPr>
              <a:t>D={</a:t>
            </a:r>
            <a:r>
              <a:rPr lang="en-US" altLang="zh-CN" sz="1500" dirty="0" err="1">
                <a:solidFill>
                  <a:schemeClr val="tx1"/>
                </a:solidFill>
              </a:rPr>
              <a:t>a</a:t>
            </a:r>
            <a:r>
              <a:rPr lang="en-US" altLang="zh-CN" sz="1500" baseline="-25000" dirty="0" err="1">
                <a:solidFill>
                  <a:schemeClr val="tx1"/>
                </a:solidFill>
              </a:rPr>
              <a:t>i</a:t>
            </a:r>
            <a:r>
              <a:rPr lang="en-US" altLang="zh-CN" sz="1500" dirty="0" err="1">
                <a:solidFill>
                  <a:schemeClr val="tx1"/>
                </a:solidFill>
              </a:rPr>
              <a:t>|a</a:t>
            </a:r>
            <a:r>
              <a:rPr lang="en-US" altLang="zh-CN" sz="1500" baseline="-25000" dirty="0" err="1">
                <a:solidFill>
                  <a:schemeClr val="tx1"/>
                </a:solidFill>
              </a:rPr>
              <a:t>i</a:t>
            </a:r>
            <a:r>
              <a:rPr lang="en-US" altLang="zh-CN" sz="1500" baseline="-25000" dirty="0">
                <a:solidFill>
                  <a:schemeClr val="tx1"/>
                </a:solidFill>
              </a:rPr>
              <a:t> </a:t>
            </a:r>
            <a:r>
              <a:rPr lang="en-US" altLang="zh-CN" sz="1500" dirty="0">
                <a:solidFill>
                  <a:schemeClr val="tx1"/>
                </a:solidFill>
              </a:rPr>
              <a:t>=</a:t>
            </a:r>
            <a:r>
              <a:rPr lang="en-US" altLang="zh-CN" sz="1500" dirty="0" err="1">
                <a:solidFill>
                  <a:schemeClr val="tx1"/>
                </a:solidFill>
              </a:rPr>
              <a:t>ElemSet</a:t>
            </a:r>
            <a:r>
              <a:rPr lang="en-US" altLang="zh-CN" sz="1500" dirty="0">
                <a:solidFill>
                  <a:schemeClr val="tx1"/>
                </a:solidFill>
              </a:rPr>
              <a:t>, </a:t>
            </a:r>
            <a:r>
              <a:rPr lang="en-US" altLang="zh-CN" sz="1500" dirty="0" err="1">
                <a:solidFill>
                  <a:schemeClr val="tx1"/>
                </a:solidFill>
              </a:rPr>
              <a:t>i</a:t>
            </a:r>
            <a:r>
              <a:rPr lang="en-US" altLang="zh-CN" sz="1500" dirty="0">
                <a:solidFill>
                  <a:schemeClr val="tx1"/>
                </a:solidFill>
              </a:rPr>
              <a:t> = 0,1,2,…,n, n</a:t>
            </a:r>
            <a:r>
              <a:rPr lang="en-US" altLang="zh-CN" sz="1500" dirty="0">
                <a:solidFill>
                  <a:schemeClr val="tx1"/>
                </a:solidFill>
                <a:sym typeface="Symbol" panose="05050102010706020507"/>
              </a:rPr>
              <a:t></a:t>
            </a:r>
            <a:r>
              <a:rPr lang="en-US" altLang="zh-CN" sz="1500" dirty="0">
                <a:solidFill>
                  <a:schemeClr val="tx1"/>
                </a:solidFill>
              </a:rPr>
              <a:t>0</a:t>
            </a:r>
            <a:r>
              <a:rPr lang="zh-CN" altLang="en-US" sz="1500" dirty="0">
                <a:solidFill>
                  <a:schemeClr val="tx1"/>
                </a:solidFill>
              </a:rPr>
              <a:t>，</a:t>
            </a:r>
            <a:endParaRPr lang="en-US" altLang="zh-CN" sz="1500" dirty="0">
              <a:solidFill>
                <a:schemeClr val="tx1"/>
              </a:solidFill>
            </a:endParaRPr>
          </a:p>
          <a:p>
            <a:pPr lvl="2">
              <a:lnSpc>
                <a:spcPts val="2200"/>
              </a:lnSpc>
            </a:pPr>
            <a:r>
              <a:rPr lang="en-US" altLang="zh-CN" sz="1500" dirty="0">
                <a:solidFill>
                  <a:schemeClr val="tx1"/>
                </a:solidFill>
              </a:rPr>
              <a:t>                            </a:t>
            </a:r>
            <a:r>
              <a:rPr lang="en-US" altLang="zh-CN" sz="1500" dirty="0" err="1">
                <a:solidFill>
                  <a:schemeClr val="tx1"/>
                </a:solidFill>
              </a:rPr>
              <a:t>ElemSet</a:t>
            </a:r>
            <a:r>
              <a:rPr lang="zh-CN" altLang="en-US" sz="1500" dirty="0">
                <a:solidFill>
                  <a:schemeClr val="tx1"/>
                </a:solidFill>
              </a:rPr>
              <a:t>为某一数据元素</a:t>
            </a:r>
            <a:r>
              <a:rPr lang="en-US" altLang="zh-CN" sz="1500" dirty="0">
                <a:solidFill>
                  <a:schemeClr val="tx1"/>
                </a:solidFill>
              </a:rPr>
              <a:t>}</a:t>
            </a:r>
            <a:endParaRPr lang="en-US" altLang="zh-CN" sz="1500" dirty="0">
              <a:solidFill>
                <a:schemeClr val="tx1"/>
              </a:solidFill>
            </a:endParaRPr>
          </a:p>
          <a:p>
            <a:pPr lvl="2">
              <a:lnSpc>
                <a:spcPts val="2200"/>
              </a:lnSpc>
            </a:pPr>
            <a:r>
              <a:rPr lang="zh-CN" altLang="en-US" sz="1500" dirty="0">
                <a:solidFill>
                  <a:schemeClr val="tx1"/>
                </a:solidFill>
              </a:rPr>
              <a:t>数据关系：Ｓ</a:t>
            </a:r>
            <a:r>
              <a:rPr lang="en-US" altLang="zh-CN" sz="1500" dirty="0">
                <a:solidFill>
                  <a:schemeClr val="tx1"/>
                </a:solidFill>
              </a:rPr>
              <a:t>={&lt;a</a:t>
            </a:r>
            <a:r>
              <a:rPr lang="en-US" altLang="zh-CN" sz="1500" baseline="-25000" dirty="0">
                <a:solidFill>
                  <a:schemeClr val="tx1"/>
                </a:solidFill>
              </a:rPr>
              <a:t>i-1</a:t>
            </a:r>
            <a:r>
              <a:rPr lang="en-US" altLang="zh-CN" sz="1500" dirty="0">
                <a:solidFill>
                  <a:schemeClr val="tx1"/>
                </a:solidFill>
              </a:rPr>
              <a:t>, </a:t>
            </a:r>
            <a:r>
              <a:rPr lang="en-US" altLang="zh-CN" sz="1500" dirty="0" err="1">
                <a:solidFill>
                  <a:schemeClr val="tx1"/>
                </a:solidFill>
              </a:rPr>
              <a:t>a</a:t>
            </a:r>
            <a:r>
              <a:rPr lang="en-US" altLang="zh-CN" sz="1500" baseline="-25000" dirty="0" err="1">
                <a:solidFill>
                  <a:schemeClr val="tx1"/>
                </a:solidFill>
              </a:rPr>
              <a:t>i</a:t>
            </a:r>
            <a:r>
              <a:rPr lang="en-US" altLang="zh-CN" sz="1500" dirty="0">
                <a:solidFill>
                  <a:schemeClr val="tx1"/>
                </a:solidFill>
              </a:rPr>
              <a:t> &gt;</a:t>
            </a:r>
            <a:r>
              <a:rPr lang="en-US" altLang="zh-CN" sz="1500" baseline="-25000" dirty="0">
                <a:solidFill>
                  <a:schemeClr val="tx1"/>
                </a:solidFill>
              </a:rPr>
              <a:t> </a:t>
            </a:r>
            <a:r>
              <a:rPr lang="en-US" altLang="zh-CN" sz="1500" dirty="0">
                <a:solidFill>
                  <a:schemeClr val="tx1"/>
                </a:solidFill>
              </a:rPr>
              <a:t>| a</a:t>
            </a:r>
            <a:r>
              <a:rPr lang="en-US" altLang="zh-CN" sz="1500" baseline="-25000" dirty="0">
                <a:solidFill>
                  <a:schemeClr val="tx1"/>
                </a:solidFill>
              </a:rPr>
              <a:t>i-1</a:t>
            </a:r>
            <a:r>
              <a:rPr lang="en-US" altLang="zh-CN" sz="1500" dirty="0">
                <a:solidFill>
                  <a:schemeClr val="tx1"/>
                </a:solidFill>
              </a:rPr>
              <a:t> , </a:t>
            </a:r>
            <a:r>
              <a:rPr lang="en-US" altLang="zh-CN" sz="1500" dirty="0" err="1">
                <a:solidFill>
                  <a:schemeClr val="tx1"/>
                </a:solidFill>
              </a:rPr>
              <a:t>a</a:t>
            </a:r>
            <a:r>
              <a:rPr lang="en-US" altLang="zh-CN" sz="1500" baseline="-25000" dirty="0" err="1">
                <a:solidFill>
                  <a:schemeClr val="tx1"/>
                </a:solidFill>
              </a:rPr>
              <a:t>i</a:t>
            </a:r>
            <a:r>
              <a:rPr lang="en-US" altLang="zh-CN" sz="1500" dirty="0" err="1">
                <a:solidFill>
                  <a:schemeClr val="tx1"/>
                </a:solidFill>
                <a:sym typeface="Symbol" panose="05050102010706020507"/>
              </a:rPr>
              <a:t></a:t>
            </a:r>
            <a:r>
              <a:rPr lang="en-US" altLang="zh-CN" sz="1500" dirty="0" err="1">
                <a:solidFill>
                  <a:schemeClr val="tx1"/>
                </a:solidFill>
              </a:rPr>
              <a:t>D</a:t>
            </a:r>
            <a:r>
              <a:rPr lang="en-US" altLang="zh-CN" sz="1500" dirty="0">
                <a:solidFill>
                  <a:schemeClr val="tx1"/>
                </a:solidFill>
              </a:rPr>
              <a:t>, </a:t>
            </a:r>
            <a:r>
              <a:rPr lang="en-US" altLang="zh-CN" sz="1500" dirty="0" err="1">
                <a:solidFill>
                  <a:schemeClr val="tx1"/>
                </a:solidFill>
              </a:rPr>
              <a:t>i</a:t>
            </a:r>
            <a:r>
              <a:rPr lang="en-US" altLang="zh-CN" sz="1500" dirty="0">
                <a:solidFill>
                  <a:schemeClr val="tx1"/>
                </a:solidFill>
              </a:rPr>
              <a:t> = 2,</a:t>
            </a:r>
            <a:r>
              <a:rPr lang="en-US" altLang="zh-CN" sz="1500" dirty="0">
                <a:solidFill>
                  <a:schemeClr val="tx1"/>
                </a:solidFill>
                <a:sym typeface="Symbol" panose="05050102010706020507"/>
              </a:rPr>
              <a:t></a:t>
            </a:r>
            <a:r>
              <a:rPr lang="en-US" altLang="zh-CN" sz="1500" dirty="0">
                <a:solidFill>
                  <a:schemeClr val="tx1"/>
                </a:solidFill>
              </a:rPr>
              <a:t>,n}</a:t>
            </a:r>
            <a:endParaRPr lang="en-US" altLang="zh-CN" sz="1500" dirty="0">
              <a:solidFill>
                <a:schemeClr val="tx1"/>
              </a:solidFill>
            </a:endParaRPr>
          </a:p>
          <a:p>
            <a:pPr lvl="2">
              <a:lnSpc>
                <a:spcPts val="2200"/>
              </a:lnSpc>
            </a:pPr>
            <a:r>
              <a:rPr lang="zh-CN" altLang="en-US" sz="1500" dirty="0">
                <a:solidFill>
                  <a:schemeClr val="tx1"/>
                </a:solidFill>
              </a:rPr>
              <a:t>                            约定</a:t>
            </a:r>
            <a:r>
              <a:rPr lang="en-US" altLang="zh-CN" sz="1500" dirty="0">
                <a:solidFill>
                  <a:schemeClr val="tx1"/>
                </a:solidFill>
              </a:rPr>
              <a:t>a</a:t>
            </a:r>
            <a:r>
              <a:rPr lang="en-US" altLang="zh-CN" sz="1500" baseline="-25000" dirty="0">
                <a:solidFill>
                  <a:schemeClr val="tx1"/>
                </a:solidFill>
              </a:rPr>
              <a:t>1</a:t>
            </a:r>
            <a:r>
              <a:rPr lang="zh-CN" altLang="zh-CN" sz="1500" dirty="0">
                <a:solidFill>
                  <a:schemeClr val="tx1"/>
                </a:solidFill>
              </a:rPr>
              <a:t>为对头，</a:t>
            </a:r>
            <a:r>
              <a:rPr lang="en-US" altLang="zh-CN" sz="1500" dirty="0">
                <a:solidFill>
                  <a:schemeClr val="tx1"/>
                </a:solidFill>
              </a:rPr>
              <a:t>a</a:t>
            </a:r>
            <a:r>
              <a:rPr lang="en-US" altLang="zh-CN" sz="1500" baseline="-25000" dirty="0">
                <a:solidFill>
                  <a:schemeClr val="tx1"/>
                </a:solidFill>
              </a:rPr>
              <a:t>n</a:t>
            </a:r>
            <a:r>
              <a:rPr lang="zh-CN" altLang="zh-CN" sz="1500" dirty="0">
                <a:solidFill>
                  <a:schemeClr val="tx1"/>
                </a:solidFill>
              </a:rPr>
              <a:t>为队尾</a:t>
            </a:r>
            <a:endParaRPr lang="en-US" altLang="zh-CN" sz="1500" dirty="0">
              <a:solidFill>
                <a:schemeClr val="tx1"/>
              </a:solidFill>
            </a:endParaRPr>
          </a:p>
          <a:p>
            <a:pPr lvl="2">
              <a:lnSpc>
                <a:spcPts val="2200"/>
              </a:lnSpc>
            </a:pPr>
            <a:r>
              <a:rPr lang="zh-CN" altLang="en-US" sz="1500" dirty="0">
                <a:solidFill>
                  <a:schemeClr val="tx1"/>
                </a:solidFill>
              </a:rPr>
              <a:t>基本操作：</a:t>
            </a:r>
            <a:endParaRPr lang="en-US" altLang="zh-CN" sz="1500" dirty="0">
              <a:solidFill>
                <a:schemeClr val="tx1"/>
              </a:solidFill>
            </a:endParaRPr>
          </a:p>
          <a:p>
            <a:pPr lvl="2">
              <a:lnSpc>
                <a:spcPts val="2200"/>
              </a:lnSpc>
            </a:pPr>
            <a:r>
              <a:rPr lang="en-US" altLang="zh-CN" sz="1500" dirty="0">
                <a:solidFill>
                  <a:schemeClr val="tx1"/>
                </a:solidFill>
                <a:latin typeface="Times New Roman" panose="02020603050405020304" pitchFamily="18" charset="0"/>
                <a:cs typeface="Times New Roman" panose="02020603050405020304" pitchFamily="18" charset="0"/>
              </a:rPr>
              <a:t>       </a:t>
            </a:r>
            <a:r>
              <a:rPr lang="zh-CN" altLang="en-US" sz="1500" dirty="0">
                <a:solidFill>
                  <a:schemeClr val="tx1"/>
                </a:solidFill>
              </a:rPr>
              <a:t>（</a:t>
            </a:r>
            <a:r>
              <a:rPr lang="en-US" altLang="zh-CN" sz="1500" dirty="0">
                <a:solidFill>
                  <a:schemeClr val="tx1"/>
                </a:solidFill>
              </a:rPr>
              <a:t>1</a:t>
            </a:r>
            <a:r>
              <a:rPr lang="zh-CN" altLang="en-US" sz="1500" dirty="0">
                <a:solidFill>
                  <a:schemeClr val="tx1"/>
                </a:solidFill>
              </a:rPr>
              <a:t>）</a:t>
            </a:r>
            <a:r>
              <a:rPr lang="en-US" altLang="zh-CN" sz="1500" dirty="0" err="1">
                <a:solidFill>
                  <a:schemeClr val="tx1"/>
                </a:solidFill>
              </a:rPr>
              <a:t>InitQueue</a:t>
            </a:r>
            <a:r>
              <a:rPr lang="en-US" altLang="zh-CN" sz="1500" dirty="0">
                <a:solidFill>
                  <a:schemeClr val="tx1"/>
                </a:solidFill>
              </a:rPr>
              <a:t> (&amp;Q)</a:t>
            </a:r>
            <a:endParaRPr lang="en-US" altLang="zh-CN" sz="1500" dirty="0">
              <a:solidFill>
                <a:schemeClr val="tx1"/>
              </a:solidFill>
            </a:endParaRPr>
          </a:p>
          <a:p>
            <a:pPr lvl="2">
              <a:lnSpc>
                <a:spcPts val="2200"/>
              </a:lnSpc>
            </a:pPr>
            <a:r>
              <a:rPr lang="zh-CN" altLang="en-US" sz="1500" dirty="0">
                <a:solidFill>
                  <a:schemeClr val="tx1"/>
                </a:solidFill>
              </a:rPr>
              <a:t>       （</a:t>
            </a:r>
            <a:r>
              <a:rPr lang="en-US" altLang="zh-CN" sz="1500" dirty="0">
                <a:solidFill>
                  <a:schemeClr val="tx1"/>
                </a:solidFill>
              </a:rPr>
              <a:t>2</a:t>
            </a:r>
            <a:r>
              <a:rPr lang="zh-CN" altLang="en-US" sz="1500" dirty="0">
                <a:solidFill>
                  <a:schemeClr val="tx1"/>
                </a:solidFill>
              </a:rPr>
              <a:t>）</a:t>
            </a:r>
            <a:r>
              <a:rPr lang="en-US" altLang="zh-CN" sz="1500" dirty="0" err="1">
                <a:solidFill>
                  <a:schemeClr val="tx1"/>
                </a:solidFill>
              </a:rPr>
              <a:t>QueueEmpty</a:t>
            </a:r>
            <a:r>
              <a:rPr lang="en-US" altLang="zh-CN" sz="1500" dirty="0">
                <a:solidFill>
                  <a:schemeClr val="tx1"/>
                </a:solidFill>
              </a:rPr>
              <a:t>(Q)</a:t>
            </a:r>
            <a:endParaRPr lang="en-US" altLang="zh-CN" sz="1500" dirty="0">
              <a:solidFill>
                <a:schemeClr val="tx1"/>
              </a:solidFill>
            </a:endParaRPr>
          </a:p>
          <a:p>
            <a:pPr lvl="2">
              <a:lnSpc>
                <a:spcPts val="2200"/>
              </a:lnSpc>
            </a:pPr>
            <a:r>
              <a:rPr lang="zh-CN" altLang="en-US" sz="1500" dirty="0">
                <a:solidFill>
                  <a:schemeClr val="tx1"/>
                </a:solidFill>
              </a:rPr>
              <a:t>       （</a:t>
            </a:r>
            <a:r>
              <a:rPr lang="en-US" altLang="zh-CN" sz="1500" dirty="0">
                <a:solidFill>
                  <a:schemeClr val="tx1"/>
                </a:solidFill>
              </a:rPr>
              <a:t>3</a:t>
            </a:r>
            <a:r>
              <a:rPr lang="zh-CN" altLang="en-US" sz="1500" dirty="0">
                <a:solidFill>
                  <a:schemeClr val="tx1"/>
                </a:solidFill>
              </a:rPr>
              <a:t>）</a:t>
            </a:r>
            <a:r>
              <a:rPr lang="en-US" altLang="zh-CN" sz="1500" dirty="0" err="1">
                <a:solidFill>
                  <a:schemeClr val="tx1"/>
                </a:solidFill>
              </a:rPr>
              <a:t>EnQueue</a:t>
            </a:r>
            <a:r>
              <a:rPr lang="en-US" altLang="zh-CN" sz="1500" dirty="0">
                <a:solidFill>
                  <a:schemeClr val="tx1"/>
                </a:solidFill>
              </a:rPr>
              <a:t>(&amp;Q, e)</a:t>
            </a:r>
            <a:endParaRPr lang="en-US" altLang="zh-CN" sz="1500" dirty="0">
              <a:solidFill>
                <a:schemeClr val="tx1"/>
              </a:solidFill>
            </a:endParaRPr>
          </a:p>
          <a:p>
            <a:pPr lvl="2">
              <a:lnSpc>
                <a:spcPts val="2200"/>
              </a:lnSpc>
            </a:pPr>
            <a:r>
              <a:rPr lang="zh-CN" altLang="en-US" sz="1500" dirty="0">
                <a:solidFill>
                  <a:schemeClr val="tx1"/>
                </a:solidFill>
              </a:rPr>
              <a:t>       （</a:t>
            </a:r>
            <a:r>
              <a:rPr lang="en-US" altLang="zh-CN" sz="1500" dirty="0">
                <a:solidFill>
                  <a:schemeClr val="tx1"/>
                </a:solidFill>
              </a:rPr>
              <a:t>4</a:t>
            </a:r>
            <a:r>
              <a:rPr lang="zh-CN" altLang="en-US" sz="1500" dirty="0">
                <a:solidFill>
                  <a:schemeClr val="tx1"/>
                </a:solidFill>
              </a:rPr>
              <a:t>）</a:t>
            </a:r>
            <a:r>
              <a:rPr lang="en-US" altLang="zh-CN" sz="1500" dirty="0" err="1">
                <a:solidFill>
                  <a:schemeClr val="tx1"/>
                </a:solidFill>
              </a:rPr>
              <a:t>DeQueue</a:t>
            </a:r>
            <a:r>
              <a:rPr lang="en-US" altLang="zh-CN" sz="1500" dirty="0">
                <a:solidFill>
                  <a:schemeClr val="tx1"/>
                </a:solidFill>
              </a:rPr>
              <a:t>(&amp;Q, &amp;e)</a:t>
            </a:r>
            <a:endParaRPr lang="en-US" altLang="zh-CN" sz="1500" dirty="0">
              <a:solidFill>
                <a:schemeClr val="tx1"/>
              </a:solidFill>
            </a:endParaRPr>
          </a:p>
          <a:p>
            <a:pPr lvl="2">
              <a:lnSpc>
                <a:spcPts val="2200"/>
              </a:lnSpc>
            </a:pPr>
            <a:r>
              <a:rPr lang="zh-CN" altLang="en-US" sz="1500" dirty="0">
                <a:solidFill>
                  <a:schemeClr val="tx1"/>
                </a:solidFill>
              </a:rPr>
              <a:t>       （</a:t>
            </a:r>
            <a:r>
              <a:rPr lang="en-US" altLang="zh-CN" sz="1500" dirty="0">
                <a:solidFill>
                  <a:schemeClr val="tx1"/>
                </a:solidFill>
              </a:rPr>
              <a:t>5</a:t>
            </a:r>
            <a:r>
              <a:rPr lang="zh-CN" altLang="en-US" sz="1500" dirty="0">
                <a:solidFill>
                  <a:schemeClr val="tx1"/>
                </a:solidFill>
              </a:rPr>
              <a:t>）</a:t>
            </a:r>
            <a:r>
              <a:rPr lang="en-US" altLang="zh-CN" sz="1500" dirty="0" err="1">
                <a:solidFill>
                  <a:schemeClr val="tx1"/>
                </a:solidFill>
              </a:rPr>
              <a:t>QueueLength</a:t>
            </a:r>
            <a:r>
              <a:rPr lang="en-US" altLang="zh-CN" sz="1500" dirty="0">
                <a:solidFill>
                  <a:schemeClr val="tx1"/>
                </a:solidFill>
              </a:rPr>
              <a:t>(Q)</a:t>
            </a:r>
            <a:r>
              <a:rPr lang="zh-CN" altLang="en-US" sz="1500" dirty="0">
                <a:solidFill>
                  <a:schemeClr val="tx1"/>
                </a:solidFill>
              </a:rPr>
              <a:t> </a:t>
            </a:r>
            <a:endParaRPr lang="en-US" altLang="zh-CN" sz="1500" dirty="0">
              <a:solidFill>
                <a:schemeClr val="tx1"/>
              </a:solidFill>
            </a:endParaRPr>
          </a:p>
          <a:p>
            <a:pPr lvl="2">
              <a:lnSpc>
                <a:spcPts val="2200"/>
              </a:lnSpc>
            </a:pPr>
            <a:r>
              <a:rPr lang="zh-CN" altLang="en-US" sz="1500" dirty="0">
                <a:solidFill>
                  <a:schemeClr val="tx1"/>
                </a:solidFill>
              </a:rPr>
              <a:t>       （</a:t>
            </a:r>
            <a:r>
              <a:rPr lang="en-US" altLang="zh-CN" sz="1500" dirty="0">
                <a:solidFill>
                  <a:schemeClr val="tx1"/>
                </a:solidFill>
              </a:rPr>
              <a:t>6</a:t>
            </a:r>
            <a:r>
              <a:rPr lang="zh-CN" altLang="en-US" sz="1500" dirty="0">
                <a:solidFill>
                  <a:schemeClr val="tx1"/>
                </a:solidFill>
              </a:rPr>
              <a:t>）</a:t>
            </a:r>
            <a:r>
              <a:rPr lang="en-US" altLang="zh-CN" sz="1500" dirty="0" err="1">
                <a:solidFill>
                  <a:schemeClr val="tx1"/>
                </a:solidFill>
              </a:rPr>
              <a:t>ClearQueue</a:t>
            </a:r>
            <a:r>
              <a:rPr lang="en-US" altLang="zh-CN" sz="1500" dirty="0">
                <a:solidFill>
                  <a:schemeClr val="tx1"/>
                </a:solidFill>
              </a:rPr>
              <a:t> (&amp;Q)</a:t>
            </a:r>
            <a:r>
              <a:rPr lang="zh-CN" altLang="en-US" sz="1500" dirty="0">
                <a:solidFill>
                  <a:schemeClr val="tx1"/>
                </a:solidFill>
              </a:rPr>
              <a:t> </a:t>
            </a:r>
            <a:endParaRPr lang="en-US" altLang="zh-CN" sz="1500" dirty="0">
              <a:solidFill>
                <a:schemeClr val="tx1"/>
              </a:solidFill>
            </a:endParaRPr>
          </a:p>
          <a:p>
            <a:pPr lvl="2">
              <a:lnSpc>
                <a:spcPts val="2200"/>
              </a:lnSpc>
            </a:pPr>
            <a:r>
              <a:rPr lang="zh-CN" altLang="en-US" sz="1500" dirty="0">
                <a:solidFill>
                  <a:schemeClr val="tx1"/>
                </a:solidFill>
              </a:rPr>
              <a:t> </a:t>
            </a:r>
            <a:r>
              <a:rPr lang="en-US" altLang="zh-CN" sz="1500" dirty="0">
                <a:solidFill>
                  <a:schemeClr val="tx1"/>
                </a:solidFill>
              </a:rPr>
              <a:t>} ADT  List </a:t>
            </a:r>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 </a:t>
            </a:r>
            <a:r>
              <a:rPr lang="zh-CN" altLang="en-US" dirty="0"/>
              <a:t>队列的顺序存储（循环队列）</a:t>
            </a:r>
            <a:endParaRPr lang="en-US" altLang="zh-CN" dirty="0"/>
          </a:p>
          <a:p>
            <a:pPr lvl="2"/>
            <a:r>
              <a:rPr lang="zh-CN" altLang="en-US" dirty="0"/>
              <a:t>例：一个工作队列 ，要进行如下操作：</a:t>
            </a:r>
            <a:endParaRPr lang="zh-CN" altLang="en-US" dirty="0"/>
          </a:p>
          <a:p>
            <a:pPr lvl="2"/>
            <a:r>
              <a:rPr lang="zh-CN" altLang="en-US" dirty="0"/>
              <a:t>（</a:t>
            </a:r>
            <a:r>
              <a:rPr lang="en-US" altLang="zh-CN" dirty="0"/>
              <a:t>1</a:t>
            </a:r>
            <a:r>
              <a:rPr lang="zh-CN" altLang="en-US" dirty="0"/>
              <a:t>）</a:t>
            </a:r>
            <a:r>
              <a:rPr lang="en-US" altLang="zh-CN" dirty="0"/>
              <a:t>a, b, c, d</a:t>
            </a:r>
            <a:r>
              <a:rPr lang="zh-CN" altLang="en-US" dirty="0"/>
              <a:t>依次入队（</a:t>
            </a:r>
            <a:r>
              <a:rPr lang="en-US" altLang="zh-CN" dirty="0"/>
              <a:t>2</a:t>
            </a:r>
            <a:r>
              <a:rPr lang="zh-CN" altLang="en-US" dirty="0"/>
              <a:t>）</a:t>
            </a:r>
            <a:r>
              <a:rPr lang="en-US" altLang="zh-CN" dirty="0"/>
              <a:t>a, b, c</a:t>
            </a:r>
            <a:r>
              <a:rPr lang="zh-CN" altLang="en-US" dirty="0"/>
              <a:t>依次出队</a:t>
            </a:r>
            <a:endParaRPr lang="zh-CN" altLang="en-US" dirty="0"/>
          </a:p>
          <a:p>
            <a:pPr lvl="2"/>
            <a:r>
              <a:rPr lang="zh-CN" altLang="en-US" dirty="0"/>
              <a:t>（</a:t>
            </a:r>
            <a:r>
              <a:rPr lang="en-US" altLang="zh-CN" dirty="0"/>
              <a:t>3</a:t>
            </a:r>
            <a:r>
              <a:rPr lang="zh-CN" altLang="en-US" dirty="0"/>
              <a:t>）</a:t>
            </a:r>
            <a:r>
              <a:rPr lang="en-US" altLang="zh-CN" dirty="0"/>
              <a:t>e, f</a:t>
            </a:r>
            <a:r>
              <a:rPr lang="zh-CN" altLang="en-US" dirty="0"/>
              <a:t>入队                 （</a:t>
            </a:r>
            <a:r>
              <a:rPr lang="en-US" altLang="zh-CN" dirty="0"/>
              <a:t>4</a:t>
            </a:r>
            <a:r>
              <a:rPr lang="zh-CN" altLang="en-US" dirty="0"/>
              <a:t>）</a:t>
            </a:r>
            <a:r>
              <a:rPr lang="en-US" altLang="zh-CN" dirty="0"/>
              <a:t>g</a:t>
            </a:r>
            <a:r>
              <a:rPr lang="zh-CN" altLang="en-US" dirty="0"/>
              <a:t>入队 </a:t>
            </a:r>
            <a:r>
              <a:rPr lang="en-US" altLang="zh-CN" dirty="0"/>
              <a:t>(</a:t>
            </a:r>
            <a:r>
              <a:rPr lang="zh-CN" altLang="en-US" dirty="0">
                <a:solidFill>
                  <a:srgbClr val="FF0000"/>
                </a:solidFill>
              </a:rPr>
              <a:t>能入否？</a:t>
            </a:r>
            <a:r>
              <a:rPr lang="en-US" altLang="zh-CN" dirty="0"/>
              <a:t>)</a:t>
            </a:r>
            <a:endParaRPr lang="en-US" altLang="zh-CN" dirty="0"/>
          </a:p>
          <a:p>
            <a:pPr lvl="2"/>
            <a:endParaRPr lang="zh-CN" altLang="en-US" dirty="0"/>
          </a:p>
          <a:p>
            <a:endParaRPr lang="en-US" altLang="zh-CN" dirty="0"/>
          </a:p>
          <a:p>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
        <p:nvSpPr>
          <p:cNvPr id="4" name="AutoShape 24"/>
          <p:cNvSpPr>
            <a:spLocks noChangeArrowheads="1"/>
          </p:cNvSpPr>
          <p:nvPr/>
        </p:nvSpPr>
        <p:spPr bwMode="auto">
          <a:xfrm>
            <a:off x="416741" y="3033209"/>
            <a:ext cx="6192837" cy="490776"/>
          </a:xfrm>
          <a:prstGeom prst="bevel">
            <a:avLst>
              <a:gd name="adj" fmla="val 12500"/>
            </a:avLst>
          </a:prstGeom>
          <a:solidFill>
            <a:schemeClr val="accent1"/>
          </a:soli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1800"/>
          </a:p>
        </p:txBody>
      </p:sp>
      <p:graphicFrame>
        <p:nvGraphicFramePr>
          <p:cNvPr id="5" name="Group 26"/>
          <p:cNvGraphicFramePr>
            <a:graphicFrameLocks noGrp="1"/>
          </p:cNvGraphicFramePr>
          <p:nvPr/>
        </p:nvGraphicFramePr>
        <p:xfrm>
          <a:off x="416740" y="3019341"/>
          <a:ext cx="6192839" cy="518160"/>
        </p:xfrm>
        <a:graphic>
          <a:graphicData uri="http://schemas.openxmlformats.org/drawingml/2006/table">
            <a:tbl>
              <a:tblPr/>
              <a:tblGrid>
                <a:gridCol w="1032140"/>
                <a:gridCol w="1032140"/>
                <a:gridCol w="1007948"/>
                <a:gridCol w="1056331"/>
                <a:gridCol w="1032140"/>
                <a:gridCol w="1032140"/>
              </a:tblGrid>
              <a:tr h="503238">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Text Box 27"/>
          <p:cNvSpPr txBox="1">
            <a:spLocks noChangeArrowheads="1"/>
          </p:cNvSpPr>
          <p:nvPr/>
        </p:nvSpPr>
        <p:spPr bwMode="auto">
          <a:xfrm>
            <a:off x="489766" y="2460241"/>
            <a:ext cx="59769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dirty="0"/>
              <a:t>      0                 1                 2                  3                4                  5</a:t>
            </a:r>
            <a:endParaRPr lang="en-US" altLang="zh-CN" sz="1800" dirty="0"/>
          </a:p>
        </p:txBody>
      </p:sp>
      <p:sp>
        <p:nvSpPr>
          <p:cNvPr id="7" name="AutoShape 31"/>
          <p:cNvSpPr>
            <a:spLocks noChangeArrowheads="1"/>
          </p:cNvSpPr>
          <p:nvPr/>
        </p:nvSpPr>
        <p:spPr bwMode="auto">
          <a:xfrm>
            <a:off x="57171" y="3921292"/>
            <a:ext cx="649288" cy="360363"/>
          </a:xfrm>
          <a:prstGeom prst="wedgeRectCallout">
            <a:avLst>
              <a:gd name="adj1" fmla="val 57968"/>
              <a:gd name="adj2" fmla="val -166741"/>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front</a:t>
            </a:r>
            <a:endParaRPr lang="en-US" altLang="zh-CN" sz="1800"/>
          </a:p>
        </p:txBody>
      </p:sp>
      <p:sp>
        <p:nvSpPr>
          <p:cNvPr id="8" name="AutoShape 32"/>
          <p:cNvSpPr>
            <a:spLocks noChangeArrowheads="1"/>
          </p:cNvSpPr>
          <p:nvPr/>
        </p:nvSpPr>
        <p:spPr bwMode="auto">
          <a:xfrm>
            <a:off x="850128" y="3925503"/>
            <a:ext cx="647700" cy="360363"/>
          </a:xfrm>
          <a:prstGeom prst="wedgeRectCallout">
            <a:avLst>
              <a:gd name="adj1" fmla="val 4407"/>
              <a:gd name="adj2" fmla="val -167181"/>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rear</a:t>
            </a:r>
            <a:endParaRPr lang="en-US" altLang="zh-CN" sz="1800"/>
          </a:p>
        </p:txBody>
      </p:sp>
      <p:sp>
        <p:nvSpPr>
          <p:cNvPr id="9" name="Text Box 35"/>
          <p:cNvSpPr txBox="1">
            <a:spLocks noChangeArrowheads="1"/>
          </p:cNvSpPr>
          <p:nvPr/>
        </p:nvSpPr>
        <p:spPr bwMode="auto">
          <a:xfrm>
            <a:off x="850128" y="3105966"/>
            <a:ext cx="29527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a</a:t>
            </a:r>
            <a:endParaRPr lang="en-US" altLang="zh-CN" sz="1800"/>
          </a:p>
        </p:txBody>
      </p:sp>
      <p:sp>
        <p:nvSpPr>
          <p:cNvPr id="10" name="Text Box 36"/>
          <p:cNvSpPr txBox="1">
            <a:spLocks noChangeArrowheads="1"/>
          </p:cNvSpPr>
          <p:nvPr/>
        </p:nvSpPr>
        <p:spPr bwMode="auto">
          <a:xfrm>
            <a:off x="1785166" y="3105966"/>
            <a:ext cx="30649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b</a:t>
            </a:r>
            <a:endParaRPr lang="en-US" altLang="zh-CN" sz="1800"/>
          </a:p>
        </p:txBody>
      </p:sp>
      <p:sp>
        <p:nvSpPr>
          <p:cNvPr id="11" name="Text Box 37"/>
          <p:cNvSpPr txBox="1">
            <a:spLocks noChangeArrowheads="1"/>
          </p:cNvSpPr>
          <p:nvPr/>
        </p:nvSpPr>
        <p:spPr bwMode="auto">
          <a:xfrm>
            <a:off x="2834503" y="3105966"/>
            <a:ext cx="28245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c</a:t>
            </a:r>
            <a:endParaRPr lang="en-US" altLang="zh-CN" sz="1800"/>
          </a:p>
        </p:txBody>
      </p:sp>
      <p:sp>
        <p:nvSpPr>
          <p:cNvPr id="12" name="Text Box 38"/>
          <p:cNvSpPr txBox="1">
            <a:spLocks noChangeArrowheads="1"/>
          </p:cNvSpPr>
          <p:nvPr/>
        </p:nvSpPr>
        <p:spPr bwMode="auto">
          <a:xfrm>
            <a:off x="3791766" y="3105966"/>
            <a:ext cx="30649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d</a:t>
            </a:r>
            <a:endParaRPr lang="en-US" altLang="zh-CN" sz="1800"/>
          </a:p>
        </p:txBody>
      </p:sp>
      <p:sp>
        <p:nvSpPr>
          <p:cNvPr id="13" name="Text Box 39"/>
          <p:cNvSpPr txBox="1">
            <a:spLocks noChangeArrowheads="1"/>
          </p:cNvSpPr>
          <p:nvPr/>
        </p:nvSpPr>
        <p:spPr bwMode="auto">
          <a:xfrm>
            <a:off x="4882378" y="3105966"/>
            <a:ext cx="30008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e</a:t>
            </a:r>
            <a:endParaRPr lang="en-US" altLang="zh-CN" sz="1800"/>
          </a:p>
        </p:txBody>
      </p:sp>
      <p:sp>
        <p:nvSpPr>
          <p:cNvPr id="14" name="Text Box 40"/>
          <p:cNvSpPr txBox="1">
            <a:spLocks noChangeArrowheads="1"/>
          </p:cNvSpPr>
          <p:nvPr/>
        </p:nvSpPr>
        <p:spPr bwMode="auto">
          <a:xfrm>
            <a:off x="5906316" y="3105966"/>
            <a:ext cx="25519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f</a:t>
            </a:r>
            <a:endParaRPr lang="en-US" altLang="zh-CN" sz="1800"/>
          </a:p>
        </p:txBody>
      </p:sp>
      <p:sp>
        <p:nvSpPr>
          <p:cNvPr id="15" name="AutoShape 41"/>
          <p:cNvSpPr>
            <a:spLocks noChangeArrowheads="1"/>
          </p:cNvSpPr>
          <p:nvPr/>
        </p:nvSpPr>
        <p:spPr bwMode="auto">
          <a:xfrm>
            <a:off x="1687261" y="3928050"/>
            <a:ext cx="649288" cy="360363"/>
          </a:xfrm>
          <a:prstGeom prst="wedgeRectCallout">
            <a:avLst>
              <a:gd name="adj1" fmla="val -19829"/>
              <a:gd name="adj2" fmla="val -139426"/>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rear</a:t>
            </a:r>
            <a:endParaRPr lang="en-US" altLang="zh-CN" sz="1800"/>
          </a:p>
        </p:txBody>
      </p:sp>
      <p:sp>
        <p:nvSpPr>
          <p:cNvPr id="16" name="AutoShape 42"/>
          <p:cNvSpPr>
            <a:spLocks noChangeArrowheads="1"/>
          </p:cNvSpPr>
          <p:nvPr/>
        </p:nvSpPr>
        <p:spPr bwMode="auto">
          <a:xfrm>
            <a:off x="2578578" y="3928050"/>
            <a:ext cx="626696" cy="360363"/>
          </a:xfrm>
          <a:prstGeom prst="wedgeRectCallout">
            <a:avLst>
              <a:gd name="adj1" fmla="val -12713"/>
              <a:gd name="adj2" fmla="val -139866"/>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rear</a:t>
            </a:r>
            <a:endParaRPr lang="en-US" altLang="zh-CN" sz="1800"/>
          </a:p>
        </p:txBody>
      </p:sp>
      <p:sp>
        <p:nvSpPr>
          <p:cNvPr id="17" name="AutoShape 43"/>
          <p:cNvSpPr>
            <a:spLocks noChangeArrowheads="1"/>
          </p:cNvSpPr>
          <p:nvPr/>
        </p:nvSpPr>
        <p:spPr bwMode="auto">
          <a:xfrm>
            <a:off x="3968344" y="3925503"/>
            <a:ext cx="619857" cy="360363"/>
          </a:xfrm>
          <a:prstGeom prst="wedgeRectCallout">
            <a:avLst>
              <a:gd name="adj1" fmla="val -7120"/>
              <a:gd name="adj2" fmla="val -143394"/>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rear</a:t>
            </a:r>
            <a:endParaRPr lang="en-US" altLang="zh-CN" sz="1800"/>
          </a:p>
        </p:txBody>
      </p:sp>
      <p:sp>
        <p:nvSpPr>
          <p:cNvPr id="18" name="AutoShape 44"/>
          <p:cNvSpPr>
            <a:spLocks noChangeArrowheads="1"/>
          </p:cNvSpPr>
          <p:nvPr/>
        </p:nvSpPr>
        <p:spPr bwMode="auto">
          <a:xfrm>
            <a:off x="4708083" y="3928050"/>
            <a:ext cx="604105" cy="360363"/>
          </a:xfrm>
          <a:prstGeom prst="wedgeRectCallout">
            <a:avLst>
              <a:gd name="adj1" fmla="val -23222"/>
              <a:gd name="adj2" fmla="val -151319"/>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rear</a:t>
            </a:r>
            <a:endParaRPr lang="en-US" altLang="zh-CN" sz="1800"/>
          </a:p>
        </p:txBody>
      </p:sp>
      <p:sp>
        <p:nvSpPr>
          <p:cNvPr id="19" name="AutoShape 45"/>
          <p:cNvSpPr>
            <a:spLocks noChangeArrowheads="1"/>
          </p:cNvSpPr>
          <p:nvPr/>
        </p:nvSpPr>
        <p:spPr bwMode="auto">
          <a:xfrm>
            <a:off x="5548300" y="3893829"/>
            <a:ext cx="649287" cy="360363"/>
          </a:xfrm>
          <a:prstGeom prst="wedgeRectCallout">
            <a:avLst>
              <a:gd name="adj1" fmla="val -17625"/>
              <a:gd name="adj2" fmla="val -131500"/>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rear</a:t>
            </a:r>
            <a:endParaRPr lang="en-US" altLang="zh-CN" sz="1800"/>
          </a:p>
        </p:txBody>
      </p:sp>
      <p:sp>
        <p:nvSpPr>
          <p:cNvPr id="20" name="AutoShape 46"/>
          <p:cNvSpPr>
            <a:spLocks noChangeArrowheads="1"/>
          </p:cNvSpPr>
          <p:nvPr/>
        </p:nvSpPr>
        <p:spPr bwMode="auto">
          <a:xfrm>
            <a:off x="6176464" y="3897640"/>
            <a:ext cx="599493" cy="360362"/>
          </a:xfrm>
          <a:prstGeom prst="wedgeRectCallout">
            <a:avLst>
              <a:gd name="adj1" fmla="val 23709"/>
              <a:gd name="adj2" fmla="val -158673"/>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dirty="0"/>
              <a:t>rear</a:t>
            </a:r>
            <a:endParaRPr lang="en-US" altLang="zh-CN" sz="1800" dirty="0"/>
          </a:p>
        </p:txBody>
      </p:sp>
      <p:sp>
        <p:nvSpPr>
          <p:cNvPr id="21" name="AutoShape 47"/>
          <p:cNvSpPr>
            <a:spLocks noChangeArrowheads="1"/>
          </p:cNvSpPr>
          <p:nvPr/>
        </p:nvSpPr>
        <p:spPr bwMode="auto">
          <a:xfrm>
            <a:off x="3224288" y="3928050"/>
            <a:ext cx="720725" cy="360363"/>
          </a:xfrm>
          <a:prstGeom prst="wedgeRectCallout">
            <a:avLst>
              <a:gd name="adj1" fmla="val 55931"/>
              <a:gd name="adj2" fmla="val -143394"/>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dirty="0"/>
              <a:t>front</a:t>
            </a:r>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xit" presetSubtype="0" fill="hold" grpId="0" nodeType="afterEffect">
                                  <p:stCondLst>
                                    <p:cond delay="0"/>
                                  </p:stCondLst>
                                  <p:childTnLst>
                                    <p:animEffect transition="out" filter="dissolv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par>
                          <p:cTn id="13" fill="hold">
                            <p:stCondLst>
                              <p:cond delay="1000"/>
                            </p:stCondLst>
                            <p:childTnLst>
                              <p:par>
                                <p:cTn id="14" presetID="9" presetClass="entr" presetSubtype="0"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dissolv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1+#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9" presetClass="exit" presetSubtype="0" fill="hold" grpId="1" nodeType="afterEffect">
                                  <p:stCondLst>
                                    <p:cond delay="0"/>
                                  </p:stCondLst>
                                  <p:childTnLst>
                                    <p:animEffect transition="out" filter="dissolve">
                                      <p:cBhvr>
                                        <p:cTn id="25" dur="500"/>
                                        <p:tgtEl>
                                          <p:spTgt spid="15"/>
                                        </p:tgtEl>
                                      </p:cBhvr>
                                    </p:animEffect>
                                    <p:set>
                                      <p:cBhvr>
                                        <p:cTn id="26" dur="1" fill="hold">
                                          <p:stCondLst>
                                            <p:cond delay="499"/>
                                          </p:stCondLst>
                                        </p:cTn>
                                        <p:tgtEl>
                                          <p:spTgt spid="15"/>
                                        </p:tgtEl>
                                        <p:attrNameLst>
                                          <p:attrName>style.visibility</p:attrName>
                                        </p:attrNameLst>
                                      </p:cBhvr>
                                      <p:to>
                                        <p:strVal val="hidden"/>
                                      </p:to>
                                    </p:set>
                                  </p:childTnLst>
                                </p:cTn>
                              </p:par>
                            </p:childTnLst>
                          </p:cTn>
                        </p:par>
                        <p:par>
                          <p:cTn id="27" fill="hold">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dissolv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1+#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9" presetClass="exit" presetSubtype="0" fill="hold" grpId="1" nodeType="afterEffect">
                                  <p:stCondLst>
                                    <p:cond delay="0"/>
                                  </p:stCondLst>
                                  <p:childTnLst>
                                    <p:animEffect transition="out" filter="dissolve">
                                      <p:cBhvr>
                                        <p:cTn id="39" dur="500"/>
                                        <p:tgtEl>
                                          <p:spTgt spid="16"/>
                                        </p:tgtEl>
                                      </p:cBhvr>
                                    </p:animEffect>
                                    <p:set>
                                      <p:cBhvr>
                                        <p:cTn id="40" dur="1" fill="hold">
                                          <p:stCondLst>
                                            <p:cond delay="499"/>
                                          </p:stCondLst>
                                        </p:cTn>
                                        <p:tgtEl>
                                          <p:spTgt spid="16"/>
                                        </p:tgtEl>
                                        <p:attrNameLst>
                                          <p:attrName>style.visibility</p:attrName>
                                        </p:attrNameLst>
                                      </p:cBhvr>
                                      <p:to>
                                        <p:strVal val="hidden"/>
                                      </p:to>
                                    </p:set>
                                  </p:childTnLst>
                                </p:cTn>
                              </p:par>
                            </p:childTnLst>
                          </p:cTn>
                        </p:par>
                        <p:par>
                          <p:cTn id="41" fill="hold">
                            <p:stCondLst>
                              <p:cond delay="1000"/>
                            </p:stCondLst>
                            <p:childTnLst>
                              <p:par>
                                <p:cTn id="42" presetID="9"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dissolve">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1+#ppt_w/2"/>
                                          </p:val>
                                        </p:tav>
                                        <p:tav tm="100000">
                                          <p:val>
                                            <p:strVal val="#ppt_x"/>
                                          </p:val>
                                        </p:tav>
                                      </p:tavLst>
                                    </p:anim>
                                    <p:anim calcmode="lin" valueType="num">
                                      <p:cBhvr additive="base">
                                        <p:cTn id="50" dur="500" fill="hold"/>
                                        <p:tgtEl>
                                          <p:spTgt spid="12"/>
                                        </p:tgtEl>
                                        <p:attrNameLst>
                                          <p:attrName>ppt_y</p:attrName>
                                        </p:attrNameLst>
                                      </p:cBhvr>
                                      <p:tavLst>
                                        <p:tav tm="0">
                                          <p:val>
                                            <p:strVal val="#ppt_y"/>
                                          </p:val>
                                        </p:tav>
                                        <p:tav tm="100000">
                                          <p:val>
                                            <p:strVal val="#ppt_y"/>
                                          </p:val>
                                        </p:tav>
                                      </p:tavLst>
                                    </p:anim>
                                  </p:childTnLst>
                                </p:cTn>
                              </p:par>
                            </p:childTnLst>
                          </p:cTn>
                        </p:par>
                        <p:par>
                          <p:cTn id="51" fill="hold">
                            <p:stCondLst>
                              <p:cond delay="500"/>
                            </p:stCondLst>
                            <p:childTnLst>
                              <p:par>
                                <p:cTn id="52" presetID="9" presetClass="exit" presetSubtype="0" fill="hold" grpId="1" nodeType="afterEffect">
                                  <p:stCondLst>
                                    <p:cond delay="0"/>
                                  </p:stCondLst>
                                  <p:childTnLst>
                                    <p:animEffect transition="out" filter="dissolve">
                                      <p:cBhvr>
                                        <p:cTn id="53" dur="500"/>
                                        <p:tgtEl>
                                          <p:spTgt spid="17"/>
                                        </p:tgtEl>
                                      </p:cBhvr>
                                    </p:animEffect>
                                    <p:set>
                                      <p:cBhvr>
                                        <p:cTn id="54" dur="1" fill="hold">
                                          <p:stCondLst>
                                            <p:cond delay="499"/>
                                          </p:stCondLst>
                                        </p:cTn>
                                        <p:tgtEl>
                                          <p:spTgt spid="17"/>
                                        </p:tgtEl>
                                        <p:attrNameLst>
                                          <p:attrName>style.visibility</p:attrName>
                                        </p:attrNameLst>
                                      </p:cBhvr>
                                      <p:to>
                                        <p:strVal val="hidden"/>
                                      </p:to>
                                    </p:set>
                                  </p:childTnLst>
                                </p:cTn>
                              </p:par>
                            </p:childTnLst>
                          </p:cTn>
                        </p:par>
                        <p:par>
                          <p:cTn id="55" fill="hold">
                            <p:stCondLst>
                              <p:cond delay="1000"/>
                            </p:stCondLst>
                            <p:childTnLst>
                              <p:par>
                                <p:cTn id="56" presetID="9"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dissolve">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xit" presetSubtype="0" fill="hold" grpId="1" nodeType="clickEffect">
                                  <p:stCondLst>
                                    <p:cond delay="0"/>
                                  </p:stCondLst>
                                  <p:childTnLst>
                                    <p:animEffect transition="out" filter="dissolve">
                                      <p:cBhvr>
                                        <p:cTn id="62" dur="500"/>
                                        <p:tgtEl>
                                          <p:spTgt spid="9"/>
                                        </p:tgtEl>
                                      </p:cBhvr>
                                    </p:animEffect>
                                    <p:set>
                                      <p:cBhvr>
                                        <p:cTn id="63" dur="1" fill="hold">
                                          <p:stCondLst>
                                            <p:cond delay="499"/>
                                          </p:stCondLst>
                                        </p:cTn>
                                        <p:tgtEl>
                                          <p:spTgt spid="9"/>
                                        </p:tgtEl>
                                        <p:attrNameLst>
                                          <p:attrName>style.visibility</p:attrName>
                                        </p:attrNameLst>
                                      </p:cBhvr>
                                      <p:to>
                                        <p:strVal val="hidden"/>
                                      </p:to>
                                    </p:set>
                                  </p:childTnLst>
                                </p:cTn>
                              </p:par>
                            </p:childTnLst>
                          </p:cTn>
                        </p:par>
                        <p:par>
                          <p:cTn id="64" fill="hold">
                            <p:stCondLst>
                              <p:cond delay="500"/>
                            </p:stCondLst>
                            <p:childTnLst>
                              <p:par>
                                <p:cTn id="65" presetID="9" presetClass="exit" presetSubtype="0" fill="hold" grpId="0" nodeType="afterEffect">
                                  <p:stCondLst>
                                    <p:cond delay="0"/>
                                  </p:stCondLst>
                                  <p:childTnLst>
                                    <p:animEffect transition="out" filter="dissolve">
                                      <p:cBhvr>
                                        <p:cTn id="66" dur="500"/>
                                        <p:tgtEl>
                                          <p:spTgt spid="7"/>
                                        </p:tgtEl>
                                      </p:cBhvr>
                                    </p:animEffect>
                                    <p:set>
                                      <p:cBhvr>
                                        <p:cTn id="67" dur="1" fill="hold">
                                          <p:stCondLst>
                                            <p:cond delay="499"/>
                                          </p:stCondLst>
                                        </p:cTn>
                                        <p:tgtEl>
                                          <p:spTgt spid="7"/>
                                        </p:tgtEl>
                                        <p:attrNameLst>
                                          <p:attrName>style.visibility</p:attrName>
                                        </p:attrNameLst>
                                      </p:cBhvr>
                                      <p:to>
                                        <p:strVal val="hidden"/>
                                      </p:to>
                                    </p:set>
                                  </p:childTnLst>
                                </p:cTn>
                              </p:par>
                            </p:childTnLst>
                          </p:cTn>
                        </p:par>
                        <p:par>
                          <p:cTn id="68" fill="hold">
                            <p:stCondLst>
                              <p:cond delay="1000"/>
                            </p:stCondLst>
                            <p:childTnLst>
                              <p:par>
                                <p:cTn id="69" presetID="9" presetClass="exit" presetSubtype="0" fill="hold" grpId="1" nodeType="afterEffect">
                                  <p:stCondLst>
                                    <p:cond delay="0"/>
                                  </p:stCondLst>
                                  <p:childTnLst>
                                    <p:animEffect transition="out" filter="dissolve">
                                      <p:cBhvr>
                                        <p:cTn id="70" dur="500"/>
                                        <p:tgtEl>
                                          <p:spTgt spid="10"/>
                                        </p:tgtEl>
                                      </p:cBhvr>
                                    </p:animEffect>
                                    <p:set>
                                      <p:cBhvr>
                                        <p:cTn id="71" dur="1" fill="hold">
                                          <p:stCondLst>
                                            <p:cond delay="499"/>
                                          </p:stCondLst>
                                        </p:cTn>
                                        <p:tgtEl>
                                          <p:spTgt spid="10"/>
                                        </p:tgtEl>
                                        <p:attrNameLst>
                                          <p:attrName>style.visibility</p:attrName>
                                        </p:attrNameLst>
                                      </p:cBhvr>
                                      <p:to>
                                        <p:strVal val="hidden"/>
                                      </p:to>
                                    </p:set>
                                  </p:childTnLst>
                                </p:cTn>
                              </p:par>
                            </p:childTnLst>
                          </p:cTn>
                        </p:par>
                        <p:par>
                          <p:cTn id="72" fill="hold">
                            <p:stCondLst>
                              <p:cond delay="1500"/>
                            </p:stCondLst>
                            <p:childTnLst>
                              <p:par>
                                <p:cTn id="73" presetID="9" presetClass="exit" presetSubtype="0" fill="hold" grpId="1" nodeType="afterEffect">
                                  <p:stCondLst>
                                    <p:cond delay="0"/>
                                  </p:stCondLst>
                                  <p:childTnLst>
                                    <p:animEffect transition="out" filter="dissolve">
                                      <p:cBhvr>
                                        <p:cTn id="74" dur="500"/>
                                        <p:tgtEl>
                                          <p:spTgt spid="11"/>
                                        </p:tgtEl>
                                      </p:cBhvr>
                                    </p:animEffect>
                                    <p:set>
                                      <p:cBhvr>
                                        <p:cTn id="75" dur="1" fill="hold">
                                          <p:stCondLst>
                                            <p:cond delay="499"/>
                                          </p:stCondLst>
                                        </p:cTn>
                                        <p:tgtEl>
                                          <p:spTgt spid="11"/>
                                        </p:tgtEl>
                                        <p:attrNameLst>
                                          <p:attrName>style.visibility</p:attrName>
                                        </p:attrNameLst>
                                      </p:cBhvr>
                                      <p:to>
                                        <p:strVal val="hidden"/>
                                      </p:to>
                                    </p:set>
                                  </p:childTnLst>
                                </p:cTn>
                              </p:par>
                            </p:childTnLst>
                          </p:cTn>
                        </p:par>
                        <p:par>
                          <p:cTn id="76" fill="hold">
                            <p:stCondLst>
                              <p:cond delay="2000"/>
                            </p:stCondLst>
                            <p:childTnLst>
                              <p:par>
                                <p:cTn id="77" presetID="9" presetClass="entr" presetSubtype="0"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dissolve">
                                      <p:cBhvr>
                                        <p:cTn id="79" dur="500"/>
                                        <p:tgtEl>
                                          <p:spTgt spid="21"/>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2" fill="hold" grpId="0" nodeType="clickEffect">
                                  <p:stCondLst>
                                    <p:cond delay="0"/>
                                  </p:stCondLst>
                                  <p:childTnLst>
                                    <p:set>
                                      <p:cBhvr>
                                        <p:cTn id="83" dur="1" fill="hold">
                                          <p:stCondLst>
                                            <p:cond delay="0"/>
                                          </p:stCondLst>
                                        </p:cTn>
                                        <p:tgtEl>
                                          <p:spTgt spid="13"/>
                                        </p:tgtEl>
                                        <p:attrNameLst>
                                          <p:attrName>style.visibility</p:attrName>
                                        </p:attrNameLst>
                                      </p:cBhvr>
                                      <p:to>
                                        <p:strVal val="visible"/>
                                      </p:to>
                                    </p:set>
                                    <p:anim calcmode="lin" valueType="num">
                                      <p:cBhvr additive="base">
                                        <p:cTn id="84" dur="500" fill="hold"/>
                                        <p:tgtEl>
                                          <p:spTgt spid="13"/>
                                        </p:tgtEl>
                                        <p:attrNameLst>
                                          <p:attrName>ppt_x</p:attrName>
                                        </p:attrNameLst>
                                      </p:cBhvr>
                                      <p:tavLst>
                                        <p:tav tm="0">
                                          <p:val>
                                            <p:strVal val="1+#ppt_w/2"/>
                                          </p:val>
                                        </p:tav>
                                        <p:tav tm="100000">
                                          <p:val>
                                            <p:strVal val="#ppt_x"/>
                                          </p:val>
                                        </p:tav>
                                      </p:tavLst>
                                    </p:anim>
                                    <p:anim calcmode="lin" valueType="num">
                                      <p:cBhvr additive="base">
                                        <p:cTn id="85" dur="500" fill="hold"/>
                                        <p:tgtEl>
                                          <p:spTgt spid="13"/>
                                        </p:tgtEl>
                                        <p:attrNameLst>
                                          <p:attrName>ppt_y</p:attrName>
                                        </p:attrNameLst>
                                      </p:cBhvr>
                                      <p:tavLst>
                                        <p:tav tm="0">
                                          <p:val>
                                            <p:strVal val="#ppt_y"/>
                                          </p:val>
                                        </p:tav>
                                        <p:tav tm="100000">
                                          <p:val>
                                            <p:strVal val="#ppt_y"/>
                                          </p:val>
                                        </p:tav>
                                      </p:tavLst>
                                    </p:anim>
                                  </p:childTnLst>
                                </p:cTn>
                              </p:par>
                            </p:childTnLst>
                          </p:cTn>
                        </p:par>
                        <p:par>
                          <p:cTn id="86" fill="hold">
                            <p:stCondLst>
                              <p:cond delay="500"/>
                            </p:stCondLst>
                            <p:childTnLst>
                              <p:par>
                                <p:cTn id="87" presetID="9" presetClass="exit" presetSubtype="0" fill="hold" grpId="1" nodeType="afterEffect">
                                  <p:stCondLst>
                                    <p:cond delay="0"/>
                                  </p:stCondLst>
                                  <p:childTnLst>
                                    <p:animEffect transition="out" filter="dissolve">
                                      <p:cBhvr>
                                        <p:cTn id="88" dur="500"/>
                                        <p:tgtEl>
                                          <p:spTgt spid="18"/>
                                        </p:tgtEl>
                                      </p:cBhvr>
                                    </p:animEffect>
                                    <p:set>
                                      <p:cBhvr>
                                        <p:cTn id="89" dur="1" fill="hold">
                                          <p:stCondLst>
                                            <p:cond delay="499"/>
                                          </p:stCondLst>
                                        </p:cTn>
                                        <p:tgtEl>
                                          <p:spTgt spid="18"/>
                                        </p:tgtEl>
                                        <p:attrNameLst>
                                          <p:attrName>style.visibility</p:attrName>
                                        </p:attrNameLst>
                                      </p:cBhvr>
                                      <p:to>
                                        <p:strVal val="hidden"/>
                                      </p:to>
                                    </p:set>
                                  </p:childTnLst>
                                </p:cTn>
                              </p:par>
                            </p:childTnLst>
                          </p:cTn>
                        </p:par>
                        <p:par>
                          <p:cTn id="90" fill="hold">
                            <p:stCondLst>
                              <p:cond delay="1000"/>
                            </p:stCondLst>
                            <p:childTnLst>
                              <p:par>
                                <p:cTn id="91" presetID="9" presetClass="entr" presetSubtype="0" fill="hold" grpId="0" nodeType="after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dissolve">
                                      <p:cBhvr>
                                        <p:cTn id="93" dur="500"/>
                                        <p:tgtEl>
                                          <p:spTgt spid="19"/>
                                        </p:tgtEl>
                                      </p:cBhvr>
                                    </p:animEffect>
                                  </p:childTnLst>
                                </p:cTn>
                              </p:par>
                            </p:childTnLst>
                          </p:cTn>
                        </p:par>
                      </p:childTnLst>
                    </p:cTn>
                  </p:par>
                  <p:par>
                    <p:cTn id="94" fill="hold">
                      <p:stCondLst>
                        <p:cond delay="indefinite"/>
                      </p:stCondLst>
                      <p:childTnLst>
                        <p:par>
                          <p:cTn id="95" fill="hold">
                            <p:stCondLst>
                              <p:cond delay="0"/>
                            </p:stCondLst>
                            <p:childTnLst>
                              <p:par>
                                <p:cTn id="96" presetID="2" presetClass="entr" presetSubtype="2" fill="hold" grpId="0" nodeType="clickEffect">
                                  <p:stCondLst>
                                    <p:cond delay="0"/>
                                  </p:stCondLst>
                                  <p:childTnLst>
                                    <p:set>
                                      <p:cBhvr>
                                        <p:cTn id="97" dur="1" fill="hold">
                                          <p:stCondLst>
                                            <p:cond delay="0"/>
                                          </p:stCondLst>
                                        </p:cTn>
                                        <p:tgtEl>
                                          <p:spTgt spid="14"/>
                                        </p:tgtEl>
                                        <p:attrNameLst>
                                          <p:attrName>style.visibility</p:attrName>
                                        </p:attrNameLst>
                                      </p:cBhvr>
                                      <p:to>
                                        <p:strVal val="visible"/>
                                      </p:to>
                                    </p:set>
                                    <p:anim calcmode="lin" valueType="num">
                                      <p:cBhvr additive="base">
                                        <p:cTn id="98" dur="500" fill="hold"/>
                                        <p:tgtEl>
                                          <p:spTgt spid="14"/>
                                        </p:tgtEl>
                                        <p:attrNameLst>
                                          <p:attrName>ppt_x</p:attrName>
                                        </p:attrNameLst>
                                      </p:cBhvr>
                                      <p:tavLst>
                                        <p:tav tm="0">
                                          <p:val>
                                            <p:strVal val="1+#ppt_w/2"/>
                                          </p:val>
                                        </p:tav>
                                        <p:tav tm="100000">
                                          <p:val>
                                            <p:strVal val="#ppt_x"/>
                                          </p:val>
                                        </p:tav>
                                      </p:tavLst>
                                    </p:anim>
                                    <p:anim calcmode="lin" valueType="num">
                                      <p:cBhvr additive="base">
                                        <p:cTn id="99" dur="500" fill="hold"/>
                                        <p:tgtEl>
                                          <p:spTgt spid="14"/>
                                        </p:tgtEl>
                                        <p:attrNameLst>
                                          <p:attrName>ppt_y</p:attrName>
                                        </p:attrNameLst>
                                      </p:cBhvr>
                                      <p:tavLst>
                                        <p:tav tm="0">
                                          <p:val>
                                            <p:strVal val="#ppt_y"/>
                                          </p:val>
                                        </p:tav>
                                        <p:tav tm="100000">
                                          <p:val>
                                            <p:strVal val="#ppt_y"/>
                                          </p:val>
                                        </p:tav>
                                      </p:tavLst>
                                    </p:anim>
                                  </p:childTnLst>
                                </p:cTn>
                              </p:par>
                            </p:childTnLst>
                          </p:cTn>
                        </p:par>
                        <p:par>
                          <p:cTn id="100" fill="hold">
                            <p:stCondLst>
                              <p:cond delay="500"/>
                            </p:stCondLst>
                            <p:childTnLst>
                              <p:par>
                                <p:cTn id="101" presetID="9" presetClass="exit" presetSubtype="0" fill="hold" grpId="1" nodeType="afterEffect">
                                  <p:stCondLst>
                                    <p:cond delay="0"/>
                                  </p:stCondLst>
                                  <p:childTnLst>
                                    <p:animEffect transition="out" filter="dissolve">
                                      <p:cBhvr>
                                        <p:cTn id="102" dur="500"/>
                                        <p:tgtEl>
                                          <p:spTgt spid="19"/>
                                        </p:tgtEl>
                                      </p:cBhvr>
                                    </p:animEffect>
                                    <p:set>
                                      <p:cBhvr>
                                        <p:cTn id="103" dur="1" fill="hold">
                                          <p:stCondLst>
                                            <p:cond delay="499"/>
                                          </p:stCondLst>
                                        </p:cTn>
                                        <p:tgtEl>
                                          <p:spTgt spid="19"/>
                                        </p:tgtEl>
                                        <p:attrNameLst>
                                          <p:attrName>style.visibility</p:attrName>
                                        </p:attrNameLst>
                                      </p:cBhvr>
                                      <p:to>
                                        <p:strVal val="hidden"/>
                                      </p:to>
                                    </p:set>
                                  </p:childTnLst>
                                </p:cTn>
                              </p:par>
                            </p:childTnLst>
                          </p:cTn>
                        </p:par>
                        <p:par>
                          <p:cTn id="104" fill="hold">
                            <p:stCondLst>
                              <p:cond delay="1000"/>
                            </p:stCondLst>
                            <p:childTnLst>
                              <p:par>
                                <p:cTn id="105" presetID="9" presetClass="entr" presetSubtype="0" fill="hold" grpId="0" nodeType="afterEffect">
                                  <p:stCondLst>
                                    <p:cond delay="0"/>
                                  </p:stCondLst>
                                  <p:childTnLst>
                                    <p:set>
                                      <p:cBhvr>
                                        <p:cTn id="106" dur="1" fill="hold">
                                          <p:stCondLst>
                                            <p:cond delay="0"/>
                                          </p:stCondLst>
                                        </p:cTn>
                                        <p:tgtEl>
                                          <p:spTgt spid="20"/>
                                        </p:tgtEl>
                                        <p:attrNameLst>
                                          <p:attrName>style.visibility</p:attrName>
                                        </p:attrNameLst>
                                      </p:cBhvr>
                                      <p:to>
                                        <p:strVal val="visible"/>
                                      </p:to>
                                    </p:set>
                                    <p:animEffect transition="in" filter="dissolve">
                                      <p:cBhvr>
                                        <p:cTn id="10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9" grpId="1"/>
      <p:bldP spid="10" grpId="0"/>
      <p:bldP spid="10" grpId="1"/>
      <p:bldP spid="11" grpId="0"/>
      <p:bldP spid="11" grpId="1"/>
      <p:bldP spid="12" grpId="0"/>
      <p:bldP spid="13" grpId="0"/>
      <p:bldP spid="14" grpId="0"/>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a:t>
            </a:r>
            <a:r>
              <a:rPr lang="zh-CN" altLang="en-US" dirty="0"/>
              <a:t>循环队列</a:t>
            </a:r>
            <a:endParaRPr lang="en-US" altLang="zh-CN" dirty="0"/>
          </a:p>
          <a:p>
            <a:pPr marL="0" lvl="2"/>
            <a:r>
              <a:rPr lang="zh-CN" altLang="en-US" dirty="0"/>
              <a:t>操作过程</a:t>
            </a:r>
            <a:endParaRPr lang="en-US" altLang="zh-CN" dirty="0"/>
          </a:p>
          <a:p>
            <a:pPr marL="0" lvl="2" algn="l"/>
            <a:r>
              <a:rPr lang="zh-CN" altLang="en-US" dirty="0"/>
              <a:t>（</a:t>
            </a:r>
            <a:r>
              <a:rPr lang="en-US" altLang="zh-CN" dirty="0"/>
              <a:t>1</a:t>
            </a:r>
            <a:r>
              <a:rPr lang="zh-CN" altLang="en-US" dirty="0"/>
              <a:t>）</a:t>
            </a:r>
            <a:r>
              <a:rPr lang="en-US" altLang="zh-CN" dirty="0"/>
              <a:t>a, b, c, d</a:t>
            </a:r>
            <a:r>
              <a:rPr lang="zh-CN" altLang="en-US" dirty="0"/>
              <a:t>依次入队</a:t>
            </a:r>
            <a:endParaRPr lang="en-US" altLang="zh-CN" dirty="0"/>
          </a:p>
          <a:p>
            <a:pPr marL="0" lvl="2" algn="l"/>
            <a:r>
              <a:rPr lang="zh-CN" altLang="en-US" dirty="0"/>
              <a:t>（</a:t>
            </a:r>
            <a:r>
              <a:rPr lang="en-US" altLang="zh-CN" dirty="0"/>
              <a:t>2</a:t>
            </a:r>
            <a:r>
              <a:rPr lang="zh-CN" altLang="en-US" dirty="0"/>
              <a:t>）</a:t>
            </a:r>
            <a:r>
              <a:rPr lang="en-US" altLang="zh-CN" dirty="0"/>
              <a:t>a, b, c</a:t>
            </a:r>
            <a:r>
              <a:rPr lang="zh-CN" altLang="en-US" dirty="0"/>
              <a:t>依次出队</a:t>
            </a:r>
            <a:endParaRPr lang="zh-CN" altLang="en-US" dirty="0"/>
          </a:p>
          <a:p>
            <a:pPr marL="0" lvl="2" algn="l"/>
            <a:r>
              <a:rPr lang="zh-CN" altLang="en-US" dirty="0"/>
              <a:t>（</a:t>
            </a:r>
            <a:r>
              <a:rPr lang="en-US" altLang="zh-CN" dirty="0"/>
              <a:t>3</a:t>
            </a:r>
            <a:r>
              <a:rPr lang="zh-CN" altLang="en-US" dirty="0"/>
              <a:t>）</a:t>
            </a:r>
            <a:r>
              <a:rPr lang="en-US" altLang="zh-CN" dirty="0"/>
              <a:t>e, f</a:t>
            </a:r>
            <a:r>
              <a:rPr lang="zh-CN" altLang="en-US" dirty="0"/>
              <a:t>入队     </a:t>
            </a:r>
            <a:endParaRPr lang="zh-CN" altLang="en-US" dirty="0"/>
          </a:p>
          <a:p>
            <a:pPr marL="0" lvl="2" algn="l"/>
            <a:r>
              <a:rPr lang="zh-CN" altLang="en-US" dirty="0"/>
              <a:t>（</a:t>
            </a:r>
            <a:r>
              <a:rPr lang="en-US" altLang="zh-CN" dirty="0"/>
              <a:t>4</a:t>
            </a:r>
            <a:r>
              <a:rPr lang="zh-CN" altLang="en-US" dirty="0"/>
              <a:t>）</a:t>
            </a:r>
            <a:r>
              <a:rPr lang="en-US" altLang="zh-CN" dirty="0"/>
              <a:t>g</a:t>
            </a:r>
            <a:r>
              <a:rPr lang="zh-CN" altLang="en-US" dirty="0"/>
              <a:t>入队</a:t>
            </a:r>
            <a:endParaRPr lang="en-US" altLang="zh-CN" dirty="0"/>
          </a:p>
          <a:p>
            <a:pPr marL="0" lvl="2" algn="l"/>
            <a:r>
              <a:rPr lang="zh-CN" altLang="en-US" dirty="0"/>
              <a:t>（</a:t>
            </a:r>
            <a:r>
              <a:rPr lang="en-US" altLang="zh-CN" dirty="0"/>
              <a:t>5</a:t>
            </a:r>
            <a:r>
              <a:rPr lang="zh-CN" altLang="en-US" dirty="0"/>
              <a:t>）</a:t>
            </a:r>
            <a:r>
              <a:rPr lang="en-US" altLang="zh-CN" dirty="0"/>
              <a:t>m, n </a:t>
            </a:r>
            <a:r>
              <a:rPr lang="zh-CN" altLang="en-US" dirty="0"/>
              <a:t>入队</a:t>
            </a:r>
            <a:endParaRPr lang="en-US" altLang="zh-CN" dirty="0"/>
          </a:p>
          <a:p>
            <a:pPr marL="0" lvl="2" algn="l"/>
            <a:r>
              <a:rPr lang="zh-CN" altLang="en-US" dirty="0"/>
              <a:t>（</a:t>
            </a:r>
            <a:r>
              <a:rPr lang="en-US" altLang="zh-CN" dirty="0"/>
              <a:t>6</a:t>
            </a:r>
            <a:r>
              <a:rPr lang="zh-CN" altLang="en-US" dirty="0"/>
              <a:t>）</a:t>
            </a:r>
            <a:r>
              <a:rPr lang="en-US" altLang="zh-CN" dirty="0"/>
              <a:t>x </a:t>
            </a:r>
            <a:r>
              <a:rPr lang="zh-CN" altLang="en-US" dirty="0"/>
              <a:t>入队</a:t>
            </a:r>
            <a:endParaRPr lang="zh-CN" altLang="en-US" dirty="0"/>
          </a:p>
          <a:p>
            <a:endParaRPr lang="en-US" altLang="zh-CN" dirty="0"/>
          </a:p>
          <a:p>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grpSp>
        <p:nvGrpSpPr>
          <p:cNvPr id="32" name="组合 31"/>
          <p:cNvGrpSpPr/>
          <p:nvPr/>
        </p:nvGrpSpPr>
        <p:grpSpPr>
          <a:xfrm>
            <a:off x="2792230" y="1169899"/>
            <a:ext cx="3884150" cy="2973015"/>
            <a:chOff x="2243591" y="1006270"/>
            <a:chExt cx="3884150" cy="2973015"/>
          </a:xfrm>
        </p:grpSpPr>
        <p:sp>
          <p:nvSpPr>
            <p:cNvPr id="4" name="AutoShape 4" descr="信纸"/>
            <p:cNvSpPr>
              <a:spLocks noChangeArrowheads="1"/>
            </p:cNvSpPr>
            <p:nvPr/>
          </p:nvSpPr>
          <p:spPr bwMode="auto">
            <a:xfrm>
              <a:off x="2738773" y="1125538"/>
              <a:ext cx="2769132" cy="2637824"/>
            </a:xfrm>
            <a:custGeom>
              <a:avLst/>
              <a:gdLst>
                <a:gd name="G0" fmla="+- 7370 0 0"/>
                <a:gd name="G1" fmla="+- 21600 0 7370"/>
                <a:gd name="G2" fmla="+- 21600 0 737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7370" y="10800"/>
                  </a:moveTo>
                  <a:cubicBezTo>
                    <a:pt x="7370" y="12694"/>
                    <a:pt x="8906" y="14230"/>
                    <a:pt x="10800" y="14230"/>
                  </a:cubicBezTo>
                  <a:cubicBezTo>
                    <a:pt x="12694" y="14230"/>
                    <a:pt x="14230" y="12694"/>
                    <a:pt x="14230" y="10800"/>
                  </a:cubicBezTo>
                  <a:cubicBezTo>
                    <a:pt x="14230" y="8906"/>
                    <a:pt x="12694" y="7370"/>
                    <a:pt x="10800" y="7370"/>
                  </a:cubicBezTo>
                  <a:cubicBezTo>
                    <a:pt x="8906" y="7370"/>
                    <a:pt x="7370" y="8906"/>
                    <a:pt x="7370" y="10800"/>
                  </a:cubicBezTo>
                  <a:close/>
                </a:path>
              </a:pathLst>
            </a:custGeom>
            <a:blipFill dpi="0" rotWithShape="0">
              <a:blip r:embed="rId1"/>
              <a:srcRect/>
              <a:tile tx="0" ty="0" sx="100000" sy="100000" flip="none" algn="tl"/>
            </a:blipFill>
            <a:ln w="9525" algn="ctr">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5" name="Line 5"/>
            <p:cNvSpPr>
              <a:spLocks noChangeShapeType="1"/>
            </p:cNvSpPr>
            <p:nvPr/>
          </p:nvSpPr>
          <p:spPr bwMode="auto">
            <a:xfrm flipH="1">
              <a:off x="4136607" y="1136480"/>
              <a:ext cx="1" cy="927270"/>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6" name="Line 7"/>
            <p:cNvSpPr>
              <a:spLocks noChangeShapeType="1"/>
            </p:cNvSpPr>
            <p:nvPr/>
          </p:nvSpPr>
          <p:spPr bwMode="auto">
            <a:xfrm flipH="1" flipV="1">
              <a:off x="4136606" y="2857500"/>
              <a:ext cx="8691" cy="91680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7" name="Line 8"/>
            <p:cNvSpPr>
              <a:spLocks noChangeShapeType="1"/>
            </p:cNvSpPr>
            <p:nvPr/>
          </p:nvSpPr>
          <p:spPr bwMode="auto">
            <a:xfrm flipH="1">
              <a:off x="3027961" y="2727525"/>
              <a:ext cx="761313" cy="487179"/>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8" name="Line 9"/>
            <p:cNvSpPr>
              <a:spLocks noChangeShapeType="1"/>
            </p:cNvSpPr>
            <p:nvPr/>
          </p:nvSpPr>
          <p:spPr bwMode="auto">
            <a:xfrm flipH="1">
              <a:off x="4535822" y="1847849"/>
              <a:ext cx="788086" cy="482108"/>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9" name="Line 10"/>
            <p:cNvSpPr>
              <a:spLocks noChangeShapeType="1"/>
            </p:cNvSpPr>
            <p:nvPr/>
          </p:nvSpPr>
          <p:spPr bwMode="auto">
            <a:xfrm flipH="1" flipV="1">
              <a:off x="2884027" y="1847849"/>
              <a:ext cx="830526" cy="475849"/>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0" name="Line 11"/>
            <p:cNvSpPr>
              <a:spLocks noChangeShapeType="1"/>
            </p:cNvSpPr>
            <p:nvPr/>
          </p:nvSpPr>
          <p:spPr bwMode="auto">
            <a:xfrm flipH="1" flipV="1">
              <a:off x="4447715" y="2708275"/>
              <a:ext cx="808815" cy="475650"/>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1" name="Rectangle 12"/>
            <p:cNvSpPr>
              <a:spLocks noChangeArrowheads="1"/>
            </p:cNvSpPr>
            <p:nvPr/>
          </p:nvSpPr>
          <p:spPr bwMode="auto">
            <a:xfrm>
              <a:off x="5480041" y="2286785"/>
              <a:ext cx="64770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600" b="1" dirty="0"/>
                <a:t>[ 1 ]</a:t>
              </a:r>
              <a:r>
                <a:rPr lang="en-US" altLang="zh-CN" sz="1600" dirty="0"/>
                <a:t> </a:t>
              </a:r>
              <a:endParaRPr lang="zh-CN" altLang="en-US" sz="1600" dirty="0"/>
            </a:p>
          </p:txBody>
        </p:sp>
        <p:sp>
          <p:nvSpPr>
            <p:cNvPr id="12" name="Rectangle 13"/>
            <p:cNvSpPr>
              <a:spLocks noChangeArrowheads="1"/>
            </p:cNvSpPr>
            <p:nvPr/>
          </p:nvSpPr>
          <p:spPr bwMode="auto">
            <a:xfrm>
              <a:off x="4711138" y="1006270"/>
              <a:ext cx="64770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600" b="1" dirty="0"/>
                <a:t>[ 0 ]</a:t>
              </a:r>
              <a:r>
                <a:rPr lang="en-US" altLang="zh-CN" sz="1600" dirty="0"/>
                <a:t> </a:t>
              </a:r>
              <a:endParaRPr lang="zh-CN" altLang="en-US" sz="1600" dirty="0"/>
            </a:p>
          </p:txBody>
        </p:sp>
        <p:sp>
          <p:nvSpPr>
            <p:cNvPr id="13" name="Rectangle 14"/>
            <p:cNvSpPr>
              <a:spLocks noChangeArrowheads="1"/>
            </p:cNvSpPr>
            <p:nvPr/>
          </p:nvSpPr>
          <p:spPr bwMode="auto">
            <a:xfrm>
              <a:off x="4686850" y="3583284"/>
              <a:ext cx="64770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600" b="1" dirty="0"/>
                <a:t>[ 2 ]</a:t>
              </a:r>
              <a:r>
                <a:rPr lang="en-US" altLang="zh-CN" sz="1600" dirty="0"/>
                <a:t> </a:t>
              </a:r>
              <a:endParaRPr lang="zh-CN" altLang="en-US" sz="1600" dirty="0"/>
            </a:p>
          </p:txBody>
        </p:sp>
        <p:sp>
          <p:nvSpPr>
            <p:cNvPr id="14" name="Rectangle 15"/>
            <p:cNvSpPr>
              <a:spLocks noChangeArrowheads="1"/>
            </p:cNvSpPr>
            <p:nvPr/>
          </p:nvSpPr>
          <p:spPr bwMode="auto">
            <a:xfrm>
              <a:off x="3186488" y="3640731"/>
              <a:ext cx="64770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600" b="1" dirty="0"/>
                <a:t>[ 3 ]</a:t>
              </a:r>
              <a:r>
                <a:rPr lang="en-US" altLang="zh-CN" sz="1600" dirty="0"/>
                <a:t> </a:t>
              </a:r>
              <a:endParaRPr lang="zh-CN" altLang="en-US" sz="1600" dirty="0"/>
            </a:p>
          </p:txBody>
        </p:sp>
        <p:sp>
          <p:nvSpPr>
            <p:cNvPr id="15" name="Rectangle 16"/>
            <p:cNvSpPr>
              <a:spLocks noChangeArrowheads="1"/>
            </p:cNvSpPr>
            <p:nvPr/>
          </p:nvSpPr>
          <p:spPr bwMode="auto">
            <a:xfrm>
              <a:off x="2243591" y="2492193"/>
              <a:ext cx="64770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600" b="1" dirty="0"/>
                <a:t>[ 4 ]</a:t>
              </a:r>
              <a:r>
                <a:rPr lang="en-US" altLang="zh-CN" sz="1600" dirty="0"/>
                <a:t> </a:t>
              </a:r>
              <a:endParaRPr lang="zh-CN" altLang="en-US" sz="1600" dirty="0"/>
            </a:p>
          </p:txBody>
        </p:sp>
        <p:sp>
          <p:nvSpPr>
            <p:cNvPr id="16" name="Rectangle 17"/>
            <p:cNvSpPr>
              <a:spLocks noChangeArrowheads="1"/>
            </p:cNvSpPr>
            <p:nvPr/>
          </p:nvSpPr>
          <p:spPr bwMode="auto">
            <a:xfrm>
              <a:off x="2956260" y="1088232"/>
              <a:ext cx="64770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600" b="1" dirty="0"/>
                <a:t>[ 5 ]</a:t>
              </a:r>
              <a:r>
                <a:rPr lang="en-US" altLang="zh-CN" sz="1600" dirty="0"/>
                <a:t> </a:t>
              </a:r>
              <a:endParaRPr lang="zh-CN" altLang="en-US" sz="1600" dirty="0"/>
            </a:p>
          </p:txBody>
        </p:sp>
      </p:grpSp>
      <p:sp>
        <p:nvSpPr>
          <p:cNvPr id="17" name="AutoShape 18"/>
          <p:cNvSpPr>
            <a:spLocks noChangeArrowheads="1"/>
          </p:cNvSpPr>
          <p:nvPr/>
        </p:nvSpPr>
        <p:spPr bwMode="auto">
          <a:xfrm>
            <a:off x="5432176" y="197756"/>
            <a:ext cx="658228" cy="360363"/>
          </a:xfrm>
          <a:prstGeom prst="wedgeRectCallout">
            <a:avLst>
              <a:gd name="adj1" fmla="val -90847"/>
              <a:gd name="adj2" fmla="val 274227"/>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front</a:t>
            </a:r>
            <a:endParaRPr lang="en-US" altLang="zh-CN" sz="1800"/>
          </a:p>
        </p:txBody>
      </p:sp>
      <p:sp>
        <p:nvSpPr>
          <p:cNvPr id="18" name="AutoShape 19"/>
          <p:cNvSpPr>
            <a:spLocks noChangeArrowheads="1"/>
          </p:cNvSpPr>
          <p:nvPr/>
        </p:nvSpPr>
        <p:spPr bwMode="auto">
          <a:xfrm>
            <a:off x="6090404" y="1340961"/>
            <a:ext cx="608544" cy="360362"/>
          </a:xfrm>
          <a:prstGeom prst="wedgeRectCallout">
            <a:avLst>
              <a:gd name="adj1" fmla="val -104917"/>
              <a:gd name="adj2" fmla="val 78634"/>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rear</a:t>
            </a:r>
            <a:endParaRPr lang="en-US" altLang="zh-CN" sz="1800"/>
          </a:p>
        </p:txBody>
      </p:sp>
      <p:sp>
        <p:nvSpPr>
          <p:cNvPr id="19" name="Text Box 21"/>
          <p:cNvSpPr txBox="1">
            <a:spLocks noChangeArrowheads="1"/>
          </p:cNvSpPr>
          <p:nvPr/>
        </p:nvSpPr>
        <p:spPr bwMode="auto">
          <a:xfrm>
            <a:off x="4905596" y="1677116"/>
            <a:ext cx="465137" cy="579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t>a</a:t>
            </a:r>
            <a:endParaRPr lang="en-US" altLang="zh-CN" sz="3200" b="1"/>
          </a:p>
        </p:txBody>
      </p:sp>
      <p:sp>
        <p:nvSpPr>
          <p:cNvPr id="20" name="Text Box 22"/>
          <p:cNvSpPr txBox="1">
            <a:spLocks noChangeArrowheads="1"/>
          </p:cNvSpPr>
          <p:nvPr/>
        </p:nvSpPr>
        <p:spPr bwMode="auto">
          <a:xfrm>
            <a:off x="5351497" y="2394746"/>
            <a:ext cx="465137" cy="579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t>b</a:t>
            </a:r>
            <a:endParaRPr lang="en-US" altLang="zh-CN" sz="3200" b="1" dirty="0"/>
          </a:p>
        </p:txBody>
      </p:sp>
      <p:sp>
        <p:nvSpPr>
          <p:cNvPr id="21" name="Text Box 23"/>
          <p:cNvSpPr txBox="1">
            <a:spLocks noChangeArrowheads="1"/>
          </p:cNvSpPr>
          <p:nvPr/>
        </p:nvSpPr>
        <p:spPr bwMode="auto">
          <a:xfrm>
            <a:off x="4823864" y="3066499"/>
            <a:ext cx="465138" cy="579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t>c</a:t>
            </a:r>
            <a:endParaRPr lang="en-US" altLang="zh-CN" sz="3200" b="1" dirty="0"/>
          </a:p>
        </p:txBody>
      </p:sp>
      <p:sp>
        <p:nvSpPr>
          <p:cNvPr id="22" name="Text Box 24"/>
          <p:cNvSpPr txBox="1">
            <a:spLocks noChangeArrowheads="1"/>
          </p:cNvSpPr>
          <p:nvPr/>
        </p:nvSpPr>
        <p:spPr bwMode="auto">
          <a:xfrm>
            <a:off x="4058977" y="3057835"/>
            <a:ext cx="465138" cy="579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t>d</a:t>
            </a:r>
            <a:endParaRPr lang="en-US" altLang="zh-CN" sz="3200" b="1" dirty="0"/>
          </a:p>
        </p:txBody>
      </p:sp>
      <p:sp>
        <p:nvSpPr>
          <p:cNvPr id="23" name="Text Box 25"/>
          <p:cNvSpPr txBox="1">
            <a:spLocks noChangeArrowheads="1"/>
          </p:cNvSpPr>
          <p:nvPr/>
        </p:nvSpPr>
        <p:spPr bwMode="auto">
          <a:xfrm>
            <a:off x="3546587" y="2426142"/>
            <a:ext cx="465137" cy="579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t>e</a:t>
            </a:r>
            <a:endParaRPr lang="en-US" altLang="zh-CN" sz="3200" b="1" dirty="0"/>
          </a:p>
        </p:txBody>
      </p:sp>
      <p:sp>
        <p:nvSpPr>
          <p:cNvPr id="24" name="Text Box 26"/>
          <p:cNvSpPr txBox="1">
            <a:spLocks noChangeArrowheads="1"/>
          </p:cNvSpPr>
          <p:nvPr/>
        </p:nvSpPr>
        <p:spPr bwMode="auto">
          <a:xfrm>
            <a:off x="3937904" y="1637061"/>
            <a:ext cx="465138" cy="579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t>f</a:t>
            </a:r>
            <a:endParaRPr lang="en-US" altLang="zh-CN" sz="3200" b="1" dirty="0"/>
          </a:p>
        </p:txBody>
      </p:sp>
      <p:sp>
        <p:nvSpPr>
          <p:cNvPr id="25" name="Text Box 27"/>
          <p:cNvSpPr txBox="1">
            <a:spLocks noChangeArrowheads="1"/>
          </p:cNvSpPr>
          <p:nvPr/>
        </p:nvSpPr>
        <p:spPr bwMode="auto">
          <a:xfrm>
            <a:off x="4932398" y="1629902"/>
            <a:ext cx="465137" cy="579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t>g</a:t>
            </a:r>
            <a:endParaRPr lang="en-US" altLang="zh-CN" sz="3200" b="1" dirty="0"/>
          </a:p>
        </p:txBody>
      </p:sp>
      <p:sp>
        <p:nvSpPr>
          <p:cNvPr id="26" name="AutoShape 28"/>
          <p:cNvSpPr>
            <a:spLocks noChangeArrowheads="1"/>
          </p:cNvSpPr>
          <p:nvPr/>
        </p:nvSpPr>
        <p:spPr bwMode="auto">
          <a:xfrm>
            <a:off x="2381910" y="3459044"/>
            <a:ext cx="572033" cy="360362"/>
          </a:xfrm>
          <a:prstGeom prst="wedgeRectCallout">
            <a:avLst>
              <a:gd name="adj1" fmla="val 129324"/>
              <a:gd name="adj2" fmla="val -122245"/>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dirty="0"/>
              <a:t>rear</a:t>
            </a:r>
            <a:endParaRPr lang="en-US" altLang="zh-CN" sz="1800" dirty="0"/>
          </a:p>
        </p:txBody>
      </p:sp>
      <p:sp>
        <p:nvSpPr>
          <p:cNvPr id="27" name="AutoShape 29"/>
          <p:cNvSpPr>
            <a:spLocks noChangeArrowheads="1"/>
          </p:cNvSpPr>
          <p:nvPr/>
        </p:nvSpPr>
        <p:spPr bwMode="auto">
          <a:xfrm>
            <a:off x="4009713" y="4437464"/>
            <a:ext cx="660069" cy="360362"/>
          </a:xfrm>
          <a:prstGeom prst="wedgeRectCallout">
            <a:avLst>
              <a:gd name="adj1" fmla="val 7458"/>
              <a:gd name="adj2" fmla="val -183921"/>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front</a:t>
            </a:r>
            <a:endParaRPr lang="en-US" altLang="zh-CN" sz="1800"/>
          </a:p>
        </p:txBody>
      </p:sp>
      <p:sp>
        <p:nvSpPr>
          <p:cNvPr id="28" name="AutoShape 33"/>
          <p:cNvSpPr>
            <a:spLocks noChangeArrowheads="1"/>
          </p:cNvSpPr>
          <p:nvPr/>
        </p:nvSpPr>
        <p:spPr bwMode="auto">
          <a:xfrm>
            <a:off x="6186887" y="2011478"/>
            <a:ext cx="566881" cy="360362"/>
          </a:xfrm>
          <a:prstGeom prst="wedgeRectCallout">
            <a:avLst>
              <a:gd name="adj1" fmla="val -74069"/>
              <a:gd name="adj2" fmla="val 79514"/>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rear</a:t>
            </a:r>
            <a:endParaRPr lang="en-US" altLang="zh-CN" sz="1800"/>
          </a:p>
        </p:txBody>
      </p:sp>
      <p:sp>
        <p:nvSpPr>
          <p:cNvPr id="29" name="Text Box 35"/>
          <p:cNvSpPr txBox="1">
            <a:spLocks noChangeArrowheads="1"/>
          </p:cNvSpPr>
          <p:nvPr/>
        </p:nvSpPr>
        <p:spPr bwMode="auto">
          <a:xfrm>
            <a:off x="5286721" y="2377420"/>
            <a:ext cx="465138" cy="579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t>m</a:t>
            </a:r>
            <a:endParaRPr lang="en-US" altLang="zh-CN" sz="3200" b="1"/>
          </a:p>
        </p:txBody>
      </p:sp>
      <p:sp>
        <p:nvSpPr>
          <p:cNvPr id="30" name="Text Box 36"/>
          <p:cNvSpPr txBox="1">
            <a:spLocks noChangeArrowheads="1"/>
          </p:cNvSpPr>
          <p:nvPr/>
        </p:nvSpPr>
        <p:spPr bwMode="auto">
          <a:xfrm>
            <a:off x="4817711" y="3057835"/>
            <a:ext cx="465138" cy="579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t>n</a:t>
            </a:r>
            <a:endParaRPr lang="en-US" altLang="zh-CN" sz="3200" b="1"/>
          </a:p>
        </p:txBody>
      </p:sp>
      <p:sp>
        <p:nvSpPr>
          <p:cNvPr id="31" name="AutoShape 37"/>
          <p:cNvSpPr>
            <a:spLocks noChangeArrowheads="1"/>
          </p:cNvSpPr>
          <p:nvPr/>
        </p:nvSpPr>
        <p:spPr bwMode="auto">
          <a:xfrm>
            <a:off x="2742966" y="4085467"/>
            <a:ext cx="584318" cy="360363"/>
          </a:xfrm>
          <a:prstGeom prst="wedgeRectCallout">
            <a:avLst>
              <a:gd name="adj1" fmla="val 126611"/>
              <a:gd name="adj2" fmla="val -156606"/>
            </a:avLst>
          </a:prstGeom>
          <a:solidFill>
            <a:srgbClr val="FFFFFF"/>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1800"/>
              <a:t>rear</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500"/>
                                        <p:tgtEl>
                                          <p:spTgt spid="19"/>
                                        </p:tgtEl>
                                      </p:cBhvr>
                                    </p:animEffect>
                                  </p:childTnLst>
                                </p:cTn>
                              </p:par>
                            </p:childTnLst>
                          </p:cTn>
                        </p:par>
                        <p:par>
                          <p:cTn id="12" fill="hold">
                            <p:stCondLst>
                              <p:cond delay="500"/>
                            </p:stCondLst>
                            <p:childTnLst>
                              <p:par>
                                <p:cTn id="13" presetID="9" presetClass="exit" presetSubtype="0" fill="hold" grpId="0" nodeType="afterEffect">
                                  <p:stCondLst>
                                    <p:cond delay="0"/>
                                  </p:stCondLst>
                                  <p:childTnLst>
                                    <p:animEffect transition="out" filter="dissolve">
                                      <p:cBhvr>
                                        <p:cTn id="14" dur="500"/>
                                        <p:tgtEl>
                                          <p:spTgt spid="18"/>
                                        </p:tgtEl>
                                      </p:cBhvr>
                                    </p:animEffect>
                                    <p:set>
                                      <p:cBhvr>
                                        <p:cTn id="15" dur="1" fill="hold">
                                          <p:stCondLst>
                                            <p:cond delay="499"/>
                                          </p:stCondLst>
                                        </p:cTn>
                                        <p:tgtEl>
                                          <p:spTgt spid="18"/>
                                        </p:tgtEl>
                                        <p:attrNameLst>
                                          <p:attrName>style.visibility</p:attrName>
                                        </p:attrNameLst>
                                      </p:cBhvr>
                                      <p:to>
                                        <p:strVal val="hidden"/>
                                      </p:to>
                                    </p:set>
                                  </p:childTnLst>
                                </p:cTn>
                              </p:par>
                            </p:childTnLst>
                          </p:cTn>
                        </p:par>
                        <p:par>
                          <p:cTn id="16" fill="hold">
                            <p:stCondLst>
                              <p:cond delay="1000"/>
                            </p:stCondLst>
                            <p:childTnLst>
                              <p:par>
                                <p:cTn id="17" presetID="9" presetClass="entr" presetSubtype="0"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dissolve">
                                      <p:cBhvr>
                                        <p:cTn id="19" dur="500"/>
                                        <p:tgtEl>
                                          <p:spTgt spid="20"/>
                                        </p:tgtEl>
                                      </p:cBhvr>
                                    </p:animEffect>
                                  </p:childTnLst>
                                </p:cTn>
                              </p:par>
                            </p:childTnLst>
                          </p:cTn>
                        </p:par>
                        <p:par>
                          <p:cTn id="20" fill="hold">
                            <p:stCondLst>
                              <p:cond delay="1500"/>
                            </p:stCondLst>
                            <p:childTnLst>
                              <p:par>
                                <p:cTn id="21" presetID="9" presetClass="entr" presetSubtype="0"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dissolve">
                                      <p:cBhvr>
                                        <p:cTn id="23" dur="500"/>
                                        <p:tgtEl>
                                          <p:spTgt spid="21"/>
                                        </p:tgtEl>
                                      </p:cBhvr>
                                    </p:animEffect>
                                  </p:childTnLst>
                                </p:cTn>
                              </p:par>
                            </p:childTnLst>
                          </p:cTn>
                        </p:par>
                        <p:par>
                          <p:cTn id="24" fill="hold">
                            <p:stCondLst>
                              <p:cond delay="2000"/>
                            </p:stCondLst>
                            <p:childTnLst>
                              <p:par>
                                <p:cTn id="25" presetID="9" presetClass="entr" presetSubtype="0"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par>
                          <p:cTn id="28" fill="hold">
                            <p:stCondLst>
                              <p:cond delay="2500"/>
                            </p:stCondLst>
                            <p:childTnLst>
                              <p:par>
                                <p:cTn id="29" presetID="9"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9" presetClass="exit" presetSubtype="0" fill="hold" grpId="1" nodeType="clickEffect">
                                  <p:stCondLst>
                                    <p:cond delay="0"/>
                                  </p:stCondLst>
                                  <p:childTnLst>
                                    <p:animEffect transition="out" filter="dissolve">
                                      <p:cBhvr>
                                        <p:cTn id="39" dur="500"/>
                                        <p:tgtEl>
                                          <p:spTgt spid="19"/>
                                        </p:tgtEl>
                                      </p:cBhvr>
                                    </p:animEffect>
                                    <p:set>
                                      <p:cBhvr>
                                        <p:cTn id="40" dur="1" fill="hold">
                                          <p:stCondLst>
                                            <p:cond delay="499"/>
                                          </p:stCondLst>
                                        </p:cTn>
                                        <p:tgtEl>
                                          <p:spTgt spid="19"/>
                                        </p:tgtEl>
                                        <p:attrNameLst>
                                          <p:attrName>style.visibility</p:attrName>
                                        </p:attrNameLst>
                                      </p:cBhvr>
                                      <p:to>
                                        <p:strVal val="hidden"/>
                                      </p:to>
                                    </p:set>
                                  </p:childTnLst>
                                </p:cTn>
                              </p:par>
                            </p:childTnLst>
                          </p:cTn>
                        </p:par>
                        <p:par>
                          <p:cTn id="41" fill="hold">
                            <p:stCondLst>
                              <p:cond delay="500"/>
                            </p:stCondLst>
                            <p:childTnLst>
                              <p:par>
                                <p:cTn id="42" presetID="9" presetClass="exit" presetSubtype="0" fill="hold" grpId="0" nodeType="afterEffect">
                                  <p:stCondLst>
                                    <p:cond delay="0"/>
                                  </p:stCondLst>
                                  <p:childTnLst>
                                    <p:animEffect transition="out" filter="dissolve">
                                      <p:cBhvr>
                                        <p:cTn id="43" dur="500"/>
                                        <p:tgtEl>
                                          <p:spTgt spid="17"/>
                                        </p:tgtEl>
                                      </p:cBhvr>
                                    </p:animEffect>
                                    <p:set>
                                      <p:cBhvr>
                                        <p:cTn id="44" dur="1" fill="hold">
                                          <p:stCondLst>
                                            <p:cond delay="499"/>
                                          </p:stCondLst>
                                        </p:cTn>
                                        <p:tgtEl>
                                          <p:spTgt spid="17"/>
                                        </p:tgtEl>
                                        <p:attrNameLst>
                                          <p:attrName>style.visibility</p:attrName>
                                        </p:attrNameLst>
                                      </p:cBhvr>
                                      <p:to>
                                        <p:strVal val="hidden"/>
                                      </p:to>
                                    </p:set>
                                  </p:childTnLst>
                                </p:cTn>
                              </p:par>
                            </p:childTnLst>
                          </p:cTn>
                        </p:par>
                        <p:par>
                          <p:cTn id="45" fill="hold">
                            <p:stCondLst>
                              <p:cond delay="1000"/>
                            </p:stCondLst>
                            <p:childTnLst>
                              <p:par>
                                <p:cTn id="46" presetID="9" presetClass="exit" presetSubtype="0" fill="hold" grpId="1" nodeType="afterEffect">
                                  <p:stCondLst>
                                    <p:cond delay="0"/>
                                  </p:stCondLst>
                                  <p:childTnLst>
                                    <p:animEffect transition="out" filter="dissolve">
                                      <p:cBhvr>
                                        <p:cTn id="47" dur="500"/>
                                        <p:tgtEl>
                                          <p:spTgt spid="20"/>
                                        </p:tgtEl>
                                      </p:cBhvr>
                                    </p:animEffect>
                                    <p:set>
                                      <p:cBhvr>
                                        <p:cTn id="48" dur="1" fill="hold">
                                          <p:stCondLst>
                                            <p:cond delay="499"/>
                                          </p:stCondLst>
                                        </p:cTn>
                                        <p:tgtEl>
                                          <p:spTgt spid="20"/>
                                        </p:tgtEl>
                                        <p:attrNameLst>
                                          <p:attrName>style.visibility</p:attrName>
                                        </p:attrNameLst>
                                      </p:cBhvr>
                                      <p:to>
                                        <p:strVal val="hidden"/>
                                      </p:to>
                                    </p:set>
                                  </p:childTnLst>
                                </p:cTn>
                              </p:par>
                            </p:childTnLst>
                          </p:cTn>
                        </p:par>
                        <p:par>
                          <p:cTn id="49" fill="hold">
                            <p:stCondLst>
                              <p:cond delay="1500"/>
                            </p:stCondLst>
                            <p:childTnLst>
                              <p:par>
                                <p:cTn id="50" presetID="9" presetClass="exit" presetSubtype="0" fill="hold" grpId="1" nodeType="afterEffect">
                                  <p:stCondLst>
                                    <p:cond delay="0"/>
                                  </p:stCondLst>
                                  <p:childTnLst>
                                    <p:animEffect transition="out" filter="dissolve">
                                      <p:cBhvr>
                                        <p:cTn id="51" dur="500"/>
                                        <p:tgtEl>
                                          <p:spTgt spid="21"/>
                                        </p:tgtEl>
                                      </p:cBhvr>
                                    </p:animEffect>
                                    <p:set>
                                      <p:cBhvr>
                                        <p:cTn id="52" dur="1" fill="hold">
                                          <p:stCondLst>
                                            <p:cond delay="499"/>
                                          </p:stCondLst>
                                        </p:cTn>
                                        <p:tgtEl>
                                          <p:spTgt spid="21"/>
                                        </p:tgtEl>
                                        <p:attrNameLst>
                                          <p:attrName>style.visibility</p:attrName>
                                        </p:attrNameLst>
                                      </p:cBhvr>
                                      <p:to>
                                        <p:strVal val="hidden"/>
                                      </p:to>
                                    </p:set>
                                  </p:childTnLst>
                                </p:cTn>
                              </p:par>
                            </p:childTnLst>
                          </p:cTn>
                        </p:par>
                        <p:par>
                          <p:cTn id="53" fill="hold">
                            <p:stCondLst>
                              <p:cond delay="2000"/>
                            </p:stCondLst>
                            <p:childTnLst>
                              <p:par>
                                <p:cTn id="54" presetID="9" presetClass="entr" presetSubtype="0"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dissolve">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dissolve">
                                      <p:cBhvr>
                                        <p:cTn id="65" dur="500"/>
                                        <p:tgtEl>
                                          <p:spTgt spid="23"/>
                                        </p:tgtEl>
                                      </p:cBhvr>
                                    </p:animEffect>
                                  </p:childTnLst>
                                </p:cTn>
                              </p:par>
                            </p:childTnLst>
                          </p:cTn>
                        </p:par>
                        <p:par>
                          <p:cTn id="66" fill="hold">
                            <p:stCondLst>
                              <p:cond delay="500"/>
                            </p:stCondLst>
                            <p:childTnLst>
                              <p:par>
                                <p:cTn id="67" presetID="9" presetClass="exit" presetSubtype="0" fill="hold" grpId="1" nodeType="afterEffect">
                                  <p:stCondLst>
                                    <p:cond delay="0"/>
                                  </p:stCondLst>
                                  <p:childTnLst>
                                    <p:animEffect transition="out" filter="dissolve">
                                      <p:cBhvr>
                                        <p:cTn id="68" dur="500"/>
                                        <p:tgtEl>
                                          <p:spTgt spid="26"/>
                                        </p:tgtEl>
                                      </p:cBhvr>
                                    </p:animEffect>
                                    <p:set>
                                      <p:cBhvr>
                                        <p:cTn id="69" dur="1" fill="hold">
                                          <p:stCondLst>
                                            <p:cond delay="499"/>
                                          </p:stCondLst>
                                        </p:cTn>
                                        <p:tgtEl>
                                          <p:spTgt spid="26"/>
                                        </p:tgtEl>
                                        <p:attrNameLst>
                                          <p:attrName>style.visibility</p:attrName>
                                        </p:attrNameLst>
                                      </p:cBhvr>
                                      <p:to>
                                        <p:strVal val="hidden"/>
                                      </p:to>
                                    </p:set>
                                  </p:childTnLst>
                                </p:cTn>
                              </p:par>
                            </p:childTnLst>
                          </p:cTn>
                        </p:par>
                        <p:par>
                          <p:cTn id="70" fill="hold">
                            <p:stCondLst>
                              <p:cond delay="1000"/>
                            </p:stCondLst>
                            <p:childTnLst>
                              <p:par>
                                <p:cTn id="71" presetID="9" presetClass="entr" presetSubtype="0" fill="hold" grpId="0" nodeType="after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dissolve">
                                      <p:cBhvr>
                                        <p:cTn id="73" dur="500"/>
                                        <p:tgtEl>
                                          <p:spTgt spid="24"/>
                                        </p:tgtEl>
                                      </p:cBhvr>
                                    </p:animEffect>
                                  </p:childTnLst>
                                </p:cTn>
                              </p:par>
                            </p:childTnLst>
                          </p:cTn>
                        </p:par>
                        <p:par>
                          <p:cTn id="74" fill="hold">
                            <p:stCondLst>
                              <p:cond delay="1500"/>
                            </p:stCondLst>
                            <p:childTnLst>
                              <p:par>
                                <p:cTn id="75" presetID="9" presetClass="entr" presetSubtype="0" fill="hold" grpId="1" nodeType="after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dissolve">
                                      <p:cBhvr>
                                        <p:cTn id="77" dur="50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dissolve">
                                      <p:cBhvr>
                                        <p:cTn id="86" dur="500"/>
                                        <p:tgtEl>
                                          <p:spTgt spid="25"/>
                                        </p:tgtEl>
                                      </p:cBhvr>
                                    </p:animEffect>
                                  </p:childTnLst>
                                </p:cTn>
                              </p:par>
                            </p:childTnLst>
                          </p:cTn>
                        </p:par>
                        <p:par>
                          <p:cTn id="87" fill="hold">
                            <p:stCondLst>
                              <p:cond delay="500"/>
                            </p:stCondLst>
                            <p:childTnLst>
                              <p:par>
                                <p:cTn id="88" presetID="9" presetClass="exit" presetSubtype="0" fill="hold" grpId="2" nodeType="afterEffect">
                                  <p:stCondLst>
                                    <p:cond delay="0"/>
                                  </p:stCondLst>
                                  <p:childTnLst>
                                    <p:animEffect transition="out" filter="dissolve">
                                      <p:cBhvr>
                                        <p:cTn id="89" dur="500"/>
                                        <p:tgtEl>
                                          <p:spTgt spid="18"/>
                                        </p:tgtEl>
                                      </p:cBhvr>
                                    </p:animEffect>
                                    <p:set>
                                      <p:cBhvr>
                                        <p:cTn id="90" dur="1" fill="hold">
                                          <p:stCondLst>
                                            <p:cond delay="499"/>
                                          </p:stCondLst>
                                        </p:cTn>
                                        <p:tgtEl>
                                          <p:spTgt spid="18"/>
                                        </p:tgtEl>
                                        <p:attrNameLst>
                                          <p:attrName>style.visibility</p:attrName>
                                        </p:attrNameLst>
                                      </p:cBhvr>
                                      <p:to>
                                        <p:strVal val="hidden"/>
                                      </p:to>
                                    </p:set>
                                  </p:childTnLst>
                                </p:cTn>
                              </p:par>
                            </p:childTnLst>
                          </p:cTn>
                        </p:par>
                        <p:par>
                          <p:cTn id="91" fill="hold">
                            <p:stCondLst>
                              <p:cond delay="1000"/>
                            </p:stCondLst>
                            <p:childTnLst>
                              <p:par>
                                <p:cTn id="92" presetID="9" presetClass="entr" presetSubtype="0" fill="hold" grpId="0" nodeType="after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dissolve">
                                      <p:cBhvr>
                                        <p:cTn id="94" dur="500"/>
                                        <p:tgtEl>
                                          <p:spTgt spid="28"/>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grpId="0" nodeType="click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dissolve">
                                      <p:cBhvr>
                                        <p:cTn id="103" dur="500"/>
                                        <p:tgtEl>
                                          <p:spTgt spid="29"/>
                                        </p:tgtEl>
                                      </p:cBhvr>
                                    </p:animEffect>
                                  </p:childTnLst>
                                </p:cTn>
                              </p:par>
                            </p:childTnLst>
                          </p:cTn>
                        </p:par>
                        <p:par>
                          <p:cTn id="104" fill="hold">
                            <p:stCondLst>
                              <p:cond delay="500"/>
                            </p:stCondLst>
                            <p:childTnLst>
                              <p:par>
                                <p:cTn id="105" presetID="9" presetClass="exit" presetSubtype="0" fill="hold" grpId="1" nodeType="afterEffect">
                                  <p:stCondLst>
                                    <p:cond delay="0"/>
                                  </p:stCondLst>
                                  <p:childTnLst>
                                    <p:animEffect transition="out" filter="dissolve">
                                      <p:cBhvr>
                                        <p:cTn id="106" dur="500"/>
                                        <p:tgtEl>
                                          <p:spTgt spid="28"/>
                                        </p:tgtEl>
                                      </p:cBhvr>
                                    </p:animEffect>
                                    <p:set>
                                      <p:cBhvr>
                                        <p:cTn id="107" dur="1" fill="hold">
                                          <p:stCondLst>
                                            <p:cond delay="499"/>
                                          </p:stCondLst>
                                        </p:cTn>
                                        <p:tgtEl>
                                          <p:spTgt spid="28"/>
                                        </p:tgtEl>
                                        <p:attrNameLst>
                                          <p:attrName>style.visibility</p:attrName>
                                        </p:attrNameLst>
                                      </p:cBhvr>
                                      <p:to>
                                        <p:strVal val="hidden"/>
                                      </p:to>
                                    </p:set>
                                  </p:childTnLst>
                                </p:cTn>
                              </p:par>
                            </p:childTnLst>
                          </p:cTn>
                        </p:par>
                        <p:par>
                          <p:cTn id="108" fill="hold">
                            <p:stCondLst>
                              <p:cond delay="1000"/>
                            </p:stCondLst>
                            <p:childTnLst>
                              <p:par>
                                <p:cTn id="109" presetID="9" presetClass="entr" presetSubtype="0" fill="hold" grpId="0" nodeType="afterEffect">
                                  <p:stCondLst>
                                    <p:cond delay="0"/>
                                  </p:stCondLst>
                                  <p:childTnLst>
                                    <p:set>
                                      <p:cBhvr>
                                        <p:cTn id="110" dur="1" fill="hold">
                                          <p:stCondLst>
                                            <p:cond delay="0"/>
                                          </p:stCondLst>
                                        </p:cTn>
                                        <p:tgtEl>
                                          <p:spTgt spid="30"/>
                                        </p:tgtEl>
                                        <p:attrNameLst>
                                          <p:attrName>style.visibility</p:attrName>
                                        </p:attrNameLst>
                                      </p:cBhvr>
                                      <p:to>
                                        <p:strVal val="visible"/>
                                      </p:to>
                                    </p:set>
                                    <p:animEffect transition="in" filter="dissolve">
                                      <p:cBhvr>
                                        <p:cTn id="111" dur="500"/>
                                        <p:tgtEl>
                                          <p:spTgt spid="30"/>
                                        </p:tgtEl>
                                      </p:cBhvr>
                                    </p:animEffect>
                                  </p:childTnLst>
                                </p:cTn>
                              </p:par>
                            </p:childTnLst>
                          </p:cTn>
                        </p:par>
                        <p:par>
                          <p:cTn id="112" fill="hold">
                            <p:stCondLst>
                              <p:cond delay="1500"/>
                            </p:stCondLst>
                            <p:childTnLst>
                              <p:par>
                                <p:cTn id="113" presetID="9" presetClass="entr" presetSubtype="0" fill="hold" grpId="0" nodeType="after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dissolve">
                                      <p:cBhvr>
                                        <p:cTn id="115" dur="500"/>
                                        <p:tgtEl>
                                          <p:spTgt spid="31"/>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8" grpId="1" animBg="1"/>
      <p:bldP spid="18" grpId="2" animBg="1"/>
      <p:bldP spid="19" grpId="0"/>
      <p:bldP spid="19" grpId="1"/>
      <p:bldP spid="20" grpId="0"/>
      <p:bldP spid="20" grpId="1"/>
      <p:bldP spid="21" grpId="0"/>
      <p:bldP spid="21" grpId="1"/>
      <p:bldP spid="22" grpId="0"/>
      <p:bldP spid="23" grpId="0"/>
      <p:bldP spid="24" grpId="0"/>
      <p:bldP spid="25" grpId="0"/>
      <p:bldP spid="26" grpId="0" animBg="1"/>
      <p:bldP spid="26" grpId="1" animBg="1"/>
      <p:bldP spid="27" grpId="0" animBg="1"/>
      <p:bldP spid="28" grpId="0" animBg="1"/>
      <p:bldP spid="28" grpId="1" animBg="1"/>
      <p:bldP spid="29" grpId="0"/>
      <p:bldP spid="30" grpId="0"/>
      <p:bldP spid="3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 </a:t>
            </a:r>
            <a:r>
              <a:rPr lang="zh-CN" altLang="en-US" dirty="0"/>
              <a:t>循环队列</a:t>
            </a:r>
            <a:endParaRPr lang="en-US" altLang="zh-CN" dirty="0"/>
          </a:p>
          <a:p>
            <a:pPr lvl="2"/>
            <a:r>
              <a:rPr lang="zh-CN" altLang="en-US" dirty="0"/>
              <a:t>    队列的顺序存储结构通常由一个</a:t>
            </a:r>
            <a:r>
              <a:rPr lang="zh-CN" altLang="en-US" dirty="0">
                <a:solidFill>
                  <a:srgbClr val="FF0000"/>
                </a:solidFill>
              </a:rPr>
              <a:t>一维数组</a:t>
            </a:r>
            <a:r>
              <a:rPr lang="zh-CN" altLang="en-US" dirty="0"/>
              <a:t>和一个记录队头位置的变量</a:t>
            </a:r>
            <a:r>
              <a:rPr lang="en-US" altLang="zh-CN" dirty="0">
                <a:solidFill>
                  <a:srgbClr val="FF0000"/>
                </a:solidFill>
              </a:rPr>
              <a:t>front</a:t>
            </a:r>
            <a:r>
              <a:rPr lang="zh-CN" altLang="en-US" dirty="0"/>
              <a:t>以及一个记录队尾位置的变量</a:t>
            </a:r>
            <a:r>
              <a:rPr lang="en-US" altLang="zh-CN" dirty="0">
                <a:solidFill>
                  <a:srgbClr val="FF0000"/>
                </a:solidFill>
              </a:rPr>
              <a:t>rear</a:t>
            </a:r>
            <a:r>
              <a:rPr lang="zh-CN" altLang="en-US" dirty="0"/>
              <a:t>组成。</a:t>
            </a:r>
            <a:endParaRPr lang="en-US" altLang="zh-CN" dirty="0"/>
          </a:p>
          <a:p>
            <a:pPr lvl="2">
              <a:lnSpc>
                <a:spcPts val="2800"/>
              </a:lnSpc>
            </a:pPr>
            <a:r>
              <a:rPr lang="en-US" altLang="zh-CN" dirty="0"/>
              <a:t>#define MAXQSIZE 100  /*</a:t>
            </a:r>
            <a:r>
              <a:rPr lang="zh-CN" altLang="en-US" dirty="0"/>
              <a:t>队列的最大长度*</a:t>
            </a:r>
            <a:r>
              <a:rPr lang="en-US" altLang="zh-CN" dirty="0"/>
              <a:t>/</a:t>
            </a:r>
            <a:endParaRPr lang="en-US" altLang="zh-CN" dirty="0"/>
          </a:p>
          <a:p>
            <a:pPr lvl="2">
              <a:lnSpc>
                <a:spcPts val="2800"/>
              </a:lnSpc>
            </a:pPr>
            <a:r>
              <a:rPr lang="en-US" altLang="zh-CN" dirty="0" err="1"/>
              <a:t>typedef</a:t>
            </a:r>
            <a:r>
              <a:rPr lang="en-US" altLang="zh-CN" dirty="0"/>
              <a:t> </a:t>
            </a:r>
            <a:r>
              <a:rPr lang="en-US" altLang="zh-CN" dirty="0" err="1"/>
              <a:t>struct</a:t>
            </a:r>
            <a:r>
              <a:rPr lang="en-US" altLang="zh-CN" dirty="0"/>
              <a:t> {</a:t>
            </a:r>
            <a:endParaRPr lang="en-US" altLang="zh-CN" dirty="0"/>
          </a:p>
          <a:p>
            <a:pPr lvl="2">
              <a:lnSpc>
                <a:spcPts val="2800"/>
              </a:lnSpc>
            </a:pPr>
            <a:r>
              <a:rPr lang="en-US" altLang="zh-CN" dirty="0"/>
              <a:t>    </a:t>
            </a:r>
            <a:r>
              <a:rPr lang="en-US" altLang="zh-CN" dirty="0" err="1"/>
              <a:t>QElemType</a:t>
            </a:r>
            <a:r>
              <a:rPr lang="en-US" altLang="zh-CN" dirty="0"/>
              <a:t> *base;   /* </a:t>
            </a:r>
            <a:r>
              <a:rPr lang="zh-CN" altLang="en-US" dirty="0"/>
              <a:t>队列的元素空间*</a:t>
            </a:r>
            <a:r>
              <a:rPr lang="en-US" altLang="zh-CN" dirty="0"/>
              <a:t>/</a:t>
            </a:r>
            <a:endParaRPr lang="en-US" altLang="zh-CN" dirty="0"/>
          </a:p>
          <a:p>
            <a:pPr lvl="2">
              <a:lnSpc>
                <a:spcPts val="2800"/>
              </a:lnSpc>
            </a:pPr>
            <a:r>
              <a:rPr lang="en-US" altLang="zh-CN" dirty="0"/>
              <a:t>    </a:t>
            </a:r>
            <a:r>
              <a:rPr lang="en-US" altLang="zh-CN" dirty="0" err="1"/>
              <a:t>int</a:t>
            </a:r>
            <a:r>
              <a:rPr lang="en-US" altLang="zh-CN" dirty="0"/>
              <a:t>  front;                  /*</a:t>
            </a:r>
            <a:r>
              <a:rPr lang="zh-CN" altLang="en-US" dirty="0"/>
              <a:t>头指针指示器*</a:t>
            </a:r>
            <a:endParaRPr lang="zh-CN" altLang="en-US" dirty="0"/>
          </a:p>
          <a:p>
            <a:pPr lvl="2">
              <a:lnSpc>
                <a:spcPts val="2800"/>
              </a:lnSpc>
            </a:pPr>
            <a:r>
              <a:rPr lang="zh-CN" altLang="en-US" dirty="0"/>
              <a:t>    </a:t>
            </a:r>
            <a:r>
              <a:rPr lang="en-US" altLang="zh-CN" dirty="0" err="1"/>
              <a:t>int</a:t>
            </a:r>
            <a:r>
              <a:rPr lang="en-US" altLang="zh-CN" dirty="0"/>
              <a:t>  rear; 		/*</a:t>
            </a:r>
            <a:r>
              <a:rPr lang="zh-CN" altLang="en-US" dirty="0"/>
              <a:t>尾指针指示器*</a:t>
            </a:r>
            <a:r>
              <a:rPr lang="en-US" altLang="zh-CN" dirty="0"/>
              <a:t>/</a:t>
            </a:r>
            <a:endParaRPr lang="en-US" altLang="zh-CN" dirty="0"/>
          </a:p>
          <a:p>
            <a:pPr lvl="2">
              <a:lnSpc>
                <a:spcPts val="2800"/>
              </a:lnSpc>
            </a:pPr>
            <a:r>
              <a:rPr lang="en-US" altLang="zh-CN" dirty="0"/>
              <a:t>}</a:t>
            </a:r>
            <a:r>
              <a:rPr lang="en-US" altLang="zh-CN" dirty="0" err="1"/>
              <a:t>SqQueue</a:t>
            </a:r>
            <a:r>
              <a:rPr lang="en-US" altLang="zh-CN" dirty="0"/>
              <a:t>;      </a:t>
            </a:r>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 </a:t>
            </a:r>
            <a:r>
              <a:rPr lang="zh-CN" altLang="en-US" dirty="0"/>
              <a:t>循环队列</a:t>
            </a:r>
            <a:endParaRPr lang="en-US" altLang="zh-CN" dirty="0"/>
          </a:p>
          <a:p>
            <a:r>
              <a:rPr lang="zh-CN" altLang="en-US" dirty="0">
                <a:solidFill>
                  <a:srgbClr val="FF0000"/>
                </a:solidFill>
              </a:rPr>
              <a:t>思考</a:t>
            </a:r>
            <a:r>
              <a:rPr lang="en-US" altLang="zh-CN" dirty="0">
                <a:solidFill>
                  <a:srgbClr val="FF0000"/>
                </a:solidFill>
              </a:rPr>
              <a:t>: </a:t>
            </a:r>
            <a:endParaRPr lang="en-US" altLang="zh-CN" dirty="0">
              <a:solidFill>
                <a:srgbClr val="FF0000"/>
              </a:solidFill>
            </a:endParaRPr>
          </a:p>
          <a:p>
            <a:r>
              <a:rPr lang="zh-CN" altLang="en-US" dirty="0">
                <a:solidFill>
                  <a:srgbClr val="FF0000"/>
                </a:solidFill>
              </a:rPr>
              <a:t>（</a:t>
            </a:r>
            <a:r>
              <a:rPr lang="en-US" altLang="zh-CN" dirty="0">
                <a:solidFill>
                  <a:srgbClr val="FF0000"/>
                </a:solidFill>
              </a:rPr>
              <a:t>1</a:t>
            </a:r>
            <a:r>
              <a:rPr lang="zh-CN" altLang="en-US" dirty="0">
                <a:solidFill>
                  <a:srgbClr val="FF0000"/>
                </a:solidFill>
              </a:rPr>
              <a:t>）这种方案：队列空和满的判别条件是什么？ </a:t>
            </a:r>
            <a:endParaRPr lang="zh-CN" altLang="en-US" dirty="0">
              <a:solidFill>
                <a:srgbClr val="FF0000"/>
              </a:solidFill>
            </a:endParaRPr>
          </a:p>
          <a:p>
            <a:r>
              <a:rPr lang="zh-CN" altLang="en-US" dirty="0">
                <a:solidFill>
                  <a:srgbClr val="FF0000"/>
                </a:solidFill>
              </a:rPr>
              <a:t>（</a:t>
            </a:r>
            <a:r>
              <a:rPr lang="en-US" altLang="zh-CN" dirty="0">
                <a:solidFill>
                  <a:srgbClr val="FF0000"/>
                </a:solidFill>
              </a:rPr>
              <a:t>2</a:t>
            </a:r>
            <a:r>
              <a:rPr lang="zh-CN" altLang="en-US" dirty="0">
                <a:solidFill>
                  <a:srgbClr val="FF0000"/>
                </a:solidFill>
              </a:rPr>
              <a:t>）为什么会出现空、满无法区分？根本原因？</a:t>
            </a:r>
            <a:endParaRPr lang="en-US" altLang="zh-CN" dirty="0">
              <a:solidFill>
                <a:srgbClr val="FF0000"/>
              </a:solidFill>
            </a:endParaRPr>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lvl="2" eaLnBrk="0" fontAlgn="base" hangingPunct="0">
              <a:lnSpc>
                <a:spcPts val="3000"/>
              </a:lnSpc>
              <a:spcBef>
                <a:spcPts val="600"/>
              </a:spcBef>
              <a:spcAft>
                <a:spcPct val="0"/>
              </a:spcAft>
              <a:buClrTx/>
              <a:buSzTx/>
            </a:pPr>
            <a:r>
              <a:rPr lang="zh-CN" altLang="en-US" sz="2300" dirty="0">
                <a:solidFill>
                  <a:srgbClr val="800000"/>
                </a:solidFill>
                <a:latin typeface="Times New Roman" panose="02020603050405020304" pitchFamily="18" charset="0"/>
                <a:ea typeface="黑体" panose="02010609060101010101" pitchFamily="49" charset="-122"/>
              </a:rPr>
              <a:t>如何区分队列“空”和“满”</a:t>
            </a:r>
            <a:endParaRPr lang="zh-CN" altLang="en-US" sz="2300" dirty="0">
              <a:solidFill>
                <a:srgbClr val="800000"/>
              </a:solidFill>
              <a:latin typeface="Times New Roman" panose="02020603050405020304" pitchFamily="18" charset="0"/>
              <a:ea typeface="黑体" panose="02010609060101010101" pitchFamily="49" charset="-122"/>
            </a:endParaRPr>
          </a:p>
          <a:p>
            <a:pPr marL="478155" lvl="2" indent="-342900">
              <a:buFont typeface="Wingdings" panose="05000000000000000000" pitchFamily="2" charset="2"/>
              <a:buChar char="Ø"/>
            </a:pPr>
            <a:r>
              <a:rPr lang="zh-CN" altLang="en-US" dirty="0"/>
              <a:t>另设一个</a:t>
            </a:r>
            <a:r>
              <a:rPr lang="zh-CN" altLang="en-US" dirty="0">
                <a:solidFill>
                  <a:srgbClr val="FF0000"/>
                </a:solidFill>
              </a:rPr>
              <a:t>标志位</a:t>
            </a:r>
            <a:r>
              <a:rPr lang="zh-CN" altLang="en-US" dirty="0"/>
              <a:t>以区分队列是空还是满；</a:t>
            </a:r>
            <a:endParaRPr lang="zh-CN" altLang="en-US" dirty="0"/>
          </a:p>
          <a:p>
            <a:pPr marL="478155" lvl="2" indent="-342900">
              <a:buFont typeface="Wingdings" panose="05000000000000000000" pitchFamily="2" charset="2"/>
              <a:buChar char="Ø"/>
            </a:pPr>
            <a:r>
              <a:rPr lang="zh-CN" altLang="en-US" dirty="0">
                <a:solidFill>
                  <a:srgbClr val="FF0000"/>
                </a:solidFill>
              </a:rPr>
              <a:t>少用一个元素空间</a:t>
            </a:r>
            <a:r>
              <a:rPr lang="zh-CN" altLang="en-US" dirty="0"/>
              <a:t>，当队列头指针在队列尾指针的下一个位置上时为“满”。</a:t>
            </a:r>
            <a:endParaRPr lang="zh-CN" altLang="en-US" dirty="0"/>
          </a:p>
          <a:p>
            <a:pPr lvl="2"/>
            <a:r>
              <a:rPr lang="zh-CN" altLang="en-US" dirty="0"/>
              <a:t>       当</a:t>
            </a:r>
            <a:r>
              <a:rPr lang="en-US" altLang="zh-CN" dirty="0" err="1"/>
              <a:t>Q.front</a:t>
            </a:r>
            <a:r>
              <a:rPr lang="en-US" altLang="zh-CN" dirty="0"/>
              <a:t> = </a:t>
            </a:r>
            <a:r>
              <a:rPr lang="en-US" altLang="zh-CN" dirty="0" err="1"/>
              <a:t>Q.rear</a:t>
            </a:r>
            <a:r>
              <a:rPr lang="zh-CN" altLang="en-US" dirty="0"/>
              <a:t>时队空；</a:t>
            </a:r>
            <a:endParaRPr lang="en-US" altLang="zh-CN" dirty="0"/>
          </a:p>
          <a:p>
            <a:pPr lvl="2"/>
            <a:r>
              <a:rPr lang="en-US" altLang="zh-CN" dirty="0"/>
              <a:t>        Q. rear+1 = Q. front</a:t>
            </a:r>
            <a:r>
              <a:rPr lang="zh-CN" altLang="en-US" dirty="0"/>
              <a:t>时队满</a:t>
            </a:r>
            <a:r>
              <a:rPr lang="en-US" altLang="zh-CN" dirty="0"/>
              <a:t>;</a:t>
            </a:r>
            <a:endParaRPr lang="zh-CN" altLang="en-US" dirty="0"/>
          </a:p>
          <a:p>
            <a:pPr lvl="2"/>
            <a:r>
              <a:rPr lang="zh-CN" altLang="en-US" dirty="0"/>
              <a:t>   循环队列满足条件</a:t>
            </a:r>
            <a:endParaRPr lang="en-US" altLang="zh-CN" dirty="0"/>
          </a:p>
          <a:p>
            <a:pPr lvl="2"/>
            <a:r>
              <a:rPr lang="en-US" altLang="zh-CN" dirty="0"/>
              <a:t>      </a:t>
            </a:r>
            <a:r>
              <a:rPr lang="zh-CN" altLang="en-US" dirty="0"/>
              <a:t> </a:t>
            </a:r>
            <a:r>
              <a:rPr lang="en-US" altLang="zh-CN" dirty="0">
                <a:solidFill>
                  <a:srgbClr val="FF0000"/>
                </a:solidFill>
              </a:rPr>
              <a:t>(Q.rear+1)%MAXQSIZE= = </a:t>
            </a:r>
            <a:r>
              <a:rPr lang="en-US" altLang="zh-CN" dirty="0" err="1">
                <a:solidFill>
                  <a:srgbClr val="FF0000"/>
                </a:solidFill>
              </a:rPr>
              <a:t>Q.front</a:t>
            </a:r>
            <a:r>
              <a:rPr lang="en-US" altLang="zh-CN" dirty="0">
                <a:solidFill>
                  <a:srgbClr val="FF0000"/>
                </a:solidFill>
              </a:rPr>
              <a:t>  </a:t>
            </a:r>
            <a:r>
              <a:rPr lang="zh-CN" altLang="en-US" dirty="0"/>
              <a:t>队满 </a:t>
            </a:r>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a:t>
            </a:r>
            <a:r>
              <a:rPr lang="en-US" altLang="zh-CN" dirty="0"/>
              <a:t>1</a:t>
            </a:r>
            <a:r>
              <a:rPr lang="zh-CN" altLang="en-US" dirty="0"/>
              <a:t>） 初始化操作 </a:t>
            </a:r>
            <a:endParaRPr lang="zh-CN" altLang="en-US" dirty="0"/>
          </a:p>
          <a:p>
            <a:pPr lvl="2"/>
            <a:r>
              <a:rPr lang="en-US" altLang="zh-CN" dirty="0"/>
              <a:t>Status </a:t>
            </a:r>
            <a:r>
              <a:rPr lang="en-US" altLang="zh-CN" dirty="0" err="1"/>
              <a:t>InitQueue</a:t>
            </a:r>
            <a:r>
              <a:rPr lang="en-US" altLang="zh-CN" dirty="0"/>
              <a:t> (</a:t>
            </a:r>
            <a:r>
              <a:rPr lang="en-US" altLang="zh-CN" dirty="0" err="1"/>
              <a:t>SqQueue</a:t>
            </a:r>
            <a:r>
              <a:rPr lang="en-US" altLang="zh-CN" dirty="0"/>
              <a:t> &amp;Q) {</a:t>
            </a:r>
            <a:endParaRPr lang="en-US" altLang="zh-CN" dirty="0"/>
          </a:p>
          <a:p>
            <a:pPr lvl="2"/>
            <a:r>
              <a:rPr lang="en-US" altLang="zh-CN" dirty="0"/>
              <a:t>   </a:t>
            </a:r>
            <a:r>
              <a:rPr lang="en-US" altLang="zh-CN" dirty="0" err="1"/>
              <a:t>Q.base</a:t>
            </a:r>
            <a:r>
              <a:rPr lang="en-US" altLang="zh-CN" dirty="0"/>
              <a:t> = (</a:t>
            </a:r>
            <a:r>
              <a:rPr lang="en-US" altLang="zh-CN" dirty="0" err="1"/>
              <a:t>QElemType</a:t>
            </a:r>
            <a:r>
              <a:rPr lang="en-US" altLang="zh-CN" dirty="0"/>
              <a:t> * )</a:t>
            </a:r>
            <a:r>
              <a:rPr lang="en-US" altLang="zh-CN" dirty="0" err="1"/>
              <a:t>malloc</a:t>
            </a:r>
            <a:r>
              <a:rPr lang="en-US" altLang="zh-CN" dirty="0"/>
              <a:t>(MAXQSIZE * </a:t>
            </a:r>
            <a:r>
              <a:rPr lang="en-US" altLang="zh-CN" dirty="0" err="1"/>
              <a:t>sizeof</a:t>
            </a:r>
            <a:r>
              <a:rPr lang="en-US" altLang="zh-CN" dirty="0"/>
              <a:t> (</a:t>
            </a:r>
            <a:r>
              <a:rPr lang="en-US" altLang="zh-CN" dirty="0" err="1"/>
              <a:t>QElemType</a:t>
            </a:r>
            <a:r>
              <a:rPr lang="en-US" altLang="zh-CN" dirty="0"/>
              <a:t>));</a:t>
            </a:r>
            <a:endParaRPr lang="en-US" altLang="zh-CN" dirty="0"/>
          </a:p>
          <a:p>
            <a:pPr lvl="2"/>
            <a:r>
              <a:rPr lang="en-US" altLang="zh-CN" dirty="0"/>
              <a:t>   if ( ! Q. base) exit (OVERFLOW);  </a:t>
            </a:r>
            <a:endParaRPr lang="en-US" altLang="zh-CN" dirty="0"/>
          </a:p>
          <a:p>
            <a:pPr lvl="2"/>
            <a:r>
              <a:rPr lang="en-US" altLang="zh-CN" dirty="0">
                <a:solidFill>
                  <a:srgbClr val="FF0000"/>
                </a:solidFill>
              </a:rPr>
              <a:t>   Q. front = Q. rear = 0;</a:t>
            </a:r>
            <a:endParaRPr lang="en-US" altLang="zh-CN" dirty="0">
              <a:solidFill>
                <a:srgbClr val="FF0000"/>
              </a:solidFill>
            </a:endParaRPr>
          </a:p>
          <a:p>
            <a:pPr lvl="2"/>
            <a:r>
              <a:rPr lang="en-US" altLang="zh-CN" dirty="0"/>
              <a:t>   return OK;</a:t>
            </a:r>
            <a:endParaRPr lang="en-US" altLang="zh-CN" dirty="0"/>
          </a:p>
          <a:p>
            <a:pPr lvl="2"/>
            <a:r>
              <a:rPr lang="en-US" altLang="zh-CN" dirty="0"/>
              <a:t>}</a:t>
            </a:r>
            <a:endParaRPr lang="en-US" altLang="zh-CN"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lvl="2" eaLnBrk="0" fontAlgn="base" hangingPunct="0">
              <a:lnSpc>
                <a:spcPts val="3000"/>
              </a:lnSpc>
              <a:spcBef>
                <a:spcPts val="600"/>
              </a:spcBef>
              <a:spcAft>
                <a:spcPct val="0"/>
              </a:spcAft>
              <a:buClrTx/>
              <a:buSzTx/>
            </a:pPr>
            <a:r>
              <a:rPr lang="zh-CN" altLang="en-US" sz="2300" dirty="0">
                <a:solidFill>
                  <a:srgbClr val="800000"/>
                </a:solidFill>
                <a:latin typeface="Times New Roman" panose="02020603050405020304" pitchFamily="18" charset="0"/>
                <a:ea typeface="黑体" panose="02010609060101010101" pitchFamily="49" charset="-122"/>
              </a:rPr>
              <a:t>（</a:t>
            </a:r>
            <a:r>
              <a:rPr lang="en-US" altLang="zh-CN" sz="2300" dirty="0">
                <a:solidFill>
                  <a:srgbClr val="800000"/>
                </a:solidFill>
                <a:latin typeface="Times New Roman" panose="02020603050405020304" pitchFamily="18" charset="0"/>
                <a:ea typeface="黑体" panose="02010609060101010101" pitchFamily="49" charset="-122"/>
              </a:rPr>
              <a:t>2</a:t>
            </a:r>
            <a:r>
              <a:rPr lang="zh-CN" altLang="en-US" sz="2300" dirty="0">
                <a:solidFill>
                  <a:srgbClr val="800000"/>
                </a:solidFill>
                <a:latin typeface="Times New Roman" panose="02020603050405020304" pitchFamily="18" charset="0"/>
                <a:ea typeface="黑体" panose="02010609060101010101" pitchFamily="49" charset="-122"/>
              </a:rPr>
              <a:t>） 入队操作</a:t>
            </a:r>
            <a:endParaRPr lang="zh-CN" altLang="en-US" sz="2300" dirty="0">
              <a:solidFill>
                <a:srgbClr val="800000"/>
              </a:solidFill>
              <a:latin typeface="Times New Roman" panose="02020603050405020304" pitchFamily="18" charset="0"/>
              <a:ea typeface="黑体" panose="02010609060101010101" pitchFamily="49" charset="-122"/>
            </a:endParaRPr>
          </a:p>
          <a:p>
            <a:pPr lvl="2"/>
            <a:r>
              <a:rPr lang="en-US" altLang="zh-CN" dirty="0"/>
              <a:t>Status </a:t>
            </a:r>
            <a:r>
              <a:rPr lang="en-US" altLang="zh-CN" dirty="0" err="1"/>
              <a:t>EnQueue</a:t>
            </a:r>
            <a:r>
              <a:rPr lang="en-US" altLang="zh-CN" dirty="0"/>
              <a:t> (</a:t>
            </a:r>
            <a:r>
              <a:rPr lang="en-US" altLang="zh-CN" dirty="0" err="1"/>
              <a:t>SqQueue</a:t>
            </a:r>
            <a:r>
              <a:rPr lang="en-US" altLang="zh-CN" dirty="0"/>
              <a:t> &amp;Q, </a:t>
            </a:r>
            <a:r>
              <a:rPr lang="en-US" altLang="zh-CN" dirty="0" err="1"/>
              <a:t>QElemType</a:t>
            </a:r>
            <a:r>
              <a:rPr lang="en-US" altLang="zh-CN" dirty="0"/>
              <a:t> e) {</a:t>
            </a:r>
            <a:endParaRPr lang="en-US" altLang="zh-CN" dirty="0"/>
          </a:p>
          <a:p>
            <a:pPr lvl="2"/>
            <a:r>
              <a:rPr lang="en-US" altLang="zh-CN" dirty="0"/>
              <a:t>      if (</a:t>
            </a:r>
            <a:r>
              <a:rPr lang="en-US" altLang="zh-CN" dirty="0">
                <a:solidFill>
                  <a:srgbClr val="FF0000"/>
                </a:solidFill>
              </a:rPr>
              <a:t>(Q. rear+ 1) % MAXQSIZE == Q. front</a:t>
            </a:r>
            <a:r>
              <a:rPr lang="en-US" altLang="zh-CN" dirty="0"/>
              <a:t>)</a:t>
            </a:r>
            <a:endParaRPr lang="en-US" altLang="zh-CN" dirty="0"/>
          </a:p>
          <a:p>
            <a:pPr lvl="2"/>
            <a:r>
              <a:rPr lang="en-US" altLang="zh-CN" dirty="0"/>
              <a:t>               return ERROR; </a:t>
            </a:r>
            <a:endParaRPr lang="en-US" altLang="zh-CN" dirty="0"/>
          </a:p>
          <a:p>
            <a:pPr lvl="2"/>
            <a:r>
              <a:rPr lang="en-US" altLang="zh-CN" dirty="0"/>
              <a:t>      </a:t>
            </a:r>
            <a:r>
              <a:rPr lang="en-US" altLang="zh-CN" dirty="0" err="1"/>
              <a:t>Q.base</a:t>
            </a:r>
            <a:r>
              <a:rPr lang="en-US" altLang="zh-CN" dirty="0"/>
              <a:t>[</a:t>
            </a:r>
            <a:r>
              <a:rPr lang="en-US" altLang="zh-CN" dirty="0" err="1"/>
              <a:t>Q.rear</a:t>
            </a:r>
            <a:r>
              <a:rPr lang="en-US" altLang="zh-CN" dirty="0"/>
              <a:t>] = e;</a:t>
            </a:r>
            <a:endParaRPr lang="en-US" altLang="zh-CN" dirty="0"/>
          </a:p>
          <a:p>
            <a:pPr lvl="2"/>
            <a:r>
              <a:rPr lang="en-US" altLang="zh-CN" dirty="0"/>
              <a:t>      </a:t>
            </a:r>
            <a:r>
              <a:rPr lang="en-US" altLang="zh-CN" dirty="0" err="1">
                <a:solidFill>
                  <a:srgbClr val="FF0000"/>
                </a:solidFill>
              </a:rPr>
              <a:t>Q.rear</a:t>
            </a:r>
            <a:r>
              <a:rPr lang="en-US" altLang="zh-CN" dirty="0">
                <a:solidFill>
                  <a:srgbClr val="FF0000"/>
                </a:solidFill>
              </a:rPr>
              <a:t> = (Q. rear + 1) % MAXQSIZE;</a:t>
            </a:r>
            <a:endParaRPr lang="en-US" altLang="zh-CN" dirty="0">
              <a:solidFill>
                <a:srgbClr val="FF0000"/>
              </a:solidFill>
            </a:endParaRPr>
          </a:p>
          <a:p>
            <a:pPr lvl="2"/>
            <a:r>
              <a:rPr lang="en-US" altLang="zh-CN" dirty="0"/>
              <a:t>      return OK;</a:t>
            </a:r>
            <a:endParaRPr lang="en-US" altLang="zh-CN" dirty="0"/>
          </a:p>
          <a:p>
            <a:pPr lvl="2"/>
            <a:r>
              <a:rPr lang="en-US" altLang="zh-CN" dirty="0"/>
              <a:t>}</a:t>
            </a:r>
            <a:r>
              <a:rPr lang="zh-CN" altLang="en-US" dirty="0"/>
              <a:t> </a:t>
            </a:r>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lvl="2" eaLnBrk="0" fontAlgn="base" hangingPunct="0">
              <a:lnSpc>
                <a:spcPts val="3000"/>
              </a:lnSpc>
              <a:spcBef>
                <a:spcPts val="600"/>
              </a:spcBef>
              <a:spcAft>
                <a:spcPct val="0"/>
              </a:spcAft>
              <a:buClrTx/>
              <a:buSzTx/>
            </a:pPr>
            <a:r>
              <a:rPr lang="zh-CN" altLang="en-US" sz="2300" dirty="0">
                <a:solidFill>
                  <a:srgbClr val="800000"/>
                </a:solidFill>
                <a:latin typeface="Times New Roman" panose="02020603050405020304" pitchFamily="18" charset="0"/>
                <a:ea typeface="黑体" panose="02010609060101010101" pitchFamily="49" charset="-122"/>
              </a:rPr>
              <a:t>（</a:t>
            </a:r>
            <a:r>
              <a:rPr lang="en-US" altLang="zh-CN" sz="2300" dirty="0">
                <a:solidFill>
                  <a:srgbClr val="800000"/>
                </a:solidFill>
                <a:latin typeface="Times New Roman" panose="02020603050405020304" pitchFamily="18" charset="0"/>
                <a:ea typeface="黑体" panose="02010609060101010101" pitchFamily="49" charset="-122"/>
              </a:rPr>
              <a:t>3</a:t>
            </a:r>
            <a:r>
              <a:rPr lang="zh-CN" altLang="en-US" sz="2300" dirty="0">
                <a:solidFill>
                  <a:srgbClr val="800000"/>
                </a:solidFill>
                <a:latin typeface="Times New Roman" panose="02020603050405020304" pitchFamily="18" charset="0"/>
                <a:ea typeface="黑体" panose="02010609060101010101" pitchFamily="49" charset="-122"/>
              </a:rPr>
              <a:t>） 出队操作 </a:t>
            </a:r>
            <a:endParaRPr lang="zh-CN" altLang="en-US" sz="2300" dirty="0">
              <a:solidFill>
                <a:srgbClr val="800000"/>
              </a:solidFill>
              <a:latin typeface="Times New Roman" panose="02020603050405020304" pitchFamily="18" charset="0"/>
              <a:ea typeface="黑体" panose="02010609060101010101" pitchFamily="49" charset="-122"/>
            </a:endParaRPr>
          </a:p>
          <a:p>
            <a:pPr lvl="2"/>
            <a:r>
              <a:rPr lang="zh-CN" altLang="en-US" dirty="0"/>
              <a:t> </a:t>
            </a:r>
            <a:r>
              <a:rPr lang="en-US" altLang="zh-CN" dirty="0"/>
              <a:t>Status </a:t>
            </a:r>
            <a:r>
              <a:rPr lang="en-US" altLang="zh-CN" dirty="0" err="1"/>
              <a:t>DeQueue</a:t>
            </a:r>
            <a:r>
              <a:rPr lang="en-US" altLang="zh-CN" dirty="0"/>
              <a:t> (</a:t>
            </a:r>
            <a:r>
              <a:rPr lang="en-US" altLang="zh-CN" dirty="0" err="1"/>
              <a:t>SqQueue</a:t>
            </a:r>
            <a:r>
              <a:rPr lang="en-US" altLang="zh-CN" dirty="0"/>
              <a:t> &amp;Q, </a:t>
            </a:r>
            <a:r>
              <a:rPr lang="en-US" altLang="zh-CN" dirty="0" err="1"/>
              <a:t>QElemType</a:t>
            </a:r>
            <a:r>
              <a:rPr lang="en-US" altLang="zh-CN" dirty="0"/>
              <a:t> &amp;e) {</a:t>
            </a:r>
            <a:endParaRPr lang="en-US" altLang="zh-CN" dirty="0"/>
          </a:p>
          <a:p>
            <a:pPr lvl="2"/>
            <a:r>
              <a:rPr lang="en-US" altLang="zh-CN" dirty="0"/>
              <a:t>     if (</a:t>
            </a:r>
            <a:r>
              <a:rPr lang="en-US" altLang="zh-CN" dirty="0">
                <a:solidFill>
                  <a:srgbClr val="FF0000"/>
                </a:solidFill>
              </a:rPr>
              <a:t>Q. front = = Q. rear</a:t>
            </a:r>
            <a:r>
              <a:rPr lang="en-US" altLang="zh-CN" dirty="0"/>
              <a:t>)  return ERROR;</a:t>
            </a:r>
            <a:endParaRPr lang="en-US" altLang="zh-CN" dirty="0"/>
          </a:p>
          <a:p>
            <a:pPr lvl="2"/>
            <a:r>
              <a:rPr lang="en-US" altLang="zh-CN" dirty="0"/>
              <a:t>     e = Q. base[Q. front];</a:t>
            </a:r>
            <a:endParaRPr lang="en-US" altLang="zh-CN" dirty="0"/>
          </a:p>
          <a:p>
            <a:pPr lvl="2"/>
            <a:r>
              <a:rPr lang="en-US" altLang="zh-CN" dirty="0"/>
              <a:t>     </a:t>
            </a:r>
            <a:r>
              <a:rPr lang="en-US" altLang="zh-CN" dirty="0">
                <a:solidFill>
                  <a:srgbClr val="FF0000"/>
                </a:solidFill>
              </a:rPr>
              <a:t>Q. front = (Q. front + 1) % MAXQSIZE;</a:t>
            </a:r>
            <a:endParaRPr lang="en-US" altLang="zh-CN" dirty="0">
              <a:solidFill>
                <a:srgbClr val="FF0000"/>
              </a:solidFill>
            </a:endParaRPr>
          </a:p>
          <a:p>
            <a:pPr lvl="2"/>
            <a:r>
              <a:rPr lang="en-US" altLang="zh-CN" dirty="0"/>
              <a:t>     return OK;</a:t>
            </a:r>
            <a:endParaRPr lang="en-US" altLang="zh-CN" dirty="0"/>
          </a:p>
          <a:p>
            <a:pPr lvl="2"/>
            <a:r>
              <a:rPr lang="en-US" altLang="zh-CN" dirty="0"/>
              <a:t>}</a:t>
            </a:r>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a:t>
            </a:r>
            <a:r>
              <a:rPr lang="en-US" altLang="zh-CN" dirty="0"/>
              <a:t>4</a:t>
            </a:r>
            <a:r>
              <a:rPr lang="zh-CN" altLang="en-US" dirty="0"/>
              <a:t>） 求队列长度</a:t>
            </a:r>
            <a:endParaRPr lang="en-US" altLang="zh-CN" dirty="0"/>
          </a:p>
          <a:p>
            <a:pPr lvl="2"/>
            <a:r>
              <a:rPr lang="en-US" altLang="zh-CN" sz="1800" dirty="0" err="1"/>
              <a:t>int</a:t>
            </a:r>
            <a:r>
              <a:rPr lang="en-US" altLang="zh-CN" sz="1800" dirty="0"/>
              <a:t> </a:t>
            </a:r>
            <a:r>
              <a:rPr lang="en-US" altLang="zh-CN" sz="1800" dirty="0" err="1"/>
              <a:t>QueueLength</a:t>
            </a:r>
            <a:r>
              <a:rPr lang="en-US" altLang="zh-CN" sz="1800" dirty="0"/>
              <a:t> (</a:t>
            </a:r>
            <a:r>
              <a:rPr lang="en-US" altLang="zh-CN" sz="1800" dirty="0" err="1"/>
              <a:t>SqQueue</a:t>
            </a:r>
            <a:r>
              <a:rPr lang="en-US" altLang="zh-CN" sz="1800" dirty="0"/>
              <a:t> Q)</a:t>
            </a:r>
            <a:endParaRPr lang="en-US" altLang="zh-CN" sz="1800" dirty="0"/>
          </a:p>
          <a:p>
            <a:pPr lvl="2"/>
            <a:r>
              <a:rPr lang="en-US" altLang="zh-CN" sz="1800" dirty="0"/>
              <a:t>{</a:t>
            </a:r>
            <a:endParaRPr lang="en-US" altLang="zh-CN" sz="1800" dirty="0"/>
          </a:p>
          <a:p>
            <a:pPr lvl="2"/>
            <a:r>
              <a:rPr lang="en-US" altLang="zh-CN" sz="1800" dirty="0"/>
              <a:t>     return </a:t>
            </a:r>
            <a:r>
              <a:rPr lang="en-US" altLang="zh-CN" sz="1800" dirty="0">
                <a:solidFill>
                  <a:srgbClr val="FF0000"/>
                </a:solidFill>
              </a:rPr>
              <a:t>(Q. rear - Q. front + MAXQSIZE) % MAXQSIZE</a:t>
            </a:r>
            <a:r>
              <a:rPr lang="en-US" altLang="zh-CN" sz="1800" dirty="0"/>
              <a:t>;</a:t>
            </a:r>
            <a:endParaRPr lang="en-US" altLang="zh-CN" sz="1800" dirty="0"/>
          </a:p>
          <a:p>
            <a:pPr lvl="2"/>
            <a:r>
              <a:rPr lang="en-US" altLang="zh-CN" sz="1800" dirty="0"/>
              <a:t>}</a:t>
            </a:r>
            <a:endParaRPr lang="zh-CN" altLang="en-US" sz="1800"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2. </a:t>
            </a:r>
            <a:r>
              <a:rPr lang="zh-CN" altLang="en-US" dirty="0"/>
              <a:t>链队列：用单链表实现。插入和删除操作分别在链表的两头进行。</a:t>
            </a:r>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sp>
        <p:nvSpPr>
          <p:cNvPr id="4" name="文本占位符 4"/>
          <p:cNvSpPr txBox="1"/>
          <p:nvPr/>
        </p:nvSpPr>
        <p:spPr>
          <a:xfrm>
            <a:off x="2245655" y="3348413"/>
            <a:ext cx="1036428" cy="3008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5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rPr>
              <a:t>队尾指针</a:t>
            </a:r>
            <a:endParaRPr lang="zh-CN" altLang="en-US" sz="15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endParaRPr>
          </a:p>
        </p:txBody>
      </p:sp>
      <p:graphicFrame>
        <p:nvGraphicFramePr>
          <p:cNvPr id="5" name="对象 4"/>
          <p:cNvGraphicFramePr>
            <a:graphicFrameLocks noChangeAspect="1"/>
          </p:cNvGraphicFramePr>
          <p:nvPr/>
        </p:nvGraphicFramePr>
        <p:xfrm>
          <a:off x="1929970" y="1994484"/>
          <a:ext cx="2894012" cy="1170508"/>
        </p:xfrm>
        <a:graphic>
          <a:graphicData uri="http://schemas.openxmlformats.org/presentationml/2006/ole">
            <mc:AlternateContent xmlns:mc="http://schemas.openxmlformats.org/markup-compatibility/2006">
              <mc:Choice xmlns:v="urn:schemas-microsoft-com:vml" Requires="v">
                <p:oleObj spid="_x0000_s23574" name="Visio" r:id="rId1" imgW="5676900" imgH="2311400" progId="Visio.Drawing.11">
                  <p:embed/>
                </p:oleObj>
              </mc:Choice>
              <mc:Fallback>
                <p:oleObj name="Visio" r:id="rId1" imgW="5676900" imgH="2311400" progId="Visio.Drawing.11">
                  <p:embed/>
                  <p:pic>
                    <p:nvPicPr>
                      <p:cNvPr id="0" name="对象 4"/>
                      <p:cNvPicPr>
                        <a:picLocks noChangeAspect="1" noChangeArrowheads="1"/>
                      </p:cNvPicPr>
                      <p:nvPr/>
                    </p:nvPicPr>
                    <p:blipFill>
                      <a:blip r:embed="rId2"/>
                      <a:srcRect/>
                      <a:stretch>
                        <a:fillRect/>
                      </a:stretch>
                    </p:blipFill>
                    <p:spPr bwMode="auto">
                      <a:xfrm>
                        <a:off x="1929970" y="1994484"/>
                        <a:ext cx="2894012" cy="1170508"/>
                      </a:xfrm>
                      <a:prstGeom prst="rect">
                        <a:avLst/>
                      </a:prstGeom>
                      <a:noFill/>
                    </p:spPr>
                  </p:pic>
                </p:oleObj>
              </mc:Fallback>
            </mc:AlternateContent>
          </a:graphicData>
        </a:graphic>
      </p:graphicFrame>
      <p:graphicFrame>
        <p:nvGraphicFramePr>
          <p:cNvPr id="6" name="对象 5"/>
          <p:cNvGraphicFramePr>
            <a:graphicFrameLocks noChangeAspect="1"/>
          </p:cNvGraphicFramePr>
          <p:nvPr/>
        </p:nvGraphicFramePr>
        <p:xfrm>
          <a:off x="3308155" y="3057244"/>
          <a:ext cx="442913" cy="621506"/>
        </p:xfrm>
        <a:graphic>
          <a:graphicData uri="http://schemas.openxmlformats.org/presentationml/2006/ole">
            <mc:AlternateContent xmlns:mc="http://schemas.openxmlformats.org/markup-compatibility/2006">
              <mc:Choice xmlns:v="urn:schemas-microsoft-com:vml" Requires="v">
                <p:oleObj spid="_x0000_s23575" name="Visio" r:id="rId3" imgW="800100" imgH="1117600" progId="Visio.Drawing.11">
                  <p:embed/>
                </p:oleObj>
              </mc:Choice>
              <mc:Fallback>
                <p:oleObj name="Visio" r:id="rId3" imgW="800100" imgH="1117600" progId="Visio.Drawing.11">
                  <p:embed/>
                  <p:pic>
                    <p:nvPicPr>
                      <p:cNvPr id="0" name="对象 5"/>
                      <p:cNvPicPr>
                        <a:picLocks noChangeAspect="1" noChangeArrowheads="1"/>
                      </p:cNvPicPr>
                      <p:nvPr/>
                    </p:nvPicPr>
                    <p:blipFill>
                      <a:blip r:embed="rId4"/>
                      <a:srcRect/>
                      <a:stretch>
                        <a:fillRect/>
                      </a:stretch>
                    </p:blipFill>
                    <p:spPr bwMode="auto">
                      <a:xfrm>
                        <a:off x="3308155" y="3057244"/>
                        <a:ext cx="442913" cy="6215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2084655" y="1530625"/>
          <a:ext cx="442913" cy="607219"/>
        </p:xfrm>
        <a:graphic>
          <a:graphicData uri="http://schemas.openxmlformats.org/presentationml/2006/ole">
            <mc:AlternateContent xmlns:mc="http://schemas.openxmlformats.org/markup-compatibility/2006">
              <mc:Choice xmlns:v="urn:schemas-microsoft-com:vml" Requires="v">
                <p:oleObj spid="_x0000_s23576" name="Visio" r:id="rId5" imgW="800100" imgH="1092200" progId="Visio.Drawing.11">
                  <p:embed/>
                </p:oleObj>
              </mc:Choice>
              <mc:Fallback>
                <p:oleObj name="Visio" r:id="rId5" imgW="800100" imgH="1092200" progId="Visio.Drawing.11">
                  <p:embed/>
                  <p:pic>
                    <p:nvPicPr>
                      <p:cNvPr id="0" name="对象 6"/>
                      <p:cNvPicPr>
                        <a:picLocks noChangeAspect="1" noChangeArrowheads="1"/>
                      </p:cNvPicPr>
                      <p:nvPr/>
                    </p:nvPicPr>
                    <p:blipFill>
                      <a:blip r:embed="rId6"/>
                      <a:srcRect/>
                      <a:stretch>
                        <a:fillRect/>
                      </a:stretch>
                    </p:blipFill>
                    <p:spPr bwMode="auto">
                      <a:xfrm>
                        <a:off x="2084655" y="1530625"/>
                        <a:ext cx="442913" cy="6072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文本占位符 4"/>
          <p:cNvSpPr txBox="1"/>
          <p:nvPr/>
        </p:nvSpPr>
        <p:spPr>
          <a:xfrm>
            <a:off x="2540714" y="1568127"/>
            <a:ext cx="1036428" cy="3008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5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rPr>
              <a:t>队头指针</a:t>
            </a:r>
            <a:endParaRPr lang="zh-CN" altLang="en-US" sz="15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endParaRPr>
          </a:p>
        </p:txBody>
      </p:sp>
      <p:graphicFrame>
        <p:nvGraphicFramePr>
          <p:cNvPr id="9" name="对象 8"/>
          <p:cNvGraphicFramePr>
            <a:graphicFrameLocks noChangeAspect="1"/>
          </p:cNvGraphicFramePr>
          <p:nvPr/>
        </p:nvGraphicFramePr>
        <p:xfrm>
          <a:off x="1929971" y="3771275"/>
          <a:ext cx="2179429" cy="420949"/>
        </p:xfrm>
        <a:graphic>
          <a:graphicData uri="http://schemas.openxmlformats.org/presentationml/2006/ole">
            <mc:AlternateContent xmlns:mc="http://schemas.openxmlformats.org/markup-compatibility/2006">
              <mc:Choice xmlns:v="urn:schemas-microsoft-com:vml" Requires="v">
                <p:oleObj spid="_x0000_s23577" name="Visio" r:id="rId7" imgW="4089400" imgH="800100" progId="Visio.Drawing.11">
                  <p:embed/>
                </p:oleObj>
              </mc:Choice>
              <mc:Fallback>
                <p:oleObj name="Visio" r:id="rId7" imgW="4089400" imgH="800100" progId="Visio.Drawing.11">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9971" y="3771275"/>
                        <a:ext cx="2179429" cy="420949"/>
                      </a:xfrm>
                      <a:prstGeom prst="rect">
                        <a:avLst/>
                      </a:prstGeom>
                      <a:noFill/>
                      <a:ln>
                        <a:noFill/>
                      </a:ln>
                    </p:spPr>
                  </p:pic>
                </p:oleObj>
              </mc:Fallback>
            </mc:AlternateContent>
          </a:graphicData>
        </a:graphic>
      </p:graphicFrame>
      <p:sp>
        <p:nvSpPr>
          <p:cNvPr id="10" name="文本占位符 4"/>
          <p:cNvSpPr txBox="1"/>
          <p:nvPr/>
        </p:nvSpPr>
        <p:spPr>
          <a:xfrm>
            <a:off x="4221413" y="3825552"/>
            <a:ext cx="1036428" cy="3008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5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rPr>
              <a:t>空队列</a:t>
            </a:r>
            <a:endParaRPr lang="zh-CN" altLang="en-US" sz="15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2. </a:t>
            </a:r>
            <a:r>
              <a:rPr lang="zh-CN" altLang="en-US" dirty="0"/>
              <a:t>链队列</a:t>
            </a:r>
            <a:endParaRPr lang="en-US" altLang="zh-CN" dirty="0"/>
          </a:p>
          <a:p>
            <a:pPr lvl="2"/>
            <a:r>
              <a:rPr lang="en-US" altLang="zh-CN" dirty="0" err="1"/>
              <a:t>typedef</a:t>
            </a:r>
            <a:r>
              <a:rPr lang="en-US" altLang="zh-CN" dirty="0"/>
              <a:t> </a:t>
            </a:r>
            <a:r>
              <a:rPr lang="en-US" altLang="zh-CN" dirty="0" err="1"/>
              <a:t>struct</a:t>
            </a:r>
            <a:r>
              <a:rPr lang="en-US" altLang="zh-CN" dirty="0"/>
              <a:t> </a:t>
            </a:r>
            <a:r>
              <a:rPr lang="en-US" altLang="zh-CN" dirty="0" err="1"/>
              <a:t>QNode</a:t>
            </a:r>
            <a:r>
              <a:rPr lang="en-US" altLang="zh-CN" dirty="0"/>
              <a:t>{</a:t>
            </a:r>
            <a:endParaRPr lang="en-US" altLang="zh-CN" dirty="0"/>
          </a:p>
          <a:p>
            <a:pPr lvl="2"/>
            <a:r>
              <a:rPr lang="en-US" altLang="zh-CN" dirty="0"/>
              <a:t>        </a:t>
            </a:r>
            <a:r>
              <a:rPr lang="en-US" altLang="zh-CN" dirty="0" err="1"/>
              <a:t>QElemType</a:t>
            </a:r>
            <a:r>
              <a:rPr lang="en-US" altLang="zh-CN" dirty="0"/>
              <a:t>  data;</a:t>
            </a:r>
            <a:endParaRPr lang="en-US" altLang="zh-CN" dirty="0"/>
          </a:p>
          <a:p>
            <a:pPr lvl="2"/>
            <a:r>
              <a:rPr lang="en-US" altLang="zh-CN" dirty="0"/>
              <a:t>        </a:t>
            </a:r>
            <a:r>
              <a:rPr lang="en-US" altLang="zh-CN" dirty="0" err="1"/>
              <a:t>struct</a:t>
            </a:r>
            <a:r>
              <a:rPr lang="en-US" altLang="zh-CN" dirty="0"/>
              <a:t> </a:t>
            </a:r>
            <a:r>
              <a:rPr lang="en-US" altLang="zh-CN" dirty="0" err="1"/>
              <a:t>QNode</a:t>
            </a:r>
            <a:r>
              <a:rPr lang="en-US" altLang="zh-CN" dirty="0"/>
              <a:t> *next;</a:t>
            </a:r>
            <a:endParaRPr lang="en-US" altLang="zh-CN" dirty="0"/>
          </a:p>
          <a:p>
            <a:pPr lvl="2"/>
            <a:r>
              <a:rPr lang="en-US" altLang="zh-CN" dirty="0"/>
              <a:t>}</a:t>
            </a:r>
            <a:r>
              <a:rPr lang="en-US" altLang="zh-CN" dirty="0" err="1"/>
              <a:t>QNode</a:t>
            </a:r>
            <a:r>
              <a:rPr lang="en-US" altLang="zh-CN" dirty="0"/>
              <a:t>, </a:t>
            </a:r>
            <a:r>
              <a:rPr lang="en-US" altLang="zh-CN" dirty="0">
                <a:solidFill>
                  <a:srgbClr val="FF0000"/>
                </a:solidFill>
              </a:rPr>
              <a:t>*</a:t>
            </a:r>
            <a:r>
              <a:rPr lang="en-US" altLang="zh-CN" dirty="0" err="1">
                <a:solidFill>
                  <a:srgbClr val="FF0000"/>
                </a:solidFill>
              </a:rPr>
              <a:t>QueuePtr</a:t>
            </a:r>
            <a:r>
              <a:rPr lang="en-US" altLang="zh-CN" dirty="0">
                <a:solidFill>
                  <a:srgbClr val="FF0000"/>
                </a:solidFill>
              </a:rPr>
              <a:t>;</a:t>
            </a:r>
            <a:endParaRPr lang="en-US" altLang="zh-CN" dirty="0">
              <a:solidFill>
                <a:srgbClr val="FF0000"/>
              </a:solidFill>
            </a:endParaRPr>
          </a:p>
          <a:p>
            <a:pPr lvl="2"/>
            <a:r>
              <a:rPr lang="en-US" altLang="zh-CN" dirty="0" err="1"/>
              <a:t>typedef</a:t>
            </a:r>
            <a:r>
              <a:rPr lang="en-US" altLang="zh-CN" dirty="0"/>
              <a:t> </a:t>
            </a:r>
            <a:r>
              <a:rPr lang="en-US" altLang="zh-CN" dirty="0" err="1"/>
              <a:t>struct</a:t>
            </a:r>
            <a:r>
              <a:rPr lang="en-US" altLang="zh-CN" dirty="0"/>
              <a:t>{</a:t>
            </a:r>
            <a:endParaRPr lang="en-US" altLang="zh-CN" dirty="0"/>
          </a:p>
          <a:p>
            <a:pPr lvl="2"/>
            <a:r>
              <a:rPr lang="en-US" altLang="zh-CN" dirty="0"/>
              <a:t>        </a:t>
            </a:r>
            <a:r>
              <a:rPr lang="en-US" altLang="zh-CN" dirty="0" err="1"/>
              <a:t>QueuePtr</a:t>
            </a:r>
            <a:r>
              <a:rPr lang="en-US" altLang="zh-CN" dirty="0"/>
              <a:t>  front;</a:t>
            </a:r>
            <a:endParaRPr lang="en-US" altLang="zh-CN" dirty="0"/>
          </a:p>
          <a:p>
            <a:pPr lvl="2"/>
            <a:r>
              <a:rPr lang="en-US" altLang="zh-CN" dirty="0"/>
              <a:t>        </a:t>
            </a:r>
            <a:r>
              <a:rPr lang="en-US" altLang="zh-CN" dirty="0" err="1"/>
              <a:t>QueuePtr</a:t>
            </a:r>
            <a:r>
              <a:rPr lang="en-US" altLang="zh-CN" dirty="0"/>
              <a:t>  rear;</a:t>
            </a:r>
            <a:endParaRPr lang="en-US" altLang="zh-CN" dirty="0"/>
          </a:p>
          <a:p>
            <a:pPr lvl="2"/>
            <a:r>
              <a:rPr lang="en-US" altLang="zh-CN" dirty="0"/>
              <a:t>}</a:t>
            </a:r>
            <a:r>
              <a:rPr lang="en-US" altLang="zh-CN" dirty="0" err="1"/>
              <a:t>LinkQueue</a:t>
            </a:r>
            <a:r>
              <a:rPr lang="en-US" altLang="zh-CN" dirty="0"/>
              <a:t>;</a:t>
            </a:r>
            <a:endParaRPr lang="en-US" altLang="zh-CN" dirty="0"/>
          </a:p>
          <a:p>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grpSp>
        <p:nvGrpSpPr>
          <p:cNvPr id="11" name="组合 10"/>
          <p:cNvGrpSpPr/>
          <p:nvPr/>
        </p:nvGrpSpPr>
        <p:grpSpPr>
          <a:xfrm>
            <a:off x="3653169" y="420517"/>
            <a:ext cx="2894012" cy="2148125"/>
            <a:chOff x="3162281" y="1358410"/>
            <a:chExt cx="2894012" cy="2148125"/>
          </a:xfrm>
        </p:grpSpPr>
        <p:sp>
          <p:nvSpPr>
            <p:cNvPr id="12" name="文本占位符 4"/>
            <p:cNvSpPr txBox="1"/>
            <p:nvPr/>
          </p:nvSpPr>
          <p:spPr>
            <a:xfrm>
              <a:off x="3477966" y="3183879"/>
              <a:ext cx="1036428" cy="3008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队尾指针</a:t>
              </a:r>
              <a:endPar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p:txBody>
        </p:sp>
        <p:graphicFrame>
          <p:nvGraphicFramePr>
            <p:cNvPr id="13" name="对象 12"/>
            <p:cNvGraphicFramePr>
              <a:graphicFrameLocks noChangeAspect="1"/>
            </p:cNvGraphicFramePr>
            <p:nvPr/>
          </p:nvGraphicFramePr>
          <p:xfrm>
            <a:off x="3162281" y="1822269"/>
            <a:ext cx="2894012" cy="1170508"/>
          </p:xfrm>
          <a:graphic>
            <a:graphicData uri="http://schemas.openxmlformats.org/presentationml/2006/ole">
              <mc:AlternateContent xmlns:mc="http://schemas.openxmlformats.org/markup-compatibility/2006">
                <mc:Choice xmlns:v="urn:schemas-microsoft-com:vml" Requires="v">
                  <p:oleObj spid="_x0000_s24593" name="Visio" r:id="rId1" imgW="5676900" imgH="2311400" progId="Visio.Drawing.11">
                    <p:embed/>
                  </p:oleObj>
                </mc:Choice>
                <mc:Fallback>
                  <p:oleObj name="Visio" r:id="rId1" imgW="5676900" imgH="2311400" progId="Visio.Drawing.11">
                    <p:embed/>
                    <p:pic>
                      <p:nvPicPr>
                        <p:cNvPr id="0" name="对象 12"/>
                        <p:cNvPicPr>
                          <a:picLocks noChangeAspect="1" noChangeArrowheads="1"/>
                        </p:cNvPicPr>
                        <p:nvPr/>
                      </p:nvPicPr>
                      <p:blipFill>
                        <a:blip r:embed="rId2"/>
                        <a:srcRect/>
                        <a:stretch>
                          <a:fillRect/>
                        </a:stretch>
                      </p:blipFill>
                      <p:spPr bwMode="auto">
                        <a:xfrm>
                          <a:off x="3162281" y="1822269"/>
                          <a:ext cx="2894012" cy="1170508"/>
                        </a:xfrm>
                        <a:prstGeom prst="rect">
                          <a:avLst/>
                        </a:prstGeom>
                        <a:noFill/>
                      </p:spPr>
                    </p:pic>
                  </p:oleObj>
                </mc:Fallback>
              </mc:AlternateContent>
            </a:graphicData>
          </a:graphic>
        </p:graphicFrame>
        <p:graphicFrame>
          <p:nvGraphicFramePr>
            <p:cNvPr id="14" name="对象 13"/>
            <p:cNvGraphicFramePr>
              <a:graphicFrameLocks noChangeAspect="1"/>
            </p:cNvGraphicFramePr>
            <p:nvPr/>
          </p:nvGraphicFramePr>
          <p:xfrm>
            <a:off x="4540466" y="2885029"/>
            <a:ext cx="442913" cy="621506"/>
          </p:xfrm>
          <a:graphic>
            <a:graphicData uri="http://schemas.openxmlformats.org/presentationml/2006/ole">
              <mc:AlternateContent xmlns:mc="http://schemas.openxmlformats.org/markup-compatibility/2006">
                <mc:Choice xmlns:v="urn:schemas-microsoft-com:vml" Requires="v">
                  <p:oleObj spid="_x0000_s24594" name="Visio" r:id="rId3" imgW="800100" imgH="1117600" progId="Visio.Drawing.11">
                    <p:embed/>
                  </p:oleObj>
                </mc:Choice>
                <mc:Fallback>
                  <p:oleObj name="Visio" r:id="rId3" imgW="800100" imgH="1117600" progId="Visio.Drawing.11">
                    <p:embed/>
                    <p:pic>
                      <p:nvPicPr>
                        <p:cNvPr id="0" name="对象 13"/>
                        <p:cNvPicPr>
                          <a:picLocks noChangeAspect="1" noChangeArrowheads="1"/>
                        </p:cNvPicPr>
                        <p:nvPr/>
                      </p:nvPicPr>
                      <p:blipFill>
                        <a:blip r:embed="rId4"/>
                        <a:srcRect/>
                        <a:stretch>
                          <a:fillRect/>
                        </a:stretch>
                      </p:blipFill>
                      <p:spPr bwMode="auto">
                        <a:xfrm>
                          <a:off x="4540466" y="2885029"/>
                          <a:ext cx="442913" cy="6215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nvGraphicFramePr>
          <p:xfrm>
            <a:off x="3316966" y="1358410"/>
            <a:ext cx="442913" cy="607219"/>
          </p:xfrm>
          <a:graphic>
            <a:graphicData uri="http://schemas.openxmlformats.org/presentationml/2006/ole">
              <mc:AlternateContent xmlns:mc="http://schemas.openxmlformats.org/markup-compatibility/2006">
                <mc:Choice xmlns:v="urn:schemas-microsoft-com:vml" Requires="v">
                  <p:oleObj spid="_x0000_s24595" name="Visio" r:id="rId5" imgW="800100" imgH="1092200" progId="Visio.Drawing.11">
                    <p:embed/>
                  </p:oleObj>
                </mc:Choice>
                <mc:Fallback>
                  <p:oleObj name="Visio" r:id="rId5" imgW="800100" imgH="1092200" progId="Visio.Drawing.11">
                    <p:embed/>
                    <p:pic>
                      <p:nvPicPr>
                        <p:cNvPr id="0" name="对象 14"/>
                        <p:cNvPicPr>
                          <a:picLocks noChangeAspect="1" noChangeArrowheads="1"/>
                        </p:cNvPicPr>
                        <p:nvPr/>
                      </p:nvPicPr>
                      <p:blipFill>
                        <a:blip r:embed="rId6"/>
                        <a:srcRect/>
                        <a:stretch>
                          <a:fillRect/>
                        </a:stretch>
                      </p:blipFill>
                      <p:spPr bwMode="auto">
                        <a:xfrm>
                          <a:off x="3316966" y="1358410"/>
                          <a:ext cx="442913" cy="6072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文本占位符 4"/>
            <p:cNvSpPr txBox="1"/>
            <p:nvPr/>
          </p:nvSpPr>
          <p:spPr>
            <a:xfrm>
              <a:off x="3773024" y="1395912"/>
              <a:ext cx="1036428" cy="3008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队头指针</a:t>
              </a:r>
              <a:endPar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a:t>
            </a:r>
            <a:r>
              <a:rPr lang="en-US" altLang="zh-CN" dirty="0"/>
              <a:t>1</a:t>
            </a:r>
            <a:r>
              <a:rPr lang="zh-CN" altLang="en-US" dirty="0"/>
              <a:t>）初始化链队列</a:t>
            </a:r>
            <a:endParaRPr lang="en-US" altLang="zh-CN" dirty="0"/>
          </a:p>
          <a:p>
            <a:pPr lvl="2"/>
            <a:r>
              <a:rPr lang="en-US" altLang="zh-CN" dirty="0"/>
              <a:t>Status </a:t>
            </a:r>
            <a:r>
              <a:rPr lang="en-US" altLang="zh-CN" dirty="0" err="1"/>
              <a:t>InitQueue</a:t>
            </a:r>
            <a:r>
              <a:rPr lang="en-US" altLang="zh-CN" dirty="0"/>
              <a:t>(</a:t>
            </a:r>
            <a:r>
              <a:rPr lang="en-US" altLang="zh-CN" dirty="0" err="1"/>
              <a:t>LinkQueue</a:t>
            </a:r>
            <a:r>
              <a:rPr lang="en-US" altLang="zh-CN" dirty="0"/>
              <a:t> &amp;Q)</a:t>
            </a:r>
            <a:endParaRPr lang="en-US" altLang="zh-CN" dirty="0"/>
          </a:p>
          <a:p>
            <a:pPr lvl="2"/>
            <a:r>
              <a:rPr lang="en-US" altLang="zh-CN" dirty="0"/>
              <a:t>{  </a:t>
            </a:r>
            <a:endParaRPr lang="en-US" altLang="zh-CN" dirty="0"/>
          </a:p>
          <a:p>
            <a:pPr lvl="2"/>
            <a:r>
              <a:rPr lang="en-US" altLang="zh-CN" dirty="0"/>
              <a:t>      </a:t>
            </a:r>
            <a:r>
              <a:rPr lang="en-US" altLang="zh-CN" dirty="0">
                <a:solidFill>
                  <a:srgbClr val="FF0000"/>
                </a:solidFill>
              </a:rPr>
              <a:t> </a:t>
            </a:r>
            <a:r>
              <a:rPr lang="en-US" altLang="zh-CN" dirty="0" err="1">
                <a:solidFill>
                  <a:srgbClr val="FF0000"/>
                </a:solidFill>
              </a:rPr>
              <a:t>Q.front</a:t>
            </a:r>
            <a:r>
              <a:rPr lang="en-US" altLang="zh-CN" dirty="0">
                <a:solidFill>
                  <a:srgbClr val="FF0000"/>
                </a:solidFill>
              </a:rPr>
              <a:t> = </a:t>
            </a:r>
            <a:r>
              <a:rPr lang="en-US" altLang="zh-CN" dirty="0" err="1">
                <a:solidFill>
                  <a:srgbClr val="FF0000"/>
                </a:solidFill>
              </a:rPr>
              <a:t>Q.rear</a:t>
            </a:r>
            <a:r>
              <a:rPr lang="en-US" altLang="zh-CN" dirty="0"/>
              <a:t> = (</a:t>
            </a:r>
            <a:r>
              <a:rPr lang="en-US" altLang="zh-CN" dirty="0" err="1"/>
              <a:t>Queueptr</a:t>
            </a:r>
            <a:r>
              <a:rPr lang="en-US" altLang="zh-CN" dirty="0"/>
              <a:t>) </a:t>
            </a:r>
            <a:endParaRPr lang="en-US" altLang="zh-CN" dirty="0"/>
          </a:p>
          <a:p>
            <a:pPr lvl="2"/>
            <a:r>
              <a:rPr lang="en-US" altLang="zh-CN" dirty="0"/>
              <a:t>                                        </a:t>
            </a:r>
            <a:r>
              <a:rPr lang="en-US" altLang="zh-CN" dirty="0" err="1"/>
              <a:t>malloc</a:t>
            </a:r>
            <a:r>
              <a:rPr lang="en-US" altLang="zh-CN" dirty="0"/>
              <a:t>(</a:t>
            </a:r>
            <a:r>
              <a:rPr lang="en-US" altLang="zh-CN" dirty="0" err="1"/>
              <a:t>sizeof</a:t>
            </a:r>
            <a:r>
              <a:rPr lang="en-US" altLang="zh-CN" dirty="0"/>
              <a:t>(</a:t>
            </a:r>
            <a:r>
              <a:rPr lang="en-US" altLang="zh-CN" dirty="0" err="1"/>
              <a:t>QNode</a:t>
            </a:r>
            <a:r>
              <a:rPr lang="en-US" altLang="zh-CN" dirty="0"/>
              <a:t>));</a:t>
            </a:r>
            <a:endParaRPr lang="en-US" altLang="zh-CN" dirty="0"/>
          </a:p>
          <a:p>
            <a:pPr lvl="2"/>
            <a:r>
              <a:rPr lang="en-US" altLang="zh-CN" dirty="0"/>
              <a:t>       if(!</a:t>
            </a:r>
            <a:r>
              <a:rPr lang="en-US" altLang="zh-CN" dirty="0" err="1"/>
              <a:t>Q.front</a:t>
            </a:r>
            <a:r>
              <a:rPr lang="en-US" altLang="zh-CN" dirty="0"/>
              <a:t>) exit ( OVERFLOW);</a:t>
            </a:r>
            <a:endParaRPr lang="en-US" altLang="zh-CN" dirty="0"/>
          </a:p>
          <a:p>
            <a:pPr lvl="2"/>
            <a:r>
              <a:rPr lang="en-US" altLang="zh-CN" dirty="0"/>
              <a:t>       </a:t>
            </a:r>
            <a:r>
              <a:rPr lang="en-US" altLang="zh-CN" dirty="0" err="1"/>
              <a:t>Q.front</a:t>
            </a:r>
            <a:r>
              <a:rPr lang="en-US" altLang="zh-CN" dirty="0"/>
              <a:t> -&gt;next = NULL;</a:t>
            </a:r>
            <a:endParaRPr lang="en-US" altLang="zh-CN" dirty="0"/>
          </a:p>
          <a:p>
            <a:pPr lvl="2"/>
            <a:r>
              <a:rPr lang="en-US" altLang="zh-CN" dirty="0"/>
              <a:t>       return OK;</a:t>
            </a:r>
            <a:endParaRPr lang="en-US" altLang="zh-CN" dirty="0"/>
          </a:p>
          <a:p>
            <a:pPr lvl="2"/>
            <a:r>
              <a:rPr lang="en-US" altLang="zh-CN" dirty="0"/>
              <a:t>} </a:t>
            </a:r>
            <a:endParaRPr lang="zh-CN" altLang="en-US"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graphicFrame>
        <p:nvGraphicFramePr>
          <p:cNvPr id="10" name="对象 9"/>
          <p:cNvGraphicFramePr>
            <a:graphicFrameLocks noChangeAspect="1"/>
          </p:cNvGraphicFramePr>
          <p:nvPr/>
        </p:nvGraphicFramePr>
        <p:xfrm>
          <a:off x="3411137" y="593324"/>
          <a:ext cx="2179429" cy="420949"/>
        </p:xfrm>
        <a:graphic>
          <a:graphicData uri="http://schemas.openxmlformats.org/presentationml/2006/ole">
            <mc:AlternateContent xmlns:mc="http://schemas.openxmlformats.org/markup-compatibility/2006">
              <mc:Choice xmlns:v="urn:schemas-microsoft-com:vml" Requires="v">
                <p:oleObj spid="_x0000_s25607" name="Visio" r:id="rId1" imgW="4089400" imgH="800100" progId="Visio.Drawing.11">
                  <p:embed/>
                </p:oleObj>
              </mc:Choice>
              <mc:Fallback>
                <p:oleObj name="Visio" r:id="rId1" imgW="4089400" imgH="800100" progId="Visio.Drawing.11">
                  <p:embed/>
                  <p:pic>
                    <p:nvPicPr>
                      <p:cNvPr id="0" name="对象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1137" y="593324"/>
                        <a:ext cx="2179429" cy="420949"/>
                      </a:xfrm>
                      <a:prstGeom prst="rect">
                        <a:avLst/>
                      </a:prstGeom>
                      <a:noFill/>
                      <a:ln>
                        <a:noFill/>
                      </a:ln>
                    </p:spPr>
                  </p:pic>
                </p:oleObj>
              </mc:Fallback>
            </mc:AlternateContent>
          </a:graphicData>
        </a:graphic>
      </p:graphicFrame>
      <p:sp>
        <p:nvSpPr>
          <p:cNvPr id="17" name="文本占位符 4"/>
          <p:cNvSpPr txBox="1"/>
          <p:nvPr/>
        </p:nvSpPr>
        <p:spPr>
          <a:xfrm>
            <a:off x="5702580" y="647601"/>
            <a:ext cx="1036428" cy="3008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空队列</a:t>
            </a:r>
            <a:endPar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a:t>
            </a:r>
            <a:r>
              <a:rPr lang="en-US" altLang="zh-CN" dirty="0"/>
              <a:t>2</a:t>
            </a:r>
            <a:r>
              <a:rPr lang="zh-CN" altLang="en-US" dirty="0"/>
              <a:t>）入队列</a:t>
            </a:r>
            <a:endParaRPr lang="en-US" altLang="zh-CN" dirty="0"/>
          </a:p>
          <a:p>
            <a:pPr lvl="2">
              <a:lnSpc>
                <a:spcPts val="2800"/>
              </a:lnSpc>
            </a:pPr>
            <a:r>
              <a:rPr lang="en-US" altLang="zh-CN" sz="1600" dirty="0"/>
              <a:t>Status </a:t>
            </a:r>
            <a:r>
              <a:rPr lang="en-US" altLang="zh-CN" sz="1600" dirty="0" err="1"/>
              <a:t>EnQueue</a:t>
            </a:r>
            <a:r>
              <a:rPr lang="en-US" altLang="zh-CN" sz="1600" dirty="0"/>
              <a:t> (</a:t>
            </a:r>
            <a:r>
              <a:rPr lang="en-US" altLang="zh-CN" sz="1600" dirty="0" err="1"/>
              <a:t>LinkQueue</a:t>
            </a:r>
            <a:r>
              <a:rPr lang="en-US" altLang="zh-CN" sz="1600" dirty="0"/>
              <a:t> &amp;Q, </a:t>
            </a:r>
            <a:r>
              <a:rPr lang="en-US" altLang="zh-CN" sz="1600" dirty="0" err="1"/>
              <a:t>QelemType</a:t>
            </a:r>
            <a:r>
              <a:rPr lang="en-US" altLang="zh-CN" sz="1600" dirty="0"/>
              <a:t> e)</a:t>
            </a:r>
            <a:endParaRPr lang="en-US" altLang="zh-CN" sz="1600" dirty="0"/>
          </a:p>
          <a:p>
            <a:pPr lvl="2">
              <a:lnSpc>
                <a:spcPts val="2800"/>
              </a:lnSpc>
            </a:pPr>
            <a:r>
              <a:rPr lang="en-US" altLang="zh-CN" sz="1600" dirty="0"/>
              <a:t>{ </a:t>
            </a:r>
            <a:endParaRPr lang="en-US" altLang="zh-CN" sz="1600" dirty="0"/>
          </a:p>
          <a:p>
            <a:pPr lvl="2">
              <a:lnSpc>
                <a:spcPts val="2800"/>
              </a:lnSpc>
            </a:pPr>
            <a:r>
              <a:rPr lang="en-US" altLang="zh-CN" sz="1600" dirty="0"/>
              <a:t>        p= (</a:t>
            </a:r>
            <a:r>
              <a:rPr lang="en-US" altLang="zh-CN" sz="1600" dirty="0" err="1"/>
              <a:t>QueuePtr</a:t>
            </a:r>
            <a:r>
              <a:rPr lang="en-US" altLang="zh-CN" sz="1600" dirty="0"/>
              <a:t>) </a:t>
            </a:r>
            <a:r>
              <a:rPr lang="en-US" altLang="zh-CN" sz="1600" dirty="0" err="1"/>
              <a:t>malloc</a:t>
            </a:r>
            <a:r>
              <a:rPr lang="en-US" altLang="zh-CN" sz="1600" dirty="0"/>
              <a:t>(</a:t>
            </a:r>
            <a:r>
              <a:rPr lang="en-US" altLang="zh-CN" sz="1600" dirty="0" err="1"/>
              <a:t>sizeof</a:t>
            </a:r>
            <a:r>
              <a:rPr lang="en-US" altLang="zh-CN" sz="1600" dirty="0"/>
              <a:t>(</a:t>
            </a:r>
            <a:r>
              <a:rPr lang="en-US" altLang="zh-CN" sz="1600" dirty="0" err="1"/>
              <a:t>QNode</a:t>
            </a:r>
            <a:r>
              <a:rPr lang="en-US" altLang="zh-CN" sz="1600" dirty="0"/>
              <a:t>));</a:t>
            </a:r>
            <a:endParaRPr lang="en-US" altLang="zh-CN" sz="1600" dirty="0"/>
          </a:p>
          <a:p>
            <a:pPr lvl="2">
              <a:lnSpc>
                <a:spcPts val="2800"/>
              </a:lnSpc>
            </a:pPr>
            <a:r>
              <a:rPr lang="en-US" altLang="zh-CN" sz="1600" dirty="0"/>
              <a:t>        if (!p)    exit ( OVERFLOW);</a:t>
            </a:r>
            <a:endParaRPr lang="en-US" altLang="zh-CN" sz="1600" dirty="0"/>
          </a:p>
          <a:p>
            <a:pPr lvl="2">
              <a:lnSpc>
                <a:spcPts val="2800"/>
              </a:lnSpc>
            </a:pPr>
            <a:r>
              <a:rPr lang="en-US" altLang="zh-CN" sz="1600" dirty="0"/>
              <a:t>        p-&gt;data = e;  p-&gt;next = NULL;</a:t>
            </a:r>
            <a:endParaRPr lang="en-US" altLang="zh-CN" sz="1600" dirty="0"/>
          </a:p>
          <a:p>
            <a:pPr lvl="2">
              <a:lnSpc>
                <a:spcPts val="2800"/>
              </a:lnSpc>
            </a:pPr>
            <a:r>
              <a:rPr lang="en-US" altLang="zh-CN" sz="1600" dirty="0"/>
              <a:t>        </a:t>
            </a:r>
            <a:r>
              <a:rPr lang="en-US" altLang="zh-CN" sz="1600" dirty="0" err="1"/>
              <a:t>Q.rear</a:t>
            </a:r>
            <a:r>
              <a:rPr lang="en-US" altLang="zh-CN" sz="1600" dirty="0"/>
              <a:t> -&gt; next =p;</a:t>
            </a:r>
            <a:endParaRPr lang="en-US" altLang="zh-CN" sz="1600" dirty="0"/>
          </a:p>
          <a:p>
            <a:pPr lvl="2">
              <a:lnSpc>
                <a:spcPts val="2800"/>
              </a:lnSpc>
            </a:pPr>
            <a:r>
              <a:rPr lang="en-US" altLang="zh-CN" sz="1600" dirty="0"/>
              <a:t>        </a:t>
            </a:r>
            <a:r>
              <a:rPr lang="en-US" altLang="zh-CN" sz="1600" dirty="0" err="1"/>
              <a:t>Q.rear</a:t>
            </a:r>
            <a:r>
              <a:rPr lang="en-US" altLang="zh-CN" sz="1600" dirty="0"/>
              <a:t> = p;</a:t>
            </a:r>
            <a:endParaRPr lang="en-US" altLang="zh-CN" sz="1600" dirty="0"/>
          </a:p>
          <a:p>
            <a:pPr lvl="2">
              <a:lnSpc>
                <a:spcPts val="2800"/>
              </a:lnSpc>
            </a:pPr>
            <a:r>
              <a:rPr lang="en-US" altLang="zh-CN" sz="1600" dirty="0"/>
              <a:t>        return OK;</a:t>
            </a:r>
            <a:endParaRPr lang="en-US" altLang="zh-CN" sz="1600" dirty="0"/>
          </a:p>
          <a:p>
            <a:pPr lvl="2">
              <a:lnSpc>
                <a:spcPts val="2800"/>
              </a:lnSpc>
            </a:pPr>
            <a:r>
              <a:rPr lang="en-US" altLang="zh-CN" sz="1600" dirty="0"/>
              <a:t>}</a:t>
            </a:r>
            <a:endParaRPr lang="zh-CN" altLang="en-US" sz="1600"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graphicFrame>
        <p:nvGraphicFramePr>
          <p:cNvPr id="4" name="对象 3"/>
          <p:cNvGraphicFramePr>
            <a:graphicFrameLocks noChangeAspect="1"/>
          </p:cNvGraphicFramePr>
          <p:nvPr/>
        </p:nvGraphicFramePr>
        <p:xfrm>
          <a:off x="4171950" y="1492932"/>
          <a:ext cx="2665634" cy="855757"/>
        </p:xfrm>
        <a:graphic>
          <a:graphicData uri="http://schemas.openxmlformats.org/presentationml/2006/ole">
            <mc:AlternateContent xmlns:mc="http://schemas.openxmlformats.org/markup-compatibility/2006">
              <mc:Choice xmlns:v="urn:schemas-microsoft-com:vml" Requires="v">
                <p:oleObj spid="_x0000_s26636" name="Visio" r:id="rId1" imgW="6896100" imgH="2222500" progId="Visio.Drawing.11">
                  <p:embed/>
                </p:oleObj>
              </mc:Choice>
              <mc:Fallback>
                <p:oleObj name="Visio" r:id="rId1" imgW="6896100" imgH="22225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950" y="1492932"/>
                        <a:ext cx="2665634" cy="855757"/>
                      </a:xfrm>
                      <a:prstGeom prst="rect">
                        <a:avLst/>
                      </a:prstGeom>
                      <a:noFill/>
                    </p:spPr>
                  </p:pic>
                </p:oleObj>
              </mc:Fallback>
            </mc:AlternateContent>
          </a:graphicData>
        </a:graphic>
      </p:graphicFrame>
      <p:sp>
        <p:nvSpPr>
          <p:cNvPr id="5" name="文本占位符 4"/>
          <p:cNvSpPr txBox="1"/>
          <p:nvPr/>
        </p:nvSpPr>
        <p:spPr>
          <a:xfrm>
            <a:off x="4932700" y="2381678"/>
            <a:ext cx="1245907" cy="368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插入</a:t>
            </a:r>
            <a:r>
              <a:rPr lang="en-US" altLang="zh-CN"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e</a:t>
            </a:r>
            <a:r>
              <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之前</a:t>
            </a:r>
            <a:endPar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p:txBody>
      </p:sp>
      <p:graphicFrame>
        <p:nvGraphicFramePr>
          <p:cNvPr id="6" name="对象 5"/>
          <p:cNvGraphicFramePr>
            <a:graphicFrameLocks noChangeAspect="1"/>
          </p:cNvGraphicFramePr>
          <p:nvPr/>
        </p:nvGraphicFramePr>
        <p:xfrm>
          <a:off x="3982569" y="2882258"/>
          <a:ext cx="2855015" cy="876088"/>
        </p:xfrm>
        <a:graphic>
          <a:graphicData uri="http://schemas.openxmlformats.org/presentationml/2006/ole">
            <mc:AlternateContent xmlns:mc="http://schemas.openxmlformats.org/markup-compatibility/2006">
              <mc:Choice xmlns:v="urn:schemas-microsoft-com:vml" Requires="v">
                <p:oleObj spid="_x0000_s26637" name="Visio" r:id="rId3" imgW="7188200" imgH="2222500" progId="Visio.Drawing.11">
                  <p:embed/>
                </p:oleObj>
              </mc:Choice>
              <mc:Fallback>
                <p:oleObj name="Visio" r:id="rId3" imgW="7188200" imgH="2222500" progId="Visio.Drawing.11">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2569" y="2882258"/>
                        <a:ext cx="2855015" cy="876088"/>
                      </a:xfrm>
                      <a:prstGeom prst="rect">
                        <a:avLst/>
                      </a:prstGeom>
                      <a:noFill/>
                    </p:spPr>
                  </p:pic>
                </p:oleObj>
              </mc:Fallback>
            </mc:AlternateContent>
          </a:graphicData>
        </a:graphic>
      </p:graphicFrame>
      <p:sp>
        <p:nvSpPr>
          <p:cNvPr id="7" name="文本占位符 4"/>
          <p:cNvSpPr txBox="1"/>
          <p:nvPr/>
        </p:nvSpPr>
        <p:spPr>
          <a:xfrm>
            <a:off x="5040571" y="3776481"/>
            <a:ext cx="1245907" cy="368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插入</a:t>
            </a:r>
            <a:r>
              <a:rPr lang="en-US" altLang="zh-CN"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e</a:t>
            </a:r>
            <a:r>
              <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之后</a:t>
            </a:r>
            <a:endPar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a:t>
            </a:r>
            <a:r>
              <a:rPr lang="en-US" altLang="zh-CN" dirty="0"/>
              <a:t>3</a:t>
            </a:r>
            <a:r>
              <a:rPr lang="zh-CN" altLang="en-US" dirty="0"/>
              <a:t>）出队列</a:t>
            </a:r>
            <a:endParaRPr lang="en-US" altLang="zh-CN" dirty="0"/>
          </a:p>
          <a:p>
            <a:pPr lvl="2">
              <a:lnSpc>
                <a:spcPts val="2600"/>
              </a:lnSpc>
            </a:pPr>
            <a:r>
              <a:rPr lang="en-US" altLang="zh-CN" sz="1600" dirty="0"/>
              <a:t>Status </a:t>
            </a:r>
            <a:r>
              <a:rPr lang="en-US" altLang="zh-CN" sz="1600" dirty="0" err="1"/>
              <a:t>DeQueue</a:t>
            </a:r>
            <a:r>
              <a:rPr lang="en-US" altLang="zh-CN" sz="1600" dirty="0"/>
              <a:t> (</a:t>
            </a:r>
            <a:r>
              <a:rPr lang="en-US" altLang="zh-CN" sz="1600" dirty="0" err="1"/>
              <a:t>LinkQueue</a:t>
            </a:r>
            <a:r>
              <a:rPr lang="en-US" altLang="zh-CN" sz="1600" dirty="0"/>
              <a:t> &amp;Q, </a:t>
            </a:r>
            <a:r>
              <a:rPr lang="en-US" altLang="zh-CN" sz="1600" dirty="0" err="1"/>
              <a:t>QelemType</a:t>
            </a:r>
            <a:r>
              <a:rPr lang="en-US" altLang="zh-CN" sz="1600" dirty="0"/>
              <a:t> &amp;e)</a:t>
            </a:r>
            <a:endParaRPr lang="en-US" altLang="zh-CN" sz="1600" dirty="0"/>
          </a:p>
          <a:p>
            <a:pPr lvl="2">
              <a:lnSpc>
                <a:spcPts val="2600"/>
              </a:lnSpc>
            </a:pPr>
            <a:r>
              <a:rPr lang="en-US" altLang="zh-CN" sz="1600" dirty="0"/>
              <a:t>{</a:t>
            </a:r>
            <a:endParaRPr lang="en-US" altLang="zh-CN" sz="1600" dirty="0"/>
          </a:p>
          <a:p>
            <a:pPr lvl="2">
              <a:lnSpc>
                <a:spcPts val="2600"/>
              </a:lnSpc>
            </a:pPr>
            <a:r>
              <a:rPr lang="en-US" altLang="zh-CN" sz="1600" dirty="0"/>
              <a:t>        if ( </a:t>
            </a:r>
            <a:r>
              <a:rPr lang="en-US" altLang="zh-CN" sz="1600" dirty="0" err="1"/>
              <a:t>Q.front</a:t>
            </a:r>
            <a:r>
              <a:rPr lang="en-US" altLang="zh-CN" sz="1600" dirty="0"/>
              <a:t> == </a:t>
            </a:r>
            <a:r>
              <a:rPr lang="en-US" altLang="zh-CN" sz="1600" dirty="0" err="1"/>
              <a:t>Q.rear</a:t>
            </a:r>
            <a:r>
              <a:rPr lang="en-US" altLang="zh-CN" sz="1600" dirty="0"/>
              <a:t>) return ERROR;</a:t>
            </a:r>
            <a:endParaRPr lang="en-US" altLang="zh-CN" sz="1600" dirty="0"/>
          </a:p>
          <a:p>
            <a:pPr lvl="2">
              <a:lnSpc>
                <a:spcPts val="2600"/>
              </a:lnSpc>
            </a:pPr>
            <a:r>
              <a:rPr lang="en-US" altLang="zh-CN" sz="1600" dirty="0"/>
              <a:t>        p=</a:t>
            </a:r>
            <a:r>
              <a:rPr lang="en-US" altLang="zh-CN" sz="1600" dirty="0" err="1"/>
              <a:t>Q.front</a:t>
            </a:r>
            <a:r>
              <a:rPr lang="en-US" altLang="zh-CN" sz="1600" dirty="0"/>
              <a:t>-&gt;next;</a:t>
            </a:r>
            <a:endParaRPr lang="en-US" altLang="zh-CN" sz="1600" dirty="0"/>
          </a:p>
          <a:p>
            <a:pPr lvl="2">
              <a:lnSpc>
                <a:spcPts val="2600"/>
              </a:lnSpc>
            </a:pPr>
            <a:r>
              <a:rPr lang="en-US" altLang="zh-CN" sz="1600" dirty="0"/>
              <a:t>        e=p-&gt;data;</a:t>
            </a:r>
            <a:endParaRPr lang="en-US" altLang="zh-CN" sz="1600" dirty="0"/>
          </a:p>
          <a:p>
            <a:pPr lvl="2">
              <a:lnSpc>
                <a:spcPts val="2600"/>
              </a:lnSpc>
            </a:pPr>
            <a:r>
              <a:rPr lang="en-US" altLang="zh-CN" sz="1600" dirty="0"/>
              <a:t>        </a:t>
            </a:r>
            <a:r>
              <a:rPr lang="en-US" altLang="zh-CN" sz="1600" dirty="0" err="1"/>
              <a:t>Q.front</a:t>
            </a:r>
            <a:r>
              <a:rPr lang="en-US" altLang="zh-CN" sz="1600" dirty="0"/>
              <a:t>-&gt;next =p-&gt;next;</a:t>
            </a:r>
            <a:endParaRPr lang="en-US" altLang="zh-CN" sz="1600" dirty="0"/>
          </a:p>
          <a:p>
            <a:pPr lvl="2">
              <a:lnSpc>
                <a:spcPts val="2600"/>
              </a:lnSpc>
            </a:pPr>
            <a:r>
              <a:rPr lang="en-US" altLang="zh-CN" sz="1600" dirty="0"/>
              <a:t>        </a:t>
            </a:r>
            <a:r>
              <a:rPr lang="en-US" altLang="zh-CN" sz="1600" dirty="0">
                <a:solidFill>
                  <a:srgbClr val="FF0000"/>
                </a:solidFill>
              </a:rPr>
              <a:t>if (</a:t>
            </a:r>
            <a:r>
              <a:rPr lang="en-US" altLang="zh-CN" sz="1600" dirty="0" err="1">
                <a:solidFill>
                  <a:srgbClr val="FF0000"/>
                </a:solidFill>
              </a:rPr>
              <a:t>Q.rear</a:t>
            </a:r>
            <a:r>
              <a:rPr lang="en-US" altLang="zh-CN" sz="1600" dirty="0">
                <a:solidFill>
                  <a:srgbClr val="FF0000"/>
                </a:solidFill>
              </a:rPr>
              <a:t> == p) </a:t>
            </a:r>
            <a:r>
              <a:rPr lang="en-US" altLang="zh-CN" sz="1600" dirty="0" err="1">
                <a:solidFill>
                  <a:srgbClr val="FF0000"/>
                </a:solidFill>
              </a:rPr>
              <a:t>Q.rear</a:t>
            </a:r>
            <a:r>
              <a:rPr lang="en-US" altLang="zh-CN" sz="1600" dirty="0">
                <a:solidFill>
                  <a:srgbClr val="FF0000"/>
                </a:solidFill>
              </a:rPr>
              <a:t> = </a:t>
            </a:r>
            <a:r>
              <a:rPr lang="en-US" altLang="zh-CN" sz="1600" dirty="0" err="1">
                <a:solidFill>
                  <a:srgbClr val="FF0000"/>
                </a:solidFill>
              </a:rPr>
              <a:t>Q.front</a:t>
            </a:r>
            <a:r>
              <a:rPr lang="en-US" altLang="zh-CN" sz="1600" dirty="0">
                <a:solidFill>
                  <a:srgbClr val="FF0000"/>
                </a:solidFill>
              </a:rPr>
              <a:t>;</a:t>
            </a:r>
            <a:endParaRPr lang="en-US" altLang="zh-CN" sz="1600" dirty="0">
              <a:solidFill>
                <a:srgbClr val="FF0000"/>
              </a:solidFill>
            </a:endParaRPr>
          </a:p>
          <a:p>
            <a:pPr lvl="2">
              <a:lnSpc>
                <a:spcPts val="2600"/>
              </a:lnSpc>
            </a:pPr>
            <a:r>
              <a:rPr lang="en-US" altLang="zh-CN" sz="1600" dirty="0"/>
              <a:t>        free(p);</a:t>
            </a:r>
            <a:endParaRPr lang="en-US" altLang="zh-CN" sz="1600" dirty="0"/>
          </a:p>
          <a:p>
            <a:pPr lvl="2">
              <a:lnSpc>
                <a:spcPts val="2600"/>
              </a:lnSpc>
            </a:pPr>
            <a:r>
              <a:rPr lang="en-US" altLang="zh-CN" sz="1600" dirty="0"/>
              <a:t>        return OK;</a:t>
            </a:r>
            <a:endParaRPr lang="en-US" altLang="zh-CN" sz="1600" dirty="0"/>
          </a:p>
          <a:p>
            <a:pPr lvl="2">
              <a:lnSpc>
                <a:spcPts val="2600"/>
              </a:lnSpc>
            </a:pPr>
            <a:r>
              <a:rPr lang="en-US" altLang="zh-CN" sz="1600" dirty="0"/>
              <a:t>}</a:t>
            </a:r>
            <a:endParaRPr lang="en-US" altLang="zh-CN" sz="1600" dirty="0"/>
          </a:p>
        </p:txBody>
      </p:sp>
      <p:sp>
        <p:nvSpPr>
          <p:cNvPr id="3" name="标题 2"/>
          <p:cNvSpPr>
            <a:spLocks noGrp="1"/>
          </p:cNvSpPr>
          <p:nvPr>
            <p:ph type="title"/>
          </p:nvPr>
        </p:nvSpPr>
        <p:spPr/>
        <p:txBody>
          <a:bodyPr/>
          <a:lstStyle/>
          <a:p>
            <a:r>
              <a:rPr lang="en-US" altLang="zh-CN" dirty="0"/>
              <a:t>3.4 </a:t>
            </a:r>
            <a:r>
              <a:rPr lang="zh-CN" altLang="en-US" dirty="0"/>
              <a:t>队列</a:t>
            </a:r>
            <a:endParaRPr lang="zh-CN" altLang="en-US" dirty="0"/>
          </a:p>
        </p:txBody>
      </p:sp>
      <p:graphicFrame>
        <p:nvGraphicFramePr>
          <p:cNvPr id="8" name="对象 7"/>
          <p:cNvGraphicFramePr>
            <a:graphicFrameLocks noChangeAspect="1"/>
          </p:cNvGraphicFramePr>
          <p:nvPr/>
        </p:nvGraphicFramePr>
        <p:xfrm>
          <a:off x="4171950" y="1396641"/>
          <a:ext cx="2673089" cy="858150"/>
        </p:xfrm>
        <a:graphic>
          <a:graphicData uri="http://schemas.openxmlformats.org/presentationml/2006/ole">
            <mc:AlternateContent xmlns:mc="http://schemas.openxmlformats.org/markup-compatibility/2006">
              <mc:Choice xmlns:v="urn:schemas-microsoft-com:vml" Requires="v">
                <p:oleObj spid="_x0000_s27660" name="Visio" r:id="rId1" imgW="6896100" imgH="2222500" progId="Visio.Drawing.11">
                  <p:embed/>
                </p:oleObj>
              </mc:Choice>
              <mc:Fallback>
                <p:oleObj name="Visio" r:id="rId1" imgW="6896100" imgH="2222500" progId="Visio.Drawing.11">
                  <p:embed/>
                  <p:pic>
                    <p:nvPicPr>
                      <p:cNvPr id="0" name="对象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950" y="1396641"/>
                        <a:ext cx="2673089" cy="858150"/>
                      </a:xfrm>
                      <a:prstGeom prst="rect">
                        <a:avLst/>
                      </a:prstGeom>
                      <a:noFill/>
                    </p:spPr>
                  </p:pic>
                </p:oleObj>
              </mc:Fallback>
            </mc:AlternateContent>
          </a:graphicData>
        </a:graphic>
      </p:graphicFrame>
      <p:sp>
        <p:nvSpPr>
          <p:cNvPr id="9" name="文本占位符 4"/>
          <p:cNvSpPr txBox="1"/>
          <p:nvPr/>
        </p:nvSpPr>
        <p:spPr>
          <a:xfrm>
            <a:off x="4960328" y="2236594"/>
            <a:ext cx="1245907" cy="368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删除之前</a:t>
            </a:r>
            <a:endPar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0" name="文本占位符 4"/>
          <p:cNvSpPr txBox="1"/>
          <p:nvPr/>
        </p:nvSpPr>
        <p:spPr>
          <a:xfrm>
            <a:off x="5034873" y="3720913"/>
            <a:ext cx="1245907" cy="368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删除之后</a:t>
            </a:r>
            <a:endParaRPr lang="zh-CN" altLang="en-US" sz="15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p:txBody>
      </p:sp>
      <p:graphicFrame>
        <p:nvGraphicFramePr>
          <p:cNvPr id="11" name="对象 10"/>
          <p:cNvGraphicFramePr>
            <a:graphicFrameLocks noChangeAspect="1"/>
          </p:cNvGraphicFramePr>
          <p:nvPr/>
        </p:nvGraphicFramePr>
        <p:xfrm>
          <a:off x="4359358" y="2813393"/>
          <a:ext cx="2388211" cy="926603"/>
        </p:xfrm>
        <a:graphic>
          <a:graphicData uri="http://schemas.openxmlformats.org/presentationml/2006/ole">
            <mc:AlternateContent xmlns:mc="http://schemas.openxmlformats.org/markup-compatibility/2006">
              <mc:Choice xmlns:v="urn:schemas-microsoft-com:vml" Requires="v">
                <p:oleObj spid="_x0000_s27661" name="Visio" r:id="rId3" imgW="5511800" imgH="2146300" progId="Visio.Drawing.11">
                  <p:embed/>
                </p:oleObj>
              </mc:Choice>
              <mc:Fallback>
                <p:oleObj name="Visio" r:id="rId3" imgW="5511800" imgH="2146300" progId="Visio.Drawing.11">
                  <p:embed/>
                  <p:pic>
                    <p:nvPicPr>
                      <p:cNvPr id="0"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9358" y="2813393"/>
                        <a:ext cx="2388211" cy="926603"/>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ags/tag1.xml><?xml version="1.0" encoding="utf-8"?>
<p:tagLst xmlns:p="http://schemas.openxmlformats.org/presentationml/2006/main">
  <p:tag name="commondata" val="eyJoZGlkIjoiY2RkOTFiNGE3ZGMwNWJhNzRjN2YzYTQyNDI1ZmYz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幻灯片</Template>
  <TotalTime>0</TotalTime>
  <Words>10217</Words>
  <Application>WPS 演示</Application>
  <PresentationFormat>自定义</PresentationFormat>
  <Paragraphs>972</Paragraphs>
  <Slides>69</Slides>
  <Notes>0</Notes>
  <HiddenSlides>0</HiddenSlides>
  <MMClips>0</MMClips>
  <ScaleCrop>false</ScaleCrop>
  <HeadingPairs>
    <vt:vector size="8" baseType="variant">
      <vt:variant>
        <vt:lpstr>已用的字体</vt:lpstr>
      </vt:variant>
      <vt:variant>
        <vt:i4>15</vt:i4>
      </vt:variant>
      <vt:variant>
        <vt:lpstr>主题</vt:lpstr>
      </vt:variant>
      <vt:variant>
        <vt:i4>4</vt:i4>
      </vt:variant>
      <vt:variant>
        <vt:lpstr>嵌入 OLE 服务器</vt:lpstr>
      </vt:variant>
      <vt:variant>
        <vt:i4>14</vt:i4>
      </vt:variant>
      <vt:variant>
        <vt:lpstr>幻灯片标题</vt:lpstr>
      </vt:variant>
      <vt:variant>
        <vt:i4>69</vt:i4>
      </vt:variant>
    </vt:vector>
  </HeadingPairs>
  <TitlesOfParts>
    <vt:vector size="102" baseType="lpstr">
      <vt:lpstr>Arial</vt:lpstr>
      <vt:lpstr>宋体</vt:lpstr>
      <vt:lpstr>Wingdings</vt:lpstr>
      <vt:lpstr>黑体</vt:lpstr>
      <vt:lpstr>华文新魏</vt:lpstr>
      <vt:lpstr>华文彩云</vt:lpstr>
      <vt:lpstr>Times New Roman</vt:lpstr>
      <vt:lpstr>方正隶书简体</vt:lpstr>
      <vt:lpstr>华文楷体</vt:lpstr>
      <vt:lpstr>微软雅黑</vt:lpstr>
      <vt:lpstr>Arial Unicode MS</vt:lpstr>
      <vt:lpstr>Calibri</vt:lpstr>
      <vt:lpstr>楷体_GB2312</vt:lpstr>
      <vt:lpstr>新宋体</vt:lpstr>
      <vt:lpstr>Symbol</vt:lpstr>
      <vt:lpstr>Office 主题</vt:lpstr>
      <vt:lpstr>1_Office 主题</vt:lpstr>
      <vt:lpstr>2_Office 主题</vt:lpstr>
      <vt:lpstr>3_Office 主题</vt:lpstr>
      <vt:lpstr>Paint.Picture</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栈和队列</vt:lpstr>
      <vt:lpstr>第3章 栈和队列</vt:lpstr>
      <vt:lpstr>3.1 栈</vt:lpstr>
      <vt:lpstr>3.1 栈</vt:lpstr>
      <vt:lpstr>3.1 栈</vt:lpstr>
      <vt:lpstr>3.2 栈的应用</vt:lpstr>
      <vt:lpstr>3.1 栈</vt:lpstr>
      <vt:lpstr>3.1 栈</vt:lpstr>
      <vt:lpstr>3.1 栈</vt:lpstr>
      <vt:lpstr>3.1 栈</vt:lpstr>
      <vt:lpstr>3.1 栈</vt:lpstr>
      <vt:lpstr>3.1 栈</vt:lpstr>
      <vt:lpstr>3.1 栈</vt:lpstr>
      <vt:lpstr>3.1 栈</vt:lpstr>
      <vt:lpstr>3.2 栈的应用</vt:lpstr>
      <vt:lpstr>3.2 栈的应用</vt:lpstr>
      <vt:lpstr>3.2 栈的应用</vt:lpstr>
      <vt:lpstr>3.2 栈的应用</vt:lpstr>
      <vt:lpstr>3.2 栈的应用</vt:lpstr>
      <vt:lpstr>3.2 栈的应用</vt:lpstr>
      <vt:lpstr>3.2 栈的应用</vt:lpstr>
      <vt:lpstr>3.2 栈的应用</vt:lpstr>
      <vt:lpstr>3.2 栈的应用</vt:lpstr>
      <vt:lpstr>3.2 栈的应用</vt:lpstr>
      <vt:lpstr>3.2 栈的应用</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3.3 栈与递归的实现</vt:lpstr>
      <vt:lpstr>3.4 队列</vt:lpstr>
      <vt:lpstr>3.4 队列</vt:lpstr>
      <vt:lpstr>3.4 队列</vt:lpstr>
      <vt:lpstr>3.4 队列</vt:lpstr>
      <vt:lpstr>3.4 队列</vt:lpstr>
      <vt:lpstr>3.4 队列</vt:lpstr>
      <vt:lpstr>3.4 队列</vt:lpstr>
      <vt:lpstr>3.4 队列</vt:lpstr>
      <vt:lpstr>3.4 队列</vt:lpstr>
      <vt:lpstr>3.4 队列</vt:lpstr>
      <vt:lpstr>3.4 队列</vt:lpstr>
      <vt:lpstr>3.4 队列</vt:lpstr>
      <vt:lpstr>3.4 队列</vt:lpstr>
      <vt:lpstr>3.4 队列</vt:lpstr>
      <vt:lpstr>3.4 队列</vt:lpstr>
      <vt:lpstr>3.4 队列</vt:lpstr>
      <vt:lpstr>3.4 队列</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线 性 表</dc:title>
  <dc:creator>PC</dc:creator>
  <cp:lastModifiedBy>Administrator</cp:lastModifiedBy>
  <cp:revision>62</cp:revision>
  <dcterms:created xsi:type="dcterms:W3CDTF">2020-02-02T14:08:00Z</dcterms:created>
  <dcterms:modified xsi:type="dcterms:W3CDTF">2024-03-20T02:24:44Z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B8D7AD9D20414044836436D67F677621_12</vt:lpwstr>
  </property>
</Properties>
</file>