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84" r:id="rId3"/>
    <p:sldId id="285" r:id="rId4"/>
    <p:sldId id="709" r:id="rId5"/>
    <p:sldId id="768" r:id="rId7"/>
    <p:sldId id="767" r:id="rId8"/>
    <p:sldId id="769" r:id="rId9"/>
    <p:sldId id="770" r:id="rId10"/>
    <p:sldId id="772" r:id="rId11"/>
    <p:sldId id="771" r:id="rId12"/>
    <p:sldId id="774" r:id="rId13"/>
    <p:sldId id="773" r:id="rId14"/>
    <p:sldId id="776" r:id="rId15"/>
    <p:sldId id="799" r:id="rId16"/>
    <p:sldId id="800" r:id="rId17"/>
    <p:sldId id="801" r:id="rId18"/>
    <p:sldId id="775" r:id="rId19"/>
    <p:sldId id="778" r:id="rId20"/>
    <p:sldId id="777" r:id="rId21"/>
    <p:sldId id="779" r:id="rId22"/>
    <p:sldId id="780" r:id="rId23"/>
    <p:sldId id="781" r:id="rId24"/>
    <p:sldId id="783" r:id="rId25"/>
    <p:sldId id="782" r:id="rId26"/>
    <p:sldId id="785" r:id="rId27"/>
    <p:sldId id="784" r:id="rId28"/>
    <p:sldId id="787" r:id="rId29"/>
    <p:sldId id="835" r:id="rId30"/>
    <p:sldId id="836" r:id="rId31"/>
    <p:sldId id="790" r:id="rId32"/>
    <p:sldId id="789" r:id="rId33"/>
    <p:sldId id="791" r:id="rId34"/>
    <p:sldId id="792" r:id="rId35"/>
    <p:sldId id="806" r:id="rId36"/>
    <p:sldId id="807" r:id="rId37"/>
    <p:sldId id="795" r:id="rId38"/>
    <p:sldId id="794" r:id="rId39"/>
    <p:sldId id="793" r:id="rId40"/>
    <p:sldId id="809" r:id="rId41"/>
    <p:sldId id="808" r:id="rId42"/>
    <p:sldId id="811" r:id="rId43"/>
    <p:sldId id="810" r:id="rId44"/>
    <p:sldId id="814" r:id="rId45"/>
    <p:sldId id="813" r:id="rId46"/>
    <p:sldId id="812" r:id="rId47"/>
    <p:sldId id="815" r:id="rId48"/>
    <p:sldId id="816" r:id="rId49"/>
    <p:sldId id="817" r:id="rId50"/>
    <p:sldId id="818" r:id="rId51"/>
    <p:sldId id="822" r:id="rId52"/>
    <p:sldId id="821" r:id="rId53"/>
    <p:sldId id="820" r:id="rId54"/>
    <p:sldId id="819" r:id="rId55"/>
    <p:sldId id="825" r:id="rId56"/>
    <p:sldId id="824" r:id="rId57"/>
    <p:sldId id="823" r:id="rId58"/>
    <p:sldId id="827" r:id="rId59"/>
    <p:sldId id="830" r:id="rId60"/>
    <p:sldId id="829" r:id="rId61"/>
    <p:sldId id="826" r:id="rId62"/>
    <p:sldId id="831" r:id="rId63"/>
    <p:sldId id="832" r:id="rId64"/>
    <p:sldId id="833" r:id="rId65"/>
    <p:sldId id="834" r:id="rId66"/>
  </p:sldIdLst>
  <p:sldSz cx="9144000" cy="5143500" type="screen16x9"/>
  <p:notesSz cx="6858000" cy="9144000"/>
  <p:custDataLst>
    <p:tags r:id="rId70"/>
  </p:custDataLst>
  <p:defaultText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194C"/>
    <a:srgbClr val="D1F0FB"/>
    <a:srgbClr val="CC6600"/>
    <a:srgbClr val="800000"/>
    <a:srgbClr val="990000"/>
    <a:srgbClr val="993300"/>
    <a:srgbClr val="3333FF"/>
    <a:srgbClr val="1A6ED1"/>
    <a:srgbClr val="3079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81115" autoAdjust="0"/>
  </p:normalViewPr>
  <p:slideViewPr>
    <p:cSldViewPr snapToGrid="0">
      <p:cViewPr varScale="1">
        <p:scale>
          <a:sx n="99" d="100"/>
          <a:sy n="99" d="100"/>
        </p:scale>
        <p:origin x="48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0" Type="http://schemas.openxmlformats.org/officeDocument/2006/relationships/tags" Target="tags/tag1.xml"/><Relationship Id="rId7" Type="http://schemas.openxmlformats.org/officeDocument/2006/relationships/slide" Target="slides/slide4.xml"/><Relationship Id="rId69" Type="http://schemas.openxmlformats.org/officeDocument/2006/relationships/tableStyles" Target="tableStyles.xml"/><Relationship Id="rId68" Type="http://schemas.openxmlformats.org/officeDocument/2006/relationships/viewProps" Target="viewProps.xml"/><Relationship Id="rId67" Type="http://schemas.openxmlformats.org/officeDocument/2006/relationships/presProps" Target="presProps.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notesMaster" Target="notesMasters/notesMaster1.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2.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3.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4.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5.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6.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7.png"/></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8.png"/></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9.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0.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1.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22.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2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0460013-E2CC-49A6-99FC-33B54BFB7965}"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7AA911-2240-47A0-A152-528C1809DA1A}"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427AA911-2240-47A0-A152-528C1809DA1A}"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4" Type="http://schemas.openxmlformats.org/officeDocument/2006/relationships/image" Target="../media/image1.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7" name="标题 1"/>
          <p:cNvSpPr>
            <a:spLocks noGrp="1"/>
          </p:cNvSpPr>
          <p:nvPr>
            <p:ph type="ctrTitle" hasCustomPrompt="1"/>
          </p:nvPr>
        </p:nvSpPr>
        <p:spPr>
          <a:xfrm>
            <a:off x="0" y="1274607"/>
            <a:ext cx="9144000" cy="1228873"/>
          </a:xfrm>
          <a:prstGeom prst="rect">
            <a:avLst/>
          </a:prstGeom>
        </p:spPr>
        <p:txBody>
          <a:bodyPr anchor="ctr"/>
          <a:lstStyle>
            <a:lvl1pPr algn="ctr">
              <a:lnSpc>
                <a:spcPct val="120000"/>
              </a:lnSpc>
              <a:defRPr sz="3600" b="1">
                <a:solidFill>
                  <a:srgbClr val="000066"/>
                </a:solidFill>
                <a:effectLst/>
                <a:latin typeface="黑体" panose="02010609060101010101" pitchFamily="49" charset="-122"/>
                <a:ea typeface="黑体" panose="02010609060101010101" pitchFamily="49" charset="-122"/>
              </a:defRPr>
            </a:lvl1pPr>
          </a:lstStyle>
          <a:p>
            <a:r>
              <a:rPr lang="zh-CN" altLang="en-US" dirty="0"/>
              <a:t>  知识点名称</a:t>
            </a:r>
            <a:br>
              <a:rPr lang="en-US" altLang="zh-CN" dirty="0"/>
            </a:br>
            <a:r>
              <a:rPr lang="zh-CN" altLang="en-US" dirty="0"/>
              <a:t>（太长时可以两行）</a:t>
            </a:r>
            <a:endParaRPr lang="zh-CN" altLang="en-US" dirty="0"/>
          </a:p>
        </p:txBody>
      </p:sp>
      <p:sp>
        <p:nvSpPr>
          <p:cNvPr id="8" name="文本占位符 9"/>
          <p:cNvSpPr>
            <a:spLocks noGrp="1"/>
          </p:cNvSpPr>
          <p:nvPr>
            <p:ph type="body" sz="quarter" idx="14" hasCustomPrompt="1"/>
          </p:nvPr>
        </p:nvSpPr>
        <p:spPr>
          <a:xfrm>
            <a:off x="1944001" y="2732291"/>
            <a:ext cx="5255999" cy="480131"/>
          </a:xfrm>
          <a:prstGeom prst="rect">
            <a:avLst/>
          </a:prstGeom>
        </p:spPr>
        <p:txBody>
          <a:bodyPr wrap="square">
            <a:spAutoFit/>
          </a:bodyPr>
          <a:lstStyle>
            <a:lvl1pPr marL="0" indent="0" algn="ctr">
              <a:buNone/>
              <a:defRPr sz="2800">
                <a:solidFill>
                  <a:srgbClr val="800000"/>
                </a:solidFill>
                <a:effectLst/>
                <a:latin typeface="华文新魏" panose="02010800040101010101" pitchFamily="2" charset="-122"/>
                <a:ea typeface="华文新魏" panose="02010800040101010101" pitchFamily="2" charset="-122"/>
              </a:defRPr>
            </a:lvl1pPr>
            <a:lvl2pPr marL="0" indent="0">
              <a:spcBef>
                <a:spcPts val="0"/>
              </a:spcBef>
              <a:buNone/>
              <a:defRPr sz="1350">
                <a:solidFill>
                  <a:srgbClr val="0000FF"/>
                </a:solidFill>
                <a:latin typeface="黑体" panose="02010609060101010101" pitchFamily="49" charset="-122"/>
                <a:ea typeface="黑体" panose="02010609060101010101" pitchFamily="49" charset="-122"/>
              </a:defRPr>
            </a:lvl2pPr>
          </a:lstStyle>
          <a:p>
            <a:pPr lvl="0"/>
            <a:r>
              <a:rPr lang="zh-CN" altLang="en-US" dirty="0"/>
              <a:t>教师名  主讲</a:t>
            </a:r>
            <a:endParaRPr lang="zh-CN" altLang="en-US" dirty="0"/>
          </a:p>
        </p:txBody>
      </p:sp>
      <p:sp>
        <p:nvSpPr>
          <p:cNvPr id="10" name="文本框 9"/>
          <p:cNvSpPr txBox="1"/>
          <p:nvPr userDrawn="1"/>
        </p:nvSpPr>
        <p:spPr>
          <a:xfrm>
            <a:off x="765008" y="114250"/>
            <a:ext cx="1377300" cy="415498"/>
          </a:xfrm>
          <a:prstGeom prst="rect">
            <a:avLst/>
          </a:prstGeom>
          <a:noFill/>
          <a:ln>
            <a:noFill/>
          </a:ln>
        </p:spPr>
        <p:txBody>
          <a:bodyPr wrap="none" rtlCol="0">
            <a:spAutoFit/>
          </a:bodyPr>
          <a:lstStyle/>
          <a:p>
            <a:r>
              <a:rPr lang="zh-CN" altLang="en-US" sz="2100" kern="3000" spc="225" baseline="0" dirty="0">
                <a:solidFill>
                  <a:srgbClr val="1A6ED1"/>
                </a:solidFill>
                <a:latin typeface="华文彩云" panose="02010800040101010101" pitchFamily="2" charset="-122"/>
                <a:ea typeface="华文彩云" panose="02010800040101010101" pitchFamily="2" charset="-122"/>
              </a:rPr>
              <a:t>数据结构</a:t>
            </a:r>
            <a:endParaRPr lang="zh-CN" altLang="en-US" sz="2100" kern="3000" spc="225" baseline="0" dirty="0">
              <a:solidFill>
                <a:srgbClr val="1A6ED1"/>
              </a:solidFill>
              <a:latin typeface="华文彩云" panose="02010800040101010101" pitchFamily="2" charset="-122"/>
              <a:ea typeface="华文彩云" panose="02010800040101010101" pitchFamily="2" charset="-122"/>
            </a:endParaRPr>
          </a:p>
        </p:txBody>
      </p:sp>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57009" y="126081"/>
            <a:ext cx="466892" cy="350169"/>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全屏幕正文内容">
    <p:spTree>
      <p:nvGrpSpPr>
        <p:cNvPr id="1" name=""/>
        <p:cNvGrpSpPr/>
        <p:nvPr/>
      </p:nvGrpSpPr>
      <p:grpSpPr>
        <a:xfrm>
          <a:off x="0" y="0"/>
          <a:ext cx="0" cy="0"/>
          <a:chOff x="0" y="0"/>
          <a:chExt cx="0" cy="0"/>
        </a:xfrm>
      </p:grpSpPr>
      <p:sp>
        <p:nvSpPr>
          <p:cNvPr id="3" name="内容占位符 2"/>
          <p:cNvSpPr>
            <a:spLocks noGrp="1"/>
          </p:cNvSpPr>
          <p:nvPr>
            <p:ph idx="1" hasCustomPrompt="1"/>
          </p:nvPr>
        </p:nvSpPr>
        <p:spPr>
          <a:xfrm>
            <a:off x="528070" y="593325"/>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zh-CN" altLang="en-US" sz="2300" b="1" kern="1200" baseline="0" dirty="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en-US" altLang="zh-CN" sz="2100" b="1" kern="1200" baseline="0" dirty="0">
                <a:solidFill>
                  <a:srgbClr val="00194C"/>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107950" indent="0" algn="just" fontAlgn="ctr">
              <a:lnSpc>
                <a:spcPts val="2550"/>
              </a:lnSpc>
              <a:spcBef>
                <a:spcPts val="0"/>
              </a:spcBef>
              <a:spcAft>
                <a:spcPts val="225"/>
              </a:spcAft>
              <a:buClr>
                <a:srgbClr val="800000"/>
              </a:buClr>
              <a:buSzPct val="16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0" algn="just" fontAlgn="ctr">
              <a:lnSpc>
                <a:spcPts val="2550"/>
              </a:lnSpc>
              <a:spcBef>
                <a:spcPts val="0"/>
              </a:spcBef>
              <a:spcAft>
                <a:spcPts val="0"/>
              </a:spcAft>
              <a:buSzPct val="220000"/>
              <a:buFontTx/>
              <a:buNone/>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2"/>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3"/>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a:t>第一级标题</a:t>
            </a:r>
            <a:endParaRPr lang="zh-CN" altLang="en-US" dirty="0"/>
          </a:p>
          <a:p>
            <a:pPr marL="135255" lvl="1" indent="0" algn="just" defTabSz="685800" rtl="0" eaLnBrk="0" fontAlgn="base" latinLnBrk="0" hangingPunct="0">
              <a:lnSpc>
                <a:spcPts val="2250"/>
              </a:lnSpc>
              <a:spcBef>
                <a:spcPts val="225"/>
              </a:spcBef>
              <a:spcAft>
                <a:spcPct val="0"/>
              </a:spcAft>
              <a:buClr>
                <a:srgbClr val="006600"/>
              </a:buClr>
              <a:buFontTx/>
              <a:buNone/>
            </a:pPr>
            <a:r>
              <a:rPr lang="zh-CN" altLang="en-US" dirty="0"/>
              <a:t>第二级</a:t>
            </a:r>
            <a:endParaRPr lang="en-US" altLang="zh-CN" dirty="0"/>
          </a:p>
          <a:p>
            <a:pPr marL="135255" lvl="2" indent="0" algn="just" defTabSz="685800" rtl="0" eaLnBrk="0" fontAlgn="base" latinLnBrk="0" hangingPunct="0">
              <a:lnSpc>
                <a:spcPts val="2250"/>
              </a:lnSpc>
              <a:spcBef>
                <a:spcPts val="225"/>
              </a:spcBef>
              <a:spcAft>
                <a:spcPct val="0"/>
              </a:spcAft>
              <a:buClr>
                <a:srgbClr val="006600"/>
              </a:buClr>
              <a:buSzPct val="70000"/>
              <a:buFontTx/>
              <a:buNone/>
            </a:pPr>
            <a:r>
              <a:rPr lang="zh-CN" altLang="en-US" dirty="0"/>
              <a:t>第三级</a:t>
            </a:r>
            <a:endParaRPr lang="en-US" altLang="zh-CN" dirty="0"/>
          </a:p>
        </p:txBody>
      </p:sp>
      <p:sp>
        <p:nvSpPr>
          <p:cNvPr id="5" name="标题 13"/>
          <p:cNvSpPr>
            <a:spLocks noGrp="1"/>
          </p:cNvSpPr>
          <p:nvPr>
            <p:ph type="title" hasCustomPrompt="1"/>
          </p:nvPr>
        </p:nvSpPr>
        <p:spPr>
          <a:xfrm>
            <a:off x="746301" y="171219"/>
            <a:ext cx="4816300"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rgbClr val="002060"/>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6" name="图片 5"/>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180809" y="126081"/>
            <a:ext cx="466892" cy="35016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85800" y="457200"/>
            <a:ext cx="7772400" cy="857250"/>
          </a:xfrm>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a:xfrm>
            <a:off x="685800" y="1485900"/>
            <a:ext cx="7772400" cy="3086100"/>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a:xfrm>
            <a:off x="685800" y="4686300"/>
            <a:ext cx="1905000" cy="342900"/>
          </a:xfrm>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
        <p:nvSpPr>
          <p:cNvPr id="5" name="页脚占位符 4"/>
          <p:cNvSpPr>
            <a:spLocks noGrp="1"/>
          </p:cNvSpPr>
          <p:nvPr>
            <p:ph type="ftr" sz="quarter" idx="11"/>
          </p:nvPr>
        </p:nvSpPr>
        <p:spPr>
          <a:xfrm>
            <a:off x="3124200" y="4686300"/>
            <a:ext cx="2895600" cy="342900"/>
          </a:xfrm>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
        <p:nvSpPr>
          <p:cNvPr id="6" name="灯片编号占位符 5"/>
          <p:cNvSpPr>
            <a:spLocks noGrp="1"/>
          </p:cNvSpPr>
          <p:nvPr>
            <p:ph type="sldNum" sz="quarter" idx="12"/>
          </p:nvPr>
        </p:nvSpPr>
        <p:spPr>
          <a:xfrm>
            <a:off x="6553200" y="4686300"/>
            <a:ext cx="1905000" cy="342900"/>
          </a:xfrm>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7CC98C3A-2E3F-4FFD-9C28-A3EE959F7F52}" type="slidenum">
              <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rPr>
            </a:fld>
            <a:endParaRPr kumimoji="1" lang="en-US" altLang="zh-CN" sz="1400" b="0" i="0" u="none" strike="noStrike" kern="1200" cap="none" spc="0" normalizeH="0" baseline="0" noProof="0">
              <a:ln>
                <a:noFill/>
              </a:ln>
              <a:solidFill>
                <a:schemeClr val="tx1"/>
              </a:solidFill>
              <a:effectLst/>
              <a:uLnTx/>
              <a:uFillTx/>
              <a:latin typeface="Times New Roman" panose="02020603050405020304" pitchFamily="18" charset="0"/>
              <a:ea typeface="宋体" panose="02010600030101010101" pitchFamily="2" charset="-122"/>
              <a:cs typeface="+mn-cs"/>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正文内容">
    <p:spTree>
      <p:nvGrpSpPr>
        <p:cNvPr id="1" name=""/>
        <p:cNvGrpSpPr/>
        <p:nvPr/>
      </p:nvGrpSpPr>
      <p:grpSpPr>
        <a:xfrm>
          <a:off x="0" y="0"/>
          <a:ext cx="0" cy="0"/>
          <a:chOff x="0" y="0"/>
          <a:chExt cx="0" cy="0"/>
        </a:xfrm>
      </p:grpSpPr>
      <p:sp>
        <p:nvSpPr>
          <p:cNvPr id="7" name="内容占位符 2"/>
          <p:cNvSpPr>
            <a:spLocks noGrp="1"/>
          </p:cNvSpPr>
          <p:nvPr>
            <p:ph idx="1" hasCustomPrompt="1"/>
          </p:nvPr>
        </p:nvSpPr>
        <p:spPr>
          <a:xfrm>
            <a:off x="528069" y="593322"/>
            <a:ext cx="8094201" cy="4085639"/>
          </a:xfrm>
          <a:prstGeom prst="rect">
            <a:avLst/>
          </a:prstGeom>
        </p:spPr>
        <p:txBody>
          <a:bodyPr/>
          <a:lstStyle>
            <a:lvl1pPr marL="0" marR="0" indent="0" algn="just" defTabSz="685800" rtl="0" eaLnBrk="0" fontAlgn="base" latinLnBrk="0" hangingPunct="0">
              <a:lnSpc>
                <a:spcPts val="3000"/>
              </a:lnSpc>
              <a:spcBef>
                <a:spcPts val="600"/>
              </a:spcBef>
              <a:spcAft>
                <a:spcPct val="0"/>
              </a:spcAft>
              <a:buClrTx/>
              <a:buSzTx/>
              <a:buFont typeface="Wingdings" panose="05000000000000000000" pitchFamily="2" charset="2"/>
              <a:buNone/>
              <a:defRPr lang="en-US" altLang="zh-CN" sz="2300" b="1" kern="1200" baseline="0" dirty="0" smtClean="0">
                <a:solidFill>
                  <a:srgbClr val="800000"/>
                </a:solidFill>
                <a:effectLst/>
                <a:latin typeface="Times New Roman" panose="02020603050405020304" pitchFamily="18" charset="0"/>
                <a:ea typeface="黑体" panose="02010609060101010101" pitchFamily="49" charset="-122"/>
                <a:cs typeface="+mn-cs"/>
              </a:defRPr>
            </a:lvl1pPr>
            <a:lvl2pPr marL="135255" indent="0" algn="just">
              <a:lnSpc>
                <a:spcPts val="3000"/>
              </a:lnSpc>
              <a:spcBef>
                <a:spcPts val="300"/>
              </a:spcBef>
              <a:buClr>
                <a:srgbClr val="006600"/>
              </a:buClr>
              <a:buFontTx/>
              <a:buNone/>
              <a:defRPr lang="en-US" altLang="zh-CN" sz="2300" b="1" kern="1200" baseline="0" dirty="0" smtClean="0">
                <a:solidFill>
                  <a:srgbClr val="CC6600"/>
                </a:solidFill>
                <a:effectLst/>
                <a:latin typeface="方正隶书简体" panose="02010601030101010101" pitchFamily="2" charset="-122"/>
                <a:ea typeface="方正隶书简体" panose="02010601030101010101" pitchFamily="2" charset="-122"/>
                <a:cs typeface="+mn-cs"/>
              </a:defRPr>
            </a:lvl2pPr>
            <a:lvl3pPr marL="135255" indent="0" algn="just" eaLnBrk="1" hangingPunct="1">
              <a:lnSpc>
                <a:spcPts val="3400"/>
              </a:lnSpc>
              <a:spcBef>
                <a:spcPts val="0"/>
              </a:spcBef>
              <a:buClr>
                <a:srgbClr val="800000"/>
              </a:buClr>
              <a:buSzPct val="70000"/>
              <a:buFont typeface="Wingdings" panose="05000000000000000000" pitchFamily="2" charset="2"/>
              <a:buNone/>
              <a:defRPr lang="zh-CN" altLang="en-US" sz="2100" b="1" kern="1200" baseline="0" smtClean="0">
                <a:solidFill>
                  <a:schemeClr val="tx1"/>
                </a:solidFill>
                <a:latin typeface="华文楷体" panose="02010600040101010101" pitchFamily="2" charset="-122"/>
                <a:ea typeface="华文楷体" panose="02010600040101010101" pitchFamily="2" charset="-122"/>
                <a:cs typeface="+mn-cs"/>
              </a:defRPr>
            </a:lvl3pPr>
            <a:lvl4pPr marL="135255" indent="0" algn="just" eaLnBrk="1" hangingPunct="1">
              <a:lnSpc>
                <a:spcPts val="2550"/>
              </a:lnSpc>
              <a:spcBef>
                <a:spcPts val="0"/>
              </a:spcBef>
              <a:buFontTx/>
              <a:buNone/>
              <a:defRPr sz="1575" b="1" baseline="0">
                <a:solidFill>
                  <a:srgbClr val="000099"/>
                </a:solidFill>
                <a:latin typeface="Times New Roman" panose="02020603050405020304" pitchFamily="18" charset="0"/>
                <a:ea typeface="黑体" panose="02010609060101010101" pitchFamily="49" charset="-122"/>
              </a:defRPr>
            </a:lvl4pPr>
            <a:lvl5pPr marL="377825" indent="-269875" algn="just" fontAlgn="ctr">
              <a:lnSpc>
                <a:spcPts val="2550"/>
              </a:lnSpc>
              <a:spcBef>
                <a:spcPts val="0"/>
              </a:spcBef>
              <a:spcAft>
                <a:spcPts val="225"/>
              </a:spcAft>
              <a:buClr>
                <a:srgbClr val="800000"/>
              </a:buClr>
              <a:buSzPct val="160000"/>
              <a:buFontTx/>
              <a:buBlip>
                <a:blip r:embed="rId2"/>
              </a:buBlip>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5pPr>
            <a:lvl6pPr marL="0" indent="-323850" algn="just" fontAlgn="ctr">
              <a:lnSpc>
                <a:spcPts val="2550"/>
              </a:lnSpc>
              <a:spcBef>
                <a:spcPts val="0"/>
              </a:spcBef>
              <a:spcAft>
                <a:spcPts val="0"/>
              </a:spcAft>
              <a:buSzPct val="220000"/>
              <a:buFontTx/>
              <a:buBlip>
                <a:blip r:embed="rId3"/>
              </a:buBlip>
              <a:defRPr lang="en-US" altLang="zh-CN" sz="1575" b="1" kern="1200" baseline="0" dirty="0" smtClean="0">
                <a:solidFill>
                  <a:srgbClr val="6633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6pPr>
            <a:lvl7pPr marL="0" marR="0" indent="0" algn="l" defTabSz="685800" rtl="0" eaLnBrk="1" fontAlgn="ctr" latinLnBrk="0" hangingPunct="1">
              <a:lnSpc>
                <a:spcPts val="1500"/>
              </a:lnSpc>
              <a:spcBef>
                <a:spcPts val="0"/>
              </a:spcBef>
              <a:spcAft>
                <a:spcPts val="0"/>
              </a:spcAft>
              <a:buClrTx/>
              <a:buSzPct val="300000"/>
              <a:buFontTx/>
              <a:buNone/>
              <a:defRPr lang="en-US" altLang="zh-CN" sz="1350" kern="1200" dirty="0" smtClean="0">
                <a:solidFill>
                  <a:schemeClr val="tx1"/>
                </a:solidFill>
                <a:latin typeface="黑体" panose="02010609060101010101" pitchFamily="49" charset="-122"/>
                <a:ea typeface="黑体" panose="02010609060101010101" pitchFamily="49" charset="-122"/>
                <a:cs typeface="+mn-cs"/>
              </a:defRPr>
            </a:lvl7pPr>
            <a:lvl8pPr marL="257175" indent="-257175" fontAlgn="ctr">
              <a:lnSpc>
                <a:spcPts val="2250"/>
              </a:lnSpc>
              <a:spcBef>
                <a:spcPts val="450"/>
              </a:spcBef>
              <a:buSzPct val="220000"/>
              <a:buFontTx/>
              <a:buBlip>
                <a:blip r:embed="rId4"/>
              </a:buBlip>
              <a:defRPr sz="1800" b="1" baseline="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defRPr>
            </a:lvl8pPr>
            <a:lvl9pPr marL="0" indent="-269875" fontAlgn="ctr">
              <a:lnSpc>
                <a:spcPts val="2250"/>
              </a:lnSpc>
              <a:spcBef>
                <a:spcPts val="450"/>
              </a:spcBef>
              <a:buSzPct val="180000"/>
              <a:buFontTx/>
              <a:buBlip>
                <a:blip r:embed="rId5"/>
              </a:buBlip>
              <a:defRPr lang="en-US" altLang="zh-CN" sz="1800" b="1" kern="1200" baseline="0" dirty="0" smtClean="0">
                <a:solidFill>
                  <a:srgbClr val="800000"/>
                </a:solidFill>
                <a:effectLst>
                  <a:outerShdw blurRad="38100" dist="38100" dir="2700000" algn="tl">
                    <a:srgbClr val="000000">
                      <a:alpha val="43137"/>
                    </a:srgbClr>
                  </a:outerShdw>
                </a:effectLst>
                <a:latin typeface="Times New Roman" panose="02020603050405020304" pitchFamily="18" charset="0"/>
                <a:ea typeface="黑体" panose="02010609060101010101" pitchFamily="49" charset="-122"/>
                <a:cs typeface="+mn-cs"/>
              </a:defRPr>
            </a:lvl9pPr>
          </a:lstStyle>
          <a:p>
            <a:pPr marL="0" marR="0" lvl="0" indent="0" algn="just" defTabSz="685800" rtl="0" eaLnBrk="0" fontAlgn="base" latinLnBrk="0" hangingPunct="0">
              <a:lnSpc>
                <a:spcPts val="2250"/>
              </a:lnSpc>
              <a:spcBef>
                <a:spcPts val="450"/>
              </a:spcBef>
              <a:spcAft>
                <a:spcPct val="0"/>
              </a:spcAft>
              <a:buClrTx/>
              <a:buSzTx/>
              <a:buFont typeface="Wingdings" panose="05000000000000000000" pitchFamily="2" charset="2"/>
              <a:buNone/>
              <a:defRPr/>
            </a:pPr>
            <a:r>
              <a:rPr lang="zh-CN" altLang="en-US" dirty="0" smtClean="0"/>
              <a:t>第一级标题</a:t>
            </a:r>
            <a:endParaRPr lang="zh-CN" altLang="en-US" dirty="0"/>
          </a:p>
          <a:p>
            <a:pPr marL="135255" lvl="1" indent="0" algn="just" rtl="0" eaLnBrk="0" fontAlgn="base" hangingPunct="0">
              <a:lnSpc>
                <a:spcPts val="2250"/>
              </a:lnSpc>
              <a:spcBef>
                <a:spcPts val="225"/>
              </a:spcBef>
              <a:spcAft>
                <a:spcPct val="0"/>
              </a:spcAft>
              <a:buClr>
                <a:srgbClr val="006600"/>
              </a:buClr>
              <a:buFontTx/>
              <a:buNone/>
            </a:pPr>
            <a:r>
              <a:rPr lang="zh-CN" altLang="en-US" dirty="0" smtClean="0"/>
              <a:t>第二级</a:t>
            </a:r>
            <a:endParaRPr lang="en-US" altLang="zh-CN" dirty="0" smtClean="0"/>
          </a:p>
          <a:p>
            <a:pPr marL="135255" lvl="2" indent="0" algn="just" rtl="0" eaLnBrk="0" fontAlgn="base" hangingPunct="0">
              <a:lnSpc>
                <a:spcPts val="2250"/>
              </a:lnSpc>
              <a:spcBef>
                <a:spcPts val="225"/>
              </a:spcBef>
              <a:spcAft>
                <a:spcPct val="0"/>
              </a:spcAft>
              <a:buClr>
                <a:srgbClr val="006600"/>
              </a:buClr>
              <a:buFontTx/>
              <a:buNone/>
            </a:pPr>
            <a:r>
              <a:rPr lang="zh-CN" altLang="en-US" dirty="0" smtClean="0"/>
              <a:t>第三级（正文）</a:t>
            </a:r>
            <a:endParaRPr lang="en-US" altLang="zh-CN" dirty="0"/>
          </a:p>
        </p:txBody>
      </p:sp>
      <p:sp>
        <p:nvSpPr>
          <p:cNvPr id="8" name="标题 13"/>
          <p:cNvSpPr>
            <a:spLocks noGrp="1"/>
          </p:cNvSpPr>
          <p:nvPr>
            <p:ph type="title" hasCustomPrompt="1"/>
          </p:nvPr>
        </p:nvSpPr>
        <p:spPr>
          <a:xfrm>
            <a:off x="746300" y="176980"/>
            <a:ext cx="3096197" cy="249299"/>
          </a:xfrm>
          <a:prstGeom prst="rect">
            <a:avLst/>
          </a:prstGeom>
          <a:noFill/>
        </p:spPr>
        <p:txBody>
          <a:bodyPr wrap="square" lIns="36000" tIns="0" rIns="0" bIns="0">
            <a:spAutoFit/>
          </a:bodyPr>
          <a:lstStyle>
            <a:lvl1pPr marL="0" algn="l" defTabSz="685800" rtl="0" eaLnBrk="1" latinLnBrk="0" hangingPunct="1">
              <a:defRPr lang="zh-CN" altLang="en-US" sz="1800" b="1" kern="1500" spc="0" baseline="0" dirty="0">
                <a:solidFill>
                  <a:schemeClr val="accent1">
                    <a:lumMod val="50000"/>
                  </a:schemeClr>
                </a:solidFill>
                <a:latin typeface="黑体" panose="02010609060101010101" pitchFamily="49" charset="-122"/>
                <a:ea typeface="黑体" panose="02010609060101010101" pitchFamily="49" charset="-122"/>
                <a:cs typeface="+mn-cs"/>
              </a:defRPr>
            </a:lvl1pPr>
          </a:lstStyle>
          <a:p>
            <a:pPr lvl="0" algn="l">
              <a:buFontTx/>
            </a:pPr>
            <a:r>
              <a:rPr lang="zh-CN" altLang="en-US" dirty="0"/>
              <a:t>单击此处编辑知识点名称</a:t>
            </a:r>
            <a:endParaRPr lang="zh-CN" altLang="en-US" dirty="0"/>
          </a:p>
        </p:txBody>
      </p:sp>
      <p:pic>
        <p:nvPicPr>
          <p:cNvPr id="10" name="图片 9"/>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264078" y="110939"/>
            <a:ext cx="381381" cy="381381"/>
          </a:xfrm>
          <a:prstGeom prst="rect">
            <a:avLst/>
          </a:prstGeom>
        </p:spPr>
      </p:pic>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image" Target="../media/image8.jpeg"/><Relationship Id="rId6" Type="http://schemas.openxmlformats.org/officeDocument/2006/relationships/image" Target="../media/image7.jpe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1143000" y="653653"/>
            <a:ext cx="6858000" cy="3836194"/>
          </a:xfrm>
          <a:prstGeom prst="rect">
            <a:avLst/>
          </a:prstGeom>
        </p:spPr>
      </p:pic>
      <p:pic>
        <p:nvPicPr>
          <p:cNvPr id="2" name="图片 1"/>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 y="-762"/>
            <a:ext cx="9142647" cy="5144262"/>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9.wmf"/><Relationship Id="rId1" Type="http://schemas.openxmlformats.org/officeDocument/2006/relationships/oleObject" Target="../embeddings/oleObject1.bin"/></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5" Type="http://schemas.openxmlformats.org/officeDocument/2006/relationships/notesSlide" Target="../notesSlides/notesSlide28.xml"/><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11.wmf"/><Relationship Id="rId1" Type="http://schemas.openxmlformats.org/officeDocument/2006/relationships/oleObject" Target="../embeddings/oleObject2.bin"/></Relationships>
</file>

<file path=ppt/slides/_rels/slide33.xml.rels><?xml version="1.0" encoding="UTF-8" standalone="yes"?>
<Relationships xmlns="http://schemas.openxmlformats.org/package/2006/relationships"><Relationship Id="rId5" Type="http://schemas.openxmlformats.org/officeDocument/2006/relationships/notesSlide" Target="../notesSlides/notesSlide29.xml"/><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12.wmf"/><Relationship Id="rId1" Type="http://schemas.openxmlformats.org/officeDocument/2006/relationships/oleObject" Target="../embeddings/oleObject3.bin"/></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5" Type="http://schemas.openxmlformats.org/officeDocument/2006/relationships/notesSlide" Target="../notesSlides/notesSlide31.xml"/><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13.wmf"/><Relationship Id="rId1" Type="http://schemas.openxmlformats.org/officeDocument/2006/relationships/oleObject" Target="../embeddings/oleObject4.bin"/></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5" Type="http://schemas.openxmlformats.org/officeDocument/2006/relationships/notesSlide" Target="../notesSlides/notesSlide33.xml"/><Relationship Id="rId4" Type="http://schemas.openxmlformats.org/officeDocument/2006/relationships/vmlDrawing" Target="../drawings/vmlDrawing5.vml"/><Relationship Id="rId3" Type="http://schemas.openxmlformats.org/officeDocument/2006/relationships/slideLayout" Target="../slideLayouts/slideLayout2.xml"/><Relationship Id="rId2" Type="http://schemas.openxmlformats.org/officeDocument/2006/relationships/image" Target="../media/image14.wmf"/><Relationship Id="rId1" Type="http://schemas.openxmlformats.org/officeDocument/2006/relationships/oleObject" Target="../embeddings/oleObject5.bin"/></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5" Type="http://schemas.openxmlformats.org/officeDocument/2006/relationships/notesSlide" Target="../notesSlides/notesSlide35.xml"/><Relationship Id="rId4" Type="http://schemas.openxmlformats.org/officeDocument/2006/relationships/vmlDrawing" Target="../drawings/vmlDrawing6.vml"/><Relationship Id="rId3" Type="http://schemas.openxmlformats.org/officeDocument/2006/relationships/slideLayout" Target="../slideLayouts/slideLayout2.xml"/><Relationship Id="rId2" Type="http://schemas.openxmlformats.org/officeDocument/2006/relationships/image" Target="../media/image15.wmf"/><Relationship Id="rId1" Type="http://schemas.openxmlformats.org/officeDocument/2006/relationships/oleObject" Target="../embeddings/oleObject6.bin"/></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5" Type="http://schemas.openxmlformats.org/officeDocument/2006/relationships/notesSlide" Target="../notesSlides/notesSlide37.xml"/><Relationship Id="rId4" Type="http://schemas.openxmlformats.org/officeDocument/2006/relationships/vmlDrawing" Target="../drawings/vmlDrawing7.vml"/><Relationship Id="rId3" Type="http://schemas.openxmlformats.org/officeDocument/2006/relationships/slideLayout" Target="../slideLayouts/slideLayout2.xml"/><Relationship Id="rId2" Type="http://schemas.openxmlformats.org/officeDocument/2006/relationships/image" Target="../media/image16.wmf"/><Relationship Id="rId1" Type="http://schemas.openxmlformats.org/officeDocument/2006/relationships/oleObject" Target="../embeddings/oleObject7.bin"/></Relationships>
</file>

<file path=ppt/slides/_rels/slide42.xml.rels><?xml version="1.0" encoding="UTF-8" standalone="yes"?>
<Relationships xmlns="http://schemas.openxmlformats.org/package/2006/relationships"><Relationship Id="rId5" Type="http://schemas.openxmlformats.org/officeDocument/2006/relationships/notesSlide" Target="../notesSlides/notesSlide38.xml"/><Relationship Id="rId4" Type="http://schemas.openxmlformats.org/officeDocument/2006/relationships/vmlDrawing" Target="../drawings/vmlDrawing8.v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oleObject" Target="../embeddings/oleObject8.bin"/></Relationships>
</file>

<file path=ppt/slides/_rels/slide43.xml.rels><?xml version="1.0" encoding="UTF-8" standalone="yes"?>
<Relationships xmlns="http://schemas.openxmlformats.org/package/2006/relationships"><Relationship Id="rId5" Type="http://schemas.openxmlformats.org/officeDocument/2006/relationships/notesSlide" Target="../notesSlides/notesSlide39.xml"/><Relationship Id="rId4" Type="http://schemas.openxmlformats.org/officeDocument/2006/relationships/vmlDrawing" Target="../drawings/vmlDrawing9.vml"/><Relationship Id="rId3" Type="http://schemas.openxmlformats.org/officeDocument/2006/relationships/slideLayout" Target="../slideLayouts/slideLayout2.xml"/><Relationship Id="rId2" Type="http://schemas.openxmlformats.org/officeDocument/2006/relationships/image" Target="../media/image18.png"/><Relationship Id="rId1" Type="http://schemas.openxmlformats.org/officeDocument/2006/relationships/oleObject" Target="../embeddings/oleObject9.bin"/></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5" Type="http://schemas.openxmlformats.org/officeDocument/2006/relationships/notesSlide" Target="../notesSlides/notesSlide43.xml"/><Relationship Id="rId4" Type="http://schemas.openxmlformats.org/officeDocument/2006/relationships/vmlDrawing" Target="../drawings/vmlDrawing10.vml"/><Relationship Id="rId3" Type="http://schemas.openxmlformats.org/officeDocument/2006/relationships/slideLayout" Target="../slideLayouts/slideLayout2.xml"/><Relationship Id="rId2" Type="http://schemas.openxmlformats.org/officeDocument/2006/relationships/image" Target="../media/image19.wmf"/><Relationship Id="rId1" Type="http://schemas.openxmlformats.org/officeDocument/2006/relationships/oleObject" Target="../embeddings/oleObject10.bin"/></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4" Type="http://schemas.openxmlformats.org/officeDocument/2006/relationships/vmlDrawing" Target="../drawings/vmlDrawing11.vml"/><Relationship Id="rId3" Type="http://schemas.openxmlformats.org/officeDocument/2006/relationships/slideLayout" Target="../slideLayouts/slideLayout2.xml"/><Relationship Id="rId2" Type="http://schemas.openxmlformats.org/officeDocument/2006/relationships/image" Target="../media/image20.wmf"/><Relationship Id="rId1" Type="http://schemas.openxmlformats.org/officeDocument/2006/relationships/oleObject" Target="../embeddings/oleObject11.bin"/></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4" Type="http://schemas.openxmlformats.org/officeDocument/2006/relationships/vmlDrawing" Target="../drawings/vmlDrawing12.vml"/><Relationship Id="rId3" Type="http://schemas.openxmlformats.org/officeDocument/2006/relationships/slideLayout" Target="../slideLayouts/slideLayout2.xml"/><Relationship Id="rId2" Type="http://schemas.openxmlformats.org/officeDocument/2006/relationships/image" Target="../media/image21.wmf"/><Relationship Id="rId1" Type="http://schemas.openxmlformats.org/officeDocument/2006/relationships/oleObject" Target="../embeddings/oleObject12.bin"/></Relationships>
</file>

<file path=ppt/slides/_rels/slide57.xml.rels><?xml version="1.0" encoding="UTF-8" standalone="yes"?>
<Relationships xmlns="http://schemas.openxmlformats.org/package/2006/relationships"><Relationship Id="rId4" Type="http://schemas.openxmlformats.org/officeDocument/2006/relationships/vmlDrawing" Target="../drawings/vmlDrawing13.vml"/><Relationship Id="rId3" Type="http://schemas.openxmlformats.org/officeDocument/2006/relationships/slideLayout" Target="../slideLayouts/slideLayout2.xml"/><Relationship Id="rId2" Type="http://schemas.openxmlformats.org/officeDocument/2006/relationships/image" Target="../media/image22.wmf"/><Relationship Id="rId1" Type="http://schemas.openxmlformats.org/officeDocument/2006/relationships/oleObject" Target="../embeddings/oleObject13.bin"/></Relationships>
</file>

<file path=ppt/slides/_rels/slide58.xml.rels><?xml version="1.0" encoding="UTF-8" standalone="yes"?>
<Relationships xmlns="http://schemas.openxmlformats.org/package/2006/relationships"><Relationship Id="rId4" Type="http://schemas.openxmlformats.org/officeDocument/2006/relationships/vmlDrawing" Target="../drawings/vmlDrawing14.vml"/><Relationship Id="rId3" Type="http://schemas.openxmlformats.org/officeDocument/2006/relationships/slideLayout" Target="../slideLayouts/slideLayout2.xml"/><Relationship Id="rId2" Type="http://schemas.openxmlformats.org/officeDocument/2006/relationships/image" Target="../media/image23.wmf"/><Relationship Id="rId1" Type="http://schemas.openxmlformats.org/officeDocument/2006/relationships/oleObject" Target="../embeddings/oleObject14.bin"/></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4.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ctrTitle"/>
          </p:nvPr>
        </p:nvSpPr>
        <p:spPr/>
        <p:txBody>
          <a:bodyPr/>
          <a:lstStyle/>
          <a:p>
            <a:r>
              <a:rPr lang="zh-CN" altLang="en-US" dirty="0" smtClean="0">
                <a:sym typeface="+mn-ea"/>
              </a:rPr>
              <a:t>第</a:t>
            </a:r>
            <a:r>
              <a:rPr lang="en-US" altLang="zh-CN" dirty="0">
                <a:sym typeface="+mn-ea"/>
              </a:rPr>
              <a:t>9</a:t>
            </a:r>
            <a:r>
              <a:rPr lang="zh-CN" altLang="en-US" dirty="0" smtClean="0">
                <a:sym typeface="+mn-ea"/>
              </a:rPr>
              <a:t>章 </a:t>
            </a:r>
            <a:r>
              <a:rPr lang="zh-CN" altLang="en-US" dirty="0">
                <a:sym typeface="+mn-ea"/>
              </a:rPr>
              <a:t>排序</a:t>
            </a:r>
            <a:endParaRPr lang="zh-CN" altLang="en-US"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a:lnSpc>
                <a:spcPct val="150000"/>
              </a:lnSpc>
              <a:spcBef>
                <a:spcPct val="0"/>
              </a:spcBef>
            </a:pPr>
            <a:r>
              <a:rPr lang="en-US" altLang="zh-CN" sz="2400" dirty="0" smtClean="0"/>
              <a:t>9.1    </a:t>
            </a:r>
            <a:r>
              <a:rPr lang="zh-CN" altLang="en-US" sz="2400" dirty="0"/>
              <a:t>概述</a:t>
            </a:r>
            <a:endParaRPr lang="zh-CN" altLang="en-US" sz="2400" dirty="0"/>
          </a:p>
          <a:p>
            <a:pPr>
              <a:lnSpc>
                <a:spcPct val="150000"/>
              </a:lnSpc>
              <a:spcBef>
                <a:spcPct val="0"/>
              </a:spcBef>
            </a:pPr>
            <a:r>
              <a:rPr lang="en-US" altLang="zh-CN" sz="2400" dirty="0"/>
              <a:t>9. 2   </a:t>
            </a:r>
            <a:r>
              <a:rPr lang="zh-CN" altLang="en-US" sz="2400" dirty="0"/>
              <a:t>插入排序 </a:t>
            </a:r>
            <a:endParaRPr lang="zh-CN" altLang="en-US" sz="2400" dirty="0"/>
          </a:p>
          <a:p>
            <a:pPr>
              <a:lnSpc>
                <a:spcPct val="150000"/>
              </a:lnSpc>
              <a:spcBef>
                <a:spcPct val="0"/>
              </a:spcBef>
            </a:pPr>
            <a:r>
              <a:rPr lang="en-US" altLang="zh-CN" sz="2400" dirty="0"/>
              <a:t>9. 3   </a:t>
            </a:r>
            <a:r>
              <a:rPr lang="zh-CN" altLang="en-US" sz="2400" dirty="0"/>
              <a:t>快速排序 </a:t>
            </a:r>
            <a:endParaRPr lang="zh-CN" altLang="en-US" sz="2400" dirty="0"/>
          </a:p>
          <a:p>
            <a:pPr>
              <a:lnSpc>
                <a:spcPct val="150000"/>
              </a:lnSpc>
              <a:spcBef>
                <a:spcPct val="0"/>
              </a:spcBef>
            </a:pPr>
            <a:r>
              <a:rPr lang="en-US" altLang="zh-CN" sz="2400" dirty="0"/>
              <a:t>9. 4   </a:t>
            </a:r>
            <a:r>
              <a:rPr lang="zh-CN" altLang="en-US" sz="2400" dirty="0"/>
              <a:t>选择排序 </a:t>
            </a:r>
            <a:endParaRPr lang="zh-CN" altLang="en-US" sz="2400" dirty="0"/>
          </a:p>
          <a:p>
            <a:pPr>
              <a:lnSpc>
                <a:spcPct val="150000"/>
              </a:lnSpc>
              <a:spcBef>
                <a:spcPct val="0"/>
              </a:spcBef>
            </a:pPr>
            <a:r>
              <a:rPr lang="en-US" altLang="zh-CN" sz="2400" dirty="0"/>
              <a:t>9. 5   </a:t>
            </a:r>
            <a:r>
              <a:rPr lang="zh-CN" altLang="en-US" sz="2400" dirty="0"/>
              <a:t>归并排序</a:t>
            </a:r>
            <a:endParaRPr lang="zh-CN" altLang="en-US" sz="2400" dirty="0"/>
          </a:p>
          <a:p>
            <a:pPr>
              <a:lnSpc>
                <a:spcPct val="150000"/>
              </a:lnSpc>
              <a:spcBef>
                <a:spcPct val="0"/>
              </a:spcBef>
            </a:pPr>
            <a:r>
              <a:rPr lang="en-US" altLang="zh-CN" sz="2400" dirty="0"/>
              <a:t>9. 6   </a:t>
            </a:r>
            <a:r>
              <a:rPr lang="zh-CN" altLang="en-US" sz="2400" dirty="0"/>
              <a:t>基数排序 </a:t>
            </a:r>
            <a:endParaRPr lang="zh-CN" altLang="en-US" sz="2400" dirty="0"/>
          </a:p>
          <a:p>
            <a:pPr>
              <a:lnSpc>
                <a:spcPct val="150000"/>
              </a:lnSpc>
              <a:spcBef>
                <a:spcPct val="0"/>
              </a:spcBef>
            </a:pPr>
            <a:r>
              <a:rPr lang="en-US" altLang="zh-CN" sz="2400" dirty="0"/>
              <a:t>9. 7   </a:t>
            </a:r>
            <a:r>
              <a:rPr lang="zh-CN" altLang="en-US" sz="2400" dirty="0"/>
              <a:t>各种内部排序方法的比较讨论 </a:t>
            </a:r>
            <a:endParaRPr lang="zh-CN" altLang="en-US" sz="2400" dirty="0"/>
          </a:p>
        </p:txBody>
      </p:sp>
      <p:sp>
        <p:nvSpPr>
          <p:cNvPr id="3" name="标题 2"/>
          <p:cNvSpPr>
            <a:spLocks noGrp="1"/>
          </p:cNvSpPr>
          <p:nvPr>
            <p:ph type="title"/>
          </p:nvPr>
        </p:nvSpPr>
        <p:spPr>
          <a:xfrm>
            <a:off x="746301" y="171219"/>
            <a:ext cx="4816300" cy="248285"/>
          </a:xfrm>
        </p:spPr>
        <p:txBody>
          <a:bodyPr/>
          <a:lstStyle/>
          <a:p>
            <a:r>
              <a:rPr lang="zh-CN" altLang="en-US"/>
              <a:t>本章目录</a:t>
            </a:r>
            <a:endParaRPr lang="zh-CN" altLang="en-US"/>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1</a:t>
            </a:r>
            <a:r>
              <a:rPr lang="en-US" altLang="zh-CN" dirty="0"/>
              <a:t>. </a:t>
            </a:r>
            <a:r>
              <a:rPr lang="zh-CN" altLang="en-US" dirty="0"/>
              <a:t>排序 </a:t>
            </a:r>
            <a:endParaRPr lang="zh-CN" altLang="en-US" dirty="0"/>
          </a:p>
          <a:p>
            <a:pPr lvl="2"/>
            <a:r>
              <a:rPr lang="zh-CN" altLang="en-US" sz="2200" dirty="0" smtClean="0"/>
              <a:t>有</a:t>
            </a:r>
            <a:r>
              <a:rPr lang="en-US" altLang="zh-CN" sz="2200" dirty="0"/>
              <a:t>n</a:t>
            </a:r>
            <a:r>
              <a:rPr lang="zh-CN" altLang="en-US" sz="2200" dirty="0"/>
              <a:t>个记录的序列</a:t>
            </a:r>
            <a:r>
              <a:rPr lang="en-US" altLang="zh-CN" sz="2200" dirty="0"/>
              <a:t>{R</a:t>
            </a:r>
            <a:r>
              <a:rPr lang="en-US" altLang="zh-CN" sz="2200" baseline="-25000" dirty="0"/>
              <a:t>1</a:t>
            </a:r>
            <a:r>
              <a:rPr lang="zh-CN" altLang="en-US" sz="2200" dirty="0"/>
              <a:t>，</a:t>
            </a:r>
            <a:r>
              <a:rPr lang="en-US" altLang="zh-CN" sz="2200" dirty="0"/>
              <a:t>R</a:t>
            </a:r>
            <a:r>
              <a:rPr lang="en-US" altLang="zh-CN" sz="2200" baseline="-25000" dirty="0"/>
              <a:t>2</a:t>
            </a:r>
            <a:r>
              <a:rPr lang="zh-CN" altLang="en-US" sz="2200" dirty="0"/>
              <a:t>，</a:t>
            </a:r>
            <a:r>
              <a:rPr lang="en-US" altLang="zh-CN" sz="2200" dirty="0">
                <a:latin typeface="Courier New" panose="02070309020205020404" pitchFamily="49" charset="0"/>
              </a:rPr>
              <a:t>…</a:t>
            </a:r>
            <a:r>
              <a:rPr lang="zh-CN" altLang="en-US" sz="2200" dirty="0"/>
              <a:t>，</a:t>
            </a:r>
            <a:r>
              <a:rPr lang="en-US" altLang="zh-CN" sz="2200" dirty="0"/>
              <a:t>R</a:t>
            </a:r>
            <a:r>
              <a:rPr lang="en-US" altLang="zh-CN" sz="2200" baseline="-25000" dirty="0"/>
              <a:t>n</a:t>
            </a:r>
            <a:r>
              <a:rPr lang="en-US" altLang="zh-CN" sz="2200" dirty="0"/>
              <a:t>}</a:t>
            </a:r>
            <a:r>
              <a:rPr lang="zh-CN" altLang="en-US" sz="2200" dirty="0"/>
              <a:t>，其相应关键字的序列是</a:t>
            </a:r>
            <a:r>
              <a:rPr lang="en-US" altLang="zh-CN" sz="2200" dirty="0"/>
              <a:t>{K</a:t>
            </a:r>
            <a:r>
              <a:rPr lang="en-US" altLang="zh-CN" sz="2200" baseline="-25000" dirty="0"/>
              <a:t>1</a:t>
            </a:r>
            <a:r>
              <a:rPr lang="zh-CN" altLang="en-US" sz="2200" dirty="0"/>
              <a:t>，</a:t>
            </a:r>
            <a:r>
              <a:rPr lang="en-US" altLang="zh-CN" sz="2200" dirty="0"/>
              <a:t>K</a:t>
            </a:r>
            <a:r>
              <a:rPr lang="en-US" altLang="zh-CN" sz="2200" baseline="-25000" dirty="0"/>
              <a:t>2</a:t>
            </a:r>
            <a:r>
              <a:rPr lang="zh-CN" altLang="en-US" sz="2200" dirty="0"/>
              <a:t>，</a:t>
            </a:r>
            <a:r>
              <a:rPr lang="en-US" altLang="zh-CN" sz="2200" dirty="0">
                <a:latin typeface="Courier New" panose="02070309020205020404" pitchFamily="49" charset="0"/>
              </a:rPr>
              <a:t>…</a:t>
            </a:r>
            <a:r>
              <a:rPr lang="zh-CN" altLang="en-US" sz="2200" dirty="0"/>
              <a:t>，</a:t>
            </a:r>
            <a:r>
              <a:rPr lang="en-US" altLang="zh-CN" sz="2200" dirty="0" err="1"/>
              <a:t>K</a:t>
            </a:r>
            <a:r>
              <a:rPr lang="en-US" altLang="zh-CN" sz="2200" baseline="-25000" dirty="0" err="1"/>
              <a:t>n</a:t>
            </a:r>
            <a:r>
              <a:rPr lang="en-US" altLang="zh-CN" sz="2200" dirty="0"/>
              <a:t>}</a:t>
            </a:r>
            <a:r>
              <a:rPr lang="zh-CN" altLang="en-US" sz="2200" dirty="0"/>
              <a:t>，相应的下标序列为</a:t>
            </a:r>
            <a:r>
              <a:rPr lang="en-US" altLang="zh-CN" sz="2200" dirty="0"/>
              <a:t>1</a:t>
            </a:r>
            <a:r>
              <a:rPr lang="zh-CN" altLang="en-US" sz="2200" dirty="0"/>
              <a:t>，</a:t>
            </a:r>
            <a:r>
              <a:rPr lang="en-US" altLang="zh-CN" sz="2200" dirty="0"/>
              <a:t>2</a:t>
            </a:r>
            <a:r>
              <a:rPr lang="zh-CN" altLang="en-US" sz="2200" dirty="0"/>
              <a:t>，</a:t>
            </a:r>
            <a:r>
              <a:rPr lang="en-US" altLang="zh-CN" sz="2200" dirty="0">
                <a:latin typeface="Courier New" panose="02070309020205020404" pitchFamily="49" charset="0"/>
              </a:rPr>
              <a:t>…</a:t>
            </a:r>
            <a:r>
              <a:rPr lang="zh-CN" altLang="en-US" sz="2200" dirty="0"/>
              <a:t>，</a:t>
            </a:r>
            <a:r>
              <a:rPr lang="en-US" altLang="zh-CN" sz="2200" dirty="0"/>
              <a:t>n</a:t>
            </a:r>
            <a:r>
              <a:rPr lang="zh-CN" altLang="en-US" sz="2200" dirty="0"/>
              <a:t>。通过排序，要求找出当前下标序列</a:t>
            </a:r>
            <a:r>
              <a:rPr lang="en-US" altLang="zh-CN" sz="2200" dirty="0"/>
              <a:t>1</a:t>
            </a:r>
            <a:r>
              <a:rPr lang="zh-CN" altLang="en-US" sz="2200" dirty="0"/>
              <a:t>，</a:t>
            </a:r>
            <a:r>
              <a:rPr lang="en-US" altLang="zh-CN" sz="2200" dirty="0"/>
              <a:t>2</a:t>
            </a:r>
            <a:r>
              <a:rPr lang="zh-CN" altLang="en-US" sz="2200" dirty="0"/>
              <a:t>，</a:t>
            </a:r>
            <a:r>
              <a:rPr lang="en-US" altLang="zh-CN" sz="2200" dirty="0">
                <a:latin typeface="Courier New" panose="02070309020205020404" pitchFamily="49" charset="0"/>
              </a:rPr>
              <a:t>…</a:t>
            </a:r>
            <a:r>
              <a:rPr lang="zh-CN" altLang="en-US" sz="2200" dirty="0"/>
              <a:t>，</a:t>
            </a:r>
            <a:r>
              <a:rPr lang="en-US" altLang="zh-CN" sz="2200" dirty="0"/>
              <a:t>n</a:t>
            </a:r>
            <a:r>
              <a:rPr lang="zh-CN" altLang="en-US" sz="2200" dirty="0"/>
              <a:t>的一种排列</a:t>
            </a:r>
            <a:r>
              <a:rPr lang="en-US" altLang="zh-CN" sz="2200" dirty="0"/>
              <a:t>p1</a:t>
            </a:r>
            <a:r>
              <a:rPr lang="zh-CN" altLang="en-US" sz="2200" dirty="0"/>
              <a:t>，</a:t>
            </a:r>
            <a:r>
              <a:rPr lang="en-US" altLang="zh-CN" sz="2200" dirty="0"/>
              <a:t>p2</a:t>
            </a:r>
            <a:r>
              <a:rPr lang="zh-CN" altLang="en-US" sz="2200" dirty="0"/>
              <a:t>，</a:t>
            </a:r>
            <a:r>
              <a:rPr lang="en-US" altLang="zh-CN" sz="2200" dirty="0">
                <a:latin typeface="Courier New" panose="02070309020205020404" pitchFamily="49" charset="0"/>
              </a:rPr>
              <a:t>…</a:t>
            </a:r>
            <a:r>
              <a:rPr lang="zh-CN" altLang="en-US" sz="2200" dirty="0"/>
              <a:t>，</a:t>
            </a:r>
            <a:r>
              <a:rPr lang="en-US" altLang="zh-CN" sz="2200" dirty="0" err="1"/>
              <a:t>pn</a:t>
            </a:r>
            <a:r>
              <a:rPr lang="zh-CN" altLang="en-US" sz="2200" dirty="0"/>
              <a:t>，使得相应关键字满足如下的非递减（或非递增）关系，即：</a:t>
            </a:r>
            <a:r>
              <a:rPr lang="en-US" altLang="zh-CN" sz="2200" dirty="0"/>
              <a:t>K</a:t>
            </a:r>
            <a:r>
              <a:rPr lang="en-US" altLang="zh-CN" sz="2200" baseline="-25000" dirty="0"/>
              <a:t>p1</a:t>
            </a:r>
            <a:r>
              <a:rPr lang="en-US" altLang="zh-CN" sz="2200" dirty="0"/>
              <a:t>≤K</a:t>
            </a:r>
            <a:r>
              <a:rPr lang="en-US" altLang="zh-CN" sz="2200" baseline="-25000" dirty="0"/>
              <a:t>p2</a:t>
            </a:r>
            <a:r>
              <a:rPr lang="en-US" altLang="zh-CN" sz="2200" dirty="0"/>
              <a:t>≤</a:t>
            </a:r>
            <a:r>
              <a:rPr lang="en-US" altLang="zh-CN" sz="2200" dirty="0">
                <a:latin typeface="Courier New" panose="02070309020205020404" pitchFamily="49" charset="0"/>
              </a:rPr>
              <a:t>…</a:t>
            </a:r>
            <a:r>
              <a:rPr lang="en-US" altLang="zh-CN" sz="2200" dirty="0"/>
              <a:t>≤</a:t>
            </a:r>
            <a:r>
              <a:rPr lang="en-US" altLang="zh-CN" sz="2200" dirty="0" err="1"/>
              <a:t>K</a:t>
            </a:r>
            <a:r>
              <a:rPr lang="en-US" altLang="zh-CN" sz="2200" baseline="-25000" dirty="0" err="1"/>
              <a:t>pn</a:t>
            </a:r>
            <a:r>
              <a:rPr lang="zh-CN" altLang="en-US" sz="2200" dirty="0"/>
              <a:t>，这样就得到一个按关键字有序的记录序列</a:t>
            </a:r>
            <a:r>
              <a:rPr lang="en-US" altLang="zh-CN" sz="2200" dirty="0"/>
              <a:t>{R</a:t>
            </a:r>
            <a:r>
              <a:rPr lang="en-US" altLang="zh-CN" sz="2200" baseline="-25000" dirty="0"/>
              <a:t>p1</a:t>
            </a:r>
            <a:r>
              <a:rPr lang="zh-CN" altLang="en-US" sz="2200" dirty="0"/>
              <a:t>，</a:t>
            </a:r>
            <a:r>
              <a:rPr lang="en-US" altLang="zh-CN" sz="2200" dirty="0"/>
              <a:t>R</a:t>
            </a:r>
            <a:r>
              <a:rPr lang="en-US" altLang="zh-CN" sz="2200" baseline="-25000" dirty="0"/>
              <a:t>p2</a:t>
            </a:r>
            <a:r>
              <a:rPr lang="zh-CN" altLang="en-US" sz="2200" dirty="0"/>
              <a:t>，</a:t>
            </a:r>
            <a:r>
              <a:rPr lang="en-US" altLang="zh-CN" sz="2200" dirty="0"/>
              <a:t>…</a:t>
            </a:r>
            <a:r>
              <a:rPr lang="zh-CN" altLang="en-US" sz="2200" dirty="0"/>
              <a:t>，</a:t>
            </a:r>
            <a:r>
              <a:rPr lang="en-US" altLang="zh-CN" sz="2200" dirty="0" err="1"/>
              <a:t>R</a:t>
            </a:r>
            <a:r>
              <a:rPr lang="en-US" altLang="zh-CN" sz="2200" baseline="-25000" dirty="0" err="1"/>
              <a:t>pn</a:t>
            </a:r>
            <a:r>
              <a:rPr lang="en-US" altLang="zh-CN" sz="2200" dirty="0"/>
              <a:t>}</a:t>
            </a:r>
            <a:r>
              <a:rPr lang="zh-CN" altLang="en-US" sz="2200" dirty="0"/>
              <a:t>。 </a:t>
            </a:r>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a:t>9</a:t>
            </a:r>
            <a:r>
              <a:rPr lang="en-US" altLang="zh-CN" dirty="0" smtClean="0"/>
              <a:t>.1 </a:t>
            </a:r>
            <a:r>
              <a:rPr lang="zh-CN" altLang="en-US" dirty="0" smtClean="0"/>
              <a:t>概述</a:t>
            </a:r>
            <a:endParaRPr lang="zh-CN" alt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dirty="0" smtClean="0"/>
              <a:t>      假设</a:t>
            </a:r>
            <a:r>
              <a:rPr lang="en-US" altLang="zh-CN" dirty="0"/>
              <a:t>K</a:t>
            </a:r>
            <a:r>
              <a:rPr lang="en-US" altLang="zh-CN" baseline="-25000" dirty="0"/>
              <a:t>i</a:t>
            </a:r>
            <a:r>
              <a:rPr lang="en-US" altLang="zh-CN" dirty="0"/>
              <a:t>=</a:t>
            </a:r>
            <a:r>
              <a:rPr lang="en-US" altLang="zh-CN" dirty="0" err="1"/>
              <a:t>K</a:t>
            </a:r>
            <a:r>
              <a:rPr lang="en-US" altLang="zh-CN" baseline="-25000" dirty="0" err="1"/>
              <a:t>j</a:t>
            </a:r>
            <a:r>
              <a:rPr lang="en-US" altLang="zh-CN" dirty="0"/>
              <a:t>(1≤i≤n</a:t>
            </a:r>
            <a:r>
              <a:rPr lang="zh-CN" altLang="en-US" dirty="0"/>
              <a:t>，</a:t>
            </a:r>
            <a:r>
              <a:rPr lang="en-US" altLang="zh-CN" dirty="0"/>
              <a:t>1≤j≤n</a:t>
            </a:r>
            <a:r>
              <a:rPr lang="zh-CN" altLang="en-US" dirty="0"/>
              <a:t>，</a:t>
            </a:r>
            <a:r>
              <a:rPr lang="en-US" altLang="zh-CN" dirty="0" err="1"/>
              <a:t>i≠j</a:t>
            </a:r>
            <a:r>
              <a:rPr lang="en-US" altLang="zh-CN" dirty="0"/>
              <a:t>)</a:t>
            </a:r>
            <a:r>
              <a:rPr lang="zh-CN" altLang="en-US" dirty="0"/>
              <a:t>，若在排序前的序列中</a:t>
            </a:r>
            <a:r>
              <a:rPr lang="en-US" altLang="zh-CN" dirty="0" err="1"/>
              <a:t>R</a:t>
            </a:r>
            <a:r>
              <a:rPr lang="en-US" altLang="zh-CN" baseline="-25000" dirty="0" err="1"/>
              <a:t>i</a:t>
            </a:r>
            <a:r>
              <a:rPr lang="zh-CN" altLang="en-US" dirty="0"/>
              <a:t>领先于</a:t>
            </a:r>
            <a:r>
              <a:rPr lang="en-US" altLang="zh-CN" dirty="0" err="1"/>
              <a:t>R</a:t>
            </a:r>
            <a:r>
              <a:rPr lang="en-US" altLang="zh-CN" baseline="-25000" dirty="0" err="1"/>
              <a:t>j</a:t>
            </a:r>
            <a:r>
              <a:rPr lang="en-US" altLang="zh-CN" dirty="0"/>
              <a:t>(</a:t>
            </a:r>
            <a:r>
              <a:rPr lang="zh-CN" altLang="en-US" dirty="0"/>
              <a:t>即</a:t>
            </a:r>
            <a:r>
              <a:rPr lang="en-US" altLang="zh-CN" dirty="0" err="1"/>
              <a:t>i</a:t>
            </a:r>
            <a:r>
              <a:rPr lang="en-US" altLang="zh-CN" dirty="0"/>
              <a:t>&lt;j)</a:t>
            </a:r>
            <a:r>
              <a:rPr lang="zh-CN" altLang="en-US" dirty="0"/>
              <a:t>，经过排序后得到的序列中</a:t>
            </a:r>
            <a:r>
              <a:rPr lang="en-US" altLang="zh-CN" dirty="0" err="1"/>
              <a:t>R</a:t>
            </a:r>
            <a:r>
              <a:rPr lang="en-US" altLang="zh-CN" baseline="-25000" dirty="0" err="1"/>
              <a:t>i</a:t>
            </a:r>
            <a:r>
              <a:rPr lang="zh-CN" altLang="en-US" dirty="0"/>
              <a:t>仍领先于</a:t>
            </a:r>
            <a:r>
              <a:rPr lang="en-US" altLang="zh-CN" dirty="0" err="1"/>
              <a:t>R</a:t>
            </a:r>
            <a:r>
              <a:rPr lang="en-US" altLang="zh-CN" baseline="-25000" dirty="0" err="1"/>
              <a:t>j</a:t>
            </a:r>
            <a:r>
              <a:rPr lang="zh-CN" altLang="en-US" dirty="0" smtClean="0"/>
              <a:t>，则</a:t>
            </a:r>
            <a:r>
              <a:rPr lang="zh-CN" altLang="en-US" dirty="0"/>
              <a:t>称所用的排序方法是</a:t>
            </a:r>
            <a:r>
              <a:rPr lang="zh-CN" altLang="en-US" dirty="0">
                <a:solidFill>
                  <a:srgbClr val="FF0000"/>
                </a:solidFill>
              </a:rPr>
              <a:t>稳定</a:t>
            </a:r>
            <a:r>
              <a:rPr lang="zh-CN" altLang="en-US" dirty="0"/>
              <a:t>的；反之，当相同关键字的领先关系在排序过程中发生变化，则称所用的排序方法是</a:t>
            </a:r>
            <a:r>
              <a:rPr lang="zh-CN" altLang="en-US" dirty="0">
                <a:solidFill>
                  <a:srgbClr val="FF0000"/>
                </a:solidFill>
              </a:rPr>
              <a:t>不稳定的</a:t>
            </a:r>
            <a:r>
              <a:rPr lang="zh-CN" altLang="en-US" dirty="0"/>
              <a:t>。</a:t>
            </a:r>
            <a:endParaRPr lang="zh-CN" altLang="en-US" dirty="0"/>
          </a:p>
          <a:p>
            <a:pPr marL="0" lvl="2"/>
            <a:r>
              <a:rPr lang="zh-CN" altLang="en-US" dirty="0"/>
              <a:t>       无论是稳定的还是不稳定的排序方法，均能排好序。在应用排序的某些场合，如选举和比赛等，对排序的稳定性是有特殊要求的</a:t>
            </a:r>
            <a:r>
              <a:rPr lang="zh-CN" altLang="en-US" dirty="0" smtClean="0"/>
              <a:t>。</a:t>
            </a:r>
            <a:endParaRPr lang="zh-CN" altLang="en-US" dirty="0"/>
          </a:p>
          <a:p>
            <a:pPr marL="0" lvl="2"/>
            <a:r>
              <a:rPr lang="zh-CN" altLang="en-US" dirty="0"/>
              <a:t>        </a:t>
            </a:r>
            <a:r>
              <a:rPr lang="zh-CN" altLang="en-US" dirty="0">
                <a:solidFill>
                  <a:srgbClr val="FF0000"/>
                </a:solidFill>
              </a:rPr>
              <a:t>证明一种排序方法是稳定的，要从算法本身的步骤中加以证明。证明排序方法是不稳定的，只需给出一个反例说明</a:t>
            </a:r>
            <a:r>
              <a:rPr lang="zh-CN" altLang="en-US" dirty="0" smtClean="0">
                <a:solidFill>
                  <a:srgbClr val="FF0000"/>
                </a:solidFill>
              </a:rPr>
              <a:t>。</a:t>
            </a:r>
            <a:endParaRPr lang="zh-CN" altLang="en-US" dirty="0">
              <a:solidFill>
                <a:srgbClr val="FF0000"/>
              </a:solidFill>
            </a:endParaRPr>
          </a:p>
        </p:txBody>
      </p:sp>
      <p:sp>
        <p:nvSpPr>
          <p:cNvPr id="3" name="标题 2"/>
          <p:cNvSpPr>
            <a:spLocks noGrp="1"/>
          </p:cNvSpPr>
          <p:nvPr>
            <p:ph type="title"/>
          </p:nvPr>
        </p:nvSpPr>
        <p:spPr>
          <a:xfrm>
            <a:off x="746301" y="171219"/>
            <a:ext cx="4816300" cy="248285"/>
          </a:xfrm>
        </p:spPr>
        <p:txBody>
          <a:bodyPr/>
          <a:lstStyle/>
          <a:p>
            <a:r>
              <a:rPr lang="en-US" altLang="zh-CN" dirty="0"/>
              <a:t>9</a:t>
            </a:r>
            <a:r>
              <a:rPr lang="en-US" altLang="zh-CN" dirty="0" smtClean="0"/>
              <a:t>.1 </a:t>
            </a:r>
            <a:r>
              <a:rPr lang="zh-CN" altLang="en-US" dirty="0" smtClean="0"/>
              <a:t>概述</a:t>
            </a:r>
            <a:endParaRPr lang="zh-CN" alt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dirty="0" smtClean="0"/>
              <a:t>2</a:t>
            </a:r>
            <a:r>
              <a:rPr lang="en-US" altLang="zh-CN" dirty="0"/>
              <a:t>. </a:t>
            </a:r>
            <a:r>
              <a:rPr lang="zh-CN" altLang="en-US" dirty="0"/>
              <a:t>内部排序与外部排序</a:t>
            </a:r>
            <a:endParaRPr lang="zh-CN" altLang="en-US" dirty="0"/>
          </a:p>
          <a:p>
            <a:pPr marL="0" lvl="2"/>
            <a:r>
              <a:rPr lang="zh-CN" altLang="en-US" dirty="0"/>
              <a:t>        根据排序时数据所占用存储器的不同，可将排序分为两类</a:t>
            </a:r>
            <a:r>
              <a:rPr lang="zh-CN" altLang="en-US" dirty="0" smtClean="0"/>
              <a:t>：</a:t>
            </a:r>
            <a:endParaRPr lang="en-US" altLang="zh-CN" dirty="0" smtClean="0"/>
          </a:p>
          <a:p>
            <a:pPr marL="0" lvl="2"/>
            <a:r>
              <a:rPr lang="zh-CN" altLang="en-US" dirty="0" smtClean="0"/>
              <a:t>一类</a:t>
            </a:r>
            <a:r>
              <a:rPr lang="zh-CN" altLang="en-US" dirty="0"/>
              <a:t>是整个排序过程完全在内存中进行，称为内部排序</a:t>
            </a:r>
            <a:r>
              <a:rPr lang="zh-CN" altLang="en-US" dirty="0" smtClean="0"/>
              <a:t>；</a:t>
            </a:r>
            <a:endParaRPr lang="en-US" altLang="zh-CN" dirty="0" smtClean="0"/>
          </a:p>
          <a:p>
            <a:pPr marL="0" lvl="2"/>
            <a:r>
              <a:rPr lang="zh-CN" altLang="en-US" dirty="0" smtClean="0"/>
              <a:t>另</a:t>
            </a:r>
            <a:r>
              <a:rPr lang="zh-CN" altLang="en-US" dirty="0"/>
              <a:t>一类是由于待排序记录数据量太大，内存无法容纳全部数据，排序需要借助外部存储设备才能完成，称为外部排序。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a:t>9</a:t>
            </a:r>
            <a:r>
              <a:rPr lang="en-US" altLang="zh-CN" dirty="0" smtClean="0"/>
              <a:t>.1 </a:t>
            </a:r>
            <a:r>
              <a:rPr lang="zh-CN" altLang="en-US" dirty="0" smtClean="0"/>
              <a:t>概述</a:t>
            </a:r>
            <a:endParaRPr lang="zh-CN" alt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ts val="2800"/>
              </a:lnSpc>
              <a:spcBef>
                <a:spcPts val="0"/>
              </a:spcBef>
            </a:pPr>
            <a:r>
              <a:rPr lang="zh-CN" altLang="en-US" sz="2100" dirty="0" smtClean="0">
                <a:solidFill>
                  <a:srgbClr val="00194C"/>
                </a:solidFill>
                <a:latin typeface="华文楷体" panose="02010600040101010101" pitchFamily="2" charset="-122"/>
                <a:ea typeface="华文楷体" panose="02010600040101010101" pitchFamily="2" charset="-122"/>
              </a:rPr>
              <a:t>在</a:t>
            </a:r>
            <a:r>
              <a:rPr lang="zh-CN" altLang="en-US" sz="2100" dirty="0">
                <a:solidFill>
                  <a:srgbClr val="00194C"/>
                </a:solidFill>
                <a:latin typeface="华文楷体" panose="02010600040101010101" pitchFamily="2" charset="-122"/>
                <a:ea typeface="华文楷体" panose="02010600040101010101" pitchFamily="2" charset="-122"/>
              </a:rPr>
              <a:t>排序过程中，一般进行两种基本操作：</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zh-CN" altLang="en-US"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1</a:t>
            </a:r>
            <a:r>
              <a:rPr lang="zh-CN" altLang="en-US" sz="2100" dirty="0">
                <a:solidFill>
                  <a:srgbClr val="00194C"/>
                </a:solidFill>
                <a:latin typeface="华文楷体" panose="02010600040101010101" pitchFamily="2" charset="-122"/>
                <a:ea typeface="华文楷体" panose="02010600040101010101" pitchFamily="2" charset="-122"/>
              </a:rPr>
              <a:t>） 比较两个关键字的大小；</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zh-CN" altLang="en-US" sz="2100" dirty="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2</a:t>
            </a:r>
            <a:r>
              <a:rPr lang="zh-CN" altLang="en-US" sz="2100" dirty="0">
                <a:solidFill>
                  <a:srgbClr val="00194C"/>
                </a:solidFill>
                <a:latin typeface="华文楷体" panose="02010600040101010101" pitchFamily="2" charset="-122"/>
                <a:ea typeface="华文楷体" panose="02010600040101010101" pitchFamily="2" charset="-122"/>
              </a:rPr>
              <a:t>） 将记录从一个位置移动到另一个位置。</a:t>
            </a:r>
            <a:endParaRPr lang="zh-CN" altLang="en-US" sz="2100" dirty="0">
              <a:solidFill>
                <a:srgbClr val="00194C"/>
              </a:solidFill>
              <a:latin typeface="华文楷体" panose="02010600040101010101" pitchFamily="2" charset="-122"/>
              <a:ea typeface="华文楷体" panose="02010600040101010101" pitchFamily="2" charset="-122"/>
            </a:endParaRPr>
          </a:p>
          <a:p>
            <a:pPr eaLnBrk="1" hangingPunct="1">
              <a:lnSpc>
                <a:spcPts val="2800"/>
              </a:lnSpc>
              <a:spcBef>
                <a:spcPts val="0"/>
              </a:spcBef>
            </a:pPr>
            <a:r>
              <a:rPr lang="zh-CN" altLang="en-US" sz="2100" dirty="0">
                <a:solidFill>
                  <a:srgbClr val="00194C"/>
                </a:solidFill>
                <a:latin typeface="华文楷体" panose="02010600040101010101" pitchFamily="2" charset="-122"/>
                <a:ea typeface="华文楷体" panose="02010600040101010101" pitchFamily="2" charset="-122"/>
              </a:rPr>
              <a:t>        其中操作（</a:t>
            </a:r>
            <a:r>
              <a:rPr lang="en-US" altLang="zh-CN" sz="2100" dirty="0">
                <a:solidFill>
                  <a:srgbClr val="00194C"/>
                </a:solidFill>
                <a:latin typeface="华文楷体" panose="02010600040101010101" pitchFamily="2" charset="-122"/>
                <a:ea typeface="华文楷体" panose="02010600040101010101" pitchFamily="2" charset="-122"/>
              </a:rPr>
              <a:t>1</a:t>
            </a:r>
            <a:r>
              <a:rPr lang="zh-CN" altLang="en-US" sz="2100" dirty="0">
                <a:solidFill>
                  <a:srgbClr val="00194C"/>
                </a:solidFill>
                <a:latin typeface="华文楷体" panose="02010600040101010101" pitchFamily="2" charset="-122"/>
                <a:ea typeface="华文楷体" panose="02010600040101010101" pitchFamily="2" charset="-122"/>
              </a:rPr>
              <a:t>）对于大多数排序方法来说是必要的，而操作（</a:t>
            </a:r>
            <a:r>
              <a:rPr lang="en-US" altLang="zh-CN" sz="2100" dirty="0">
                <a:solidFill>
                  <a:srgbClr val="00194C"/>
                </a:solidFill>
                <a:latin typeface="华文楷体" panose="02010600040101010101" pitchFamily="2" charset="-122"/>
                <a:ea typeface="华文楷体" panose="02010600040101010101" pitchFamily="2" charset="-122"/>
              </a:rPr>
              <a:t>2</a:t>
            </a:r>
            <a:r>
              <a:rPr lang="zh-CN" altLang="en-US" sz="2100" dirty="0">
                <a:solidFill>
                  <a:srgbClr val="00194C"/>
                </a:solidFill>
                <a:latin typeface="华文楷体" panose="02010600040101010101" pitchFamily="2" charset="-122"/>
                <a:ea typeface="华文楷体" panose="02010600040101010101" pitchFamily="2" charset="-122"/>
              </a:rPr>
              <a:t>）则可以通过采用适当的存储方式予以避免。对于待排序的记录序列，有三种常见的存储表示方法</a:t>
            </a:r>
            <a:r>
              <a:rPr lang="zh-CN" altLang="en-US" sz="2100" dirty="0" smtClean="0">
                <a:solidFill>
                  <a:srgbClr val="00194C"/>
                </a:solidFill>
                <a:latin typeface="华文楷体" panose="02010600040101010101" pitchFamily="2" charset="-122"/>
                <a:ea typeface="华文楷体" panose="02010600040101010101" pitchFamily="2" charset="-122"/>
              </a:rPr>
              <a:t>：</a:t>
            </a:r>
            <a:endParaRPr lang="en-US" altLang="zh-CN" sz="2100" dirty="0">
              <a:solidFill>
                <a:srgbClr val="00194C"/>
              </a:solidFill>
              <a:latin typeface="华文楷体" panose="02010600040101010101" pitchFamily="2" charset="-122"/>
              <a:ea typeface="华文楷体" panose="02010600040101010101" pitchFamily="2" charset="-122"/>
            </a:endParaRPr>
          </a:p>
          <a:p>
            <a:pPr marL="342900" indent="-342900" eaLnBrk="1" hangingPunct="1">
              <a:lnSpc>
                <a:spcPts val="2800"/>
              </a:lnSpc>
              <a:spcBef>
                <a:spcPts val="0"/>
              </a:spcBef>
              <a:buFont typeface="Wingdings" panose="05000000000000000000" pitchFamily="2" charset="2"/>
              <a:buChar char="Ø"/>
            </a:pPr>
            <a:r>
              <a:rPr lang="zh-CN" altLang="en-US" sz="2100" dirty="0">
                <a:solidFill>
                  <a:srgbClr val="00194C"/>
                </a:solidFill>
                <a:latin typeface="华文楷体" panose="02010600040101010101" pitchFamily="2" charset="-122"/>
                <a:ea typeface="华文楷体" panose="02010600040101010101" pitchFamily="2" charset="-122"/>
              </a:rPr>
              <a:t>向量结构：将待排序的记录存放在一组地址连续的存储单元中。由于在这种存储方式中，记录之间的次序关系由其存储位置来决定，所以排序过程中一定要移动记录才行。</a:t>
            </a:r>
            <a:endParaRPr lang="zh-CN" altLang="en-US" sz="2100" dirty="0">
              <a:solidFill>
                <a:srgbClr val="00194C"/>
              </a:solidFill>
              <a:latin typeface="华文楷体" panose="02010600040101010101" pitchFamily="2" charset="-122"/>
              <a:ea typeface="华文楷体" panose="02010600040101010101" pitchFamily="2" charset="-122"/>
            </a:endParaRPr>
          </a:p>
        </p:txBody>
      </p:sp>
      <p:sp>
        <p:nvSpPr>
          <p:cNvPr id="3" name="标题 2"/>
          <p:cNvSpPr>
            <a:spLocks noGrp="1"/>
          </p:cNvSpPr>
          <p:nvPr>
            <p:ph type="title"/>
          </p:nvPr>
        </p:nvSpPr>
        <p:spPr>
          <a:xfrm>
            <a:off x="746301" y="171219"/>
            <a:ext cx="4816300" cy="248285"/>
          </a:xfrm>
        </p:spPr>
        <p:txBody>
          <a:bodyPr/>
          <a:lstStyle/>
          <a:p>
            <a:r>
              <a:rPr lang="en-US" altLang="zh-CN" dirty="0"/>
              <a:t>9</a:t>
            </a:r>
            <a:r>
              <a:rPr lang="en-US" altLang="zh-CN" dirty="0" smtClean="0"/>
              <a:t>.1 </a:t>
            </a:r>
            <a:r>
              <a:rPr lang="zh-CN" altLang="en-US" dirty="0" smtClean="0"/>
              <a:t>概述</a:t>
            </a:r>
            <a:endParaRPr lang="zh-CN" alt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42900" lvl="2" indent="-342900">
              <a:lnSpc>
                <a:spcPts val="2800"/>
              </a:lnSpc>
              <a:buFont typeface="Wingdings" panose="05000000000000000000" pitchFamily="2" charset="2"/>
              <a:buChar char="Ø"/>
            </a:pPr>
            <a:r>
              <a:rPr lang="zh-CN" altLang="en-US" dirty="0" smtClean="0"/>
              <a:t>链表</a:t>
            </a:r>
            <a:r>
              <a:rPr lang="zh-CN" altLang="en-US" dirty="0"/>
              <a:t>结构：采用链表结构时，记录之间逻辑上的相邻性是靠指针来维持的，这样在排序时，就不用移动记录元素，而只需要修改指针。这种排序方式被称为链表排序。</a:t>
            </a:r>
            <a:endParaRPr lang="en-US" altLang="zh-CN" dirty="0"/>
          </a:p>
          <a:p>
            <a:pPr marL="342900" lvl="2" indent="-342900">
              <a:lnSpc>
                <a:spcPts val="2800"/>
              </a:lnSpc>
              <a:buFont typeface="Wingdings" panose="05000000000000000000" pitchFamily="2" charset="2"/>
              <a:buChar char="Ø"/>
            </a:pPr>
            <a:r>
              <a:rPr lang="zh-CN" altLang="en-US" dirty="0"/>
              <a:t>记录向量与地址向量结合：将待排序记录存放在一组地址连续的存储单元中，同时另设一个指示各个记录位置的地址向量。这样在排序过程中不移动记录本身，而修改地址向量中记录的“地址”，排序结束后，再按照地址向量中的值调整记录的存储位置。这种排序方式被称为地址排序。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a:t>9</a:t>
            </a:r>
            <a:r>
              <a:rPr lang="en-US" altLang="zh-CN" dirty="0" smtClean="0"/>
              <a:t>.1 </a:t>
            </a:r>
            <a:r>
              <a:rPr lang="zh-CN" altLang="en-US" dirty="0" smtClean="0"/>
              <a:t>概述</a:t>
            </a:r>
            <a:endParaRPr lang="zh-CN" alt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700"/>
              </a:lnSpc>
            </a:pPr>
            <a:r>
              <a:rPr lang="zh-CN" altLang="en-US" dirty="0" smtClean="0"/>
              <a:t>为了</a:t>
            </a:r>
            <a:r>
              <a:rPr lang="zh-CN" altLang="en-US" dirty="0"/>
              <a:t>讨论方便，假设待排记录的关键字均为整数，均从数组中下标为</a:t>
            </a:r>
            <a:r>
              <a:rPr lang="en-US" altLang="zh-CN" dirty="0"/>
              <a:t>1</a:t>
            </a:r>
            <a:r>
              <a:rPr lang="zh-CN" altLang="en-US" dirty="0"/>
              <a:t>的位置开始存储，下标为</a:t>
            </a:r>
            <a:r>
              <a:rPr lang="en-US" altLang="zh-CN" dirty="0"/>
              <a:t>0</a:t>
            </a:r>
            <a:r>
              <a:rPr lang="zh-CN" altLang="en-US" dirty="0"/>
              <a:t>的位置存储监视哨或空闲不用。 </a:t>
            </a:r>
            <a:endParaRPr lang="zh-CN" altLang="en-US" dirty="0"/>
          </a:p>
          <a:p>
            <a:pPr lvl="2">
              <a:lnSpc>
                <a:spcPts val="2700"/>
              </a:lnSpc>
            </a:pPr>
            <a:r>
              <a:rPr lang="en-US" altLang="zh-CN" dirty="0"/>
              <a:t>#define MAXSIZE  20</a:t>
            </a:r>
            <a:endParaRPr lang="en-US" altLang="zh-CN" dirty="0"/>
          </a:p>
          <a:p>
            <a:pPr lvl="2">
              <a:lnSpc>
                <a:spcPts val="2700"/>
              </a:lnSpc>
            </a:pPr>
            <a:r>
              <a:rPr lang="en-US" altLang="zh-CN" dirty="0" err="1"/>
              <a:t>typedef</a:t>
            </a:r>
            <a:r>
              <a:rPr lang="en-US" altLang="zh-CN" dirty="0"/>
              <a:t> </a:t>
            </a:r>
            <a:r>
              <a:rPr lang="en-US" altLang="zh-CN" dirty="0" err="1"/>
              <a:t>int</a:t>
            </a:r>
            <a:r>
              <a:rPr lang="en-US" altLang="zh-CN" dirty="0"/>
              <a:t> </a:t>
            </a:r>
            <a:r>
              <a:rPr lang="en-US" altLang="zh-CN" dirty="0" err="1"/>
              <a:t>KeyType</a:t>
            </a:r>
            <a:r>
              <a:rPr lang="en-US" altLang="zh-CN" dirty="0"/>
              <a:t>;</a:t>
            </a:r>
            <a:endParaRPr lang="en-US" altLang="zh-CN" dirty="0"/>
          </a:p>
          <a:p>
            <a:pPr lvl="2">
              <a:lnSpc>
                <a:spcPts val="2700"/>
              </a:lnSpc>
            </a:pPr>
            <a:r>
              <a:rPr lang="en-US" altLang="zh-CN" dirty="0" err="1"/>
              <a:t>typedef</a:t>
            </a:r>
            <a:r>
              <a:rPr lang="en-US" altLang="zh-CN" dirty="0"/>
              <a:t> </a:t>
            </a:r>
            <a:r>
              <a:rPr lang="en-US" altLang="zh-CN" dirty="0" err="1"/>
              <a:t>struct</a:t>
            </a:r>
            <a:r>
              <a:rPr lang="en-US" altLang="zh-CN" dirty="0"/>
              <a:t> {</a:t>
            </a:r>
            <a:endParaRPr lang="en-US" altLang="zh-CN" dirty="0"/>
          </a:p>
          <a:p>
            <a:pPr lvl="2">
              <a:lnSpc>
                <a:spcPts val="2700"/>
              </a:lnSpc>
            </a:pPr>
            <a:r>
              <a:rPr lang="en-US" altLang="zh-CN" dirty="0"/>
              <a:t>             </a:t>
            </a:r>
            <a:r>
              <a:rPr lang="en-US" altLang="zh-CN" dirty="0" err="1"/>
              <a:t>KeyType</a:t>
            </a:r>
            <a:r>
              <a:rPr lang="en-US" altLang="zh-CN" dirty="0"/>
              <a:t> key;</a:t>
            </a:r>
            <a:endParaRPr lang="en-US" altLang="zh-CN" dirty="0"/>
          </a:p>
          <a:p>
            <a:pPr lvl="2">
              <a:lnSpc>
                <a:spcPts val="2700"/>
              </a:lnSpc>
            </a:pPr>
            <a:r>
              <a:rPr lang="en-US" altLang="zh-CN" dirty="0"/>
              <a:t>             </a:t>
            </a:r>
            <a:r>
              <a:rPr lang="en-US" altLang="zh-CN" dirty="0" err="1"/>
              <a:t>InfoType</a:t>
            </a:r>
            <a:r>
              <a:rPr lang="en-US" altLang="zh-CN" dirty="0"/>
              <a:t> </a:t>
            </a:r>
            <a:r>
              <a:rPr lang="en-US" altLang="zh-CN" dirty="0" err="1"/>
              <a:t>otherinfo</a:t>
            </a:r>
            <a:r>
              <a:rPr lang="en-US" altLang="zh-CN" dirty="0"/>
              <a:t>;</a:t>
            </a:r>
            <a:endParaRPr lang="en-US" altLang="zh-CN" dirty="0"/>
          </a:p>
          <a:p>
            <a:pPr lvl="2">
              <a:lnSpc>
                <a:spcPts val="2700"/>
              </a:lnSpc>
            </a:pPr>
            <a:r>
              <a:rPr lang="en-US" altLang="zh-CN" dirty="0"/>
              <a:t>} </a:t>
            </a:r>
            <a:r>
              <a:rPr lang="en-US" altLang="zh-CN" dirty="0" err="1"/>
              <a:t>RedType</a:t>
            </a:r>
            <a:r>
              <a:rPr lang="en-US" altLang="zh-CN" dirty="0"/>
              <a:t>; </a:t>
            </a:r>
            <a:endParaRPr lang="en-US" altLang="zh-CN" dirty="0"/>
          </a:p>
          <a:p>
            <a:pPr lvl="2">
              <a:lnSpc>
                <a:spcPts val="2700"/>
              </a:lnSpc>
            </a:pPr>
            <a:r>
              <a:rPr lang="en-US" altLang="zh-CN" dirty="0" err="1"/>
              <a:t>typedef</a:t>
            </a:r>
            <a:r>
              <a:rPr lang="en-US" altLang="zh-CN" dirty="0"/>
              <a:t> </a:t>
            </a:r>
            <a:r>
              <a:rPr lang="en-US" altLang="zh-CN" dirty="0" err="1"/>
              <a:t>struct</a:t>
            </a:r>
            <a:r>
              <a:rPr lang="en-US" altLang="zh-CN" dirty="0"/>
              <a:t>{</a:t>
            </a:r>
            <a:endParaRPr lang="en-US" altLang="zh-CN" dirty="0"/>
          </a:p>
          <a:p>
            <a:pPr lvl="2">
              <a:lnSpc>
                <a:spcPts val="2700"/>
              </a:lnSpc>
            </a:pPr>
            <a:r>
              <a:rPr lang="en-US" altLang="zh-CN" dirty="0"/>
              <a:t>	</a:t>
            </a:r>
            <a:r>
              <a:rPr lang="en-US" altLang="zh-CN" dirty="0" err="1"/>
              <a:t>RedType</a:t>
            </a:r>
            <a:r>
              <a:rPr lang="en-US" altLang="zh-CN" dirty="0"/>
              <a:t> r[MAXSIZE+1];</a:t>
            </a:r>
            <a:endParaRPr lang="en-US" altLang="zh-CN" dirty="0"/>
          </a:p>
          <a:p>
            <a:pPr lvl="2">
              <a:lnSpc>
                <a:spcPts val="2700"/>
              </a:lnSpc>
            </a:pPr>
            <a:r>
              <a:rPr lang="en-US" altLang="zh-CN" dirty="0"/>
              <a:t>	</a:t>
            </a:r>
            <a:r>
              <a:rPr lang="en-US" altLang="zh-CN" dirty="0" err="1"/>
              <a:t>int</a:t>
            </a:r>
            <a:r>
              <a:rPr lang="en-US" altLang="zh-CN" dirty="0"/>
              <a:t>            length;</a:t>
            </a:r>
            <a:endParaRPr lang="en-US" altLang="zh-CN" dirty="0"/>
          </a:p>
          <a:p>
            <a:pPr lvl="2">
              <a:lnSpc>
                <a:spcPts val="2700"/>
              </a:lnSpc>
            </a:pPr>
            <a:r>
              <a:rPr lang="en-US" altLang="zh-CN" dirty="0"/>
              <a:t>}</a:t>
            </a:r>
            <a:r>
              <a:rPr lang="en-US" altLang="zh-CN" dirty="0" err="1"/>
              <a:t>SqList</a:t>
            </a:r>
            <a:r>
              <a:rPr lang="en-US" altLang="zh-CN" dirty="0"/>
              <a:t>;</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a:t>9</a:t>
            </a:r>
            <a:r>
              <a:rPr lang="en-US" altLang="zh-CN" dirty="0" smtClean="0"/>
              <a:t>.1 </a:t>
            </a:r>
            <a:r>
              <a:rPr lang="zh-CN" altLang="en-US" dirty="0" smtClean="0"/>
              <a:t>概述</a:t>
            </a:r>
            <a:endParaRPr lang="zh-CN" alt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zh-CN" altLang="en-US" dirty="0" smtClean="0"/>
              <a:t>插入排序</a:t>
            </a:r>
            <a:r>
              <a:rPr lang="zh-CN" altLang="en-US" dirty="0"/>
              <a:t>的基本思想是</a:t>
            </a:r>
            <a:r>
              <a:rPr lang="zh-CN" altLang="en-US" dirty="0" smtClean="0"/>
              <a:t>：</a:t>
            </a:r>
            <a:endParaRPr lang="en-US" altLang="zh-CN" dirty="0" smtClean="0"/>
          </a:p>
          <a:p>
            <a:pPr marL="0" lvl="2" indent="135255"/>
            <a:r>
              <a:rPr lang="zh-CN" altLang="en-US" dirty="0" smtClean="0"/>
              <a:t>在</a:t>
            </a:r>
            <a:r>
              <a:rPr lang="zh-CN" altLang="en-US" dirty="0"/>
              <a:t>一个已排好序的记录子集的基础上，每一步将下一个待排序的记录有序地插入到已排好序的记录子集中，直到将所有待排记录全部插入为止。</a:t>
            </a:r>
            <a:endParaRPr lang="zh-CN" altLang="en-US" dirty="0"/>
          </a:p>
          <a:p>
            <a:pPr marL="0" lvl="2"/>
            <a:r>
              <a:rPr lang="zh-CN" altLang="en-US" dirty="0"/>
              <a:t>        </a:t>
            </a:r>
            <a:endParaRPr lang="en-US" altLang="zh-CN" dirty="0" smtClean="0"/>
          </a:p>
          <a:p>
            <a:pPr marL="0" lvl="2"/>
            <a:r>
              <a:rPr lang="en-US" altLang="zh-CN" dirty="0"/>
              <a:t> </a:t>
            </a:r>
            <a:r>
              <a:rPr lang="en-US" altLang="zh-CN" dirty="0" smtClean="0"/>
              <a:t>   </a:t>
            </a:r>
            <a:r>
              <a:rPr lang="zh-CN" altLang="en-US" dirty="0" smtClean="0"/>
              <a:t>打</a:t>
            </a:r>
            <a:r>
              <a:rPr lang="zh-CN" altLang="en-US" dirty="0"/>
              <a:t>扑克牌时的抓牌就是插入排序一个很好的例子，每摸一张牌，插入到合适位置，直到抓完牌为止，即可得到一个有序序列。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9.2.1 </a:t>
            </a:r>
            <a:r>
              <a:rPr lang="zh-CN" altLang="en-US" dirty="0"/>
              <a:t>直接插入排序 </a:t>
            </a:r>
            <a:endParaRPr lang="zh-CN" altLang="en-US" dirty="0"/>
          </a:p>
          <a:p>
            <a:pPr eaLnBrk="1" hangingPunct="1">
              <a:lnSpc>
                <a:spcPct val="90000"/>
              </a:lnSpc>
            </a:pPr>
            <a:r>
              <a:rPr lang="zh-CN" altLang="en-US" dirty="0" smtClean="0">
                <a:solidFill>
                  <a:srgbClr val="FF0000"/>
                </a:solidFill>
              </a:rPr>
              <a:t>将</a:t>
            </a:r>
            <a:r>
              <a:rPr lang="zh-CN" altLang="en-US" dirty="0">
                <a:solidFill>
                  <a:srgbClr val="FF0000"/>
                </a:solidFill>
              </a:rPr>
              <a:t>第</a:t>
            </a:r>
            <a:r>
              <a:rPr lang="en-US" altLang="zh-CN" dirty="0" err="1">
                <a:solidFill>
                  <a:srgbClr val="FF0000"/>
                </a:solidFill>
              </a:rPr>
              <a:t>i</a:t>
            </a:r>
            <a:r>
              <a:rPr lang="zh-CN" altLang="en-US" dirty="0">
                <a:solidFill>
                  <a:srgbClr val="FF0000"/>
                </a:solidFill>
              </a:rPr>
              <a:t>个记录插入到前面</a:t>
            </a:r>
            <a:r>
              <a:rPr lang="en-US" altLang="zh-CN" dirty="0">
                <a:solidFill>
                  <a:srgbClr val="FF0000"/>
                </a:solidFill>
              </a:rPr>
              <a:t>i-1</a:t>
            </a:r>
            <a:r>
              <a:rPr lang="zh-CN" altLang="en-US" dirty="0">
                <a:solidFill>
                  <a:srgbClr val="FF0000"/>
                </a:solidFill>
              </a:rPr>
              <a:t>个已排好序的记录中</a:t>
            </a:r>
            <a:endParaRPr lang="en-US" altLang="zh-CN" dirty="0">
              <a:solidFill>
                <a:srgbClr val="FF0000"/>
              </a:solidFill>
            </a:endParaRPr>
          </a:p>
          <a:p>
            <a:pPr lvl="2">
              <a:lnSpc>
                <a:spcPct val="90000"/>
              </a:lnSpc>
            </a:pPr>
            <a:r>
              <a:rPr lang="en-US" altLang="zh-CN" dirty="0"/>
              <a:t>void  </a:t>
            </a:r>
            <a:r>
              <a:rPr lang="en-US" altLang="zh-CN" dirty="0" err="1"/>
              <a:t>InsertSort</a:t>
            </a:r>
            <a:r>
              <a:rPr lang="en-US" altLang="zh-CN" dirty="0"/>
              <a:t>(</a:t>
            </a:r>
            <a:r>
              <a:rPr lang="en-US" altLang="zh-CN" dirty="0" err="1"/>
              <a:t>SqList</a:t>
            </a:r>
            <a:r>
              <a:rPr lang="en-US" altLang="zh-CN" dirty="0"/>
              <a:t> &amp;L)//</a:t>
            </a:r>
            <a:r>
              <a:rPr lang="zh-CN" altLang="en-US" dirty="0"/>
              <a:t>对顺序表</a:t>
            </a:r>
            <a:r>
              <a:rPr lang="en-US" altLang="zh-CN" dirty="0"/>
              <a:t>L</a:t>
            </a:r>
            <a:r>
              <a:rPr lang="zh-CN" altLang="en-US" dirty="0"/>
              <a:t>做直接插入排序</a:t>
            </a:r>
            <a:endParaRPr lang="en-US" altLang="zh-CN" dirty="0"/>
          </a:p>
          <a:p>
            <a:pPr lvl="2">
              <a:lnSpc>
                <a:spcPct val="90000"/>
              </a:lnSpc>
            </a:pPr>
            <a:r>
              <a:rPr lang="en-US" altLang="zh-CN" dirty="0" smtClean="0"/>
              <a:t>{ </a:t>
            </a:r>
            <a:endParaRPr lang="en-US" altLang="zh-CN" dirty="0"/>
          </a:p>
          <a:p>
            <a:pPr lvl="2">
              <a:lnSpc>
                <a:spcPct val="90000"/>
              </a:lnSpc>
            </a:pPr>
            <a:r>
              <a:rPr lang="en-US" altLang="zh-CN" dirty="0"/>
              <a:t>        for(</a:t>
            </a:r>
            <a:r>
              <a:rPr lang="en-US" altLang="zh-CN" dirty="0" err="1"/>
              <a:t>i</a:t>
            </a:r>
            <a:r>
              <a:rPr lang="en-US" altLang="zh-CN" dirty="0"/>
              <a:t>=2;i&lt;=</a:t>
            </a:r>
            <a:r>
              <a:rPr lang="en-US" altLang="zh-CN" dirty="0" err="1"/>
              <a:t>L.length</a:t>
            </a:r>
            <a:r>
              <a:rPr lang="en-US" altLang="zh-CN" dirty="0"/>
              <a:t>; ++</a:t>
            </a:r>
            <a:r>
              <a:rPr lang="en-US" altLang="zh-CN" dirty="0" err="1"/>
              <a:t>i</a:t>
            </a:r>
            <a:r>
              <a:rPr lang="en-US" altLang="zh-CN" dirty="0" smtClean="0"/>
              <a:t>)</a:t>
            </a:r>
            <a:endParaRPr lang="en-US" altLang="zh-CN" dirty="0"/>
          </a:p>
          <a:p>
            <a:pPr lvl="2">
              <a:lnSpc>
                <a:spcPct val="90000"/>
              </a:lnSpc>
            </a:pPr>
            <a:r>
              <a:rPr lang="en-US" altLang="zh-CN" dirty="0"/>
              <a:t>	    	</a:t>
            </a:r>
            <a:r>
              <a:rPr lang="en-US" altLang="zh-CN" dirty="0" smtClean="0"/>
              <a:t>if(LT(</a:t>
            </a:r>
            <a:r>
              <a:rPr lang="en-US" altLang="zh-CN" dirty="0" err="1" smtClean="0"/>
              <a:t>L.r</a:t>
            </a:r>
            <a:r>
              <a:rPr lang="en-US" altLang="zh-CN" dirty="0" smtClean="0"/>
              <a:t>[</a:t>
            </a:r>
            <a:r>
              <a:rPr lang="en-US" altLang="zh-CN" dirty="0" err="1" smtClean="0"/>
              <a:t>i</a:t>
            </a:r>
            <a:r>
              <a:rPr lang="en-US" altLang="zh-CN" dirty="0"/>
              <a:t>].</a:t>
            </a:r>
            <a:r>
              <a:rPr lang="en-US" altLang="zh-CN" dirty="0" err="1"/>
              <a:t>key,L.r</a:t>
            </a:r>
            <a:r>
              <a:rPr lang="en-US" altLang="zh-CN" dirty="0"/>
              <a:t>[i-1].key</a:t>
            </a:r>
            <a:r>
              <a:rPr lang="en-US" altLang="zh-CN" dirty="0" smtClean="0"/>
              <a:t>)){</a:t>
            </a:r>
            <a:endParaRPr lang="en-US" altLang="zh-CN" dirty="0"/>
          </a:p>
          <a:p>
            <a:pPr lvl="2">
              <a:lnSpc>
                <a:spcPct val="90000"/>
              </a:lnSpc>
            </a:pPr>
            <a:r>
              <a:rPr lang="en-US" altLang="zh-CN" dirty="0"/>
              <a:t>		</a:t>
            </a:r>
            <a:r>
              <a:rPr lang="en-US" altLang="zh-CN" dirty="0" smtClean="0"/>
              <a:t>       </a:t>
            </a:r>
            <a:r>
              <a:rPr lang="en-US" altLang="zh-CN" dirty="0" err="1"/>
              <a:t>L.r</a:t>
            </a:r>
            <a:r>
              <a:rPr lang="en-US" altLang="zh-CN" dirty="0"/>
              <a:t>[0]=</a:t>
            </a:r>
            <a:r>
              <a:rPr lang="en-US" altLang="zh-CN" dirty="0" err="1"/>
              <a:t>L.r</a:t>
            </a:r>
            <a:r>
              <a:rPr lang="en-US" altLang="zh-CN" dirty="0"/>
              <a:t>[</a:t>
            </a:r>
            <a:r>
              <a:rPr lang="en-US" altLang="zh-CN" dirty="0" err="1"/>
              <a:t>i</a:t>
            </a:r>
            <a:r>
              <a:rPr lang="en-US" altLang="zh-CN" dirty="0"/>
              <a:t>]</a:t>
            </a:r>
            <a:r>
              <a:rPr lang="zh-CN" altLang="en-US" dirty="0" smtClean="0"/>
              <a:t>；</a:t>
            </a:r>
            <a:endParaRPr lang="zh-CN" altLang="en-US" dirty="0"/>
          </a:p>
          <a:p>
            <a:pPr lvl="2">
              <a:lnSpc>
                <a:spcPct val="90000"/>
              </a:lnSpc>
            </a:pPr>
            <a:r>
              <a:rPr lang="zh-CN" altLang="en-US" dirty="0"/>
              <a:t>		</a:t>
            </a:r>
            <a:r>
              <a:rPr lang="zh-CN" altLang="en-US" dirty="0" smtClean="0"/>
              <a:t>       </a:t>
            </a:r>
            <a:r>
              <a:rPr lang="en-US" altLang="zh-CN" dirty="0" err="1"/>
              <a:t>L.r</a:t>
            </a:r>
            <a:r>
              <a:rPr lang="en-US" altLang="zh-CN" dirty="0"/>
              <a:t>[</a:t>
            </a:r>
            <a:r>
              <a:rPr lang="en-US" altLang="zh-CN" dirty="0" err="1"/>
              <a:t>i</a:t>
            </a:r>
            <a:r>
              <a:rPr lang="en-US" altLang="zh-CN" dirty="0"/>
              <a:t>]=</a:t>
            </a:r>
            <a:r>
              <a:rPr lang="en-US" altLang="zh-CN" dirty="0" err="1"/>
              <a:t>L.r</a:t>
            </a:r>
            <a:r>
              <a:rPr lang="en-US" altLang="zh-CN" dirty="0"/>
              <a:t>[i-1];</a:t>
            </a:r>
            <a:endParaRPr lang="en-US" altLang="zh-CN" dirty="0"/>
          </a:p>
          <a:p>
            <a:pPr lvl="2">
              <a:lnSpc>
                <a:spcPct val="90000"/>
              </a:lnSpc>
            </a:pPr>
            <a:r>
              <a:rPr lang="en-US" altLang="zh-CN" dirty="0"/>
              <a:t>		</a:t>
            </a:r>
            <a:r>
              <a:rPr lang="en-US" altLang="zh-CN" dirty="0" smtClean="0"/>
              <a:t>       </a:t>
            </a:r>
            <a:r>
              <a:rPr lang="en-US" altLang="zh-CN" dirty="0"/>
              <a:t>for(j=i-2; LT(</a:t>
            </a:r>
            <a:r>
              <a:rPr lang="en-US" altLang="zh-CN" dirty="0" err="1"/>
              <a:t>L.r</a:t>
            </a:r>
            <a:r>
              <a:rPr lang="en-US" altLang="zh-CN" dirty="0"/>
              <a:t>[0].</a:t>
            </a:r>
            <a:r>
              <a:rPr lang="en-US" altLang="zh-CN" dirty="0" err="1"/>
              <a:t>key,L.r</a:t>
            </a:r>
            <a:r>
              <a:rPr lang="en-US" altLang="zh-CN" dirty="0"/>
              <a:t>[j].key) ; j--)  </a:t>
            </a:r>
            <a:endParaRPr lang="en-US" altLang="zh-CN" dirty="0"/>
          </a:p>
          <a:p>
            <a:pPr lvl="2">
              <a:lnSpc>
                <a:spcPct val="90000"/>
              </a:lnSpc>
            </a:pPr>
            <a:r>
              <a:rPr lang="en-US" altLang="zh-CN" dirty="0"/>
              <a:t>			    </a:t>
            </a:r>
            <a:r>
              <a:rPr lang="en-US" altLang="zh-CN" dirty="0" err="1"/>
              <a:t>L.r</a:t>
            </a:r>
            <a:r>
              <a:rPr lang="en-US" altLang="zh-CN" dirty="0"/>
              <a:t>[j+1]= </a:t>
            </a:r>
            <a:r>
              <a:rPr lang="en-US" altLang="zh-CN" dirty="0" err="1"/>
              <a:t>L.r</a:t>
            </a:r>
            <a:r>
              <a:rPr lang="en-US" altLang="zh-CN" dirty="0"/>
              <a:t>[j</a:t>
            </a:r>
            <a:r>
              <a:rPr lang="en-US" altLang="zh-CN" dirty="0" smtClean="0"/>
              <a:t>]</a:t>
            </a:r>
            <a:r>
              <a:rPr lang="zh-CN" altLang="en-US" dirty="0" smtClean="0"/>
              <a:t>；</a:t>
            </a:r>
            <a:endParaRPr lang="zh-CN" altLang="en-US" dirty="0"/>
          </a:p>
          <a:p>
            <a:pPr lvl="2">
              <a:lnSpc>
                <a:spcPct val="90000"/>
              </a:lnSpc>
            </a:pPr>
            <a:r>
              <a:rPr lang="zh-CN" altLang="en-US" dirty="0"/>
              <a:t>		</a:t>
            </a:r>
            <a:r>
              <a:rPr lang="zh-CN" altLang="en-US" dirty="0" smtClean="0"/>
              <a:t>        </a:t>
            </a:r>
            <a:r>
              <a:rPr lang="en-US" altLang="zh-CN" dirty="0" err="1"/>
              <a:t>L.r</a:t>
            </a:r>
            <a:r>
              <a:rPr lang="en-US" altLang="zh-CN" dirty="0"/>
              <a:t>[j+1]=</a:t>
            </a:r>
            <a:r>
              <a:rPr lang="en-US" altLang="zh-CN" dirty="0" err="1"/>
              <a:t>L.r</a:t>
            </a:r>
            <a:r>
              <a:rPr lang="en-US" altLang="zh-CN" dirty="0"/>
              <a:t>[0]</a:t>
            </a:r>
            <a:r>
              <a:rPr lang="zh-CN" altLang="en-US" dirty="0" smtClean="0"/>
              <a:t>；</a:t>
            </a:r>
            <a:endParaRPr lang="en-US" altLang="zh-CN" dirty="0" smtClean="0"/>
          </a:p>
          <a:p>
            <a:pPr lvl="2">
              <a:lnSpc>
                <a:spcPct val="90000"/>
              </a:lnSpc>
            </a:pPr>
            <a:r>
              <a:rPr lang="zh-CN" altLang="en-US" dirty="0"/>
              <a:t>		 </a:t>
            </a:r>
            <a:r>
              <a:rPr lang="en-US" altLang="zh-CN" dirty="0" smtClean="0"/>
              <a:t>}</a:t>
            </a:r>
            <a:endParaRPr lang="en-US" altLang="zh-CN" dirty="0"/>
          </a:p>
          <a:p>
            <a:pPr lvl="2">
              <a:lnSpc>
                <a:spcPct val="90000"/>
              </a:lnSpc>
            </a:pPr>
            <a:r>
              <a:rPr lang="en-US" altLang="zh-CN" dirty="0" smtClean="0"/>
              <a:t>}</a:t>
            </a:r>
            <a:endParaRPr lang="en-US" altLang="zh-CN"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30000"/>
              </a:lnSpc>
              <a:spcBef>
                <a:spcPct val="0"/>
              </a:spcBef>
              <a:buClr>
                <a:schemeClr val="accent1"/>
              </a:buClr>
              <a:buFont typeface="Wingdings" panose="05000000000000000000" pitchFamily="2" charset="2"/>
              <a:buChar char="p"/>
            </a:pPr>
            <a:endParaRPr lang="en-US" altLang="zh-CN" sz="2100" dirty="0" smtClean="0"/>
          </a:p>
          <a:p>
            <a:pPr eaLnBrk="1" hangingPunct="1">
              <a:lnSpc>
                <a:spcPct val="130000"/>
              </a:lnSpc>
              <a:spcBef>
                <a:spcPct val="0"/>
              </a:spcBef>
              <a:buClr>
                <a:schemeClr val="accent1"/>
              </a:buClr>
              <a:buFont typeface="Wingdings" panose="05000000000000000000" pitchFamily="2" charset="2"/>
              <a:buChar char="p"/>
            </a:pPr>
            <a:endParaRPr lang="en-US" altLang="zh-CN" sz="2100" dirty="0"/>
          </a:p>
          <a:p>
            <a:pPr eaLnBrk="1" hangingPunct="1">
              <a:lnSpc>
                <a:spcPct val="130000"/>
              </a:lnSpc>
              <a:spcBef>
                <a:spcPct val="0"/>
              </a:spcBef>
              <a:buClr>
                <a:schemeClr val="accent1"/>
              </a:buClr>
              <a:buFont typeface="Wingdings" panose="05000000000000000000" pitchFamily="2" charset="2"/>
              <a:buChar char="p"/>
            </a:pPr>
            <a:endParaRPr lang="en-US" altLang="zh-CN" sz="2100" dirty="0" smtClean="0"/>
          </a:p>
          <a:p>
            <a:pPr eaLnBrk="1" hangingPunct="1">
              <a:lnSpc>
                <a:spcPct val="130000"/>
              </a:lnSpc>
              <a:spcBef>
                <a:spcPct val="0"/>
              </a:spcBef>
              <a:buClr>
                <a:schemeClr val="accent1"/>
              </a:buClr>
              <a:buFont typeface="Wingdings" panose="05000000000000000000" pitchFamily="2" charset="2"/>
              <a:buChar char="p"/>
            </a:pPr>
            <a:endParaRPr lang="en-US" altLang="zh-CN" sz="2100" dirty="0" smtClean="0"/>
          </a:p>
          <a:p>
            <a:pPr eaLnBrk="1" hangingPunct="1">
              <a:lnSpc>
                <a:spcPct val="130000"/>
              </a:lnSpc>
              <a:spcBef>
                <a:spcPct val="0"/>
              </a:spcBef>
              <a:buClr>
                <a:schemeClr val="accent1"/>
              </a:buClr>
              <a:buFont typeface="Wingdings" panose="05000000000000000000" pitchFamily="2" charset="2"/>
              <a:buChar char="p"/>
            </a:pPr>
            <a:r>
              <a:rPr lang="zh-CN" altLang="en-US" sz="2100" dirty="0" smtClean="0"/>
              <a:t>稳定性：</a:t>
            </a:r>
            <a:r>
              <a:rPr lang="zh-CN" altLang="en-US" sz="2100" dirty="0">
                <a:solidFill>
                  <a:srgbClr val="FF0000"/>
                </a:solidFill>
              </a:rPr>
              <a:t>直接插入排序方法是稳定的排序方法。</a:t>
            </a:r>
            <a:endParaRPr lang="zh-CN" altLang="en-US" sz="2100" dirty="0">
              <a:solidFill>
                <a:srgbClr val="FF0000"/>
              </a:solidFill>
            </a:endParaRPr>
          </a:p>
          <a:p>
            <a:pPr eaLnBrk="1" hangingPunct="1">
              <a:lnSpc>
                <a:spcPct val="130000"/>
              </a:lnSpc>
              <a:spcBef>
                <a:spcPct val="0"/>
              </a:spcBef>
              <a:buClr>
                <a:schemeClr val="accent1"/>
              </a:buClr>
              <a:buFont typeface="Wingdings" panose="05000000000000000000" pitchFamily="2" charset="2"/>
              <a:buChar char="p"/>
            </a:pPr>
            <a:r>
              <a:rPr lang="zh-CN" altLang="en-US" sz="2100" dirty="0" smtClean="0"/>
              <a:t>空间</a:t>
            </a:r>
            <a:r>
              <a:rPr lang="zh-CN" altLang="en-US" sz="2100" dirty="0"/>
              <a:t>复杂度：只需一个记录的辅助空间，空间复杂度 </a:t>
            </a:r>
            <a:r>
              <a:rPr lang="en-US" altLang="zh-CN" sz="2100" dirty="0"/>
              <a:t>O(1)</a:t>
            </a:r>
            <a:r>
              <a:rPr lang="zh-CN" altLang="en-US" sz="2100" dirty="0"/>
              <a:t>。</a:t>
            </a:r>
            <a:endParaRPr lang="zh-CN" altLang="en-US" sz="2100" dirty="0"/>
          </a:p>
          <a:p>
            <a:pPr eaLnBrk="1" hangingPunct="1">
              <a:lnSpc>
                <a:spcPct val="130000"/>
              </a:lnSpc>
              <a:spcBef>
                <a:spcPct val="0"/>
              </a:spcBef>
              <a:buClr>
                <a:schemeClr val="accent1"/>
              </a:buClr>
              <a:buFont typeface="Wingdings" panose="05000000000000000000" pitchFamily="2" charset="2"/>
              <a:buChar char="p"/>
            </a:pPr>
            <a:r>
              <a:rPr lang="zh-CN" altLang="en-US" sz="2100" dirty="0"/>
              <a:t>时间复杂度：主要时间耗费在关键字比较和移动元素上。</a:t>
            </a:r>
            <a:endParaRPr lang="en-US" altLang="zh-CN" sz="2100" dirty="0"/>
          </a:p>
          <a:p>
            <a:pPr lvl="2">
              <a:lnSpc>
                <a:spcPct val="130000"/>
              </a:lnSpc>
              <a:spcBef>
                <a:spcPct val="0"/>
              </a:spcBef>
              <a:buClr>
                <a:schemeClr val="accent1"/>
              </a:buClr>
              <a:buFont typeface="Wingdings" panose="05000000000000000000" pitchFamily="2" charset="2"/>
              <a:buChar char="Ø"/>
            </a:pPr>
            <a:r>
              <a:rPr lang="zh-CN" altLang="en-US" sz="2000" dirty="0"/>
              <a:t>最好情况：顺序</a:t>
            </a:r>
            <a:r>
              <a:rPr lang="en-US" altLang="zh-CN" sz="2000" dirty="0">
                <a:solidFill>
                  <a:srgbClr val="FF0000"/>
                </a:solidFill>
              </a:rPr>
              <a:t>T = O( N )</a:t>
            </a:r>
            <a:endParaRPr lang="en-US" altLang="zh-CN" sz="2000" dirty="0">
              <a:solidFill>
                <a:srgbClr val="FF0000"/>
              </a:solidFill>
            </a:endParaRPr>
          </a:p>
          <a:p>
            <a:pPr lvl="2">
              <a:lnSpc>
                <a:spcPct val="130000"/>
              </a:lnSpc>
              <a:spcBef>
                <a:spcPct val="0"/>
              </a:spcBef>
              <a:buClr>
                <a:schemeClr val="accent1"/>
              </a:buClr>
              <a:buFont typeface="Wingdings" panose="05000000000000000000" pitchFamily="2" charset="2"/>
              <a:buChar char="Ø"/>
            </a:pPr>
            <a:r>
              <a:rPr lang="zh-CN" altLang="en-US" sz="2000" dirty="0"/>
              <a:t>最坏情况：逆序</a:t>
            </a:r>
            <a:r>
              <a:rPr lang="en-US" altLang="zh-CN" sz="2000" dirty="0">
                <a:solidFill>
                  <a:srgbClr val="FF0000"/>
                </a:solidFill>
              </a:rPr>
              <a:t>T = O( N</a:t>
            </a:r>
            <a:r>
              <a:rPr lang="en-US" altLang="zh-CN" sz="2000" baseline="30000" dirty="0">
                <a:solidFill>
                  <a:srgbClr val="FF0000"/>
                </a:solidFill>
              </a:rPr>
              <a:t>2</a:t>
            </a:r>
            <a:r>
              <a:rPr lang="en-US" altLang="zh-CN" sz="2000" dirty="0">
                <a:solidFill>
                  <a:srgbClr val="FF0000"/>
                </a:solidFill>
              </a:rPr>
              <a:t> )</a:t>
            </a:r>
            <a:r>
              <a:rPr lang="zh-CN" altLang="en-US" sz="2000" dirty="0">
                <a:solidFill>
                  <a:srgbClr val="FF0000"/>
                </a:solidFill>
              </a:rPr>
              <a:t> </a:t>
            </a:r>
            <a:endParaRPr lang="zh-CN" altLang="en-US" sz="2000" dirty="0">
              <a:solidFill>
                <a:srgbClr val="FF0000"/>
              </a:solidFill>
            </a:endParaRPr>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graphicFrame>
        <p:nvGraphicFramePr>
          <p:cNvPr id="4" name="表格 3"/>
          <p:cNvGraphicFramePr>
            <a:graphicFrameLocks noGrp="1"/>
          </p:cNvGraphicFramePr>
          <p:nvPr/>
        </p:nvGraphicFramePr>
        <p:xfrm>
          <a:off x="1651988" y="632913"/>
          <a:ext cx="5589990" cy="1241824"/>
        </p:xfrm>
        <a:graphic>
          <a:graphicData uri="http://schemas.openxmlformats.org/drawingml/2006/table">
            <a:tbl>
              <a:tblPr firstRow="1" bandRow="1">
                <a:tableStyleId>{F5AB1C69-6EDB-4FF4-983F-18BD219EF322}</a:tableStyleId>
              </a:tblPr>
              <a:tblGrid>
                <a:gridCol w="621110"/>
                <a:gridCol w="621110"/>
                <a:gridCol w="621110"/>
                <a:gridCol w="621110"/>
                <a:gridCol w="621110"/>
                <a:gridCol w="621110"/>
                <a:gridCol w="621110"/>
                <a:gridCol w="621110"/>
                <a:gridCol w="621110"/>
              </a:tblGrid>
              <a:tr h="620912">
                <a:tc>
                  <a:txBody>
                    <a:bodyPr/>
                    <a:lstStyle/>
                    <a:p>
                      <a:pPr algn="ctr"/>
                      <a:r>
                        <a:rPr lang="en-US" altLang="zh-CN" sz="2400" dirty="0" smtClean="0">
                          <a:solidFill>
                            <a:srgbClr val="FF0066"/>
                          </a:solidFill>
                        </a:rPr>
                        <a:t>0</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2</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3</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4</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5</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6</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7</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8</a:t>
                      </a:r>
                      <a:endParaRPr lang="zh-CN" altLang="en-US" sz="2400" dirty="0">
                        <a:solidFill>
                          <a:srgbClr val="FF0066"/>
                        </a:solidFill>
                      </a:endParaRPr>
                    </a:p>
                  </a:txBody>
                  <a:tcPr marL="68585" marR="68585" marT="34281" marB="3428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620912">
                <a:tc>
                  <a:txBody>
                    <a:bodyPr/>
                    <a:lstStyle/>
                    <a:p>
                      <a:pPr algn="ctr"/>
                      <a:endParaRPr lang="zh-CN" altLang="en-US" sz="2400"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u="sng"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81" marB="3428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 name="矩形 4"/>
          <p:cNvSpPr>
            <a:spLocks noChangeArrowheads="1"/>
          </p:cNvSpPr>
          <p:nvPr/>
        </p:nvSpPr>
        <p:spPr bwMode="auto">
          <a:xfrm>
            <a:off x="2299687" y="1335382"/>
            <a:ext cx="6623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t>48</a:t>
            </a:r>
            <a:endParaRPr lang="zh-CN" altLang="en-US" sz="2400" b="1" dirty="0"/>
          </a:p>
        </p:txBody>
      </p:sp>
      <p:sp>
        <p:nvSpPr>
          <p:cNvPr id="6" name="矩形 5"/>
          <p:cNvSpPr>
            <a:spLocks noChangeArrowheads="1"/>
          </p:cNvSpPr>
          <p:nvPr/>
        </p:nvSpPr>
        <p:spPr bwMode="auto">
          <a:xfrm>
            <a:off x="2948579"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62</a:t>
            </a:r>
            <a:endParaRPr lang="zh-CN" altLang="en-US" sz="2400" b="1"/>
          </a:p>
        </p:txBody>
      </p:sp>
      <p:sp>
        <p:nvSpPr>
          <p:cNvPr id="7" name="矩形 6"/>
          <p:cNvSpPr>
            <a:spLocks noChangeArrowheads="1"/>
          </p:cNvSpPr>
          <p:nvPr/>
        </p:nvSpPr>
        <p:spPr bwMode="auto">
          <a:xfrm>
            <a:off x="35427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35</a:t>
            </a:r>
            <a:endParaRPr lang="zh-CN" altLang="en-US" sz="2400" b="1"/>
          </a:p>
        </p:txBody>
      </p:sp>
      <p:sp>
        <p:nvSpPr>
          <p:cNvPr id="8" name="矩形 7"/>
          <p:cNvSpPr>
            <a:spLocks noChangeArrowheads="1"/>
          </p:cNvSpPr>
          <p:nvPr/>
        </p:nvSpPr>
        <p:spPr bwMode="auto">
          <a:xfrm>
            <a:off x="41904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77</a:t>
            </a:r>
            <a:endParaRPr lang="zh-CN" altLang="en-US" sz="2400" b="1"/>
          </a:p>
        </p:txBody>
      </p:sp>
      <p:sp>
        <p:nvSpPr>
          <p:cNvPr id="9" name="矩形 8"/>
          <p:cNvSpPr>
            <a:spLocks noChangeArrowheads="1"/>
          </p:cNvSpPr>
          <p:nvPr/>
        </p:nvSpPr>
        <p:spPr bwMode="auto">
          <a:xfrm>
            <a:off x="48381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55</a:t>
            </a:r>
            <a:endParaRPr lang="zh-CN" altLang="en-US" sz="2400" b="1"/>
          </a:p>
        </p:txBody>
      </p:sp>
      <p:sp>
        <p:nvSpPr>
          <p:cNvPr id="10" name="矩形 9"/>
          <p:cNvSpPr>
            <a:spLocks noChangeArrowheads="1"/>
          </p:cNvSpPr>
          <p:nvPr/>
        </p:nvSpPr>
        <p:spPr bwMode="auto">
          <a:xfrm>
            <a:off x="5432222"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14</a:t>
            </a:r>
            <a:endParaRPr lang="zh-CN" altLang="en-US" sz="2400" b="1"/>
          </a:p>
        </p:txBody>
      </p:sp>
      <p:sp>
        <p:nvSpPr>
          <p:cNvPr id="11" name="矩形 10"/>
          <p:cNvSpPr>
            <a:spLocks noChangeArrowheads="1"/>
          </p:cNvSpPr>
          <p:nvPr/>
        </p:nvSpPr>
        <p:spPr bwMode="auto">
          <a:xfrm>
            <a:off x="6026344" y="1335382"/>
            <a:ext cx="63042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a:t>35</a:t>
            </a:r>
            <a:endParaRPr lang="zh-CN" altLang="en-US" sz="2400" b="1" u="sng"/>
          </a:p>
        </p:txBody>
      </p:sp>
      <p:sp>
        <p:nvSpPr>
          <p:cNvPr id="12" name="矩形 11"/>
          <p:cNvSpPr>
            <a:spLocks noChangeArrowheads="1"/>
          </p:cNvSpPr>
          <p:nvPr/>
        </p:nvSpPr>
        <p:spPr bwMode="auto">
          <a:xfrm>
            <a:off x="6674044" y="1335382"/>
            <a:ext cx="56793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98</a:t>
            </a:r>
            <a:endParaRPr lang="zh-CN" altLang="en-US" sz="2400" b="1"/>
          </a:p>
        </p:txBody>
      </p:sp>
      <p:sp>
        <p:nvSpPr>
          <p:cNvPr id="13" name="矩形 12"/>
          <p:cNvSpPr>
            <a:spLocks noChangeArrowheads="1"/>
          </p:cNvSpPr>
          <p:nvPr/>
        </p:nvSpPr>
        <p:spPr bwMode="auto">
          <a:xfrm>
            <a:off x="2299688" y="1335382"/>
            <a:ext cx="62903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solidFill>
                  <a:srgbClr val="FF0000"/>
                </a:solidFill>
              </a:rPr>
              <a:t>48</a:t>
            </a:r>
            <a:endParaRPr lang="zh-CN" altLang="en-US" sz="2400" b="1" dirty="0">
              <a:solidFill>
                <a:srgbClr val="FF0000"/>
              </a:solidFill>
            </a:endParaRPr>
          </a:p>
        </p:txBody>
      </p:sp>
      <p:sp>
        <p:nvSpPr>
          <p:cNvPr id="14" name="矩形 13"/>
          <p:cNvSpPr>
            <a:spLocks noChangeArrowheads="1"/>
          </p:cNvSpPr>
          <p:nvPr/>
        </p:nvSpPr>
        <p:spPr bwMode="auto">
          <a:xfrm>
            <a:off x="2948579"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62</a:t>
            </a:r>
            <a:endParaRPr lang="zh-CN" altLang="en-US" sz="2400" b="1">
              <a:solidFill>
                <a:srgbClr val="FF0000"/>
              </a:solidFill>
            </a:endParaRPr>
          </a:p>
        </p:txBody>
      </p:sp>
      <p:sp>
        <p:nvSpPr>
          <p:cNvPr id="15" name="矩形 14"/>
          <p:cNvSpPr>
            <a:spLocks noChangeArrowheads="1"/>
          </p:cNvSpPr>
          <p:nvPr/>
        </p:nvSpPr>
        <p:spPr bwMode="auto">
          <a:xfrm>
            <a:off x="2299687" y="1335382"/>
            <a:ext cx="6290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solidFill>
                  <a:srgbClr val="FF0000"/>
                </a:solidFill>
              </a:rPr>
              <a:t>35</a:t>
            </a:r>
            <a:endParaRPr lang="zh-CN" altLang="en-US" sz="2400" b="1" dirty="0">
              <a:solidFill>
                <a:srgbClr val="FF0000"/>
              </a:solidFill>
            </a:endParaRPr>
          </a:p>
        </p:txBody>
      </p:sp>
      <p:sp>
        <p:nvSpPr>
          <p:cNvPr id="16" name="矩形 15"/>
          <p:cNvSpPr>
            <a:spLocks noChangeArrowheads="1"/>
          </p:cNvSpPr>
          <p:nvPr/>
        </p:nvSpPr>
        <p:spPr bwMode="auto">
          <a:xfrm>
            <a:off x="41904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77</a:t>
            </a:r>
            <a:endParaRPr lang="zh-CN" altLang="en-US" sz="2400" b="1">
              <a:solidFill>
                <a:srgbClr val="FF0000"/>
              </a:solidFill>
            </a:endParaRPr>
          </a:p>
        </p:txBody>
      </p:sp>
      <p:sp>
        <p:nvSpPr>
          <p:cNvPr id="17" name="矩形 16"/>
          <p:cNvSpPr>
            <a:spLocks noChangeArrowheads="1"/>
          </p:cNvSpPr>
          <p:nvPr/>
        </p:nvSpPr>
        <p:spPr bwMode="auto">
          <a:xfrm>
            <a:off x="35427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55</a:t>
            </a:r>
            <a:endParaRPr lang="zh-CN" altLang="en-US" sz="2400" b="1">
              <a:solidFill>
                <a:srgbClr val="FF0000"/>
              </a:solidFill>
            </a:endParaRPr>
          </a:p>
        </p:txBody>
      </p:sp>
      <p:sp>
        <p:nvSpPr>
          <p:cNvPr id="18" name="矩形 17"/>
          <p:cNvSpPr>
            <a:spLocks noChangeArrowheads="1"/>
          </p:cNvSpPr>
          <p:nvPr/>
        </p:nvSpPr>
        <p:spPr bwMode="auto">
          <a:xfrm>
            <a:off x="2299687" y="1335382"/>
            <a:ext cx="6623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solidFill>
                  <a:srgbClr val="FF0000"/>
                </a:solidFill>
              </a:rPr>
              <a:t>14</a:t>
            </a:r>
            <a:endParaRPr lang="zh-CN" altLang="en-US" sz="2400" b="1" dirty="0">
              <a:solidFill>
                <a:srgbClr val="FF0000"/>
              </a:solidFill>
            </a:endParaRPr>
          </a:p>
        </p:txBody>
      </p:sp>
      <p:sp>
        <p:nvSpPr>
          <p:cNvPr id="19" name="矩形 18"/>
          <p:cNvSpPr>
            <a:spLocks noChangeArrowheads="1"/>
          </p:cNvSpPr>
          <p:nvPr/>
        </p:nvSpPr>
        <p:spPr bwMode="auto">
          <a:xfrm>
            <a:off x="3542699" y="1335382"/>
            <a:ext cx="62903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a:solidFill>
                  <a:srgbClr val="FF0000"/>
                </a:solidFill>
              </a:rPr>
              <a:t>35</a:t>
            </a:r>
            <a:endParaRPr lang="zh-CN" altLang="en-US" sz="2400" b="1" u="sng">
              <a:solidFill>
                <a:srgbClr val="FF0000"/>
              </a:solidFill>
            </a:endParaRPr>
          </a:p>
        </p:txBody>
      </p:sp>
      <p:sp>
        <p:nvSpPr>
          <p:cNvPr id="20" name="矩形 19"/>
          <p:cNvSpPr>
            <a:spLocks noChangeArrowheads="1"/>
          </p:cNvSpPr>
          <p:nvPr/>
        </p:nvSpPr>
        <p:spPr bwMode="auto">
          <a:xfrm>
            <a:off x="6674044" y="1335382"/>
            <a:ext cx="567934"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98</a:t>
            </a:r>
            <a:endParaRPr lang="zh-CN" altLang="en-US" sz="2400" b="1">
              <a:solidFill>
                <a:srgbClr val="FF0000"/>
              </a:solidFill>
            </a:endParaRPr>
          </a:p>
        </p:txBody>
      </p:sp>
      <p:sp>
        <p:nvSpPr>
          <p:cNvPr id="21" name="矩形 20"/>
          <p:cNvSpPr>
            <a:spLocks noChangeArrowheads="1"/>
          </p:cNvSpPr>
          <p:nvPr/>
        </p:nvSpPr>
        <p:spPr bwMode="auto">
          <a:xfrm>
            <a:off x="1705567" y="1335382"/>
            <a:ext cx="6290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t>35</a:t>
            </a:r>
            <a:endParaRPr lang="zh-CN" altLang="en-US" sz="2400" b="1" dirty="0"/>
          </a:p>
        </p:txBody>
      </p:sp>
      <p:sp>
        <p:nvSpPr>
          <p:cNvPr id="22" name="矩形 21"/>
          <p:cNvSpPr>
            <a:spLocks noChangeArrowheads="1"/>
          </p:cNvSpPr>
          <p:nvPr/>
        </p:nvSpPr>
        <p:spPr bwMode="auto">
          <a:xfrm>
            <a:off x="35427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62</a:t>
            </a:r>
            <a:endParaRPr lang="zh-CN" altLang="en-US" sz="2400" b="1">
              <a:solidFill>
                <a:srgbClr val="FF0000"/>
              </a:solidFill>
            </a:endParaRPr>
          </a:p>
        </p:txBody>
      </p:sp>
      <p:sp>
        <p:nvSpPr>
          <p:cNvPr id="23" name="矩形 22"/>
          <p:cNvSpPr>
            <a:spLocks noChangeArrowheads="1"/>
          </p:cNvSpPr>
          <p:nvPr/>
        </p:nvSpPr>
        <p:spPr bwMode="auto">
          <a:xfrm>
            <a:off x="2948579"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48</a:t>
            </a:r>
            <a:endParaRPr lang="zh-CN" altLang="en-US" sz="2400" b="1">
              <a:solidFill>
                <a:srgbClr val="FF0000"/>
              </a:solidFill>
            </a:endParaRPr>
          </a:p>
        </p:txBody>
      </p:sp>
      <p:sp>
        <p:nvSpPr>
          <p:cNvPr id="24" name="矩形 23"/>
          <p:cNvSpPr>
            <a:spLocks noChangeArrowheads="1"/>
          </p:cNvSpPr>
          <p:nvPr/>
        </p:nvSpPr>
        <p:spPr bwMode="auto">
          <a:xfrm>
            <a:off x="1705567" y="1335382"/>
            <a:ext cx="6290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t>55</a:t>
            </a:r>
            <a:endParaRPr lang="zh-CN" altLang="en-US" sz="2400" b="1" dirty="0"/>
          </a:p>
        </p:txBody>
      </p:sp>
      <p:sp>
        <p:nvSpPr>
          <p:cNvPr id="25" name="矩形 24"/>
          <p:cNvSpPr>
            <a:spLocks noChangeArrowheads="1"/>
          </p:cNvSpPr>
          <p:nvPr/>
        </p:nvSpPr>
        <p:spPr bwMode="auto">
          <a:xfrm>
            <a:off x="48381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77</a:t>
            </a:r>
            <a:endParaRPr lang="zh-CN" altLang="en-US" sz="2400" b="1">
              <a:solidFill>
                <a:srgbClr val="FF0000"/>
              </a:solidFill>
            </a:endParaRPr>
          </a:p>
        </p:txBody>
      </p:sp>
      <p:sp>
        <p:nvSpPr>
          <p:cNvPr id="26" name="矩形 25"/>
          <p:cNvSpPr>
            <a:spLocks noChangeArrowheads="1"/>
          </p:cNvSpPr>
          <p:nvPr/>
        </p:nvSpPr>
        <p:spPr bwMode="auto">
          <a:xfrm>
            <a:off x="4190400" y="1329429"/>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62</a:t>
            </a:r>
            <a:endParaRPr lang="zh-CN" altLang="en-US" sz="2400" b="1">
              <a:solidFill>
                <a:srgbClr val="FF0000"/>
              </a:solidFill>
            </a:endParaRPr>
          </a:p>
        </p:txBody>
      </p:sp>
      <p:sp>
        <p:nvSpPr>
          <p:cNvPr id="27" name="矩形 26"/>
          <p:cNvSpPr>
            <a:spLocks noChangeArrowheads="1"/>
          </p:cNvSpPr>
          <p:nvPr/>
        </p:nvSpPr>
        <p:spPr bwMode="auto">
          <a:xfrm>
            <a:off x="1651988" y="1329429"/>
            <a:ext cx="6290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dirty="0"/>
              <a:t>14</a:t>
            </a:r>
            <a:endParaRPr lang="zh-CN" altLang="en-US" sz="2400" b="1" dirty="0"/>
          </a:p>
        </p:txBody>
      </p:sp>
      <p:sp>
        <p:nvSpPr>
          <p:cNvPr id="28" name="矩形 27"/>
          <p:cNvSpPr>
            <a:spLocks noChangeArrowheads="1"/>
          </p:cNvSpPr>
          <p:nvPr/>
        </p:nvSpPr>
        <p:spPr bwMode="auto">
          <a:xfrm>
            <a:off x="5432222"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77</a:t>
            </a:r>
            <a:endParaRPr lang="zh-CN" altLang="en-US" sz="2400" b="1">
              <a:solidFill>
                <a:srgbClr val="FF0000"/>
              </a:solidFill>
            </a:endParaRPr>
          </a:p>
        </p:txBody>
      </p:sp>
      <p:sp>
        <p:nvSpPr>
          <p:cNvPr id="29" name="矩形 28"/>
          <p:cNvSpPr>
            <a:spLocks noChangeArrowheads="1"/>
          </p:cNvSpPr>
          <p:nvPr/>
        </p:nvSpPr>
        <p:spPr bwMode="auto">
          <a:xfrm>
            <a:off x="48381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62</a:t>
            </a:r>
            <a:endParaRPr lang="zh-CN" altLang="en-US" sz="2400" b="1">
              <a:solidFill>
                <a:srgbClr val="FF0000"/>
              </a:solidFill>
            </a:endParaRPr>
          </a:p>
        </p:txBody>
      </p:sp>
      <p:sp>
        <p:nvSpPr>
          <p:cNvPr id="30" name="矩形 29"/>
          <p:cNvSpPr>
            <a:spLocks noChangeArrowheads="1"/>
          </p:cNvSpPr>
          <p:nvPr/>
        </p:nvSpPr>
        <p:spPr bwMode="auto">
          <a:xfrm>
            <a:off x="41904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55</a:t>
            </a:r>
            <a:endParaRPr lang="zh-CN" altLang="en-US" sz="2400" b="1">
              <a:solidFill>
                <a:srgbClr val="FF0000"/>
              </a:solidFill>
            </a:endParaRPr>
          </a:p>
        </p:txBody>
      </p:sp>
      <p:sp>
        <p:nvSpPr>
          <p:cNvPr id="31" name="矩形 30"/>
          <p:cNvSpPr>
            <a:spLocks noChangeArrowheads="1"/>
          </p:cNvSpPr>
          <p:nvPr/>
        </p:nvSpPr>
        <p:spPr bwMode="auto">
          <a:xfrm>
            <a:off x="35427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48</a:t>
            </a:r>
            <a:endParaRPr lang="zh-CN" altLang="en-US" sz="2400" b="1">
              <a:solidFill>
                <a:srgbClr val="FF0000"/>
              </a:solidFill>
            </a:endParaRPr>
          </a:p>
        </p:txBody>
      </p:sp>
      <p:sp>
        <p:nvSpPr>
          <p:cNvPr id="32" name="矩形 31"/>
          <p:cNvSpPr>
            <a:spLocks noChangeArrowheads="1"/>
          </p:cNvSpPr>
          <p:nvPr/>
        </p:nvSpPr>
        <p:spPr bwMode="auto">
          <a:xfrm>
            <a:off x="2948579"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35</a:t>
            </a:r>
            <a:endParaRPr lang="zh-CN" altLang="en-US" sz="2400" b="1">
              <a:solidFill>
                <a:srgbClr val="FF0000"/>
              </a:solidFill>
            </a:endParaRPr>
          </a:p>
        </p:txBody>
      </p:sp>
      <p:sp>
        <p:nvSpPr>
          <p:cNvPr id="33" name="矩形 32"/>
          <p:cNvSpPr>
            <a:spLocks noChangeArrowheads="1"/>
          </p:cNvSpPr>
          <p:nvPr/>
        </p:nvSpPr>
        <p:spPr bwMode="auto">
          <a:xfrm>
            <a:off x="1651988" y="1335382"/>
            <a:ext cx="63042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dirty="0"/>
              <a:t>35</a:t>
            </a:r>
            <a:endParaRPr lang="zh-CN" altLang="en-US" sz="2400" b="1" u="sng" dirty="0"/>
          </a:p>
        </p:txBody>
      </p:sp>
      <p:sp>
        <p:nvSpPr>
          <p:cNvPr id="34" name="矩形 33"/>
          <p:cNvSpPr>
            <a:spLocks noChangeArrowheads="1"/>
          </p:cNvSpPr>
          <p:nvPr/>
        </p:nvSpPr>
        <p:spPr bwMode="auto">
          <a:xfrm>
            <a:off x="6079923" y="1335382"/>
            <a:ext cx="56793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77</a:t>
            </a:r>
            <a:endParaRPr lang="zh-CN" altLang="en-US" sz="2400" b="1">
              <a:solidFill>
                <a:srgbClr val="FF0000"/>
              </a:solidFill>
            </a:endParaRPr>
          </a:p>
        </p:txBody>
      </p:sp>
      <p:sp>
        <p:nvSpPr>
          <p:cNvPr id="35" name="矩形 34"/>
          <p:cNvSpPr>
            <a:spLocks noChangeArrowheads="1"/>
          </p:cNvSpPr>
          <p:nvPr/>
        </p:nvSpPr>
        <p:spPr bwMode="auto">
          <a:xfrm>
            <a:off x="5432222"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62</a:t>
            </a:r>
            <a:endParaRPr lang="zh-CN" altLang="en-US" sz="2400" b="1">
              <a:solidFill>
                <a:srgbClr val="FF0000"/>
              </a:solidFill>
            </a:endParaRPr>
          </a:p>
        </p:txBody>
      </p:sp>
      <p:sp>
        <p:nvSpPr>
          <p:cNvPr id="36" name="矩形 35"/>
          <p:cNvSpPr>
            <a:spLocks noChangeArrowheads="1"/>
          </p:cNvSpPr>
          <p:nvPr/>
        </p:nvSpPr>
        <p:spPr bwMode="auto">
          <a:xfrm>
            <a:off x="4838100" y="1335382"/>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55</a:t>
            </a:r>
            <a:endParaRPr lang="zh-CN" altLang="en-US" sz="2400" b="1">
              <a:solidFill>
                <a:srgbClr val="FF0000"/>
              </a:solidFill>
            </a:endParaRPr>
          </a:p>
        </p:txBody>
      </p:sp>
      <p:sp>
        <p:nvSpPr>
          <p:cNvPr id="37" name="矩形 36"/>
          <p:cNvSpPr>
            <a:spLocks noChangeArrowheads="1"/>
          </p:cNvSpPr>
          <p:nvPr/>
        </p:nvSpPr>
        <p:spPr bwMode="auto">
          <a:xfrm>
            <a:off x="4190400" y="1329429"/>
            <a:ext cx="56654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solidFill>
                  <a:srgbClr val="FF0000"/>
                </a:solidFill>
              </a:rPr>
              <a:t>48</a:t>
            </a:r>
            <a:endParaRPr lang="zh-CN" altLang="en-US" sz="2400" b="1">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9" presetClass="exit" presetSubtype="0" fill="hold" grpId="1" nodeType="clickEffect">
                                  <p:stCondLst>
                                    <p:cond delay="0"/>
                                  </p:stCondLst>
                                  <p:childTnLst>
                                    <p:animEffect transition="out" filter="dissolve">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par>
                                <p:cTn id="12" presetID="9"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dissolve">
                                      <p:cBhvr>
                                        <p:cTn id="14" dur="500"/>
                                        <p:tgtEl>
                                          <p:spTgt spid="13"/>
                                        </p:tgtEl>
                                      </p:cBhvr>
                                    </p:animEffect>
                                  </p:childTnLst>
                                </p:cTn>
                              </p:par>
                            </p:childTnLst>
                          </p:cTn>
                        </p:par>
                      </p:childTnLst>
                    </p:cTn>
                  </p:par>
                  <p:par>
                    <p:cTn id="15" fill="hold">
                      <p:stCondLst>
                        <p:cond delay="indefinite"/>
                      </p:stCondLst>
                      <p:childTnLst>
                        <p:par>
                          <p:cTn id="16" fill="hold">
                            <p:stCondLst>
                              <p:cond delay="0"/>
                            </p:stCondLst>
                            <p:childTnLst>
                              <p:par>
                                <p:cTn id="17" presetID="35" presetClass="emph" presetSubtype="0" fill="hold" grpId="0" nodeType="clickEffect">
                                  <p:stCondLst>
                                    <p:cond delay="0"/>
                                  </p:stCondLst>
                                  <p:childTnLst>
                                    <p:anim calcmode="discrete" valueType="str">
                                      <p:cBhvr>
                                        <p:cTn id="1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9" presetClass="exit" presetSubtype="0" fill="hold" grpId="1" nodeType="clickEffect">
                                  <p:stCondLst>
                                    <p:cond delay="0"/>
                                  </p:stCondLst>
                                  <p:childTnLst>
                                    <p:animEffect transition="out" filter="dissolve">
                                      <p:cBhvr>
                                        <p:cTn id="22" dur="500"/>
                                        <p:tgtEl>
                                          <p:spTgt spid="6"/>
                                        </p:tgtEl>
                                      </p:cBhvr>
                                    </p:animEffect>
                                    <p:set>
                                      <p:cBhvr>
                                        <p:cTn id="23" dur="1" fill="hold">
                                          <p:stCondLst>
                                            <p:cond delay="499"/>
                                          </p:stCondLst>
                                        </p:cTn>
                                        <p:tgtEl>
                                          <p:spTgt spid="6"/>
                                        </p:tgtEl>
                                        <p:attrNameLst>
                                          <p:attrName>style.visibility</p:attrName>
                                        </p:attrNameLst>
                                      </p:cBhvr>
                                      <p:to>
                                        <p:strVal val="hidden"/>
                                      </p:to>
                                    </p:set>
                                  </p:childTnLst>
                                </p:cTn>
                              </p:par>
                              <p:par>
                                <p:cTn id="24" presetID="9"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dissolv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35" presetClass="emph" presetSubtype="0" fill="hold" grpId="0" nodeType="clickEffect">
                                  <p:stCondLst>
                                    <p:cond delay="0"/>
                                  </p:stCondLst>
                                  <p:childTnLst>
                                    <p:anim calcmode="discrete" valueType="str">
                                      <p:cBhvr>
                                        <p:cTn id="3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dissolve">
                                      <p:cBhvr>
                                        <p:cTn id="35" dur="500"/>
                                        <p:tgtEl>
                                          <p:spTgt spid="21"/>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xit" presetSubtype="0" fill="hold" grpId="1" nodeType="clickEffect">
                                  <p:stCondLst>
                                    <p:cond delay="0"/>
                                  </p:stCondLst>
                                  <p:childTnLst>
                                    <p:animEffect transition="out" filter="dissolve">
                                      <p:cBhvr>
                                        <p:cTn id="39" dur="500"/>
                                        <p:tgtEl>
                                          <p:spTgt spid="7"/>
                                        </p:tgtEl>
                                      </p:cBhvr>
                                    </p:animEffect>
                                    <p:set>
                                      <p:cBhvr>
                                        <p:cTn id="40" dur="1" fill="hold">
                                          <p:stCondLst>
                                            <p:cond delay="499"/>
                                          </p:stCondLst>
                                        </p:cTn>
                                        <p:tgtEl>
                                          <p:spTgt spid="7"/>
                                        </p:tgtEl>
                                        <p:attrNameLst>
                                          <p:attrName>style.visibility</p:attrName>
                                        </p:attrNameLst>
                                      </p:cBhvr>
                                      <p:to>
                                        <p:strVal val="hidden"/>
                                      </p:to>
                                    </p:set>
                                  </p:childTnLst>
                                </p:cTn>
                              </p:par>
                              <p:par>
                                <p:cTn id="41" presetID="9"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dissolve">
                                      <p:cBhvr>
                                        <p:cTn id="43" dur="500"/>
                                        <p:tgtEl>
                                          <p:spTgt spid="22"/>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xit" presetSubtype="0" fill="hold" grpId="1" nodeType="clickEffect">
                                  <p:stCondLst>
                                    <p:cond delay="0"/>
                                  </p:stCondLst>
                                  <p:childTnLst>
                                    <p:animEffect transition="out" filter="dissolve">
                                      <p:cBhvr>
                                        <p:cTn id="47" dur="500"/>
                                        <p:tgtEl>
                                          <p:spTgt spid="14"/>
                                        </p:tgtEl>
                                      </p:cBhvr>
                                    </p:animEffect>
                                    <p:set>
                                      <p:cBhvr>
                                        <p:cTn id="48" dur="1" fill="hold">
                                          <p:stCondLst>
                                            <p:cond delay="499"/>
                                          </p:stCondLst>
                                        </p:cTn>
                                        <p:tgtEl>
                                          <p:spTgt spid="14"/>
                                        </p:tgtEl>
                                        <p:attrNameLst>
                                          <p:attrName>style.visibility</p:attrName>
                                        </p:attrNameLst>
                                      </p:cBhvr>
                                      <p:to>
                                        <p:strVal val="hidden"/>
                                      </p:to>
                                    </p:set>
                                  </p:childTnLst>
                                </p:cTn>
                              </p:par>
                              <p:par>
                                <p:cTn id="49" presetID="9"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dissolve">
                                      <p:cBhvr>
                                        <p:cTn id="51" dur="500"/>
                                        <p:tgtEl>
                                          <p:spTgt spid="23"/>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xit" presetSubtype="0" fill="hold" grpId="1" nodeType="clickEffect">
                                  <p:stCondLst>
                                    <p:cond delay="0"/>
                                  </p:stCondLst>
                                  <p:childTnLst>
                                    <p:animEffect transition="out" filter="dissolve">
                                      <p:cBhvr>
                                        <p:cTn id="55" dur="500"/>
                                        <p:tgtEl>
                                          <p:spTgt spid="13"/>
                                        </p:tgtEl>
                                      </p:cBhvr>
                                    </p:animEffect>
                                    <p:set>
                                      <p:cBhvr>
                                        <p:cTn id="56" dur="1" fill="hold">
                                          <p:stCondLst>
                                            <p:cond delay="499"/>
                                          </p:stCondLst>
                                        </p:cTn>
                                        <p:tgtEl>
                                          <p:spTgt spid="13"/>
                                        </p:tgtEl>
                                        <p:attrNameLst>
                                          <p:attrName>style.visibility</p:attrName>
                                        </p:attrNameLst>
                                      </p:cBhvr>
                                      <p:to>
                                        <p:strVal val="hidden"/>
                                      </p:to>
                                    </p:set>
                                  </p:childTnLst>
                                </p:cTn>
                              </p:par>
                              <p:par>
                                <p:cTn id="57" presetID="9" presetClass="entr" presetSubtype="0" fill="hold" grpId="0"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dissolve">
                                      <p:cBhvr>
                                        <p:cTn id="59" dur="500"/>
                                        <p:tgtEl>
                                          <p:spTgt spid="15"/>
                                        </p:tgtEl>
                                      </p:cBhvr>
                                    </p:animEffect>
                                  </p:childTnLst>
                                </p:cTn>
                              </p:par>
                            </p:childTnLst>
                          </p:cTn>
                        </p:par>
                      </p:childTnLst>
                    </p:cTn>
                  </p:par>
                  <p:par>
                    <p:cTn id="60" fill="hold">
                      <p:stCondLst>
                        <p:cond delay="indefinite"/>
                      </p:stCondLst>
                      <p:childTnLst>
                        <p:par>
                          <p:cTn id="61" fill="hold">
                            <p:stCondLst>
                              <p:cond delay="0"/>
                            </p:stCondLst>
                            <p:childTnLst>
                              <p:par>
                                <p:cTn id="62" presetID="35" presetClass="emph" presetSubtype="0" fill="hold" grpId="0" nodeType="clickEffect">
                                  <p:stCondLst>
                                    <p:cond delay="0"/>
                                  </p:stCondLst>
                                  <p:childTnLst>
                                    <p:anim calcmode="discrete" valueType="str">
                                      <p:cBhvr>
                                        <p:cTn id="63"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64" fill="hold">
                      <p:stCondLst>
                        <p:cond delay="indefinite"/>
                      </p:stCondLst>
                      <p:childTnLst>
                        <p:par>
                          <p:cTn id="65" fill="hold">
                            <p:stCondLst>
                              <p:cond delay="0"/>
                            </p:stCondLst>
                            <p:childTnLst>
                              <p:par>
                                <p:cTn id="66" presetID="9" presetClass="exit" presetSubtype="0" fill="hold" grpId="1" nodeType="clickEffect">
                                  <p:stCondLst>
                                    <p:cond delay="0"/>
                                  </p:stCondLst>
                                  <p:childTnLst>
                                    <p:animEffect transition="out" filter="dissolve">
                                      <p:cBhvr>
                                        <p:cTn id="67" dur="500"/>
                                        <p:tgtEl>
                                          <p:spTgt spid="8"/>
                                        </p:tgtEl>
                                      </p:cBhvr>
                                    </p:animEffect>
                                    <p:set>
                                      <p:cBhvr>
                                        <p:cTn id="68" dur="1" fill="hold">
                                          <p:stCondLst>
                                            <p:cond delay="499"/>
                                          </p:stCondLst>
                                        </p:cTn>
                                        <p:tgtEl>
                                          <p:spTgt spid="8"/>
                                        </p:tgtEl>
                                        <p:attrNameLst>
                                          <p:attrName>style.visibility</p:attrName>
                                        </p:attrNameLst>
                                      </p:cBhvr>
                                      <p:to>
                                        <p:strVal val="hidden"/>
                                      </p:to>
                                    </p:set>
                                  </p:childTnLst>
                                </p:cTn>
                              </p:par>
                              <p:par>
                                <p:cTn id="69" presetID="9"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dissolve">
                                      <p:cBhvr>
                                        <p:cTn id="71" dur="500"/>
                                        <p:tgtEl>
                                          <p:spTgt spid="16"/>
                                        </p:tgtEl>
                                      </p:cBhvr>
                                    </p:animEffect>
                                  </p:childTnLst>
                                </p:cTn>
                              </p:par>
                            </p:childTnLst>
                          </p:cTn>
                        </p:par>
                      </p:childTnLst>
                    </p:cTn>
                  </p:par>
                  <p:par>
                    <p:cTn id="72" fill="hold">
                      <p:stCondLst>
                        <p:cond delay="indefinite"/>
                      </p:stCondLst>
                      <p:childTnLst>
                        <p:par>
                          <p:cTn id="73" fill="hold">
                            <p:stCondLst>
                              <p:cond delay="0"/>
                            </p:stCondLst>
                            <p:childTnLst>
                              <p:par>
                                <p:cTn id="74" presetID="35" presetClass="emph" presetSubtype="0" fill="hold" grpId="0" nodeType="clickEffect">
                                  <p:stCondLst>
                                    <p:cond delay="0"/>
                                  </p:stCondLst>
                                  <p:childTnLst>
                                    <p:anim calcmode="discrete" valueType="str">
                                      <p:cBhvr>
                                        <p:cTn id="75"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76" fill="hold">
                      <p:stCondLst>
                        <p:cond delay="indefinite"/>
                      </p:stCondLst>
                      <p:childTnLst>
                        <p:par>
                          <p:cTn id="77" fill="hold">
                            <p:stCondLst>
                              <p:cond delay="0"/>
                            </p:stCondLst>
                            <p:childTnLst>
                              <p:par>
                                <p:cTn id="78" presetID="9" presetClass="exit" presetSubtype="0" fill="hold" grpId="1" nodeType="clickEffect">
                                  <p:stCondLst>
                                    <p:cond delay="0"/>
                                  </p:stCondLst>
                                  <p:childTnLst>
                                    <p:animEffect transition="out" filter="dissolve">
                                      <p:cBhvr>
                                        <p:cTn id="79" dur="500"/>
                                        <p:tgtEl>
                                          <p:spTgt spid="21"/>
                                        </p:tgtEl>
                                      </p:cBhvr>
                                    </p:animEffect>
                                    <p:set>
                                      <p:cBhvr>
                                        <p:cTn id="80" dur="1" fill="hold">
                                          <p:stCondLst>
                                            <p:cond delay="499"/>
                                          </p:stCondLst>
                                        </p:cTn>
                                        <p:tgtEl>
                                          <p:spTgt spid="21"/>
                                        </p:tgtEl>
                                        <p:attrNameLst>
                                          <p:attrName>style.visibility</p:attrName>
                                        </p:attrNameLst>
                                      </p:cBhvr>
                                      <p:to>
                                        <p:strVal val="hidden"/>
                                      </p:to>
                                    </p:set>
                                  </p:childTnLst>
                                </p:cTn>
                              </p:par>
                              <p:par>
                                <p:cTn id="81" presetID="9"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dissolve">
                                      <p:cBhvr>
                                        <p:cTn id="83" dur="500"/>
                                        <p:tgtEl>
                                          <p:spTgt spid="24"/>
                                        </p:tgtEl>
                                      </p:cBhvr>
                                    </p:animEffect>
                                  </p:childTnLst>
                                </p:cTn>
                              </p:par>
                            </p:childTnLst>
                          </p:cTn>
                        </p:par>
                      </p:childTnLst>
                    </p:cTn>
                  </p:par>
                  <p:par>
                    <p:cTn id="84" fill="hold">
                      <p:stCondLst>
                        <p:cond delay="indefinite"/>
                      </p:stCondLst>
                      <p:childTnLst>
                        <p:par>
                          <p:cTn id="85" fill="hold">
                            <p:stCondLst>
                              <p:cond delay="0"/>
                            </p:stCondLst>
                            <p:childTnLst>
                              <p:par>
                                <p:cTn id="86" presetID="9" presetClass="exit" presetSubtype="0" fill="hold" grpId="1" nodeType="clickEffect">
                                  <p:stCondLst>
                                    <p:cond delay="0"/>
                                  </p:stCondLst>
                                  <p:childTnLst>
                                    <p:animEffect transition="out" filter="dissolv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9" presetClass="entr" presetSubtype="0" fill="hold" grpId="0" nodeType="with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dissolve">
                                      <p:cBhvr>
                                        <p:cTn id="91" dur="500"/>
                                        <p:tgtEl>
                                          <p:spTgt spid="25"/>
                                        </p:tgtEl>
                                      </p:cBhvr>
                                    </p:animEffect>
                                  </p:childTnLst>
                                </p:cTn>
                              </p:par>
                            </p:childTnLst>
                          </p:cTn>
                        </p:par>
                      </p:childTnLst>
                    </p:cTn>
                  </p:par>
                  <p:par>
                    <p:cTn id="92" fill="hold">
                      <p:stCondLst>
                        <p:cond delay="indefinite"/>
                      </p:stCondLst>
                      <p:childTnLst>
                        <p:par>
                          <p:cTn id="93" fill="hold">
                            <p:stCondLst>
                              <p:cond delay="0"/>
                            </p:stCondLst>
                            <p:childTnLst>
                              <p:par>
                                <p:cTn id="94" presetID="9" presetClass="exit" presetSubtype="0" fill="hold" grpId="1" nodeType="clickEffect">
                                  <p:stCondLst>
                                    <p:cond delay="0"/>
                                  </p:stCondLst>
                                  <p:childTnLst>
                                    <p:animEffect transition="out" filter="dissolve">
                                      <p:cBhvr>
                                        <p:cTn id="95" dur="500"/>
                                        <p:tgtEl>
                                          <p:spTgt spid="16"/>
                                        </p:tgtEl>
                                      </p:cBhvr>
                                    </p:animEffect>
                                    <p:set>
                                      <p:cBhvr>
                                        <p:cTn id="96" dur="1" fill="hold">
                                          <p:stCondLst>
                                            <p:cond delay="499"/>
                                          </p:stCondLst>
                                        </p:cTn>
                                        <p:tgtEl>
                                          <p:spTgt spid="16"/>
                                        </p:tgtEl>
                                        <p:attrNameLst>
                                          <p:attrName>style.visibility</p:attrName>
                                        </p:attrNameLst>
                                      </p:cBhvr>
                                      <p:to>
                                        <p:strVal val="hidden"/>
                                      </p:to>
                                    </p:set>
                                  </p:childTnLst>
                                </p:cTn>
                              </p:par>
                              <p:par>
                                <p:cTn id="97" presetID="9"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dissolve">
                                      <p:cBhvr>
                                        <p:cTn id="99" dur="500"/>
                                        <p:tgtEl>
                                          <p:spTgt spid="26"/>
                                        </p:tgtEl>
                                      </p:cBhvr>
                                    </p:animEffect>
                                  </p:childTnLst>
                                </p:cTn>
                              </p:par>
                            </p:childTnLst>
                          </p:cTn>
                        </p:par>
                      </p:childTnLst>
                    </p:cTn>
                  </p:par>
                  <p:par>
                    <p:cTn id="100" fill="hold">
                      <p:stCondLst>
                        <p:cond delay="indefinite"/>
                      </p:stCondLst>
                      <p:childTnLst>
                        <p:par>
                          <p:cTn id="101" fill="hold">
                            <p:stCondLst>
                              <p:cond delay="0"/>
                            </p:stCondLst>
                            <p:childTnLst>
                              <p:par>
                                <p:cTn id="102" presetID="9" presetClass="exit" presetSubtype="0" fill="hold" grpId="1" nodeType="clickEffect">
                                  <p:stCondLst>
                                    <p:cond delay="0"/>
                                  </p:stCondLst>
                                  <p:childTnLst>
                                    <p:animEffect transition="out" filter="dissolve">
                                      <p:cBhvr>
                                        <p:cTn id="103" dur="500"/>
                                        <p:tgtEl>
                                          <p:spTgt spid="22"/>
                                        </p:tgtEl>
                                      </p:cBhvr>
                                    </p:animEffect>
                                    <p:set>
                                      <p:cBhvr>
                                        <p:cTn id="104" dur="1" fill="hold">
                                          <p:stCondLst>
                                            <p:cond delay="499"/>
                                          </p:stCondLst>
                                        </p:cTn>
                                        <p:tgtEl>
                                          <p:spTgt spid="22"/>
                                        </p:tgtEl>
                                        <p:attrNameLst>
                                          <p:attrName>style.visibility</p:attrName>
                                        </p:attrNameLst>
                                      </p:cBhvr>
                                      <p:to>
                                        <p:strVal val="hidden"/>
                                      </p:to>
                                    </p:set>
                                  </p:childTnLst>
                                </p:cTn>
                              </p:par>
                              <p:par>
                                <p:cTn id="105" presetID="9" presetClass="entr" presetSubtype="0" fill="hold" grpId="0" nodeType="withEffect">
                                  <p:stCondLst>
                                    <p:cond delay="0"/>
                                  </p:stCondLst>
                                  <p:childTnLst>
                                    <p:set>
                                      <p:cBhvr>
                                        <p:cTn id="106" dur="1" fill="hold">
                                          <p:stCondLst>
                                            <p:cond delay="0"/>
                                          </p:stCondLst>
                                        </p:cTn>
                                        <p:tgtEl>
                                          <p:spTgt spid="17"/>
                                        </p:tgtEl>
                                        <p:attrNameLst>
                                          <p:attrName>style.visibility</p:attrName>
                                        </p:attrNameLst>
                                      </p:cBhvr>
                                      <p:to>
                                        <p:strVal val="visible"/>
                                      </p:to>
                                    </p:set>
                                    <p:animEffect transition="in" filter="dissolve">
                                      <p:cBhvr>
                                        <p:cTn id="107" dur="500"/>
                                        <p:tgtEl>
                                          <p:spTgt spid="17"/>
                                        </p:tgtEl>
                                      </p:cBhvr>
                                    </p:animEffec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12" fill="hold">
                      <p:stCondLst>
                        <p:cond delay="indefinite"/>
                      </p:stCondLst>
                      <p:childTnLst>
                        <p:par>
                          <p:cTn id="113" fill="hold">
                            <p:stCondLst>
                              <p:cond delay="0"/>
                            </p:stCondLst>
                            <p:childTnLst>
                              <p:par>
                                <p:cTn id="114" presetID="9" presetClass="exit" presetSubtype="0" fill="hold" grpId="1" nodeType="clickEffect">
                                  <p:stCondLst>
                                    <p:cond delay="0"/>
                                  </p:stCondLst>
                                  <p:childTnLst>
                                    <p:animEffect transition="out" filter="dissolve">
                                      <p:cBhvr>
                                        <p:cTn id="115" dur="500"/>
                                        <p:tgtEl>
                                          <p:spTgt spid="24"/>
                                        </p:tgtEl>
                                      </p:cBhvr>
                                    </p:animEffect>
                                    <p:set>
                                      <p:cBhvr>
                                        <p:cTn id="116" dur="1" fill="hold">
                                          <p:stCondLst>
                                            <p:cond delay="499"/>
                                          </p:stCondLst>
                                        </p:cTn>
                                        <p:tgtEl>
                                          <p:spTgt spid="24"/>
                                        </p:tgtEl>
                                        <p:attrNameLst>
                                          <p:attrName>style.visibility</p:attrName>
                                        </p:attrNameLst>
                                      </p:cBhvr>
                                      <p:to>
                                        <p:strVal val="hidden"/>
                                      </p:to>
                                    </p:set>
                                  </p:childTnLst>
                                </p:cTn>
                              </p:par>
                              <p:par>
                                <p:cTn id="117" presetID="9" presetClass="entr" presetSubtype="0" fill="hold" grpId="0" nodeType="withEffect">
                                  <p:stCondLst>
                                    <p:cond delay="0"/>
                                  </p:stCondLst>
                                  <p:childTnLst>
                                    <p:set>
                                      <p:cBhvr>
                                        <p:cTn id="118" dur="1" fill="hold">
                                          <p:stCondLst>
                                            <p:cond delay="0"/>
                                          </p:stCondLst>
                                        </p:cTn>
                                        <p:tgtEl>
                                          <p:spTgt spid="27"/>
                                        </p:tgtEl>
                                        <p:attrNameLst>
                                          <p:attrName>style.visibility</p:attrName>
                                        </p:attrNameLst>
                                      </p:cBhvr>
                                      <p:to>
                                        <p:strVal val="visible"/>
                                      </p:to>
                                    </p:set>
                                    <p:animEffect transition="in" filter="dissolve">
                                      <p:cBhvr>
                                        <p:cTn id="119" dur="500"/>
                                        <p:tgtEl>
                                          <p:spTgt spid="27"/>
                                        </p:tgtEl>
                                      </p:cBhvr>
                                    </p:animEffect>
                                  </p:childTnLst>
                                </p:cTn>
                              </p:par>
                            </p:childTnLst>
                          </p:cTn>
                        </p:par>
                      </p:childTnLst>
                    </p:cTn>
                  </p:par>
                  <p:par>
                    <p:cTn id="120" fill="hold">
                      <p:stCondLst>
                        <p:cond delay="indefinite"/>
                      </p:stCondLst>
                      <p:childTnLst>
                        <p:par>
                          <p:cTn id="121" fill="hold">
                            <p:stCondLst>
                              <p:cond delay="0"/>
                            </p:stCondLst>
                            <p:childTnLst>
                              <p:par>
                                <p:cTn id="122" presetID="9" presetClass="exit" presetSubtype="0" fill="hold" grpId="1" nodeType="clickEffect">
                                  <p:stCondLst>
                                    <p:cond delay="0"/>
                                  </p:stCondLst>
                                  <p:childTnLst>
                                    <p:animEffect transition="out" filter="dissolve">
                                      <p:cBhvr>
                                        <p:cTn id="123" dur="500"/>
                                        <p:tgtEl>
                                          <p:spTgt spid="10"/>
                                        </p:tgtEl>
                                      </p:cBhvr>
                                    </p:animEffect>
                                    <p:set>
                                      <p:cBhvr>
                                        <p:cTn id="124" dur="1" fill="hold">
                                          <p:stCondLst>
                                            <p:cond delay="499"/>
                                          </p:stCondLst>
                                        </p:cTn>
                                        <p:tgtEl>
                                          <p:spTgt spid="10"/>
                                        </p:tgtEl>
                                        <p:attrNameLst>
                                          <p:attrName>style.visibility</p:attrName>
                                        </p:attrNameLst>
                                      </p:cBhvr>
                                      <p:to>
                                        <p:strVal val="hidden"/>
                                      </p:to>
                                    </p:set>
                                  </p:childTnLst>
                                </p:cTn>
                              </p:par>
                              <p:par>
                                <p:cTn id="125" presetID="9" presetClass="entr" presetSubtype="0" fill="hold" grpId="0"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dissolve">
                                      <p:cBhvr>
                                        <p:cTn id="127" dur="500"/>
                                        <p:tgtEl>
                                          <p:spTgt spid="28"/>
                                        </p:tgtEl>
                                      </p:cBhvr>
                                    </p:animEffect>
                                  </p:childTnLst>
                                </p:cTn>
                              </p:par>
                            </p:childTnLst>
                          </p:cTn>
                        </p:par>
                      </p:childTnLst>
                    </p:cTn>
                  </p:par>
                  <p:par>
                    <p:cTn id="128" fill="hold">
                      <p:stCondLst>
                        <p:cond delay="indefinite"/>
                      </p:stCondLst>
                      <p:childTnLst>
                        <p:par>
                          <p:cTn id="129" fill="hold">
                            <p:stCondLst>
                              <p:cond delay="0"/>
                            </p:stCondLst>
                            <p:childTnLst>
                              <p:par>
                                <p:cTn id="130" presetID="9" presetClass="exit" presetSubtype="0" fill="hold" grpId="1" nodeType="clickEffect">
                                  <p:stCondLst>
                                    <p:cond delay="0"/>
                                  </p:stCondLst>
                                  <p:childTnLst>
                                    <p:animEffect transition="out" filter="dissolve">
                                      <p:cBhvr>
                                        <p:cTn id="131" dur="500"/>
                                        <p:tgtEl>
                                          <p:spTgt spid="25"/>
                                        </p:tgtEl>
                                      </p:cBhvr>
                                    </p:animEffect>
                                    <p:set>
                                      <p:cBhvr>
                                        <p:cTn id="132" dur="1" fill="hold">
                                          <p:stCondLst>
                                            <p:cond delay="499"/>
                                          </p:stCondLst>
                                        </p:cTn>
                                        <p:tgtEl>
                                          <p:spTgt spid="25"/>
                                        </p:tgtEl>
                                        <p:attrNameLst>
                                          <p:attrName>style.visibility</p:attrName>
                                        </p:attrNameLst>
                                      </p:cBhvr>
                                      <p:to>
                                        <p:strVal val="hidden"/>
                                      </p:to>
                                    </p:set>
                                  </p:childTnLst>
                                </p:cTn>
                              </p:par>
                              <p:par>
                                <p:cTn id="133" presetID="9" presetClass="entr" presetSubtype="0" fill="hold" grpId="0"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dissolve">
                                      <p:cBhvr>
                                        <p:cTn id="135" dur="500"/>
                                        <p:tgtEl>
                                          <p:spTgt spid="29"/>
                                        </p:tgtEl>
                                      </p:cBhvr>
                                    </p:animEffect>
                                  </p:childTnLst>
                                </p:cTn>
                              </p:par>
                            </p:childTnLst>
                          </p:cTn>
                        </p:par>
                      </p:childTnLst>
                    </p:cTn>
                  </p:par>
                  <p:par>
                    <p:cTn id="136" fill="hold">
                      <p:stCondLst>
                        <p:cond delay="indefinite"/>
                      </p:stCondLst>
                      <p:childTnLst>
                        <p:par>
                          <p:cTn id="137" fill="hold">
                            <p:stCondLst>
                              <p:cond delay="0"/>
                            </p:stCondLst>
                            <p:childTnLst>
                              <p:par>
                                <p:cTn id="138" presetID="9" presetClass="exit" presetSubtype="0" fill="hold" grpId="1" nodeType="clickEffect">
                                  <p:stCondLst>
                                    <p:cond delay="0"/>
                                  </p:stCondLst>
                                  <p:childTnLst>
                                    <p:animEffect transition="out" filter="dissolve">
                                      <p:cBhvr>
                                        <p:cTn id="139" dur="500"/>
                                        <p:tgtEl>
                                          <p:spTgt spid="26"/>
                                        </p:tgtEl>
                                      </p:cBhvr>
                                    </p:animEffect>
                                    <p:set>
                                      <p:cBhvr>
                                        <p:cTn id="140" dur="1" fill="hold">
                                          <p:stCondLst>
                                            <p:cond delay="499"/>
                                          </p:stCondLst>
                                        </p:cTn>
                                        <p:tgtEl>
                                          <p:spTgt spid="26"/>
                                        </p:tgtEl>
                                        <p:attrNameLst>
                                          <p:attrName>style.visibility</p:attrName>
                                        </p:attrNameLst>
                                      </p:cBhvr>
                                      <p:to>
                                        <p:strVal val="hidden"/>
                                      </p:to>
                                    </p:set>
                                  </p:childTnLst>
                                </p:cTn>
                              </p:par>
                              <p:par>
                                <p:cTn id="141" presetID="9" presetClass="entr" presetSubtype="0" fill="hold" grpId="0" nodeType="withEffect">
                                  <p:stCondLst>
                                    <p:cond delay="0"/>
                                  </p:stCondLst>
                                  <p:childTnLst>
                                    <p:set>
                                      <p:cBhvr>
                                        <p:cTn id="142" dur="1" fill="hold">
                                          <p:stCondLst>
                                            <p:cond delay="0"/>
                                          </p:stCondLst>
                                        </p:cTn>
                                        <p:tgtEl>
                                          <p:spTgt spid="30"/>
                                        </p:tgtEl>
                                        <p:attrNameLst>
                                          <p:attrName>style.visibility</p:attrName>
                                        </p:attrNameLst>
                                      </p:cBhvr>
                                      <p:to>
                                        <p:strVal val="visible"/>
                                      </p:to>
                                    </p:set>
                                    <p:animEffect transition="in" filter="dissolve">
                                      <p:cBhvr>
                                        <p:cTn id="143" dur="500"/>
                                        <p:tgtEl>
                                          <p:spTgt spid="30"/>
                                        </p:tgtEl>
                                      </p:cBhvr>
                                    </p:animEffect>
                                  </p:childTnLst>
                                </p:cTn>
                              </p:par>
                            </p:childTnLst>
                          </p:cTn>
                        </p:par>
                      </p:childTnLst>
                    </p:cTn>
                  </p:par>
                  <p:par>
                    <p:cTn id="144" fill="hold">
                      <p:stCondLst>
                        <p:cond delay="indefinite"/>
                      </p:stCondLst>
                      <p:childTnLst>
                        <p:par>
                          <p:cTn id="145" fill="hold">
                            <p:stCondLst>
                              <p:cond delay="0"/>
                            </p:stCondLst>
                            <p:childTnLst>
                              <p:par>
                                <p:cTn id="146" presetID="9" presetClass="exit" presetSubtype="0" fill="hold" grpId="1" nodeType="clickEffect">
                                  <p:stCondLst>
                                    <p:cond delay="0"/>
                                  </p:stCondLst>
                                  <p:childTnLst>
                                    <p:animEffect transition="out" filter="dissolve">
                                      <p:cBhvr>
                                        <p:cTn id="147" dur="500"/>
                                        <p:tgtEl>
                                          <p:spTgt spid="17"/>
                                        </p:tgtEl>
                                      </p:cBhvr>
                                    </p:animEffect>
                                    <p:set>
                                      <p:cBhvr>
                                        <p:cTn id="148" dur="1" fill="hold">
                                          <p:stCondLst>
                                            <p:cond delay="499"/>
                                          </p:stCondLst>
                                        </p:cTn>
                                        <p:tgtEl>
                                          <p:spTgt spid="17"/>
                                        </p:tgtEl>
                                        <p:attrNameLst>
                                          <p:attrName>style.visibility</p:attrName>
                                        </p:attrNameLst>
                                      </p:cBhvr>
                                      <p:to>
                                        <p:strVal val="hidden"/>
                                      </p:to>
                                    </p:set>
                                  </p:childTnLst>
                                </p:cTn>
                              </p:par>
                              <p:par>
                                <p:cTn id="149" presetID="9" presetClass="entr" presetSubtype="0" fill="hold" grpId="0" nodeType="withEffect">
                                  <p:stCondLst>
                                    <p:cond delay="0"/>
                                  </p:stCondLst>
                                  <p:childTnLst>
                                    <p:set>
                                      <p:cBhvr>
                                        <p:cTn id="150" dur="1" fill="hold">
                                          <p:stCondLst>
                                            <p:cond delay="0"/>
                                          </p:stCondLst>
                                        </p:cTn>
                                        <p:tgtEl>
                                          <p:spTgt spid="31"/>
                                        </p:tgtEl>
                                        <p:attrNameLst>
                                          <p:attrName>style.visibility</p:attrName>
                                        </p:attrNameLst>
                                      </p:cBhvr>
                                      <p:to>
                                        <p:strVal val="visible"/>
                                      </p:to>
                                    </p:set>
                                    <p:animEffect transition="in" filter="dissolve">
                                      <p:cBhvr>
                                        <p:cTn id="151" dur="500"/>
                                        <p:tgtEl>
                                          <p:spTgt spid="31"/>
                                        </p:tgtEl>
                                      </p:cBhvr>
                                    </p:animEffect>
                                  </p:childTnLst>
                                </p:cTn>
                              </p:par>
                            </p:childTnLst>
                          </p:cTn>
                        </p:par>
                      </p:childTnLst>
                    </p:cTn>
                  </p:par>
                  <p:par>
                    <p:cTn id="152" fill="hold">
                      <p:stCondLst>
                        <p:cond delay="indefinite"/>
                      </p:stCondLst>
                      <p:childTnLst>
                        <p:par>
                          <p:cTn id="153" fill="hold">
                            <p:stCondLst>
                              <p:cond delay="0"/>
                            </p:stCondLst>
                            <p:childTnLst>
                              <p:par>
                                <p:cTn id="154" presetID="9" presetClass="exit" presetSubtype="0" fill="hold" grpId="1" nodeType="clickEffect">
                                  <p:stCondLst>
                                    <p:cond delay="0"/>
                                  </p:stCondLst>
                                  <p:childTnLst>
                                    <p:animEffect transition="out" filter="dissolve">
                                      <p:cBhvr>
                                        <p:cTn id="155" dur="500"/>
                                        <p:tgtEl>
                                          <p:spTgt spid="23"/>
                                        </p:tgtEl>
                                      </p:cBhvr>
                                    </p:animEffect>
                                    <p:set>
                                      <p:cBhvr>
                                        <p:cTn id="156" dur="1" fill="hold">
                                          <p:stCondLst>
                                            <p:cond delay="499"/>
                                          </p:stCondLst>
                                        </p:cTn>
                                        <p:tgtEl>
                                          <p:spTgt spid="23"/>
                                        </p:tgtEl>
                                        <p:attrNameLst>
                                          <p:attrName>style.visibility</p:attrName>
                                        </p:attrNameLst>
                                      </p:cBhvr>
                                      <p:to>
                                        <p:strVal val="hidden"/>
                                      </p:to>
                                    </p:set>
                                  </p:childTnLst>
                                </p:cTn>
                              </p:par>
                              <p:par>
                                <p:cTn id="157" presetID="9" presetClass="entr" presetSubtype="0" fill="hold" grpId="0" nodeType="withEffect">
                                  <p:stCondLst>
                                    <p:cond delay="0"/>
                                  </p:stCondLst>
                                  <p:childTnLst>
                                    <p:set>
                                      <p:cBhvr>
                                        <p:cTn id="158" dur="1" fill="hold">
                                          <p:stCondLst>
                                            <p:cond delay="0"/>
                                          </p:stCondLst>
                                        </p:cTn>
                                        <p:tgtEl>
                                          <p:spTgt spid="32"/>
                                        </p:tgtEl>
                                        <p:attrNameLst>
                                          <p:attrName>style.visibility</p:attrName>
                                        </p:attrNameLst>
                                      </p:cBhvr>
                                      <p:to>
                                        <p:strVal val="visible"/>
                                      </p:to>
                                    </p:set>
                                    <p:animEffect transition="in" filter="dissolve">
                                      <p:cBhvr>
                                        <p:cTn id="159" dur="500"/>
                                        <p:tgtEl>
                                          <p:spTgt spid="32"/>
                                        </p:tgtEl>
                                      </p:cBhvr>
                                    </p:animEffect>
                                  </p:childTnLst>
                                </p:cTn>
                              </p:par>
                            </p:childTnLst>
                          </p:cTn>
                        </p:par>
                      </p:childTnLst>
                    </p:cTn>
                  </p:par>
                  <p:par>
                    <p:cTn id="160" fill="hold">
                      <p:stCondLst>
                        <p:cond delay="indefinite"/>
                      </p:stCondLst>
                      <p:childTnLst>
                        <p:par>
                          <p:cTn id="161" fill="hold">
                            <p:stCondLst>
                              <p:cond delay="0"/>
                            </p:stCondLst>
                            <p:childTnLst>
                              <p:par>
                                <p:cTn id="162" presetID="9" presetClass="exit" presetSubtype="0" fill="hold" grpId="1" nodeType="clickEffect">
                                  <p:stCondLst>
                                    <p:cond delay="0"/>
                                  </p:stCondLst>
                                  <p:childTnLst>
                                    <p:animEffect transition="out" filter="dissolve">
                                      <p:cBhvr>
                                        <p:cTn id="163" dur="500"/>
                                        <p:tgtEl>
                                          <p:spTgt spid="15"/>
                                        </p:tgtEl>
                                      </p:cBhvr>
                                    </p:animEffect>
                                    <p:set>
                                      <p:cBhvr>
                                        <p:cTn id="164" dur="1" fill="hold">
                                          <p:stCondLst>
                                            <p:cond delay="499"/>
                                          </p:stCondLst>
                                        </p:cTn>
                                        <p:tgtEl>
                                          <p:spTgt spid="15"/>
                                        </p:tgtEl>
                                        <p:attrNameLst>
                                          <p:attrName>style.visibility</p:attrName>
                                        </p:attrNameLst>
                                      </p:cBhvr>
                                      <p:to>
                                        <p:strVal val="hidden"/>
                                      </p:to>
                                    </p:set>
                                  </p:childTnLst>
                                </p:cTn>
                              </p:par>
                              <p:par>
                                <p:cTn id="165" presetID="9" presetClass="entr" presetSubtype="0" fill="hold" grpId="0" nodeType="withEffect">
                                  <p:stCondLst>
                                    <p:cond delay="0"/>
                                  </p:stCondLst>
                                  <p:childTnLst>
                                    <p:set>
                                      <p:cBhvr>
                                        <p:cTn id="166" dur="1" fill="hold">
                                          <p:stCondLst>
                                            <p:cond delay="0"/>
                                          </p:stCondLst>
                                        </p:cTn>
                                        <p:tgtEl>
                                          <p:spTgt spid="18"/>
                                        </p:tgtEl>
                                        <p:attrNameLst>
                                          <p:attrName>style.visibility</p:attrName>
                                        </p:attrNameLst>
                                      </p:cBhvr>
                                      <p:to>
                                        <p:strVal val="visible"/>
                                      </p:to>
                                    </p:set>
                                    <p:animEffect transition="in" filter="dissolve">
                                      <p:cBhvr>
                                        <p:cTn id="167" dur="500"/>
                                        <p:tgtEl>
                                          <p:spTgt spid="18"/>
                                        </p:tgtEl>
                                      </p:cBhvr>
                                    </p:animEffect>
                                  </p:childTnLst>
                                </p:cTn>
                              </p:par>
                            </p:childTnLst>
                          </p:cTn>
                        </p:par>
                      </p:childTnLst>
                    </p:cTn>
                  </p:par>
                  <p:par>
                    <p:cTn id="168" fill="hold">
                      <p:stCondLst>
                        <p:cond delay="indefinite"/>
                      </p:stCondLst>
                      <p:childTnLst>
                        <p:par>
                          <p:cTn id="169" fill="hold">
                            <p:stCondLst>
                              <p:cond delay="0"/>
                            </p:stCondLst>
                            <p:childTnLst>
                              <p:par>
                                <p:cTn id="170" presetID="35" presetClass="emph" presetSubtype="0" fill="hold" grpId="0" nodeType="clickEffect">
                                  <p:stCondLst>
                                    <p:cond delay="0"/>
                                  </p:stCondLst>
                                  <p:childTnLst>
                                    <p:anim calcmode="discrete" valueType="str">
                                      <p:cBhvr>
                                        <p:cTn id="171"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172" fill="hold">
                      <p:stCondLst>
                        <p:cond delay="indefinite"/>
                      </p:stCondLst>
                      <p:childTnLst>
                        <p:par>
                          <p:cTn id="173" fill="hold">
                            <p:stCondLst>
                              <p:cond delay="0"/>
                            </p:stCondLst>
                            <p:childTnLst>
                              <p:par>
                                <p:cTn id="174" presetID="9" presetClass="exit" presetSubtype="0" fill="hold" grpId="1" nodeType="clickEffect">
                                  <p:stCondLst>
                                    <p:cond delay="0"/>
                                  </p:stCondLst>
                                  <p:childTnLst>
                                    <p:animEffect transition="out" filter="dissolve">
                                      <p:cBhvr>
                                        <p:cTn id="175" dur="500"/>
                                        <p:tgtEl>
                                          <p:spTgt spid="27"/>
                                        </p:tgtEl>
                                      </p:cBhvr>
                                    </p:animEffect>
                                    <p:set>
                                      <p:cBhvr>
                                        <p:cTn id="176" dur="1" fill="hold">
                                          <p:stCondLst>
                                            <p:cond delay="499"/>
                                          </p:stCondLst>
                                        </p:cTn>
                                        <p:tgtEl>
                                          <p:spTgt spid="27"/>
                                        </p:tgtEl>
                                        <p:attrNameLst>
                                          <p:attrName>style.visibility</p:attrName>
                                        </p:attrNameLst>
                                      </p:cBhvr>
                                      <p:to>
                                        <p:strVal val="hidden"/>
                                      </p:to>
                                    </p:set>
                                  </p:childTnLst>
                                </p:cTn>
                              </p:par>
                              <p:par>
                                <p:cTn id="177" presetID="9" presetClass="entr" presetSubtype="0" fill="hold" grpId="0" nodeType="withEffect">
                                  <p:stCondLst>
                                    <p:cond delay="0"/>
                                  </p:stCondLst>
                                  <p:childTnLst>
                                    <p:set>
                                      <p:cBhvr>
                                        <p:cTn id="178" dur="1" fill="hold">
                                          <p:stCondLst>
                                            <p:cond delay="0"/>
                                          </p:stCondLst>
                                        </p:cTn>
                                        <p:tgtEl>
                                          <p:spTgt spid="33"/>
                                        </p:tgtEl>
                                        <p:attrNameLst>
                                          <p:attrName>style.visibility</p:attrName>
                                        </p:attrNameLst>
                                      </p:cBhvr>
                                      <p:to>
                                        <p:strVal val="visible"/>
                                      </p:to>
                                    </p:set>
                                    <p:animEffect transition="in" filter="dissolve">
                                      <p:cBhvr>
                                        <p:cTn id="179" dur="500"/>
                                        <p:tgtEl>
                                          <p:spTgt spid="33"/>
                                        </p:tgtEl>
                                      </p:cBhvr>
                                    </p:animEffect>
                                  </p:childTnLst>
                                </p:cTn>
                              </p:par>
                            </p:childTnLst>
                          </p:cTn>
                        </p:par>
                      </p:childTnLst>
                    </p:cTn>
                  </p:par>
                  <p:par>
                    <p:cTn id="180" fill="hold">
                      <p:stCondLst>
                        <p:cond delay="indefinite"/>
                      </p:stCondLst>
                      <p:childTnLst>
                        <p:par>
                          <p:cTn id="181" fill="hold">
                            <p:stCondLst>
                              <p:cond delay="0"/>
                            </p:stCondLst>
                            <p:childTnLst>
                              <p:par>
                                <p:cTn id="182" presetID="9" presetClass="exit" presetSubtype="0" fill="hold" grpId="1" nodeType="clickEffect">
                                  <p:stCondLst>
                                    <p:cond delay="0"/>
                                  </p:stCondLst>
                                  <p:childTnLst>
                                    <p:animEffect transition="out" filter="dissolve">
                                      <p:cBhvr>
                                        <p:cTn id="183" dur="500"/>
                                        <p:tgtEl>
                                          <p:spTgt spid="11"/>
                                        </p:tgtEl>
                                      </p:cBhvr>
                                    </p:animEffect>
                                    <p:set>
                                      <p:cBhvr>
                                        <p:cTn id="184" dur="1" fill="hold">
                                          <p:stCondLst>
                                            <p:cond delay="499"/>
                                          </p:stCondLst>
                                        </p:cTn>
                                        <p:tgtEl>
                                          <p:spTgt spid="11"/>
                                        </p:tgtEl>
                                        <p:attrNameLst>
                                          <p:attrName>style.visibility</p:attrName>
                                        </p:attrNameLst>
                                      </p:cBhvr>
                                      <p:to>
                                        <p:strVal val="hidden"/>
                                      </p:to>
                                    </p:set>
                                  </p:childTnLst>
                                </p:cTn>
                              </p:par>
                              <p:par>
                                <p:cTn id="185" presetID="9" presetClass="entr" presetSubtype="0" fill="hold" grpId="0" nodeType="withEffect">
                                  <p:stCondLst>
                                    <p:cond delay="0"/>
                                  </p:stCondLst>
                                  <p:childTnLst>
                                    <p:set>
                                      <p:cBhvr>
                                        <p:cTn id="186" dur="1" fill="hold">
                                          <p:stCondLst>
                                            <p:cond delay="0"/>
                                          </p:stCondLst>
                                        </p:cTn>
                                        <p:tgtEl>
                                          <p:spTgt spid="34"/>
                                        </p:tgtEl>
                                        <p:attrNameLst>
                                          <p:attrName>style.visibility</p:attrName>
                                        </p:attrNameLst>
                                      </p:cBhvr>
                                      <p:to>
                                        <p:strVal val="visible"/>
                                      </p:to>
                                    </p:set>
                                    <p:animEffect transition="in" filter="dissolve">
                                      <p:cBhvr>
                                        <p:cTn id="187" dur="500"/>
                                        <p:tgtEl>
                                          <p:spTgt spid="34"/>
                                        </p:tgtEl>
                                      </p:cBhvr>
                                    </p:animEffect>
                                  </p:childTnLst>
                                </p:cTn>
                              </p:par>
                            </p:childTnLst>
                          </p:cTn>
                        </p:par>
                      </p:childTnLst>
                    </p:cTn>
                  </p:par>
                  <p:par>
                    <p:cTn id="188" fill="hold">
                      <p:stCondLst>
                        <p:cond delay="indefinite"/>
                      </p:stCondLst>
                      <p:childTnLst>
                        <p:par>
                          <p:cTn id="189" fill="hold">
                            <p:stCondLst>
                              <p:cond delay="0"/>
                            </p:stCondLst>
                            <p:childTnLst>
                              <p:par>
                                <p:cTn id="190" presetID="9" presetClass="exit" presetSubtype="0" fill="hold" grpId="1" nodeType="clickEffect">
                                  <p:stCondLst>
                                    <p:cond delay="0"/>
                                  </p:stCondLst>
                                  <p:childTnLst>
                                    <p:animEffect transition="out" filter="dissolve">
                                      <p:cBhvr>
                                        <p:cTn id="191" dur="500"/>
                                        <p:tgtEl>
                                          <p:spTgt spid="28"/>
                                        </p:tgtEl>
                                      </p:cBhvr>
                                    </p:animEffect>
                                    <p:set>
                                      <p:cBhvr>
                                        <p:cTn id="192" dur="1" fill="hold">
                                          <p:stCondLst>
                                            <p:cond delay="499"/>
                                          </p:stCondLst>
                                        </p:cTn>
                                        <p:tgtEl>
                                          <p:spTgt spid="28"/>
                                        </p:tgtEl>
                                        <p:attrNameLst>
                                          <p:attrName>style.visibility</p:attrName>
                                        </p:attrNameLst>
                                      </p:cBhvr>
                                      <p:to>
                                        <p:strVal val="hidden"/>
                                      </p:to>
                                    </p:set>
                                  </p:childTnLst>
                                </p:cTn>
                              </p:par>
                              <p:par>
                                <p:cTn id="193" presetID="9" presetClass="entr" presetSubtype="0" fill="hold" grpId="0" nodeType="withEffect">
                                  <p:stCondLst>
                                    <p:cond delay="0"/>
                                  </p:stCondLst>
                                  <p:childTnLst>
                                    <p:set>
                                      <p:cBhvr>
                                        <p:cTn id="194" dur="1" fill="hold">
                                          <p:stCondLst>
                                            <p:cond delay="0"/>
                                          </p:stCondLst>
                                        </p:cTn>
                                        <p:tgtEl>
                                          <p:spTgt spid="35"/>
                                        </p:tgtEl>
                                        <p:attrNameLst>
                                          <p:attrName>style.visibility</p:attrName>
                                        </p:attrNameLst>
                                      </p:cBhvr>
                                      <p:to>
                                        <p:strVal val="visible"/>
                                      </p:to>
                                    </p:set>
                                    <p:animEffect transition="in" filter="dissolve">
                                      <p:cBhvr>
                                        <p:cTn id="195" dur="500"/>
                                        <p:tgtEl>
                                          <p:spTgt spid="35"/>
                                        </p:tgtEl>
                                      </p:cBhvr>
                                    </p:animEffect>
                                  </p:childTnLst>
                                </p:cTn>
                              </p:par>
                            </p:childTnLst>
                          </p:cTn>
                        </p:par>
                      </p:childTnLst>
                    </p:cTn>
                  </p:par>
                  <p:par>
                    <p:cTn id="196" fill="hold">
                      <p:stCondLst>
                        <p:cond delay="indefinite"/>
                      </p:stCondLst>
                      <p:childTnLst>
                        <p:par>
                          <p:cTn id="197" fill="hold">
                            <p:stCondLst>
                              <p:cond delay="0"/>
                            </p:stCondLst>
                            <p:childTnLst>
                              <p:par>
                                <p:cTn id="198" presetID="9" presetClass="exit" presetSubtype="0" fill="hold" grpId="1" nodeType="clickEffect">
                                  <p:stCondLst>
                                    <p:cond delay="0"/>
                                  </p:stCondLst>
                                  <p:childTnLst>
                                    <p:animEffect transition="out" filter="dissolve">
                                      <p:cBhvr>
                                        <p:cTn id="199" dur="500"/>
                                        <p:tgtEl>
                                          <p:spTgt spid="29"/>
                                        </p:tgtEl>
                                      </p:cBhvr>
                                    </p:animEffect>
                                    <p:set>
                                      <p:cBhvr>
                                        <p:cTn id="200" dur="1" fill="hold">
                                          <p:stCondLst>
                                            <p:cond delay="499"/>
                                          </p:stCondLst>
                                        </p:cTn>
                                        <p:tgtEl>
                                          <p:spTgt spid="29"/>
                                        </p:tgtEl>
                                        <p:attrNameLst>
                                          <p:attrName>style.visibility</p:attrName>
                                        </p:attrNameLst>
                                      </p:cBhvr>
                                      <p:to>
                                        <p:strVal val="hidden"/>
                                      </p:to>
                                    </p:set>
                                  </p:childTnLst>
                                </p:cTn>
                              </p:par>
                              <p:par>
                                <p:cTn id="201" presetID="9" presetClass="entr" presetSubtype="0" fill="hold" grpId="0" nodeType="withEffect">
                                  <p:stCondLst>
                                    <p:cond delay="0"/>
                                  </p:stCondLst>
                                  <p:childTnLst>
                                    <p:set>
                                      <p:cBhvr>
                                        <p:cTn id="202" dur="1" fill="hold">
                                          <p:stCondLst>
                                            <p:cond delay="0"/>
                                          </p:stCondLst>
                                        </p:cTn>
                                        <p:tgtEl>
                                          <p:spTgt spid="36"/>
                                        </p:tgtEl>
                                        <p:attrNameLst>
                                          <p:attrName>style.visibility</p:attrName>
                                        </p:attrNameLst>
                                      </p:cBhvr>
                                      <p:to>
                                        <p:strVal val="visible"/>
                                      </p:to>
                                    </p:set>
                                    <p:animEffect transition="in" filter="dissolve">
                                      <p:cBhvr>
                                        <p:cTn id="203" dur="500"/>
                                        <p:tgtEl>
                                          <p:spTgt spid="36"/>
                                        </p:tgtEl>
                                      </p:cBhvr>
                                    </p:animEffect>
                                  </p:childTnLst>
                                </p:cTn>
                              </p:par>
                            </p:childTnLst>
                          </p:cTn>
                        </p:par>
                      </p:childTnLst>
                    </p:cTn>
                  </p:par>
                  <p:par>
                    <p:cTn id="204" fill="hold">
                      <p:stCondLst>
                        <p:cond delay="indefinite"/>
                      </p:stCondLst>
                      <p:childTnLst>
                        <p:par>
                          <p:cTn id="205" fill="hold">
                            <p:stCondLst>
                              <p:cond delay="0"/>
                            </p:stCondLst>
                            <p:childTnLst>
                              <p:par>
                                <p:cTn id="206" presetID="9" presetClass="exit" presetSubtype="0" fill="hold" grpId="1" nodeType="clickEffect">
                                  <p:stCondLst>
                                    <p:cond delay="0"/>
                                  </p:stCondLst>
                                  <p:childTnLst>
                                    <p:animEffect transition="out" filter="dissolve">
                                      <p:cBhvr>
                                        <p:cTn id="207" dur="500"/>
                                        <p:tgtEl>
                                          <p:spTgt spid="30"/>
                                        </p:tgtEl>
                                      </p:cBhvr>
                                    </p:animEffect>
                                    <p:set>
                                      <p:cBhvr>
                                        <p:cTn id="208" dur="1" fill="hold">
                                          <p:stCondLst>
                                            <p:cond delay="499"/>
                                          </p:stCondLst>
                                        </p:cTn>
                                        <p:tgtEl>
                                          <p:spTgt spid="30"/>
                                        </p:tgtEl>
                                        <p:attrNameLst>
                                          <p:attrName>style.visibility</p:attrName>
                                        </p:attrNameLst>
                                      </p:cBhvr>
                                      <p:to>
                                        <p:strVal val="hidden"/>
                                      </p:to>
                                    </p:set>
                                  </p:childTnLst>
                                </p:cTn>
                              </p:par>
                              <p:par>
                                <p:cTn id="209" presetID="9" presetClass="entr" presetSubtype="0" fill="hold" grpId="0" nodeType="withEffect">
                                  <p:stCondLst>
                                    <p:cond delay="0"/>
                                  </p:stCondLst>
                                  <p:childTnLst>
                                    <p:set>
                                      <p:cBhvr>
                                        <p:cTn id="210" dur="1" fill="hold">
                                          <p:stCondLst>
                                            <p:cond delay="0"/>
                                          </p:stCondLst>
                                        </p:cTn>
                                        <p:tgtEl>
                                          <p:spTgt spid="37"/>
                                        </p:tgtEl>
                                        <p:attrNameLst>
                                          <p:attrName>style.visibility</p:attrName>
                                        </p:attrNameLst>
                                      </p:cBhvr>
                                      <p:to>
                                        <p:strVal val="visible"/>
                                      </p:to>
                                    </p:set>
                                    <p:animEffect transition="in" filter="dissolve">
                                      <p:cBhvr>
                                        <p:cTn id="211" dur="500"/>
                                        <p:tgtEl>
                                          <p:spTgt spid="37"/>
                                        </p:tgtEl>
                                      </p:cBhvr>
                                    </p:animEffect>
                                  </p:childTnLst>
                                </p:cTn>
                              </p:par>
                            </p:childTnLst>
                          </p:cTn>
                        </p:par>
                      </p:childTnLst>
                    </p:cTn>
                  </p:par>
                  <p:par>
                    <p:cTn id="212" fill="hold">
                      <p:stCondLst>
                        <p:cond delay="indefinite"/>
                      </p:stCondLst>
                      <p:childTnLst>
                        <p:par>
                          <p:cTn id="213" fill="hold">
                            <p:stCondLst>
                              <p:cond delay="0"/>
                            </p:stCondLst>
                            <p:childTnLst>
                              <p:par>
                                <p:cTn id="214" presetID="9" presetClass="exit" presetSubtype="0" fill="hold" grpId="1" nodeType="clickEffect">
                                  <p:stCondLst>
                                    <p:cond delay="0"/>
                                  </p:stCondLst>
                                  <p:childTnLst>
                                    <p:animEffect transition="out" filter="dissolve">
                                      <p:cBhvr>
                                        <p:cTn id="215" dur="500"/>
                                        <p:tgtEl>
                                          <p:spTgt spid="31"/>
                                        </p:tgtEl>
                                      </p:cBhvr>
                                    </p:animEffect>
                                    <p:set>
                                      <p:cBhvr>
                                        <p:cTn id="216" dur="1" fill="hold">
                                          <p:stCondLst>
                                            <p:cond delay="499"/>
                                          </p:stCondLst>
                                        </p:cTn>
                                        <p:tgtEl>
                                          <p:spTgt spid="31"/>
                                        </p:tgtEl>
                                        <p:attrNameLst>
                                          <p:attrName>style.visibility</p:attrName>
                                        </p:attrNameLst>
                                      </p:cBhvr>
                                      <p:to>
                                        <p:strVal val="hidden"/>
                                      </p:to>
                                    </p:set>
                                  </p:childTnLst>
                                </p:cTn>
                              </p:par>
                              <p:par>
                                <p:cTn id="217" presetID="9" presetClass="entr" presetSubtype="0" fill="hold" grpId="0" nodeType="withEffect">
                                  <p:stCondLst>
                                    <p:cond delay="0"/>
                                  </p:stCondLst>
                                  <p:childTnLst>
                                    <p:set>
                                      <p:cBhvr>
                                        <p:cTn id="218" dur="1" fill="hold">
                                          <p:stCondLst>
                                            <p:cond delay="0"/>
                                          </p:stCondLst>
                                        </p:cTn>
                                        <p:tgtEl>
                                          <p:spTgt spid="19"/>
                                        </p:tgtEl>
                                        <p:attrNameLst>
                                          <p:attrName>style.visibility</p:attrName>
                                        </p:attrNameLst>
                                      </p:cBhvr>
                                      <p:to>
                                        <p:strVal val="visible"/>
                                      </p:to>
                                    </p:set>
                                    <p:animEffect transition="in" filter="dissolve">
                                      <p:cBhvr>
                                        <p:cTn id="219" dur="500"/>
                                        <p:tgtEl>
                                          <p:spTgt spid="19"/>
                                        </p:tgtEl>
                                      </p:cBhvr>
                                    </p:animEffect>
                                  </p:childTnLst>
                                </p:cTn>
                              </p:par>
                            </p:childTnLst>
                          </p:cTn>
                        </p:par>
                      </p:childTnLst>
                    </p:cTn>
                  </p:par>
                  <p:par>
                    <p:cTn id="220" fill="hold">
                      <p:stCondLst>
                        <p:cond delay="indefinite"/>
                      </p:stCondLst>
                      <p:childTnLst>
                        <p:par>
                          <p:cTn id="221" fill="hold">
                            <p:stCondLst>
                              <p:cond delay="0"/>
                            </p:stCondLst>
                            <p:childTnLst>
                              <p:par>
                                <p:cTn id="222" presetID="35" presetClass="emph" presetSubtype="0" fill="hold" grpId="0" nodeType="clickEffect">
                                  <p:stCondLst>
                                    <p:cond delay="0"/>
                                  </p:stCondLst>
                                  <p:childTnLst>
                                    <p:anim calcmode="discrete" valueType="str">
                                      <p:cBhvr>
                                        <p:cTn id="22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grpId="0" nodeType="clickEffect">
                                  <p:stCondLst>
                                    <p:cond delay="0"/>
                                  </p:stCondLst>
                                  <p:childTnLst>
                                    <p:set>
                                      <p:cBhvr>
                                        <p:cTn id="227" dur="1" fill="hold">
                                          <p:stCondLst>
                                            <p:cond delay="0"/>
                                          </p:stCondLst>
                                        </p:cTn>
                                        <p:tgtEl>
                                          <p:spTgt spid="20"/>
                                        </p:tgtEl>
                                        <p:attrNameLst>
                                          <p:attrName>style.visibility</p:attrName>
                                        </p:attrNameLst>
                                      </p:cBhvr>
                                      <p:to>
                                        <p:strVal val="visible"/>
                                      </p:to>
                                    </p:set>
                                    <p:animEffect transition="in" filter="dissolve">
                                      <p:cBhvr>
                                        <p:cTn id="22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P spid="6" grpId="0"/>
      <p:bldP spid="6" grpId="1"/>
      <p:bldP spid="7" grpId="0"/>
      <p:bldP spid="7" grpId="1"/>
      <p:bldP spid="8" grpId="0"/>
      <p:bldP spid="8" grpId="1"/>
      <p:bldP spid="9" grpId="0"/>
      <p:bldP spid="9" grpId="1"/>
      <p:bldP spid="10" grpId="0"/>
      <p:bldP spid="10" grpId="1"/>
      <p:bldP spid="11" grpId="0"/>
      <p:bldP spid="11" grpId="1"/>
      <p:bldP spid="12" grpId="0"/>
      <p:bldP spid="13" grpId="0"/>
      <p:bldP spid="13" grpId="1"/>
      <p:bldP spid="14" grpId="0"/>
      <p:bldP spid="14" grpId="1"/>
      <p:bldP spid="15" grpId="0"/>
      <p:bldP spid="15" grpId="1"/>
      <p:bldP spid="16" grpId="0"/>
      <p:bldP spid="16" grpId="1"/>
      <p:bldP spid="17" grpId="0"/>
      <p:bldP spid="17" grpId="1"/>
      <p:bldP spid="18" grpId="0"/>
      <p:bldP spid="19" grpId="0"/>
      <p:bldP spid="20" grpId="0"/>
      <p:bldP spid="21" grpId="0"/>
      <p:bldP spid="21" grpId="1"/>
      <p:bldP spid="22" grpId="0"/>
      <p:bldP spid="22" grpId="1"/>
      <p:bldP spid="23" grpId="0"/>
      <p:bldP spid="23" grpId="1"/>
      <p:bldP spid="24" grpId="0"/>
      <p:bldP spid="24" grpId="1"/>
      <p:bldP spid="25" grpId="0"/>
      <p:bldP spid="25" grpId="1"/>
      <p:bldP spid="26" grpId="0"/>
      <p:bldP spid="26" grpId="1"/>
      <p:bldP spid="27" grpId="0"/>
      <p:bldP spid="27" grpId="1"/>
      <p:bldP spid="28" grpId="0"/>
      <p:bldP spid="28" grpId="1"/>
      <p:bldP spid="29" grpId="0"/>
      <p:bldP spid="29" grpId="1"/>
      <p:bldP spid="30" grpId="0"/>
      <p:bldP spid="30" grpId="1"/>
      <p:bldP spid="31" grpId="0"/>
      <p:bldP spid="31" grpId="1"/>
      <p:bldP spid="32" grpId="0"/>
      <p:bldP spid="33" grpId="0"/>
      <p:bldP spid="34" grpId="0"/>
      <p:bldP spid="35" grpId="0"/>
      <p:bldP spid="36" grpId="0"/>
      <p:bldP spid="3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indent="135255"/>
            <a:r>
              <a:rPr lang="zh-CN" altLang="en-US" dirty="0" smtClean="0"/>
              <a:t>直接</a:t>
            </a:r>
            <a:r>
              <a:rPr lang="zh-CN" altLang="en-US" dirty="0"/>
              <a:t>插入排序算法简便，比较适用于</a:t>
            </a:r>
            <a:r>
              <a:rPr lang="zh-CN" altLang="en-US" dirty="0">
                <a:solidFill>
                  <a:srgbClr val="FF0000"/>
                </a:solidFill>
              </a:rPr>
              <a:t>待排序记录数目较少且基本有序</a:t>
            </a:r>
            <a:r>
              <a:rPr lang="zh-CN" altLang="en-US" dirty="0"/>
              <a:t>的情况。当待排记录数目较大时，直接插入排序的性能就不好，为此我们可以对直接插入排序做进一步的改进。在直接插入排序法的基础上，从</a:t>
            </a:r>
            <a:r>
              <a:rPr lang="zh-CN" altLang="en-US" dirty="0">
                <a:solidFill>
                  <a:srgbClr val="FF0000"/>
                </a:solidFill>
              </a:rPr>
              <a:t>减少</a:t>
            </a:r>
            <a:r>
              <a:rPr lang="zh-CN" altLang="en-US" dirty="0">
                <a:solidFill>
                  <a:srgbClr val="FF0000"/>
                </a:solidFill>
                <a:latin typeface="Courier New" panose="02070309020205020404" pitchFamily="49" charset="0"/>
              </a:rPr>
              <a:t>“</a:t>
            </a:r>
            <a:r>
              <a:rPr lang="zh-CN" altLang="en-US" dirty="0">
                <a:solidFill>
                  <a:srgbClr val="FF0000"/>
                </a:solidFill>
              </a:rPr>
              <a:t>比较关键字</a:t>
            </a:r>
            <a:r>
              <a:rPr lang="zh-CN" altLang="en-US" dirty="0">
                <a:solidFill>
                  <a:srgbClr val="FF0000"/>
                </a:solidFill>
                <a:latin typeface="Courier New" panose="02070309020205020404" pitchFamily="49" charset="0"/>
              </a:rPr>
              <a:t>”</a:t>
            </a:r>
            <a:r>
              <a:rPr lang="zh-CN" altLang="en-US" dirty="0"/>
              <a:t>和</a:t>
            </a:r>
            <a:r>
              <a:rPr lang="zh-CN" altLang="en-US" dirty="0">
                <a:solidFill>
                  <a:srgbClr val="FF0000"/>
                </a:solidFill>
                <a:latin typeface="Courier New" panose="02070309020205020404" pitchFamily="49" charset="0"/>
              </a:rPr>
              <a:t>“</a:t>
            </a:r>
            <a:r>
              <a:rPr lang="zh-CN" altLang="en-US" dirty="0">
                <a:solidFill>
                  <a:srgbClr val="FF0000"/>
                </a:solidFill>
              </a:rPr>
              <a:t>移动记录</a:t>
            </a:r>
            <a:r>
              <a:rPr lang="zh-CN" altLang="en-US" dirty="0">
                <a:solidFill>
                  <a:srgbClr val="FF0000"/>
                </a:solidFill>
                <a:latin typeface="Courier New" panose="02070309020205020404" pitchFamily="49" charset="0"/>
              </a:rPr>
              <a:t>”</a:t>
            </a:r>
            <a:r>
              <a:rPr lang="zh-CN" altLang="en-US" dirty="0"/>
              <a:t>两种操作的次数着手来进行改进。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9.2.2  </a:t>
            </a:r>
            <a:r>
              <a:rPr lang="zh-CN" altLang="en-US" dirty="0" smtClean="0"/>
              <a:t>折半插入排序</a:t>
            </a:r>
            <a:endParaRPr lang="en-US" altLang="zh-CN" dirty="0"/>
          </a:p>
          <a:p>
            <a:pPr lvl="2">
              <a:lnSpc>
                <a:spcPct val="100000"/>
              </a:lnSpc>
            </a:pPr>
            <a:r>
              <a:rPr lang="en-US" altLang="zh-CN" sz="1800" dirty="0" smtClean="0"/>
              <a:t>void    </a:t>
            </a:r>
            <a:r>
              <a:rPr lang="en-US" altLang="zh-CN" sz="1800" dirty="0" err="1"/>
              <a:t>BinsertSort</a:t>
            </a:r>
            <a:r>
              <a:rPr lang="en-US" altLang="zh-CN" sz="1800" dirty="0"/>
              <a:t> (</a:t>
            </a:r>
            <a:r>
              <a:rPr lang="en-US" altLang="zh-CN" sz="1800" dirty="0" err="1"/>
              <a:t>SqList</a:t>
            </a:r>
            <a:r>
              <a:rPr lang="en-US" altLang="zh-CN" sz="1800" dirty="0"/>
              <a:t> &amp;L</a:t>
            </a:r>
            <a:r>
              <a:rPr lang="en-US" altLang="zh-CN" sz="1800" dirty="0" smtClean="0"/>
              <a:t>)//</a:t>
            </a:r>
            <a:r>
              <a:rPr lang="zh-CN" altLang="en-US" sz="1800" dirty="0"/>
              <a:t>对顺序表</a:t>
            </a:r>
            <a:r>
              <a:rPr lang="en-US" altLang="zh-CN" sz="1800" dirty="0"/>
              <a:t>L</a:t>
            </a:r>
            <a:r>
              <a:rPr lang="zh-CN" altLang="en-US" sz="1800" dirty="0"/>
              <a:t>做折半</a:t>
            </a:r>
            <a:r>
              <a:rPr lang="zh-CN" altLang="en-US" sz="1800" dirty="0" smtClean="0"/>
              <a:t>插入排序</a:t>
            </a:r>
            <a:endParaRPr lang="zh-CN" altLang="en-US" sz="1800" dirty="0"/>
          </a:p>
          <a:p>
            <a:pPr lvl="2">
              <a:lnSpc>
                <a:spcPct val="100000"/>
              </a:lnSpc>
            </a:pPr>
            <a:r>
              <a:rPr lang="en-US" altLang="zh-CN" sz="1800" dirty="0" smtClean="0"/>
              <a:t>{</a:t>
            </a:r>
            <a:endParaRPr lang="en-US" altLang="zh-CN" sz="1800" dirty="0" smtClean="0"/>
          </a:p>
          <a:p>
            <a:pPr lvl="2">
              <a:lnSpc>
                <a:spcPct val="100000"/>
              </a:lnSpc>
            </a:pPr>
            <a:r>
              <a:rPr lang="en-US" altLang="zh-CN" sz="1800" dirty="0" smtClean="0"/>
              <a:t>    for( </a:t>
            </a:r>
            <a:r>
              <a:rPr lang="en-US" altLang="zh-CN" sz="1800" dirty="0" err="1"/>
              <a:t>i</a:t>
            </a:r>
            <a:r>
              <a:rPr lang="en-US" altLang="zh-CN" sz="1800" dirty="0"/>
              <a:t>=2  ; </a:t>
            </a:r>
            <a:r>
              <a:rPr lang="en-US" altLang="zh-CN" sz="1800" dirty="0" err="1"/>
              <a:t>i</a:t>
            </a:r>
            <a:r>
              <a:rPr lang="en-US" altLang="zh-CN" sz="1800" dirty="0"/>
              <a:t>&lt;=</a:t>
            </a:r>
            <a:r>
              <a:rPr lang="en-US" altLang="zh-CN" sz="1800" dirty="0" err="1"/>
              <a:t>L.length</a:t>
            </a:r>
            <a:r>
              <a:rPr lang="en-US" altLang="zh-CN" sz="1800" dirty="0"/>
              <a:t> ; ++</a:t>
            </a:r>
            <a:r>
              <a:rPr lang="en-US" altLang="zh-CN" sz="1800" dirty="0" err="1"/>
              <a:t>i</a:t>
            </a:r>
            <a:r>
              <a:rPr lang="en-US" altLang="zh-CN" sz="1800" dirty="0"/>
              <a:t> ) </a:t>
            </a:r>
            <a:r>
              <a:rPr lang="en-US" altLang="zh-CN" sz="1800" dirty="0" smtClean="0"/>
              <a:t>{</a:t>
            </a:r>
            <a:endParaRPr lang="en-US" altLang="zh-CN" sz="1800" dirty="0" smtClean="0"/>
          </a:p>
          <a:p>
            <a:pPr lvl="2">
              <a:lnSpc>
                <a:spcPct val="100000"/>
              </a:lnSpc>
            </a:pPr>
            <a:r>
              <a:rPr lang="en-US" altLang="zh-CN" sz="1800" dirty="0"/>
              <a:t>	</a:t>
            </a:r>
            <a:r>
              <a:rPr lang="en-US" altLang="zh-CN" sz="1800" dirty="0" err="1"/>
              <a:t>L.r</a:t>
            </a:r>
            <a:r>
              <a:rPr lang="en-US" altLang="zh-CN" sz="1800" dirty="0"/>
              <a:t>[0]=</a:t>
            </a:r>
            <a:r>
              <a:rPr lang="en-US" altLang="zh-CN" sz="1800" dirty="0" err="1"/>
              <a:t>L.r</a:t>
            </a:r>
            <a:r>
              <a:rPr lang="en-US" altLang="zh-CN" sz="1800" dirty="0"/>
              <a:t>[</a:t>
            </a:r>
            <a:r>
              <a:rPr lang="en-US" altLang="zh-CN" sz="1800" dirty="0" err="1"/>
              <a:t>i</a:t>
            </a:r>
            <a:r>
              <a:rPr lang="en-US" altLang="zh-CN" sz="1800" dirty="0" smtClean="0"/>
              <a:t>];</a:t>
            </a:r>
            <a:endParaRPr lang="en-US" altLang="zh-CN" sz="1800" dirty="0" smtClean="0"/>
          </a:p>
          <a:p>
            <a:pPr lvl="2">
              <a:lnSpc>
                <a:spcPct val="100000"/>
              </a:lnSpc>
            </a:pPr>
            <a:r>
              <a:rPr lang="en-US" altLang="zh-CN" sz="1800" dirty="0" smtClean="0"/>
              <a:t> </a:t>
            </a:r>
            <a:r>
              <a:rPr lang="en-US" altLang="zh-CN" sz="1800" dirty="0"/>
              <a:t>	low=1;  high=i-1</a:t>
            </a:r>
            <a:r>
              <a:rPr lang="en-US" altLang="zh-CN" sz="1800" dirty="0" smtClean="0"/>
              <a:t>;</a:t>
            </a:r>
            <a:endParaRPr lang="en-US" altLang="zh-CN" sz="1800" dirty="0" smtClean="0"/>
          </a:p>
          <a:p>
            <a:pPr lvl="2">
              <a:lnSpc>
                <a:spcPct val="100000"/>
              </a:lnSpc>
            </a:pPr>
            <a:r>
              <a:rPr lang="en-US" altLang="zh-CN" sz="1800" dirty="0" smtClean="0"/>
              <a:t> </a:t>
            </a:r>
            <a:r>
              <a:rPr lang="en-US" altLang="zh-CN" sz="1800" dirty="0"/>
              <a:t>	while (low&lt;=high) {                     // </a:t>
            </a:r>
            <a:r>
              <a:rPr lang="zh-CN" altLang="en-US" sz="1800" dirty="0"/>
              <a:t>确定插入位置</a:t>
            </a:r>
            <a:endParaRPr lang="zh-CN" altLang="en-US" sz="1800" dirty="0"/>
          </a:p>
          <a:p>
            <a:pPr lvl="2">
              <a:lnSpc>
                <a:spcPct val="100000"/>
              </a:lnSpc>
            </a:pPr>
            <a:r>
              <a:rPr lang="zh-CN" altLang="en-US" sz="1800" dirty="0"/>
              <a:t>       	        </a:t>
            </a:r>
            <a:r>
              <a:rPr lang="en-US" altLang="zh-CN" sz="1800" dirty="0"/>
              <a:t>m=(</a:t>
            </a:r>
            <a:r>
              <a:rPr lang="en-US" altLang="zh-CN" sz="1800" dirty="0" err="1"/>
              <a:t>low+high</a:t>
            </a:r>
            <a:r>
              <a:rPr lang="en-US" altLang="zh-CN" sz="1800" dirty="0"/>
              <a:t>) / 2</a:t>
            </a:r>
            <a:r>
              <a:rPr lang="en-US" altLang="zh-CN" sz="1800" dirty="0" smtClean="0"/>
              <a:t>;</a:t>
            </a:r>
            <a:endParaRPr lang="en-US" altLang="zh-CN" sz="1800" dirty="0" smtClean="0"/>
          </a:p>
          <a:p>
            <a:pPr lvl="2">
              <a:lnSpc>
                <a:spcPct val="100000"/>
              </a:lnSpc>
            </a:pPr>
            <a:r>
              <a:rPr lang="en-US" altLang="zh-CN" sz="1800" dirty="0" smtClean="0"/>
              <a:t> </a:t>
            </a:r>
            <a:r>
              <a:rPr lang="en-US" altLang="zh-CN" sz="1800" dirty="0"/>
              <a:t>	        if (LT(</a:t>
            </a:r>
            <a:r>
              <a:rPr lang="en-US" altLang="zh-CN" sz="1800" dirty="0" err="1"/>
              <a:t>L.r</a:t>
            </a:r>
            <a:r>
              <a:rPr lang="en-US" altLang="zh-CN" sz="1800" dirty="0"/>
              <a:t>[0]</a:t>
            </a:r>
            <a:r>
              <a:rPr lang="en-US" altLang="zh-CN" sz="1800" dirty="0" err="1"/>
              <a:t>key,L.r</a:t>
            </a:r>
            <a:r>
              <a:rPr lang="en-US" altLang="zh-CN" sz="1800" dirty="0"/>
              <a:t>[m].key))    high=m-1</a:t>
            </a:r>
            <a:r>
              <a:rPr lang="en-US" altLang="zh-CN" sz="1800" dirty="0" smtClean="0"/>
              <a:t>; </a:t>
            </a:r>
            <a:endParaRPr lang="en-US" altLang="zh-CN" sz="1800" dirty="0" smtClean="0"/>
          </a:p>
          <a:p>
            <a:pPr lvl="2">
              <a:lnSpc>
                <a:spcPct val="100000"/>
              </a:lnSpc>
            </a:pPr>
            <a:r>
              <a:rPr lang="en-US" altLang="zh-CN" sz="1800" dirty="0"/>
              <a:t>	        else   low=m+1</a:t>
            </a:r>
            <a:r>
              <a:rPr lang="en-US" altLang="zh-CN" sz="1800" dirty="0" smtClean="0"/>
              <a:t>;</a:t>
            </a:r>
            <a:endParaRPr lang="en-US" altLang="zh-CN" sz="1800" dirty="0"/>
          </a:p>
          <a:p>
            <a:pPr lvl="2">
              <a:lnSpc>
                <a:spcPct val="100000"/>
              </a:lnSpc>
            </a:pPr>
            <a:r>
              <a:rPr lang="en-US" altLang="zh-CN" sz="1800" dirty="0"/>
              <a:t>      </a:t>
            </a:r>
            <a:r>
              <a:rPr lang="en-US" altLang="zh-CN" sz="1800" dirty="0" smtClean="0"/>
              <a:t> </a:t>
            </a:r>
            <a:r>
              <a:rPr lang="en-US" altLang="zh-CN" sz="1800" dirty="0"/>
              <a:t>}</a:t>
            </a:r>
            <a:endParaRPr lang="en-US" altLang="zh-CN" sz="1800" dirty="0"/>
          </a:p>
          <a:p>
            <a:pPr lvl="2">
              <a:lnSpc>
                <a:spcPct val="100000"/>
              </a:lnSpc>
            </a:pPr>
            <a:r>
              <a:rPr lang="en-US" altLang="zh-CN" sz="1800" dirty="0"/>
              <a:t>       </a:t>
            </a:r>
            <a:r>
              <a:rPr lang="en-US" altLang="zh-CN" sz="1800" dirty="0" smtClean="0"/>
              <a:t>for </a:t>
            </a:r>
            <a:r>
              <a:rPr lang="en-US" altLang="zh-CN" sz="1800" dirty="0"/>
              <a:t>(  j=i-1  ; j&gt;=high+1; --j )   </a:t>
            </a:r>
            <a:r>
              <a:rPr lang="en-US" altLang="zh-CN" sz="1800" dirty="0" err="1"/>
              <a:t>L.r</a:t>
            </a:r>
            <a:r>
              <a:rPr lang="en-US" altLang="zh-CN" sz="1800" dirty="0"/>
              <a:t>[j+1]=</a:t>
            </a:r>
            <a:r>
              <a:rPr lang="en-US" altLang="zh-CN" sz="1800" dirty="0" err="1"/>
              <a:t>L.r</a:t>
            </a:r>
            <a:r>
              <a:rPr lang="en-US" altLang="zh-CN" sz="1800" dirty="0"/>
              <a:t>[j];          // </a:t>
            </a:r>
            <a:r>
              <a:rPr lang="zh-CN" altLang="en-US" sz="1800" dirty="0"/>
              <a:t>记录后</a:t>
            </a:r>
            <a:r>
              <a:rPr lang="zh-CN" altLang="en-US" sz="1800" dirty="0" smtClean="0"/>
              <a:t>移</a:t>
            </a:r>
            <a:r>
              <a:rPr lang="en-US" altLang="zh-CN" sz="1800" dirty="0"/>
              <a:t> </a:t>
            </a:r>
            <a:endParaRPr lang="en-US" altLang="zh-CN" sz="1800" dirty="0" smtClean="0"/>
          </a:p>
          <a:p>
            <a:pPr lvl="2">
              <a:lnSpc>
                <a:spcPct val="100000"/>
              </a:lnSpc>
            </a:pPr>
            <a:r>
              <a:rPr lang="zh-CN" altLang="en-US" sz="1800" dirty="0" smtClean="0"/>
              <a:t>       </a:t>
            </a:r>
            <a:r>
              <a:rPr lang="en-US" altLang="zh-CN" sz="1800" dirty="0" err="1" smtClean="0"/>
              <a:t>L.r</a:t>
            </a:r>
            <a:r>
              <a:rPr lang="en-US" altLang="zh-CN" sz="1800" dirty="0" smtClean="0"/>
              <a:t>[high+1</a:t>
            </a:r>
            <a:r>
              <a:rPr lang="en-US" altLang="zh-CN" sz="1800" dirty="0"/>
              <a:t>]=</a:t>
            </a:r>
            <a:r>
              <a:rPr lang="en-US" altLang="zh-CN" sz="1800" dirty="0" err="1"/>
              <a:t>L.r</a:t>
            </a:r>
            <a:r>
              <a:rPr lang="en-US" altLang="zh-CN" sz="1800" dirty="0"/>
              <a:t>[0];                         //</a:t>
            </a:r>
            <a:r>
              <a:rPr lang="zh-CN" altLang="en-US" sz="1800" dirty="0"/>
              <a:t>插入记录 </a:t>
            </a:r>
            <a:endParaRPr lang="zh-CN" altLang="en-US" sz="1800" dirty="0"/>
          </a:p>
          <a:p>
            <a:pPr lvl="2">
              <a:lnSpc>
                <a:spcPct val="100000"/>
              </a:lnSpc>
            </a:pPr>
            <a:r>
              <a:rPr lang="zh-CN" altLang="en-US" sz="1800" dirty="0"/>
              <a:t>   </a:t>
            </a:r>
            <a:r>
              <a:rPr lang="zh-CN" altLang="en-US" sz="1800" dirty="0" smtClean="0"/>
              <a:t> </a:t>
            </a:r>
            <a:r>
              <a:rPr lang="en-US" altLang="zh-CN" sz="1800" dirty="0" smtClean="0"/>
              <a:t>}</a:t>
            </a:r>
            <a:endParaRPr lang="en-US" altLang="zh-CN" sz="1800" dirty="0"/>
          </a:p>
          <a:p>
            <a:pPr lvl="2">
              <a:lnSpc>
                <a:spcPct val="100000"/>
              </a:lnSpc>
            </a:pPr>
            <a:r>
              <a:rPr lang="en-US" altLang="zh-CN" sz="1800" dirty="0"/>
              <a:t>} </a:t>
            </a:r>
            <a:endParaRPr lang="en-US" altLang="zh-CN"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r>
              <a:rPr lang="zh-CN" altLang="en-US" dirty="0" smtClean="0"/>
              <a:t>        采用</a:t>
            </a:r>
            <a:r>
              <a:rPr lang="zh-CN" altLang="en-US" dirty="0"/>
              <a:t>折半插入排序法，可减少关键字的比较次数。每插入一个元素，需要比较的次数最大为折半判定树的深度，如插入第</a:t>
            </a:r>
            <a:r>
              <a:rPr lang="en-US" altLang="zh-CN" dirty="0" err="1"/>
              <a:t>i</a:t>
            </a:r>
            <a:r>
              <a:rPr lang="zh-CN" altLang="en-US" dirty="0"/>
              <a:t>个元素时，设</a:t>
            </a:r>
            <a:r>
              <a:rPr lang="en-US" altLang="zh-CN" dirty="0" err="1"/>
              <a:t>i</a:t>
            </a:r>
            <a:r>
              <a:rPr lang="en-US" altLang="zh-CN" dirty="0"/>
              <a:t>=2j, </a:t>
            </a:r>
            <a:r>
              <a:rPr lang="zh-CN" altLang="en-US" dirty="0"/>
              <a:t>则需进行</a:t>
            </a:r>
            <a:r>
              <a:rPr lang="en-US" altLang="zh-CN" dirty="0"/>
              <a:t>log</a:t>
            </a:r>
            <a:r>
              <a:rPr lang="en-US" altLang="zh-CN" baseline="-25000" dirty="0"/>
              <a:t>2</a:t>
            </a:r>
            <a:r>
              <a:rPr lang="en-US" altLang="zh-CN" dirty="0"/>
              <a:t>i</a:t>
            </a:r>
            <a:r>
              <a:rPr lang="zh-CN" altLang="en-US" dirty="0"/>
              <a:t>次比较，因此插入</a:t>
            </a:r>
            <a:r>
              <a:rPr lang="en-US" altLang="zh-CN" dirty="0"/>
              <a:t>n-1</a:t>
            </a:r>
            <a:r>
              <a:rPr lang="zh-CN" altLang="en-US" dirty="0"/>
              <a:t>个元素的平均关键字的比较次数为</a:t>
            </a:r>
            <a:r>
              <a:rPr lang="en-US" altLang="zh-CN" dirty="0">
                <a:solidFill>
                  <a:srgbClr val="FF0000"/>
                </a:solidFill>
              </a:rPr>
              <a:t>O(nlog</a:t>
            </a:r>
            <a:r>
              <a:rPr lang="en-US" altLang="zh-CN" baseline="-25000" dirty="0">
                <a:solidFill>
                  <a:srgbClr val="FF0000"/>
                </a:solidFill>
              </a:rPr>
              <a:t>2</a:t>
            </a:r>
            <a:r>
              <a:rPr lang="en-US" altLang="zh-CN" dirty="0">
                <a:solidFill>
                  <a:srgbClr val="FF0000"/>
                </a:solidFill>
              </a:rPr>
              <a:t>n)</a:t>
            </a:r>
            <a:r>
              <a:rPr lang="zh-CN" altLang="en-US" dirty="0"/>
              <a:t>。</a:t>
            </a:r>
            <a:endParaRPr lang="en-US" altLang="zh-CN" dirty="0"/>
          </a:p>
          <a:p>
            <a:pPr marL="0" lvl="2"/>
            <a:r>
              <a:rPr lang="zh-CN" altLang="en-US" dirty="0"/>
              <a:t>       虽然折半插入排序法与直接插入排序法相比较，改善了算法中比较次数的数量级，但其并未改变移动元素的时间耗费，所以折半插入排序的总的时间复杂度仍然是</a:t>
            </a:r>
            <a:r>
              <a:rPr lang="en-US" altLang="zh-CN" dirty="0">
                <a:solidFill>
                  <a:srgbClr val="FF0000"/>
                </a:solidFill>
              </a:rPr>
              <a:t>O(n</a:t>
            </a:r>
            <a:r>
              <a:rPr lang="en-US" altLang="zh-CN" baseline="30000" dirty="0">
                <a:solidFill>
                  <a:srgbClr val="FF0000"/>
                </a:solidFill>
              </a:rPr>
              <a:t>2</a:t>
            </a:r>
            <a:r>
              <a:rPr lang="en-US" altLang="zh-CN" dirty="0">
                <a:solidFill>
                  <a:srgbClr val="FF0000"/>
                </a:solidFill>
              </a:rPr>
              <a:t>)</a:t>
            </a:r>
            <a:r>
              <a:rPr lang="zh-CN" altLang="en-US" dirty="0"/>
              <a:t>。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9.2.3  </a:t>
            </a:r>
            <a:r>
              <a:rPr lang="zh-CN" altLang="en-US" dirty="0" smtClean="0"/>
              <a:t>表插入排序</a:t>
            </a:r>
            <a:endParaRPr lang="en-US" altLang="zh-CN" dirty="0" smtClean="0"/>
          </a:p>
          <a:p>
            <a:pPr marL="0" lvl="2" indent="135255"/>
            <a:r>
              <a:rPr lang="zh-CN" altLang="en-US" dirty="0"/>
              <a:t>表插入排序是</a:t>
            </a:r>
            <a:r>
              <a:rPr lang="zh-CN" altLang="en-US" dirty="0">
                <a:solidFill>
                  <a:srgbClr val="FF0000"/>
                </a:solidFill>
              </a:rPr>
              <a:t>采用链表存储结构</a:t>
            </a:r>
            <a:r>
              <a:rPr lang="zh-CN" altLang="en-US" dirty="0"/>
              <a:t>进行插入排序的方法</a:t>
            </a:r>
            <a:r>
              <a:rPr lang="zh-CN" altLang="en-US" dirty="0" smtClean="0"/>
              <a:t>。</a:t>
            </a:r>
            <a:endParaRPr lang="en-US" altLang="zh-CN" dirty="0" smtClean="0"/>
          </a:p>
          <a:p>
            <a:pPr marL="0" lvl="2" indent="135255"/>
            <a:r>
              <a:rPr lang="zh-CN" altLang="en-US" dirty="0" smtClean="0"/>
              <a:t>基本</a:t>
            </a:r>
            <a:r>
              <a:rPr lang="zh-CN" altLang="en-US" dirty="0"/>
              <a:t>思想是</a:t>
            </a:r>
            <a:r>
              <a:rPr lang="zh-CN" altLang="en-US" dirty="0" smtClean="0"/>
              <a:t>：</a:t>
            </a:r>
            <a:endParaRPr lang="en-US" altLang="zh-CN" dirty="0" smtClean="0"/>
          </a:p>
          <a:p>
            <a:pPr marL="0" lvl="2" indent="135255"/>
            <a:r>
              <a:rPr lang="zh-CN" altLang="en-US" dirty="0" smtClean="0"/>
              <a:t>先</a:t>
            </a:r>
            <a:r>
              <a:rPr lang="zh-CN" altLang="en-US" dirty="0"/>
              <a:t>在待插入记录之前的有序子链表中查找应插入位置，然后将待插入记录插入链表</a:t>
            </a:r>
            <a:r>
              <a:rPr lang="zh-CN" altLang="en-US" dirty="0" smtClean="0"/>
              <a:t>。</a:t>
            </a:r>
            <a:endParaRPr lang="en-US" altLang="zh-CN" dirty="0" smtClean="0"/>
          </a:p>
          <a:p>
            <a:pPr marL="0" lvl="2" indent="135255"/>
            <a:r>
              <a:rPr lang="zh-CN" altLang="en-US" dirty="0" smtClean="0"/>
              <a:t>由于</a:t>
            </a:r>
            <a:r>
              <a:rPr lang="zh-CN" altLang="en-US" dirty="0"/>
              <a:t>链表的插入操作只修改指针域，不移动记录，所以表插入排序可提高排序效率</a:t>
            </a:r>
            <a:r>
              <a:rPr lang="zh-CN" altLang="en-US" dirty="0" smtClean="0"/>
              <a:t>。</a:t>
            </a:r>
            <a:endParaRPr lang="en-US" altLang="zh-CN" dirty="0" smtClean="0"/>
          </a:p>
          <a:p>
            <a:pPr marL="0" lvl="2" indent="135255"/>
            <a:r>
              <a:rPr lang="zh-CN" altLang="en-US" dirty="0" smtClean="0"/>
              <a:t>在</a:t>
            </a:r>
            <a:r>
              <a:rPr lang="zh-CN" altLang="en-US" dirty="0"/>
              <a:t>算法的具体实现上，我们可以采用静态链表作为存储结构。</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9.2.4  </a:t>
            </a:r>
            <a:r>
              <a:rPr lang="zh-CN" altLang="en-US" dirty="0"/>
              <a:t>希尔排序</a:t>
            </a:r>
            <a:endParaRPr lang="zh-CN" altLang="en-US" dirty="0"/>
          </a:p>
          <a:p>
            <a:pPr marL="0" lvl="2" indent="135255"/>
            <a:r>
              <a:rPr lang="zh-CN" altLang="en-US" dirty="0" smtClean="0"/>
              <a:t>希</a:t>
            </a:r>
            <a:r>
              <a:rPr lang="zh-CN" altLang="en-US" dirty="0"/>
              <a:t>尔排序的基本思想：先将待排序记录序列分割成若干个</a:t>
            </a:r>
            <a:r>
              <a:rPr lang="zh-CN" altLang="en-US" dirty="0">
                <a:latin typeface="Courier New" panose="02070309020205020404" pitchFamily="49" charset="0"/>
              </a:rPr>
              <a:t>“</a:t>
            </a:r>
            <a:r>
              <a:rPr lang="zh-CN" altLang="en-US" dirty="0"/>
              <a:t>较稀疏的</a:t>
            </a:r>
            <a:r>
              <a:rPr lang="zh-CN" altLang="en-US" dirty="0">
                <a:latin typeface="Courier New" panose="02070309020205020404" pitchFamily="49" charset="0"/>
              </a:rPr>
              <a:t>”</a:t>
            </a:r>
            <a:r>
              <a:rPr lang="zh-CN" altLang="en-US" dirty="0"/>
              <a:t>子序列，</a:t>
            </a:r>
            <a:r>
              <a:rPr lang="zh-CN" altLang="en-US" dirty="0">
                <a:solidFill>
                  <a:srgbClr val="FF0000"/>
                </a:solidFill>
              </a:rPr>
              <a:t>分别进行直接插入排序</a:t>
            </a:r>
            <a:r>
              <a:rPr lang="zh-CN" altLang="en-US" dirty="0"/>
              <a:t>。经过上述粗略调整</a:t>
            </a:r>
            <a:r>
              <a:rPr lang="zh-CN" altLang="en-US" dirty="0" smtClean="0"/>
              <a:t>，整个</a:t>
            </a:r>
            <a:r>
              <a:rPr lang="zh-CN" altLang="en-US" dirty="0"/>
              <a:t>序列中的记录已经基本有序，最后再对全部记录进行一次直接插入排序。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graphicFrame>
        <p:nvGraphicFramePr>
          <p:cNvPr id="4" name="表格 3"/>
          <p:cNvGraphicFramePr>
            <a:graphicFrameLocks noGrp="1"/>
          </p:cNvGraphicFramePr>
          <p:nvPr/>
        </p:nvGraphicFramePr>
        <p:xfrm>
          <a:off x="2033588" y="465535"/>
          <a:ext cx="5589991" cy="1054956"/>
        </p:xfrm>
        <a:graphic>
          <a:graphicData uri="http://schemas.openxmlformats.org/drawingml/2006/table">
            <a:tbl>
              <a:tblPr firstRow="1" bandRow="1">
                <a:tableStyleId>{F5AB1C69-6EDB-4FF4-983F-18BD219EF322}</a:tableStyleId>
              </a:tblPr>
              <a:tblGrid>
                <a:gridCol w="508181"/>
                <a:gridCol w="508181"/>
                <a:gridCol w="508181"/>
                <a:gridCol w="508181"/>
                <a:gridCol w="508181"/>
                <a:gridCol w="508181"/>
                <a:gridCol w="508181"/>
                <a:gridCol w="508181"/>
                <a:gridCol w="508181"/>
                <a:gridCol w="508181"/>
                <a:gridCol w="508181"/>
              </a:tblGrid>
              <a:tr h="434295">
                <a:tc>
                  <a:txBody>
                    <a:bodyPr/>
                    <a:lstStyle/>
                    <a:p>
                      <a:pPr algn="ctr"/>
                      <a:r>
                        <a:rPr lang="en-US" altLang="zh-CN" sz="2400" dirty="0" smtClean="0">
                          <a:solidFill>
                            <a:srgbClr val="FF0066"/>
                          </a:solidFill>
                        </a:rPr>
                        <a:t>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2</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3</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4</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5</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6</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7</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8</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9</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620660">
                <a:tc>
                  <a:txBody>
                    <a:bodyPr/>
                    <a:lstStyle/>
                    <a:p>
                      <a:pPr algn="ctr"/>
                      <a:endParaRPr lang="zh-CN" altLang="en-US" sz="2400"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u="sng"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 name="矩形 4"/>
          <p:cNvSpPr>
            <a:spLocks noChangeArrowheads="1"/>
          </p:cNvSpPr>
          <p:nvPr/>
        </p:nvSpPr>
        <p:spPr bwMode="auto">
          <a:xfrm>
            <a:off x="2516381"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49</a:t>
            </a:r>
            <a:endParaRPr lang="zh-CN" altLang="en-US" sz="2400" b="1"/>
          </a:p>
        </p:txBody>
      </p:sp>
      <p:sp>
        <p:nvSpPr>
          <p:cNvPr id="6" name="矩形 5"/>
          <p:cNvSpPr>
            <a:spLocks noChangeArrowheads="1"/>
          </p:cNvSpPr>
          <p:nvPr/>
        </p:nvSpPr>
        <p:spPr bwMode="auto">
          <a:xfrm>
            <a:off x="3002156"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38</a:t>
            </a:r>
            <a:endParaRPr lang="zh-CN" altLang="en-US" sz="2400" b="1"/>
          </a:p>
        </p:txBody>
      </p:sp>
      <p:sp>
        <p:nvSpPr>
          <p:cNvPr id="7" name="矩形 6"/>
          <p:cNvSpPr>
            <a:spLocks noChangeArrowheads="1"/>
          </p:cNvSpPr>
          <p:nvPr/>
        </p:nvSpPr>
        <p:spPr bwMode="auto">
          <a:xfrm>
            <a:off x="3487931"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65</a:t>
            </a:r>
            <a:endParaRPr lang="zh-CN" altLang="en-US" sz="2400" b="1"/>
          </a:p>
        </p:txBody>
      </p:sp>
      <p:sp>
        <p:nvSpPr>
          <p:cNvPr id="8" name="矩形 7"/>
          <p:cNvSpPr>
            <a:spLocks noChangeArrowheads="1"/>
          </p:cNvSpPr>
          <p:nvPr/>
        </p:nvSpPr>
        <p:spPr bwMode="auto">
          <a:xfrm>
            <a:off x="4028475"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97</a:t>
            </a:r>
            <a:endParaRPr lang="zh-CN" altLang="en-US" sz="2400" b="1"/>
          </a:p>
        </p:txBody>
      </p:sp>
      <p:sp>
        <p:nvSpPr>
          <p:cNvPr id="9" name="矩形 8"/>
          <p:cNvSpPr>
            <a:spLocks noChangeArrowheads="1"/>
          </p:cNvSpPr>
          <p:nvPr/>
        </p:nvSpPr>
        <p:spPr bwMode="auto">
          <a:xfrm>
            <a:off x="4514250"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76</a:t>
            </a:r>
            <a:endParaRPr lang="zh-CN" altLang="en-US" sz="2400" b="1"/>
          </a:p>
        </p:txBody>
      </p:sp>
      <p:sp>
        <p:nvSpPr>
          <p:cNvPr id="10" name="矩形 9"/>
          <p:cNvSpPr>
            <a:spLocks noChangeArrowheads="1"/>
          </p:cNvSpPr>
          <p:nvPr/>
        </p:nvSpPr>
        <p:spPr bwMode="auto">
          <a:xfrm>
            <a:off x="5000025"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13</a:t>
            </a:r>
            <a:endParaRPr lang="zh-CN" altLang="en-US" sz="2400" b="1"/>
          </a:p>
        </p:txBody>
      </p:sp>
      <p:sp>
        <p:nvSpPr>
          <p:cNvPr id="11" name="矩形 10"/>
          <p:cNvSpPr>
            <a:spLocks noChangeArrowheads="1"/>
          </p:cNvSpPr>
          <p:nvPr/>
        </p:nvSpPr>
        <p:spPr bwMode="auto">
          <a:xfrm>
            <a:off x="5540569"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27</a:t>
            </a:r>
            <a:endParaRPr lang="zh-CN" altLang="en-US" sz="2400" b="1"/>
          </a:p>
        </p:txBody>
      </p:sp>
      <p:sp>
        <p:nvSpPr>
          <p:cNvPr id="12" name="矩形 11"/>
          <p:cNvSpPr>
            <a:spLocks noChangeArrowheads="1"/>
          </p:cNvSpPr>
          <p:nvPr/>
        </p:nvSpPr>
        <p:spPr bwMode="auto">
          <a:xfrm>
            <a:off x="6026344"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a:t>49</a:t>
            </a:r>
            <a:endParaRPr lang="zh-CN" altLang="en-US" sz="2400" b="1" u="sng"/>
          </a:p>
        </p:txBody>
      </p:sp>
      <p:sp>
        <p:nvSpPr>
          <p:cNvPr id="13" name="矩形 12"/>
          <p:cNvSpPr>
            <a:spLocks noChangeArrowheads="1"/>
          </p:cNvSpPr>
          <p:nvPr/>
        </p:nvSpPr>
        <p:spPr bwMode="auto">
          <a:xfrm>
            <a:off x="6512119"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55</a:t>
            </a:r>
            <a:endParaRPr lang="zh-CN" altLang="en-US" sz="2400" b="1"/>
          </a:p>
        </p:txBody>
      </p:sp>
      <p:sp>
        <p:nvSpPr>
          <p:cNvPr id="14" name="矩形 13"/>
          <p:cNvSpPr>
            <a:spLocks noChangeArrowheads="1"/>
          </p:cNvSpPr>
          <p:nvPr/>
        </p:nvSpPr>
        <p:spPr bwMode="auto">
          <a:xfrm>
            <a:off x="7052663" y="100607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04</a:t>
            </a:r>
            <a:endParaRPr lang="zh-CN" altLang="en-US" sz="2400" b="1"/>
          </a:p>
        </p:txBody>
      </p:sp>
      <p:graphicFrame>
        <p:nvGraphicFramePr>
          <p:cNvPr id="15" name="表格 14"/>
          <p:cNvGraphicFramePr>
            <a:graphicFrameLocks noGrp="1"/>
          </p:cNvGraphicFramePr>
          <p:nvPr/>
        </p:nvGraphicFramePr>
        <p:xfrm>
          <a:off x="2060972" y="1600200"/>
          <a:ext cx="5589991" cy="1054956"/>
        </p:xfrm>
        <a:graphic>
          <a:graphicData uri="http://schemas.openxmlformats.org/drawingml/2006/table">
            <a:tbl>
              <a:tblPr firstRow="1" bandRow="1">
                <a:tableStyleId>{F5AB1C69-6EDB-4FF4-983F-18BD219EF322}</a:tableStyleId>
              </a:tblPr>
              <a:tblGrid>
                <a:gridCol w="508181"/>
                <a:gridCol w="508181"/>
                <a:gridCol w="508181"/>
                <a:gridCol w="508181"/>
                <a:gridCol w="508181"/>
                <a:gridCol w="508181"/>
                <a:gridCol w="508181"/>
                <a:gridCol w="508181"/>
                <a:gridCol w="508181"/>
                <a:gridCol w="508181"/>
                <a:gridCol w="508181"/>
              </a:tblGrid>
              <a:tr h="434295">
                <a:tc>
                  <a:txBody>
                    <a:bodyPr/>
                    <a:lstStyle/>
                    <a:p>
                      <a:pPr algn="ctr"/>
                      <a:r>
                        <a:rPr lang="en-US" altLang="zh-CN" sz="2400" dirty="0" smtClean="0">
                          <a:solidFill>
                            <a:srgbClr val="FF0066"/>
                          </a:solidFill>
                        </a:rPr>
                        <a:t>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2</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3</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4</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5</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6</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7</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8</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9</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620660">
                <a:tc>
                  <a:txBody>
                    <a:bodyPr/>
                    <a:lstStyle/>
                    <a:p>
                      <a:pPr algn="ctr"/>
                      <a:endParaRPr lang="zh-CN" altLang="en-US" sz="2400"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u="sng"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aphicFrame>
        <p:nvGraphicFramePr>
          <p:cNvPr id="16" name="表格 15"/>
          <p:cNvGraphicFramePr>
            <a:graphicFrameLocks noGrp="1"/>
          </p:cNvGraphicFramePr>
          <p:nvPr/>
        </p:nvGraphicFramePr>
        <p:xfrm>
          <a:off x="2060972" y="2708673"/>
          <a:ext cx="5589991" cy="1054956"/>
        </p:xfrm>
        <a:graphic>
          <a:graphicData uri="http://schemas.openxmlformats.org/drawingml/2006/table">
            <a:tbl>
              <a:tblPr firstRow="1" bandRow="1">
                <a:tableStyleId>{F5AB1C69-6EDB-4FF4-983F-18BD219EF322}</a:tableStyleId>
              </a:tblPr>
              <a:tblGrid>
                <a:gridCol w="508181"/>
                <a:gridCol w="508181"/>
                <a:gridCol w="508181"/>
                <a:gridCol w="508181"/>
                <a:gridCol w="508181"/>
                <a:gridCol w="508181"/>
                <a:gridCol w="508181"/>
                <a:gridCol w="508181"/>
                <a:gridCol w="508181"/>
                <a:gridCol w="508181"/>
                <a:gridCol w="508181"/>
              </a:tblGrid>
              <a:tr h="434295">
                <a:tc>
                  <a:txBody>
                    <a:bodyPr/>
                    <a:lstStyle/>
                    <a:p>
                      <a:pPr algn="ctr"/>
                      <a:r>
                        <a:rPr lang="en-US" altLang="zh-CN" sz="2400" dirty="0" smtClean="0">
                          <a:solidFill>
                            <a:srgbClr val="FF0066"/>
                          </a:solidFill>
                        </a:rPr>
                        <a:t>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2</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3</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4</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5</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6</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7</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8</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9</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620660">
                <a:tc>
                  <a:txBody>
                    <a:bodyPr/>
                    <a:lstStyle/>
                    <a:p>
                      <a:pPr algn="ctr"/>
                      <a:endParaRPr lang="zh-CN" altLang="en-US" sz="2400"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u="sng"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graphicFrame>
        <p:nvGraphicFramePr>
          <p:cNvPr id="17" name="表格 16"/>
          <p:cNvGraphicFramePr>
            <a:graphicFrameLocks noGrp="1"/>
          </p:cNvGraphicFramePr>
          <p:nvPr/>
        </p:nvGraphicFramePr>
        <p:xfrm>
          <a:off x="2060972" y="3784998"/>
          <a:ext cx="5589991" cy="1054956"/>
        </p:xfrm>
        <a:graphic>
          <a:graphicData uri="http://schemas.openxmlformats.org/drawingml/2006/table">
            <a:tbl>
              <a:tblPr firstRow="1" bandRow="1">
                <a:tableStyleId>{F5AB1C69-6EDB-4FF4-983F-18BD219EF322}</a:tableStyleId>
              </a:tblPr>
              <a:tblGrid>
                <a:gridCol w="508181"/>
                <a:gridCol w="508181"/>
                <a:gridCol w="508181"/>
                <a:gridCol w="508181"/>
                <a:gridCol w="508181"/>
                <a:gridCol w="508181"/>
                <a:gridCol w="508181"/>
                <a:gridCol w="508181"/>
                <a:gridCol w="508181"/>
                <a:gridCol w="508181"/>
                <a:gridCol w="508181"/>
              </a:tblGrid>
              <a:tr h="434295">
                <a:tc>
                  <a:txBody>
                    <a:bodyPr/>
                    <a:lstStyle/>
                    <a:p>
                      <a:pPr algn="ctr"/>
                      <a:r>
                        <a:rPr lang="en-US" altLang="zh-CN" sz="2400" dirty="0" smtClean="0">
                          <a:solidFill>
                            <a:srgbClr val="FF0066"/>
                          </a:solidFill>
                        </a:rPr>
                        <a:t>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2</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3</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4</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5</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6</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7</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8</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9</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2400" dirty="0" smtClean="0">
                          <a:solidFill>
                            <a:srgbClr val="FF0066"/>
                          </a:solidFill>
                        </a:rPr>
                        <a:t>10</a:t>
                      </a:r>
                      <a:endParaRPr lang="zh-CN" altLang="en-US" sz="2400" dirty="0">
                        <a:solidFill>
                          <a:srgbClr val="FF0066"/>
                        </a:solidFill>
                      </a:endParaRPr>
                    </a:p>
                  </a:txBody>
                  <a:tcPr marL="68585" marR="68585" marT="34268" marB="34268">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620660">
                <a:tc>
                  <a:txBody>
                    <a:bodyPr/>
                    <a:lstStyle/>
                    <a:p>
                      <a:pPr algn="ctr"/>
                      <a:endParaRPr lang="zh-CN" altLang="en-US" sz="2400"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u="sng"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2400" b="1" dirty="0">
                        <a:solidFill>
                          <a:schemeClr val="tx1"/>
                        </a:solidFill>
                      </a:endParaRPr>
                    </a:p>
                  </a:txBody>
                  <a:tcPr marL="68585" marR="68585" marT="34268" marB="342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18" name="TextBox 15"/>
          <p:cNvSpPr txBox="1">
            <a:spLocks noChangeArrowheads="1"/>
          </p:cNvSpPr>
          <p:nvPr/>
        </p:nvSpPr>
        <p:spPr bwMode="auto">
          <a:xfrm>
            <a:off x="1143000" y="2116931"/>
            <a:ext cx="9973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a:t>间隔为</a:t>
            </a:r>
            <a:r>
              <a:rPr lang="en-US" altLang="zh-CN" sz="1800" b="1">
                <a:solidFill>
                  <a:srgbClr val="FF0000"/>
                </a:solidFill>
              </a:rPr>
              <a:t>5</a:t>
            </a:r>
            <a:endParaRPr lang="zh-CN" altLang="en-US" sz="1800" b="1">
              <a:solidFill>
                <a:srgbClr val="FF0000"/>
              </a:solidFill>
            </a:endParaRPr>
          </a:p>
        </p:txBody>
      </p:sp>
      <p:sp>
        <p:nvSpPr>
          <p:cNvPr id="19" name="TextBox 17"/>
          <p:cNvSpPr txBox="1">
            <a:spLocks noChangeArrowheads="1"/>
          </p:cNvSpPr>
          <p:nvPr/>
        </p:nvSpPr>
        <p:spPr bwMode="auto">
          <a:xfrm>
            <a:off x="1115616" y="3305175"/>
            <a:ext cx="9973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a:t>间隔为</a:t>
            </a:r>
            <a:r>
              <a:rPr lang="en-US" altLang="zh-CN" sz="1800" b="1">
                <a:solidFill>
                  <a:srgbClr val="FF0000"/>
                </a:solidFill>
              </a:rPr>
              <a:t>3</a:t>
            </a:r>
            <a:endParaRPr lang="zh-CN" altLang="en-US" sz="1800" b="1">
              <a:solidFill>
                <a:srgbClr val="FF0000"/>
              </a:solidFill>
            </a:endParaRPr>
          </a:p>
        </p:txBody>
      </p:sp>
      <p:sp>
        <p:nvSpPr>
          <p:cNvPr id="20" name="TextBox 18"/>
          <p:cNvSpPr txBox="1">
            <a:spLocks noChangeArrowheads="1"/>
          </p:cNvSpPr>
          <p:nvPr/>
        </p:nvSpPr>
        <p:spPr bwMode="auto">
          <a:xfrm>
            <a:off x="1115616" y="4299347"/>
            <a:ext cx="9973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a:t>间隔为</a:t>
            </a:r>
            <a:r>
              <a:rPr lang="en-US" altLang="zh-CN" sz="1800" b="1">
                <a:solidFill>
                  <a:srgbClr val="FF0000"/>
                </a:solidFill>
              </a:rPr>
              <a:t>1</a:t>
            </a:r>
            <a:endParaRPr lang="zh-CN" altLang="en-US" sz="1800" b="1">
              <a:solidFill>
                <a:srgbClr val="FF0000"/>
              </a:solidFill>
            </a:endParaRPr>
          </a:p>
        </p:txBody>
      </p:sp>
      <p:sp>
        <p:nvSpPr>
          <p:cNvPr id="21" name="矩形 20"/>
          <p:cNvSpPr>
            <a:spLocks noChangeArrowheads="1"/>
          </p:cNvSpPr>
          <p:nvPr/>
        </p:nvSpPr>
        <p:spPr bwMode="auto">
          <a:xfrm>
            <a:off x="2569960" y="2139554"/>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13</a:t>
            </a:r>
            <a:endParaRPr lang="zh-CN" altLang="en-US" sz="2400" b="1"/>
          </a:p>
        </p:txBody>
      </p:sp>
      <p:sp>
        <p:nvSpPr>
          <p:cNvPr id="22" name="矩形 21"/>
          <p:cNvSpPr>
            <a:spLocks noChangeArrowheads="1"/>
          </p:cNvSpPr>
          <p:nvPr/>
        </p:nvSpPr>
        <p:spPr bwMode="auto">
          <a:xfrm>
            <a:off x="5054794" y="2139554"/>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49</a:t>
            </a:r>
            <a:endParaRPr lang="zh-CN" altLang="en-US" sz="2400" b="1"/>
          </a:p>
        </p:txBody>
      </p:sp>
      <p:sp>
        <p:nvSpPr>
          <p:cNvPr id="23" name="矩形 22"/>
          <p:cNvSpPr>
            <a:spLocks noChangeArrowheads="1"/>
          </p:cNvSpPr>
          <p:nvPr/>
        </p:nvSpPr>
        <p:spPr bwMode="auto">
          <a:xfrm>
            <a:off x="3002156"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27</a:t>
            </a:r>
            <a:endParaRPr lang="zh-CN" altLang="en-US" sz="2400" b="1"/>
          </a:p>
        </p:txBody>
      </p:sp>
      <p:sp>
        <p:nvSpPr>
          <p:cNvPr id="24" name="矩形 23"/>
          <p:cNvSpPr>
            <a:spLocks noChangeArrowheads="1"/>
          </p:cNvSpPr>
          <p:nvPr/>
        </p:nvSpPr>
        <p:spPr bwMode="auto">
          <a:xfrm>
            <a:off x="5540569"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38</a:t>
            </a:r>
            <a:endParaRPr lang="zh-CN" altLang="en-US" sz="2400" b="1"/>
          </a:p>
        </p:txBody>
      </p:sp>
      <p:sp>
        <p:nvSpPr>
          <p:cNvPr id="25" name="矩形 24"/>
          <p:cNvSpPr>
            <a:spLocks noChangeArrowheads="1"/>
          </p:cNvSpPr>
          <p:nvPr/>
        </p:nvSpPr>
        <p:spPr bwMode="auto">
          <a:xfrm>
            <a:off x="3542700"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a:t>49</a:t>
            </a:r>
            <a:endParaRPr lang="zh-CN" altLang="en-US" sz="2400" b="1" u="sng"/>
          </a:p>
        </p:txBody>
      </p:sp>
      <p:sp>
        <p:nvSpPr>
          <p:cNvPr id="26" name="矩形 25"/>
          <p:cNvSpPr>
            <a:spLocks noChangeArrowheads="1"/>
          </p:cNvSpPr>
          <p:nvPr/>
        </p:nvSpPr>
        <p:spPr bwMode="auto">
          <a:xfrm>
            <a:off x="6026344"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65</a:t>
            </a:r>
            <a:endParaRPr lang="zh-CN" altLang="en-US" sz="2400" b="1"/>
          </a:p>
        </p:txBody>
      </p:sp>
      <p:sp>
        <p:nvSpPr>
          <p:cNvPr id="27" name="矩形 26"/>
          <p:cNvSpPr>
            <a:spLocks noChangeArrowheads="1"/>
          </p:cNvSpPr>
          <p:nvPr/>
        </p:nvSpPr>
        <p:spPr bwMode="auto">
          <a:xfrm>
            <a:off x="4028475"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55</a:t>
            </a:r>
            <a:endParaRPr lang="zh-CN" altLang="en-US" sz="2400" b="1"/>
          </a:p>
        </p:txBody>
      </p:sp>
      <p:sp>
        <p:nvSpPr>
          <p:cNvPr id="28" name="矩形 27"/>
          <p:cNvSpPr>
            <a:spLocks noChangeArrowheads="1"/>
          </p:cNvSpPr>
          <p:nvPr/>
        </p:nvSpPr>
        <p:spPr bwMode="auto">
          <a:xfrm>
            <a:off x="6512119" y="2133600"/>
            <a:ext cx="5568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97</a:t>
            </a:r>
            <a:endParaRPr lang="zh-CN" altLang="en-US" sz="2400" b="1"/>
          </a:p>
        </p:txBody>
      </p:sp>
      <p:sp>
        <p:nvSpPr>
          <p:cNvPr id="29" name="矩形 28"/>
          <p:cNvSpPr>
            <a:spLocks noChangeArrowheads="1"/>
          </p:cNvSpPr>
          <p:nvPr/>
        </p:nvSpPr>
        <p:spPr bwMode="auto">
          <a:xfrm>
            <a:off x="4514250"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04</a:t>
            </a:r>
            <a:endParaRPr lang="zh-CN" altLang="en-US" sz="2400" b="1"/>
          </a:p>
        </p:txBody>
      </p:sp>
      <p:sp>
        <p:nvSpPr>
          <p:cNvPr id="30" name="矩形 29"/>
          <p:cNvSpPr>
            <a:spLocks noChangeArrowheads="1"/>
          </p:cNvSpPr>
          <p:nvPr/>
        </p:nvSpPr>
        <p:spPr bwMode="auto">
          <a:xfrm>
            <a:off x="7052663" y="2133600"/>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76</a:t>
            </a:r>
            <a:endParaRPr lang="zh-CN" altLang="en-US" sz="2400" b="1"/>
          </a:p>
        </p:txBody>
      </p:sp>
      <p:sp>
        <p:nvSpPr>
          <p:cNvPr id="31" name="矩形 30"/>
          <p:cNvSpPr>
            <a:spLocks noChangeArrowheads="1"/>
          </p:cNvSpPr>
          <p:nvPr/>
        </p:nvSpPr>
        <p:spPr bwMode="auto">
          <a:xfrm>
            <a:off x="2516381" y="327421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13</a:t>
            </a:r>
            <a:endParaRPr lang="zh-CN" altLang="en-US" sz="2400" b="1"/>
          </a:p>
        </p:txBody>
      </p:sp>
      <p:sp>
        <p:nvSpPr>
          <p:cNvPr id="32" name="矩形 31"/>
          <p:cNvSpPr>
            <a:spLocks noChangeArrowheads="1"/>
          </p:cNvSpPr>
          <p:nvPr/>
        </p:nvSpPr>
        <p:spPr bwMode="auto">
          <a:xfrm>
            <a:off x="4028475" y="327421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38</a:t>
            </a:r>
            <a:endParaRPr lang="zh-CN" altLang="en-US" sz="2400" b="1"/>
          </a:p>
        </p:txBody>
      </p:sp>
      <p:sp>
        <p:nvSpPr>
          <p:cNvPr id="33" name="矩形 32"/>
          <p:cNvSpPr>
            <a:spLocks noChangeArrowheads="1"/>
          </p:cNvSpPr>
          <p:nvPr/>
        </p:nvSpPr>
        <p:spPr bwMode="auto">
          <a:xfrm>
            <a:off x="5594147" y="327421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55</a:t>
            </a:r>
            <a:endParaRPr lang="zh-CN" altLang="en-US" sz="2400" b="1"/>
          </a:p>
        </p:txBody>
      </p:sp>
      <p:sp>
        <p:nvSpPr>
          <p:cNvPr id="34" name="矩形 33"/>
          <p:cNvSpPr>
            <a:spLocks noChangeArrowheads="1"/>
          </p:cNvSpPr>
          <p:nvPr/>
        </p:nvSpPr>
        <p:spPr bwMode="auto">
          <a:xfrm>
            <a:off x="4567829" y="3267075"/>
            <a:ext cx="5568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27</a:t>
            </a:r>
            <a:endParaRPr lang="zh-CN" altLang="en-US" sz="2400" b="1"/>
          </a:p>
        </p:txBody>
      </p:sp>
      <p:sp>
        <p:nvSpPr>
          <p:cNvPr id="35" name="矩形 34"/>
          <p:cNvSpPr>
            <a:spLocks noChangeArrowheads="1"/>
          </p:cNvSpPr>
          <p:nvPr/>
        </p:nvSpPr>
        <p:spPr bwMode="auto">
          <a:xfrm>
            <a:off x="6079923" y="3267075"/>
            <a:ext cx="5568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65</a:t>
            </a:r>
            <a:endParaRPr lang="zh-CN" altLang="en-US" sz="2400" b="1"/>
          </a:p>
        </p:txBody>
      </p:sp>
      <p:sp>
        <p:nvSpPr>
          <p:cNvPr id="36" name="矩形 35"/>
          <p:cNvSpPr>
            <a:spLocks noChangeArrowheads="1"/>
          </p:cNvSpPr>
          <p:nvPr/>
        </p:nvSpPr>
        <p:spPr bwMode="auto">
          <a:xfrm>
            <a:off x="3055735" y="3267075"/>
            <a:ext cx="55683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04</a:t>
            </a:r>
            <a:endParaRPr lang="zh-CN" altLang="en-US" sz="2400" b="1"/>
          </a:p>
        </p:txBody>
      </p:sp>
      <p:sp>
        <p:nvSpPr>
          <p:cNvPr id="37" name="矩形 36"/>
          <p:cNvSpPr>
            <a:spLocks noChangeArrowheads="1"/>
          </p:cNvSpPr>
          <p:nvPr/>
        </p:nvSpPr>
        <p:spPr bwMode="auto">
          <a:xfrm>
            <a:off x="5054794" y="327421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49</a:t>
            </a:r>
            <a:endParaRPr lang="zh-CN" altLang="en-US" sz="2400" b="1"/>
          </a:p>
        </p:txBody>
      </p:sp>
      <p:sp>
        <p:nvSpPr>
          <p:cNvPr id="38" name="矩形 37"/>
          <p:cNvSpPr>
            <a:spLocks noChangeArrowheads="1"/>
          </p:cNvSpPr>
          <p:nvPr/>
        </p:nvSpPr>
        <p:spPr bwMode="auto">
          <a:xfrm>
            <a:off x="3542700" y="327421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a:t>49</a:t>
            </a:r>
            <a:endParaRPr lang="zh-CN" altLang="en-US" sz="2400" b="1" u="sng"/>
          </a:p>
        </p:txBody>
      </p:sp>
      <p:sp>
        <p:nvSpPr>
          <p:cNvPr id="39" name="矩形 38"/>
          <p:cNvSpPr>
            <a:spLocks noChangeArrowheads="1"/>
          </p:cNvSpPr>
          <p:nvPr/>
        </p:nvSpPr>
        <p:spPr bwMode="auto">
          <a:xfrm>
            <a:off x="6566888" y="3274219"/>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97</a:t>
            </a:r>
            <a:endParaRPr lang="zh-CN" altLang="en-US" sz="2400" b="1"/>
          </a:p>
        </p:txBody>
      </p:sp>
      <p:sp>
        <p:nvSpPr>
          <p:cNvPr id="40" name="矩形 39"/>
          <p:cNvSpPr>
            <a:spLocks noChangeArrowheads="1"/>
          </p:cNvSpPr>
          <p:nvPr/>
        </p:nvSpPr>
        <p:spPr bwMode="auto">
          <a:xfrm>
            <a:off x="7106241" y="3267075"/>
            <a:ext cx="55547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76</a:t>
            </a:r>
            <a:endParaRPr lang="zh-CN" altLang="en-US" sz="2400" b="1"/>
          </a:p>
        </p:txBody>
      </p:sp>
      <p:sp>
        <p:nvSpPr>
          <p:cNvPr id="41" name="矩形 40"/>
          <p:cNvSpPr>
            <a:spLocks noChangeArrowheads="1"/>
          </p:cNvSpPr>
          <p:nvPr/>
        </p:nvSpPr>
        <p:spPr bwMode="auto">
          <a:xfrm>
            <a:off x="2535631"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04</a:t>
            </a:r>
            <a:endParaRPr lang="zh-CN" altLang="en-US" sz="2400" b="1"/>
          </a:p>
        </p:txBody>
      </p:sp>
      <p:sp>
        <p:nvSpPr>
          <p:cNvPr id="42" name="矩形 41"/>
          <p:cNvSpPr>
            <a:spLocks noChangeArrowheads="1"/>
          </p:cNvSpPr>
          <p:nvPr/>
        </p:nvSpPr>
        <p:spPr bwMode="auto">
          <a:xfrm>
            <a:off x="3021406"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13</a:t>
            </a:r>
            <a:endParaRPr lang="zh-CN" altLang="en-US" sz="2400" b="1"/>
          </a:p>
        </p:txBody>
      </p:sp>
      <p:sp>
        <p:nvSpPr>
          <p:cNvPr id="43" name="矩形 42"/>
          <p:cNvSpPr>
            <a:spLocks noChangeArrowheads="1"/>
          </p:cNvSpPr>
          <p:nvPr/>
        </p:nvSpPr>
        <p:spPr bwMode="auto">
          <a:xfrm>
            <a:off x="3507181"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27</a:t>
            </a:r>
            <a:endParaRPr lang="zh-CN" altLang="en-US" sz="2400" b="1"/>
          </a:p>
        </p:txBody>
      </p:sp>
      <p:sp>
        <p:nvSpPr>
          <p:cNvPr id="44" name="矩形 43"/>
          <p:cNvSpPr>
            <a:spLocks noChangeArrowheads="1"/>
          </p:cNvSpPr>
          <p:nvPr/>
        </p:nvSpPr>
        <p:spPr bwMode="auto">
          <a:xfrm>
            <a:off x="4047725"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38</a:t>
            </a:r>
            <a:endParaRPr lang="zh-CN" altLang="en-US" sz="2400" b="1"/>
          </a:p>
        </p:txBody>
      </p:sp>
      <p:sp>
        <p:nvSpPr>
          <p:cNvPr id="45" name="矩形 44"/>
          <p:cNvSpPr>
            <a:spLocks noChangeArrowheads="1"/>
          </p:cNvSpPr>
          <p:nvPr/>
        </p:nvSpPr>
        <p:spPr bwMode="auto">
          <a:xfrm>
            <a:off x="4533500"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u="sng"/>
              <a:t>49</a:t>
            </a:r>
            <a:endParaRPr lang="zh-CN" altLang="en-US" sz="2400" b="1" u="sng"/>
          </a:p>
        </p:txBody>
      </p:sp>
      <p:sp>
        <p:nvSpPr>
          <p:cNvPr id="46" name="矩形 45"/>
          <p:cNvSpPr>
            <a:spLocks noChangeArrowheads="1"/>
          </p:cNvSpPr>
          <p:nvPr/>
        </p:nvSpPr>
        <p:spPr bwMode="auto">
          <a:xfrm>
            <a:off x="5019275"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49</a:t>
            </a:r>
            <a:endParaRPr lang="zh-CN" altLang="en-US" sz="2400" b="1"/>
          </a:p>
        </p:txBody>
      </p:sp>
      <p:sp>
        <p:nvSpPr>
          <p:cNvPr id="47" name="矩形 46"/>
          <p:cNvSpPr>
            <a:spLocks noChangeArrowheads="1"/>
          </p:cNvSpPr>
          <p:nvPr/>
        </p:nvSpPr>
        <p:spPr bwMode="auto">
          <a:xfrm>
            <a:off x="5559819"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55</a:t>
            </a:r>
            <a:endParaRPr lang="zh-CN" altLang="en-US" sz="2400" b="1"/>
          </a:p>
        </p:txBody>
      </p:sp>
      <p:sp>
        <p:nvSpPr>
          <p:cNvPr id="48" name="矩形 47"/>
          <p:cNvSpPr>
            <a:spLocks noChangeArrowheads="1"/>
          </p:cNvSpPr>
          <p:nvPr/>
        </p:nvSpPr>
        <p:spPr bwMode="auto">
          <a:xfrm>
            <a:off x="6045594"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65</a:t>
            </a:r>
            <a:endParaRPr lang="zh-CN" altLang="en-US" sz="2400" b="1"/>
          </a:p>
        </p:txBody>
      </p:sp>
      <p:sp>
        <p:nvSpPr>
          <p:cNvPr id="49" name="矩形 48"/>
          <p:cNvSpPr>
            <a:spLocks noChangeArrowheads="1"/>
          </p:cNvSpPr>
          <p:nvPr/>
        </p:nvSpPr>
        <p:spPr bwMode="auto">
          <a:xfrm>
            <a:off x="6531369" y="4293394"/>
            <a:ext cx="5526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76</a:t>
            </a:r>
            <a:endParaRPr lang="zh-CN" altLang="en-US" sz="2400" b="1"/>
          </a:p>
        </p:txBody>
      </p:sp>
      <p:sp>
        <p:nvSpPr>
          <p:cNvPr id="50" name="矩形 49"/>
          <p:cNvSpPr>
            <a:spLocks noChangeArrowheads="1"/>
          </p:cNvSpPr>
          <p:nvPr/>
        </p:nvSpPr>
        <p:spPr bwMode="auto">
          <a:xfrm>
            <a:off x="7071913" y="4293394"/>
            <a:ext cx="5512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ctr" eaLnBrk="1" hangingPunct="1">
              <a:spcBef>
                <a:spcPct val="0"/>
              </a:spcBef>
              <a:buFontTx/>
              <a:buNone/>
            </a:pPr>
            <a:r>
              <a:rPr lang="en-US" altLang="zh-CN" sz="2400" b="1"/>
              <a:t>97</a:t>
            </a:r>
            <a:endParaRPr lang="zh-CN" altLang="en-US" sz="240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fill="hold" grpId="0" nodeType="clickEffect">
                                  <p:stCondLst>
                                    <p:cond delay="0"/>
                                  </p:stCondLst>
                                  <p:childTnLst>
                                    <p:anim calcmode="discrete" valueType="str">
                                      <p:cBhvr>
                                        <p:cTn id="14" dur="1000" fill="hold"/>
                                        <p:tgtEl>
                                          <p:spTgt spid="5"/>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dissolve">
                                      <p:cBhvr>
                                        <p:cTn id="21" dur="500"/>
                                        <p:tgtEl>
                                          <p:spTgt spid="21"/>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dissolve">
                                      <p:cBhvr>
                                        <p:cTn id="24" dur="50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35" presetClass="emph" presetSubtype="0" fill="hold" grpId="0" nodeType="clickEffect">
                                  <p:stCondLst>
                                    <p:cond delay="0"/>
                                  </p:stCondLst>
                                  <p:childTnLst>
                                    <p:anim calcmode="discrete" valueType="str">
                                      <p:cBhvr>
                                        <p:cTn id="28" dur="1000" fill="hold"/>
                                        <p:tgtEl>
                                          <p:spTgt spid="6"/>
                                        </p:tgtEl>
                                        <p:attrNameLst>
                                          <p:attrName>style.visibility</p:attrName>
                                        </p:attrNameLst>
                                      </p:cBhvr>
                                      <p:tavLst>
                                        <p:tav tm="0">
                                          <p:val>
                                            <p:strVal val="hidden"/>
                                          </p:val>
                                        </p:tav>
                                        <p:tav tm="50000">
                                          <p:val>
                                            <p:strVal val="visible"/>
                                          </p:val>
                                        </p:tav>
                                      </p:tavLst>
                                    </p:anim>
                                  </p:childTnLst>
                                </p:cTn>
                              </p:par>
                              <p:par>
                                <p:cTn id="29" presetID="35" presetClass="emph" presetSubtype="0" fill="hold" grpId="0" nodeType="withEffect">
                                  <p:stCondLst>
                                    <p:cond delay="0"/>
                                  </p:stCondLst>
                                  <p:childTnLst>
                                    <p:anim calcmode="discrete" valueType="str">
                                      <p:cBhvr>
                                        <p:cTn id="30"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dissolve">
                                      <p:cBhvr>
                                        <p:cTn id="35" dur="500"/>
                                        <p:tgtEl>
                                          <p:spTgt spid="23"/>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dissolve">
                                      <p:cBhvr>
                                        <p:cTn id="38" dur="500"/>
                                        <p:tgtEl>
                                          <p:spTgt spid="24"/>
                                        </p:tgtEl>
                                      </p:cBhvr>
                                    </p:animEffect>
                                  </p:childTnLst>
                                </p:cTn>
                              </p:par>
                            </p:childTnLst>
                          </p:cTn>
                        </p:par>
                      </p:childTnLst>
                    </p:cTn>
                  </p:par>
                  <p:par>
                    <p:cTn id="39" fill="hold">
                      <p:stCondLst>
                        <p:cond delay="indefinite"/>
                      </p:stCondLst>
                      <p:childTnLst>
                        <p:par>
                          <p:cTn id="40" fill="hold">
                            <p:stCondLst>
                              <p:cond delay="0"/>
                            </p:stCondLst>
                            <p:childTnLst>
                              <p:par>
                                <p:cTn id="41" presetID="35" presetClass="emph" presetSubtype="0" fill="hold" grpId="0" nodeType="clickEffect">
                                  <p:stCondLst>
                                    <p:cond delay="0"/>
                                  </p:stCondLst>
                                  <p:childTnLst>
                                    <p:anim calcmode="discrete" valueType="str">
                                      <p:cBhvr>
                                        <p:cTn id="42" dur="1000" fill="hold"/>
                                        <p:tgtEl>
                                          <p:spTgt spid="7"/>
                                        </p:tgtEl>
                                        <p:attrNameLst>
                                          <p:attrName>style.visibility</p:attrName>
                                        </p:attrNameLst>
                                      </p:cBhvr>
                                      <p:tavLst>
                                        <p:tav tm="0">
                                          <p:val>
                                            <p:strVal val="hidden"/>
                                          </p:val>
                                        </p:tav>
                                        <p:tav tm="50000">
                                          <p:val>
                                            <p:strVal val="visible"/>
                                          </p:val>
                                        </p:tav>
                                      </p:tavLst>
                                    </p:anim>
                                  </p:childTnLst>
                                </p:cTn>
                              </p:par>
                              <p:par>
                                <p:cTn id="43" presetID="35" presetClass="emph" presetSubtype="0" fill="hold" grpId="0" nodeType="withEffect">
                                  <p:stCondLst>
                                    <p:cond delay="0"/>
                                  </p:stCondLst>
                                  <p:childTnLst>
                                    <p:anim calcmode="discrete" valueType="str">
                                      <p:cBhvr>
                                        <p:cTn id="44"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dissolve">
                                      <p:cBhvr>
                                        <p:cTn id="49" dur="500"/>
                                        <p:tgtEl>
                                          <p:spTgt spid="25"/>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dissolve">
                                      <p:cBhvr>
                                        <p:cTn id="52" dur="500"/>
                                        <p:tgtEl>
                                          <p:spTgt spid="26"/>
                                        </p:tgtEl>
                                      </p:cBhvr>
                                    </p:animEffect>
                                  </p:childTnLst>
                                </p:cTn>
                              </p:par>
                            </p:childTnLst>
                          </p:cTn>
                        </p:par>
                      </p:childTnLst>
                    </p:cTn>
                  </p:par>
                  <p:par>
                    <p:cTn id="53" fill="hold">
                      <p:stCondLst>
                        <p:cond delay="indefinite"/>
                      </p:stCondLst>
                      <p:childTnLst>
                        <p:par>
                          <p:cTn id="54" fill="hold">
                            <p:stCondLst>
                              <p:cond delay="0"/>
                            </p:stCondLst>
                            <p:childTnLst>
                              <p:par>
                                <p:cTn id="55" presetID="35" presetClass="emph" presetSubtype="0" fill="hold" grpId="0" nodeType="clickEffect">
                                  <p:stCondLst>
                                    <p:cond delay="0"/>
                                  </p:stCondLst>
                                  <p:childTnLst>
                                    <p:anim calcmode="discrete" valueType="str">
                                      <p:cBhvr>
                                        <p:cTn id="56" dur="1000" fill="hold"/>
                                        <p:tgtEl>
                                          <p:spTgt spid="8"/>
                                        </p:tgtEl>
                                        <p:attrNameLst>
                                          <p:attrName>style.visibility</p:attrName>
                                        </p:attrNameLst>
                                      </p:cBhvr>
                                      <p:tavLst>
                                        <p:tav tm="0">
                                          <p:val>
                                            <p:strVal val="hidden"/>
                                          </p:val>
                                        </p:tav>
                                        <p:tav tm="50000">
                                          <p:val>
                                            <p:strVal val="visible"/>
                                          </p:val>
                                        </p:tav>
                                      </p:tavLst>
                                    </p:anim>
                                  </p:childTnLst>
                                </p:cTn>
                              </p:par>
                              <p:par>
                                <p:cTn id="57" presetID="35" presetClass="emph" presetSubtype="0" fill="hold" grpId="0" nodeType="withEffect">
                                  <p:stCondLst>
                                    <p:cond delay="0"/>
                                  </p:stCondLst>
                                  <p:childTnLst>
                                    <p:anim calcmode="discrete" valueType="str">
                                      <p:cBhvr>
                                        <p:cTn id="58"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grpId="0" nodeType="click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dissolve">
                                      <p:cBhvr>
                                        <p:cTn id="63" dur="500"/>
                                        <p:tgtEl>
                                          <p:spTgt spid="27"/>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dissolve">
                                      <p:cBhvr>
                                        <p:cTn id="66" dur="500"/>
                                        <p:tgtEl>
                                          <p:spTgt spid="28"/>
                                        </p:tgtEl>
                                      </p:cBhvr>
                                    </p:animEffect>
                                  </p:childTnLst>
                                </p:cTn>
                              </p:par>
                            </p:childTnLst>
                          </p:cTn>
                        </p:par>
                      </p:childTnLst>
                    </p:cTn>
                  </p:par>
                  <p:par>
                    <p:cTn id="67" fill="hold">
                      <p:stCondLst>
                        <p:cond delay="indefinite"/>
                      </p:stCondLst>
                      <p:childTnLst>
                        <p:par>
                          <p:cTn id="68" fill="hold">
                            <p:stCondLst>
                              <p:cond delay="0"/>
                            </p:stCondLst>
                            <p:childTnLst>
                              <p:par>
                                <p:cTn id="69" presetID="35" presetClass="emph" presetSubtype="0" fill="hold" grpId="0" nodeType="clickEffect">
                                  <p:stCondLst>
                                    <p:cond delay="0"/>
                                  </p:stCondLst>
                                  <p:childTnLst>
                                    <p:anim calcmode="discrete" valueType="str">
                                      <p:cBhvr>
                                        <p:cTn id="70" dur="1000" fill="hold"/>
                                        <p:tgtEl>
                                          <p:spTgt spid="9"/>
                                        </p:tgtEl>
                                        <p:attrNameLst>
                                          <p:attrName>style.visibility</p:attrName>
                                        </p:attrNameLst>
                                      </p:cBhvr>
                                      <p:tavLst>
                                        <p:tav tm="0">
                                          <p:val>
                                            <p:strVal val="hidden"/>
                                          </p:val>
                                        </p:tav>
                                        <p:tav tm="50000">
                                          <p:val>
                                            <p:strVal val="visible"/>
                                          </p:val>
                                        </p:tav>
                                      </p:tavLst>
                                    </p:anim>
                                  </p:childTnLst>
                                </p:cTn>
                              </p:par>
                              <p:par>
                                <p:cTn id="71" presetID="35" presetClass="emph" presetSubtype="0" fill="hold" grpId="0" nodeType="withEffect">
                                  <p:stCondLst>
                                    <p:cond delay="0"/>
                                  </p:stCondLst>
                                  <p:childTnLst>
                                    <p:anim calcmode="discrete" valueType="str">
                                      <p:cBhvr>
                                        <p:cTn id="72" dur="1000" fill="hold"/>
                                        <p:tgtEl>
                                          <p:spTgt spid="14"/>
                                        </p:tgtEl>
                                        <p:attrNameLst>
                                          <p:attrName>style.visibility</p:attrName>
                                        </p:attrNameLst>
                                      </p:cBhvr>
                                      <p:tavLst>
                                        <p:tav tm="0">
                                          <p:val>
                                            <p:strVal val="hidden"/>
                                          </p:val>
                                        </p:tav>
                                        <p:tav tm="50000">
                                          <p:val>
                                            <p:strVal val="visible"/>
                                          </p:val>
                                        </p:tav>
                                      </p:tavLst>
                                    </p:anim>
                                  </p:childTnLst>
                                </p:cTn>
                              </p:par>
                            </p:childTnLst>
                          </p:cTn>
                        </p:par>
                      </p:childTnLst>
                    </p:cTn>
                  </p:par>
                  <p:par>
                    <p:cTn id="73" fill="hold">
                      <p:stCondLst>
                        <p:cond delay="indefinite"/>
                      </p:stCondLst>
                      <p:childTnLst>
                        <p:par>
                          <p:cTn id="74" fill="hold">
                            <p:stCondLst>
                              <p:cond delay="0"/>
                            </p:stCondLst>
                            <p:childTnLst>
                              <p:par>
                                <p:cTn id="75" presetID="9" presetClass="entr" presetSubtype="0" fill="hold" grpId="0" nodeType="click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dissolve">
                                      <p:cBhvr>
                                        <p:cTn id="77" dur="500"/>
                                        <p:tgtEl>
                                          <p:spTgt spid="29"/>
                                        </p:tgtEl>
                                      </p:cBhvr>
                                    </p:animEffect>
                                  </p:childTnLst>
                                </p:cTn>
                              </p:par>
                              <p:par>
                                <p:cTn id="78" presetID="9"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dissolve">
                                      <p:cBhvr>
                                        <p:cTn id="80" dur="500"/>
                                        <p:tgtEl>
                                          <p:spTgt spid="30"/>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grpId="0" nodeType="click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dissolve">
                                      <p:cBhvr>
                                        <p:cTn id="85" dur="500"/>
                                        <p:tgtEl>
                                          <p:spTgt spid="19"/>
                                        </p:tgtEl>
                                      </p:cBhvr>
                                    </p:animEffect>
                                  </p:childTnLst>
                                </p:cTn>
                              </p:par>
                              <p:par>
                                <p:cTn id="86" presetID="9" presetClass="entr" presetSubtype="0" fill="hold" nodeType="withEffect">
                                  <p:stCondLst>
                                    <p:cond delay="0"/>
                                  </p:stCondLst>
                                  <p:childTnLst>
                                    <p:set>
                                      <p:cBhvr>
                                        <p:cTn id="87" dur="1" fill="hold">
                                          <p:stCondLst>
                                            <p:cond delay="0"/>
                                          </p:stCondLst>
                                        </p:cTn>
                                        <p:tgtEl>
                                          <p:spTgt spid="16"/>
                                        </p:tgtEl>
                                        <p:attrNameLst>
                                          <p:attrName>style.visibility</p:attrName>
                                        </p:attrNameLst>
                                      </p:cBhvr>
                                      <p:to>
                                        <p:strVal val="visible"/>
                                      </p:to>
                                    </p:set>
                                    <p:animEffect transition="in" filter="dissolve">
                                      <p:cBhvr>
                                        <p:cTn id="88" dur="500"/>
                                        <p:tgtEl>
                                          <p:spTgt spid="16"/>
                                        </p:tgtEl>
                                      </p:cBhvr>
                                    </p:animEffec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1" nodeType="clickEffect">
                                  <p:stCondLst>
                                    <p:cond delay="0"/>
                                  </p:stCondLst>
                                  <p:childTnLst>
                                    <p:anim calcmode="discrete" valueType="str">
                                      <p:cBhvr>
                                        <p:cTn id="92" dur="1000" fill="hold"/>
                                        <p:tgtEl>
                                          <p:spTgt spid="21"/>
                                        </p:tgtEl>
                                        <p:attrNameLst>
                                          <p:attrName>style.visibility</p:attrName>
                                        </p:attrNameLst>
                                      </p:cBhvr>
                                      <p:tavLst>
                                        <p:tav tm="0">
                                          <p:val>
                                            <p:strVal val="hidden"/>
                                          </p:val>
                                        </p:tav>
                                        <p:tav tm="50000">
                                          <p:val>
                                            <p:strVal val="visible"/>
                                          </p:val>
                                        </p:tav>
                                      </p:tavLst>
                                    </p:anim>
                                  </p:childTnLst>
                                </p:cTn>
                              </p:par>
                              <p:par>
                                <p:cTn id="93" presetID="35" presetClass="emph" presetSubtype="0" fill="hold" grpId="1" nodeType="withEffect">
                                  <p:stCondLst>
                                    <p:cond delay="0"/>
                                  </p:stCondLst>
                                  <p:childTnLst>
                                    <p:anim calcmode="discrete" valueType="str">
                                      <p:cBhvr>
                                        <p:cTn id="94" dur="1000" fill="hold"/>
                                        <p:tgtEl>
                                          <p:spTgt spid="27"/>
                                        </p:tgtEl>
                                        <p:attrNameLst>
                                          <p:attrName>style.visibility</p:attrName>
                                        </p:attrNameLst>
                                      </p:cBhvr>
                                      <p:tavLst>
                                        <p:tav tm="0">
                                          <p:val>
                                            <p:strVal val="hidden"/>
                                          </p:val>
                                        </p:tav>
                                        <p:tav tm="50000">
                                          <p:val>
                                            <p:strVal val="visible"/>
                                          </p:val>
                                        </p:tav>
                                      </p:tavLst>
                                    </p:anim>
                                  </p:childTnLst>
                                </p:cTn>
                              </p:par>
                              <p:par>
                                <p:cTn id="95" presetID="35" presetClass="emph" presetSubtype="0" fill="hold" grpId="1" nodeType="withEffect">
                                  <p:stCondLst>
                                    <p:cond delay="0"/>
                                  </p:stCondLst>
                                  <p:childTnLst>
                                    <p:anim calcmode="discrete" valueType="str">
                                      <p:cBhvr>
                                        <p:cTn id="96" dur="1000" fill="hold"/>
                                        <p:tgtEl>
                                          <p:spTgt spid="24"/>
                                        </p:tgtEl>
                                        <p:attrNameLst>
                                          <p:attrName>style.visibility</p:attrName>
                                        </p:attrNameLst>
                                      </p:cBhvr>
                                      <p:tavLst>
                                        <p:tav tm="0">
                                          <p:val>
                                            <p:strVal val="hidden"/>
                                          </p:val>
                                        </p:tav>
                                        <p:tav tm="50000">
                                          <p:val>
                                            <p:strVal val="visible"/>
                                          </p:val>
                                        </p:tav>
                                      </p:tavLst>
                                    </p:anim>
                                  </p:childTnLst>
                                </p:cTn>
                              </p:par>
                              <p:par>
                                <p:cTn id="97" presetID="35" presetClass="emph" presetSubtype="0" fill="hold" grpId="1" nodeType="withEffect">
                                  <p:stCondLst>
                                    <p:cond delay="0"/>
                                  </p:stCondLst>
                                  <p:childTnLst>
                                    <p:anim calcmode="discrete" valueType="str">
                                      <p:cBhvr>
                                        <p:cTn id="98"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99" fill="hold">
                      <p:stCondLst>
                        <p:cond delay="indefinite"/>
                      </p:stCondLst>
                      <p:childTnLst>
                        <p:par>
                          <p:cTn id="100" fill="hold">
                            <p:stCondLst>
                              <p:cond delay="0"/>
                            </p:stCondLst>
                            <p:childTnLst>
                              <p:par>
                                <p:cTn id="101" presetID="9" presetClass="entr" presetSubtype="0" fill="hold" grpId="0" nodeType="click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dissolve">
                                      <p:cBhvr>
                                        <p:cTn id="103" dur="500"/>
                                        <p:tgtEl>
                                          <p:spTgt spid="31"/>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32"/>
                                        </p:tgtEl>
                                        <p:attrNameLst>
                                          <p:attrName>style.visibility</p:attrName>
                                        </p:attrNameLst>
                                      </p:cBhvr>
                                      <p:to>
                                        <p:strVal val="visible"/>
                                      </p:to>
                                    </p:set>
                                    <p:animEffect transition="in" filter="dissolve">
                                      <p:cBhvr>
                                        <p:cTn id="106" dur="500"/>
                                        <p:tgtEl>
                                          <p:spTgt spid="32"/>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33"/>
                                        </p:tgtEl>
                                        <p:attrNameLst>
                                          <p:attrName>style.visibility</p:attrName>
                                        </p:attrNameLst>
                                      </p:cBhvr>
                                      <p:to>
                                        <p:strVal val="visible"/>
                                      </p:to>
                                    </p:set>
                                    <p:animEffect transition="in" filter="dissolve">
                                      <p:cBhvr>
                                        <p:cTn id="109" dur="500"/>
                                        <p:tgtEl>
                                          <p:spTgt spid="33"/>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40"/>
                                        </p:tgtEl>
                                        <p:attrNameLst>
                                          <p:attrName>style.visibility</p:attrName>
                                        </p:attrNameLst>
                                      </p:cBhvr>
                                      <p:to>
                                        <p:strVal val="visible"/>
                                      </p:to>
                                    </p:set>
                                    <p:animEffect transition="in" filter="dissolve">
                                      <p:cBhvr>
                                        <p:cTn id="112" dur="500"/>
                                        <p:tgtEl>
                                          <p:spTgt spid="40"/>
                                        </p:tgtEl>
                                      </p:cBhvr>
                                    </p:animEffect>
                                  </p:childTnLst>
                                </p:cTn>
                              </p:par>
                            </p:childTnLst>
                          </p:cTn>
                        </p:par>
                      </p:childTnLst>
                    </p:cTn>
                  </p:par>
                  <p:par>
                    <p:cTn id="113" fill="hold">
                      <p:stCondLst>
                        <p:cond delay="indefinite"/>
                      </p:stCondLst>
                      <p:childTnLst>
                        <p:par>
                          <p:cTn id="114" fill="hold">
                            <p:stCondLst>
                              <p:cond delay="0"/>
                            </p:stCondLst>
                            <p:childTnLst>
                              <p:par>
                                <p:cTn id="115" presetID="35" presetClass="emph" presetSubtype="0" fill="hold" grpId="1" nodeType="clickEffect">
                                  <p:stCondLst>
                                    <p:cond delay="0"/>
                                  </p:stCondLst>
                                  <p:childTnLst>
                                    <p:anim calcmode="discrete" valueType="str">
                                      <p:cBhvr>
                                        <p:cTn id="116" dur="1000" fill="hold"/>
                                        <p:tgtEl>
                                          <p:spTgt spid="23"/>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1" nodeType="withEffect">
                                  <p:stCondLst>
                                    <p:cond delay="0"/>
                                  </p:stCondLst>
                                  <p:childTnLst>
                                    <p:anim calcmode="discrete" valueType="str">
                                      <p:cBhvr>
                                        <p:cTn id="118" dur="1000" fill="hold"/>
                                        <p:tgtEl>
                                          <p:spTgt spid="29"/>
                                        </p:tgtEl>
                                        <p:attrNameLst>
                                          <p:attrName>style.visibility</p:attrName>
                                        </p:attrNameLst>
                                      </p:cBhvr>
                                      <p:tavLst>
                                        <p:tav tm="0">
                                          <p:val>
                                            <p:strVal val="hidden"/>
                                          </p:val>
                                        </p:tav>
                                        <p:tav tm="50000">
                                          <p:val>
                                            <p:strVal val="visible"/>
                                          </p:val>
                                        </p:tav>
                                      </p:tavLst>
                                    </p:anim>
                                  </p:childTnLst>
                                </p:cTn>
                              </p:par>
                              <p:par>
                                <p:cTn id="119" presetID="35" presetClass="emph" presetSubtype="0" fill="hold" grpId="1" nodeType="withEffect">
                                  <p:stCondLst>
                                    <p:cond delay="0"/>
                                  </p:stCondLst>
                                  <p:childTnLst>
                                    <p:anim calcmode="discrete" valueType="str">
                                      <p:cBhvr>
                                        <p:cTn id="120"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121" fill="hold">
                      <p:stCondLst>
                        <p:cond delay="indefinite"/>
                      </p:stCondLst>
                      <p:childTnLst>
                        <p:par>
                          <p:cTn id="122" fill="hold">
                            <p:stCondLst>
                              <p:cond delay="0"/>
                            </p:stCondLst>
                            <p:childTnLst>
                              <p:par>
                                <p:cTn id="123" presetID="9" presetClass="entr" presetSubtype="0" fill="hold" grpId="0" nodeType="clickEffect">
                                  <p:stCondLst>
                                    <p:cond delay="0"/>
                                  </p:stCondLst>
                                  <p:childTnLst>
                                    <p:set>
                                      <p:cBhvr>
                                        <p:cTn id="124" dur="1" fill="hold">
                                          <p:stCondLst>
                                            <p:cond delay="0"/>
                                          </p:stCondLst>
                                        </p:cTn>
                                        <p:tgtEl>
                                          <p:spTgt spid="34"/>
                                        </p:tgtEl>
                                        <p:attrNameLst>
                                          <p:attrName>style.visibility</p:attrName>
                                        </p:attrNameLst>
                                      </p:cBhvr>
                                      <p:to>
                                        <p:strVal val="visible"/>
                                      </p:to>
                                    </p:set>
                                    <p:animEffect transition="in" filter="dissolve">
                                      <p:cBhvr>
                                        <p:cTn id="125" dur="500"/>
                                        <p:tgtEl>
                                          <p:spTgt spid="34"/>
                                        </p:tgtEl>
                                      </p:cBhvr>
                                    </p:animEffect>
                                  </p:childTnLst>
                                </p:cTn>
                              </p:par>
                              <p:par>
                                <p:cTn id="126" presetID="9" presetClass="entr" presetSubtype="0" fill="hold" grpId="0" nodeType="withEffect">
                                  <p:stCondLst>
                                    <p:cond delay="0"/>
                                  </p:stCondLst>
                                  <p:childTnLst>
                                    <p:set>
                                      <p:cBhvr>
                                        <p:cTn id="127" dur="1" fill="hold">
                                          <p:stCondLst>
                                            <p:cond delay="0"/>
                                          </p:stCondLst>
                                        </p:cTn>
                                        <p:tgtEl>
                                          <p:spTgt spid="35"/>
                                        </p:tgtEl>
                                        <p:attrNameLst>
                                          <p:attrName>style.visibility</p:attrName>
                                        </p:attrNameLst>
                                      </p:cBhvr>
                                      <p:to>
                                        <p:strVal val="visible"/>
                                      </p:to>
                                    </p:set>
                                    <p:animEffect transition="in" filter="dissolve">
                                      <p:cBhvr>
                                        <p:cTn id="128" dur="500"/>
                                        <p:tgtEl>
                                          <p:spTgt spid="35"/>
                                        </p:tgtEl>
                                      </p:cBhvr>
                                    </p:animEffect>
                                  </p:childTnLst>
                                </p:cTn>
                              </p:par>
                              <p:par>
                                <p:cTn id="129" presetID="9"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dissolve">
                                      <p:cBhvr>
                                        <p:cTn id="131" dur="500"/>
                                        <p:tgtEl>
                                          <p:spTgt spid="36"/>
                                        </p:tgtEl>
                                      </p:cBhvr>
                                    </p:animEffect>
                                  </p:childTnLst>
                                </p:cTn>
                              </p:par>
                            </p:childTnLst>
                          </p:cTn>
                        </p:par>
                      </p:childTnLst>
                    </p:cTn>
                  </p:par>
                  <p:par>
                    <p:cTn id="132" fill="hold">
                      <p:stCondLst>
                        <p:cond delay="indefinite"/>
                      </p:stCondLst>
                      <p:childTnLst>
                        <p:par>
                          <p:cTn id="133" fill="hold">
                            <p:stCondLst>
                              <p:cond delay="0"/>
                            </p:stCondLst>
                            <p:childTnLst>
                              <p:par>
                                <p:cTn id="134" presetID="35" presetClass="emph" presetSubtype="0" fill="hold" grpId="1" nodeType="clickEffect">
                                  <p:stCondLst>
                                    <p:cond delay="0"/>
                                  </p:stCondLst>
                                  <p:childTnLst>
                                    <p:anim calcmode="discrete" valueType="str">
                                      <p:cBhvr>
                                        <p:cTn id="135" dur="1000" fill="hold"/>
                                        <p:tgtEl>
                                          <p:spTgt spid="25"/>
                                        </p:tgtEl>
                                        <p:attrNameLst>
                                          <p:attrName>style.visibility</p:attrName>
                                        </p:attrNameLst>
                                      </p:cBhvr>
                                      <p:tavLst>
                                        <p:tav tm="0">
                                          <p:val>
                                            <p:strVal val="hidden"/>
                                          </p:val>
                                        </p:tav>
                                        <p:tav tm="50000">
                                          <p:val>
                                            <p:strVal val="visible"/>
                                          </p:val>
                                        </p:tav>
                                      </p:tavLst>
                                    </p:anim>
                                  </p:childTnLst>
                                </p:cTn>
                              </p:par>
                              <p:par>
                                <p:cTn id="136" presetID="35" presetClass="emph" presetSubtype="0" fill="hold" grpId="1" nodeType="withEffect">
                                  <p:stCondLst>
                                    <p:cond delay="0"/>
                                  </p:stCondLst>
                                  <p:childTnLst>
                                    <p:anim calcmode="discrete" valueType="str">
                                      <p:cBhvr>
                                        <p:cTn id="137" dur="1000" fill="hold"/>
                                        <p:tgtEl>
                                          <p:spTgt spid="22"/>
                                        </p:tgtEl>
                                        <p:attrNameLst>
                                          <p:attrName>style.visibility</p:attrName>
                                        </p:attrNameLst>
                                      </p:cBhvr>
                                      <p:tavLst>
                                        <p:tav tm="0">
                                          <p:val>
                                            <p:strVal val="hidden"/>
                                          </p:val>
                                        </p:tav>
                                        <p:tav tm="50000">
                                          <p:val>
                                            <p:strVal val="visible"/>
                                          </p:val>
                                        </p:tav>
                                      </p:tavLst>
                                    </p:anim>
                                  </p:childTnLst>
                                </p:cTn>
                              </p:par>
                              <p:par>
                                <p:cTn id="138" presetID="35" presetClass="emph" presetSubtype="0" fill="hold" grpId="1" nodeType="withEffect">
                                  <p:stCondLst>
                                    <p:cond delay="0"/>
                                  </p:stCondLst>
                                  <p:childTnLst>
                                    <p:anim calcmode="discrete" valueType="str">
                                      <p:cBhvr>
                                        <p:cTn id="139"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par>
                    <p:cTn id="140" fill="hold">
                      <p:stCondLst>
                        <p:cond delay="indefinite"/>
                      </p:stCondLst>
                      <p:childTnLst>
                        <p:par>
                          <p:cTn id="141" fill="hold">
                            <p:stCondLst>
                              <p:cond delay="0"/>
                            </p:stCondLst>
                            <p:childTnLst>
                              <p:par>
                                <p:cTn id="142" presetID="9" presetClass="entr" presetSubtype="0" fill="hold" grpId="0" nodeType="clickEffect">
                                  <p:stCondLst>
                                    <p:cond delay="0"/>
                                  </p:stCondLst>
                                  <p:childTnLst>
                                    <p:set>
                                      <p:cBhvr>
                                        <p:cTn id="143" dur="1" fill="hold">
                                          <p:stCondLst>
                                            <p:cond delay="0"/>
                                          </p:stCondLst>
                                        </p:cTn>
                                        <p:tgtEl>
                                          <p:spTgt spid="38"/>
                                        </p:tgtEl>
                                        <p:attrNameLst>
                                          <p:attrName>style.visibility</p:attrName>
                                        </p:attrNameLst>
                                      </p:cBhvr>
                                      <p:to>
                                        <p:strVal val="visible"/>
                                      </p:to>
                                    </p:set>
                                    <p:animEffect transition="in" filter="dissolve">
                                      <p:cBhvr>
                                        <p:cTn id="144" dur="500"/>
                                        <p:tgtEl>
                                          <p:spTgt spid="38"/>
                                        </p:tgtEl>
                                      </p:cBhvr>
                                    </p:animEffect>
                                  </p:childTnLst>
                                </p:cTn>
                              </p:par>
                              <p:par>
                                <p:cTn id="145" presetID="9" presetClass="entr" presetSubtype="0" fill="hold" grpId="0" nodeType="withEffect">
                                  <p:stCondLst>
                                    <p:cond delay="0"/>
                                  </p:stCondLst>
                                  <p:childTnLst>
                                    <p:set>
                                      <p:cBhvr>
                                        <p:cTn id="146" dur="1" fill="hold">
                                          <p:stCondLst>
                                            <p:cond delay="0"/>
                                          </p:stCondLst>
                                        </p:cTn>
                                        <p:tgtEl>
                                          <p:spTgt spid="37"/>
                                        </p:tgtEl>
                                        <p:attrNameLst>
                                          <p:attrName>style.visibility</p:attrName>
                                        </p:attrNameLst>
                                      </p:cBhvr>
                                      <p:to>
                                        <p:strVal val="visible"/>
                                      </p:to>
                                    </p:set>
                                    <p:animEffect transition="in" filter="dissolve">
                                      <p:cBhvr>
                                        <p:cTn id="147" dur="500"/>
                                        <p:tgtEl>
                                          <p:spTgt spid="37"/>
                                        </p:tgtEl>
                                      </p:cBhvr>
                                    </p:animEffect>
                                  </p:childTnLst>
                                </p:cTn>
                              </p:par>
                              <p:par>
                                <p:cTn id="148" presetID="9" presetClass="entr" presetSubtype="0" fill="hold" grpId="0" nodeType="with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dissolve">
                                      <p:cBhvr>
                                        <p:cTn id="150" dur="500"/>
                                        <p:tgtEl>
                                          <p:spTgt spid="39"/>
                                        </p:tgtEl>
                                      </p:cBhvr>
                                    </p:animEffect>
                                  </p:childTnLst>
                                </p:cTn>
                              </p:par>
                            </p:childTnLst>
                          </p:cTn>
                        </p:par>
                      </p:childTnLst>
                    </p:cTn>
                  </p:par>
                  <p:par>
                    <p:cTn id="151" fill="hold">
                      <p:stCondLst>
                        <p:cond delay="indefinite"/>
                      </p:stCondLst>
                      <p:childTnLst>
                        <p:par>
                          <p:cTn id="152" fill="hold">
                            <p:stCondLst>
                              <p:cond delay="0"/>
                            </p:stCondLst>
                            <p:childTnLst>
                              <p:par>
                                <p:cTn id="153" presetID="9" presetClass="entr" presetSubtype="0" fill="hold" grpId="0" nodeType="clickEffect">
                                  <p:stCondLst>
                                    <p:cond delay="0"/>
                                  </p:stCondLst>
                                  <p:childTnLst>
                                    <p:set>
                                      <p:cBhvr>
                                        <p:cTn id="154" dur="1" fill="hold">
                                          <p:stCondLst>
                                            <p:cond delay="0"/>
                                          </p:stCondLst>
                                        </p:cTn>
                                        <p:tgtEl>
                                          <p:spTgt spid="20"/>
                                        </p:tgtEl>
                                        <p:attrNameLst>
                                          <p:attrName>style.visibility</p:attrName>
                                        </p:attrNameLst>
                                      </p:cBhvr>
                                      <p:to>
                                        <p:strVal val="visible"/>
                                      </p:to>
                                    </p:set>
                                    <p:animEffect transition="in" filter="dissolve">
                                      <p:cBhvr>
                                        <p:cTn id="155" dur="500"/>
                                        <p:tgtEl>
                                          <p:spTgt spid="20"/>
                                        </p:tgtEl>
                                      </p:cBhvr>
                                    </p:animEffect>
                                  </p:childTnLst>
                                </p:cTn>
                              </p:par>
                              <p:par>
                                <p:cTn id="156" presetID="9" presetClass="entr" presetSubtype="0" fill="hold" nodeType="withEffect">
                                  <p:stCondLst>
                                    <p:cond delay="0"/>
                                  </p:stCondLst>
                                  <p:childTnLst>
                                    <p:set>
                                      <p:cBhvr>
                                        <p:cTn id="157" dur="1" fill="hold">
                                          <p:stCondLst>
                                            <p:cond delay="0"/>
                                          </p:stCondLst>
                                        </p:cTn>
                                        <p:tgtEl>
                                          <p:spTgt spid="17"/>
                                        </p:tgtEl>
                                        <p:attrNameLst>
                                          <p:attrName>style.visibility</p:attrName>
                                        </p:attrNameLst>
                                      </p:cBhvr>
                                      <p:to>
                                        <p:strVal val="visible"/>
                                      </p:to>
                                    </p:set>
                                    <p:animEffect transition="in" filter="dissolve">
                                      <p:cBhvr>
                                        <p:cTn id="158" dur="500"/>
                                        <p:tgtEl>
                                          <p:spTgt spid="17"/>
                                        </p:tgtEl>
                                      </p:cBhvr>
                                    </p:animEffect>
                                  </p:childTnLst>
                                </p:cTn>
                              </p:par>
                            </p:childTnLst>
                          </p:cTn>
                        </p:par>
                      </p:childTnLst>
                    </p:cTn>
                  </p:par>
                  <p:par>
                    <p:cTn id="159" fill="hold">
                      <p:stCondLst>
                        <p:cond delay="indefinite"/>
                      </p:stCondLst>
                      <p:childTnLst>
                        <p:par>
                          <p:cTn id="160" fill="hold">
                            <p:stCondLst>
                              <p:cond delay="0"/>
                            </p:stCondLst>
                            <p:childTnLst>
                              <p:par>
                                <p:cTn id="161" presetID="9" presetClass="entr" presetSubtype="0" fill="hold" grpId="0" nodeType="clickEffect">
                                  <p:stCondLst>
                                    <p:cond delay="0"/>
                                  </p:stCondLst>
                                  <p:childTnLst>
                                    <p:set>
                                      <p:cBhvr>
                                        <p:cTn id="162" dur="1" fill="hold">
                                          <p:stCondLst>
                                            <p:cond delay="0"/>
                                          </p:stCondLst>
                                        </p:cTn>
                                        <p:tgtEl>
                                          <p:spTgt spid="41"/>
                                        </p:tgtEl>
                                        <p:attrNameLst>
                                          <p:attrName>style.visibility</p:attrName>
                                        </p:attrNameLst>
                                      </p:cBhvr>
                                      <p:to>
                                        <p:strVal val="visible"/>
                                      </p:to>
                                    </p:set>
                                    <p:animEffect transition="in" filter="dissolve">
                                      <p:cBhvr>
                                        <p:cTn id="163" dur="500"/>
                                        <p:tgtEl>
                                          <p:spTgt spid="41"/>
                                        </p:tgtEl>
                                      </p:cBhvr>
                                    </p:animEffect>
                                  </p:childTnLst>
                                </p:cTn>
                              </p:par>
                              <p:par>
                                <p:cTn id="164" presetID="9" presetClass="entr" presetSubtype="0" fill="hold" grpId="0" nodeType="with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dissolve">
                                      <p:cBhvr>
                                        <p:cTn id="166" dur="500"/>
                                        <p:tgtEl>
                                          <p:spTgt spid="42"/>
                                        </p:tgtEl>
                                      </p:cBhvr>
                                    </p:animEffect>
                                  </p:childTnLst>
                                </p:cTn>
                              </p:par>
                              <p:par>
                                <p:cTn id="167" presetID="9" presetClass="entr" presetSubtype="0" fill="hold" grpId="0" nodeType="withEffect">
                                  <p:stCondLst>
                                    <p:cond delay="0"/>
                                  </p:stCondLst>
                                  <p:childTnLst>
                                    <p:set>
                                      <p:cBhvr>
                                        <p:cTn id="168" dur="1" fill="hold">
                                          <p:stCondLst>
                                            <p:cond delay="0"/>
                                          </p:stCondLst>
                                        </p:cTn>
                                        <p:tgtEl>
                                          <p:spTgt spid="43"/>
                                        </p:tgtEl>
                                        <p:attrNameLst>
                                          <p:attrName>style.visibility</p:attrName>
                                        </p:attrNameLst>
                                      </p:cBhvr>
                                      <p:to>
                                        <p:strVal val="visible"/>
                                      </p:to>
                                    </p:set>
                                    <p:animEffect transition="in" filter="dissolve">
                                      <p:cBhvr>
                                        <p:cTn id="169" dur="500"/>
                                        <p:tgtEl>
                                          <p:spTgt spid="43"/>
                                        </p:tgtEl>
                                      </p:cBhvr>
                                    </p:animEffect>
                                  </p:childTnLst>
                                </p:cTn>
                              </p:par>
                              <p:par>
                                <p:cTn id="170" presetID="9" presetClass="entr" presetSubtype="0" fill="hold" grpId="0" nodeType="with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dissolve">
                                      <p:cBhvr>
                                        <p:cTn id="172" dur="500"/>
                                        <p:tgtEl>
                                          <p:spTgt spid="44"/>
                                        </p:tgtEl>
                                      </p:cBhvr>
                                    </p:animEffect>
                                  </p:childTnLst>
                                </p:cTn>
                              </p:par>
                              <p:par>
                                <p:cTn id="173" presetID="9" presetClass="entr" presetSubtype="0" fill="hold" grpId="0" nodeType="withEffect">
                                  <p:stCondLst>
                                    <p:cond delay="0"/>
                                  </p:stCondLst>
                                  <p:childTnLst>
                                    <p:set>
                                      <p:cBhvr>
                                        <p:cTn id="174" dur="1" fill="hold">
                                          <p:stCondLst>
                                            <p:cond delay="0"/>
                                          </p:stCondLst>
                                        </p:cTn>
                                        <p:tgtEl>
                                          <p:spTgt spid="45"/>
                                        </p:tgtEl>
                                        <p:attrNameLst>
                                          <p:attrName>style.visibility</p:attrName>
                                        </p:attrNameLst>
                                      </p:cBhvr>
                                      <p:to>
                                        <p:strVal val="visible"/>
                                      </p:to>
                                    </p:set>
                                    <p:animEffect transition="in" filter="dissolve">
                                      <p:cBhvr>
                                        <p:cTn id="175" dur="500"/>
                                        <p:tgtEl>
                                          <p:spTgt spid="45"/>
                                        </p:tgtEl>
                                      </p:cBhvr>
                                    </p:animEffect>
                                  </p:childTnLst>
                                </p:cTn>
                              </p:par>
                              <p:par>
                                <p:cTn id="176" presetID="9" presetClass="entr" presetSubtype="0" fill="hold" grpId="0" nodeType="with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dissolve">
                                      <p:cBhvr>
                                        <p:cTn id="178" dur="500"/>
                                        <p:tgtEl>
                                          <p:spTgt spid="46"/>
                                        </p:tgtEl>
                                      </p:cBhvr>
                                    </p:animEffect>
                                  </p:childTnLst>
                                </p:cTn>
                              </p:par>
                              <p:par>
                                <p:cTn id="179" presetID="9" presetClass="entr" presetSubtype="0" fill="hold" grpId="0" nodeType="withEffect">
                                  <p:stCondLst>
                                    <p:cond delay="0"/>
                                  </p:stCondLst>
                                  <p:childTnLst>
                                    <p:set>
                                      <p:cBhvr>
                                        <p:cTn id="180" dur="1" fill="hold">
                                          <p:stCondLst>
                                            <p:cond delay="0"/>
                                          </p:stCondLst>
                                        </p:cTn>
                                        <p:tgtEl>
                                          <p:spTgt spid="47"/>
                                        </p:tgtEl>
                                        <p:attrNameLst>
                                          <p:attrName>style.visibility</p:attrName>
                                        </p:attrNameLst>
                                      </p:cBhvr>
                                      <p:to>
                                        <p:strVal val="visible"/>
                                      </p:to>
                                    </p:set>
                                    <p:animEffect transition="in" filter="dissolve">
                                      <p:cBhvr>
                                        <p:cTn id="181" dur="500"/>
                                        <p:tgtEl>
                                          <p:spTgt spid="47"/>
                                        </p:tgtEl>
                                      </p:cBhvr>
                                    </p:animEffect>
                                  </p:childTnLst>
                                </p:cTn>
                              </p:par>
                              <p:par>
                                <p:cTn id="182" presetID="9" presetClass="entr" presetSubtype="0" fill="hold" grpId="0" nodeType="withEffect">
                                  <p:stCondLst>
                                    <p:cond delay="0"/>
                                  </p:stCondLst>
                                  <p:childTnLst>
                                    <p:set>
                                      <p:cBhvr>
                                        <p:cTn id="183" dur="1" fill="hold">
                                          <p:stCondLst>
                                            <p:cond delay="0"/>
                                          </p:stCondLst>
                                        </p:cTn>
                                        <p:tgtEl>
                                          <p:spTgt spid="48"/>
                                        </p:tgtEl>
                                        <p:attrNameLst>
                                          <p:attrName>style.visibility</p:attrName>
                                        </p:attrNameLst>
                                      </p:cBhvr>
                                      <p:to>
                                        <p:strVal val="visible"/>
                                      </p:to>
                                    </p:set>
                                    <p:animEffect transition="in" filter="dissolve">
                                      <p:cBhvr>
                                        <p:cTn id="184" dur="500"/>
                                        <p:tgtEl>
                                          <p:spTgt spid="48"/>
                                        </p:tgtEl>
                                      </p:cBhvr>
                                    </p:animEffect>
                                  </p:childTnLst>
                                </p:cTn>
                              </p:par>
                              <p:par>
                                <p:cTn id="185" presetID="9" presetClass="entr" presetSubtype="0" fill="hold" grpId="0" nodeType="withEffect">
                                  <p:stCondLst>
                                    <p:cond delay="0"/>
                                  </p:stCondLst>
                                  <p:childTnLst>
                                    <p:set>
                                      <p:cBhvr>
                                        <p:cTn id="186" dur="1" fill="hold">
                                          <p:stCondLst>
                                            <p:cond delay="0"/>
                                          </p:stCondLst>
                                        </p:cTn>
                                        <p:tgtEl>
                                          <p:spTgt spid="49"/>
                                        </p:tgtEl>
                                        <p:attrNameLst>
                                          <p:attrName>style.visibility</p:attrName>
                                        </p:attrNameLst>
                                      </p:cBhvr>
                                      <p:to>
                                        <p:strVal val="visible"/>
                                      </p:to>
                                    </p:set>
                                    <p:animEffect transition="in" filter="dissolve">
                                      <p:cBhvr>
                                        <p:cTn id="187" dur="500"/>
                                        <p:tgtEl>
                                          <p:spTgt spid="49"/>
                                        </p:tgtEl>
                                      </p:cBhvr>
                                    </p:animEffect>
                                  </p:childTnLst>
                                </p:cTn>
                              </p:par>
                              <p:par>
                                <p:cTn id="188" presetID="9" presetClass="entr" presetSubtype="0" fill="hold" grpId="0" nodeType="withEffect">
                                  <p:stCondLst>
                                    <p:cond delay="0"/>
                                  </p:stCondLst>
                                  <p:childTnLst>
                                    <p:set>
                                      <p:cBhvr>
                                        <p:cTn id="189" dur="1" fill="hold">
                                          <p:stCondLst>
                                            <p:cond delay="0"/>
                                          </p:stCondLst>
                                        </p:cTn>
                                        <p:tgtEl>
                                          <p:spTgt spid="50"/>
                                        </p:tgtEl>
                                        <p:attrNameLst>
                                          <p:attrName>style.visibility</p:attrName>
                                        </p:attrNameLst>
                                      </p:cBhvr>
                                      <p:to>
                                        <p:strVal val="visible"/>
                                      </p:to>
                                    </p:set>
                                    <p:animEffect transition="in" filter="dissolve">
                                      <p:cBhvr>
                                        <p:cTn id="19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8" grpId="0"/>
      <p:bldP spid="19" grpId="0"/>
      <p:bldP spid="20" grpId="0"/>
      <p:bldP spid="21" grpId="0"/>
      <p:bldP spid="21" grpId="1"/>
      <p:bldP spid="22" grpId="0"/>
      <p:bldP spid="22" grpId="1"/>
      <p:bldP spid="23" grpId="0"/>
      <p:bldP spid="23" grpId="1"/>
      <p:bldP spid="24" grpId="0"/>
      <p:bldP spid="24" grpId="1"/>
      <p:bldP spid="25" grpId="0"/>
      <p:bldP spid="25" grpId="1"/>
      <p:bldP spid="26" grpId="0"/>
      <p:bldP spid="26" grpId="1"/>
      <p:bldP spid="27" grpId="0"/>
      <p:bldP spid="27" grpId="1"/>
      <p:bldP spid="28" grpId="0"/>
      <p:bldP spid="28" grpId="1"/>
      <p:bldP spid="29" grpId="0"/>
      <p:bldP spid="29" grpId="1"/>
      <p:bldP spid="30" grpId="0"/>
      <p:bldP spid="30" grpId="1"/>
      <p:bldP spid="31" grpId="0"/>
      <p:bldP spid="32" grpId="0"/>
      <p:bldP spid="33" grpId="0"/>
      <p:bldP spid="34" grpId="0"/>
      <p:bldP spid="35" grpId="0"/>
      <p:bldP spid="36" grpId="0"/>
      <p:bldP spid="37" grpId="0"/>
      <p:bldP spid="38" grpId="0"/>
      <p:bldP spid="39" grpId="0"/>
      <p:bldP spid="40" grpId="0"/>
      <p:bldP spid="41" grpId="0"/>
      <p:bldP spid="42" grpId="0"/>
      <p:bldP spid="43" grpId="0"/>
      <p:bldP spid="44" grpId="0"/>
      <p:bldP spid="45" grpId="0"/>
      <p:bldP spid="46" grpId="0"/>
      <p:bldP spid="47" grpId="0"/>
      <p:bldP spid="48" grpId="0"/>
      <p:bldP spid="49" grpId="0"/>
      <p:bldP spid="5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00000"/>
              </a:lnSpc>
              <a:spcBef>
                <a:spcPct val="0"/>
              </a:spcBef>
              <a:spcAft>
                <a:spcPts val="0"/>
              </a:spcAft>
            </a:pPr>
            <a:r>
              <a:rPr lang="zh-CN" altLang="en-US" sz="1800" dirty="0" smtClean="0"/>
              <a:t>希</a:t>
            </a:r>
            <a:r>
              <a:rPr lang="zh-CN" altLang="en-US" sz="1800" dirty="0"/>
              <a:t>尔排序算法如下</a:t>
            </a:r>
            <a:r>
              <a:rPr lang="zh-CN" altLang="en-US" sz="1800" dirty="0" smtClean="0"/>
              <a:t>：</a:t>
            </a:r>
            <a:endParaRPr lang="zh-CN" altLang="en-US" sz="1800" dirty="0"/>
          </a:p>
          <a:p>
            <a:pPr lvl="2">
              <a:lnSpc>
                <a:spcPct val="100000"/>
              </a:lnSpc>
              <a:spcBef>
                <a:spcPct val="0"/>
              </a:spcBef>
            </a:pPr>
            <a:r>
              <a:rPr lang="en-US" altLang="zh-CN" sz="1800" dirty="0"/>
              <a:t>void  </a:t>
            </a:r>
            <a:r>
              <a:rPr lang="en-US" altLang="zh-CN" sz="1800" dirty="0" err="1"/>
              <a:t>ShellInsert</a:t>
            </a:r>
            <a:r>
              <a:rPr lang="en-US" altLang="zh-CN" sz="1800" dirty="0"/>
              <a:t>(</a:t>
            </a:r>
            <a:r>
              <a:rPr lang="en-US" altLang="zh-CN" sz="1800" dirty="0" err="1"/>
              <a:t>SqList</a:t>
            </a:r>
            <a:r>
              <a:rPr lang="en-US" altLang="zh-CN" sz="1800" dirty="0"/>
              <a:t> &amp;L</a:t>
            </a:r>
            <a:r>
              <a:rPr lang="zh-CN" altLang="en-US" sz="1800" dirty="0"/>
              <a:t>，</a:t>
            </a:r>
            <a:r>
              <a:rPr lang="en-US" altLang="zh-CN" sz="1800" dirty="0" err="1"/>
              <a:t>int</a:t>
            </a:r>
            <a:r>
              <a:rPr lang="en-US" altLang="zh-CN" sz="1800" dirty="0"/>
              <a:t>  </a:t>
            </a:r>
            <a:r>
              <a:rPr lang="en-US" altLang="zh-CN" sz="1800" dirty="0" err="1"/>
              <a:t>dk</a:t>
            </a:r>
            <a:r>
              <a:rPr lang="en-US" altLang="zh-CN" sz="1800" dirty="0" smtClean="0"/>
              <a:t>)</a:t>
            </a:r>
            <a:r>
              <a:rPr lang="en-US" altLang="zh-CN" sz="1800" dirty="0"/>
              <a:t> //</a:t>
            </a:r>
            <a:r>
              <a:rPr lang="zh-CN" altLang="en-US" sz="1800" dirty="0" smtClean="0"/>
              <a:t>对表</a:t>
            </a:r>
            <a:r>
              <a:rPr lang="en-US" altLang="zh-CN" sz="1800" dirty="0"/>
              <a:t>L</a:t>
            </a:r>
            <a:r>
              <a:rPr lang="zh-CN" altLang="en-US" sz="1800" dirty="0"/>
              <a:t>做一趟希尔插入排序，</a:t>
            </a:r>
            <a:r>
              <a:rPr lang="en-US" altLang="zh-CN" sz="1800" dirty="0" err="1"/>
              <a:t>dk</a:t>
            </a:r>
            <a:r>
              <a:rPr lang="zh-CN" altLang="en-US" sz="1800" dirty="0"/>
              <a:t>为增量</a:t>
            </a:r>
            <a:endParaRPr lang="zh-CN" altLang="en-US" sz="1800" dirty="0"/>
          </a:p>
          <a:p>
            <a:pPr lvl="2">
              <a:lnSpc>
                <a:spcPct val="100000"/>
              </a:lnSpc>
              <a:spcBef>
                <a:spcPct val="0"/>
              </a:spcBef>
            </a:pPr>
            <a:r>
              <a:rPr lang="en-US" altLang="zh-CN" sz="1800" dirty="0" smtClean="0"/>
              <a:t>{ </a:t>
            </a:r>
            <a:endParaRPr lang="en-US" altLang="zh-CN" sz="1800" dirty="0"/>
          </a:p>
          <a:p>
            <a:pPr lvl="2">
              <a:lnSpc>
                <a:spcPct val="100000"/>
              </a:lnSpc>
              <a:spcBef>
                <a:spcPct val="0"/>
              </a:spcBef>
            </a:pPr>
            <a:r>
              <a:rPr lang="en-US" altLang="zh-CN" sz="1800" dirty="0"/>
              <a:t>        for(</a:t>
            </a:r>
            <a:r>
              <a:rPr lang="en-US" altLang="zh-CN" sz="1800" dirty="0" err="1"/>
              <a:t>i</a:t>
            </a:r>
            <a:r>
              <a:rPr lang="en-US" altLang="zh-CN" sz="1800" dirty="0"/>
              <a:t>=dk+1;i&lt;=</a:t>
            </a:r>
            <a:r>
              <a:rPr lang="en-US" altLang="zh-CN" sz="1800" dirty="0" err="1"/>
              <a:t>L.length</a:t>
            </a:r>
            <a:r>
              <a:rPr lang="en-US" altLang="zh-CN" sz="1800" dirty="0"/>
              <a:t>; ++</a:t>
            </a:r>
            <a:r>
              <a:rPr lang="en-US" altLang="zh-CN" sz="1800" dirty="0" err="1"/>
              <a:t>i</a:t>
            </a:r>
            <a:r>
              <a:rPr lang="en-US" altLang="zh-CN" sz="1800" dirty="0" smtClean="0"/>
              <a:t>)</a:t>
            </a:r>
            <a:endParaRPr lang="en-US" altLang="zh-CN" sz="1800" dirty="0"/>
          </a:p>
          <a:p>
            <a:pPr lvl="2">
              <a:lnSpc>
                <a:spcPct val="100000"/>
              </a:lnSpc>
              <a:spcBef>
                <a:spcPct val="0"/>
              </a:spcBef>
            </a:pPr>
            <a:r>
              <a:rPr lang="en-US" altLang="zh-CN" sz="1800" dirty="0"/>
              <a:t>	if(LT(</a:t>
            </a:r>
            <a:r>
              <a:rPr lang="en-US" altLang="zh-CN" sz="1800" dirty="0" err="1"/>
              <a:t>L.r</a:t>
            </a:r>
            <a:r>
              <a:rPr lang="en-US" altLang="zh-CN" sz="1800" dirty="0"/>
              <a:t>[</a:t>
            </a:r>
            <a:r>
              <a:rPr lang="en-US" altLang="zh-CN" sz="1800" dirty="0" err="1"/>
              <a:t>i</a:t>
            </a:r>
            <a:r>
              <a:rPr lang="en-US" altLang="zh-CN" sz="1800" dirty="0"/>
              <a:t>].</a:t>
            </a:r>
            <a:r>
              <a:rPr lang="en-US" altLang="zh-CN" sz="1800" dirty="0" err="1"/>
              <a:t>key,L.r</a:t>
            </a:r>
            <a:r>
              <a:rPr lang="en-US" altLang="zh-CN" sz="1800" dirty="0"/>
              <a:t>[</a:t>
            </a:r>
            <a:r>
              <a:rPr lang="en-US" altLang="zh-CN" sz="1800" dirty="0" err="1">
                <a:solidFill>
                  <a:srgbClr val="FF0000"/>
                </a:solidFill>
              </a:rPr>
              <a:t>i-dk</a:t>
            </a:r>
            <a:r>
              <a:rPr lang="en-US" altLang="zh-CN" sz="1800" dirty="0"/>
              <a:t>].key</a:t>
            </a:r>
            <a:r>
              <a:rPr lang="en-US" altLang="zh-CN" sz="1800" dirty="0" smtClean="0"/>
              <a:t>)){</a:t>
            </a:r>
            <a:endParaRPr lang="en-US" altLang="zh-CN" sz="1800" dirty="0"/>
          </a:p>
          <a:p>
            <a:pPr lvl="2">
              <a:lnSpc>
                <a:spcPct val="100000"/>
              </a:lnSpc>
              <a:spcBef>
                <a:spcPct val="0"/>
              </a:spcBef>
            </a:pPr>
            <a:r>
              <a:rPr lang="en-US" altLang="zh-CN" sz="1800" dirty="0"/>
              <a:t>	       </a:t>
            </a:r>
            <a:r>
              <a:rPr lang="en-US" altLang="zh-CN" sz="1800" dirty="0" err="1"/>
              <a:t>L.r</a:t>
            </a:r>
            <a:r>
              <a:rPr lang="en-US" altLang="zh-CN" sz="1800" dirty="0"/>
              <a:t>[0]=</a:t>
            </a:r>
            <a:r>
              <a:rPr lang="en-US" altLang="zh-CN" sz="1800" dirty="0" err="1"/>
              <a:t>L.r</a:t>
            </a:r>
            <a:r>
              <a:rPr lang="en-US" altLang="zh-CN" sz="1800" dirty="0"/>
              <a:t>[</a:t>
            </a:r>
            <a:r>
              <a:rPr lang="en-US" altLang="zh-CN" sz="1800" dirty="0" err="1"/>
              <a:t>i</a:t>
            </a:r>
            <a:r>
              <a:rPr lang="en-US" altLang="zh-CN" sz="1800" dirty="0"/>
              <a:t>]</a:t>
            </a:r>
            <a:r>
              <a:rPr lang="zh-CN" altLang="en-US" sz="1800" dirty="0" smtClean="0"/>
              <a:t>；</a:t>
            </a:r>
            <a:endParaRPr lang="zh-CN" altLang="en-US" sz="1800" dirty="0"/>
          </a:p>
          <a:p>
            <a:pPr lvl="2">
              <a:lnSpc>
                <a:spcPct val="100000"/>
              </a:lnSpc>
              <a:spcBef>
                <a:spcPct val="0"/>
              </a:spcBef>
            </a:pPr>
            <a:r>
              <a:rPr lang="zh-CN" altLang="en-US" sz="1800" dirty="0"/>
              <a:t> 	       </a:t>
            </a:r>
            <a:r>
              <a:rPr lang="en-US" altLang="zh-CN" sz="1800" dirty="0"/>
              <a:t>for(</a:t>
            </a:r>
            <a:r>
              <a:rPr lang="en-US" altLang="zh-CN" sz="1800" dirty="0">
                <a:solidFill>
                  <a:srgbClr val="FF0000"/>
                </a:solidFill>
              </a:rPr>
              <a:t>j=</a:t>
            </a:r>
            <a:r>
              <a:rPr lang="en-US" altLang="zh-CN" sz="1800" dirty="0" err="1">
                <a:solidFill>
                  <a:srgbClr val="FF0000"/>
                </a:solidFill>
              </a:rPr>
              <a:t>i-dk</a:t>
            </a:r>
            <a:r>
              <a:rPr lang="en-US" altLang="zh-CN" sz="1800" dirty="0"/>
              <a:t>;  j&gt;0 &amp;&amp; LT(</a:t>
            </a:r>
            <a:r>
              <a:rPr lang="en-US" altLang="zh-CN" sz="1800" dirty="0" err="1"/>
              <a:t>L.r</a:t>
            </a:r>
            <a:r>
              <a:rPr lang="en-US" altLang="zh-CN" sz="1800" dirty="0"/>
              <a:t>[0].</a:t>
            </a:r>
            <a:r>
              <a:rPr lang="en-US" altLang="zh-CN" sz="1800" dirty="0" err="1"/>
              <a:t>key,L.r</a:t>
            </a:r>
            <a:r>
              <a:rPr lang="en-US" altLang="zh-CN" sz="1800" dirty="0"/>
              <a:t>[j].key) ; </a:t>
            </a:r>
            <a:r>
              <a:rPr lang="en-US" altLang="zh-CN" sz="1800" dirty="0">
                <a:solidFill>
                  <a:schemeClr val="accent2"/>
                </a:solidFill>
              </a:rPr>
              <a:t> </a:t>
            </a:r>
            <a:r>
              <a:rPr lang="en-US" altLang="zh-CN" sz="1800" dirty="0">
                <a:solidFill>
                  <a:srgbClr val="FF0000"/>
                </a:solidFill>
              </a:rPr>
              <a:t>j-=</a:t>
            </a:r>
            <a:r>
              <a:rPr lang="en-US" altLang="zh-CN" sz="1800" dirty="0" err="1">
                <a:solidFill>
                  <a:srgbClr val="FF0000"/>
                </a:solidFill>
              </a:rPr>
              <a:t>dk</a:t>
            </a:r>
            <a:r>
              <a:rPr lang="en-US" altLang="zh-CN" sz="1800" dirty="0" smtClean="0"/>
              <a:t>) </a:t>
            </a:r>
            <a:endParaRPr lang="en-US" altLang="zh-CN" sz="1800" dirty="0"/>
          </a:p>
          <a:p>
            <a:pPr lvl="2">
              <a:lnSpc>
                <a:spcPct val="100000"/>
              </a:lnSpc>
              <a:spcBef>
                <a:spcPct val="0"/>
              </a:spcBef>
            </a:pPr>
            <a:r>
              <a:rPr lang="en-US" altLang="zh-CN" sz="1800" dirty="0"/>
              <a:t>      		</a:t>
            </a:r>
            <a:r>
              <a:rPr lang="en-US" altLang="zh-CN" sz="1800" dirty="0" err="1">
                <a:solidFill>
                  <a:srgbClr val="FF0000"/>
                </a:solidFill>
              </a:rPr>
              <a:t>L.r</a:t>
            </a:r>
            <a:r>
              <a:rPr lang="en-US" altLang="zh-CN" sz="1800" dirty="0">
                <a:solidFill>
                  <a:srgbClr val="FF0000"/>
                </a:solidFill>
              </a:rPr>
              <a:t>[</a:t>
            </a:r>
            <a:r>
              <a:rPr lang="en-US" altLang="zh-CN" sz="1800" dirty="0" err="1">
                <a:solidFill>
                  <a:srgbClr val="FF0000"/>
                </a:solidFill>
              </a:rPr>
              <a:t>j+dk</a:t>
            </a:r>
            <a:r>
              <a:rPr lang="en-US" altLang="zh-CN" sz="1800" dirty="0">
                <a:solidFill>
                  <a:srgbClr val="FF0000"/>
                </a:solidFill>
              </a:rPr>
              <a:t>]= </a:t>
            </a:r>
            <a:r>
              <a:rPr lang="en-US" altLang="zh-CN" sz="1800" dirty="0" err="1">
                <a:solidFill>
                  <a:srgbClr val="FF0000"/>
                </a:solidFill>
              </a:rPr>
              <a:t>L.r</a:t>
            </a:r>
            <a:r>
              <a:rPr lang="en-US" altLang="zh-CN" sz="1800" dirty="0">
                <a:solidFill>
                  <a:srgbClr val="FF0000"/>
                </a:solidFill>
              </a:rPr>
              <a:t>[j]</a:t>
            </a:r>
            <a:r>
              <a:rPr lang="zh-CN" altLang="en-US" sz="1800" dirty="0" smtClean="0">
                <a:solidFill>
                  <a:srgbClr val="FF0000"/>
                </a:solidFill>
              </a:rPr>
              <a:t>；</a:t>
            </a:r>
            <a:r>
              <a:rPr lang="zh-CN" altLang="en-US" sz="1800" dirty="0" smtClean="0"/>
              <a:t> </a:t>
            </a:r>
            <a:endParaRPr lang="zh-CN" altLang="en-US" sz="1800" dirty="0"/>
          </a:p>
          <a:p>
            <a:pPr lvl="2">
              <a:lnSpc>
                <a:spcPct val="100000"/>
              </a:lnSpc>
              <a:spcBef>
                <a:spcPct val="0"/>
              </a:spcBef>
            </a:pPr>
            <a:r>
              <a:rPr lang="zh-CN" altLang="en-US" sz="1800" dirty="0"/>
              <a:t> 	        </a:t>
            </a:r>
            <a:r>
              <a:rPr lang="en-US" altLang="zh-CN" sz="1800" dirty="0" err="1"/>
              <a:t>L.r</a:t>
            </a:r>
            <a:r>
              <a:rPr lang="en-US" altLang="zh-CN" sz="1800" dirty="0"/>
              <a:t>[</a:t>
            </a:r>
            <a:r>
              <a:rPr lang="en-US" altLang="zh-CN" sz="1800" dirty="0" err="1"/>
              <a:t>j+dk</a:t>
            </a:r>
            <a:r>
              <a:rPr lang="en-US" altLang="zh-CN" sz="1800" dirty="0"/>
              <a:t>]=</a:t>
            </a:r>
            <a:r>
              <a:rPr lang="en-US" altLang="zh-CN" sz="1800" dirty="0" err="1"/>
              <a:t>L.r</a:t>
            </a:r>
            <a:r>
              <a:rPr lang="en-US" altLang="zh-CN" sz="1800" dirty="0"/>
              <a:t>[0]</a:t>
            </a:r>
            <a:r>
              <a:rPr lang="zh-CN" altLang="en-US" sz="1800" dirty="0" smtClean="0"/>
              <a:t>；</a:t>
            </a:r>
            <a:endParaRPr lang="zh-CN" altLang="en-US" sz="1800" dirty="0"/>
          </a:p>
          <a:p>
            <a:pPr lvl="2">
              <a:lnSpc>
                <a:spcPct val="100000"/>
              </a:lnSpc>
              <a:spcBef>
                <a:spcPct val="0"/>
              </a:spcBef>
            </a:pPr>
            <a:r>
              <a:rPr lang="zh-CN" altLang="en-US" sz="1800" dirty="0"/>
              <a:t>        </a:t>
            </a:r>
            <a:r>
              <a:rPr lang="en-US" altLang="zh-CN" sz="1800" dirty="0" smtClean="0"/>
              <a:t>}</a:t>
            </a:r>
            <a:endParaRPr lang="en-US" altLang="zh-CN" sz="1800" dirty="0"/>
          </a:p>
          <a:p>
            <a:pPr lvl="2">
              <a:lnSpc>
                <a:spcPct val="100000"/>
              </a:lnSpc>
              <a:spcBef>
                <a:spcPct val="0"/>
              </a:spcBef>
            </a:pPr>
            <a:r>
              <a:rPr lang="en-US" altLang="zh-CN" sz="1800" dirty="0" smtClean="0"/>
              <a:t>}</a:t>
            </a:r>
            <a:endParaRPr lang="en-US" altLang="zh-CN" sz="1800" dirty="0"/>
          </a:p>
          <a:p>
            <a:pPr lvl="2">
              <a:lnSpc>
                <a:spcPct val="100000"/>
              </a:lnSpc>
              <a:spcBef>
                <a:spcPct val="0"/>
              </a:spcBef>
            </a:pPr>
            <a:r>
              <a:rPr lang="en-US" altLang="zh-CN" sz="1800" dirty="0"/>
              <a:t>void  </a:t>
            </a:r>
            <a:r>
              <a:rPr lang="en-US" altLang="zh-CN" sz="1800" dirty="0" err="1"/>
              <a:t>ShellSort</a:t>
            </a:r>
            <a:r>
              <a:rPr lang="en-US" altLang="zh-CN" sz="1800" dirty="0"/>
              <a:t>(</a:t>
            </a:r>
            <a:r>
              <a:rPr lang="en-US" altLang="zh-CN" sz="1800" dirty="0" err="1"/>
              <a:t>SqList</a:t>
            </a:r>
            <a:r>
              <a:rPr lang="en-US" altLang="zh-CN" sz="1800" dirty="0"/>
              <a:t> &amp;L,  </a:t>
            </a:r>
            <a:r>
              <a:rPr lang="en-US" altLang="zh-CN" sz="1800" dirty="0" err="1"/>
              <a:t>int</a:t>
            </a:r>
            <a:r>
              <a:rPr lang="en-US" altLang="zh-CN" sz="1800" dirty="0"/>
              <a:t> </a:t>
            </a:r>
            <a:r>
              <a:rPr lang="en-US" altLang="zh-CN" sz="1800" dirty="0" err="1"/>
              <a:t>dlta</a:t>
            </a:r>
            <a:r>
              <a:rPr lang="en-US" altLang="zh-CN" sz="1800" dirty="0"/>
              <a:t>[], </a:t>
            </a:r>
            <a:r>
              <a:rPr lang="en-US" altLang="zh-CN" sz="1800" dirty="0" err="1"/>
              <a:t>int</a:t>
            </a:r>
            <a:r>
              <a:rPr lang="en-US" altLang="zh-CN" sz="1800" dirty="0"/>
              <a:t> t</a:t>
            </a:r>
            <a:r>
              <a:rPr lang="en-US" altLang="zh-CN" sz="1800" dirty="0" smtClean="0"/>
              <a:t>)</a:t>
            </a:r>
            <a:endParaRPr lang="en-US" altLang="zh-CN" sz="1800" dirty="0"/>
          </a:p>
          <a:p>
            <a:pPr lvl="2">
              <a:lnSpc>
                <a:spcPct val="100000"/>
              </a:lnSpc>
              <a:spcBef>
                <a:spcPct val="0"/>
              </a:spcBef>
            </a:pPr>
            <a:r>
              <a:rPr lang="en-US" altLang="zh-CN" sz="1800" dirty="0"/>
              <a:t>{ </a:t>
            </a:r>
            <a:r>
              <a:rPr lang="en-US" altLang="zh-CN" sz="1800" dirty="0" smtClean="0"/>
              <a:t> </a:t>
            </a:r>
            <a:endParaRPr lang="en-US" altLang="zh-CN" sz="1800" dirty="0"/>
          </a:p>
          <a:p>
            <a:pPr lvl="2">
              <a:lnSpc>
                <a:spcPct val="100000"/>
              </a:lnSpc>
              <a:spcBef>
                <a:spcPct val="0"/>
              </a:spcBef>
            </a:pPr>
            <a:r>
              <a:rPr lang="en-US" altLang="zh-CN" sz="1800" dirty="0"/>
              <a:t>         for(k=0; k&lt;t; ++k</a:t>
            </a:r>
            <a:r>
              <a:rPr lang="en-US" altLang="zh-CN" sz="1800" dirty="0" smtClean="0"/>
              <a:t>)</a:t>
            </a:r>
            <a:endParaRPr lang="en-US" altLang="zh-CN" sz="1800" dirty="0"/>
          </a:p>
          <a:p>
            <a:pPr lvl="2">
              <a:lnSpc>
                <a:spcPct val="100000"/>
              </a:lnSpc>
              <a:spcBef>
                <a:spcPct val="0"/>
              </a:spcBef>
            </a:pPr>
            <a:r>
              <a:rPr lang="en-US" altLang="zh-CN" sz="1800" dirty="0">
                <a:solidFill>
                  <a:schemeClr val="accent2"/>
                </a:solidFill>
              </a:rPr>
              <a:t>                 </a:t>
            </a:r>
            <a:r>
              <a:rPr lang="en-US" altLang="zh-CN" sz="1800" dirty="0" err="1">
                <a:solidFill>
                  <a:srgbClr val="FF0000"/>
                </a:solidFill>
              </a:rPr>
              <a:t>ShellInsert</a:t>
            </a:r>
            <a:r>
              <a:rPr lang="en-US" altLang="zh-CN" sz="1800" dirty="0">
                <a:solidFill>
                  <a:srgbClr val="FF0000"/>
                </a:solidFill>
              </a:rPr>
              <a:t>(</a:t>
            </a:r>
            <a:r>
              <a:rPr lang="en-US" altLang="zh-CN" sz="1800" dirty="0" err="1">
                <a:solidFill>
                  <a:srgbClr val="FF0000"/>
                </a:solidFill>
              </a:rPr>
              <a:t>L,dlta</a:t>
            </a:r>
            <a:r>
              <a:rPr lang="en-US" altLang="zh-CN" sz="1800" dirty="0">
                <a:solidFill>
                  <a:srgbClr val="FF0000"/>
                </a:solidFill>
              </a:rPr>
              <a:t>[k]);</a:t>
            </a:r>
            <a:r>
              <a:rPr lang="en-US" altLang="zh-CN" sz="1800" dirty="0">
                <a:solidFill>
                  <a:schemeClr val="accent2"/>
                </a:solidFill>
              </a:rPr>
              <a:t> </a:t>
            </a:r>
            <a:endParaRPr lang="en-US" altLang="zh-CN" sz="1800" dirty="0"/>
          </a:p>
          <a:p>
            <a:pPr lvl="2">
              <a:lnSpc>
                <a:spcPct val="100000"/>
              </a:lnSpc>
              <a:spcBef>
                <a:spcPct val="0"/>
              </a:spcBef>
            </a:pPr>
            <a:r>
              <a:rPr lang="en-US" altLang="zh-CN" sz="1800" dirty="0"/>
              <a:t>} </a:t>
            </a:r>
            <a:endParaRPr lang="en-US" altLang="zh-CN" sz="1800"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
        <p:nvSpPr>
          <p:cNvPr id="4" name="矩形 3"/>
          <p:cNvSpPr>
            <a:spLocks noChangeArrowheads="1"/>
          </p:cNvSpPr>
          <p:nvPr/>
        </p:nvSpPr>
        <p:spPr bwMode="auto">
          <a:xfrm>
            <a:off x="5058539" y="330421"/>
            <a:ext cx="240642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dirty="0">
                <a:solidFill>
                  <a:srgbClr val="00194C"/>
                </a:solidFill>
                <a:latin typeface="华文楷体" panose="02010600040101010101" pitchFamily="2" charset="-122"/>
                <a:ea typeface="华文楷体" panose="02010600040101010101" pitchFamily="2" charset="-122"/>
              </a:rPr>
              <a:t>最坏情况：</a:t>
            </a:r>
            <a:r>
              <a:rPr lang="en-US" altLang="zh-CN" sz="1800" b="1" i="1" dirty="0">
                <a:solidFill>
                  <a:srgbClr val="FF0000"/>
                </a:solidFill>
              </a:rPr>
              <a:t>T = O( N</a:t>
            </a:r>
            <a:r>
              <a:rPr lang="en-US" altLang="zh-CN" sz="1800" b="1" i="1" baseline="30000" dirty="0">
                <a:solidFill>
                  <a:srgbClr val="FF0000"/>
                </a:solidFill>
              </a:rPr>
              <a:t>2</a:t>
            </a:r>
            <a:r>
              <a:rPr lang="en-US" altLang="zh-CN" sz="1800" b="1" i="1" dirty="0">
                <a:solidFill>
                  <a:srgbClr val="FF0000"/>
                </a:solidFill>
              </a:rPr>
              <a:t> )</a:t>
            </a:r>
            <a:endParaRPr lang="zh-CN" altLang="en-US" sz="1800"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graphicFrame>
        <p:nvGraphicFramePr>
          <p:cNvPr id="51" name="表格 50"/>
          <p:cNvGraphicFramePr>
            <a:graphicFrameLocks noGrp="1"/>
          </p:cNvGraphicFramePr>
          <p:nvPr/>
        </p:nvGraphicFramePr>
        <p:xfrm>
          <a:off x="1590487" y="681038"/>
          <a:ext cx="6427003" cy="789385"/>
        </p:xfrm>
        <a:graphic>
          <a:graphicData uri="http://schemas.openxmlformats.org/drawingml/2006/table">
            <a:tbl>
              <a:tblPr firstRow="1" bandRow="1">
                <a:tableStyleId>{F5AB1C69-6EDB-4FF4-983F-18BD219EF322}</a:tableStyleId>
              </a:tblPr>
              <a:tblGrid>
                <a:gridCol w="378059"/>
                <a:gridCol w="378059"/>
                <a:gridCol w="378059"/>
                <a:gridCol w="378059"/>
                <a:gridCol w="378059"/>
                <a:gridCol w="378059"/>
                <a:gridCol w="378059"/>
                <a:gridCol w="378059"/>
                <a:gridCol w="378059"/>
                <a:gridCol w="378059"/>
                <a:gridCol w="378059"/>
                <a:gridCol w="378059"/>
                <a:gridCol w="378059"/>
                <a:gridCol w="378059"/>
                <a:gridCol w="378059"/>
                <a:gridCol w="378059"/>
                <a:gridCol w="378059"/>
              </a:tblGrid>
              <a:tr h="343120">
                <a:tc>
                  <a:txBody>
                    <a:bodyPr/>
                    <a:lstStyle/>
                    <a:p>
                      <a:pPr algn="ctr"/>
                      <a:r>
                        <a:rPr lang="en-US" altLang="zh-CN" sz="1800" dirty="0" smtClean="0">
                          <a:solidFill>
                            <a:srgbClr val="FF0066"/>
                          </a:solidFill>
                        </a:rPr>
                        <a:t>0</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2</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3</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4</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5</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6</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7</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8</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9</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10</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11</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12</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13</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14</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15</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16</a:t>
                      </a:r>
                      <a:endParaRPr lang="zh-CN" altLang="en-US" sz="1800" dirty="0">
                        <a:solidFill>
                          <a:srgbClr val="FF0066"/>
                        </a:solidFill>
                      </a:endParaRPr>
                    </a:p>
                  </a:txBody>
                  <a:tcPr marL="68583" marR="68583" marT="34312" marB="34312">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446265">
                <a:tc>
                  <a:txBody>
                    <a:bodyPr/>
                    <a:lstStyle/>
                    <a:p>
                      <a:pPr algn="ctr"/>
                      <a:endParaRPr lang="zh-CN" altLang="en-US" sz="2400"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9</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2</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10</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3</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11</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4</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12</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5</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13</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6</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14</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7</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15</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8</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16</a:t>
                      </a:r>
                      <a:endParaRPr lang="zh-CN" altLang="en-US" sz="1800" b="1" u="none" dirty="0">
                        <a:solidFill>
                          <a:schemeClr val="tx1"/>
                        </a:solidFill>
                      </a:endParaRPr>
                    </a:p>
                  </a:txBody>
                  <a:tcPr marL="68583" marR="68583" marT="34312" marB="3431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2" name="TextBox 3"/>
          <p:cNvSpPr txBox="1">
            <a:spLocks noChangeArrowheads="1"/>
          </p:cNvSpPr>
          <p:nvPr/>
        </p:nvSpPr>
        <p:spPr bwMode="auto">
          <a:xfrm>
            <a:off x="236019" y="624554"/>
            <a:ext cx="11913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dirty="0"/>
              <a:t>最坏情况</a:t>
            </a:r>
            <a:r>
              <a:rPr lang="en-US" altLang="zh-CN" sz="1800" b="1" dirty="0"/>
              <a:t>:</a:t>
            </a:r>
            <a:endParaRPr lang="zh-CN" altLang="en-US" sz="1800" b="1" dirty="0"/>
          </a:p>
        </p:txBody>
      </p:sp>
      <p:graphicFrame>
        <p:nvGraphicFramePr>
          <p:cNvPr id="53" name="表格 52"/>
          <p:cNvGraphicFramePr>
            <a:graphicFrameLocks noGrp="1"/>
          </p:cNvGraphicFramePr>
          <p:nvPr/>
        </p:nvGraphicFramePr>
        <p:xfrm>
          <a:off x="1590487" y="1547904"/>
          <a:ext cx="6427003" cy="777478"/>
        </p:xfrm>
        <a:graphic>
          <a:graphicData uri="http://schemas.openxmlformats.org/drawingml/2006/table">
            <a:tbl>
              <a:tblPr firstRow="1" bandRow="1">
                <a:tableStyleId>{F5AB1C69-6EDB-4FF4-983F-18BD219EF322}</a:tableStyleId>
              </a:tblPr>
              <a:tblGrid>
                <a:gridCol w="378059"/>
                <a:gridCol w="378059"/>
                <a:gridCol w="378059"/>
                <a:gridCol w="378059"/>
                <a:gridCol w="378059"/>
                <a:gridCol w="378059"/>
                <a:gridCol w="378059"/>
                <a:gridCol w="378059"/>
                <a:gridCol w="378059"/>
                <a:gridCol w="378059"/>
                <a:gridCol w="378059"/>
                <a:gridCol w="378059"/>
                <a:gridCol w="378059"/>
                <a:gridCol w="378059"/>
                <a:gridCol w="378059"/>
                <a:gridCol w="378059"/>
                <a:gridCol w="378059"/>
              </a:tblGrid>
              <a:tr h="343005">
                <a:tc>
                  <a:txBody>
                    <a:bodyPr/>
                    <a:lstStyle/>
                    <a:p>
                      <a:pPr algn="ctr"/>
                      <a:r>
                        <a:rPr lang="en-US" altLang="zh-CN" sz="1800" dirty="0" smtClean="0">
                          <a:solidFill>
                            <a:srgbClr val="FF0066"/>
                          </a:solidFill>
                        </a:rPr>
                        <a:t>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7</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8</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9</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434473">
                <a:tc>
                  <a:txBody>
                    <a:bodyPr/>
                    <a:lstStyle/>
                    <a:p>
                      <a:pPr algn="ctr"/>
                      <a:endParaRPr lang="zh-CN" altLang="en-US" sz="2400"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9</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10</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7</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8</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4" name="TextBox 5"/>
          <p:cNvSpPr txBox="1">
            <a:spLocks noChangeArrowheads="1"/>
          </p:cNvSpPr>
          <p:nvPr/>
        </p:nvSpPr>
        <p:spPr bwMode="auto">
          <a:xfrm>
            <a:off x="526984" y="1937600"/>
            <a:ext cx="9925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smtClean="0"/>
              <a:t>间隔：</a:t>
            </a:r>
            <a:r>
              <a:rPr lang="en-US" altLang="zh-CN" sz="1800" dirty="0" smtClean="0"/>
              <a:t>8</a:t>
            </a:r>
            <a:endParaRPr lang="zh-CN" altLang="en-US" sz="1800" dirty="0"/>
          </a:p>
        </p:txBody>
      </p:sp>
      <p:graphicFrame>
        <p:nvGraphicFramePr>
          <p:cNvPr id="55" name="表格 54"/>
          <p:cNvGraphicFramePr>
            <a:graphicFrameLocks noGrp="1"/>
          </p:cNvGraphicFramePr>
          <p:nvPr/>
        </p:nvGraphicFramePr>
        <p:xfrm>
          <a:off x="1607056" y="2384700"/>
          <a:ext cx="6427003" cy="777478"/>
        </p:xfrm>
        <a:graphic>
          <a:graphicData uri="http://schemas.openxmlformats.org/drawingml/2006/table">
            <a:tbl>
              <a:tblPr firstRow="1" bandRow="1">
                <a:tableStyleId>{F5AB1C69-6EDB-4FF4-983F-18BD219EF322}</a:tableStyleId>
              </a:tblPr>
              <a:tblGrid>
                <a:gridCol w="378059"/>
                <a:gridCol w="378059"/>
                <a:gridCol w="378059"/>
                <a:gridCol w="378059"/>
                <a:gridCol w="378059"/>
                <a:gridCol w="378059"/>
                <a:gridCol w="378059"/>
                <a:gridCol w="378059"/>
                <a:gridCol w="378059"/>
                <a:gridCol w="378059"/>
                <a:gridCol w="378059"/>
                <a:gridCol w="378059"/>
                <a:gridCol w="378059"/>
                <a:gridCol w="378059"/>
                <a:gridCol w="378059"/>
                <a:gridCol w="378059"/>
                <a:gridCol w="378059"/>
              </a:tblGrid>
              <a:tr h="343005">
                <a:tc>
                  <a:txBody>
                    <a:bodyPr/>
                    <a:lstStyle/>
                    <a:p>
                      <a:pPr algn="ctr"/>
                      <a:r>
                        <a:rPr lang="en-US" altLang="zh-CN" sz="1800" dirty="0" smtClean="0">
                          <a:solidFill>
                            <a:srgbClr val="FF0066"/>
                          </a:solidFill>
                        </a:rPr>
                        <a:t>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7</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8</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9</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434473">
                <a:tc>
                  <a:txBody>
                    <a:bodyPr/>
                    <a:lstStyle/>
                    <a:p>
                      <a:pPr algn="ctr"/>
                      <a:endParaRPr lang="zh-CN" altLang="en-US" sz="2400"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9</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10</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7</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8</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6" name="TextBox 7"/>
          <p:cNvSpPr txBox="1">
            <a:spLocks noChangeArrowheads="1"/>
          </p:cNvSpPr>
          <p:nvPr/>
        </p:nvSpPr>
        <p:spPr bwMode="auto">
          <a:xfrm>
            <a:off x="553177" y="2761791"/>
            <a:ext cx="9925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smtClean="0"/>
              <a:t>间隔：</a:t>
            </a:r>
            <a:r>
              <a:rPr lang="en-US" altLang="zh-CN" sz="1800" dirty="0" smtClean="0"/>
              <a:t>4</a:t>
            </a:r>
            <a:endParaRPr lang="zh-CN" altLang="en-US" sz="1800" dirty="0"/>
          </a:p>
        </p:txBody>
      </p:sp>
      <p:graphicFrame>
        <p:nvGraphicFramePr>
          <p:cNvPr id="57" name="表格 56"/>
          <p:cNvGraphicFramePr>
            <a:graphicFrameLocks noGrp="1"/>
          </p:cNvGraphicFramePr>
          <p:nvPr/>
        </p:nvGraphicFramePr>
        <p:xfrm>
          <a:off x="1607056" y="3249094"/>
          <a:ext cx="6427003" cy="777478"/>
        </p:xfrm>
        <a:graphic>
          <a:graphicData uri="http://schemas.openxmlformats.org/drawingml/2006/table">
            <a:tbl>
              <a:tblPr firstRow="1" bandRow="1">
                <a:tableStyleId>{F5AB1C69-6EDB-4FF4-983F-18BD219EF322}</a:tableStyleId>
              </a:tblPr>
              <a:tblGrid>
                <a:gridCol w="378059"/>
                <a:gridCol w="378059"/>
                <a:gridCol w="378059"/>
                <a:gridCol w="378059"/>
                <a:gridCol w="378059"/>
                <a:gridCol w="378059"/>
                <a:gridCol w="378059"/>
                <a:gridCol w="378059"/>
                <a:gridCol w="378059"/>
                <a:gridCol w="378059"/>
                <a:gridCol w="378059"/>
                <a:gridCol w="378059"/>
                <a:gridCol w="378059"/>
                <a:gridCol w="378059"/>
                <a:gridCol w="378059"/>
                <a:gridCol w="378059"/>
                <a:gridCol w="378059"/>
              </a:tblGrid>
              <a:tr h="343005">
                <a:tc>
                  <a:txBody>
                    <a:bodyPr/>
                    <a:lstStyle/>
                    <a:p>
                      <a:pPr algn="ctr"/>
                      <a:r>
                        <a:rPr lang="en-US" altLang="zh-CN" sz="1800" dirty="0" smtClean="0">
                          <a:solidFill>
                            <a:srgbClr val="FF0066"/>
                          </a:solidFill>
                        </a:rPr>
                        <a:t>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7</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8</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9</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434473">
                <a:tc>
                  <a:txBody>
                    <a:bodyPr/>
                    <a:lstStyle/>
                    <a:p>
                      <a:pPr algn="ctr"/>
                      <a:endParaRPr lang="zh-CN" altLang="en-US" sz="2400"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9</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10</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7</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8</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58" name="TextBox 9"/>
          <p:cNvSpPr txBox="1">
            <a:spLocks noChangeArrowheads="1"/>
          </p:cNvSpPr>
          <p:nvPr/>
        </p:nvSpPr>
        <p:spPr bwMode="auto">
          <a:xfrm>
            <a:off x="553177" y="3626181"/>
            <a:ext cx="9925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smtClean="0"/>
              <a:t>间隔：</a:t>
            </a:r>
            <a:r>
              <a:rPr lang="en-US" altLang="zh-CN" sz="1800" dirty="0" smtClean="0"/>
              <a:t>2</a:t>
            </a:r>
            <a:endParaRPr lang="zh-CN" altLang="en-US" sz="1800" dirty="0"/>
          </a:p>
        </p:txBody>
      </p:sp>
      <p:graphicFrame>
        <p:nvGraphicFramePr>
          <p:cNvPr id="59" name="表格 58"/>
          <p:cNvGraphicFramePr>
            <a:graphicFrameLocks noGrp="1"/>
          </p:cNvGraphicFramePr>
          <p:nvPr/>
        </p:nvGraphicFramePr>
        <p:xfrm>
          <a:off x="1607056" y="4063181"/>
          <a:ext cx="6427003" cy="777284"/>
        </p:xfrm>
        <a:graphic>
          <a:graphicData uri="http://schemas.openxmlformats.org/drawingml/2006/table">
            <a:tbl>
              <a:tblPr firstRow="1" bandRow="1">
                <a:tableStyleId>{F5AB1C69-6EDB-4FF4-983F-18BD219EF322}</a:tableStyleId>
              </a:tblPr>
              <a:tblGrid>
                <a:gridCol w="378059"/>
                <a:gridCol w="378059"/>
                <a:gridCol w="378059"/>
                <a:gridCol w="378059"/>
                <a:gridCol w="378059"/>
                <a:gridCol w="378059"/>
                <a:gridCol w="378059"/>
                <a:gridCol w="378059"/>
                <a:gridCol w="378059"/>
                <a:gridCol w="378059"/>
                <a:gridCol w="378059"/>
                <a:gridCol w="378059"/>
                <a:gridCol w="378059"/>
                <a:gridCol w="378059"/>
                <a:gridCol w="378059"/>
                <a:gridCol w="378059"/>
                <a:gridCol w="378059"/>
              </a:tblGrid>
              <a:tr h="312319">
                <a:tc>
                  <a:txBody>
                    <a:bodyPr/>
                    <a:lstStyle/>
                    <a:p>
                      <a:pPr algn="ctr"/>
                      <a:r>
                        <a:rPr lang="en-US" altLang="zh-CN" sz="1800" dirty="0" smtClean="0">
                          <a:solidFill>
                            <a:srgbClr val="FF0066"/>
                          </a:solidFill>
                        </a:rPr>
                        <a:t>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7</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8</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9</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10</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11</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12</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13</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14</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15</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dirty="0" smtClean="0">
                          <a:solidFill>
                            <a:srgbClr val="FF0066"/>
                          </a:solidFill>
                        </a:rPr>
                        <a:t>16</a:t>
                      </a:r>
                      <a:endParaRPr lang="zh-CN" altLang="en-US" sz="1800" dirty="0">
                        <a:solidFill>
                          <a:srgbClr val="FF0066"/>
                        </a:solidFill>
                      </a:endParaRPr>
                    </a:p>
                  </a:txBody>
                  <a:tcPr marL="68583" marR="68583" marT="34301" marB="3430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395603">
                <a:tc>
                  <a:txBody>
                    <a:bodyPr/>
                    <a:lstStyle/>
                    <a:p>
                      <a:pPr algn="ctr"/>
                      <a:endParaRPr lang="zh-CN" altLang="en-US" sz="2400"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7</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8</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9</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10</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11</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12</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13</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14</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15</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800" b="1" u="none" dirty="0" smtClean="0">
                          <a:solidFill>
                            <a:schemeClr val="tx1"/>
                          </a:solidFill>
                        </a:rPr>
                        <a:t>16</a:t>
                      </a:r>
                      <a:endParaRPr lang="zh-CN" altLang="en-US" sz="1800" b="1" u="none" dirty="0">
                        <a:solidFill>
                          <a:schemeClr val="tx1"/>
                        </a:solidFill>
                      </a:endParaRPr>
                    </a:p>
                  </a:txBody>
                  <a:tcPr marL="68583" marR="68583" marT="34301" marB="34301">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60" name="TextBox 11"/>
          <p:cNvSpPr txBox="1">
            <a:spLocks noChangeArrowheads="1"/>
          </p:cNvSpPr>
          <p:nvPr/>
        </p:nvSpPr>
        <p:spPr bwMode="auto">
          <a:xfrm>
            <a:off x="553177" y="4469144"/>
            <a:ext cx="9925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smtClean="0"/>
              <a:t>间隔：</a:t>
            </a:r>
            <a:r>
              <a:rPr lang="en-US" altLang="zh-CN" sz="1800" dirty="0" smtClean="0"/>
              <a:t>1</a:t>
            </a:r>
            <a:endParaRPr lang="zh-CN" altLang="en-US" sz="1800" dirty="0"/>
          </a:p>
        </p:txBody>
      </p:sp>
      <p:sp>
        <p:nvSpPr>
          <p:cNvPr id="61" name="矩形 60"/>
          <p:cNvSpPr>
            <a:spLocks noChangeArrowheads="1"/>
          </p:cNvSpPr>
          <p:nvPr/>
        </p:nvSpPr>
        <p:spPr bwMode="auto">
          <a:xfrm>
            <a:off x="2670384" y="357188"/>
            <a:ext cx="551022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b="1" dirty="0">
                <a:solidFill>
                  <a:srgbClr val="FF0000"/>
                </a:solidFill>
              </a:rPr>
              <a:t>原因：增量元素不互质，则小增量可能根本不起作用。</a:t>
            </a:r>
            <a:endParaRPr lang="zh-CN" altLang="en-US" sz="1800"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dissolve">
                                      <p:cBhvr>
                                        <p:cTn id="7" dur="500"/>
                                        <p:tgtEl>
                                          <p:spTgt spid="54"/>
                                        </p:tgtEl>
                                      </p:cBhvr>
                                    </p:animEffect>
                                  </p:childTnLst>
                                </p:cTn>
                              </p:par>
                              <p:par>
                                <p:cTn id="8" presetID="9" presetClass="entr" presetSubtype="0" fill="hold" nodeType="with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dissolve">
                                      <p:cBhvr>
                                        <p:cTn id="10" dur="500"/>
                                        <p:tgtEl>
                                          <p:spTgt spid="53"/>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dissolve">
                                      <p:cBhvr>
                                        <p:cTn id="15" dur="500"/>
                                        <p:tgtEl>
                                          <p:spTgt spid="56"/>
                                        </p:tgtEl>
                                      </p:cBhvr>
                                    </p:animEffect>
                                  </p:childTnLst>
                                </p:cTn>
                              </p:par>
                              <p:par>
                                <p:cTn id="16" presetID="9" presetClass="entr" presetSubtype="0" fill="hold" nodeType="withEffect">
                                  <p:stCondLst>
                                    <p:cond delay="0"/>
                                  </p:stCondLst>
                                  <p:childTnLst>
                                    <p:set>
                                      <p:cBhvr>
                                        <p:cTn id="17" dur="1" fill="hold">
                                          <p:stCondLst>
                                            <p:cond delay="0"/>
                                          </p:stCondLst>
                                        </p:cTn>
                                        <p:tgtEl>
                                          <p:spTgt spid="55"/>
                                        </p:tgtEl>
                                        <p:attrNameLst>
                                          <p:attrName>style.visibility</p:attrName>
                                        </p:attrNameLst>
                                      </p:cBhvr>
                                      <p:to>
                                        <p:strVal val="visible"/>
                                      </p:to>
                                    </p:set>
                                    <p:animEffect transition="in" filter="dissolve">
                                      <p:cBhvr>
                                        <p:cTn id="18" dur="500"/>
                                        <p:tgtEl>
                                          <p:spTgt spid="55"/>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grpId="0" nodeType="click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dissolve">
                                      <p:cBhvr>
                                        <p:cTn id="23" dur="500"/>
                                        <p:tgtEl>
                                          <p:spTgt spid="58"/>
                                        </p:tgtEl>
                                      </p:cBhvr>
                                    </p:animEffect>
                                  </p:childTnLst>
                                </p:cTn>
                              </p:par>
                              <p:par>
                                <p:cTn id="24" presetID="9" presetClass="entr" presetSubtype="0" fill="hold" nodeType="withEffect">
                                  <p:stCondLst>
                                    <p:cond delay="0"/>
                                  </p:stCondLst>
                                  <p:childTnLst>
                                    <p:set>
                                      <p:cBhvr>
                                        <p:cTn id="25" dur="1" fill="hold">
                                          <p:stCondLst>
                                            <p:cond delay="0"/>
                                          </p:stCondLst>
                                        </p:cTn>
                                        <p:tgtEl>
                                          <p:spTgt spid="57"/>
                                        </p:tgtEl>
                                        <p:attrNameLst>
                                          <p:attrName>style.visibility</p:attrName>
                                        </p:attrNameLst>
                                      </p:cBhvr>
                                      <p:to>
                                        <p:strVal val="visible"/>
                                      </p:to>
                                    </p:set>
                                    <p:animEffect transition="in" filter="dissolve">
                                      <p:cBhvr>
                                        <p:cTn id="26" dur="500"/>
                                        <p:tgtEl>
                                          <p:spTgt spid="57"/>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grpId="0" nodeType="clickEffect">
                                  <p:stCondLst>
                                    <p:cond delay="0"/>
                                  </p:stCondLst>
                                  <p:childTnLst>
                                    <p:set>
                                      <p:cBhvr>
                                        <p:cTn id="30" dur="1" fill="hold">
                                          <p:stCondLst>
                                            <p:cond delay="0"/>
                                          </p:stCondLst>
                                        </p:cTn>
                                        <p:tgtEl>
                                          <p:spTgt spid="60"/>
                                        </p:tgtEl>
                                        <p:attrNameLst>
                                          <p:attrName>style.visibility</p:attrName>
                                        </p:attrNameLst>
                                      </p:cBhvr>
                                      <p:to>
                                        <p:strVal val="visible"/>
                                      </p:to>
                                    </p:set>
                                    <p:animEffect transition="in" filter="dissolve">
                                      <p:cBhvr>
                                        <p:cTn id="31" dur="500"/>
                                        <p:tgtEl>
                                          <p:spTgt spid="60"/>
                                        </p:tgtEl>
                                      </p:cBhvr>
                                    </p:animEffect>
                                  </p:childTnLst>
                                </p:cTn>
                              </p:par>
                              <p:par>
                                <p:cTn id="32" presetID="9" presetClass="entr" presetSubtype="0" fill="hold" nodeType="withEffect">
                                  <p:stCondLst>
                                    <p:cond delay="0"/>
                                  </p:stCondLst>
                                  <p:childTnLst>
                                    <p:set>
                                      <p:cBhvr>
                                        <p:cTn id="33" dur="1" fill="hold">
                                          <p:stCondLst>
                                            <p:cond delay="0"/>
                                          </p:stCondLst>
                                        </p:cTn>
                                        <p:tgtEl>
                                          <p:spTgt spid="59"/>
                                        </p:tgtEl>
                                        <p:attrNameLst>
                                          <p:attrName>style.visibility</p:attrName>
                                        </p:attrNameLst>
                                      </p:cBhvr>
                                      <p:to>
                                        <p:strVal val="visible"/>
                                      </p:to>
                                    </p:set>
                                    <p:animEffect transition="in" filter="dissolve">
                                      <p:cBhvr>
                                        <p:cTn id="34" dur="500"/>
                                        <p:tgtEl>
                                          <p:spTgt spid="59"/>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dissolve">
                                      <p:cBhvr>
                                        <p:cTn id="39"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6" grpId="0"/>
      <p:bldP spid="58" grpId="0"/>
      <p:bldP spid="60" grpId="0"/>
      <p:bldP spid="61"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eaLnBrk="1" hangingPunct="1">
              <a:lnSpc>
                <a:spcPct val="130000"/>
              </a:lnSpc>
              <a:spcBef>
                <a:spcPct val="0"/>
              </a:spcBef>
              <a:buClr>
                <a:schemeClr val="accent1"/>
              </a:buClr>
              <a:buFont typeface="Wingdings" panose="05000000000000000000" pitchFamily="2" charset="2"/>
              <a:buChar char="p"/>
            </a:pPr>
            <a:r>
              <a:rPr lang="en-US" altLang="zh-CN" sz="2100" dirty="0" smtClean="0"/>
              <a:t>Hibbard </a:t>
            </a:r>
            <a:r>
              <a:rPr lang="zh-CN" altLang="en-US" sz="2100" dirty="0"/>
              <a:t>增量序列</a:t>
            </a:r>
            <a:endParaRPr lang="zh-CN" altLang="en-US" sz="2100" dirty="0"/>
          </a:p>
          <a:p>
            <a:pPr lvl="1">
              <a:lnSpc>
                <a:spcPct val="130000"/>
              </a:lnSpc>
              <a:spcBef>
                <a:spcPct val="0"/>
              </a:spcBef>
              <a:buClr>
                <a:schemeClr val="accent1"/>
              </a:buClr>
              <a:buFont typeface="Wingdings" panose="05000000000000000000" pitchFamily="2" charset="2"/>
              <a:buChar char="Ø"/>
            </a:pPr>
            <a:r>
              <a:rPr lang="en-US" altLang="zh-CN" sz="2100" dirty="0" err="1">
                <a:solidFill>
                  <a:srgbClr val="FF0000"/>
                </a:solidFill>
              </a:rPr>
              <a:t>D</a:t>
            </a:r>
            <a:r>
              <a:rPr lang="en-US" altLang="zh-CN" sz="2100" baseline="-25000" dirty="0" err="1">
                <a:solidFill>
                  <a:srgbClr val="FF0000"/>
                </a:solidFill>
              </a:rPr>
              <a:t>k</a:t>
            </a:r>
            <a:r>
              <a:rPr lang="en-US" altLang="zh-CN" sz="2100" dirty="0">
                <a:solidFill>
                  <a:srgbClr val="FF0000"/>
                </a:solidFill>
              </a:rPr>
              <a:t> = 2</a:t>
            </a:r>
            <a:r>
              <a:rPr lang="en-US" altLang="zh-CN" sz="2100" baseline="30000" dirty="0">
                <a:solidFill>
                  <a:srgbClr val="FF0000"/>
                </a:solidFill>
              </a:rPr>
              <a:t>k</a:t>
            </a:r>
            <a:r>
              <a:rPr lang="en-US" altLang="zh-CN" sz="2100" dirty="0">
                <a:solidFill>
                  <a:srgbClr val="FF0000"/>
                </a:solidFill>
              </a:rPr>
              <a:t> – 1</a:t>
            </a:r>
            <a:r>
              <a:rPr lang="en-US" altLang="zh-CN" sz="2100" dirty="0"/>
              <a:t> </a:t>
            </a:r>
            <a:r>
              <a:rPr lang="en-US" altLang="zh-CN" sz="2100" dirty="0">
                <a:solidFill>
                  <a:srgbClr val="FF0000"/>
                </a:solidFill>
              </a:rPr>
              <a:t>— </a:t>
            </a:r>
            <a:r>
              <a:rPr lang="zh-CN" altLang="en-US" sz="2100" dirty="0">
                <a:solidFill>
                  <a:srgbClr val="FF0000"/>
                </a:solidFill>
              </a:rPr>
              <a:t>相邻元素互质</a:t>
            </a:r>
            <a:endParaRPr lang="zh-CN" altLang="en-US" sz="2100" i="1" dirty="0">
              <a:solidFill>
                <a:srgbClr val="FF0000"/>
              </a:solidFill>
            </a:endParaRPr>
          </a:p>
          <a:p>
            <a:pPr lvl="1">
              <a:lnSpc>
                <a:spcPct val="130000"/>
              </a:lnSpc>
              <a:spcBef>
                <a:spcPct val="0"/>
              </a:spcBef>
              <a:buClr>
                <a:schemeClr val="accent1"/>
              </a:buClr>
              <a:buFont typeface="Wingdings" panose="05000000000000000000" pitchFamily="2" charset="2"/>
              <a:buChar char="Ø"/>
            </a:pPr>
            <a:r>
              <a:rPr lang="zh-CN" altLang="en-US" sz="2100" dirty="0" smtClean="0">
                <a:solidFill>
                  <a:srgbClr val="00194C"/>
                </a:solidFill>
                <a:latin typeface="华文楷体" panose="02010600040101010101" pitchFamily="2" charset="-122"/>
                <a:ea typeface="华文楷体" panose="02010600040101010101" pitchFamily="2" charset="-122"/>
              </a:rPr>
              <a:t>最坏情况： </a:t>
            </a:r>
            <a:r>
              <a:rPr lang="en-US" altLang="zh-CN" sz="2100" dirty="0" smtClean="0">
                <a:solidFill>
                  <a:srgbClr val="00194C"/>
                </a:solidFill>
                <a:latin typeface="华文楷体" panose="02010600040101010101" pitchFamily="2" charset="-122"/>
                <a:ea typeface="华文楷体" panose="02010600040101010101" pitchFamily="2" charset="-122"/>
              </a:rPr>
              <a:t>T = O ( N</a:t>
            </a:r>
            <a:r>
              <a:rPr lang="en-US" altLang="zh-CN" sz="2100" baseline="30000" dirty="0" smtClean="0">
                <a:solidFill>
                  <a:srgbClr val="00194C"/>
                </a:solidFill>
                <a:latin typeface="华文楷体" panose="02010600040101010101" pitchFamily="2" charset="-122"/>
                <a:ea typeface="华文楷体" panose="02010600040101010101" pitchFamily="2" charset="-122"/>
              </a:rPr>
              <a:t>3/2</a:t>
            </a:r>
            <a:r>
              <a:rPr lang="en-US" altLang="zh-CN" sz="2100" dirty="0" smtClean="0">
                <a:solidFill>
                  <a:srgbClr val="00194C"/>
                </a:solidFill>
                <a:latin typeface="华文楷体" panose="02010600040101010101" pitchFamily="2" charset="-122"/>
                <a:ea typeface="华文楷体" panose="02010600040101010101" pitchFamily="2" charset="-122"/>
              </a:rPr>
              <a:t>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lvl="1">
              <a:lnSpc>
                <a:spcPct val="130000"/>
              </a:lnSpc>
              <a:spcBef>
                <a:spcPct val="0"/>
              </a:spcBef>
              <a:buClr>
                <a:schemeClr val="accent1"/>
              </a:buClr>
              <a:buFont typeface="Wingdings" panose="05000000000000000000" pitchFamily="2" charset="2"/>
              <a:buChar char="Ø"/>
            </a:pPr>
            <a:r>
              <a:rPr lang="zh-CN" altLang="en-US" sz="2100" dirty="0" smtClean="0">
                <a:solidFill>
                  <a:srgbClr val="00194C"/>
                </a:solidFill>
                <a:latin typeface="华文楷体" panose="02010600040101010101" pitchFamily="2" charset="-122"/>
                <a:ea typeface="华文楷体" panose="02010600040101010101" pitchFamily="2" charset="-122"/>
              </a:rPr>
              <a:t>猜想：</a:t>
            </a:r>
            <a:r>
              <a:rPr lang="en-US" altLang="zh-CN" sz="2100" dirty="0" err="1" smtClean="0">
                <a:solidFill>
                  <a:srgbClr val="00194C"/>
                </a:solidFill>
                <a:latin typeface="华文楷体" panose="02010600040101010101" pitchFamily="2" charset="-122"/>
                <a:ea typeface="华文楷体" panose="02010600040101010101" pitchFamily="2" charset="-122"/>
              </a:rPr>
              <a:t>T</a:t>
            </a:r>
            <a:r>
              <a:rPr lang="en-US" altLang="zh-CN" sz="2100" baseline="-25000" dirty="0" err="1" smtClean="0">
                <a:solidFill>
                  <a:srgbClr val="00194C"/>
                </a:solidFill>
                <a:latin typeface="华文楷体" panose="02010600040101010101" pitchFamily="2" charset="-122"/>
                <a:ea typeface="华文楷体" panose="02010600040101010101" pitchFamily="2" charset="-122"/>
              </a:rPr>
              <a:t>avg</a:t>
            </a:r>
            <a:r>
              <a:rPr lang="en-US" altLang="zh-CN" sz="2100" dirty="0" smtClean="0">
                <a:solidFill>
                  <a:srgbClr val="00194C"/>
                </a:solidFill>
                <a:latin typeface="华文楷体" panose="02010600040101010101" pitchFamily="2" charset="-122"/>
                <a:ea typeface="华文楷体" panose="02010600040101010101" pitchFamily="2" charset="-122"/>
              </a:rPr>
              <a:t> = O ( N</a:t>
            </a:r>
            <a:r>
              <a:rPr lang="en-US" altLang="zh-CN" sz="2100" baseline="30000" dirty="0" smtClean="0">
                <a:solidFill>
                  <a:srgbClr val="00194C"/>
                </a:solidFill>
                <a:latin typeface="华文楷体" panose="02010600040101010101" pitchFamily="2" charset="-122"/>
                <a:ea typeface="华文楷体" panose="02010600040101010101" pitchFamily="2" charset="-122"/>
              </a:rPr>
              <a:t>5/4</a:t>
            </a:r>
            <a:r>
              <a:rPr lang="en-US" altLang="zh-CN" sz="2100" dirty="0" smtClean="0">
                <a:solidFill>
                  <a:srgbClr val="00194C"/>
                </a:solidFill>
                <a:latin typeface="华文楷体" panose="02010600040101010101" pitchFamily="2" charset="-122"/>
                <a:ea typeface="华文楷体" panose="02010600040101010101" pitchFamily="2" charset="-122"/>
              </a:rPr>
              <a:t> )</a:t>
            </a:r>
            <a:endParaRPr lang="en-US" altLang="zh-CN" sz="2100" dirty="0" smtClean="0">
              <a:solidFill>
                <a:srgbClr val="00194C"/>
              </a:solidFill>
              <a:latin typeface="华文楷体" panose="02010600040101010101" pitchFamily="2" charset="-122"/>
              <a:ea typeface="华文楷体" panose="02010600040101010101" pitchFamily="2" charset="-122"/>
            </a:endParaRPr>
          </a:p>
          <a:p>
            <a:pPr eaLnBrk="1" hangingPunct="1">
              <a:lnSpc>
                <a:spcPct val="130000"/>
              </a:lnSpc>
              <a:spcBef>
                <a:spcPct val="0"/>
              </a:spcBef>
              <a:buClr>
                <a:schemeClr val="accent1"/>
              </a:buClr>
              <a:buFont typeface="Wingdings" panose="05000000000000000000" pitchFamily="2" charset="2"/>
              <a:buChar char="p"/>
            </a:pPr>
            <a:r>
              <a:rPr lang="zh-CN" altLang="en-US" sz="2100" dirty="0" smtClean="0"/>
              <a:t>稳定性</a:t>
            </a:r>
            <a:endParaRPr lang="en-US" altLang="zh-CN" sz="2100" dirty="0"/>
          </a:p>
          <a:p>
            <a:pPr lvl="1">
              <a:lnSpc>
                <a:spcPct val="130000"/>
              </a:lnSpc>
              <a:spcBef>
                <a:spcPct val="0"/>
              </a:spcBef>
              <a:buClr>
                <a:schemeClr val="accent1"/>
              </a:buClr>
              <a:buFont typeface="Wingdings" panose="05000000000000000000" pitchFamily="2" charset="2"/>
              <a:buChar char="Ø"/>
            </a:pPr>
            <a:r>
              <a:rPr lang="zh-CN" altLang="en-US" sz="2100" dirty="0">
                <a:solidFill>
                  <a:srgbClr val="FF0000"/>
                </a:solidFill>
              </a:rPr>
              <a:t>希尔排序法是不稳定的排序方法。 </a:t>
            </a:r>
            <a:endParaRPr lang="en-US" altLang="zh-CN" sz="2100" dirty="0">
              <a:solidFill>
                <a:srgbClr val="FF0000"/>
              </a:solidFill>
            </a:endParaRPr>
          </a:p>
          <a:p>
            <a:pPr lvl="2">
              <a:lnSpc>
                <a:spcPct val="130000"/>
              </a:lnSpc>
              <a:spcBef>
                <a:spcPct val="0"/>
              </a:spcBef>
            </a:pPr>
            <a:r>
              <a:rPr lang="zh-CN" altLang="en-US" sz="2000" dirty="0"/>
              <a:t>例：待排序序列</a:t>
            </a:r>
            <a:r>
              <a:rPr lang="en-US" altLang="zh-CN" sz="2000" dirty="0"/>
              <a:t>{</a:t>
            </a:r>
            <a:r>
              <a:rPr lang="en-US" altLang="zh-CN" sz="2000" u="sng" dirty="0"/>
              <a:t>2</a:t>
            </a:r>
            <a:r>
              <a:rPr lang="zh-CN" altLang="en-US" sz="2000" dirty="0"/>
              <a:t>，</a:t>
            </a:r>
            <a:r>
              <a:rPr lang="en-US" altLang="zh-CN" sz="2000" dirty="0"/>
              <a:t>4</a:t>
            </a:r>
            <a:r>
              <a:rPr lang="zh-CN" altLang="en-US" sz="2000" dirty="0"/>
              <a:t>，</a:t>
            </a:r>
            <a:r>
              <a:rPr lang="en-US" altLang="zh-CN" sz="2000" dirty="0"/>
              <a:t>1</a:t>
            </a:r>
            <a:r>
              <a:rPr lang="zh-CN" altLang="en-US" sz="2000" dirty="0"/>
              <a:t>，</a:t>
            </a:r>
            <a:r>
              <a:rPr lang="en-US" altLang="zh-CN" sz="2000" dirty="0"/>
              <a:t>2}</a:t>
            </a:r>
            <a:r>
              <a:rPr lang="zh-CN" altLang="en-US" sz="2000" dirty="0"/>
              <a:t>，采用希尔排序，设</a:t>
            </a:r>
            <a:r>
              <a:rPr lang="en-US" altLang="zh-CN" sz="2000" dirty="0" err="1"/>
              <a:t>dk</a:t>
            </a:r>
            <a:r>
              <a:rPr lang="en-US" altLang="zh-CN" sz="2000" dirty="0"/>
              <a:t>=2</a:t>
            </a:r>
            <a:r>
              <a:rPr lang="zh-CN" altLang="en-US" sz="2000" dirty="0" smtClean="0"/>
              <a:t>，</a:t>
            </a:r>
            <a:endParaRPr lang="en-US" altLang="zh-CN" sz="2000" dirty="0" smtClean="0"/>
          </a:p>
          <a:p>
            <a:pPr lvl="2">
              <a:lnSpc>
                <a:spcPct val="130000"/>
              </a:lnSpc>
              <a:spcBef>
                <a:spcPct val="0"/>
              </a:spcBef>
            </a:pPr>
            <a:r>
              <a:rPr lang="en-US" altLang="zh-CN" sz="2000" dirty="0"/>
              <a:t> </a:t>
            </a:r>
            <a:r>
              <a:rPr lang="en-US" altLang="zh-CN" sz="2000" dirty="0" smtClean="0"/>
              <a:t>   </a:t>
            </a:r>
            <a:r>
              <a:rPr lang="zh-CN" altLang="en-US" sz="2000" dirty="0" smtClean="0"/>
              <a:t>    </a:t>
            </a:r>
            <a:r>
              <a:rPr lang="zh-CN" altLang="en-US" sz="2000" dirty="0"/>
              <a:t>排序结果为</a:t>
            </a:r>
            <a:r>
              <a:rPr lang="en-US" altLang="zh-CN" sz="2000" dirty="0"/>
              <a:t>{1</a:t>
            </a:r>
            <a:r>
              <a:rPr lang="zh-CN" altLang="en-US" sz="2000" dirty="0"/>
              <a:t>，</a:t>
            </a:r>
            <a:r>
              <a:rPr lang="en-US" altLang="zh-CN" sz="2000" dirty="0"/>
              <a:t>2</a:t>
            </a:r>
            <a:r>
              <a:rPr lang="zh-CN" altLang="en-US" sz="2000" dirty="0"/>
              <a:t>，</a:t>
            </a:r>
            <a:r>
              <a:rPr lang="en-US" altLang="zh-CN" sz="2000" u="sng" dirty="0"/>
              <a:t>2</a:t>
            </a:r>
            <a:r>
              <a:rPr lang="zh-CN" altLang="en-US" sz="2000" dirty="0"/>
              <a:t>，</a:t>
            </a:r>
            <a:r>
              <a:rPr lang="en-US" altLang="zh-CN" sz="2000" dirty="0"/>
              <a:t>4</a:t>
            </a:r>
            <a:r>
              <a:rPr lang="en-US" altLang="zh-CN" sz="2000" dirty="0" smtClean="0"/>
              <a:t>}</a:t>
            </a:r>
            <a:endParaRPr lang="en-US" altLang="zh-CN" sz="2400" dirty="0" smtClean="0"/>
          </a:p>
          <a:p>
            <a:pPr marL="0" lvl="2" indent="135255"/>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9.2 </a:t>
            </a:r>
            <a:r>
              <a:rPr lang="zh-CN" altLang="en-US" dirty="0" smtClean="0"/>
              <a:t>插入排序</a:t>
            </a:r>
            <a:endParaRPr lang="zh-CN" altLang="en-US"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9.3.1  </a:t>
            </a:r>
            <a:r>
              <a:rPr lang="zh-CN" altLang="en-US" dirty="0"/>
              <a:t>冒泡排序</a:t>
            </a:r>
            <a:endParaRPr lang="zh-CN" altLang="en-US" dirty="0"/>
          </a:p>
          <a:p>
            <a:pPr marL="0" lvl="2" indent="135255"/>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a:t>快速</a:t>
            </a:r>
            <a:r>
              <a:rPr lang="zh-CN" altLang="en-US" dirty="0" smtClean="0"/>
              <a:t>排序</a:t>
            </a:r>
            <a:endParaRPr lang="zh-CN" altLang="en-US" dirty="0"/>
          </a:p>
        </p:txBody>
      </p:sp>
      <p:graphicFrame>
        <p:nvGraphicFramePr>
          <p:cNvPr id="4" name="Object 7"/>
          <p:cNvGraphicFramePr>
            <a:graphicFrameLocks noChangeAspect="1"/>
          </p:cNvGraphicFramePr>
          <p:nvPr/>
        </p:nvGraphicFramePr>
        <p:xfrm>
          <a:off x="2560157" y="593325"/>
          <a:ext cx="4319588" cy="4267200"/>
        </p:xfrm>
        <a:graphic>
          <a:graphicData uri="http://schemas.openxmlformats.org/presentationml/2006/ole">
            <mc:AlternateContent xmlns:mc="http://schemas.openxmlformats.org/markup-compatibility/2006">
              <mc:Choice xmlns:v="urn:schemas-microsoft-com:vml" Requires="v">
                <p:oleObj spid="_x0000_s23567" name="VISIO" r:id="rId1" imgW="3238500" imgH="5684520" progId="Visio.Drawing.4">
                  <p:embed/>
                </p:oleObj>
              </mc:Choice>
              <mc:Fallback>
                <p:oleObj name="VISIO" r:id="rId1" imgW="3238500" imgH="5684520" progId="Visio.Drawing.4">
                  <p:embed/>
                  <p:pic>
                    <p:nvPicPr>
                      <p:cNvPr id="0" name="Object 7"/>
                      <p:cNvPicPr>
                        <a:picLocks noChangeAspect="1" noChangeArrowheads="1"/>
                      </p:cNvPicPr>
                      <p:nvPr/>
                    </p:nvPicPr>
                    <p:blipFill>
                      <a:blip r:embed="rId2">
                        <a:extLst>
                          <a:ext uri="{28A0092B-C50C-407E-A947-70E740481C1C}">
                            <a14:useLocalDpi xmlns:a14="http://schemas.microsoft.com/office/drawing/2010/main" val="0"/>
                          </a:ext>
                        </a:extLst>
                      </a:blip>
                      <a:srcRect b="43704"/>
                      <a:stretch>
                        <a:fillRect/>
                      </a:stretch>
                    </p:blipFill>
                    <p:spPr bwMode="auto">
                      <a:xfrm>
                        <a:off x="2560157" y="593325"/>
                        <a:ext cx="4319588" cy="426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9.3</a:t>
            </a:r>
            <a:r>
              <a:rPr lang="zh-CN" altLang="en-US" dirty="0"/>
              <a:t>快速排序</a:t>
            </a:r>
            <a:endParaRPr lang="zh-CN" altLang="en-US" dirty="0"/>
          </a:p>
        </p:txBody>
      </p:sp>
      <p:pic>
        <p:nvPicPr>
          <p:cNvPr id="5"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389635" y="593133"/>
            <a:ext cx="6265069" cy="4142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indent="135255"/>
            <a:r>
              <a:rPr lang="zh-CN" altLang="en-US" sz="2400" dirty="0" smtClean="0"/>
              <a:t>算法分析</a:t>
            </a:r>
            <a:r>
              <a:rPr lang="zh-CN" altLang="en-US" sz="2400" dirty="0"/>
              <a:t>：最坏情况下，待排序记录按关键字的逆序进行排列，此时，每一趟冒泡排序需进行</a:t>
            </a:r>
            <a:r>
              <a:rPr lang="en-US" altLang="zh-CN" sz="2400" dirty="0" err="1"/>
              <a:t>i</a:t>
            </a:r>
            <a:r>
              <a:rPr lang="zh-CN" altLang="en-US" sz="2400" dirty="0"/>
              <a:t>次比较，</a:t>
            </a:r>
            <a:r>
              <a:rPr lang="en-US" altLang="zh-CN" sz="2400" dirty="0"/>
              <a:t>3i</a:t>
            </a:r>
            <a:r>
              <a:rPr lang="zh-CN" altLang="en-US" sz="2400" dirty="0"/>
              <a:t>次移动。经过</a:t>
            </a:r>
            <a:r>
              <a:rPr lang="en-US" altLang="zh-CN" sz="2400" dirty="0"/>
              <a:t>n-1</a:t>
            </a:r>
            <a:r>
              <a:rPr lang="zh-CN" altLang="en-US" sz="2400" dirty="0"/>
              <a:t>趟冒泡排序后，总的比较次数为∑</a:t>
            </a:r>
            <a:r>
              <a:rPr lang="en-US" altLang="zh-CN" sz="2400" dirty="0"/>
              <a:t>[DD(]n-1[]</a:t>
            </a:r>
            <a:r>
              <a:rPr lang="en-US" altLang="zh-CN" sz="2400" dirty="0" err="1"/>
              <a:t>i</a:t>
            </a:r>
            <a:r>
              <a:rPr lang="en-US" altLang="zh-CN" sz="2400" dirty="0"/>
              <a:t>=1[DD)]</a:t>
            </a:r>
            <a:r>
              <a:rPr lang="en-US" altLang="zh-CN" sz="2400" dirty="0" err="1"/>
              <a:t>i</a:t>
            </a:r>
            <a:r>
              <a:rPr lang="en-US" altLang="zh-CN" sz="2400" dirty="0"/>
              <a:t>=n(n-1)/2, </a:t>
            </a:r>
            <a:r>
              <a:rPr lang="zh-CN" altLang="en-US" sz="2400" dirty="0"/>
              <a:t>总的移动次数为</a:t>
            </a:r>
            <a:r>
              <a:rPr lang="en-US" altLang="zh-CN" sz="2400" dirty="0"/>
              <a:t>3n(n-1)/2</a:t>
            </a:r>
            <a:r>
              <a:rPr lang="zh-CN" altLang="en-US" sz="2400" dirty="0"/>
              <a:t>次，因此该算法的</a:t>
            </a:r>
            <a:r>
              <a:rPr lang="zh-CN" altLang="en-US" sz="2400" dirty="0">
                <a:solidFill>
                  <a:srgbClr val="FF0000"/>
                </a:solidFill>
              </a:rPr>
              <a:t>时间复杂度为</a:t>
            </a:r>
            <a:r>
              <a:rPr lang="en-US" altLang="zh-CN" sz="2400" dirty="0">
                <a:solidFill>
                  <a:srgbClr val="FF0000"/>
                </a:solidFill>
              </a:rPr>
              <a:t>O(n</a:t>
            </a:r>
            <a:r>
              <a:rPr lang="en-US" altLang="zh-CN" sz="2400" baseline="30000" dirty="0">
                <a:solidFill>
                  <a:srgbClr val="FF0000"/>
                </a:solidFill>
              </a:rPr>
              <a:t>2</a:t>
            </a:r>
            <a:r>
              <a:rPr lang="en-US" altLang="zh-CN" sz="2400" dirty="0">
                <a:solidFill>
                  <a:srgbClr val="FF0000"/>
                </a:solidFill>
              </a:rPr>
              <a:t>)</a:t>
            </a:r>
            <a:r>
              <a:rPr lang="zh-CN" altLang="en-US" sz="2400" dirty="0"/>
              <a:t>，</a:t>
            </a:r>
            <a:r>
              <a:rPr lang="zh-CN" altLang="en-US" sz="2400" dirty="0">
                <a:solidFill>
                  <a:srgbClr val="FF0000"/>
                </a:solidFill>
              </a:rPr>
              <a:t>空间复杂度为</a:t>
            </a:r>
            <a:r>
              <a:rPr lang="en-US" altLang="zh-CN" sz="2400" dirty="0">
                <a:solidFill>
                  <a:srgbClr val="FF0000"/>
                </a:solidFill>
              </a:rPr>
              <a:t>O(1)</a:t>
            </a:r>
            <a:r>
              <a:rPr lang="zh-CN" altLang="en-US" sz="2400" dirty="0"/>
              <a:t>。</a:t>
            </a:r>
            <a:endParaRPr lang="en-US" altLang="zh-CN" sz="2400" dirty="0"/>
          </a:p>
          <a:p>
            <a:pPr marL="0" lvl="2" indent="135255">
              <a:lnSpc>
                <a:spcPct val="130000"/>
              </a:lnSpc>
              <a:spcBef>
                <a:spcPct val="0"/>
              </a:spcBef>
            </a:pPr>
            <a:r>
              <a:rPr lang="en-US" altLang="zh-CN" sz="2400" dirty="0"/>
              <a:t>    </a:t>
            </a:r>
            <a:r>
              <a:rPr lang="zh-CN" altLang="en-US" sz="2400" dirty="0" smtClean="0"/>
              <a:t>冒泡排序</a:t>
            </a:r>
            <a:r>
              <a:rPr lang="zh-CN" altLang="en-US" sz="2400" dirty="0"/>
              <a:t>法是一种</a:t>
            </a:r>
            <a:r>
              <a:rPr lang="zh-CN" altLang="en-US" sz="2400" dirty="0">
                <a:solidFill>
                  <a:srgbClr val="FF0000"/>
                </a:solidFill>
              </a:rPr>
              <a:t>稳定</a:t>
            </a:r>
            <a:r>
              <a:rPr lang="zh-CN" altLang="en-US" sz="2400" dirty="0"/>
              <a:t>的排序方法。 </a:t>
            </a:r>
            <a:endParaRPr lang="en-US" altLang="zh-CN" sz="2400" dirty="0" smtClean="0"/>
          </a:p>
          <a:p>
            <a:pPr marL="0" lvl="2" indent="135255"/>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smtClean="0"/>
              <a:t>快速</a:t>
            </a:r>
            <a:r>
              <a:rPr lang="zh-CN" altLang="en-US" dirty="0"/>
              <a:t>排序</a:t>
            </a:r>
            <a:endParaRPr lang="zh-CN" alt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9.3.2  </a:t>
            </a:r>
            <a:r>
              <a:rPr lang="zh-CN" altLang="en-US" dirty="0" smtClean="0"/>
              <a:t>快速排序</a:t>
            </a:r>
            <a:endParaRPr lang="en-US" altLang="zh-CN" dirty="0" smtClean="0"/>
          </a:p>
          <a:p>
            <a:pPr marL="205105" indent="-205105"/>
            <a:r>
              <a:rPr lang="zh-CN" altLang="en-US" dirty="0" smtClean="0"/>
              <a:t>算法思想：分而治之</a:t>
            </a:r>
            <a:endParaRPr lang="zh-CN" altLang="en-US" dirty="0"/>
          </a:p>
          <a:p>
            <a:pPr marL="0" lvl="2" indent="135255"/>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smtClean="0"/>
              <a:t>快速</a:t>
            </a:r>
            <a:r>
              <a:rPr lang="zh-CN" altLang="en-US" dirty="0"/>
              <a:t>排序</a:t>
            </a:r>
            <a:endParaRPr lang="zh-CN" altLang="en-US" dirty="0"/>
          </a:p>
        </p:txBody>
      </p:sp>
      <p:sp>
        <p:nvSpPr>
          <p:cNvPr id="4" name="Oval 16"/>
          <p:cNvSpPr>
            <a:spLocks noChangeArrowheads="1"/>
          </p:cNvSpPr>
          <p:nvPr/>
        </p:nvSpPr>
        <p:spPr bwMode="auto">
          <a:xfrm>
            <a:off x="2736056" y="1869281"/>
            <a:ext cx="323850" cy="323850"/>
          </a:xfrm>
          <a:prstGeom prst="ellipse">
            <a:avLst/>
          </a:prstGeom>
          <a:solidFill>
            <a:srgbClr val="FF0000">
              <a:alpha val="72156"/>
            </a:srgbClr>
          </a:solidFill>
          <a:ln w="9525" algn="ctr">
            <a:solidFill>
              <a:schemeClr val="folHlink"/>
            </a:solidFill>
            <a:round/>
          </a:ln>
          <a:effectLst>
            <a:outerShdw dist="107763" dir="8100000" algn="ctr" rotWithShape="0">
              <a:schemeClr val="bg2">
                <a:alpha val="50000"/>
              </a:schemeClr>
            </a:outerShdw>
          </a:effec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a:p>
        </p:txBody>
      </p:sp>
      <p:sp>
        <p:nvSpPr>
          <p:cNvPr id="5" name="Line 4"/>
          <p:cNvSpPr>
            <a:spLocks noChangeShapeType="1"/>
          </p:cNvSpPr>
          <p:nvPr/>
        </p:nvSpPr>
        <p:spPr bwMode="auto">
          <a:xfrm>
            <a:off x="3438525" y="2247900"/>
            <a:ext cx="863204" cy="0"/>
          </a:xfrm>
          <a:prstGeom prst="line">
            <a:avLst/>
          </a:prstGeom>
          <a:noFill/>
          <a:ln w="57150">
            <a:solidFill>
              <a:schemeClr val="accent2"/>
            </a:solidFill>
            <a:prstDash val="dashDot"/>
            <a:round/>
            <a:tailEnd type="triangle" w="med" len="med"/>
          </a:ln>
          <a:extLst>
            <a:ext uri="{909E8E84-426E-40DD-AFC4-6F175D3DCCD1}">
              <a14:hiddenFill xmlns:a14="http://schemas.microsoft.com/office/drawing/2010/main">
                <a:noFill/>
              </a14:hiddenFill>
            </a:ext>
          </a:extLst>
        </p:spPr>
        <p:txBody>
          <a:bodyPr wrap="none" anchor="ctr"/>
          <a:lstStyle/>
          <a:p>
            <a:endParaRPr lang="zh-CN" altLang="en-US" sz="1015"/>
          </a:p>
        </p:txBody>
      </p:sp>
      <p:sp>
        <p:nvSpPr>
          <p:cNvPr id="6" name="Oval 5"/>
          <p:cNvSpPr>
            <a:spLocks noChangeArrowheads="1"/>
          </p:cNvSpPr>
          <p:nvPr/>
        </p:nvSpPr>
        <p:spPr bwMode="auto">
          <a:xfrm>
            <a:off x="4301729" y="1762125"/>
            <a:ext cx="971550" cy="862013"/>
          </a:xfrm>
          <a:prstGeom prst="ellipse">
            <a:avLst/>
          </a:prstGeom>
          <a:solidFill>
            <a:srgbClr val="99FF33">
              <a:alpha val="72156"/>
            </a:srgbClr>
          </a:solidFill>
          <a:ln w="9525">
            <a:solidFill>
              <a:schemeClr val="tx1"/>
            </a:solidFill>
            <a:round/>
          </a:ln>
        </p:spPr>
        <p:txBody>
          <a:bodyPr wrap="none" anchor="ctr"/>
          <a:lstStyle>
            <a:lvl1pPr marL="457200" indent="-457200">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marL="0" indent="0" eaLnBrk="1" hangingPunct="1">
              <a:spcBef>
                <a:spcPct val="0"/>
              </a:spcBef>
              <a:buNone/>
            </a:pPr>
            <a:r>
              <a:rPr lang="en-US" altLang="zh-CN" sz="1800" dirty="0" smtClean="0"/>
              <a:t>35  14  </a:t>
            </a:r>
            <a:endParaRPr lang="en-US" altLang="zh-CN" sz="1800" dirty="0"/>
          </a:p>
          <a:p>
            <a:pPr eaLnBrk="1" hangingPunct="1">
              <a:spcBef>
                <a:spcPct val="0"/>
              </a:spcBef>
              <a:buFontTx/>
              <a:buNone/>
            </a:pPr>
            <a:r>
              <a:rPr lang="en-US" altLang="zh-CN" sz="1800" dirty="0"/>
              <a:t>40  29</a:t>
            </a:r>
            <a:endParaRPr lang="en-US" altLang="zh-CN" sz="1800" dirty="0"/>
          </a:p>
        </p:txBody>
      </p:sp>
      <p:sp>
        <p:nvSpPr>
          <p:cNvPr id="7" name="Oval 6"/>
          <p:cNvSpPr>
            <a:spLocks noChangeArrowheads="1"/>
          </p:cNvSpPr>
          <p:nvPr/>
        </p:nvSpPr>
        <p:spPr bwMode="auto">
          <a:xfrm>
            <a:off x="6030516" y="1762125"/>
            <a:ext cx="1079897" cy="862013"/>
          </a:xfrm>
          <a:prstGeom prst="ellipse">
            <a:avLst/>
          </a:prstGeom>
          <a:solidFill>
            <a:srgbClr val="99FF33">
              <a:alpha val="72156"/>
            </a:srgbClr>
          </a:solidFill>
          <a:ln w="9525">
            <a:solidFill>
              <a:schemeClr val="tx1"/>
            </a:solidFill>
            <a:round/>
          </a:ln>
        </p:spPr>
        <p:txBody>
          <a:bodyPr wrap="none" anchor="ctr"/>
          <a:lstStyle>
            <a:lvl1pPr marL="457200" indent="-457200">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62 77 55</a:t>
            </a:r>
            <a:endParaRPr lang="en-US" altLang="zh-CN" sz="1800"/>
          </a:p>
          <a:p>
            <a:pPr eaLnBrk="1" hangingPunct="1">
              <a:spcBef>
                <a:spcPct val="0"/>
              </a:spcBef>
              <a:buFontTx/>
              <a:buNone/>
            </a:pPr>
            <a:r>
              <a:rPr lang="en-US" altLang="zh-CN" sz="1800"/>
              <a:t>98 56</a:t>
            </a:r>
            <a:endParaRPr lang="en-US" altLang="zh-CN" sz="1800"/>
          </a:p>
        </p:txBody>
      </p:sp>
      <p:sp>
        <p:nvSpPr>
          <p:cNvPr id="8" name="Oval 7"/>
          <p:cNvSpPr>
            <a:spLocks noChangeArrowheads="1"/>
          </p:cNvSpPr>
          <p:nvPr/>
        </p:nvSpPr>
        <p:spPr bwMode="auto">
          <a:xfrm>
            <a:off x="5436394" y="1924050"/>
            <a:ext cx="486966" cy="485775"/>
          </a:xfrm>
          <a:prstGeom prst="ellipse">
            <a:avLst/>
          </a:prstGeom>
          <a:solidFill>
            <a:schemeClr val="hlink">
              <a:alpha val="72156"/>
            </a:schemeClr>
          </a:solidFill>
          <a:ln w="9525" algn="ctr">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48</a:t>
            </a:r>
            <a:endParaRPr lang="en-US" altLang="zh-CN" sz="1800" dirty="0"/>
          </a:p>
        </p:txBody>
      </p:sp>
      <p:sp>
        <p:nvSpPr>
          <p:cNvPr id="9" name="Line 9"/>
          <p:cNvSpPr>
            <a:spLocks noChangeShapeType="1"/>
          </p:cNvSpPr>
          <p:nvPr/>
        </p:nvSpPr>
        <p:spPr bwMode="auto">
          <a:xfrm flipH="1">
            <a:off x="5706666" y="2463404"/>
            <a:ext cx="0" cy="539353"/>
          </a:xfrm>
          <a:prstGeom prst="line">
            <a:avLst/>
          </a:prstGeom>
          <a:noFill/>
          <a:ln w="57150">
            <a:solidFill>
              <a:schemeClr val="accent2"/>
            </a:solidFill>
            <a:round/>
            <a:tailEnd type="triangle" w="med" len="med"/>
          </a:ln>
          <a:extLst>
            <a:ext uri="{909E8E84-426E-40DD-AFC4-6F175D3DCCD1}">
              <a14:hiddenFill xmlns:a14="http://schemas.microsoft.com/office/drawing/2010/main">
                <a:noFill/>
              </a14:hiddenFill>
            </a:ext>
          </a:extLst>
        </p:spPr>
        <p:txBody>
          <a:bodyPr wrap="none" anchor="ctr"/>
          <a:lstStyle/>
          <a:p>
            <a:endParaRPr lang="zh-CN" altLang="en-US" sz="1015"/>
          </a:p>
        </p:txBody>
      </p:sp>
      <p:sp>
        <p:nvSpPr>
          <p:cNvPr id="10" name="Oval 10"/>
          <p:cNvSpPr>
            <a:spLocks noChangeArrowheads="1"/>
          </p:cNvSpPr>
          <p:nvPr/>
        </p:nvSpPr>
        <p:spPr bwMode="auto">
          <a:xfrm>
            <a:off x="4031457" y="2950369"/>
            <a:ext cx="1350169" cy="756047"/>
          </a:xfrm>
          <a:prstGeom prst="ellipse">
            <a:avLst/>
          </a:prstGeom>
          <a:solidFill>
            <a:srgbClr val="99FF33">
              <a:alpha val="72156"/>
            </a:srgbClr>
          </a:solidFill>
          <a:ln w="9525">
            <a:solidFill>
              <a:schemeClr val="tx1"/>
            </a:solidFill>
            <a:round/>
          </a:ln>
        </p:spPr>
        <p:txBody>
          <a:bodyPr wrap="none" anchor="ctr"/>
          <a:lstStyle>
            <a:lvl1pPr marL="457200" indent="-457200">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marL="269875" indent="-269875" eaLnBrk="1" hangingPunct="1">
              <a:spcBef>
                <a:spcPct val="0"/>
              </a:spcBef>
              <a:buFontTx/>
              <a:buNone/>
            </a:pPr>
            <a:r>
              <a:rPr lang="en-US" altLang="zh-CN" sz="1800" dirty="0"/>
              <a:t>14 29 35 40</a:t>
            </a:r>
            <a:endParaRPr lang="en-US" altLang="zh-CN" sz="1800" dirty="0"/>
          </a:p>
        </p:txBody>
      </p:sp>
      <p:sp>
        <p:nvSpPr>
          <p:cNvPr id="11" name="Oval 11"/>
          <p:cNvSpPr>
            <a:spLocks noChangeArrowheads="1"/>
          </p:cNvSpPr>
          <p:nvPr/>
        </p:nvSpPr>
        <p:spPr bwMode="auto">
          <a:xfrm>
            <a:off x="5435204" y="3059906"/>
            <a:ext cx="486965" cy="485775"/>
          </a:xfrm>
          <a:prstGeom prst="ellipse">
            <a:avLst/>
          </a:prstGeom>
          <a:solidFill>
            <a:schemeClr val="hlink">
              <a:alpha val="72156"/>
            </a:schemeClr>
          </a:solidFill>
          <a:ln w="9525" algn="ctr">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48</a:t>
            </a:r>
            <a:endParaRPr lang="en-US" altLang="zh-CN" sz="1800"/>
          </a:p>
        </p:txBody>
      </p:sp>
      <p:sp>
        <p:nvSpPr>
          <p:cNvPr id="12" name="Oval 12"/>
          <p:cNvSpPr>
            <a:spLocks noChangeArrowheads="1"/>
          </p:cNvSpPr>
          <p:nvPr/>
        </p:nvSpPr>
        <p:spPr bwMode="auto">
          <a:xfrm>
            <a:off x="5975748" y="2842022"/>
            <a:ext cx="1863328" cy="862013"/>
          </a:xfrm>
          <a:prstGeom prst="ellipse">
            <a:avLst/>
          </a:prstGeom>
          <a:solidFill>
            <a:srgbClr val="99FF33">
              <a:alpha val="72156"/>
            </a:srgbClr>
          </a:solidFill>
          <a:ln w="9525">
            <a:solidFill>
              <a:schemeClr val="tx1"/>
            </a:solidFill>
            <a:round/>
          </a:ln>
        </p:spPr>
        <p:txBody>
          <a:bodyPr wrap="none" anchor="ctr"/>
          <a:lstStyle>
            <a:lvl1pPr marL="457200" indent="-457200">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55 56 62 77 98</a:t>
            </a:r>
            <a:endParaRPr lang="en-US" altLang="zh-CN" sz="1800"/>
          </a:p>
        </p:txBody>
      </p:sp>
      <p:sp>
        <p:nvSpPr>
          <p:cNvPr id="13" name="Oval 13"/>
          <p:cNvSpPr>
            <a:spLocks noChangeArrowheads="1"/>
          </p:cNvSpPr>
          <p:nvPr/>
        </p:nvSpPr>
        <p:spPr bwMode="auto">
          <a:xfrm>
            <a:off x="3006329" y="3975498"/>
            <a:ext cx="4806553" cy="648890"/>
          </a:xfrm>
          <a:prstGeom prst="ellipse">
            <a:avLst/>
          </a:prstGeom>
          <a:solidFill>
            <a:srgbClr val="99FF33">
              <a:alpha val="72156"/>
            </a:srgbClr>
          </a:solidFill>
          <a:ln w="9525">
            <a:solidFill>
              <a:schemeClr val="tx1"/>
            </a:solidFill>
            <a:round/>
          </a:ln>
        </p:spPr>
        <p:txBody>
          <a:bodyPr wrap="none" anchor="ctr"/>
          <a:lstStyle>
            <a:lvl1pPr marL="457200" indent="-457200">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14 29 35 40 48 55 56 62 77 98</a:t>
            </a:r>
            <a:endParaRPr lang="en-US" altLang="zh-CN" sz="1800"/>
          </a:p>
        </p:txBody>
      </p:sp>
      <p:sp>
        <p:nvSpPr>
          <p:cNvPr id="14" name="Line 9"/>
          <p:cNvSpPr>
            <a:spLocks noChangeShapeType="1"/>
          </p:cNvSpPr>
          <p:nvPr/>
        </p:nvSpPr>
        <p:spPr bwMode="auto">
          <a:xfrm>
            <a:off x="5706666" y="3598069"/>
            <a:ext cx="0" cy="377429"/>
          </a:xfrm>
          <a:prstGeom prst="line">
            <a:avLst/>
          </a:prstGeom>
          <a:noFill/>
          <a:ln w="57150">
            <a:solidFill>
              <a:schemeClr val="accent2"/>
            </a:solidFill>
            <a:round/>
            <a:tailEnd type="triangle" w="med" len="med"/>
          </a:ln>
          <a:extLst>
            <a:ext uri="{909E8E84-426E-40DD-AFC4-6F175D3DCCD1}">
              <a14:hiddenFill xmlns:a14="http://schemas.microsoft.com/office/drawing/2010/main">
                <a:noFill/>
              </a14:hiddenFill>
            </a:ext>
          </a:extLst>
        </p:spPr>
        <p:txBody>
          <a:bodyPr wrap="none" anchor="ctr"/>
          <a:lstStyle/>
          <a:p>
            <a:endParaRPr lang="zh-CN" altLang="en-US" sz="1015"/>
          </a:p>
        </p:txBody>
      </p:sp>
      <p:sp>
        <p:nvSpPr>
          <p:cNvPr id="15" name="Oval 2"/>
          <p:cNvSpPr>
            <a:spLocks noChangeArrowheads="1"/>
          </p:cNvSpPr>
          <p:nvPr/>
        </p:nvSpPr>
        <p:spPr bwMode="auto">
          <a:xfrm>
            <a:off x="1331119" y="1707356"/>
            <a:ext cx="2052638" cy="1187054"/>
          </a:xfrm>
          <a:prstGeom prst="ellipse">
            <a:avLst/>
          </a:prstGeom>
          <a:solidFill>
            <a:srgbClr val="99FF33">
              <a:alpha val="72156"/>
            </a:srgbClr>
          </a:solidFill>
          <a:ln w="9525">
            <a:solidFill>
              <a:schemeClr val="tx1"/>
            </a:solidFill>
            <a:round/>
          </a:ln>
        </p:spPr>
        <p:txBody>
          <a:bodyPr wrap="none" anchor="ctr"/>
          <a:lstStyle>
            <a:lvl1pPr marL="457200" indent="-457200">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AutoNum type="arabicPlain" startAt="62"/>
            </a:pPr>
            <a:r>
              <a:rPr lang="en-US" altLang="zh-CN" sz="1800" dirty="0"/>
              <a:t>35  77 </a:t>
            </a:r>
            <a:r>
              <a:rPr lang="en-US" altLang="zh-CN" sz="1800" dirty="0" smtClean="0"/>
              <a:t>48</a:t>
            </a:r>
            <a:endParaRPr lang="en-US" altLang="zh-CN" sz="1800" dirty="0"/>
          </a:p>
          <a:p>
            <a:pPr eaLnBrk="1" hangingPunct="1">
              <a:spcBef>
                <a:spcPct val="0"/>
              </a:spcBef>
              <a:buFontTx/>
              <a:buAutoNum type="arabicPlain" startAt="55"/>
            </a:pPr>
            <a:r>
              <a:rPr lang="en-US" altLang="zh-CN" sz="1800" dirty="0"/>
              <a:t>14  98</a:t>
            </a:r>
            <a:endParaRPr lang="en-US" altLang="zh-CN" sz="1800" dirty="0"/>
          </a:p>
          <a:p>
            <a:pPr eaLnBrk="1" hangingPunct="1">
              <a:spcBef>
                <a:spcPct val="0"/>
              </a:spcBef>
              <a:buFontTx/>
              <a:buAutoNum type="arabicPlain" startAt="55"/>
            </a:pPr>
            <a:r>
              <a:rPr lang="en-US" altLang="zh-CN" sz="1800" dirty="0"/>
              <a:t>40  29</a:t>
            </a:r>
            <a:endParaRPr lang="en-US" altLang="zh-CN" sz="1800" dirty="0"/>
          </a:p>
        </p:txBody>
      </p:sp>
      <p:sp>
        <p:nvSpPr>
          <p:cNvPr id="16" name="Text Box 17"/>
          <p:cNvSpPr txBox="1">
            <a:spLocks noChangeArrowheads="1"/>
          </p:cNvSpPr>
          <p:nvPr/>
        </p:nvSpPr>
        <p:spPr bwMode="auto">
          <a:xfrm>
            <a:off x="3517702" y="579789"/>
            <a:ext cx="3835003"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2100" dirty="0"/>
              <a:t>什么是快速排序的最好情况？</a:t>
            </a:r>
            <a:endParaRPr lang="zh-CN" altLang="en-US" sz="2100" dirty="0"/>
          </a:p>
          <a:p>
            <a:pPr eaLnBrk="1" hangingPunct="1">
              <a:spcBef>
                <a:spcPct val="0"/>
              </a:spcBef>
              <a:buFontTx/>
              <a:buNone/>
            </a:pPr>
            <a:r>
              <a:rPr lang="zh-CN" altLang="en-US" sz="2100" b="1" dirty="0">
                <a:solidFill>
                  <a:srgbClr val="FF0000"/>
                </a:solidFill>
              </a:rPr>
              <a:t>每次正好中分</a:t>
            </a:r>
            <a:endParaRPr lang="zh-CN" altLang="en-US" sz="2100"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32"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circle(out)">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strips(downRight)">
                                      <p:cBhvr>
                                        <p:cTn id="17" dur="500"/>
                                        <p:tgtEl>
                                          <p:spTgt spid="5"/>
                                        </p:tgtEl>
                                      </p:cBhvr>
                                    </p:animEffect>
                                  </p:childTnLst>
                                </p:cTn>
                              </p:par>
                            </p:childTnLst>
                          </p:cTn>
                        </p:par>
                        <p:par>
                          <p:cTn id="18" fill="hold">
                            <p:stCondLst>
                              <p:cond delay="500"/>
                            </p:stCondLst>
                            <p:childTnLst>
                              <p:par>
                                <p:cTn id="19" presetID="9"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dissolve">
                                      <p:cBhvr>
                                        <p:cTn id="21" dur="500"/>
                                        <p:tgtEl>
                                          <p:spTgt spid="6"/>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dissolve">
                                      <p:cBhvr>
                                        <p:cTn id="24" dur="500"/>
                                        <p:tgtEl>
                                          <p:spTgt spid="8"/>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dissolv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8" presetClass="entr" presetSubtype="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strips(downRight)">
                                      <p:cBhvr>
                                        <p:cTn id="32" dur="500"/>
                                        <p:tgtEl>
                                          <p:spTgt spid="9"/>
                                        </p:tgtEl>
                                      </p:cBhvr>
                                    </p:animEffect>
                                  </p:childTnLst>
                                </p:cTn>
                              </p:par>
                            </p:childTnLst>
                          </p:cTn>
                        </p:par>
                        <p:par>
                          <p:cTn id="33" fill="hold">
                            <p:stCondLst>
                              <p:cond delay="500"/>
                            </p:stCondLst>
                            <p:childTnLst>
                              <p:par>
                                <p:cTn id="34" presetID="9" presetClass="entr" presetSubtype="0"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dissolve">
                                      <p:cBhvr>
                                        <p:cTn id="36" dur="500"/>
                                        <p:tgtEl>
                                          <p:spTgt spid="10"/>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dissolve">
                                      <p:cBhvr>
                                        <p:cTn id="39" dur="500"/>
                                        <p:tgtEl>
                                          <p:spTgt spid="11"/>
                                        </p:tgtEl>
                                      </p:cBhvr>
                                    </p:animEffect>
                                  </p:childTnLst>
                                </p:cTn>
                              </p:par>
                              <p:par>
                                <p:cTn id="40" presetID="9"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dissolve">
                                      <p:cBhvr>
                                        <p:cTn id="42" dur="500"/>
                                        <p:tgtEl>
                                          <p:spTgt spid="12"/>
                                        </p:tgtEl>
                                      </p:cBhvr>
                                    </p:animEffect>
                                  </p:childTnLst>
                                </p:cTn>
                              </p:par>
                            </p:childTnLst>
                          </p:cTn>
                        </p:par>
                      </p:childTnLst>
                    </p:cTn>
                  </p:par>
                  <p:par>
                    <p:cTn id="43" fill="hold">
                      <p:stCondLst>
                        <p:cond delay="indefinite"/>
                      </p:stCondLst>
                      <p:childTnLst>
                        <p:par>
                          <p:cTn id="44" fill="hold">
                            <p:stCondLst>
                              <p:cond delay="0"/>
                            </p:stCondLst>
                            <p:childTnLst>
                              <p:par>
                                <p:cTn id="45" presetID="18" presetClass="entr" presetSubtype="6" fill="hold" nodeType="click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strips(downRight)">
                                      <p:cBhvr>
                                        <p:cTn id="47" dur="500"/>
                                        <p:tgtEl>
                                          <p:spTgt spid="14"/>
                                        </p:tgtEl>
                                      </p:cBhvr>
                                    </p:animEffect>
                                  </p:childTnLst>
                                </p:cTn>
                              </p:par>
                            </p:childTnLst>
                          </p:cTn>
                        </p:par>
                        <p:par>
                          <p:cTn id="48" fill="hold">
                            <p:stCondLst>
                              <p:cond delay="500"/>
                            </p:stCondLst>
                            <p:childTnLst>
                              <p:par>
                                <p:cTn id="49" presetID="9" presetClass="entr" presetSubtype="0" fill="hold" grpId="0" nodeType="after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dissolve">
                                      <p:cBhvr>
                                        <p:cTn id="51" dur="500"/>
                                        <p:tgtEl>
                                          <p:spTgt spid="13"/>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16">
                                            <p:txEl>
                                              <p:pRg st="0" end="0"/>
                                            </p:txEl>
                                          </p:spTgt>
                                        </p:tgtEl>
                                        <p:attrNameLst>
                                          <p:attrName>style.visibility</p:attrName>
                                        </p:attrNameLst>
                                      </p:cBhvr>
                                      <p:to>
                                        <p:strVal val="visible"/>
                                      </p:to>
                                    </p:set>
                                    <p:animEffect transition="in" filter="dissolve">
                                      <p:cBhvr>
                                        <p:cTn id="56" dur="500"/>
                                        <p:tgtEl>
                                          <p:spTgt spid="16">
                                            <p:txEl>
                                              <p:pRg st="0" end="0"/>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nodeType="clickEffect">
                                  <p:stCondLst>
                                    <p:cond delay="0"/>
                                  </p:stCondLst>
                                  <p:childTnLst>
                                    <p:set>
                                      <p:cBhvr>
                                        <p:cTn id="60" dur="1" fill="hold">
                                          <p:stCondLst>
                                            <p:cond delay="0"/>
                                          </p:stCondLst>
                                        </p:cTn>
                                        <p:tgtEl>
                                          <p:spTgt spid="16">
                                            <p:txEl>
                                              <p:pRg st="1" end="1"/>
                                            </p:txEl>
                                          </p:spTgt>
                                        </p:tgtEl>
                                        <p:attrNameLst>
                                          <p:attrName>style.visibility</p:attrName>
                                        </p:attrNameLst>
                                      </p:cBhvr>
                                      <p:to>
                                        <p:strVal val="visible"/>
                                      </p:to>
                                    </p:set>
                                    <p:animEffect transition="in" filter="dissolve">
                                      <p:cBhvr>
                                        <p:cTn id="61" dur="500"/>
                                        <p:tgtEl>
                                          <p:spTgt spid="1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3" grpId="0" animBg="1"/>
      <p:bldP spid="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zh-CN" altLang="en-US" dirty="0" smtClean="0"/>
              <a:t>枢轴</a:t>
            </a:r>
            <a:r>
              <a:rPr lang="zh-CN" altLang="en-US" dirty="0"/>
              <a:t>（</a:t>
            </a:r>
            <a:r>
              <a:rPr lang="en-US" altLang="zh-CN" dirty="0"/>
              <a:t>pivot</a:t>
            </a:r>
            <a:r>
              <a:rPr lang="zh-CN" altLang="en-US" dirty="0"/>
              <a:t>）的选取</a:t>
            </a:r>
            <a:endParaRPr lang="zh-CN" altLang="en-US" dirty="0"/>
          </a:p>
          <a:p>
            <a:pPr marL="478155" lvl="2" indent="-342900">
              <a:buFont typeface="Wingdings" panose="05000000000000000000" pitchFamily="2" charset="2"/>
              <a:buChar char="Ø"/>
            </a:pPr>
            <a:r>
              <a:rPr lang="zh-CN" altLang="en-US" dirty="0" smtClean="0"/>
              <a:t>随便</a:t>
            </a:r>
            <a:r>
              <a:rPr lang="zh-CN" altLang="en-US" dirty="0"/>
              <a:t>选？ </a:t>
            </a:r>
            <a:endParaRPr lang="zh-CN" altLang="en-US" dirty="0"/>
          </a:p>
          <a:p>
            <a:pPr marL="478155" lvl="2" indent="-342900">
              <a:buFont typeface="Wingdings" panose="05000000000000000000" pitchFamily="2" charset="2"/>
              <a:buChar char="Ø"/>
            </a:pPr>
            <a:r>
              <a:rPr lang="zh-CN" altLang="en-US" dirty="0" smtClean="0"/>
              <a:t>选集</a:t>
            </a:r>
            <a:r>
              <a:rPr lang="zh-CN" altLang="en-US" dirty="0"/>
              <a:t>合中的第一个数</a:t>
            </a:r>
            <a:r>
              <a:rPr lang="en-US" altLang="zh-CN" dirty="0"/>
              <a:t>?</a:t>
            </a:r>
            <a:endParaRPr lang="en-US" altLang="zh-CN" dirty="0"/>
          </a:p>
          <a:p>
            <a:pPr marL="0" lvl="3" eaLnBrk="0" fontAlgn="base" hangingPunct="0">
              <a:spcBef>
                <a:spcPts val="600"/>
              </a:spcBef>
              <a:spcAft>
                <a:spcPct val="0"/>
              </a:spcAft>
            </a:pPr>
            <a:r>
              <a:rPr lang="zh-CN" altLang="en-US" sz="2100" dirty="0" smtClean="0">
                <a:solidFill>
                  <a:srgbClr val="00194C"/>
                </a:solidFill>
                <a:latin typeface="华文楷体" panose="02010600040101010101" pitchFamily="2" charset="-122"/>
                <a:ea typeface="华文楷体" panose="02010600040101010101" pitchFamily="2" charset="-122"/>
              </a:rPr>
              <a:t>    如</a:t>
            </a:r>
            <a:r>
              <a:rPr lang="zh-CN" altLang="en-US" sz="2100" dirty="0">
                <a:solidFill>
                  <a:srgbClr val="00194C"/>
                </a:solidFill>
                <a:latin typeface="华文楷体" panose="02010600040101010101" pitchFamily="2" charset="-122"/>
                <a:ea typeface="华文楷体" panose="02010600040101010101" pitchFamily="2" charset="-122"/>
              </a:rPr>
              <a:t>：</a:t>
            </a:r>
            <a:r>
              <a:rPr lang="en-US" altLang="zh-CN" sz="2100" dirty="0">
                <a:solidFill>
                  <a:srgbClr val="00194C"/>
                </a:solidFill>
                <a:latin typeface="华文楷体" panose="02010600040101010101" pitchFamily="2" charset="-122"/>
                <a:ea typeface="华文楷体" panose="02010600040101010101" pitchFamily="2" charset="-122"/>
              </a:rPr>
              <a:t>1  2  3  4  5  6  7  8  9  10</a:t>
            </a:r>
            <a:endParaRPr lang="en-US" altLang="zh-CN" sz="2100" dirty="0">
              <a:solidFill>
                <a:srgbClr val="00194C"/>
              </a:solidFill>
              <a:latin typeface="华文楷体" panose="02010600040101010101" pitchFamily="2" charset="-122"/>
              <a:ea typeface="华文楷体" panose="02010600040101010101" pitchFamily="2" charset="-122"/>
            </a:endParaRPr>
          </a:p>
          <a:p>
            <a:pPr marL="0" lvl="3" eaLnBrk="0" fontAlgn="base" hangingPunct="0">
              <a:spcBef>
                <a:spcPts val="600"/>
              </a:spcBef>
              <a:spcAft>
                <a:spcPct val="0"/>
              </a:spcAft>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r>
              <a:rPr lang="en-US" altLang="zh-CN" sz="2100" dirty="0">
                <a:solidFill>
                  <a:srgbClr val="00194C"/>
                </a:solidFill>
                <a:latin typeface="华文楷体" panose="02010600040101010101" pitchFamily="2" charset="-122"/>
                <a:ea typeface="华文楷体" panose="02010600040101010101" pitchFamily="2" charset="-122"/>
              </a:rPr>
              <a:t>2  3  4  5  6  7  8  9  10</a:t>
            </a:r>
            <a:endParaRPr lang="en-US" altLang="zh-CN" sz="2100" dirty="0">
              <a:solidFill>
                <a:srgbClr val="00194C"/>
              </a:solidFill>
              <a:latin typeface="华文楷体" panose="02010600040101010101" pitchFamily="2" charset="-122"/>
              <a:ea typeface="华文楷体" panose="02010600040101010101" pitchFamily="2" charset="-122"/>
            </a:endParaRPr>
          </a:p>
          <a:p>
            <a:pPr marL="0" lvl="3" eaLnBrk="0" fontAlgn="base" hangingPunct="0">
              <a:spcBef>
                <a:spcPts val="600"/>
              </a:spcBef>
              <a:spcAft>
                <a:spcPct val="0"/>
              </a:spcAft>
            </a:pPr>
            <a:r>
              <a:rPr lang="en-US" altLang="zh-CN" sz="2100" dirty="0">
                <a:solidFill>
                  <a:srgbClr val="00194C"/>
                </a:solidFill>
                <a:latin typeface="华文楷体" panose="02010600040101010101" pitchFamily="2" charset="-122"/>
                <a:ea typeface="华文楷体" panose="02010600040101010101" pitchFamily="2" charset="-122"/>
              </a:rPr>
              <a:t>        </a:t>
            </a:r>
            <a:r>
              <a:rPr lang="en-US" altLang="zh-CN" sz="2100" dirty="0" smtClean="0">
                <a:solidFill>
                  <a:srgbClr val="00194C"/>
                </a:solidFill>
                <a:latin typeface="华文楷体" panose="02010600040101010101" pitchFamily="2" charset="-122"/>
                <a:ea typeface="华文楷体" panose="02010600040101010101" pitchFamily="2" charset="-122"/>
              </a:rPr>
              <a:t>    ……</a:t>
            </a:r>
            <a:endParaRPr lang="en-US" altLang="zh-CN" sz="2100" dirty="0">
              <a:solidFill>
                <a:srgbClr val="00194C"/>
              </a:solidFill>
              <a:latin typeface="华文楷体" panose="02010600040101010101" pitchFamily="2" charset="-122"/>
              <a:ea typeface="华文楷体" panose="02010600040101010101" pitchFamily="2" charset="-122"/>
            </a:endParaRPr>
          </a:p>
          <a:p>
            <a:pPr marL="478155" lvl="2" indent="-342900">
              <a:buFont typeface="Wingdings" panose="05000000000000000000" pitchFamily="2" charset="2"/>
              <a:buChar char="Ø"/>
            </a:pPr>
            <a:r>
              <a:rPr lang="en-US" altLang="zh-CN" dirty="0"/>
              <a:t>“</a:t>
            </a:r>
            <a:r>
              <a:rPr lang="zh-CN" altLang="en-US" dirty="0"/>
              <a:t>三位取中”</a:t>
            </a:r>
            <a:r>
              <a:rPr lang="zh-CN" altLang="en-US" dirty="0" smtClean="0"/>
              <a:t>法：</a:t>
            </a:r>
            <a:r>
              <a:rPr lang="zh-CN" altLang="en-US" sz="2100" dirty="0" smtClean="0">
                <a:solidFill>
                  <a:srgbClr val="00194C"/>
                </a:solidFill>
                <a:latin typeface="华文楷体" panose="02010600040101010101" pitchFamily="2" charset="-122"/>
                <a:ea typeface="华文楷体" panose="02010600040101010101" pitchFamily="2" charset="-122"/>
              </a:rPr>
              <a:t>取</a:t>
            </a:r>
            <a:r>
              <a:rPr lang="zh-CN" altLang="en-US" sz="2100" dirty="0">
                <a:solidFill>
                  <a:srgbClr val="00194C"/>
                </a:solidFill>
                <a:latin typeface="华文楷体" panose="02010600040101010101" pitchFamily="2" charset="-122"/>
                <a:ea typeface="华文楷体" panose="02010600040101010101" pitchFamily="2" charset="-122"/>
              </a:rPr>
              <a:t>开头、中间、结尾三处的</a:t>
            </a:r>
            <a:r>
              <a:rPr lang="zh-CN" altLang="en-US" sz="2100" dirty="0" smtClean="0">
                <a:solidFill>
                  <a:srgbClr val="00194C"/>
                </a:solidFill>
                <a:latin typeface="华文楷体" panose="02010600040101010101" pitchFamily="2" charset="-122"/>
                <a:ea typeface="华文楷体" panose="02010600040101010101" pitchFamily="2" charset="-122"/>
              </a:rPr>
              <a:t>中间值</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a:t>快速</a:t>
            </a:r>
            <a:r>
              <a:rPr lang="zh-CN" altLang="en-US" dirty="0" smtClean="0"/>
              <a:t>排序</a:t>
            </a:r>
            <a:endParaRPr lang="zh-CN" altLang="en-US" dirty="0"/>
          </a:p>
        </p:txBody>
      </p:sp>
      <p:sp>
        <p:nvSpPr>
          <p:cNvPr id="7" name="Oval 4"/>
          <p:cNvSpPr>
            <a:spLocks noChangeArrowheads="1"/>
          </p:cNvSpPr>
          <p:nvPr/>
        </p:nvSpPr>
        <p:spPr bwMode="auto">
          <a:xfrm>
            <a:off x="1281877" y="1927798"/>
            <a:ext cx="378619" cy="377428"/>
          </a:xfrm>
          <a:prstGeom prst="ellipse">
            <a:avLst/>
          </a:prstGeom>
          <a:noFill/>
          <a:ln w="38100" algn="ctr">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8" name="Oval 5"/>
          <p:cNvSpPr>
            <a:spLocks noChangeArrowheads="1"/>
          </p:cNvSpPr>
          <p:nvPr/>
        </p:nvSpPr>
        <p:spPr bwMode="auto">
          <a:xfrm>
            <a:off x="1552149" y="2358707"/>
            <a:ext cx="378619" cy="377428"/>
          </a:xfrm>
          <a:prstGeom prst="ellipse">
            <a:avLst/>
          </a:prstGeom>
          <a:noFill/>
          <a:ln w="38100" algn="ctr">
            <a:solidFill>
              <a:srgbClr val="FF0000"/>
            </a:solidFill>
            <a:rou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dissolv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oup 6"/>
          <p:cNvGrpSpPr/>
          <p:nvPr/>
        </p:nvGrpSpPr>
        <p:grpSpPr bwMode="auto">
          <a:xfrm>
            <a:off x="3205956" y="918052"/>
            <a:ext cx="366713" cy="2969419"/>
            <a:chOff x="4704" y="799"/>
            <a:chExt cx="308" cy="2449"/>
          </a:xfrm>
        </p:grpSpPr>
        <p:sp>
          <p:nvSpPr>
            <p:cNvPr id="73" name="AutoShape 7"/>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74" name="Text Box 8"/>
            <p:cNvSpPr txBox="1">
              <a:spLocks noChangeArrowheads="1"/>
            </p:cNvSpPr>
            <p:nvPr/>
          </p:nvSpPr>
          <p:spPr bwMode="auto">
            <a:xfrm>
              <a:off x="4704" y="1888"/>
              <a:ext cx="301" cy="3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9</a:t>
              </a:r>
              <a:endParaRPr lang="en-US" altLang="zh-CN" sz="1800"/>
            </a:p>
          </p:txBody>
        </p:sp>
      </p:grpSp>
      <p:sp>
        <p:nvSpPr>
          <p:cNvPr id="2" name="内容占位符 1"/>
          <p:cNvSpPr>
            <a:spLocks noGrp="1"/>
          </p:cNvSpPr>
          <p:nvPr>
            <p:ph idx="1"/>
          </p:nvPr>
        </p:nvSpPr>
        <p:spPr/>
        <p:txBody>
          <a:bodyPr/>
          <a:lstStyle/>
          <a:p>
            <a:pPr marL="205105" indent="-205105"/>
            <a:r>
              <a:rPr lang="zh-CN" altLang="en-US" dirty="0"/>
              <a:t>一</a:t>
            </a:r>
            <a:r>
              <a:rPr lang="zh-CN" altLang="en-US" dirty="0" smtClean="0"/>
              <a:t>次划分</a:t>
            </a:r>
            <a:endParaRPr lang="zh-CN" altLang="en-US" dirty="0"/>
          </a:p>
          <a:p>
            <a:pPr marL="0" lvl="2" indent="135255"/>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smtClean="0"/>
              <a:t>快速</a:t>
            </a:r>
            <a:r>
              <a:rPr lang="zh-CN" altLang="en-US" dirty="0"/>
              <a:t>排序</a:t>
            </a:r>
            <a:endParaRPr lang="zh-CN" altLang="en-US" dirty="0"/>
          </a:p>
        </p:txBody>
      </p:sp>
      <p:grpSp>
        <p:nvGrpSpPr>
          <p:cNvPr id="4" name="Group 2"/>
          <p:cNvGrpSpPr/>
          <p:nvPr/>
        </p:nvGrpSpPr>
        <p:grpSpPr bwMode="auto">
          <a:xfrm>
            <a:off x="5868595" y="519112"/>
            <a:ext cx="415529" cy="3348038"/>
            <a:chOff x="4704" y="799"/>
            <a:chExt cx="349" cy="2449"/>
          </a:xfrm>
        </p:grpSpPr>
        <p:sp>
          <p:nvSpPr>
            <p:cNvPr id="5" name="AutoShape 3"/>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6" name="Text Box 4"/>
            <p:cNvSpPr txBox="1">
              <a:spLocks noChangeArrowheads="1"/>
            </p:cNvSpPr>
            <p:nvPr/>
          </p:nvSpPr>
          <p:spPr bwMode="auto">
            <a:xfrm>
              <a:off x="4704" y="1888"/>
              <a:ext cx="349" cy="2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10</a:t>
              </a:r>
              <a:endParaRPr lang="en-US" altLang="zh-CN" sz="1800"/>
            </a:p>
          </p:txBody>
        </p:sp>
      </p:grpSp>
      <p:grpSp>
        <p:nvGrpSpPr>
          <p:cNvPr id="10" name="Group 9"/>
          <p:cNvGrpSpPr/>
          <p:nvPr/>
        </p:nvGrpSpPr>
        <p:grpSpPr bwMode="auto">
          <a:xfrm>
            <a:off x="3924300" y="1275160"/>
            <a:ext cx="366713" cy="2591990"/>
            <a:chOff x="4704" y="799"/>
            <a:chExt cx="308" cy="2449"/>
          </a:xfrm>
        </p:grpSpPr>
        <p:sp>
          <p:nvSpPr>
            <p:cNvPr id="11" name="AutoShape 10"/>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12" name="Text Box 11"/>
            <p:cNvSpPr txBox="1">
              <a:spLocks noChangeArrowheads="1"/>
            </p:cNvSpPr>
            <p:nvPr/>
          </p:nvSpPr>
          <p:spPr bwMode="auto">
            <a:xfrm>
              <a:off x="4704" y="1888"/>
              <a:ext cx="301" cy="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8</a:t>
              </a:r>
              <a:endParaRPr lang="en-US" altLang="zh-CN" sz="1800"/>
            </a:p>
          </p:txBody>
        </p:sp>
      </p:grpSp>
      <p:grpSp>
        <p:nvGrpSpPr>
          <p:cNvPr id="13" name="Group 12"/>
          <p:cNvGrpSpPr/>
          <p:nvPr/>
        </p:nvGrpSpPr>
        <p:grpSpPr bwMode="auto">
          <a:xfrm>
            <a:off x="7163991" y="1653778"/>
            <a:ext cx="366713" cy="2213372"/>
            <a:chOff x="4704" y="799"/>
            <a:chExt cx="308" cy="2449"/>
          </a:xfrm>
        </p:grpSpPr>
        <p:sp>
          <p:nvSpPr>
            <p:cNvPr id="14" name="AutoShape 13"/>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15" name="Text Box 14"/>
            <p:cNvSpPr txBox="1">
              <a:spLocks noChangeArrowheads="1"/>
            </p:cNvSpPr>
            <p:nvPr/>
          </p:nvSpPr>
          <p:spPr bwMode="auto">
            <a:xfrm>
              <a:off x="4704" y="1888"/>
              <a:ext cx="301" cy="4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7</a:t>
              </a:r>
              <a:endParaRPr lang="en-US" altLang="zh-CN" sz="1800"/>
            </a:p>
          </p:txBody>
        </p:sp>
      </p:grpSp>
      <p:grpSp>
        <p:nvGrpSpPr>
          <p:cNvPr id="16" name="Group 15"/>
          <p:cNvGrpSpPr/>
          <p:nvPr/>
        </p:nvGrpSpPr>
        <p:grpSpPr bwMode="auto">
          <a:xfrm>
            <a:off x="1385887" y="1977628"/>
            <a:ext cx="366713" cy="1889522"/>
            <a:chOff x="4704" y="799"/>
            <a:chExt cx="308" cy="2449"/>
          </a:xfrm>
        </p:grpSpPr>
        <p:sp>
          <p:nvSpPr>
            <p:cNvPr id="17" name="AutoShape 16"/>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18" name="Text Box 17"/>
            <p:cNvSpPr txBox="1">
              <a:spLocks noChangeArrowheads="1"/>
            </p:cNvSpPr>
            <p:nvPr/>
          </p:nvSpPr>
          <p:spPr bwMode="auto">
            <a:xfrm>
              <a:off x="4704" y="1888"/>
              <a:ext cx="301" cy="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6</a:t>
              </a:r>
              <a:endParaRPr lang="en-US" altLang="zh-CN" sz="1800"/>
            </a:p>
          </p:txBody>
        </p:sp>
      </p:grpSp>
      <p:grpSp>
        <p:nvGrpSpPr>
          <p:cNvPr id="19" name="Group 18"/>
          <p:cNvGrpSpPr/>
          <p:nvPr/>
        </p:nvGrpSpPr>
        <p:grpSpPr bwMode="auto">
          <a:xfrm>
            <a:off x="6516291" y="2301478"/>
            <a:ext cx="366713" cy="1565672"/>
            <a:chOff x="4704" y="799"/>
            <a:chExt cx="308" cy="2449"/>
          </a:xfrm>
        </p:grpSpPr>
        <p:sp>
          <p:nvSpPr>
            <p:cNvPr id="20" name="AutoShape 19"/>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21" name="Text Box 20"/>
            <p:cNvSpPr txBox="1">
              <a:spLocks noChangeArrowheads="1"/>
            </p:cNvSpPr>
            <p:nvPr/>
          </p:nvSpPr>
          <p:spPr bwMode="auto">
            <a:xfrm>
              <a:off x="4704" y="1887"/>
              <a:ext cx="301" cy="5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5</a:t>
              </a:r>
              <a:endParaRPr lang="en-US" altLang="zh-CN" sz="1800"/>
            </a:p>
          </p:txBody>
        </p:sp>
      </p:grpSp>
      <p:grpSp>
        <p:nvGrpSpPr>
          <p:cNvPr id="22" name="Group 21"/>
          <p:cNvGrpSpPr/>
          <p:nvPr/>
        </p:nvGrpSpPr>
        <p:grpSpPr bwMode="auto">
          <a:xfrm>
            <a:off x="5219700" y="2625328"/>
            <a:ext cx="395288" cy="1241822"/>
            <a:chOff x="4680" y="799"/>
            <a:chExt cx="332" cy="2449"/>
          </a:xfrm>
        </p:grpSpPr>
        <p:sp>
          <p:nvSpPr>
            <p:cNvPr id="23" name="AutoShape 22"/>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24" name="Text Box 23"/>
            <p:cNvSpPr txBox="1">
              <a:spLocks noChangeArrowheads="1"/>
            </p:cNvSpPr>
            <p:nvPr/>
          </p:nvSpPr>
          <p:spPr bwMode="auto">
            <a:xfrm>
              <a:off x="4680" y="1886"/>
              <a:ext cx="301" cy="7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4</a:t>
              </a:r>
              <a:endParaRPr lang="en-US" altLang="zh-CN" sz="1800"/>
            </a:p>
          </p:txBody>
        </p:sp>
      </p:grpSp>
      <p:grpSp>
        <p:nvGrpSpPr>
          <p:cNvPr id="25" name="Group 24"/>
          <p:cNvGrpSpPr/>
          <p:nvPr/>
        </p:nvGrpSpPr>
        <p:grpSpPr bwMode="auto">
          <a:xfrm>
            <a:off x="4518422" y="2895600"/>
            <a:ext cx="423863" cy="971550"/>
            <a:chOff x="4656" y="799"/>
            <a:chExt cx="356" cy="2449"/>
          </a:xfrm>
        </p:grpSpPr>
        <p:sp>
          <p:nvSpPr>
            <p:cNvPr id="26" name="AutoShape 25"/>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27" name="Text Box 26"/>
            <p:cNvSpPr txBox="1">
              <a:spLocks noChangeArrowheads="1"/>
            </p:cNvSpPr>
            <p:nvPr/>
          </p:nvSpPr>
          <p:spPr bwMode="auto">
            <a:xfrm>
              <a:off x="4656" y="1888"/>
              <a:ext cx="349" cy="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3</a:t>
              </a:r>
              <a:endParaRPr lang="en-US" altLang="zh-CN" sz="1800"/>
            </a:p>
          </p:txBody>
        </p:sp>
      </p:grpSp>
      <p:grpSp>
        <p:nvGrpSpPr>
          <p:cNvPr id="28" name="Group 27"/>
          <p:cNvGrpSpPr/>
          <p:nvPr/>
        </p:nvGrpSpPr>
        <p:grpSpPr bwMode="auto">
          <a:xfrm>
            <a:off x="2033587" y="3112294"/>
            <a:ext cx="366713" cy="754856"/>
            <a:chOff x="4704" y="799"/>
            <a:chExt cx="308" cy="2449"/>
          </a:xfrm>
        </p:grpSpPr>
        <p:sp>
          <p:nvSpPr>
            <p:cNvPr id="29" name="AutoShape 28"/>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30" name="Text Box 29"/>
            <p:cNvSpPr txBox="1">
              <a:spLocks noChangeArrowheads="1"/>
            </p:cNvSpPr>
            <p:nvPr/>
          </p:nvSpPr>
          <p:spPr bwMode="auto">
            <a:xfrm>
              <a:off x="4704" y="1888"/>
              <a:ext cx="308" cy="11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2</a:t>
              </a:r>
              <a:endParaRPr lang="en-US" altLang="zh-CN" sz="1800"/>
            </a:p>
          </p:txBody>
        </p:sp>
      </p:grpSp>
      <p:grpSp>
        <p:nvGrpSpPr>
          <p:cNvPr id="31" name="Group 30"/>
          <p:cNvGrpSpPr/>
          <p:nvPr/>
        </p:nvGrpSpPr>
        <p:grpSpPr bwMode="auto">
          <a:xfrm>
            <a:off x="2627710" y="3327798"/>
            <a:ext cx="366713" cy="614465"/>
            <a:chOff x="4704" y="799"/>
            <a:chExt cx="308" cy="2734"/>
          </a:xfrm>
        </p:grpSpPr>
        <p:sp>
          <p:nvSpPr>
            <p:cNvPr id="32" name="AutoShape 31"/>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33" name="Text Box 32"/>
            <p:cNvSpPr txBox="1">
              <a:spLocks noChangeArrowheads="1"/>
            </p:cNvSpPr>
            <p:nvPr/>
          </p:nvSpPr>
          <p:spPr bwMode="auto">
            <a:xfrm>
              <a:off x="4704" y="1890"/>
              <a:ext cx="308" cy="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1</a:t>
              </a:r>
              <a:endParaRPr lang="en-US" altLang="zh-CN" sz="1800"/>
            </a:p>
          </p:txBody>
        </p:sp>
      </p:grpSp>
      <p:sp>
        <p:nvSpPr>
          <p:cNvPr id="37" name="AutoShape 37"/>
          <p:cNvSpPr>
            <a:spLocks noChangeArrowheads="1"/>
          </p:cNvSpPr>
          <p:nvPr/>
        </p:nvSpPr>
        <p:spPr bwMode="auto">
          <a:xfrm>
            <a:off x="1169194" y="4245769"/>
            <a:ext cx="540544" cy="325041"/>
          </a:xfrm>
          <a:prstGeom prst="wedgeRectCallout">
            <a:avLst>
              <a:gd name="adj1" fmla="val 30398"/>
              <a:gd name="adj2" fmla="val -175273"/>
            </a:avLst>
          </a:prstGeom>
          <a:solidFill>
            <a:schemeClr val="bg2"/>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low</a:t>
            </a:r>
            <a:endParaRPr lang="en-US" altLang="zh-CN" sz="1800"/>
          </a:p>
        </p:txBody>
      </p:sp>
      <p:sp>
        <p:nvSpPr>
          <p:cNvPr id="38" name="AutoShape 38"/>
          <p:cNvSpPr>
            <a:spLocks noChangeArrowheads="1"/>
          </p:cNvSpPr>
          <p:nvPr/>
        </p:nvSpPr>
        <p:spPr bwMode="auto">
          <a:xfrm>
            <a:off x="7218760" y="4192191"/>
            <a:ext cx="594122" cy="323850"/>
          </a:xfrm>
          <a:prstGeom prst="wedgeRectCallout">
            <a:avLst>
              <a:gd name="adj1" fmla="val -21542"/>
              <a:gd name="adj2" fmla="val -150000"/>
            </a:avLst>
          </a:prstGeom>
          <a:solidFill>
            <a:schemeClr val="hlink"/>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high</a:t>
            </a:r>
            <a:endParaRPr lang="en-US" altLang="zh-CN" sz="1800"/>
          </a:p>
        </p:txBody>
      </p:sp>
      <p:sp>
        <p:nvSpPr>
          <p:cNvPr id="39" name="AutoShape 40"/>
          <p:cNvSpPr>
            <a:spLocks noChangeArrowheads="1"/>
          </p:cNvSpPr>
          <p:nvPr/>
        </p:nvSpPr>
        <p:spPr bwMode="auto">
          <a:xfrm>
            <a:off x="6569869" y="4192191"/>
            <a:ext cx="594122" cy="323850"/>
          </a:xfrm>
          <a:prstGeom prst="wedgeRectCallout">
            <a:avLst>
              <a:gd name="adj1" fmla="val -30361"/>
              <a:gd name="adj2" fmla="val -143014"/>
            </a:avLst>
          </a:prstGeom>
          <a:solidFill>
            <a:schemeClr val="hlink"/>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high</a:t>
            </a:r>
            <a:endParaRPr lang="en-US" altLang="zh-CN" sz="1800"/>
          </a:p>
        </p:txBody>
      </p:sp>
      <p:sp>
        <p:nvSpPr>
          <p:cNvPr id="40" name="AutoShape 41"/>
          <p:cNvSpPr>
            <a:spLocks noChangeArrowheads="1"/>
          </p:cNvSpPr>
          <p:nvPr/>
        </p:nvSpPr>
        <p:spPr bwMode="auto">
          <a:xfrm>
            <a:off x="1818085" y="4245769"/>
            <a:ext cx="540544" cy="325041"/>
          </a:xfrm>
          <a:prstGeom prst="wedgeRectCallout">
            <a:avLst>
              <a:gd name="adj1" fmla="val 17843"/>
              <a:gd name="adj2" fmla="val -168315"/>
            </a:avLst>
          </a:prstGeom>
          <a:solidFill>
            <a:schemeClr val="bg2"/>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low</a:t>
            </a:r>
            <a:endParaRPr lang="en-US" altLang="zh-CN" sz="1800"/>
          </a:p>
        </p:txBody>
      </p:sp>
      <p:sp>
        <p:nvSpPr>
          <p:cNvPr id="41" name="AutoShape 42"/>
          <p:cNvSpPr>
            <a:spLocks noChangeArrowheads="1"/>
          </p:cNvSpPr>
          <p:nvPr/>
        </p:nvSpPr>
        <p:spPr bwMode="auto">
          <a:xfrm>
            <a:off x="2465785" y="4245769"/>
            <a:ext cx="540544" cy="325041"/>
          </a:xfrm>
          <a:prstGeom prst="wedgeRectCallout">
            <a:avLst>
              <a:gd name="adj1" fmla="val 16301"/>
              <a:gd name="adj2" fmla="val -179306"/>
            </a:avLst>
          </a:prstGeom>
          <a:solidFill>
            <a:schemeClr val="bg2"/>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low</a:t>
            </a:r>
            <a:endParaRPr lang="en-US" altLang="zh-CN" sz="1800"/>
          </a:p>
        </p:txBody>
      </p:sp>
      <p:sp>
        <p:nvSpPr>
          <p:cNvPr id="42" name="AutoShape 43"/>
          <p:cNvSpPr>
            <a:spLocks noChangeArrowheads="1"/>
          </p:cNvSpPr>
          <p:nvPr/>
        </p:nvSpPr>
        <p:spPr bwMode="auto">
          <a:xfrm>
            <a:off x="3113485" y="4245769"/>
            <a:ext cx="540544" cy="325041"/>
          </a:xfrm>
          <a:prstGeom prst="wedgeRectCallout">
            <a:avLst>
              <a:gd name="adj1" fmla="val 13875"/>
              <a:gd name="adj2" fmla="val -163921"/>
            </a:avLst>
          </a:prstGeom>
          <a:solidFill>
            <a:schemeClr val="bg2"/>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low</a:t>
            </a:r>
            <a:endParaRPr lang="en-US" altLang="zh-CN" sz="1800"/>
          </a:p>
        </p:txBody>
      </p:sp>
      <p:grpSp>
        <p:nvGrpSpPr>
          <p:cNvPr id="44" name="Group 46"/>
          <p:cNvGrpSpPr/>
          <p:nvPr/>
        </p:nvGrpSpPr>
        <p:grpSpPr bwMode="auto">
          <a:xfrm>
            <a:off x="6516291" y="897732"/>
            <a:ext cx="366713" cy="2969419"/>
            <a:chOff x="4704" y="799"/>
            <a:chExt cx="308" cy="2449"/>
          </a:xfrm>
        </p:grpSpPr>
        <p:sp>
          <p:nvSpPr>
            <p:cNvPr id="45" name="AutoShape 47"/>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46" name="Text Box 48"/>
            <p:cNvSpPr txBox="1">
              <a:spLocks noChangeArrowheads="1"/>
            </p:cNvSpPr>
            <p:nvPr/>
          </p:nvSpPr>
          <p:spPr bwMode="auto">
            <a:xfrm>
              <a:off x="4704" y="1888"/>
              <a:ext cx="301" cy="3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9</a:t>
              </a:r>
              <a:endParaRPr lang="en-US" altLang="zh-CN" sz="1800"/>
            </a:p>
          </p:txBody>
        </p:sp>
      </p:grpSp>
      <p:grpSp>
        <p:nvGrpSpPr>
          <p:cNvPr id="47" name="Group 49"/>
          <p:cNvGrpSpPr/>
          <p:nvPr/>
        </p:nvGrpSpPr>
        <p:grpSpPr bwMode="auto">
          <a:xfrm>
            <a:off x="1385411" y="2301399"/>
            <a:ext cx="366713" cy="1565672"/>
            <a:chOff x="4704" y="799"/>
            <a:chExt cx="308" cy="2449"/>
          </a:xfrm>
        </p:grpSpPr>
        <p:sp>
          <p:nvSpPr>
            <p:cNvPr id="48" name="AutoShape 50"/>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49" name="Text Box 51"/>
            <p:cNvSpPr txBox="1">
              <a:spLocks noChangeArrowheads="1"/>
            </p:cNvSpPr>
            <p:nvPr/>
          </p:nvSpPr>
          <p:spPr bwMode="auto">
            <a:xfrm>
              <a:off x="4704" y="1887"/>
              <a:ext cx="301" cy="5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5</a:t>
              </a:r>
              <a:endParaRPr lang="en-US" altLang="zh-CN" sz="1800"/>
            </a:p>
          </p:txBody>
        </p:sp>
      </p:grpSp>
      <p:sp>
        <p:nvSpPr>
          <p:cNvPr id="50" name="AutoShape 52"/>
          <p:cNvSpPr>
            <a:spLocks noChangeArrowheads="1"/>
          </p:cNvSpPr>
          <p:nvPr/>
        </p:nvSpPr>
        <p:spPr bwMode="auto">
          <a:xfrm>
            <a:off x="5922169" y="4192191"/>
            <a:ext cx="594122" cy="323850"/>
          </a:xfrm>
          <a:prstGeom prst="wedgeRectCallout">
            <a:avLst>
              <a:gd name="adj1" fmla="val -17935"/>
              <a:gd name="adj2" fmla="val -144116"/>
            </a:avLst>
          </a:prstGeom>
          <a:solidFill>
            <a:schemeClr val="hlink"/>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high</a:t>
            </a:r>
            <a:endParaRPr lang="en-US" altLang="zh-CN" sz="1800"/>
          </a:p>
        </p:txBody>
      </p:sp>
      <p:sp>
        <p:nvSpPr>
          <p:cNvPr id="51" name="AutoShape 53"/>
          <p:cNvSpPr>
            <a:spLocks noChangeArrowheads="1"/>
          </p:cNvSpPr>
          <p:nvPr/>
        </p:nvSpPr>
        <p:spPr bwMode="auto">
          <a:xfrm>
            <a:off x="5166122" y="4192191"/>
            <a:ext cx="594122" cy="323850"/>
          </a:xfrm>
          <a:prstGeom prst="wedgeRectCallout">
            <a:avLst>
              <a:gd name="adj1" fmla="val 102"/>
              <a:gd name="adj2" fmla="val -144116"/>
            </a:avLst>
          </a:prstGeom>
          <a:solidFill>
            <a:schemeClr val="hlink"/>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high</a:t>
            </a:r>
            <a:endParaRPr lang="en-US" altLang="zh-CN" sz="1800"/>
          </a:p>
        </p:txBody>
      </p:sp>
      <p:sp>
        <p:nvSpPr>
          <p:cNvPr id="52" name="AutoShape 54"/>
          <p:cNvSpPr>
            <a:spLocks noChangeArrowheads="1"/>
          </p:cNvSpPr>
          <p:nvPr/>
        </p:nvSpPr>
        <p:spPr bwMode="auto">
          <a:xfrm>
            <a:off x="3762375" y="4245769"/>
            <a:ext cx="540544" cy="325041"/>
          </a:xfrm>
          <a:prstGeom prst="wedgeRectCallout">
            <a:avLst>
              <a:gd name="adj1" fmla="val 22468"/>
              <a:gd name="adj2" fmla="val -160255"/>
            </a:avLst>
          </a:prstGeom>
          <a:solidFill>
            <a:schemeClr val="bg2"/>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low</a:t>
            </a:r>
            <a:endParaRPr lang="en-US" altLang="zh-CN" sz="1800"/>
          </a:p>
        </p:txBody>
      </p:sp>
      <p:grpSp>
        <p:nvGrpSpPr>
          <p:cNvPr id="54" name="Group 56"/>
          <p:cNvGrpSpPr/>
          <p:nvPr/>
        </p:nvGrpSpPr>
        <p:grpSpPr bwMode="auto">
          <a:xfrm>
            <a:off x="5249386" y="1286590"/>
            <a:ext cx="366713" cy="2591990"/>
            <a:chOff x="4704" y="799"/>
            <a:chExt cx="308" cy="2449"/>
          </a:xfrm>
        </p:grpSpPr>
        <p:sp>
          <p:nvSpPr>
            <p:cNvPr id="55" name="AutoShape 57"/>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56" name="Text Box 58"/>
            <p:cNvSpPr txBox="1">
              <a:spLocks noChangeArrowheads="1"/>
            </p:cNvSpPr>
            <p:nvPr/>
          </p:nvSpPr>
          <p:spPr bwMode="auto">
            <a:xfrm>
              <a:off x="4704" y="1888"/>
              <a:ext cx="301" cy="3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8</a:t>
              </a:r>
              <a:endParaRPr lang="en-US" altLang="zh-CN" sz="1800"/>
            </a:p>
          </p:txBody>
        </p:sp>
      </p:grpSp>
      <p:grpSp>
        <p:nvGrpSpPr>
          <p:cNvPr id="57" name="Group 59"/>
          <p:cNvGrpSpPr/>
          <p:nvPr/>
        </p:nvGrpSpPr>
        <p:grpSpPr bwMode="auto">
          <a:xfrm>
            <a:off x="3177461" y="2646204"/>
            <a:ext cx="395288" cy="1241822"/>
            <a:chOff x="4680" y="799"/>
            <a:chExt cx="332" cy="2449"/>
          </a:xfrm>
        </p:grpSpPr>
        <p:sp>
          <p:nvSpPr>
            <p:cNvPr id="58" name="AutoShape 60"/>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59" name="Text Box 61"/>
            <p:cNvSpPr txBox="1">
              <a:spLocks noChangeArrowheads="1"/>
            </p:cNvSpPr>
            <p:nvPr/>
          </p:nvSpPr>
          <p:spPr bwMode="auto">
            <a:xfrm>
              <a:off x="4680" y="1886"/>
              <a:ext cx="301" cy="7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4</a:t>
              </a:r>
              <a:endParaRPr lang="en-US" altLang="zh-CN" sz="1800"/>
            </a:p>
          </p:txBody>
        </p:sp>
      </p:grpSp>
      <p:sp>
        <p:nvSpPr>
          <p:cNvPr id="60" name="AutoShape 62"/>
          <p:cNvSpPr>
            <a:spLocks noChangeArrowheads="1"/>
          </p:cNvSpPr>
          <p:nvPr/>
        </p:nvSpPr>
        <p:spPr bwMode="auto">
          <a:xfrm>
            <a:off x="4518422" y="4192191"/>
            <a:ext cx="594122" cy="323850"/>
          </a:xfrm>
          <a:prstGeom prst="wedgeRectCallout">
            <a:avLst>
              <a:gd name="adj1" fmla="val -6912"/>
              <a:gd name="adj2" fmla="val -148898"/>
            </a:avLst>
          </a:prstGeom>
          <a:solidFill>
            <a:schemeClr val="hlink"/>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high</a:t>
            </a:r>
            <a:endParaRPr lang="en-US" altLang="zh-CN" sz="1800"/>
          </a:p>
        </p:txBody>
      </p:sp>
      <p:sp>
        <p:nvSpPr>
          <p:cNvPr id="61" name="AutoShape 63"/>
          <p:cNvSpPr>
            <a:spLocks noChangeArrowheads="1"/>
          </p:cNvSpPr>
          <p:nvPr/>
        </p:nvSpPr>
        <p:spPr bwMode="auto">
          <a:xfrm>
            <a:off x="4410075" y="4569619"/>
            <a:ext cx="540544" cy="325041"/>
          </a:xfrm>
          <a:prstGeom prst="wedgeRectCallout">
            <a:avLst>
              <a:gd name="adj1" fmla="val 35903"/>
              <a:gd name="adj2" fmla="val -280403"/>
            </a:avLst>
          </a:prstGeom>
          <a:solidFill>
            <a:schemeClr val="bg2"/>
          </a:solidFill>
          <a:ln w="9525">
            <a:solidFill>
              <a:schemeClr val="tx1"/>
            </a:solidFill>
            <a:miter lim="800000"/>
          </a:ln>
        </p:spPr>
        <p:txBody>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low</a:t>
            </a:r>
            <a:endParaRPr lang="en-US" altLang="zh-CN" sz="1800"/>
          </a:p>
        </p:txBody>
      </p:sp>
      <p:grpSp>
        <p:nvGrpSpPr>
          <p:cNvPr id="62" name="Group 64"/>
          <p:cNvGrpSpPr/>
          <p:nvPr/>
        </p:nvGrpSpPr>
        <p:grpSpPr bwMode="auto">
          <a:xfrm>
            <a:off x="3867944" y="2916555"/>
            <a:ext cx="423863" cy="971550"/>
            <a:chOff x="4656" y="799"/>
            <a:chExt cx="356" cy="2449"/>
          </a:xfrm>
        </p:grpSpPr>
        <p:sp>
          <p:nvSpPr>
            <p:cNvPr id="63" name="AutoShape 65"/>
            <p:cNvSpPr>
              <a:spLocks noChangeArrowheads="1"/>
            </p:cNvSpPr>
            <p:nvPr/>
          </p:nvSpPr>
          <p:spPr bwMode="auto">
            <a:xfrm>
              <a:off x="4740" y="799"/>
              <a:ext cx="272" cy="2449"/>
            </a:xfrm>
            <a:prstGeom prst="can">
              <a:avLst>
                <a:gd name="adj" fmla="val 95581"/>
              </a:avLst>
            </a:prstGeom>
            <a:solidFill>
              <a:schemeClr val="accent1"/>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64" name="Text Box 66"/>
            <p:cNvSpPr txBox="1">
              <a:spLocks noChangeArrowheads="1"/>
            </p:cNvSpPr>
            <p:nvPr/>
          </p:nvSpPr>
          <p:spPr bwMode="auto">
            <a:xfrm>
              <a:off x="4656" y="1888"/>
              <a:ext cx="349" cy="9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  3</a:t>
              </a:r>
              <a:endParaRPr lang="en-US" altLang="zh-CN" sz="1800"/>
            </a:p>
          </p:txBody>
        </p:sp>
      </p:grpSp>
      <p:grpSp>
        <p:nvGrpSpPr>
          <p:cNvPr id="65" name="Group 67"/>
          <p:cNvGrpSpPr/>
          <p:nvPr/>
        </p:nvGrpSpPr>
        <p:grpSpPr bwMode="auto">
          <a:xfrm>
            <a:off x="608569" y="2008108"/>
            <a:ext cx="323850" cy="1889522"/>
            <a:chOff x="249" y="1661"/>
            <a:chExt cx="272" cy="1587"/>
          </a:xfrm>
        </p:grpSpPr>
        <p:sp>
          <p:nvSpPr>
            <p:cNvPr id="66" name="AutoShape 68"/>
            <p:cNvSpPr>
              <a:spLocks noChangeArrowheads="1"/>
            </p:cNvSpPr>
            <p:nvPr/>
          </p:nvSpPr>
          <p:spPr bwMode="auto">
            <a:xfrm>
              <a:off x="249" y="1661"/>
              <a:ext cx="272" cy="1587"/>
            </a:xfrm>
            <a:prstGeom prst="can">
              <a:avLst>
                <a:gd name="adj" fmla="val 61938"/>
              </a:avLst>
            </a:prstGeom>
            <a:solidFill>
              <a:schemeClr val="folHlink"/>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67" name="Text Box 69"/>
            <p:cNvSpPr txBox="1">
              <a:spLocks noChangeArrowheads="1"/>
            </p:cNvSpPr>
            <p:nvPr/>
          </p:nvSpPr>
          <p:spPr bwMode="auto">
            <a:xfrm>
              <a:off x="249" y="2387"/>
              <a:ext cx="252" cy="310"/>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6</a:t>
              </a:r>
              <a:endParaRPr lang="en-US" altLang="zh-CN" sz="1800"/>
            </a:p>
          </p:txBody>
        </p:sp>
      </p:grpSp>
      <p:grpSp>
        <p:nvGrpSpPr>
          <p:cNvPr id="69" name="Group 67"/>
          <p:cNvGrpSpPr/>
          <p:nvPr/>
        </p:nvGrpSpPr>
        <p:grpSpPr bwMode="auto">
          <a:xfrm>
            <a:off x="4617324" y="1968103"/>
            <a:ext cx="323850" cy="1889522"/>
            <a:chOff x="249" y="1661"/>
            <a:chExt cx="272" cy="1587"/>
          </a:xfrm>
        </p:grpSpPr>
        <p:sp>
          <p:nvSpPr>
            <p:cNvPr id="70" name="AutoShape 68"/>
            <p:cNvSpPr>
              <a:spLocks noChangeArrowheads="1"/>
            </p:cNvSpPr>
            <p:nvPr/>
          </p:nvSpPr>
          <p:spPr bwMode="auto">
            <a:xfrm>
              <a:off x="249" y="1661"/>
              <a:ext cx="272" cy="1587"/>
            </a:xfrm>
            <a:prstGeom prst="can">
              <a:avLst>
                <a:gd name="adj" fmla="val 61938"/>
              </a:avLst>
            </a:prstGeom>
            <a:solidFill>
              <a:schemeClr val="folHlink"/>
            </a:solidFill>
            <a:ln w="9525">
              <a:solidFill>
                <a:schemeClr val="tx1"/>
              </a:solidFill>
              <a:round/>
            </a:ln>
          </p:spPr>
          <p:txBody>
            <a:bodyPr wrap="none" anchor="ct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endParaRPr lang="zh-CN" altLang="en-US" sz="1800"/>
            </a:p>
          </p:txBody>
        </p:sp>
        <p:sp>
          <p:nvSpPr>
            <p:cNvPr id="71" name="Text Box 69"/>
            <p:cNvSpPr txBox="1">
              <a:spLocks noChangeArrowheads="1"/>
            </p:cNvSpPr>
            <p:nvPr/>
          </p:nvSpPr>
          <p:spPr bwMode="auto">
            <a:xfrm>
              <a:off x="249" y="2387"/>
              <a:ext cx="252" cy="310"/>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t>6</a:t>
              </a:r>
              <a:endParaRPr lang="en-US" altLang="zh-CN" sz="18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dissolve">
                                      <p:cBhvr>
                                        <p:cTn id="7" dur="500"/>
                                        <p:tgtEl>
                                          <p:spTgt spid="3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dissolve">
                                      <p:cBhvr>
                                        <p:cTn id="10" dur="500"/>
                                        <p:tgtEl>
                                          <p:spTgt spid="37"/>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dissolve">
                                      <p:cBhvr>
                                        <p:cTn id="15" dur="500"/>
                                        <p:tgtEl>
                                          <p:spTgt spid="65"/>
                                        </p:tgtEl>
                                      </p:cBhvr>
                                    </p:animEffect>
                                  </p:childTnLst>
                                </p:cTn>
                              </p:par>
                            </p:childTnLst>
                          </p:cTn>
                        </p:par>
                      </p:childTnLst>
                    </p:cTn>
                  </p:par>
                  <p:par>
                    <p:cTn id="16" fill="hold">
                      <p:stCondLst>
                        <p:cond delay="indefinite"/>
                      </p:stCondLst>
                      <p:childTnLst>
                        <p:par>
                          <p:cTn id="17" fill="hold">
                            <p:stCondLst>
                              <p:cond delay="0"/>
                            </p:stCondLst>
                            <p:childTnLst>
                              <p:par>
                                <p:cTn id="18" presetID="35" presetClass="emph" presetSubtype="0" fill="hold" nodeType="clickEffect">
                                  <p:stCondLst>
                                    <p:cond delay="0"/>
                                  </p:stCondLst>
                                  <p:childTnLst>
                                    <p:anim calcmode="discrete" valueType="str">
                                      <p:cBhvr>
                                        <p:cTn id="19"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9" presetClass="exit" presetSubtype="0" fill="hold" grpId="1" nodeType="clickEffect">
                                  <p:stCondLst>
                                    <p:cond delay="0"/>
                                  </p:stCondLst>
                                  <p:childTnLst>
                                    <p:animEffect transition="out" filter="dissolve">
                                      <p:cBhvr>
                                        <p:cTn id="23" dur="500"/>
                                        <p:tgtEl>
                                          <p:spTgt spid="38"/>
                                        </p:tgtEl>
                                      </p:cBhvr>
                                    </p:animEffect>
                                    <p:set>
                                      <p:cBhvr>
                                        <p:cTn id="24" dur="1" fill="hold">
                                          <p:stCondLst>
                                            <p:cond delay="499"/>
                                          </p:stCondLst>
                                        </p:cTn>
                                        <p:tgtEl>
                                          <p:spTgt spid="38"/>
                                        </p:tgtEl>
                                        <p:attrNameLst>
                                          <p:attrName>style.visibility</p:attrName>
                                        </p:attrNameLst>
                                      </p:cBhvr>
                                      <p:to>
                                        <p:strVal val="hidden"/>
                                      </p:to>
                                    </p:set>
                                  </p:childTnLst>
                                </p:cTn>
                              </p:par>
                            </p:childTnLst>
                          </p:cTn>
                        </p:par>
                        <p:par>
                          <p:cTn id="25" fill="hold">
                            <p:stCondLst>
                              <p:cond delay="500"/>
                            </p:stCondLst>
                            <p:childTnLst>
                              <p:par>
                                <p:cTn id="26" presetID="9" presetClass="entr" presetSubtype="0" fill="hold" grpId="0" nodeType="after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dissolve">
                                      <p:cBhvr>
                                        <p:cTn id="28" dur="500"/>
                                        <p:tgtEl>
                                          <p:spTgt spid="39"/>
                                        </p:tgtEl>
                                      </p:cBhvr>
                                    </p:animEffect>
                                  </p:childTnLst>
                                </p:cTn>
                              </p:par>
                            </p:childTnLst>
                          </p:cTn>
                        </p:par>
                      </p:childTnLst>
                    </p:cTn>
                  </p:par>
                  <p:par>
                    <p:cTn id="29" fill="hold">
                      <p:stCondLst>
                        <p:cond delay="indefinite"/>
                      </p:stCondLst>
                      <p:childTnLst>
                        <p:par>
                          <p:cTn id="30" fill="hold">
                            <p:stCondLst>
                              <p:cond delay="0"/>
                            </p:stCondLst>
                            <p:childTnLst>
                              <p:par>
                                <p:cTn id="31" presetID="35" presetClass="emph" presetSubtype="0" fill="hold" nodeType="clickEffect">
                                  <p:stCondLst>
                                    <p:cond delay="0"/>
                                  </p:stCondLst>
                                  <p:childTnLst>
                                    <p:anim calcmode="discrete" valueType="str">
                                      <p:cBhvr>
                                        <p:cTn id="32" dur="10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dissolve">
                                      <p:cBhvr>
                                        <p:cTn id="37" dur="500"/>
                                        <p:tgtEl>
                                          <p:spTgt spid="47"/>
                                        </p:tgtEl>
                                      </p:cBhvr>
                                    </p:animEffect>
                                  </p:childTnLst>
                                </p:cTn>
                              </p:par>
                            </p:childTnLst>
                          </p:cTn>
                        </p:par>
                        <p:par>
                          <p:cTn id="38" fill="hold">
                            <p:stCondLst>
                              <p:cond delay="500"/>
                            </p:stCondLst>
                            <p:childTnLst>
                              <p:par>
                                <p:cTn id="39" presetID="9" presetClass="exit" presetSubtype="0" fill="hold" nodeType="afterEffect">
                                  <p:stCondLst>
                                    <p:cond delay="0"/>
                                  </p:stCondLst>
                                  <p:childTnLst>
                                    <p:animEffect transition="out" filter="dissolve">
                                      <p:cBhvr>
                                        <p:cTn id="40" dur="500"/>
                                        <p:tgtEl>
                                          <p:spTgt spid="16"/>
                                        </p:tgtEl>
                                      </p:cBhvr>
                                    </p:animEffect>
                                    <p:set>
                                      <p:cBhvr>
                                        <p:cTn id="41" dur="1" fill="hold">
                                          <p:stCondLst>
                                            <p:cond delay="499"/>
                                          </p:stCondLst>
                                        </p:cTn>
                                        <p:tgtEl>
                                          <p:spTgt spid="16"/>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9" presetClass="exit" presetSubtype="0" fill="hold" grpId="1" nodeType="clickEffect">
                                  <p:stCondLst>
                                    <p:cond delay="0"/>
                                  </p:stCondLst>
                                  <p:childTnLst>
                                    <p:animEffect transition="out" filter="dissolve">
                                      <p:cBhvr>
                                        <p:cTn id="45" dur="500"/>
                                        <p:tgtEl>
                                          <p:spTgt spid="37"/>
                                        </p:tgtEl>
                                      </p:cBhvr>
                                    </p:animEffect>
                                    <p:set>
                                      <p:cBhvr>
                                        <p:cTn id="46" dur="1" fill="hold">
                                          <p:stCondLst>
                                            <p:cond delay="499"/>
                                          </p:stCondLst>
                                        </p:cTn>
                                        <p:tgtEl>
                                          <p:spTgt spid="37"/>
                                        </p:tgtEl>
                                        <p:attrNameLst>
                                          <p:attrName>style.visibility</p:attrName>
                                        </p:attrNameLst>
                                      </p:cBhvr>
                                      <p:to>
                                        <p:strVal val="hidden"/>
                                      </p:to>
                                    </p:set>
                                  </p:childTnLst>
                                </p:cTn>
                              </p:par>
                              <p:par>
                                <p:cTn id="47" presetID="9" presetClass="entr" presetSubtype="0" fill="hold" grpId="0" nodeType="with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dissolve">
                                      <p:cBhvr>
                                        <p:cTn id="49" dur="500"/>
                                        <p:tgtEl>
                                          <p:spTgt spid="40"/>
                                        </p:tgtEl>
                                      </p:cBhvr>
                                    </p:animEffect>
                                  </p:childTnLst>
                                </p:cTn>
                              </p:par>
                            </p:childTnLst>
                          </p:cTn>
                        </p:par>
                      </p:childTnLst>
                    </p:cTn>
                  </p:par>
                  <p:par>
                    <p:cTn id="50" fill="hold">
                      <p:stCondLst>
                        <p:cond delay="indefinite"/>
                      </p:stCondLst>
                      <p:childTnLst>
                        <p:par>
                          <p:cTn id="51" fill="hold">
                            <p:stCondLst>
                              <p:cond delay="0"/>
                            </p:stCondLst>
                            <p:childTnLst>
                              <p:par>
                                <p:cTn id="52" presetID="35" presetClass="emph" presetSubtype="0" fill="hold" nodeType="clickEffect">
                                  <p:stCondLst>
                                    <p:cond delay="0"/>
                                  </p:stCondLst>
                                  <p:childTnLst>
                                    <p:anim calcmode="discrete" valueType="str">
                                      <p:cBhvr>
                                        <p:cTn id="53"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9" presetClass="exit" presetSubtype="0" fill="hold" grpId="1" nodeType="clickEffect">
                                  <p:stCondLst>
                                    <p:cond delay="0"/>
                                  </p:stCondLst>
                                  <p:childTnLst>
                                    <p:animEffect transition="out" filter="dissolve">
                                      <p:cBhvr>
                                        <p:cTn id="57" dur="500"/>
                                        <p:tgtEl>
                                          <p:spTgt spid="40"/>
                                        </p:tgtEl>
                                      </p:cBhvr>
                                    </p:animEffect>
                                    <p:set>
                                      <p:cBhvr>
                                        <p:cTn id="58" dur="1" fill="hold">
                                          <p:stCondLst>
                                            <p:cond delay="499"/>
                                          </p:stCondLst>
                                        </p:cTn>
                                        <p:tgtEl>
                                          <p:spTgt spid="40"/>
                                        </p:tgtEl>
                                        <p:attrNameLst>
                                          <p:attrName>style.visibility</p:attrName>
                                        </p:attrNameLst>
                                      </p:cBhvr>
                                      <p:to>
                                        <p:strVal val="hidden"/>
                                      </p:to>
                                    </p:set>
                                  </p:childTnLst>
                                </p:cTn>
                              </p:par>
                              <p:par>
                                <p:cTn id="59" presetID="9"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dissolve">
                                      <p:cBhvr>
                                        <p:cTn id="61" dur="500"/>
                                        <p:tgtEl>
                                          <p:spTgt spid="41"/>
                                        </p:tgtEl>
                                      </p:cBhvr>
                                    </p:animEffect>
                                  </p:childTnLst>
                                </p:cTn>
                              </p:par>
                            </p:childTnLst>
                          </p:cTn>
                        </p:par>
                      </p:childTnLst>
                    </p:cTn>
                  </p:par>
                  <p:par>
                    <p:cTn id="62" fill="hold">
                      <p:stCondLst>
                        <p:cond delay="indefinite"/>
                      </p:stCondLst>
                      <p:childTnLst>
                        <p:par>
                          <p:cTn id="63" fill="hold">
                            <p:stCondLst>
                              <p:cond delay="0"/>
                            </p:stCondLst>
                            <p:childTnLst>
                              <p:par>
                                <p:cTn id="64" presetID="35" presetClass="emph" presetSubtype="0" fill="hold" nodeType="clickEffect">
                                  <p:stCondLst>
                                    <p:cond delay="0"/>
                                  </p:stCondLst>
                                  <p:childTnLst>
                                    <p:anim calcmode="discrete" valueType="str">
                                      <p:cBhvr>
                                        <p:cTn id="65"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par>
                    <p:cTn id="66" fill="hold">
                      <p:stCondLst>
                        <p:cond delay="indefinite"/>
                      </p:stCondLst>
                      <p:childTnLst>
                        <p:par>
                          <p:cTn id="67" fill="hold">
                            <p:stCondLst>
                              <p:cond delay="0"/>
                            </p:stCondLst>
                            <p:childTnLst>
                              <p:par>
                                <p:cTn id="68" presetID="9" presetClass="exit" presetSubtype="0" fill="hold" grpId="1" nodeType="clickEffect">
                                  <p:stCondLst>
                                    <p:cond delay="0"/>
                                  </p:stCondLst>
                                  <p:childTnLst>
                                    <p:animEffect transition="out" filter="dissolve">
                                      <p:cBhvr>
                                        <p:cTn id="69" dur="500"/>
                                        <p:tgtEl>
                                          <p:spTgt spid="41"/>
                                        </p:tgtEl>
                                      </p:cBhvr>
                                    </p:animEffect>
                                    <p:set>
                                      <p:cBhvr>
                                        <p:cTn id="70" dur="1" fill="hold">
                                          <p:stCondLst>
                                            <p:cond delay="499"/>
                                          </p:stCondLst>
                                        </p:cTn>
                                        <p:tgtEl>
                                          <p:spTgt spid="41"/>
                                        </p:tgtEl>
                                        <p:attrNameLst>
                                          <p:attrName>style.visibility</p:attrName>
                                        </p:attrNameLst>
                                      </p:cBhvr>
                                      <p:to>
                                        <p:strVal val="hidden"/>
                                      </p:to>
                                    </p:set>
                                  </p:childTnLst>
                                </p:cTn>
                              </p:par>
                              <p:par>
                                <p:cTn id="71" presetID="9" presetClass="entr" presetSubtype="0" fill="hold" grpId="0" nodeType="withEffect">
                                  <p:stCondLst>
                                    <p:cond delay="0"/>
                                  </p:stCondLst>
                                  <p:childTnLst>
                                    <p:set>
                                      <p:cBhvr>
                                        <p:cTn id="72" dur="1" fill="hold">
                                          <p:stCondLst>
                                            <p:cond delay="0"/>
                                          </p:stCondLst>
                                        </p:cTn>
                                        <p:tgtEl>
                                          <p:spTgt spid="42"/>
                                        </p:tgtEl>
                                        <p:attrNameLst>
                                          <p:attrName>style.visibility</p:attrName>
                                        </p:attrNameLst>
                                      </p:cBhvr>
                                      <p:to>
                                        <p:strVal val="visible"/>
                                      </p:to>
                                    </p:set>
                                    <p:animEffect transition="in" filter="dissolve">
                                      <p:cBhvr>
                                        <p:cTn id="73" dur="500"/>
                                        <p:tgtEl>
                                          <p:spTgt spid="42"/>
                                        </p:tgtEl>
                                      </p:cBhvr>
                                    </p:animEffect>
                                  </p:childTnLst>
                                </p:cTn>
                              </p:par>
                            </p:childTnLst>
                          </p:cTn>
                        </p:par>
                      </p:childTnLst>
                    </p:cTn>
                  </p:par>
                  <p:par>
                    <p:cTn id="74" fill="hold">
                      <p:stCondLst>
                        <p:cond delay="indefinite"/>
                      </p:stCondLst>
                      <p:childTnLst>
                        <p:par>
                          <p:cTn id="75" fill="hold">
                            <p:stCondLst>
                              <p:cond delay="0"/>
                            </p:stCondLst>
                            <p:childTnLst>
                              <p:par>
                                <p:cTn id="76" presetID="35" presetClass="emph" presetSubtype="0" fill="hold" nodeType="clickEffect">
                                  <p:stCondLst>
                                    <p:cond delay="0"/>
                                  </p:stCondLst>
                                  <p:childTnLst>
                                    <p:anim calcmode="discrete" valueType="str">
                                      <p:cBhvr>
                                        <p:cTn id="77" dur="1000" fill="hold"/>
                                        <p:tgtEl>
                                          <p:spTgt spid="72"/>
                                        </p:tgtEl>
                                        <p:attrNameLst>
                                          <p:attrName>style.visibility</p:attrName>
                                        </p:attrNameLst>
                                      </p:cBhvr>
                                      <p:tavLst>
                                        <p:tav tm="0">
                                          <p:val>
                                            <p:strVal val="hidden"/>
                                          </p:val>
                                        </p:tav>
                                        <p:tav tm="50000">
                                          <p:val>
                                            <p:strVal val="visible"/>
                                          </p:val>
                                        </p:tav>
                                      </p:tavLst>
                                    </p:anim>
                                  </p:childTnLst>
                                </p:cTn>
                              </p:par>
                            </p:childTnLst>
                          </p:cTn>
                        </p:par>
                      </p:childTnLst>
                    </p:cTn>
                  </p:par>
                  <p:par>
                    <p:cTn id="78" fill="hold">
                      <p:stCondLst>
                        <p:cond delay="indefinite"/>
                      </p:stCondLst>
                      <p:childTnLst>
                        <p:par>
                          <p:cTn id="79" fill="hold">
                            <p:stCondLst>
                              <p:cond delay="0"/>
                            </p:stCondLst>
                            <p:childTnLst>
                              <p:par>
                                <p:cTn id="80" presetID="9" presetClass="exit" presetSubtype="0" fill="hold" nodeType="clickEffect">
                                  <p:stCondLst>
                                    <p:cond delay="0"/>
                                  </p:stCondLst>
                                  <p:childTnLst>
                                    <p:animEffect transition="out" filter="dissolve">
                                      <p:cBhvr>
                                        <p:cTn id="81" dur="500"/>
                                        <p:tgtEl>
                                          <p:spTgt spid="19"/>
                                        </p:tgtEl>
                                      </p:cBhvr>
                                    </p:animEffect>
                                    <p:set>
                                      <p:cBhvr>
                                        <p:cTn id="82" dur="1" fill="hold">
                                          <p:stCondLst>
                                            <p:cond delay="499"/>
                                          </p:stCondLst>
                                        </p:cTn>
                                        <p:tgtEl>
                                          <p:spTgt spid="19"/>
                                        </p:tgtEl>
                                        <p:attrNameLst>
                                          <p:attrName>style.visibility</p:attrName>
                                        </p:attrNameLst>
                                      </p:cBhvr>
                                      <p:to>
                                        <p:strVal val="hidden"/>
                                      </p:to>
                                    </p:set>
                                  </p:childTnLst>
                                </p:cTn>
                              </p:par>
                              <p:par>
                                <p:cTn id="83" presetID="9" presetClass="entr" presetSubtype="0" fill="hold" nodeType="withEffect">
                                  <p:stCondLst>
                                    <p:cond delay="0"/>
                                  </p:stCondLst>
                                  <p:childTnLst>
                                    <p:set>
                                      <p:cBhvr>
                                        <p:cTn id="84" dur="1" fill="hold">
                                          <p:stCondLst>
                                            <p:cond delay="0"/>
                                          </p:stCondLst>
                                        </p:cTn>
                                        <p:tgtEl>
                                          <p:spTgt spid="44"/>
                                        </p:tgtEl>
                                        <p:attrNameLst>
                                          <p:attrName>style.visibility</p:attrName>
                                        </p:attrNameLst>
                                      </p:cBhvr>
                                      <p:to>
                                        <p:strVal val="visible"/>
                                      </p:to>
                                    </p:set>
                                    <p:animEffect transition="in" filter="dissolve">
                                      <p:cBhvr>
                                        <p:cTn id="85" dur="500"/>
                                        <p:tgtEl>
                                          <p:spTgt spid="44"/>
                                        </p:tgtEl>
                                      </p:cBhvr>
                                    </p:animEffect>
                                  </p:childTnLst>
                                </p:cTn>
                              </p:par>
                            </p:childTnLst>
                          </p:cTn>
                        </p:par>
                      </p:childTnLst>
                    </p:cTn>
                  </p:par>
                  <p:par>
                    <p:cTn id="86" fill="hold">
                      <p:stCondLst>
                        <p:cond delay="indefinite"/>
                      </p:stCondLst>
                      <p:childTnLst>
                        <p:par>
                          <p:cTn id="87" fill="hold">
                            <p:stCondLst>
                              <p:cond delay="0"/>
                            </p:stCondLst>
                            <p:childTnLst>
                              <p:par>
                                <p:cTn id="88" presetID="9" presetClass="exit" presetSubtype="0" fill="hold" grpId="1" nodeType="clickEffect">
                                  <p:stCondLst>
                                    <p:cond delay="0"/>
                                  </p:stCondLst>
                                  <p:childTnLst>
                                    <p:animEffect transition="out" filter="dissolve">
                                      <p:cBhvr>
                                        <p:cTn id="89" dur="500"/>
                                        <p:tgtEl>
                                          <p:spTgt spid="39"/>
                                        </p:tgtEl>
                                      </p:cBhvr>
                                    </p:animEffect>
                                    <p:set>
                                      <p:cBhvr>
                                        <p:cTn id="90" dur="1" fill="hold">
                                          <p:stCondLst>
                                            <p:cond delay="499"/>
                                          </p:stCondLst>
                                        </p:cTn>
                                        <p:tgtEl>
                                          <p:spTgt spid="39"/>
                                        </p:tgtEl>
                                        <p:attrNameLst>
                                          <p:attrName>style.visibility</p:attrName>
                                        </p:attrNameLst>
                                      </p:cBhvr>
                                      <p:to>
                                        <p:strVal val="hidden"/>
                                      </p:to>
                                    </p:set>
                                  </p:childTnLst>
                                </p:cTn>
                              </p:par>
                            </p:childTnLst>
                          </p:cTn>
                        </p:par>
                        <p:par>
                          <p:cTn id="91" fill="hold">
                            <p:stCondLst>
                              <p:cond delay="500"/>
                            </p:stCondLst>
                            <p:childTnLst>
                              <p:par>
                                <p:cTn id="92" presetID="9" presetClass="entr" presetSubtype="0" fill="hold" grpId="0" nodeType="afterEffect">
                                  <p:stCondLst>
                                    <p:cond delay="0"/>
                                  </p:stCondLst>
                                  <p:childTnLst>
                                    <p:set>
                                      <p:cBhvr>
                                        <p:cTn id="93" dur="1" fill="hold">
                                          <p:stCondLst>
                                            <p:cond delay="0"/>
                                          </p:stCondLst>
                                        </p:cTn>
                                        <p:tgtEl>
                                          <p:spTgt spid="50"/>
                                        </p:tgtEl>
                                        <p:attrNameLst>
                                          <p:attrName>style.visibility</p:attrName>
                                        </p:attrNameLst>
                                      </p:cBhvr>
                                      <p:to>
                                        <p:strVal val="visible"/>
                                      </p:to>
                                    </p:set>
                                    <p:animEffect transition="in" filter="dissolve">
                                      <p:cBhvr>
                                        <p:cTn id="94" dur="500"/>
                                        <p:tgtEl>
                                          <p:spTgt spid="50"/>
                                        </p:tgtEl>
                                      </p:cBhvr>
                                    </p:animEffect>
                                  </p:childTnLst>
                                </p:cTn>
                              </p:par>
                            </p:childTnLst>
                          </p:cTn>
                        </p:par>
                      </p:childTnLst>
                    </p:cTn>
                  </p:par>
                  <p:par>
                    <p:cTn id="95" fill="hold">
                      <p:stCondLst>
                        <p:cond delay="indefinite"/>
                      </p:stCondLst>
                      <p:childTnLst>
                        <p:par>
                          <p:cTn id="96" fill="hold">
                            <p:stCondLst>
                              <p:cond delay="0"/>
                            </p:stCondLst>
                            <p:childTnLst>
                              <p:par>
                                <p:cTn id="97" presetID="35" presetClass="emph" presetSubtype="0" fill="hold" nodeType="clickEffect">
                                  <p:stCondLst>
                                    <p:cond delay="0"/>
                                  </p:stCondLst>
                                  <p:childTnLst>
                                    <p:anim calcmode="discrete" valueType="str">
                                      <p:cBhvr>
                                        <p:cTn id="98" dur="1000" fill="hold"/>
                                        <p:tgtEl>
                                          <p:spTgt spid="4"/>
                                        </p:tgtEl>
                                        <p:attrNameLst>
                                          <p:attrName>style.visibility</p:attrName>
                                        </p:attrNameLst>
                                      </p:cBhvr>
                                      <p:tavLst>
                                        <p:tav tm="0">
                                          <p:val>
                                            <p:strVal val="hidden"/>
                                          </p:val>
                                        </p:tav>
                                        <p:tav tm="50000">
                                          <p:val>
                                            <p:strVal val="visible"/>
                                          </p:val>
                                        </p:tav>
                                      </p:tavLst>
                                    </p:anim>
                                  </p:childTnLst>
                                </p:cTn>
                              </p:par>
                            </p:childTnLst>
                          </p:cTn>
                        </p:par>
                        <p:par>
                          <p:cTn id="99" fill="hold">
                            <p:stCondLst>
                              <p:cond delay="1000"/>
                            </p:stCondLst>
                            <p:childTnLst>
                              <p:par>
                                <p:cTn id="100" presetID="9" presetClass="exit" presetSubtype="0" fill="hold" grpId="1" nodeType="afterEffect">
                                  <p:stCondLst>
                                    <p:cond delay="0"/>
                                  </p:stCondLst>
                                  <p:childTnLst>
                                    <p:animEffect transition="out" filter="dissolve">
                                      <p:cBhvr>
                                        <p:cTn id="101" dur="500"/>
                                        <p:tgtEl>
                                          <p:spTgt spid="50"/>
                                        </p:tgtEl>
                                      </p:cBhvr>
                                    </p:animEffect>
                                    <p:set>
                                      <p:cBhvr>
                                        <p:cTn id="102" dur="1" fill="hold">
                                          <p:stCondLst>
                                            <p:cond delay="499"/>
                                          </p:stCondLst>
                                        </p:cTn>
                                        <p:tgtEl>
                                          <p:spTgt spid="50"/>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9" presetClass="entr" presetSubtype="0" fill="hold" grpId="0" nodeType="click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dissolve">
                                      <p:cBhvr>
                                        <p:cTn id="107" dur="500"/>
                                        <p:tgtEl>
                                          <p:spTgt spid="51"/>
                                        </p:tgtEl>
                                      </p:cBhvr>
                                    </p:animEffec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nodeType="clickEffect">
                                  <p:stCondLst>
                                    <p:cond delay="0"/>
                                  </p:stCondLst>
                                  <p:childTnLst>
                                    <p:anim calcmode="discrete" valueType="str">
                                      <p:cBhvr>
                                        <p:cTn id="111"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112" fill="hold">
                      <p:stCondLst>
                        <p:cond delay="indefinite"/>
                      </p:stCondLst>
                      <p:childTnLst>
                        <p:par>
                          <p:cTn id="113" fill="hold">
                            <p:stCondLst>
                              <p:cond delay="0"/>
                            </p:stCondLst>
                            <p:childTnLst>
                              <p:par>
                                <p:cTn id="114" presetID="9" presetClass="entr" presetSubtype="0" fill="hold" nodeType="clickEffect">
                                  <p:stCondLst>
                                    <p:cond delay="0"/>
                                  </p:stCondLst>
                                  <p:childTnLst>
                                    <p:set>
                                      <p:cBhvr>
                                        <p:cTn id="115" dur="1" fill="hold">
                                          <p:stCondLst>
                                            <p:cond delay="0"/>
                                          </p:stCondLst>
                                        </p:cTn>
                                        <p:tgtEl>
                                          <p:spTgt spid="57"/>
                                        </p:tgtEl>
                                        <p:attrNameLst>
                                          <p:attrName>style.visibility</p:attrName>
                                        </p:attrNameLst>
                                      </p:cBhvr>
                                      <p:to>
                                        <p:strVal val="visible"/>
                                      </p:to>
                                    </p:set>
                                    <p:animEffect transition="in" filter="dissolve">
                                      <p:cBhvr>
                                        <p:cTn id="116" dur="500"/>
                                        <p:tgtEl>
                                          <p:spTgt spid="57"/>
                                        </p:tgtEl>
                                      </p:cBhvr>
                                    </p:animEffect>
                                  </p:childTnLst>
                                </p:cTn>
                              </p:par>
                            </p:childTnLst>
                          </p:cTn>
                        </p:par>
                        <p:par>
                          <p:cTn id="117" fill="hold">
                            <p:stCondLst>
                              <p:cond delay="500"/>
                            </p:stCondLst>
                            <p:childTnLst>
                              <p:par>
                                <p:cTn id="118" presetID="9" presetClass="exit" presetSubtype="0" fill="hold" nodeType="afterEffect">
                                  <p:stCondLst>
                                    <p:cond delay="0"/>
                                  </p:stCondLst>
                                  <p:childTnLst>
                                    <p:animEffect transition="out" filter="dissolve">
                                      <p:cBhvr>
                                        <p:cTn id="119" dur="500"/>
                                        <p:tgtEl>
                                          <p:spTgt spid="72"/>
                                        </p:tgtEl>
                                      </p:cBhvr>
                                    </p:animEffect>
                                    <p:set>
                                      <p:cBhvr>
                                        <p:cTn id="120" dur="1" fill="hold">
                                          <p:stCondLst>
                                            <p:cond delay="499"/>
                                          </p:stCondLst>
                                        </p:cTn>
                                        <p:tgtEl>
                                          <p:spTgt spid="72"/>
                                        </p:tgtEl>
                                        <p:attrNameLst>
                                          <p:attrName>style.visibility</p:attrName>
                                        </p:attrNameLst>
                                      </p:cBhvr>
                                      <p:to>
                                        <p:strVal val="hidden"/>
                                      </p:to>
                                    </p:set>
                                  </p:childTnLst>
                                </p:cTn>
                              </p:par>
                            </p:childTnLst>
                          </p:cTn>
                        </p:par>
                      </p:childTnLst>
                    </p:cTn>
                  </p:par>
                  <p:par>
                    <p:cTn id="121" fill="hold">
                      <p:stCondLst>
                        <p:cond delay="indefinite"/>
                      </p:stCondLst>
                      <p:childTnLst>
                        <p:par>
                          <p:cTn id="122" fill="hold">
                            <p:stCondLst>
                              <p:cond delay="0"/>
                            </p:stCondLst>
                            <p:childTnLst>
                              <p:par>
                                <p:cTn id="123" presetID="9" presetClass="exit" presetSubtype="0" fill="hold" grpId="1" nodeType="clickEffect">
                                  <p:stCondLst>
                                    <p:cond delay="0"/>
                                  </p:stCondLst>
                                  <p:childTnLst>
                                    <p:animEffect transition="out" filter="dissolve">
                                      <p:cBhvr>
                                        <p:cTn id="124" dur="500"/>
                                        <p:tgtEl>
                                          <p:spTgt spid="42"/>
                                        </p:tgtEl>
                                      </p:cBhvr>
                                    </p:animEffect>
                                    <p:set>
                                      <p:cBhvr>
                                        <p:cTn id="125" dur="1" fill="hold">
                                          <p:stCondLst>
                                            <p:cond delay="499"/>
                                          </p:stCondLst>
                                        </p:cTn>
                                        <p:tgtEl>
                                          <p:spTgt spid="42"/>
                                        </p:tgtEl>
                                        <p:attrNameLst>
                                          <p:attrName>style.visibility</p:attrName>
                                        </p:attrNameLst>
                                      </p:cBhvr>
                                      <p:to>
                                        <p:strVal val="hidden"/>
                                      </p:to>
                                    </p:set>
                                  </p:childTnLst>
                                </p:cTn>
                              </p:par>
                              <p:par>
                                <p:cTn id="126" presetID="9" presetClass="entr" presetSubtype="0" fill="hold" grpId="0" nodeType="withEffect">
                                  <p:stCondLst>
                                    <p:cond delay="0"/>
                                  </p:stCondLst>
                                  <p:childTnLst>
                                    <p:set>
                                      <p:cBhvr>
                                        <p:cTn id="127" dur="1" fill="hold">
                                          <p:stCondLst>
                                            <p:cond delay="0"/>
                                          </p:stCondLst>
                                        </p:cTn>
                                        <p:tgtEl>
                                          <p:spTgt spid="52"/>
                                        </p:tgtEl>
                                        <p:attrNameLst>
                                          <p:attrName>style.visibility</p:attrName>
                                        </p:attrNameLst>
                                      </p:cBhvr>
                                      <p:to>
                                        <p:strVal val="visible"/>
                                      </p:to>
                                    </p:set>
                                    <p:animEffect transition="in" filter="dissolve">
                                      <p:cBhvr>
                                        <p:cTn id="128" dur="500"/>
                                        <p:tgtEl>
                                          <p:spTgt spid="52"/>
                                        </p:tgtEl>
                                      </p:cBhvr>
                                    </p:animEffect>
                                  </p:childTnLst>
                                </p:cTn>
                              </p:par>
                            </p:childTnLst>
                          </p:cTn>
                        </p:par>
                      </p:childTnLst>
                    </p:cTn>
                  </p:par>
                  <p:par>
                    <p:cTn id="129" fill="hold">
                      <p:stCondLst>
                        <p:cond delay="indefinite"/>
                      </p:stCondLst>
                      <p:childTnLst>
                        <p:par>
                          <p:cTn id="130" fill="hold">
                            <p:stCondLst>
                              <p:cond delay="0"/>
                            </p:stCondLst>
                            <p:childTnLst>
                              <p:par>
                                <p:cTn id="131" presetID="35" presetClass="emph" presetSubtype="0" fill="hold" nodeType="clickEffect">
                                  <p:stCondLst>
                                    <p:cond delay="0"/>
                                  </p:stCondLst>
                                  <p:childTnLst>
                                    <p:anim calcmode="discrete" valueType="str">
                                      <p:cBhvr>
                                        <p:cTn id="132"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9" presetClass="entr" presetSubtype="0" fill="hold" nodeType="click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dissolve">
                                      <p:cBhvr>
                                        <p:cTn id="137" dur="500"/>
                                        <p:tgtEl>
                                          <p:spTgt spid="54"/>
                                        </p:tgtEl>
                                      </p:cBhvr>
                                    </p:animEffect>
                                  </p:childTnLst>
                                </p:cTn>
                              </p:par>
                            </p:childTnLst>
                          </p:cTn>
                        </p:par>
                        <p:par>
                          <p:cTn id="138" fill="hold">
                            <p:stCondLst>
                              <p:cond delay="500"/>
                            </p:stCondLst>
                            <p:childTnLst>
                              <p:par>
                                <p:cTn id="139" presetID="9" presetClass="exit" presetSubtype="0" fill="hold" nodeType="afterEffect">
                                  <p:stCondLst>
                                    <p:cond delay="0"/>
                                  </p:stCondLst>
                                  <p:childTnLst>
                                    <p:animEffect transition="out" filter="dissolve">
                                      <p:cBhvr>
                                        <p:cTn id="140" dur="500"/>
                                        <p:tgtEl>
                                          <p:spTgt spid="22"/>
                                        </p:tgtEl>
                                      </p:cBhvr>
                                    </p:animEffect>
                                    <p:set>
                                      <p:cBhvr>
                                        <p:cTn id="141" dur="1" fill="hold">
                                          <p:stCondLst>
                                            <p:cond delay="499"/>
                                          </p:stCondLst>
                                        </p:cTn>
                                        <p:tgtEl>
                                          <p:spTgt spid="22"/>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9" presetClass="exit" presetSubtype="0" fill="hold" grpId="1" nodeType="clickEffect">
                                  <p:stCondLst>
                                    <p:cond delay="0"/>
                                  </p:stCondLst>
                                  <p:childTnLst>
                                    <p:animEffect transition="out" filter="dissolve">
                                      <p:cBhvr>
                                        <p:cTn id="145" dur="500"/>
                                        <p:tgtEl>
                                          <p:spTgt spid="51"/>
                                        </p:tgtEl>
                                      </p:cBhvr>
                                    </p:animEffect>
                                    <p:set>
                                      <p:cBhvr>
                                        <p:cTn id="146" dur="1" fill="hold">
                                          <p:stCondLst>
                                            <p:cond delay="499"/>
                                          </p:stCondLst>
                                        </p:cTn>
                                        <p:tgtEl>
                                          <p:spTgt spid="51"/>
                                        </p:tgtEl>
                                        <p:attrNameLst>
                                          <p:attrName>style.visibility</p:attrName>
                                        </p:attrNameLst>
                                      </p:cBhvr>
                                      <p:to>
                                        <p:strVal val="hidden"/>
                                      </p:to>
                                    </p:set>
                                  </p:childTnLst>
                                </p:cTn>
                              </p:par>
                            </p:childTnLst>
                          </p:cTn>
                        </p:par>
                        <p:par>
                          <p:cTn id="147" fill="hold">
                            <p:stCondLst>
                              <p:cond delay="500"/>
                            </p:stCondLst>
                            <p:childTnLst>
                              <p:par>
                                <p:cTn id="148" presetID="9" presetClass="entr" presetSubtype="0" fill="hold" grpId="0" nodeType="afterEffect">
                                  <p:stCondLst>
                                    <p:cond delay="0"/>
                                  </p:stCondLst>
                                  <p:childTnLst>
                                    <p:set>
                                      <p:cBhvr>
                                        <p:cTn id="149" dur="1" fill="hold">
                                          <p:stCondLst>
                                            <p:cond delay="0"/>
                                          </p:stCondLst>
                                        </p:cTn>
                                        <p:tgtEl>
                                          <p:spTgt spid="60"/>
                                        </p:tgtEl>
                                        <p:attrNameLst>
                                          <p:attrName>style.visibility</p:attrName>
                                        </p:attrNameLst>
                                      </p:cBhvr>
                                      <p:to>
                                        <p:strVal val="visible"/>
                                      </p:to>
                                    </p:set>
                                    <p:animEffect transition="in" filter="dissolve">
                                      <p:cBhvr>
                                        <p:cTn id="150" dur="500"/>
                                        <p:tgtEl>
                                          <p:spTgt spid="60"/>
                                        </p:tgtEl>
                                      </p:cBhvr>
                                    </p:animEffect>
                                  </p:childTnLst>
                                </p:cTn>
                              </p:par>
                            </p:childTnLst>
                          </p:cTn>
                        </p:par>
                      </p:childTnLst>
                    </p:cTn>
                  </p:par>
                  <p:par>
                    <p:cTn id="151" fill="hold">
                      <p:stCondLst>
                        <p:cond delay="indefinite"/>
                      </p:stCondLst>
                      <p:childTnLst>
                        <p:par>
                          <p:cTn id="152" fill="hold">
                            <p:stCondLst>
                              <p:cond delay="0"/>
                            </p:stCondLst>
                            <p:childTnLst>
                              <p:par>
                                <p:cTn id="153" presetID="35" presetClass="emph" presetSubtype="0" fill="hold" nodeType="clickEffect">
                                  <p:stCondLst>
                                    <p:cond delay="0"/>
                                  </p:stCondLst>
                                  <p:childTnLst>
                                    <p:anim calcmode="discrete" valueType="str">
                                      <p:cBhvr>
                                        <p:cTn id="154"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par>
                    <p:cTn id="155" fill="hold">
                      <p:stCondLst>
                        <p:cond delay="indefinite"/>
                      </p:stCondLst>
                      <p:childTnLst>
                        <p:par>
                          <p:cTn id="156" fill="hold">
                            <p:stCondLst>
                              <p:cond delay="0"/>
                            </p:stCondLst>
                            <p:childTnLst>
                              <p:par>
                                <p:cTn id="157" presetID="9" presetClass="entr" presetSubtype="0" fill="hold" nodeType="clickEffect">
                                  <p:stCondLst>
                                    <p:cond delay="0"/>
                                  </p:stCondLst>
                                  <p:childTnLst>
                                    <p:set>
                                      <p:cBhvr>
                                        <p:cTn id="158" dur="1" fill="hold">
                                          <p:stCondLst>
                                            <p:cond delay="0"/>
                                          </p:stCondLst>
                                        </p:cTn>
                                        <p:tgtEl>
                                          <p:spTgt spid="62"/>
                                        </p:tgtEl>
                                        <p:attrNameLst>
                                          <p:attrName>style.visibility</p:attrName>
                                        </p:attrNameLst>
                                      </p:cBhvr>
                                      <p:to>
                                        <p:strVal val="visible"/>
                                      </p:to>
                                    </p:set>
                                    <p:animEffect transition="in" filter="dissolve">
                                      <p:cBhvr>
                                        <p:cTn id="159" dur="500"/>
                                        <p:tgtEl>
                                          <p:spTgt spid="62"/>
                                        </p:tgtEl>
                                      </p:cBhvr>
                                    </p:animEffect>
                                  </p:childTnLst>
                                </p:cTn>
                              </p:par>
                            </p:childTnLst>
                          </p:cTn>
                        </p:par>
                        <p:par>
                          <p:cTn id="160" fill="hold">
                            <p:stCondLst>
                              <p:cond delay="500"/>
                            </p:stCondLst>
                            <p:childTnLst>
                              <p:par>
                                <p:cTn id="161" presetID="9" presetClass="exit" presetSubtype="0" fill="hold" nodeType="afterEffect">
                                  <p:stCondLst>
                                    <p:cond delay="0"/>
                                  </p:stCondLst>
                                  <p:childTnLst>
                                    <p:animEffect transition="out" filter="dissolve">
                                      <p:cBhvr>
                                        <p:cTn id="162" dur="500"/>
                                        <p:tgtEl>
                                          <p:spTgt spid="10"/>
                                        </p:tgtEl>
                                      </p:cBhvr>
                                    </p:animEffect>
                                    <p:set>
                                      <p:cBhvr>
                                        <p:cTn id="163" dur="1" fill="hold">
                                          <p:stCondLst>
                                            <p:cond delay="499"/>
                                          </p:stCondLst>
                                        </p:cTn>
                                        <p:tgtEl>
                                          <p:spTgt spid="10"/>
                                        </p:tgtEl>
                                        <p:attrNameLst>
                                          <p:attrName>style.visibility</p:attrName>
                                        </p:attrNameLst>
                                      </p:cBhvr>
                                      <p:to>
                                        <p:strVal val="hidden"/>
                                      </p:to>
                                    </p:set>
                                  </p:childTnLst>
                                </p:cTn>
                              </p:par>
                            </p:childTnLst>
                          </p:cTn>
                        </p:par>
                      </p:childTnLst>
                    </p:cTn>
                  </p:par>
                  <p:par>
                    <p:cTn id="164" fill="hold">
                      <p:stCondLst>
                        <p:cond delay="indefinite"/>
                      </p:stCondLst>
                      <p:childTnLst>
                        <p:par>
                          <p:cTn id="165" fill="hold">
                            <p:stCondLst>
                              <p:cond delay="0"/>
                            </p:stCondLst>
                            <p:childTnLst>
                              <p:par>
                                <p:cTn id="166" presetID="9" presetClass="exit" presetSubtype="0" fill="hold" grpId="1" nodeType="clickEffect">
                                  <p:stCondLst>
                                    <p:cond delay="0"/>
                                  </p:stCondLst>
                                  <p:childTnLst>
                                    <p:animEffect transition="out" filter="dissolve">
                                      <p:cBhvr>
                                        <p:cTn id="167" dur="500"/>
                                        <p:tgtEl>
                                          <p:spTgt spid="52"/>
                                        </p:tgtEl>
                                      </p:cBhvr>
                                    </p:animEffect>
                                    <p:set>
                                      <p:cBhvr>
                                        <p:cTn id="168" dur="1" fill="hold">
                                          <p:stCondLst>
                                            <p:cond delay="499"/>
                                          </p:stCondLst>
                                        </p:cTn>
                                        <p:tgtEl>
                                          <p:spTgt spid="52"/>
                                        </p:tgtEl>
                                        <p:attrNameLst>
                                          <p:attrName>style.visibility</p:attrName>
                                        </p:attrNameLst>
                                      </p:cBhvr>
                                      <p:to>
                                        <p:strVal val="hidden"/>
                                      </p:to>
                                    </p:set>
                                  </p:childTnLst>
                                </p:cTn>
                              </p:par>
                            </p:childTnLst>
                          </p:cTn>
                        </p:par>
                        <p:par>
                          <p:cTn id="169" fill="hold">
                            <p:stCondLst>
                              <p:cond delay="500"/>
                            </p:stCondLst>
                            <p:childTnLst>
                              <p:par>
                                <p:cTn id="170" presetID="9" presetClass="entr" presetSubtype="0" fill="hold" grpId="0" nodeType="afterEffect">
                                  <p:stCondLst>
                                    <p:cond delay="0"/>
                                  </p:stCondLst>
                                  <p:childTnLst>
                                    <p:set>
                                      <p:cBhvr>
                                        <p:cTn id="171" dur="1" fill="hold">
                                          <p:stCondLst>
                                            <p:cond delay="0"/>
                                          </p:stCondLst>
                                        </p:cTn>
                                        <p:tgtEl>
                                          <p:spTgt spid="61"/>
                                        </p:tgtEl>
                                        <p:attrNameLst>
                                          <p:attrName>style.visibility</p:attrName>
                                        </p:attrNameLst>
                                      </p:cBhvr>
                                      <p:to>
                                        <p:strVal val="visible"/>
                                      </p:to>
                                    </p:set>
                                    <p:animEffect transition="in" filter="dissolve">
                                      <p:cBhvr>
                                        <p:cTn id="172" dur="500"/>
                                        <p:tgtEl>
                                          <p:spTgt spid="61"/>
                                        </p:tgtEl>
                                      </p:cBhvr>
                                    </p:animEffect>
                                  </p:childTnLst>
                                </p:cTn>
                              </p:par>
                            </p:childTnLst>
                          </p:cTn>
                        </p:par>
                      </p:childTnLst>
                    </p:cTn>
                  </p:par>
                  <p:par>
                    <p:cTn id="173" fill="hold">
                      <p:stCondLst>
                        <p:cond delay="indefinite"/>
                      </p:stCondLst>
                      <p:childTnLst>
                        <p:par>
                          <p:cTn id="174" fill="hold">
                            <p:stCondLst>
                              <p:cond delay="0"/>
                            </p:stCondLst>
                            <p:childTnLst>
                              <p:par>
                                <p:cTn id="175" presetID="9" presetClass="exit" presetSubtype="0" fill="hold" nodeType="clickEffect">
                                  <p:stCondLst>
                                    <p:cond delay="0"/>
                                  </p:stCondLst>
                                  <p:childTnLst>
                                    <p:animEffect transition="out" filter="dissolve">
                                      <p:cBhvr>
                                        <p:cTn id="176" dur="500"/>
                                        <p:tgtEl>
                                          <p:spTgt spid="25"/>
                                        </p:tgtEl>
                                      </p:cBhvr>
                                    </p:animEffect>
                                    <p:set>
                                      <p:cBhvr>
                                        <p:cTn id="177" dur="1" fill="hold">
                                          <p:stCondLst>
                                            <p:cond delay="499"/>
                                          </p:stCondLst>
                                        </p:cTn>
                                        <p:tgtEl>
                                          <p:spTgt spid="25"/>
                                        </p:tgtEl>
                                        <p:attrNameLst>
                                          <p:attrName>style.visibility</p:attrName>
                                        </p:attrNameLst>
                                      </p:cBhvr>
                                      <p:to>
                                        <p:strVal val="hidden"/>
                                      </p:to>
                                    </p:set>
                                  </p:childTnLst>
                                </p:cTn>
                              </p:par>
                            </p:childTnLst>
                          </p:cTn>
                        </p:par>
                        <p:par>
                          <p:cTn id="178" fill="hold">
                            <p:stCondLst>
                              <p:cond delay="500"/>
                            </p:stCondLst>
                            <p:childTnLst>
                              <p:par>
                                <p:cTn id="179" presetID="9" presetClass="entr" presetSubtype="0" fill="hold" nodeType="afterEffect">
                                  <p:stCondLst>
                                    <p:cond delay="0"/>
                                  </p:stCondLst>
                                  <p:childTnLst>
                                    <p:set>
                                      <p:cBhvr>
                                        <p:cTn id="180" dur="1" fill="hold">
                                          <p:stCondLst>
                                            <p:cond delay="0"/>
                                          </p:stCondLst>
                                        </p:cTn>
                                        <p:tgtEl>
                                          <p:spTgt spid="69"/>
                                        </p:tgtEl>
                                        <p:attrNameLst>
                                          <p:attrName>style.visibility</p:attrName>
                                        </p:attrNameLst>
                                      </p:cBhvr>
                                      <p:to>
                                        <p:strVal val="visible"/>
                                      </p:to>
                                    </p:set>
                                    <p:animEffect transition="in" filter="dissolve">
                                      <p:cBhvr>
                                        <p:cTn id="181"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7" grpId="1" animBg="1"/>
      <p:bldP spid="38" grpId="0" animBg="1"/>
      <p:bldP spid="38" grpId="1" animBg="1"/>
      <p:bldP spid="39" grpId="0" animBg="1"/>
      <p:bldP spid="39" grpId="1" animBg="1"/>
      <p:bldP spid="40" grpId="0" animBg="1"/>
      <p:bldP spid="40" grpId="1" animBg="1"/>
      <p:bldP spid="41" grpId="0" animBg="1"/>
      <p:bldP spid="41" grpId="1" animBg="1"/>
      <p:bldP spid="42" grpId="0" animBg="1"/>
      <p:bldP spid="42" grpId="1" animBg="1"/>
      <p:bldP spid="50" grpId="0" animBg="1"/>
      <p:bldP spid="50" grpId="1" animBg="1"/>
      <p:bldP spid="51" grpId="0" animBg="1"/>
      <p:bldP spid="51" grpId="1" animBg="1"/>
      <p:bldP spid="52" grpId="0" animBg="1"/>
      <p:bldP spid="52" grpId="1" animBg="1"/>
      <p:bldP spid="60" grpId="0" animBg="1"/>
      <p:bldP spid="6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2800"/>
              </a:lnSpc>
            </a:pPr>
            <a:r>
              <a:rPr lang="en-US" altLang="zh-CN" sz="2200" dirty="0" smtClean="0"/>
              <a:t>void </a:t>
            </a:r>
            <a:r>
              <a:rPr lang="en-US" altLang="zh-CN" sz="2200" dirty="0" err="1" smtClean="0"/>
              <a:t>QuickSort</a:t>
            </a:r>
            <a:r>
              <a:rPr lang="en-US" altLang="zh-CN" sz="2200" dirty="0" smtClean="0"/>
              <a:t>(</a:t>
            </a:r>
            <a:r>
              <a:rPr lang="en-US" altLang="zh-CN" sz="2200" dirty="0" err="1" smtClean="0"/>
              <a:t>SqList</a:t>
            </a:r>
            <a:r>
              <a:rPr lang="en-US" altLang="zh-CN" sz="2200" dirty="0" smtClean="0"/>
              <a:t> &amp;L)</a:t>
            </a:r>
            <a:endParaRPr lang="en-US" altLang="zh-CN" sz="2200" dirty="0" smtClean="0"/>
          </a:p>
          <a:p>
            <a:pPr lvl="2">
              <a:lnSpc>
                <a:spcPts val="2800"/>
              </a:lnSpc>
            </a:pPr>
            <a:r>
              <a:rPr lang="en-US" altLang="zh-CN" sz="2200" dirty="0" smtClean="0"/>
              <a:t>{</a:t>
            </a:r>
            <a:endParaRPr lang="en-US" altLang="zh-CN" sz="2200" dirty="0" smtClean="0"/>
          </a:p>
          <a:p>
            <a:pPr lvl="2">
              <a:lnSpc>
                <a:spcPts val="2800"/>
              </a:lnSpc>
            </a:pPr>
            <a:r>
              <a:rPr lang="en-US" altLang="zh-CN" sz="2200" dirty="0"/>
              <a:t>	</a:t>
            </a:r>
            <a:r>
              <a:rPr lang="en-US" altLang="zh-CN" sz="2200" dirty="0" err="1" smtClean="0"/>
              <a:t>Qsort</a:t>
            </a:r>
            <a:r>
              <a:rPr lang="en-US" altLang="zh-CN" sz="2200" dirty="0" smtClean="0"/>
              <a:t>(L, 1, </a:t>
            </a:r>
            <a:r>
              <a:rPr lang="en-US" altLang="zh-CN" sz="2200" dirty="0" err="1" smtClean="0"/>
              <a:t>L.length</a:t>
            </a:r>
            <a:r>
              <a:rPr lang="en-US" altLang="zh-CN" sz="2200" dirty="0" smtClean="0"/>
              <a:t>);</a:t>
            </a:r>
            <a:endParaRPr lang="en-US" altLang="zh-CN" sz="2200" dirty="0" smtClean="0"/>
          </a:p>
          <a:p>
            <a:pPr lvl="2">
              <a:lnSpc>
                <a:spcPts val="2800"/>
              </a:lnSpc>
            </a:pPr>
            <a:r>
              <a:rPr lang="en-US" altLang="zh-CN" sz="2200" dirty="0"/>
              <a:t>}</a:t>
            </a:r>
            <a:endParaRPr lang="en-US" altLang="zh-CN" sz="2200" dirty="0" smtClean="0"/>
          </a:p>
          <a:p>
            <a:pPr lvl="2">
              <a:lnSpc>
                <a:spcPts val="2800"/>
              </a:lnSpc>
            </a:pPr>
            <a:r>
              <a:rPr lang="en-US" altLang="zh-CN" sz="2200" dirty="0" smtClean="0"/>
              <a:t>void </a:t>
            </a:r>
            <a:r>
              <a:rPr lang="en-US" altLang="zh-CN" sz="2200" dirty="0" err="1"/>
              <a:t>QSort</a:t>
            </a:r>
            <a:r>
              <a:rPr lang="en-US" altLang="zh-CN" sz="2200" dirty="0"/>
              <a:t>(</a:t>
            </a:r>
            <a:r>
              <a:rPr lang="en-US" altLang="zh-CN" sz="2200" dirty="0" err="1"/>
              <a:t>SqList</a:t>
            </a:r>
            <a:r>
              <a:rPr lang="en-US" altLang="zh-CN" sz="2200" dirty="0"/>
              <a:t> &amp;L, </a:t>
            </a:r>
            <a:r>
              <a:rPr lang="en-US" altLang="zh-CN" sz="2200" dirty="0" err="1"/>
              <a:t>int</a:t>
            </a:r>
            <a:r>
              <a:rPr lang="en-US" altLang="zh-CN" sz="2200" dirty="0"/>
              <a:t> low,  </a:t>
            </a:r>
            <a:r>
              <a:rPr lang="en-US" altLang="zh-CN" sz="2200" dirty="0" err="1"/>
              <a:t>int</a:t>
            </a:r>
            <a:r>
              <a:rPr lang="en-US" altLang="zh-CN" sz="2200" dirty="0"/>
              <a:t> high </a:t>
            </a:r>
            <a:r>
              <a:rPr lang="en-US" altLang="zh-CN" sz="2200" dirty="0" smtClean="0"/>
              <a:t>){</a:t>
            </a:r>
            <a:endParaRPr lang="en-US" altLang="zh-CN" sz="2200" dirty="0"/>
          </a:p>
          <a:p>
            <a:pPr lvl="2">
              <a:lnSpc>
                <a:spcPts val="2800"/>
              </a:lnSpc>
            </a:pPr>
            <a:r>
              <a:rPr lang="en-US" altLang="zh-CN" sz="2200" dirty="0">
                <a:solidFill>
                  <a:srgbClr val="00B050"/>
                </a:solidFill>
              </a:rPr>
              <a:t>//</a:t>
            </a:r>
            <a:r>
              <a:rPr lang="zh-CN" altLang="en-US" sz="2200" dirty="0">
                <a:solidFill>
                  <a:srgbClr val="00B050"/>
                </a:solidFill>
              </a:rPr>
              <a:t>对顺序表</a:t>
            </a:r>
            <a:r>
              <a:rPr lang="en-US" altLang="zh-CN" sz="2200" dirty="0">
                <a:solidFill>
                  <a:srgbClr val="00B050"/>
                </a:solidFill>
              </a:rPr>
              <a:t>L</a:t>
            </a:r>
            <a:r>
              <a:rPr lang="zh-CN" altLang="en-US" sz="2200" dirty="0">
                <a:solidFill>
                  <a:srgbClr val="00B050"/>
                </a:solidFill>
              </a:rPr>
              <a:t>中的子序列</a:t>
            </a:r>
            <a:r>
              <a:rPr lang="en-US" altLang="zh-CN" sz="2200" dirty="0" err="1">
                <a:solidFill>
                  <a:srgbClr val="00B050"/>
                </a:solidFill>
              </a:rPr>
              <a:t>L.r</a:t>
            </a:r>
            <a:r>
              <a:rPr lang="en-US" altLang="zh-CN" sz="2200" dirty="0">
                <a:solidFill>
                  <a:srgbClr val="00B050"/>
                </a:solidFill>
              </a:rPr>
              <a:t>[</a:t>
            </a:r>
            <a:r>
              <a:rPr lang="en-US" altLang="zh-CN" sz="2200" dirty="0" err="1">
                <a:solidFill>
                  <a:srgbClr val="00B050"/>
                </a:solidFill>
              </a:rPr>
              <a:t>low..high</a:t>
            </a:r>
            <a:r>
              <a:rPr lang="en-US" altLang="zh-CN" sz="2200" dirty="0">
                <a:solidFill>
                  <a:srgbClr val="00B050"/>
                </a:solidFill>
              </a:rPr>
              <a:t>]</a:t>
            </a:r>
            <a:r>
              <a:rPr lang="zh-CN" altLang="en-US" sz="2200" dirty="0">
                <a:solidFill>
                  <a:srgbClr val="00B050"/>
                </a:solidFill>
              </a:rPr>
              <a:t>作快速</a:t>
            </a:r>
            <a:r>
              <a:rPr lang="zh-CN" altLang="en-US" sz="2200" dirty="0" smtClean="0">
                <a:solidFill>
                  <a:srgbClr val="00B050"/>
                </a:solidFill>
              </a:rPr>
              <a:t>排序</a:t>
            </a:r>
            <a:endParaRPr lang="zh-CN" altLang="en-US" sz="2200" dirty="0">
              <a:solidFill>
                <a:srgbClr val="00B050"/>
              </a:solidFill>
            </a:endParaRPr>
          </a:p>
          <a:p>
            <a:pPr lvl="2">
              <a:lnSpc>
                <a:spcPts val="2800"/>
              </a:lnSpc>
            </a:pPr>
            <a:r>
              <a:rPr lang="zh-CN" altLang="en-US" sz="2200" dirty="0"/>
              <a:t>      </a:t>
            </a:r>
            <a:r>
              <a:rPr lang="en-US" altLang="zh-CN" sz="2200" dirty="0"/>
              <a:t>if(1ow&lt;high</a:t>
            </a:r>
            <a:r>
              <a:rPr lang="en-US" altLang="zh-CN" sz="2200" dirty="0" smtClean="0"/>
              <a:t>){</a:t>
            </a:r>
            <a:endParaRPr lang="en-US" altLang="zh-CN" sz="2200" dirty="0"/>
          </a:p>
          <a:p>
            <a:pPr lvl="2">
              <a:lnSpc>
                <a:spcPts val="2800"/>
              </a:lnSpc>
            </a:pPr>
            <a:r>
              <a:rPr lang="en-US" altLang="zh-CN" sz="2200" dirty="0"/>
              <a:t>            </a:t>
            </a:r>
            <a:r>
              <a:rPr lang="en-US" altLang="zh-CN" sz="2200" dirty="0" err="1"/>
              <a:t>pivotloc</a:t>
            </a:r>
            <a:r>
              <a:rPr lang="en-US" altLang="zh-CN" sz="2200" dirty="0"/>
              <a:t>=Partition(L,  low,  high</a:t>
            </a:r>
            <a:r>
              <a:rPr lang="en-US" altLang="zh-CN" sz="2200" dirty="0" smtClean="0"/>
              <a:t>); </a:t>
            </a:r>
            <a:endParaRPr lang="en-US" altLang="zh-CN" sz="2200" dirty="0"/>
          </a:p>
          <a:p>
            <a:pPr lvl="2">
              <a:lnSpc>
                <a:spcPts val="2800"/>
              </a:lnSpc>
            </a:pPr>
            <a:r>
              <a:rPr lang="en-US" altLang="zh-CN" sz="2200" dirty="0"/>
              <a:t>            </a:t>
            </a:r>
            <a:r>
              <a:rPr lang="en-US" altLang="zh-CN" sz="2200" dirty="0" err="1"/>
              <a:t>QSort</a:t>
            </a:r>
            <a:r>
              <a:rPr lang="en-US" altLang="zh-CN" sz="2200" dirty="0"/>
              <a:t>(L,  low, </a:t>
            </a:r>
            <a:r>
              <a:rPr lang="en-US" altLang="zh-CN" sz="2200" dirty="0" err="1"/>
              <a:t>pivotloc</a:t>
            </a:r>
            <a:r>
              <a:rPr lang="en-US" altLang="zh-CN" sz="2200" dirty="0"/>
              <a:t> -1</a:t>
            </a:r>
            <a:r>
              <a:rPr lang="en-US" altLang="zh-CN" sz="2200" dirty="0" smtClean="0"/>
              <a:t>);</a:t>
            </a:r>
            <a:endParaRPr lang="en-US" altLang="zh-CN" sz="2200" dirty="0"/>
          </a:p>
          <a:p>
            <a:pPr lvl="2">
              <a:lnSpc>
                <a:spcPts val="2800"/>
              </a:lnSpc>
            </a:pPr>
            <a:r>
              <a:rPr lang="en-US" altLang="zh-CN" sz="2200" dirty="0"/>
              <a:t>            </a:t>
            </a:r>
            <a:r>
              <a:rPr lang="en-US" altLang="zh-CN" sz="2200" dirty="0" err="1"/>
              <a:t>QSort</a:t>
            </a:r>
            <a:r>
              <a:rPr lang="en-US" altLang="zh-CN" sz="2200" dirty="0"/>
              <a:t>(L, </a:t>
            </a:r>
            <a:r>
              <a:rPr lang="en-US" altLang="zh-CN" sz="2200" dirty="0" err="1"/>
              <a:t>pivotloc</a:t>
            </a:r>
            <a:r>
              <a:rPr lang="en-US" altLang="zh-CN" sz="2200" dirty="0"/>
              <a:t> +1,  high</a:t>
            </a:r>
            <a:r>
              <a:rPr lang="en-US" altLang="zh-CN" sz="2200" dirty="0" smtClean="0"/>
              <a:t>); </a:t>
            </a:r>
            <a:endParaRPr lang="en-US" altLang="zh-CN" sz="2200" dirty="0"/>
          </a:p>
          <a:p>
            <a:pPr lvl="2">
              <a:lnSpc>
                <a:spcPts val="2800"/>
              </a:lnSpc>
            </a:pPr>
            <a:r>
              <a:rPr lang="en-US" altLang="zh-CN" sz="2200" dirty="0"/>
              <a:t>       </a:t>
            </a:r>
            <a:r>
              <a:rPr lang="en-US" altLang="zh-CN" sz="2200" dirty="0" smtClean="0"/>
              <a:t>}</a:t>
            </a:r>
            <a:endParaRPr lang="en-US" altLang="zh-CN" sz="2200" dirty="0"/>
          </a:p>
          <a:p>
            <a:pPr lvl="2">
              <a:lnSpc>
                <a:spcPts val="2800"/>
              </a:lnSpc>
            </a:pPr>
            <a:r>
              <a:rPr lang="en-US" altLang="zh-CN" sz="2200" dirty="0"/>
              <a:t>} </a:t>
            </a:r>
            <a:endParaRPr lang="zh-CN" altLang="en-US" dirty="0"/>
          </a:p>
        </p:txBody>
      </p:sp>
      <p:sp>
        <p:nvSpPr>
          <p:cNvPr id="3" name="标题 2"/>
          <p:cNvSpPr>
            <a:spLocks noGrp="1"/>
          </p:cNvSpPr>
          <p:nvPr>
            <p:ph type="title"/>
          </p:nvPr>
        </p:nvSpPr>
        <p:spPr/>
        <p:txBody>
          <a:bodyPr/>
          <a:lstStyle/>
          <a:p>
            <a:r>
              <a:rPr lang="en-US" altLang="zh-CN" dirty="0"/>
              <a:t>9.3 </a:t>
            </a:r>
            <a:r>
              <a:rPr lang="zh-CN" altLang="en-US" dirty="0"/>
              <a:t>快速排序</a:t>
            </a:r>
            <a:endParaRPr lang="zh-CN" alt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ct val="100000"/>
              </a:lnSpc>
            </a:pPr>
            <a:r>
              <a:rPr lang="zh-CN" altLang="en-US" sz="1800" dirty="0" smtClean="0"/>
              <a:t>一</a:t>
            </a:r>
            <a:r>
              <a:rPr lang="zh-CN" altLang="en-US" sz="1800" dirty="0"/>
              <a:t>趟快速排序算法如下</a:t>
            </a:r>
            <a:r>
              <a:rPr lang="en-US" altLang="zh-CN" sz="1800" dirty="0"/>
              <a:t>: </a:t>
            </a:r>
            <a:endParaRPr lang="en-US" altLang="zh-CN" sz="1800" dirty="0"/>
          </a:p>
          <a:p>
            <a:pPr lvl="2">
              <a:lnSpc>
                <a:spcPct val="100000"/>
              </a:lnSpc>
            </a:pPr>
            <a:r>
              <a:rPr lang="en-US" altLang="zh-CN" sz="1800" dirty="0" err="1"/>
              <a:t>int</a:t>
            </a:r>
            <a:r>
              <a:rPr lang="en-US" altLang="zh-CN" sz="1800" dirty="0"/>
              <a:t>   Partition(</a:t>
            </a:r>
            <a:r>
              <a:rPr lang="en-US" altLang="zh-CN" sz="1800" dirty="0" err="1"/>
              <a:t>SqList</a:t>
            </a:r>
            <a:r>
              <a:rPr lang="en-US" altLang="zh-CN" sz="1800" dirty="0"/>
              <a:t> &amp;L, </a:t>
            </a:r>
            <a:r>
              <a:rPr lang="en-US" altLang="zh-CN" sz="1800" dirty="0" err="1"/>
              <a:t>int</a:t>
            </a:r>
            <a:r>
              <a:rPr lang="en-US" altLang="zh-CN" sz="1800" dirty="0"/>
              <a:t> low, </a:t>
            </a:r>
            <a:r>
              <a:rPr lang="en-US" altLang="zh-CN" sz="1800" dirty="0" err="1"/>
              <a:t>int</a:t>
            </a:r>
            <a:r>
              <a:rPr lang="en-US" altLang="zh-CN" sz="1800" dirty="0"/>
              <a:t> high) { </a:t>
            </a:r>
            <a:endParaRPr lang="en-US" altLang="zh-CN" sz="1800" dirty="0"/>
          </a:p>
          <a:p>
            <a:pPr lvl="2">
              <a:lnSpc>
                <a:spcPct val="100000"/>
              </a:lnSpc>
            </a:pPr>
            <a:r>
              <a:rPr lang="en-US" altLang="zh-CN" sz="1800" dirty="0" smtClean="0">
                <a:solidFill>
                  <a:srgbClr val="00B050"/>
                </a:solidFill>
              </a:rPr>
              <a:t>/*</a:t>
            </a:r>
            <a:r>
              <a:rPr lang="zh-CN" altLang="en-US" sz="1800" dirty="0" smtClean="0">
                <a:solidFill>
                  <a:srgbClr val="00B050"/>
                </a:solidFill>
              </a:rPr>
              <a:t>交换</a:t>
            </a:r>
            <a:r>
              <a:rPr lang="zh-CN" altLang="en-US" sz="1800" dirty="0">
                <a:solidFill>
                  <a:srgbClr val="00B050"/>
                </a:solidFill>
              </a:rPr>
              <a:t>顺序表</a:t>
            </a:r>
            <a:r>
              <a:rPr lang="en-US" altLang="zh-CN" sz="1800" dirty="0">
                <a:solidFill>
                  <a:srgbClr val="00B050"/>
                </a:solidFill>
              </a:rPr>
              <a:t>L</a:t>
            </a:r>
            <a:r>
              <a:rPr lang="zh-CN" altLang="en-US" sz="1800" dirty="0">
                <a:solidFill>
                  <a:srgbClr val="00B050"/>
                </a:solidFill>
              </a:rPr>
              <a:t>中子表</a:t>
            </a:r>
            <a:r>
              <a:rPr lang="en-US" altLang="zh-CN" sz="1800" dirty="0">
                <a:solidFill>
                  <a:srgbClr val="00B050"/>
                </a:solidFill>
              </a:rPr>
              <a:t>r[</a:t>
            </a:r>
            <a:r>
              <a:rPr lang="en-US" altLang="zh-CN" sz="1800" dirty="0" err="1">
                <a:solidFill>
                  <a:srgbClr val="00B050"/>
                </a:solidFill>
              </a:rPr>
              <a:t>low</a:t>
            </a:r>
            <a:r>
              <a:rPr lang="en-US" altLang="zh-CN" sz="1800" dirty="0" err="1" smtClean="0">
                <a:solidFill>
                  <a:srgbClr val="00B050"/>
                </a:solidFill>
              </a:rPr>
              <a:t>..High</a:t>
            </a:r>
            <a:r>
              <a:rPr lang="en-US" altLang="zh-CN" sz="1800" dirty="0">
                <a:solidFill>
                  <a:srgbClr val="00B050"/>
                </a:solidFill>
              </a:rPr>
              <a:t>]</a:t>
            </a:r>
            <a:r>
              <a:rPr lang="zh-CN" altLang="en-US" sz="1800" dirty="0">
                <a:solidFill>
                  <a:srgbClr val="00B050"/>
                </a:solidFill>
              </a:rPr>
              <a:t>的记录，并得到枢轴记录的位置，使得排序后的结果满足其之后（前）的记录的关键字均不小于（大于）枢轴</a:t>
            </a:r>
            <a:r>
              <a:rPr lang="zh-CN" altLang="en-US" sz="1800" dirty="0" smtClean="0">
                <a:solidFill>
                  <a:srgbClr val="00B050"/>
                </a:solidFill>
              </a:rPr>
              <a:t>记录</a:t>
            </a:r>
            <a:r>
              <a:rPr lang="en-US" altLang="zh-CN" sz="1800" dirty="0" smtClean="0">
                <a:solidFill>
                  <a:srgbClr val="00B050"/>
                </a:solidFill>
              </a:rPr>
              <a:t>*/</a:t>
            </a:r>
            <a:endParaRPr lang="zh-CN" altLang="en-US" sz="1800" dirty="0">
              <a:solidFill>
                <a:srgbClr val="00B050"/>
              </a:solidFill>
            </a:endParaRPr>
          </a:p>
          <a:p>
            <a:pPr lvl="2">
              <a:lnSpc>
                <a:spcPct val="100000"/>
              </a:lnSpc>
            </a:pPr>
            <a:r>
              <a:rPr lang="zh-CN" altLang="en-US" sz="1800" dirty="0"/>
              <a:t>  </a:t>
            </a:r>
            <a:r>
              <a:rPr lang="zh-CN" altLang="en-US" sz="1800" dirty="0">
                <a:solidFill>
                  <a:srgbClr val="FF0000"/>
                </a:solidFill>
              </a:rPr>
              <a:t>  </a:t>
            </a:r>
            <a:r>
              <a:rPr lang="en-US" altLang="zh-CN" sz="1800"/>
              <a:t>L.r</a:t>
            </a:r>
            <a:r>
              <a:rPr lang="en-US" altLang="zh-CN" sz="1800" dirty="0"/>
              <a:t>[0]=</a:t>
            </a:r>
            <a:r>
              <a:rPr lang="en-US" altLang="zh-CN" sz="1800"/>
              <a:t>L.r</a:t>
            </a:r>
            <a:r>
              <a:rPr lang="en-US" altLang="zh-CN" sz="1800" dirty="0"/>
              <a:t>[low];</a:t>
            </a:r>
            <a:endParaRPr lang="en-US" altLang="zh-CN" sz="1800" dirty="0"/>
          </a:p>
          <a:p>
            <a:pPr lvl="2">
              <a:lnSpc>
                <a:spcPct val="100000"/>
              </a:lnSpc>
            </a:pPr>
            <a:r>
              <a:rPr lang="en-US" altLang="zh-CN" sz="1800" dirty="0"/>
              <a:t>    </a:t>
            </a:r>
            <a:r>
              <a:rPr lang="en-US" altLang="zh-CN" sz="1800" dirty="0" err="1"/>
              <a:t>pivotkey</a:t>
            </a:r>
            <a:r>
              <a:rPr lang="en-US" altLang="zh-CN" sz="1800" dirty="0"/>
              <a:t>= </a:t>
            </a:r>
            <a:r>
              <a:rPr lang="en-US" altLang="zh-CN" sz="1800" dirty="0" err="1"/>
              <a:t>L.r</a:t>
            </a:r>
            <a:r>
              <a:rPr lang="en-US" altLang="zh-CN" sz="1800" dirty="0"/>
              <a:t>[low].key</a:t>
            </a:r>
            <a:r>
              <a:rPr lang="en-US" altLang="zh-CN" sz="1800" dirty="0" smtClean="0"/>
              <a:t>; </a:t>
            </a:r>
            <a:endParaRPr lang="en-US" altLang="zh-CN" sz="1800" dirty="0"/>
          </a:p>
          <a:p>
            <a:pPr lvl="2">
              <a:lnSpc>
                <a:spcPct val="100000"/>
              </a:lnSpc>
            </a:pPr>
            <a:r>
              <a:rPr lang="en-US" altLang="zh-CN" sz="1800" dirty="0"/>
              <a:t>    while ( low&lt;high ) </a:t>
            </a:r>
            <a:r>
              <a:rPr lang="en-US" altLang="zh-CN" sz="1800" dirty="0" smtClean="0"/>
              <a:t>{</a:t>
            </a:r>
            <a:endParaRPr lang="en-US" altLang="zh-CN" sz="1800" dirty="0"/>
          </a:p>
          <a:p>
            <a:pPr lvl="2">
              <a:lnSpc>
                <a:spcPct val="100000"/>
              </a:lnSpc>
            </a:pPr>
            <a:r>
              <a:rPr lang="en-US" altLang="zh-CN" sz="1800" dirty="0"/>
              <a:t>	while (low&lt; high &amp;&amp;L. r[high].key&gt;=</a:t>
            </a:r>
            <a:r>
              <a:rPr lang="en-US" altLang="zh-CN" sz="1800" dirty="0" err="1"/>
              <a:t>pivotekey</a:t>
            </a:r>
            <a:r>
              <a:rPr lang="en-US" altLang="zh-CN" sz="1800" dirty="0"/>
              <a:t>)  </a:t>
            </a:r>
            <a:r>
              <a:rPr lang="en-US" altLang="zh-CN" sz="1800" dirty="0" smtClean="0"/>
              <a:t>high--</a:t>
            </a:r>
            <a:r>
              <a:rPr lang="zh-CN" altLang="en-US" sz="1800" dirty="0" smtClean="0"/>
              <a:t>；</a:t>
            </a:r>
            <a:endParaRPr lang="zh-CN" altLang="en-US" sz="1800" dirty="0" smtClean="0"/>
          </a:p>
          <a:p>
            <a:pPr lvl="2">
              <a:lnSpc>
                <a:spcPct val="100000"/>
              </a:lnSpc>
            </a:pPr>
            <a:r>
              <a:rPr lang="zh-CN" altLang="en-US" sz="1800" dirty="0" smtClean="0"/>
              <a:t>          </a:t>
            </a:r>
            <a:r>
              <a:rPr sz="1800" dirty="0" smtClean="0"/>
              <a:t>L.r[low] = L.r[high];</a:t>
            </a:r>
            <a:endParaRPr lang="zh-CN" altLang="en-US" sz="1800" dirty="0"/>
          </a:p>
          <a:p>
            <a:pPr lvl="2">
              <a:lnSpc>
                <a:spcPct val="100000"/>
              </a:lnSpc>
            </a:pPr>
            <a:r>
              <a:rPr lang="en-US" altLang="zh-CN" sz="1800" dirty="0" smtClean="0"/>
              <a:t> </a:t>
            </a:r>
            <a:r>
              <a:rPr lang="en-US" altLang="zh-CN" sz="1800" dirty="0"/>
              <a:t>	while (low</a:t>
            </a:r>
            <a:r>
              <a:rPr lang="en-US" altLang="zh-CN" sz="1800" dirty="0" smtClean="0"/>
              <a:t>&lt; high </a:t>
            </a:r>
            <a:r>
              <a:rPr lang="en-US" altLang="zh-CN" sz="1800" dirty="0"/>
              <a:t>&amp;&amp; L. r[low].key&lt;=</a:t>
            </a:r>
            <a:r>
              <a:rPr lang="en-US" altLang="zh-CN" sz="1800" dirty="0" err="1"/>
              <a:t>pivotekey</a:t>
            </a:r>
            <a:r>
              <a:rPr lang="en-US" altLang="zh-CN" sz="1800" dirty="0"/>
              <a:t>)  </a:t>
            </a:r>
            <a:r>
              <a:rPr lang="en-US" altLang="zh-CN" sz="1800" dirty="0" smtClean="0"/>
              <a:t>low++; </a:t>
            </a:r>
            <a:endParaRPr lang="en-US" altLang="zh-CN" sz="1800" dirty="0" smtClean="0"/>
          </a:p>
          <a:p>
            <a:pPr lvl="2">
              <a:lnSpc>
                <a:spcPct val="100000"/>
              </a:lnSpc>
            </a:pPr>
            <a:r>
              <a:rPr lang="en-US" altLang="zh-CN" sz="1800" dirty="0">
                <a:solidFill>
                  <a:srgbClr val="00194C"/>
                </a:solidFill>
                <a:latin typeface="华文楷体" panose="02010600040101010101" pitchFamily="2" charset="-122"/>
                <a:ea typeface="华文楷体" panose="02010600040101010101" pitchFamily="2" charset="-122"/>
              </a:rPr>
              <a:t> </a:t>
            </a:r>
            <a:r>
              <a:rPr lang="en-US" altLang="zh-CN" sz="1800" dirty="0" smtClean="0">
                <a:solidFill>
                  <a:srgbClr val="00194C"/>
                </a:solidFill>
                <a:latin typeface="华文楷体" panose="02010600040101010101" pitchFamily="2" charset="-122"/>
                <a:ea typeface="华文楷体" panose="02010600040101010101" pitchFamily="2" charset="-122"/>
              </a:rPr>
              <a:t>	</a:t>
            </a:r>
            <a:r>
              <a:rPr sz="1800" dirty="0" err="1">
                <a:sym typeface="+mn-ea"/>
              </a:rPr>
              <a:t>L.r</a:t>
            </a:r>
            <a:r>
              <a:rPr sz="1800">
                <a:sym typeface="+mn-ea"/>
              </a:rPr>
              <a:t>[high] = </a:t>
            </a:r>
            <a:r>
              <a:rPr lang="en-US" altLang="zh-CN" sz="1800" dirty="0" err="1"/>
              <a:t>L.r</a:t>
            </a:r>
            <a:r>
              <a:rPr lang="en-US" altLang="zh-CN" sz="1800" dirty="0"/>
              <a:t>[low];</a:t>
            </a:r>
            <a:endParaRPr lang="zh-CN" altLang="zh-CN" sz="1800" dirty="0"/>
          </a:p>
          <a:p>
            <a:pPr lvl="2">
              <a:lnSpc>
                <a:spcPct val="100000"/>
              </a:lnSpc>
            </a:pPr>
            <a:r>
              <a:rPr lang="en-US" altLang="zh-CN" sz="1800" dirty="0"/>
              <a:t>    </a:t>
            </a:r>
            <a:r>
              <a:rPr lang="en-US" altLang="zh-CN" sz="1800" dirty="0" smtClean="0"/>
              <a:t>}</a:t>
            </a:r>
            <a:endParaRPr lang="en-US" altLang="zh-CN" sz="1800" dirty="0"/>
          </a:p>
          <a:p>
            <a:pPr lvl="2">
              <a:lnSpc>
                <a:spcPct val="100000"/>
              </a:lnSpc>
            </a:pPr>
            <a:r>
              <a:rPr lang="en-US" altLang="zh-CN" sz="1800" dirty="0"/>
              <a:t>   </a:t>
            </a:r>
            <a:r>
              <a:rPr lang="en-US" altLang="zh-CN" sz="1800" dirty="0">
                <a:solidFill>
                  <a:srgbClr val="FF0000"/>
                </a:solidFill>
              </a:rPr>
              <a:t> </a:t>
            </a:r>
            <a:r>
              <a:rPr lang="en-US" altLang="zh-CN" sz="1800"/>
              <a:t>L.r[low] = L.r[0];  </a:t>
            </a:r>
            <a:r>
              <a:rPr lang="en-US" altLang="zh-CN" sz="1800" dirty="0">
                <a:solidFill>
                  <a:srgbClr val="FF0000"/>
                </a:solidFill>
              </a:rPr>
              <a:t> </a:t>
            </a:r>
            <a:r>
              <a:rPr lang="en-US" altLang="zh-CN" sz="1800" dirty="0"/>
              <a:t>             </a:t>
            </a:r>
            <a:r>
              <a:rPr lang="en-US" altLang="zh-CN" sz="1800" dirty="0" smtClean="0">
                <a:solidFill>
                  <a:srgbClr val="00B050"/>
                </a:solidFill>
              </a:rPr>
              <a:t>/*</a:t>
            </a:r>
            <a:r>
              <a:rPr lang="zh-CN" altLang="en-US" sz="1800" dirty="0">
                <a:solidFill>
                  <a:srgbClr val="00B050"/>
                </a:solidFill>
              </a:rPr>
              <a:t>将枢轴记录保存到</a:t>
            </a:r>
            <a:r>
              <a:rPr lang="en-US" altLang="zh-CN" sz="1800" dirty="0">
                <a:solidFill>
                  <a:srgbClr val="00B050"/>
                </a:solidFill>
              </a:rPr>
              <a:t>low=high</a:t>
            </a:r>
            <a:r>
              <a:rPr lang="zh-CN" altLang="en-US" sz="1800" dirty="0">
                <a:solidFill>
                  <a:srgbClr val="00B050"/>
                </a:solidFill>
              </a:rPr>
              <a:t>的位置*</a:t>
            </a:r>
            <a:r>
              <a:rPr lang="en-US" altLang="zh-CN" sz="1800" dirty="0">
                <a:solidFill>
                  <a:srgbClr val="00B050"/>
                </a:solidFill>
              </a:rPr>
              <a:t>/ </a:t>
            </a:r>
            <a:endParaRPr lang="en-US" altLang="zh-CN" sz="1800" dirty="0">
              <a:solidFill>
                <a:srgbClr val="00B050"/>
              </a:solidFill>
            </a:endParaRPr>
          </a:p>
          <a:p>
            <a:pPr lvl="2">
              <a:lnSpc>
                <a:spcPct val="100000"/>
              </a:lnSpc>
            </a:pPr>
            <a:r>
              <a:rPr lang="en-US" altLang="zh-CN" sz="1800" dirty="0"/>
              <a:t>     return low;                     </a:t>
            </a:r>
            <a:r>
              <a:rPr lang="en-US" altLang="zh-CN" sz="1800" dirty="0">
                <a:solidFill>
                  <a:srgbClr val="00B050"/>
                </a:solidFill>
              </a:rPr>
              <a:t> /*</a:t>
            </a:r>
            <a:r>
              <a:rPr lang="zh-CN" altLang="en-US" sz="1800" dirty="0">
                <a:solidFill>
                  <a:srgbClr val="00B050"/>
                </a:solidFill>
              </a:rPr>
              <a:t>返回基准记录的位置*</a:t>
            </a:r>
            <a:r>
              <a:rPr lang="en-US" altLang="zh-CN" sz="1800" dirty="0" smtClean="0">
                <a:solidFill>
                  <a:srgbClr val="00B050"/>
                </a:solidFill>
              </a:rPr>
              <a:t>/</a:t>
            </a:r>
            <a:endParaRPr lang="en-US" altLang="zh-CN" sz="1800" dirty="0">
              <a:solidFill>
                <a:srgbClr val="00B050"/>
              </a:solidFill>
            </a:endParaRPr>
          </a:p>
          <a:p>
            <a:pPr lvl="2">
              <a:lnSpc>
                <a:spcPct val="100000"/>
              </a:lnSpc>
            </a:pPr>
            <a:r>
              <a:rPr lang="en-US" altLang="zh-CN" sz="1800" dirty="0" smtClean="0"/>
              <a:t>}</a:t>
            </a:r>
            <a:endParaRPr lang="en-US" altLang="zh-CN" sz="1800" dirty="0"/>
          </a:p>
        </p:txBody>
      </p:sp>
      <p:sp>
        <p:nvSpPr>
          <p:cNvPr id="3" name="标题 2"/>
          <p:cNvSpPr>
            <a:spLocks noGrp="1"/>
          </p:cNvSpPr>
          <p:nvPr>
            <p:ph type="title"/>
          </p:nvPr>
        </p:nvSpPr>
        <p:spPr/>
        <p:txBody>
          <a:bodyPr/>
          <a:lstStyle/>
          <a:p>
            <a:r>
              <a:rPr lang="en-US" altLang="zh-CN" dirty="0"/>
              <a:t>9.3 </a:t>
            </a:r>
            <a:r>
              <a:rPr lang="zh-CN" altLang="en-US" dirty="0"/>
              <a:t>快速排序</a:t>
            </a:r>
            <a:endParaRPr lang="zh-CN"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40360" lvl="2" indent="-205105"/>
            <a:r>
              <a:rPr lang="zh-CN" altLang="en-US" sz="2000" dirty="0" smtClean="0"/>
              <a:t>快速</a:t>
            </a:r>
            <a:r>
              <a:rPr lang="zh-CN" altLang="en-US" sz="2000" dirty="0"/>
              <a:t>排序的时间耗费，共需进行多少趟排序，取决于递归调用深度</a:t>
            </a:r>
            <a:r>
              <a:rPr lang="zh-CN" altLang="en-US" sz="2000" dirty="0" smtClean="0"/>
              <a:t>。</a:t>
            </a:r>
            <a:endParaRPr lang="zh-CN" altLang="en-US" sz="2000" dirty="0"/>
          </a:p>
          <a:p>
            <a:pPr lvl="2"/>
            <a:r>
              <a:rPr lang="zh-CN" altLang="en-US" sz="2000" dirty="0"/>
              <a:t>      </a:t>
            </a:r>
            <a:r>
              <a:rPr lang="en-US" altLang="zh-CN" sz="2000" dirty="0"/>
              <a:t>(1) </a:t>
            </a:r>
            <a:r>
              <a:rPr lang="zh-CN" altLang="en-US" sz="2000" dirty="0"/>
              <a:t>快速排序的最好情况是每趟将序列一分两半，正好在表中间，将表分成两个大小相等的子表。同折半查找</a:t>
            </a:r>
            <a:r>
              <a:rPr lang="en-US" altLang="zh-CN" sz="2000" dirty="0"/>
              <a:t>[log</a:t>
            </a:r>
            <a:r>
              <a:rPr lang="en-US" altLang="zh-CN" sz="2000" baseline="-25000" dirty="0"/>
              <a:t>2</a:t>
            </a:r>
            <a:r>
              <a:rPr lang="en-US" altLang="zh-CN" sz="2000" dirty="0"/>
              <a:t>n]</a:t>
            </a:r>
            <a:r>
              <a:rPr lang="zh-CN" altLang="en-US" sz="2000" dirty="0"/>
              <a:t>，总的比较次数 </a:t>
            </a:r>
            <a:r>
              <a:rPr lang="en-US" altLang="zh-CN" sz="2000" dirty="0"/>
              <a:t>C(n)≤n+2C(n/2)</a:t>
            </a:r>
            <a:r>
              <a:rPr lang="zh-CN" altLang="en-US" sz="2000" dirty="0" smtClean="0"/>
              <a:t>。</a:t>
            </a:r>
            <a:endParaRPr lang="en-US" altLang="zh-CN" sz="2000" dirty="0" smtClean="0"/>
          </a:p>
          <a:p>
            <a:pPr lvl="2"/>
            <a:r>
              <a:rPr lang="zh-CN" altLang="en-US" sz="2000" dirty="0" smtClean="0"/>
              <a:t>     </a:t>
            </a:r>
            <a:r>
              <a:rPr lang="en-US" altLang="zh-CN" sz="2000" dirty="0"/>
              <a:t>(2) </a:t>
            </a:r>
            <a:r>
              <a:rPr lang="zh-CN" altLang="en-US" sz="2000" dirty="0"/>
              <a:t>快速排序的最坏情况是已经排好序，第一趟经过</a:t>
            </a:r>
            <a:r>
              <a:rPr lang="en-US" altLang="zh-CN" sz="2000" dirty="0"/>
              <a:t>n-1</a:t>
            </a:r>
            <a:r>
              <a:rPr lang="zh-CN" altLang="en-US" sz="2000" dirty="0"/>
              <a:t>次比较，第</a:t>
            </a:r>
            <a:r>
              <a:rPr lang="en-US" altLang="zh-CN" sz="2000" dirty="0"/>
              <a:t>1</a:t>
            </a:r>
            <a:r>
              <a:rPr lang="zh-CN" altLang="en-US" sz="2000" dirty="0"/>
              <a:t>个记录定在原位置，左部子表为空表，右部子表为</a:t>
            </a:r>
            <a:r>
              <a:rPr lang="en-US" altLang="zh-CN" sz="2000" dirty="0"/>
              <a:t>n-1</a:t>
            </a:r>
            <a:r>
              <a:rPr lang="zh-CN" altLang="en-US" sz="2000" dirty="0"/>
              <a:t>个记录。第二趟</a:t>
            </a:r>
            <a:r>
              <a:rPr lang="en-US" altLang="zh-CN" sz="2000" dirty="0"/>
              <a:t>n-1</a:t>
            </a:r>
            <a:r>
              <a:rPr lang="zh-CN" altLang="en-US" sz="2000" dirty="0"/>
              <a:t>个记录经过</a:t>
            </a:r>
            <a:r>
              <a:rPr lang="en-US" altLang="zh-CN" sz="2000" dirty="0"/>
              <a:t>n-2</a:t>
            </a:r>
            <a:r>
              <a:rPr lang="zh-CN" altLang="en-US" sz="2000" dirty="0"/>
              <a:t>次比较，第</a:t>
            </a:r>
            <a:r>
              <a:rPr lang="en-US" altLang="zh-CN" sz="2000" dirty="0"/>
              <a:t>2</a:t>
            </a:r>
            <a:r>
              <a:rPr lang="zh-CN" altLang="en-US" sz="2000" dirty="0"/>
              <a:t>个记录定在原位置，左部子表为空表，右部子表为</a:t>
            </a:r>
            <a:r>
              <a:rPr lang="en-US" altLang="zh-CN" sz="2000" dirty="0"/>
              <a:t>n-2</a:t>
            </a:r>
            <a:r>
              <a:rPr lang="zh-CN" altLang="en-US" sz="2000" dirty="0"/>
              <a:t>个记录。依此类推，共需进行</a:t>
            </a:r>
            <a:r>
              <a:rPr lang="en-US" altLang="zh-CN" sz="2000" dirty="0"/>
              <a:t>n-1</a:t>
            </a:r>
            <a:r>
              <a:rPr lang="zh-CN" altLang="en-US" sz="2000" dirty="0"/>
              <a:t>趟排序</a:t>
            </a:r>
            <a:r>
              <a:rPr lang="zh-CN" altLang="en-US" sz="2000" dirty="0" smtClean="0"/>
              <a:t>。</a:t>
            </a:r>
            <a:endParaRPr lang="zh-CN" altLang="en-US" sz="2000"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smtClean="0"/>
              <a:t>快速</a:t>
            </a:r>
            <a:r>
              <a:rPr lang="zh-CN" altLang="en-US" dirty="0"/>
              <a:t>排序</a:t>
            </a:r>
            <a:endParaRPr lang="zh-CN" altLang="en-US" dirty="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340360" lvl="2" indent="-205105"/>
            <a:r>
              <a:rPr lang="zh-CN" altLang="en-US" dirty="0" smtClean="0"/>
              <a:t>执行</a:t>
            </a:r>
            <a:r>
              <a:rPr lang="zh-CN" altLang="en-US" dirty="0"/>
              <a:t>次数为：</a:t>
            </a:r>
            <a:endParaRPr lang="zh-CN" altLang="en-US" dirty="0"/>
          </a:p>
          <a:p>
            <a:pPr marL="340360" lvl="2" indent="-205105"/>
            <a:r>
              <a:rPr lang="en-US" altLang="zh-CN" sz="2000" dirty="0"/>
              <a:t>T(n)≤Cn+2T(n/2)≤2n+4T(n/4)≤3n+4T(n/8)≤nlog</a:t>
            </a:r>
            <a:r>
              <a:rPr lang="en-US" altLang="zh-CN" sz="2000" baseline="-25000" dirty="0"/>
              <a:t>2</a:t>
            </a:r>
            <a:r>
              <a:rPr lang="en-US" altLang="zh-CN" sz="2000" dirty="0"/>
              <a:t>n+nT(1</a:t>
            </a:r>
            <a:r>
              <a:rPr lang="en-US" altLang="zh-CN" sz="2000" dirty="0" smtClean="0"/>
              <a:t>)≈O(nlog</a:t>
            </a:r>
            <a:r>
              <a:rPr lang="en-US" altLang="zh-CN" sz="2000" baseline="-25000" dirty="0" smtClean="0"/>
              <a:t>2</a:t>
            </a:r>
            <a:r>
              <a:rPr lang="en-US" altLang="zh-CN" sz="2000" dirty="0" smtClean="0"/>
              <a:t>n</a:t>
            </a:r>
            <a:r>
              <a:rPr lang="en-US" altLang="zh-CN" sz="2000" dirty="0"/>
              <a:t>)   </a:t>
            </a:r>
            <a:r>
              <a:rPr lang="zh-CN" altLang="en-US" dirty="0"/>
              <a:t>其中</a:t>
            </a:r>
            <a:r>
              <a:rPr lang="en-US" altLang="zh-CN" dirty="0"/>
              <a:t>Cn</a:t>
            </a:r>
            <a:r>
              <a:rPr lang="zh-CN" altLang="en-US" dirty="0"/>
              <a:t>是常数，表示</a:t>
            </a:r>
            <a:r>
              <a:rPr lang="en-US" altLang="zh-CN" dirty="0"/>
              <a:t>n</a:t>
            </a:r>
            <a:r>
              <a:rPr lang="zh-CN" altLang="en-US" dirty="0"/>
              <a:t>个元素排序一趟所需时间。</a:t>
            </a:r>
            <a:endParaRPr lang="zh-CN" altLang="en-US" dirty="0"/>
          </a:p>
          <a:p>
            <a:pPr marL="0" lvl="2" indent="135255"/>
            <a:r>
              <a:rPr lang="zh-CN" altLang="en-US" dirty="0"/>
              <a:t>    </a:t>
            </a:r>
            <a:r>
              <a:rPr lang="zh-CN" altLang="en-US" dirty="0" smtClean="0"/>
              <a:t>快速</a:t>
            </a:r>
            <a:r>
              <a:rPr lang="zh-CN" altLang="en-US" dirty="0"/>
              <a:t>排序所需时间的平均值为</a:t>
            </a:r>
            <a:r>
              <a:rPr lang="en-US" altLang="zh-CN" dirty="0" err="1"/>
              <a:t>Targ</a:t>
            </a:r>
            <a:r>
              <a:rPr lang="en-US" altLang="zh-CN" dirty="0"/>
              <a:t>(n)≤</a:t>
            </a:r>
            <a:r>
              <a:rPr lang="en-US" altLang="zh-CN" dirty="0" err="1"/>
              <a:t>Knln</a:t>
            </a:r>
            <a:r>
              <a:rPr lang="en-US" altLang="zh-CN" dirty="0"/>
              <a:t>(n)</a:t>
            </a:r>
            <a:r>
              <a:rPr lang="zh-CN" altLang="en-US" dirty="0"/>
              <a:t>，这是目前内部排序方法中所能达到的最好平均时间复杂度。但是若初始记录序列按关键字有序或基本有序时，快速排序将蜕变为冒泡排序，其时间复杂度为</a:t>
            </a:r>
            <a:r>
              <a:rPr lang="en-US" altLang="zh-CN" dirty="0"/>
              <a:t>O(n</a:t>
            </a:r>
            <a:r>
              <a:rPr lang="en-US" altLang="zh-CN" baseline="30000" dirty="0"/>
              <a:t>2</a:t>
            </a:r>
            <a:r>
              <a:rPr lang="en-US" altLang="zh-CN" dirty="0"/>
              <a:t>)</a:t>
            </a:r>
            <a:r>
              <a:rPr lang="zh-CN" altLang="en-US" dirty="0"/>
              <a:t>。 </a:t>
            </a:r>
            <a:endParaRPr lang="zh-CN" altLang="en-US" dirty="0"/>
          </a:p>
        </p:txBody>
      </p:sp>
      <p:sp>
        <p:nvSpPr>
          <p:cNvPr id="3" name="标题 2"/>
          <p:cNvSpPr>
            <a:spLocks noGrp="1"/>
          </p:cNvSpPr>
          <p:nvPr>
            <p:ph type="title"/>
          </p:nvPr>
        </p:nvSpPr>
        <p:spPr>
          <a:xfrm>
            <a:off x="746301" y="171219"/>
            <a:ext cx="4816300" cy="248285"/>
          </a:xfrm>
        </p:spPr>
        <p:txBody>
          <a:bodyPr/>
          <a:lstStyle/>
          <a:p>
            <a:r>
              <a:rPr lang="en-US" altLang="zh-CN" dirty="0" smtClean="0"/>
              <a:t>9.3 </a:t>
            </a:r>
            <a:r>
              <a:rPr lang="zh-CN" altLang="en-US" dirty="0" smtClean="0"/>
              <a:t>快速</a:t>
            </a:r>
            <a:r>
              <a:rPr lang="zh-CN" altLang="en-US" dirty="0"/>
              <a:t>排序</a:t>
            </a:r>
            <a:endParaRPr lang="zh-CN" altLang="en-US" dirty="0"/>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9.4.1 </a:t>
            </a:r>
            <a:r>
              <a:rPr lang="zh-CN" altLang="en-US" dirty="0"/>
              <a:t>简单选择排序</a:t>
            </a:r>
            <a:endParaRPr lang="zh-CN" altLang="en-US" dirty="0"/>
          </a:p>
          <a:p>
            <a:pPr lvl="2"/>
            <a:r>
              <a:rPr lang="zh-CN" altLang="en-US" sz="2200" dirty="0" smtClean="0"/>
              <a:t>基本</a:t>
            </a:r>
            <a:r>
              <a:rPr lang="zh-CN" altLang="en-US" sz="2200" dirty="0"/>
              <a:t>思想：第</a:t>
            </a:r>
            <a:r>
              <a:rPr lang="en-US" altLang="zh-CN" sz="2200" dirty="0" err="1"/>
              <a:t>i</a:t>
            </a:r>
            <a:r>
              <a:rPr lang="zh-CN" altLang="en-US" sz="2200" dirty="0"/>
              <a:t>趟简单选择排序是指通过</a:t>
            </a:r>
            <a:r>
              <a:rPr lang="en-US" altLang="zh-CN" sz="2200" dirty="0"/>
              <a:t>n-</a:t>
            </a:r>
            <a:r>
              <a:rPr lang="en-US" altLang="zh-CN" sz="2200" dirty="0" err="1"/>
              <a:t>i</a:t>
            </a:r>
            <a:r>
              <a:rPr lang="zh-CN" altLang="en-US" sz="2200" dirty="0"/>
              <a:t>次关键字的比较，从</a:t>
            </a:r>
            <a:r>
              <a:rPr lang="en-US" altLang="zh-CN" sz="2200" dirty="0"/>
              <a:t>n-i+1</a:t>
            </a:r>
            <a:r>
              <a:rPr lang="zh-CN" altLang="en-US" sz="2200" dirty="0"/>
              <a:t>个记录中选出关键字最小的记录，并与第</a:t>
            </a:r>
            <a:r>
              <a:rPr lang="en-US" altLang="zh-CN" sz="2200" dirty="0" err="1"/>
              <a:t>i</a:t>
            </a:r>
            <a:r>
              <a:rPr lang="zh-CN" altLang="en-US" sz="2200" dirty="0"/>
              <a:t>个记录进行交换。共需进行</a:t>
            </a:r>
            <a:r>
              <a:rPr lang="en-US" altLang="zh-CN" sz="2200" dirty="0"/>
              <a:t>i-1</a:t>
            </a:r>
            <a:r>
              <a:rPr lang="zh-CN" altLang="en-US" sz="2200" dirty="0"/>
              <a:t>趟比较，直到所有记录排序完成为止。</a:t>
            </a:r>
            <a:endParaRPr lang="en-US" altLang="zh-CN" sz="2200" dirty="0"/>
          </a:p>
          <a:p>
            <a:pPr lvl="2"/>
            <a:r>
              <a:rPr lang="zh-CN" altLang="en-US" sz="2200" dirty="0"/>
              <a:t>      时间复杂度为</a:t>
            </a:r>
            <a:r>
              <a:rPr lang="en-US" altLang="zh-CN" sz="2200" dirty="0">
                <a:solidFill>
                  <a:srgbClr val="FF0000"/>
                </a:solidFill>
              </a:rPr>
              <a:t>O(n</a:t>
            </a:r>
            <a:r>
              <a:rPr lang="en-US" altLang="zh-CN" sz="2200" baseline="30000" dirty="0">
                <a:solidFill>
                  <a:srgbClr val="FF0000"/>
                </a:solidFill>
              </a:rPr>
              <a:t>2</a:t>
            </a:r>
            <a:r>
              <a:rPr lang="en-US" altLang="zh-CN" sz="2200" dirty="0" smtClean="0">
                <a:solidFill>
                  <a:srgbClr val="FF0000"/>
                </a:solidFill>
              </a:rPr>
              <a:t>)</a:t>
            </a:r>
            <a:endParaRPr lang="en-US" altLang="zh-CN" sz="2200" dirty="0" smtClean="0">
              <a:solidFill>
                <a:srgbClr val="FF0000"/>
              </a:solidFill>
            </a:endParaRPr>
          </a:p>
          <a:p>
            <a:pPr lvl="2"/>
            <a:endParaRPr lang="en-US" altLang="zh-CN" sz="2200" dirty="0">
              <a:solidFill>
                <a:srgbClr val="FF0000"/>
              </a:solidFill>
            </a:endParaRPr>
          </a:p>
          <a:p>
            <a:pPr lvl="2"/>
            <a:r>
              <a:rPr lang="zh-CN" altLang="en-US" sz="2200" dirty="0">
                <a:solidFill>
                  <a:srgbClr val="FF0000"/>
                </a:solidFill>
              </a:rPr>
              <a:t>如何快速找到最小元？</a:t>
            </a:r>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graphicFrame>
        <p:nvGraphicFramePr>
          <p:cNvPr id="5" name="Object 1024"/>
          <p:cNvGraphicFramePr>
            <a:graphicFrameLocks noChangeAspect="1"/>
          </p:cNvGraphicFramePr>
          <p:nvPr/>
        </p:nvGraphicFramePr>
        <p:xfrm>
          <a:off x="1314450" y="571500"/>
          <a:ext cx="6343650" cy="4319588"/>
        </p:xfrm>
        <a:graphic>
          <a:graphicData uri="http://schemas.openxmlformats.org/presentationml/2006/ole">
            <mc:AlternateContent xmlns:mc="http://schemas.openxmlformats.org/markup-compatibility/2006">
              <mc:Choice xmlns:v="urn:schemas-microsoft-com:vml" Requires="v">
                <p:oleObj spid="_x0000_s24588" name="VISIO" r:id="rId1" imgW="3055620" imgH="2080260" progId="Visio.Drawing.4">
                  <p:embed/>
                </p:oleObj>
              </mc:Choice>
              <mc:Fallback>
                <p:oleObj name="VISIO" r:id="rId1" imgW="3055620" imgH="2080260" progId="Visio.Drawing.4">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14450" y="571500"/>
                        <a:ext cx="6343650" cy="4319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9.4.2 </a:t>
            </a:r>
            <a:r>
              <a:rPr lang="zh-CN" altLang="en-US" dirty="0" smtClean="0"/>
              <a:t>树形选择</a:t>
            </a:r>
            <a:r>
              <a:rPr lang="zh-CN" altLang="en-US" dirty="0"/>
              <a:t>排序</a:t>
            </a:r>
            <a:endParaRPr lang="zh-CN" altLang="en-US" dirty="0"/>
          </a:p>
          <a:p>
            <a:pPr lvl="2"/>
            <a:endParaRPr lang="en-US" altLang="zh-CN" sz="2200" dirty="0"/>
          </a:p>
          <a:p>
            <a:pPr lvl="2"/>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graphicFrame>
        <p:nvGraphicFramePr>
          <p:cNvPr id="4" name="Object 1024"/>
          <p:cNvGraphicFramePr>
            <a:graphicFrameLocks noChangeAspect="1"/>
          </p:cNvGraphicFramePr>
          <p:nvPr/>
        </p:nvGraphicFramePr>
        <p:xfrm>
          <a:off x="854242" y="1358967"/>
          <a:ext cx="6858000" cy="2276475"/>
        </p:xfrm>
        <a:graphic>
          <a:graphicData uri="http://schemas.openxmlformats.org/presentationml/2006/ole">
            <mc:AlternateContent xmlns:mc="http://schemas.openxmlformats.org/markup-compatibility/2006">
              <mc:Choice xmlns:v="urn:schemas-microsoft-com:vml" Requires="v">
                <p:oleObj spid="_x0000_s25611" name="VISIO" r:id="rId1" imgW="5181600" imgH="1722120" progId="Visio.Drawing.4">
                  <p:embed/>
                </p:oleObj>
              </mc:Choice>
              <mc:Fallback>
                <p:oleObj name="VISIO" r:id="rId1" imgW="5181600" imgH="1722120" progId="Visio.Drawing.4">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4242" y="1358967"/>
                        <a:ext cx="6858000" cy="227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 name="Text Box 5"/>
          <p:cNvSpPr txBox="1">
            <a:spLocks noChangeArrowheads="1"/>
          </p:cNvSpPr>
          <p:nvPr/>
        </p:nvSpPr>
        <p:spPr bwMode="auto">
          <a:xfrm>
            <a:off x="3238725" y="3809263"/>
            <a:ext cx="266611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800" dirty="0" smtClean="0"/>
              <a:t>图</a:t>
            </a:r>
            <a:r>
              <a:rPr lang="en-US" altLang="zh-CN" sz="1800" dirty="0" smtClean="0"/>
              <a:t>9.1 </a:t>
            </a:r>
            <a:r>
              <a:rPr lang="zh-CN" altLang="en-US" sz="1800" dirty="0" smtClean="0"/>
              <a:t>树形</a:t>
            </a:r>
            <a:r>
              <a:rPr lang="zh-CN" altLang="en-US" sz="1800" dirty="0"/>
              <a:t>选择排序示例 </a:t>
            </a:r>
            <a:endParaRPr lang="zh-CN" altLang="en-US" sz="1800" dirty="0"/>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indent="135255"/>
            <a:r>
              <a:rPr lang="zh-CN" altLang="en-US" dirty="0" smtClean="0"/>
              <a:t>在</a:t>
            </a:r>
            <a:r>
              <a:rPr lang="zh-CN" altLang="en-US" dirty="0"/>
              <a:t>树形选择排序中，被选中的关键字都是走了一条由叶子结点到根结点的比较的过程，由于含有</a:t>
            </a:r>
            <a:r>
              <a:rPr lang="en-US" altLang="zh-CN" dirty="0"/>
              <a:t>n</a:t>
            </a:r>
            <a:r>
              <a:rPr lang="zh-CN" altLang="en-US" dirty="0"/>
              <a:t>个叶子结点的完全二叉树的深度为</a:t>
            </a:r>
            <a:r>
              <a:rPr lang="en-US" altLang="zh-CN" dirty="0"/>
              <a:t>[log</a:t>
            </a:r>
            <a:r>
              <a:rPr lang="en-US" altLang="zh-CN" baseline="-25000" dirty="0"/>
              <a:t>2</a:t>
            </a:r>
            <a:r>
              <a:rPr lang="en-US" altLang="zh-CN" dirty="0"/>
              <a:t>n]+1</a:t>
            </a:r>
            <a:r>
              <a:rPr lang="zh-CN" altLang="en-US" dirty="0"/>
              <a:t>，则在树形选择排序中，每选择一个小关键字需要进行</a:t>
            </a:r>
            <a:r>
              <a:rPr lang="en-US" altLang="zh-CN" dirty="0"/>
              <a:t>[log</a:t>
            </a:r>
            <a:r>
              <a:rPr lang="en-US" altLang="zh-CN" baseline="-25000" dirty="0"/>
              <a:t>2</a:t>
            </a:r>
            <a:r>
              <a:rPr lang="en-US" altLang="zh-CN" dirty="0"/>
              <a:t>n]</a:t>
            </a:r>
            <a:r>
              <a:rPr lang="zh-CN" altLang="en-US" dirty="0"/>
              <a:t>次比较，因此其时间复杂度为</a:t>
            </a:r>
            <a:r>
              <a:rPr lang="en-US" altLang="zh-CN" dirty="0"/>
              <a:t>O(nlog</a:t>
            </a:r>
            <a:r>
              <a:rPr lang="en-US" altLang="zh-CN" baseline="-25000" dirty="0"/>
              <a:t>2</a:t>
            </a:r>
            <a:r>
              <a:rPr lang="en-US" altLang="zh-CN" dirty="0"/>
              <a:t>n)</a:t>
            </a:r>
            <a:r>
              <a:rPr lang="zh-CN" altLang="en-US" dirty="0" smtClean="0"/>
              <a:t>。移动</a:t>
            </a:r>
            <a:r>
              <a:rPr lang="zh-CN" altLang="en-US" dirty="0"/>
              <a:t>记录次数不超过比较次数，故总的算法时间复杂度为</a:t>
            </a:r>
            <a:r>
              <a:rPr lang="en-US" altLang="zh-CN" dirty="0"/>
              <a:t>O(nlog</a:t>
            </a:r>
            <a:r>
              <a:rPr lang="en-US" altLang="zh-CN" baseline="-25000" dirty="0"/>
              <a:t>2</a:t>
            </a:r>
            <a:r>
              <a:rPr lang="en-US" altLang="zh-CN" dirty="0"/>
              <a:t>n)</a:t>
            </a:r>
            <a:r>
              <a:rPr lang="zh-CN" altLang="en-US" dirty="0"/>
              <a:t>。与简单选择排序相比，降低了比较次数的数量级，增加了</a:t>
            </a:r>
            <a:r>
              <a:rPr lang="en-US" altLang="zh-CN" dirty="0"/>
              <a:t>n-1</a:t>
            </a:r>
            <a:r>
              <a:rPr lang="zh-CN" altLang="en-US" dirty="0"/>
              <a:t>个额外的存储空间来存放中间比较结果，同时附加了与∞进行比较的时间耗费。为了弥补以上不足，威洛姆斯在</a:t>
            </a:r>
            <a:r>
              <a:rPr lang="en-US" altLang="zh-CN" dirty="0"/>
              <a:t>1964</a:t>
            </a:r>
            <a:r>
              <a:rPr lang="zh-CN" altLang="en-US" dirty="0"/>
              <a:t>年提出了进一步的改进方法，即另外一种形式的选择排序方法</a:t>
            </a:r>
            <a:r>
              <a:rPr lang="en-US" altLang="zh-CN" dirty="0"/>
              <a:t>——</a:t>
            </a:r>
            <a:r>
              <a:rPr lang="zh-CN" altLang="en-US" dirty="0"/>
              <a:t>堆排序。 </a:t>
            </a:r>
            <a:endParaRPr lang="zh-CN" altLang="en-US" sz="20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205105" indent="-205105"/>
            <a:r>
              <a:rPr lang="en-US" altLang="zh-CN" dirty="0" smtClean="0"/>
              <a:t>9.4.3 </a:t>
            </a:r>
            <a:r>
              <a:rPr lang="zh-CN" altLang="en-US" dirty="0" smtClean="0"/>
              <a:t>堆排序</a:t>
            </a:r>
            <a:endParaRPr lang="zh-CN" altLang="en-US" dirty="0"/>
          </a:p>
          <a:p>
            <a:pPr lvl="2"/>
            <a:endParaRPr lang="en-US" altLang="zh-CN" sz="2200" dirty="0"/>
          </a:p>
          <a:p>
            <a:pPr lvl="2"/>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graphicFrame>
        <p:nvGraphicFramePr>
          <p:cNvPr id="5" name="Object 6"/>
          <p:cNvGraphicFramePr>
            <a:graphicFrameLocks noChangeAspect="1"/>
          </p:cNvGraphicFramePr>
          <p:nvPr/>
        </p:nvGraphicFramePr>
        <p:xfrm>
          <a:off x="940870" y="1324075"/>
          <a:ext cx="6858000" cy="2857500"/>
        </p:xfrm>
        <a:graphic>
          <a:graphicData uri="http://schemas.openxmlformats.org/presentationml/2006/ole">
            <mc:AlternateContent xmlns:mc="http://schemas.openxmlformats.org/markup-compatibility/2006">
              <mc:Choice xmlns:v="urn:schemas-microsoft-com:vml" Requires="v">
                <p:oleObj spid="_x0000_s26635" name="VISIO" r:id="rId1" imgW="3954780" imgH="1645920" progId="Visio.Drawing.4">
                  <p:embed/>
                </p:oleObj>
              </mc:Choice>
              <mc:Fallback>
                <p:oleObj name="VISIO" r:id="rId1" imgW="3954780" imgH="1645920" progId="Visio.Drawing.4">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0870" y="1324075"/>
                        <a:ext cx="6858000" cy="285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070" y="593325"/>
            <a:ext cx="8094201" cy="4402187"/>
          </a:xfrm>
        </p:spPr>
        <p:txBody>
          <a:bodyPr/>
          <a:lstStyle/>
          <a:p>
            <a:pPr marL="0" lvl="2" indent="135255">
              <a:lnSpc>
                <a:spcPts val="2800"/>
              </a:lnSpc>
            </a:pPr>
            <a:r>
              <a:rPr lang="zh-CN" altLang="en-US" dirty="0" smtClean="0"/>
              <a:t>堆</a:t>
            </a:r>
            <a:r>
              <a:rPr lang="zh-CN" altLang="en-US" dirty="0"/>
              <a:t>排序的过程主要需要解决两个问题：①按堆定义建初堆； ②去掉最大元之后重建堆，得到次大元。</a:t>
            </a:r>
            <a:endParaRPr lang="zh-CN" altLang="en-US" dirty="0"/>
          </a:p>
          <a:p>
            <a:pPr marL="0" lvl="2" indent="135255">
              <a:lnSpc>
                <a:spcPts val="2800"/>
              </a:lnSpc>
            </a:pPr>
            <a:r>
              <a:rPr lang="zh-CN" altLang="en-US" dirty="0" smtClean="0"/>
              <a:t>问题</a:t>
            </a:r>
            <a:r>
              <a:rPr lang="en-US" altLang="zh-CN" dirty="0" smtClean="0"/>
              <a:t>1</a:t>
            </a:r>
            <a:r>
              <a:rPr lang="zh-CN" altLang="en-US" dirty="0" smtClean="0"/>
              <a:t>：当堆</a:t>
            </a:r>
            <a:r>
              <a:rPr lang="zh-CN" altLang="en-US" dirty="0"/>
              <a:t>顶元素改变时，如何重建</a:t>
            </a:r>
            <a:r>
              <a:rPr lang="zh-CN" altLang="en-US" dirty="0" smtClean="0"/>
              <a:t>堆？</a:t>
            </a:r>
            <a:endParaRPr lang="en-US" altLang="zh-CN" dirty="0" smtClean="0"/>
          </a:p>
          <a:p>
            <a:pPr marL="0" lvl="2" indent="135255">
              <a:lnSpc>
                <a:spcPts val="2800"/>
              </a:lnSpc>
            </a:pPr>
            <a:r>
              <a:rPr lang="zh-CN" altLang="en-US" dirty="0" smtClean="0"/>
              <a:t>首先</a:t>
            </a:r>
            <a:r>
              <a:rPr lang="zh-CN" altLang="en-US" dirty="0"/>
              <a:t>将完全二叉树根结点中的记录移出，该记录称为待调整记录。此时根结点相当于空结点。从空结点的左、右子树中选出一个关键字较小的记录，如果该记录的关键字小于待调整记录的关键字，则将该记录上移至空结点中。此时，原来那个关键字较小的子结点相当于空结点</a:t>
            </a:r>
            <a:r>
              <a:rPr lang="zh-CN" altLang="en-US" dirty="0" smtClean="0"/>
              <a:t>。</a:t>
            </a:r>
            <a:endParaRPr lang="en-US" altLang="zh-CN" dirty="0" smtClean="0"/>
          </a:p>
          <a:p>
            <a:pPr marL="0" lvl="2" indent="135255">
              <a:lnSpc>
                <a:spcPts val="2800"/>
              </a:lnSpc>
            </a:pPr>
            <a:r>
              <a:rPr lang="zh-CN" altLang="en-US" dirty="0" smtClean="0"/>
              <a:t>重复</a:t>
            </a:r>
            <a:r>
              <a:rPr lang="zh-CN" altLang="en-US" dirty="0"/>
              <a:t>上述移动过程，直到空结点左、右子树的关键字均不小于待调整记录的关键字，此时将待调整记录放入空结点即可</a:t>
            </a:r>
            <a:r>
              <a:rPr lang="zh-CN" altLang="en-US" dirty="0" smtClean="0"/>
              <a:t>。</a:t>
            </a:r>
            <a:endParaRPr lang="en-US" altLang="zh-CN" dirty="0" smtClean="0"/>
          </a:p>
          <a:p>
            <a:pPr marL="0" lvl="2" indent="135255">
              <a:lnSpc>
                <a:spcPts val="2800"/>
              </a:lnSpc>
            </a:pPr>
            <a:r>
              <a:rPr lang="zh-CN" altLang="en-US" dirty="0" smtClean="0"/>
              <a:t>上述</a:t>
            </a:r>
            <a:r>
              <a:rPr lang="zh-CN" altLang="en-US" dirty="0"/>
              <a:t>调整方法相当于</a:t>
            </a:r>
            <a:r>
              <a:rPr lang="zh-CN" altLang="en-US" dirty="0">
                <a:solidFill>
                  <a:srgbClr val="FF0000"/>
                </a:solidFill>
              </a:rPr>
              <a:t>把待调整记录逐步向下“筛”的过程，所以一般称为“筛选”法。 </a:t>
            </a:r>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graphicFrame>
        <p:nvGraphicFramePr>
          <p:cNvPr id="5" name="Object 1024"/>
          <p:cNvGraphicFramePr>
            <a:graphicFrameLocks noChangeAspect="1"/>
          </p:cNvGraphicFramePr>
          <p:nvPr/>
        </p:nvGraphicFramePr>
        <p:xfrm>
          <a:off x="1143000" y="571500"/>
          <a:ext cx="6858000" cy="4014788"/>
        </p:xfrm>
        <a:graphic>
          <a:graphicData uri="http://schemas.openxmlformats.org/presentationml/2006/ole">
            <mc:AlternateContent xmlns:mc="http://schemas.openxmlformats.org/markup-compatibility/2006">
              <mc:Choice xmlns:v="urn:schemas-microsoft-com:vml" Requires="v">
                <p:oleObj spid="_x0000_s27658" name="VISIO" r:id="rId1" imgW="5524500" imgH="3230880" progId="Visio.Drawing.4">
                  <p:embed/>
                </p:oleObj>
              </mc:Choice>
              <mc:Fallback>
                <p:oleObj name="VISIO" r:id="rId1" imgW="5524500" imgH="3230880" progId="Visio.Drawing.4">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571500"/>
                        <a:ext cx="6858000" cy="401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 name="Text Box 4"/>
          <p:cNvSpPr txBox="1">
            <a:spLocks noChangeArrowheads="1"/>
          </p:cNvSpPr>
          <p:nvPr/>
        </p:nvSpPr>
        <p:spPr bwMode="auto">
          <a:xfrm>
            <a:off x="2686050" y="4572000"/>
            <a:ext cx="43396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t>图</a:t>
            </a:r>
            <a:r>
              <a:rPr lang="en-US" altLang="zh-CN" sz="1800" dirty="0" smtClean="0"/>
              <a:t>9.2 </a:t>
            </a:r>
            <a:r>
              <a:rPr lang="zh-CN" altLang="en-US" sz="1800" dirty="0" smtClean="0"/>
              <a:t>输出</a:t>
            </a:r>
            <a:r>
              <a:rPr lang="zh-CN" altLang="en-US" sz="1800" dirty="0"/>
              <a:t>堆顶元素后， 调整建新堆过程 </a:t>
            </a:r>
            <a:endParaRPr lang="zh-CN" altLang="en-US" sz="1800"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nSpc>
                <a:spcPct val="120000"/>
              </a:lnSpc>
              <a:spcBef>
                <a:spcPct val="50000"/>
              </a:spcBef>
            </a:pPr>
            <a:r>
              <a:rPr lang="zh-CN" altLang="en-US" sz="2000" dirty="0" smtClean="0"/>
              <a:t>问题</a:t>
            </a:r>
            <a:r>
              <a:rPr lang="en-US" altLang="zh-CN" sz="2000" dirty="0"/>
              <a:t>2</a:t>
            </a:r>
            <a:r>
              <a:rPr lang="zh-CN" altLang="en-US" sz="2000" dirty="0"/>
              <a:t>：如何由一个任意序列建初堆</a:t>
            </a:r>
            <a:r>
              <a:rPr lang="zh-CN" altLang="en-US" sz="2000" dirty="0" smtClean="0"/>
              <a:t>？</a:t>
            </a:r>
            <a:endParaRPr lang="zh-CN" altLang="en-US" sz="2000" dirty="0"/>
          </a:p>
          <a:p>
            <a:pPr marL="0" lvl="2">
              <a:lnSpc>
                <a:spcPct val="120000"/>
              </a:lnSpc>
              <a:spcBef>
                <a:spcPct val="50000"/>
              </a:spcBef>
            </a:pPr>
            <a:r>
              <a:rPr lang="zh-CN" altLang="en-US" sz="2000" dirty="0"/>
              <a:t>        一个任意序列看成是对应的完全二叉树，由于叶子结点可以视为单元素的堆，因而可以反复利用</a:t>
            </a:r>
            <a:r>
              <a:rPr lang="zh-CN" altLang="en-US" sz="2000" dirty="0">
                <a:latin typeface="Courier New" panose="02070309020205020404" pitchFamily="49" charset="0"/>
              </a:rPr>
              <a:t>“</a:t>
            </a:r>
            <a:r>
              <a:rPr lang="zh-CN" altLang="en-US" sz="2000" dirty="0"/>
              <a:t>筛选</a:t>
            </a:r>
            <a:r>
              <a:rPr lang="zh-CN" altLang="en-US" sz="2000" dirty="0">
                <a:latin typeface="Courier New" panose="02070309020205020404" pitchFamily="49" charset="0"/>
              </a:rPr>
              <a:t>”</a:t>
            </a:r>
            <a:r>
              <a:rPr lang="zh-CN" altLang="en-US" sz="2000" dirty="0"/>
              <a:t>法，</a:t>
            </a:r>
            <a:r>
              <a:rPr lang="zh-CN" altLang="en-US" sz="2000" dirty="0">
                <a:solidFill>
                  <a:srgbClr val="FF0000"/>
                </a:solidFill>
              </a:rPr>
              <a:t>自底向上</a:t>
            </a:r>
            <a:r>
              <a:rPr lang="zh-CN" altLang="en-US" sz="2000" dirty="0"/>
              <a:t>逐层把所有以非叶子结点为根的子树调整为堆，直到将整个完全二叉树调整为堆。可以证明，最后一个非叶子结点位于</a:t>
            </a:r>
            <a:r>
              <a:rPr lang="en-US" altLang="zh-CN" sz="2000" dirty="0"/>
              <a:t>[n/2]</a:t>
            </a:r>
            <a:r>
              <a:rPr lang="zh-CN" altLang="en-US" sz="2000" dirty="0"/>
              <a:t>个元素，</a:t>
            </a:r>
            <a:r>
              <a:rPr lang="en-US" altLang="zh-CN" sz="2000" dirty="0"/>
              <a:t>n</a:t>
            </a:r>
            <a:r>
              <a:rPr lang="zh-CN" altLang="en-US" sz="2000" dirty="0"/>
              <a:t>为二叉树结点数目。因此，</a:t>
            </a:r>
            <a:r>
              <a:rPr lang="zh-CN" altLang="en-US" sz="2000" dirty="0">
                <a:latin typeface="Courier New" panose="02070309020205020404" pitchFamily="49" charset="0"/>
              </a:rPr>
              <a:t>“</a:t>
            </a:r>
            <a:r>
              <a:rPr lang="zh-CN" altLang="en-US" sz="2000" dirty="0"/>
              <a:t>筛选</a:t>
            </a:r>
            <a:r>
              <a:rPr lang="zh-CN" altLang="en-US" sz="2000" dirty="0">
                <a:latin typeface="Courier New" panose="02070309020205020404" pitchFamily="49" charset="0"/>
              </a:rPr>
              <a:t>”</a:t>
            </a:r>
            <a:r>
              <a:rPr lang="zh-CN" altLang="en-US" sz="2000" dirty="0"/>
              <a:t>须从第</a:t>
            </a:r>
            <a:r>
              <a:rPr lang="en-US" altLang="zh-CN" sz="2000" dirty="0"/>
              <a:t>[n/2]</a:t>
            </a:r>
            <a:r>
              <a:rPr lang="zh-CN" altLang="en-US" sz="2000" dirty="0"/>
              <a:t>个元素开始，逐层向上倒退，直到根结点</a:t>
            </a:r>
            <a:r>
              <a:rPr lang="zh-CN" altLang="en-US" sz="2000" dirty="0" smtClean="0"/>
              <a:t>。</a:t>
            </a:r>
            <a:endParaRPr lang="zh-CN" altLang="en-US" sz="2000" dirty="0"/>
          </a:p>
          <a:p>
            <a:pPr marL="0" lvl="2">
              <a:lnSpc>
                <a:spcPct val="120000"/>
              </a:lnSpc>
              <a:spcBef>
                <a:spcPct val="50000"/>
              </a:spcBef>
            </a:pPr>
            <a:r>
              <a:rPr lang="zh-CN" altLang="en-US" sz="2000" dirty="0"/>
              <a:t>        例如，已知关键字序列：｛</a:t>
            </a:r>
            <a:r>
              <a:rPr lang="en-US" altLang="zh-CN" sz="2000" dirty="0"/>
              <a:t>48</a:t>
            </a:r>
            <a:r>
              <a:rPr lang="zh-CN" altLang="en-US" sz="2000" dirty="0"/>
              <a:t>，</a:t>
            </a:r>
            <a:r>
              <a:rPr lang="en-US" altLang="zh-CN" sz="2000" dirty="0"/>
              <a:t>62</a:t>
            </a:r>
            <a:r>
              <a:rPr lang="zh-CN" altLang="en-US" sz="2000" dirty="0"/>
              <a:t>，</a:t>
            </a:r>
            <a:r>
              <a:rPr lang="en-US" altLang="zh-CN" sz="2000" dirty="0"/>
              <a:t>35</a:t>
            </a:r>
            <a:r>
              <a:rPr lang="zh-CN" altLang="en-US" sz="2000" dirty="0"/>
              <a:t>，</a:t>
            </a:r>
            <a:r>
              <a:rPr lang="en-US" altLang="zh-CN" sz="2000" dirty="0"/>
              <a:t>77</a:t>
            </a:r>
            <a:r>
              <a:rPr lang="zh-CN" altLang="en-US" sz="2000" dirty="0"/>
              <a:t>，</a:t>
            </a:r>
            <a:r>
              <a:rPr lang="en-US" altLang="zh-CN" sz="2000" dirty="0"/>
              <a:t>55</a:t>
            </a:r>
            <a:r>
              <a:rPr lang="zh-CN" altLang="en-US" sz="2000" dirty="0"/>
              <a:t>，</a:t>
            </a:r>
            <a:r>
              <a:rPr lang="en-US" altLang="zh-CN" sz="2000" dirty="0"/>
              <a:t>14</a:t>
            </a:r>
            <a:r>
              <a:rPr lang="zh-CN" altLang="en-US" sz="2000" dirty="0"/>
              <a:t>，</a:t>
            </a:r>
            <a:r>
              <a:rPr lang="en-US" altLang="zh-CN" sz="2000" u="sng" dirty="0"/>
              <a:t>35</a:t>
            </a:r>
            <a:r>
              <a:rPr lang="zh-CN" altLang="en-US" sz="2000" dirty="0"/>
              <a:t>， </a:t>
            </a:r>
            <a:r>
              <a:rPr lang="en-US" altLang="zh-CN" sz="2000" dirty="0"/>
              <a:t>98</a:t>
            </a:r>
            <a:r>
              <a:rPr lang="zh-CN" altLang="en-US" sz="2000" dirty="0"/>
              <a:t>｝，要求将其筛选为一个堆。在此，</a:t>
            </a:r>
            <a:r>
              <a:rPr lang="en-US" altLang="zh-CN" sz="2000" dirty="0"/>
              <a:t>n=8</a:t>
            </a:r>
            <a:r>
              <a:rPr lang="zh-CN" altLang="en-US" sz="2000" dirty="0"/>
              <a:t>，所以应从第４个结点</a:t>
            </a:r>
            <a:r>
              <a:rPr lang="en-US" altLang="zh-CN" sz="2000" dirty="0"/>
              <a:t>77</a:t>
            </a:r>
            <a:r>
              <a:rPr lang="zh-CN" altLang="en-US" sz="2000" dirty="0"/>
              <a:t>开始筛选。图</a:t>
            </a:r>
            <a:r>
              <a:rPr lang="en-US" altLang="zh-CN" sz="2000" dirty="0" smtClean="0"/>
              <a:t>9.3</a:t>
            </a:r>
            <a:r>
              <a:rPr lang="zh-CN" altLang="en-US" sz="2000" dirty="0" smtClean="0"/>
              <a:t>给</a:t>
            </a:r>
            <a:r>
              <a:rPr lang="zh-CN" altLang="en-US" sz="2000" dirty="0"/>
              <a:t>出了完整的建堆过程。图中箭头所指为当前待筛结点。</a:t>
            </a:r>
            <a:r>
              <a:rPr lang="zh-CN" altLang="en-US" sz="1600" dirty="0"/>
              <a:t> </a:t>
            </a:r>
            <a:endParaRPr lang="zh-CN" altLang="en-US" sz="1600" dirty="0"/>
          </a:p>
          <a:p>
            <a:pPr lvl="2"/>
            <a:endParaRPr lang="en-US" altLang="zh-CN" sz="2200" dirty="0"/>
          </a:p>
          <a:p>
            <a:pPr lvl="2"/>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
        <p:nvSpPr>
          <p:cNvPr id="5" name="Text Box 2"/>
          <p:cNvSpPr txBox="1">
            <a:spLocks noChangeArrowheads="1"/>
          </p:cNvSpPr>
          <p:nvPr/>
        </p:nvSpPr>
        <p:spPr bwMode="auto">
          <a:xfrm>
            <a:off x="3771900" y="4686300"/>
            <a:ext cx="156966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 </a:t>
            </a:r>
            <a:r>
              <a:rPr lang="zh-CN" altLang="en-US" sz="1800" dirty="0"/>
              <a:t>图</a:t>
            </a:r>
            <a:r>
              <a:rPr lang="en-US" altLang="zh-CN" sz="1800" dirty="0" smtClean="0"/>
              <a:t>9.3 </a:t>
            </a:r>
            <a:r>
              <a:rPr lang="zh-CN" altLang="en-US" sz="1800" dirty="0"/>
              <a:t>调整堆 </a:t>
            </a:r>
            <a:endParaRPr lang="zh-CN" altLang="en-US" sz="1800" dirty="0"/>
          </a:p>
        </p:txBody>
      </p:sp>
      <p:graphicFrame>
        <p:nvGraphicFramePr>
          <p:cNvPr id="6" name="Object 3"/>
          <p:cNvGraphicFramePr>
            <a:graphicFrameLocks noChangeAspect="1"/>
          </p:cNvGraphicFramePr>
          <p:nvPr/>
        </p:nvGraphicFramePr>
        <p:xfrm>
          <a:off x="1062038" y="519112"/>
          <a:ext cx="6858000" cy="4054079"/>
        </p:xfrm>
        <a:graphic>
          <a:graphicData uri="http://schemas.openxmlformats.org/presentationml/2006/ole">
            <mc:AlternateContent xmlns:mc="http://schemas.openxmlformats.org/markup-compatibility/2006">
              <mc:Choice xmlns:v="urn:schemas-microsoft-com:vml" Requires="v">
                <p:oleObj spid="_x0000_s28682" name="VISIO" r:id="rId1" imgW="5471160" imgH="3230880" progId="Visio.Drawing.4">
                  <p:embed/>
                </p:oleObj>
              </mc:Choice>
              <mc:Fallback>
                <p:oleObj name="VISIO" r:id="rId1" imgW="5471160" imgH="3230880" progId="Visio.Drawing.4">
                  <p:embed/>
                  <p:pic>
                    <p:nvPicPr>
                      <p:cNvPr id="0" name="Object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2038" y="519112"/>
                        <a:ext cx="6858000" cy="4054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sz="2000" dirty="0" smtClean="0"/>
              <a:t>问题</a:t>
            </a:r>
            <a:r>
              <a:rPr lang="en-US" altLang="zh-CN" sz="2000" dirty="0"/>
              <a:t>3</a:t>
            </a:r>
            <a:r>
              <a:rPr lang="zh-CN" altLang="en-US" sz="2000" dirty="0"/>
              <a:t>： 如何利用堆进行</a:t>
            </a:r>
            <a:r>
              <a:rPr lang="zh-CN" altLang="en-US" sz="2000" dirty="0" smtClean="0"/>
              <a:t>排序？</a:t>
            </a:r>
            <a:endParaRPr lang="en-US" altLang="zh-CN" sz="2000" dirty="0"/>
          </a:p>
          <a:p>
            <a:pPr lvl="2"/>
            <a:r>
              <a:rPr lang="zh-CN" altLang="en-US" sz="2000" dirty="0" smtClean="0"/>
              <a:t>①将</a:t>
            </a:r>
            <a:r>
              <a:rPr lang="zh-CN" altLang="en-US" sz="2000" dirty="0"/>
              <a:t>待排序记录按照堆的定义建初堆</a:t>
            </a:r>
            <a:r>
              <a:rPr lang="zh-CN" altLang="en-US" sz="2000" dirty="0" smtClean="0"/>
              <a:t>，交换堆</a:t>
            </a:r>
            <a:r>
              <a:rPr lang="zh-CN" altLang="en-US" sz="2000" dirty="0"/>
              <a:t>顶元素和堆尾元素</a:t>
            </a:r>
            <a:r>
              <a:rPr lang="zh-CN" altLang="en-US" sz="2000" dirty="0" smtClean="0"/>
              <a:t>；</a:t>
            </a:r>
            <a:endParaRPr lang="en-US" altLang="zh-CN" sz="2000" dirty="0" smtClean="0"/>
          </a:p>
          <a:p>
            <a:pPr lvl="2"/>
            <a:r>
              <a:rPr lang="zh-CN" altLang="en-US" sz="2000" dirty="0" smtClean="0"/>
              <a:t>②调整</a:t>
            </a:r>
            <a:r>
              <a:rPr lang="zh-CN" altLang="en-US" sz="2000" dirty="0"/>
              <a:t>剩余的记录序列，利用筛选法将前</a:t>
            </a:r>
            <a:r>
              <a:rPr lang="en-US" altLang="zh-CN" sz="2000" dirty="0"/>
              <a:t>n-</a:t>
            </a:r>
            <a:r>
              <a:rPr lang="en-US" altLang="zh-CN" sz="2000" dirty="0" err="1"/>
              <a:t>i</a:t>
            </a:r>
            <a:r>
              <a:rPr lang="zh-CN" altLang="en-US" sz="2000" dirty="0"/>
              <a:t>个元素重新筛选并建成为一个新堆，再</a:t>
            </a:r>
            <a:r>
              <a:rPr lang="zh-CN" altLang="en-US" sz="2000" smtClean="0">
                <a:sym typeface="+mn-ea"/>
              </a:rPr>
              <a:t>交换堆</a:t>
            </a:r>
            <a:r>
              <a:rPr lang="zh-CN" altLang="en-US" sz="2000">
                <a:sym typeface="+mn-ea"/>
              </a:rPr>
              <a:t>顶元素和堆尾元素</a:t>
            </a:r>
            <a:r>
              <a:rPr lang="zh-CN" altLang="en-US" sz="2000" dirty="0" smtClean="0"/>
              <a:t>；</a:t>
            </a:r>
            <a:endParaRPr lang="en-US" altLang="zh-CN" sz="2000" dirty="0" smtClean="0"/>
          </a:p>
          <a:p>
            <a:pPr lvl="2"/>
            <a:r>
              <a:rPr lang="zh-CN" altLang="en-US" sz="2000" dirty="0" smtClean="0"/>
              <a:t> ③重复</a:t>
            </a:r>
            <a:r>
              <a:rPr lang="zh-CN" altLang="en-US" sz="2000" dirty="0"/>
              <a:t>执行步骤②，进行</a:t>
            </a:r>
            <a:r>
              <a:rPr lang="en-US" altLang="zh-CN" sz="2000" dirty="0"/>
              <a:t>n-1</a:t>
            </a:r>
            <a:r>
              <a:rPr lang="zh-CN" altLang="en-US" sz="2000" dirty="0"/>
              <a:t>次筛选。新筛选成的堆会越来越小，而新堆后面的有序关键字会越来越多，最后使待排序记录序列成为一个有序的序列，这个过程称之为堆排序。</a:t>
            </a:r>
            <a:endParaRPr lang="zh-CN" altLang="en-US" sz="22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
        <p:nvSpPr>
          <p:cNvPr id="5" name="Text Box 4"/>
          <p:cNvSpPr txBox="1">
            <a:spLocks noChangeArrowheads="1"/>
          </p:cNvSpPr>
          <p:nvPr/>
        </p:nvSpPr>
        <p:spPr bwMode="auto">
          <a:xfrm>
            <a:off x="3257550" y="4686300"/>
            <a:ext cx="266611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t>图</a:t>
            </a:r>
            <a:r>
              <a:rPr lang="en-US" altLang="zh-CN" sz="1800" dirty="0" smtClean="0"/>
              <a:t>9.4 </a:t>
            </a:r>
            <a:r>
              <a:rPr lang="zh-CN" altLang="en-US" sz="1800" dirty="0"/>
              <a:t>完整的堆排序过程 </a:t>
            </a:r>
            <a:endParaRPr lang="zh-CN" altLang="en-US" sz="1800" dirty="0"/>
          </a:p>
        </p:txBody>
      </p:sp>
      <p:graphicFrame>
        <p:nvGraphicFramePr>
          <p:cNvPr id="6" name="Object 1024"/>
          <p:cNvGraphicFramePr>
            <a:graphicFrameLocks noChangeAspect="1"/>
          </p:cNvGraphicFramePr>
          <p:nvPr/>
        </p:nvGraphicFramePr>
        <p:xfrm>
          <a:off x="1143000" y="571500"/>
          <a:ext cx="6972300" cy="4054079"/>
        </p:xfrm>
        <a:graphic>
          <a:graphicData uri="http://schemas.openxmlformats.org/presentationml/2006/ole">
            <mc:AlternateContent xmlns:mc="http://schemas.openxmlformats.org/markup-compatibility/2006">
              <mc:Choice xmlns:v="urn:schemas-microsoft-com:vml" Requires="v">
                <p:oleObj spid="_x0000_s29706" name="VISIO" r:id="rId1" imgW="5562600" imgH="3230880" progId="Visio.Drawing.4">
                  <p:embed/>
                </p:oleObj>
              </mc:Choice>
              <mc:Fallback>
                <p:oleObj name="VISIO" r:id="rId1" imgW="5562600" imgH="3230880" progId="Visio.Drawing.4">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571500"/>
                        <a:ext cx="6972300" cy="4054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graphicFrame>
        <p:nvGraphicFramePr>
          <p:cNvPr id="4" name="Object 1028"/>
          <p:cNvGraphicFramePr>
            <a:graphicFrameLocks noChangeAspect="1"/>
          </p:cNvGraphicFramePr>
          <p:nvPr/>
        </p:nvGraphicFramePr>
        <p:xfrm>
          <a:off x="1215629" y="607219"/>
          <a:ext cx="6713934" cy="3929063"/>
        </p:xfrm>
        <a:graphic>
          <a:graphicData uri="http://schemas.openxmlformats.org/presentationml/2006/ole">
            <mc:AlternateContent xmlns:mc="http://schemas.openxmlformats.org/markup-compatibility/2006">
              <mc:Choice xmlns:v="urn:schemas-microsoft-com:vml" Requires="v">
                <p:oleObj spid="_x0000_s30730" name="位图图像" r:id="rId1" imgW="8953500" imgH="5238750" progId="Paint.Picture">
                  <p:embed/>
                </p:oleObj>
              </mc:Choice>
              <mc:Fallback>
                <p:oleObj name="位图图像" r:id="rId1" imgW="8953500" imgH="5238750" progId="Paint.Picture">
                  <p:embed/>
                  <p:pic>
                    <p:nvPicPr>
                      <p:cNvPr id="0" name="Object 102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5629" y="607219"/>
                        <a:ext cx="6713934" cy="3929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graphicFrame>
        <p:nvGraphicFramePr>
          <p:cNvPr id="4" name="Object 1024"/>
          <p:cNvGraphicFramePr>
            <a:graphicFrameLocks noChangeAspect="1"/>
          </p:cNvGraphicFramePr>
          <p:nvPr/>
        </p:nvGraphicFramePr>
        <p:xfrm>
          <a:off x="1657350" y="857250"/>
          <a:ext cx="5829300" cy="2557463"/>
        </p:xfrm>
        <a:graphic>
          <a:graphicData uri="http://schemas.openxmlformats.org/presentationml/2006/ole">
            <mc:AlternateContent xmlns:mc="http://schemas.openxmlformats.org/markup-compatibility/2006">
              <mc:Choice xmlns:v="urn:schemas-microsoft-com:vml" Requires="v">
                <p:oleObj spid="_x0000_s31754" name="位图图像" r:id="rId1" imgW="6753225" imgH="2962275" progId="Paint.Picture">
                  <p:embed/>
                </p:oleObj>
              </mc:Choice>
              <mc:Fallback>
                <p:oleObj name="位图图像" r:id="rId1" imgW="6753225" imgH="2962275" progId="Paint.Picture">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7350" y="857250"/>
                        <a:ext cx="5829300" cy="2557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ct val="100000"/>
              </a:lnSpc>
              <a:spcBef>
                <a:spcPct val="0"/>
              </a:spcBef>
            </a:pPr>
            <a:r>
              <a:rPr lang="en-US" altLang="zh-CN" sz="1600" dirty="0" smtClean="0"/>
              <a:t>void </a:t>
            </a:r>
            <a:r>
              <a:rPr lang="en-US" altLang="zh-CN" sz="1600" dirty="0" err="1"/>
              <a:t>HeapAdjust</a:t>
            </a:r>
            <a:r>
              <a:rPr lang="en-US" altLang="zh-CN" sz="1600" dirty="0"/>
              <a:t>(</a:t>
            </a:r>
            <a:r>
              <a:rPr lang="en-US" altLang="zh-CN" sz="1600" dirty="0" err="1"/>
              <a:t>HeapType</a:t>
            </a:r>
            <a:r>
              <a:rPr lang="en-US" altLang="zh-CN" sz="1600" dirty="0"/>
              <a:t> &amp;</a:t>
            </a:r>
            <a:r>
              <a:rPr lang="en-US" altLang="zh-CN" sz="1600" dirty="0" err="1"/>
              <a:t>H,int</a:t>
            </a:r>
            <a:r>
              <a:rPr lang="en-US" altLang="zh-CN" sz="1600" dirty="0"/>
              <a:t> </a:t>
            </a:r>
            <a:r>
              <a:rPr lang="en-US" altLang="zh-CN" sz="1600" dirty="0" err="1"/>
              <a:t>s,int</a:t>
            </a:r>
            <a:r>
              <a:rPr lang="en-US" altLang="zh-CN" sz="1600" dirty="0"/>
              <a:t> m)</a:t>
            </a:r>
            <a:endParaRPr lang="en-US" altLang="zh-CN" sz="1600" dirty="0"/>
          </a:p>
          <a:p>
            <a:pPr lvl="2">
              <a:lnSpc>
                <a:spcPct val="100000"/>
              </a:lnSpc>
              <a:spcBef>
                <a:spcPct val="0"/>
              </a:spcBef>
            </a:pPr>
            <a:r>
              <a:rPr lang="en-US" altLang="zh-CN" sz="1600" dirty="0"/>
              <a:t>{</a:t>
            </a:r>
            <a:endParaRPr lang="en-US" altLang="zh-CN" sz="1600" dirty="0"/>
          </a:p>
          <a:p>
            <a:pPr lvl="2">
              <a:lnSpc>
                <a:spcPct val="100000"/>
              </a:lnSpc>
              <a:spcBef>
                <a:spcPct val="0"/>
              </a:spcBef>
            </a:pPr>
            <a:r>
              <a:rPr lang="en-US" altLang="zh-CN" sz="1600" dirty="0"/>
              <a:t>	</a:t>
            </a:r>
            <a:r>
              <a:rPr lang="en-US" altLang="zh-CN" sz="1600" dirty="0" err="1"/>
              <a:t>rc</a:t>
            </a:r>
            <a:r>
              <a:rPr lang="en-US" altLang="zh-CN" sz="1600" dirty="0"/>
              <a:t>=</a:t>
            </a:r>
            <a:r>
              <a:rPr lang="en-US" altLang="zh-CN" sz="1600" dirty="0" err="1"/>
              <a:t>H.r</a:t>
            </a:r>
            <a:r>
              <a:rPr lang="en-US" altLang="zh-CN" sz="1600" dirty="0"/>
              <a:t>[s];</a:t>
            </a:r>
            <a:endParaRPr lang="en-US" altLang="zh-CN" sz="1600" dirty="0"/>
          </a:p>
          <a:p>
            <a:pPr lvl="2">
              <a:lnSpc>
                <a:spcPct val="100000"/>
              </a:lnSpc>
              <a:spcBef>
                <a:spcPct val="0"/>
              </a:spcBef>
            </a:pPr>
            <a:r>
              <a:rPr lang="en-US" altLang="zh-CN" sz="1600" dirty="0"/>
              <a:t>	for(j=2*</a:t>
            </a:r>
            <a:r>
              <a:rPr lang="en-US" altLang="zh-CN" sz="1600" dirty="0" err="1"/>
              <a:t>s;j</a:t>
            </a:r>
            <a:r>
              <a:rPr lang="en-US" altLang="zh-CN" sz="1600" dirty="0"/>
              <a:t>&lt;=</a:t>
            </a:r>
            <a:r>
              <a:rPr lang="en-US" altLang="zh-CN" sz="1600" dirty="0" err="1"/>
              <a:t>m;j</a:t>
            </a:r>
            <a:r>
              <a:rPr lang="en-US" altLang="zh-CN" sz="1600" dirty="0"/>
              <a:t>*=2){</a:t>
            </a:r>
            <a:endParaRPr lang="en-US" altLang="zh-CN" sz="1600" dirty="0"/>
          </a:p>
          <a:p>
            <a:pPr lvl="2">
              <a:lnSpc>
                <a:spcPct val="100000"/>
              </a:lnSpc>
              <a:spcBef>
                <a:spcPct val="0"/>
              </a:spcBef>
            </a:pPr>
            <a:r>
              <a:rPr lang="en-US" altLang="zh-CN" sz="1600" dirty="0"/>
              <a:t>		if(j&lt;m &amp;&amp; LT(</a:t>
            </a:r>
            <a:r>
              <a:rPr lang="en-US" altLang="zh-CN" sz="1600" dirty="0" err="1"/>
              <a:t>H.r</a:t>
            </a:r>
            <a:r>
              <a:rPr lang="en-US" altLang="zh-CN" sz="1600" dirty="0"/>
              <a:t>[j].</a:t>
            </a:r>
            <a:r>
              <a:rPr lang="en-US" altLang="zh-CN" sz="1600" dirty="0" err="1"/>
              <a:t>key,H.r</a:t>
            </a:r>
            <a:r>
              <a:rPr lang="en-US" altLang="zh-CN" sz="1600" dirty="0"/>
              <a:t>[j+1].key)) ++j;</a:t>
            </a:r>
            <a:endParaRPr lang="en-US" altLang="zh-CN" sz="1600" dirty="0"/>
          </a:p>
          <a:p>
            <a:pPr lvl="2">
              <a:lnSpc>
                <a:spcPct val="100000"/>
              </a:lnSpc>
              <a:spcBef>
                <a:spcPct val="0"/>
              </a:spcBef>
            </a:pPr>
            <a:r>
              <a:rPr lang="en-US" altLang="zh-CN" sz="1600" dirty="0"/>
              <a:t>		if(!LT(</a:t>
            </a:r>
            <a:r>
              <a:rPr lang="en-US" altLang="zh-CN" sz="1600" dirty="0" err="1"/>
              <a:t>rc.key,H.r</a:t>
            </a:r>
            <a:r>
              <a:rPr lang="en-US" altLang="zh-CN" sz="1600" dirty="0"/>
              <a:t>[j].key)) break;</a:t>
            </a:r>
            <a:endParaRPr lang="en-US" altLang="zh-CN" sz="1600" dirty="0"/>
          </a:p>
          <a:p>
            <a:pPr lvl="2">
              <a:lnSpc>
                <a:spcPct val="100000"/>
              </a:lnSpc>
              <a:spcBef>
                <a:spcPct val="0"/>
              </a:spcBef>
            </a:pPr>
            <a:r>
              <a:rPr lang="en-US" altLang="zh-CN" sz="1600" dirty="0"/>
              <a:t>		</a:t>
            </a:r>
            <a:r>
              <a:rPr lang="en-US" altLang="zh-CN" sz="1600" dirty="0" err="1"/>
              <a:t>H.r</a:t>
            </a:r>
            <a:r>
              <a:rPr lang="en-US" altLang="zh-CN" sz="1600" dirty="0"/>
              <a:t>[s]=</a:t>
            </a:r>
            <a:r>
              <a:rPr lang="en-US" altLang="zh-CN" sz="1600" dirty="0" err="1"/>
              <a:t>H.r</a:t>
            </a:r>
            <a:r>
              <a:rPr lang="en-US" altLang="zh-CN" sz="1600" dirty="0"/>
              <a:t>[j]; s=j;</a:t>
            </a:r>
            <a:endParaRPr lang="en-US" altLang="zh-CN" sz="1600" dirty="0"/>
          </a:p>
          <a:p>
            <a:pPr lvl="2">
              <a:lnSpc>
                <a:spcPct val="100000"/>
              </a:lnSpc>
              <a:spcBef>
                <a:spcPct val="0"/>
              </a:spcBef>
            </a:pPr>
            <a:r>
              <a:rPr lang="en-US" altLang="zh-CN" sz="1600" dirty="0"/>
              <a:t>	}</a:t>
            </a:r>
            <a:endParaRPr lang="en-US" altLang="zh-CN" sz="1600" dirty="0"/>
          </a:p>
          <a:p>
            <a:pPr lvl="2">
              <a:lnSpc>
                <a:spcPct val="100000"/>
              </a:lnSpc>
              <a:spcBef>
                <a:spcPct val="0"/>
              </a:spcBef>
            </a:pPr>
            <a:r>
              <a:rPr lang="en-US" altLang="zh-CN" sz="1600" dirty="0"/>
              <a:t>	</a:t>
            </a:r>
            <a:r>
              <a:rPr lang="en-US" altLang="zh-CN" sz="1600" dirty="0" err="1"/>
              <a:t>H.r</a:t>
            </a:r>
            <a:r>
              <a:rPr lang="en-US" altLang="zh-CN" sz="1600" dirty="0"/>
              <a:t>[s]=</a:t>
            </a:r>
            <a:r>
              <a:rPr lang="en-US" altLang="zh-CN" sz="1600" dirty="0" err="1"/>
              <a:t>rc</a:t>
            </a:r>
            <a:r>
              <a:rPr lang="en-US" altLang="zh-CN" sz="1600" dirty="0"/>
              <a:t>;</a:t>
            </a:r>
            <a:endParaRPr lang="en-US" altLang="zh-CN" sz="1600" dirty="0"/>
          </a:p>
          <a:p>
            <a:pPr lvl="2">
              <a:lnSpc>
                <a:spcPct val="100000"/>
              </a:lnSpc>
              <a:spcBef>
                <a:spcPct val="0"/>
              </a:spcBef>
            </a:pPr>
            <a:r>
              <a:rPr lang="en-US" altLang="zh-CN" sz="1600" dirty="0"/>
              <a:t>}</a:t>
            </a:r>
            <a:endParaRPr lang="en-US" altLang="zh-CN" sz="1600" dirty="0"/>
          </a:p>
          <a:p>
            <a:pPr lvl="2">
              <a:lnSpc>
                <a:spcPct val="100000"/>
              </a:lnSpc>
              <a:spcBef>
                <a:spcPct val="0"/>
              </a:spcBef>
            </a:pPr>
            <a:r>
              <a:rPr lang="en-US" altLang="zh-CN" sz="1600" dirty="0"/>
              <a:t>void </a:t>
            </a:r>
            <a:r>
              <a:rPr lang="en-US" altLang="zh-CN" sz="1600" dirty="0" err="1"/>
              <a:t>HeapSort</a:t>
            </a:r>
            <a:r>
              <a:rPr lang="en-US" altLang="zh-CN" sz="1600" dirty="0"/>
              <a:t>(</a:t>
            </a:r>
            <a:r>
              <a:rPr lang="en-US" altLang="zh-CN" sz="1600" dirty="0" err="1"/>
              <a:t>HeapType</a:t>
            </a:r>
            <a:r>
              <a:rPr lang="en-US" altLang="zh-CN" sz="1600" dirty="0"/>
              <a:t> &amp;H){</a:t>
            </a:r>
            <a:endParaRPr lang="en-US" altLang="zh-CN" sz="1600" dirty="0"/>
          </a:p>
          <a:p>
            <a:pPr lvl="2">
              <a:lnSpc>
                <a:spcPct val="100000"/>
              </a:lnSpc>
              <a:spcBef>
                <a:spcPct val="0"/>
              </a:spcBef>
            </a:pPr>
            <a:r>
              <a:rPr lang="en-US" altLang="zh-CN" sz="1600" dirty="0"/>
              <a:t>	for(</a:t>
            </a:r>
            <a:r>
              <a:rPr lang="en-US" altLang="zh-CN" sz="1600" dirty="0" err="1"/>
              <a:t>i</a:t>
            </a:r>
            <a:r>
              <a:rPr lang="en-US" altLang="zh-CN" sz="1600" dirty="0"/>
              <a:t>=</a:t>
            </a:r>
            <a:r>
              <a:rPr lang="en-US" altLang="zh-CN" sz="1600" dirty="0" err="1"/>
              <a:t>H.length</a:t>
            </a:r>
            <a:r>
              <a:rPr lang="en-US" altLang="zh-CN" sz="1600" dirty="0"/>
              <a:t>/2;i&gt;0;--</a:t>
            </a:r>
            <a:r>
              <a:rPr lang="en-US" altLang="zh-CN" sz="1600" dirty="0" err="1"/>
              <a:t>i</a:t>
            </a:r>
            <a:r>
              <a:rPr lang="en-US" altLang="zh-CN" sz="1600" dirty="0"/>
              <a:t>)</a:t>
            </a:r>
            <a:endParaRPr lang="en-US" altLang="zh-CN" sz="1600" dirty="0"/>
          </a:p>
          <a:p>
            <a:pPr lvl="2">
              <a:lnSpc>
                <a:spcPct val="100000"/>
              </a:lnSpc>
              <a:spcBef>
                <a:spcPct val="0"/>
              </a:spcBef>
            </a:pPr>
            <a:r>
              <a:rPr lang="en-US" altLang="zh-CN" sz="1600" dirty="0"/>
              <a:t>		</a:t>
            </a:r>
            <a:r>
              <a:rPr lang="en-US" altLang="zh-CN" sz="1600" dirty="0" err="1"/>
              <a:t>HeapAdjust</a:t>
            </a:r>
            <a:r>
              <a:rPr lang="en-US" altLang="zh-CN" sz="1600" dirty="0"/>
              <a:t>(</a:t>
            </a:r>
            <a:r>
              <a:rPr lang="en-US" altLang="zh-CN" sz="1600" dirty="0" err="1"/>
              <a:t>H,i,H.length</a:t>
            </a:r>
            <a:r>
              <a:rPr lang="en-US" altLang="zh-CN" sz="1600" dirty="0"/>
              <a:t>);</a:t>
            </a:r>
            <a:endParaRPr lang="en-US" altLang="zh-CN" sz="1600" dirty="0"/>
          </a:p>
          <a:p>
            <a:pPr lvl="2">
              <a:lnSpc>
                <a:spcPct val="100000"/>
              </a:lnSpc>
              <a:spcBef>
                <a:spcPct val="0"/>
              </a:spcBef>
            </a:pPr>
            <a:r>
              <a:rPr lang="en-US" altLang="zh-CN" sz="1600" dirty="0"/>
              <a:t>	for(</a:t>
            </a:r>
            <a:r>
              <a:rPr lang="en-US" altLang="zh-CN" sz="1600" dirty="0" err="1"/>
              <a:t>i</a:t>
            </a:r>
            <a:r>
              <a:rPr lang="en-US" altLang="zh-CN" sz="1600" dirty="0"/>
              <a:t>=</a:t>
            </a:r>
            <a:r>
              <a:rPr lang="en-US" altLang="zh-CN" sz="1600" dirty="0" err="1"/>
              <a:t>H.length;i</a:t>
            </a:r>
            <a:r>
              <a:rPr lang="en-US" altLang="zh-CN" sz="1600" dirty="0"/>
              <a:t>&gt;1;--</a:t>
            </a:r>
            <a:r>
              <a:rPr lang="en-US" altLang="zh-CN" sz="1600" dirty="0" err="1"/>
              <a:t>i</a:t>
            </a:r>
            <a:r>
              <a:rPr lang="en-US" altLang="zh-CN" sz="1600" dirty="0"/>
              <a:t>){</a:t>
            </a:r>
            <a:endParaRPr lang="en-US" altLang="zh-CN" sz="1600" dirty="0"/>
          </a:p>
          <a:p>
            <a:pPr lvl="2">
              <a:lnSpc>
                <a:spcPct val="100000"/>
              </a:lnSpc>
              <a:spcBef>
                <a:spcPct val="0"/>
              </a:spcBef>
            </a:pPr>
            <a:r>
              <a:rPr lang="en-US" altLang="zh-CN" sz="1600" dirty="0"/>
              <a:t>		</a:t>
            </a:r>
            <a:r>
              <a:rPr lang="en-US" altLang="zh-CN" sz="1600" dirty="0" err="1"/>
              <a:t>H.r</a:t>
            </a:r>
            <a:r>
              <a:rPr lang="en-US" altLang="zh-CN" sz="1600" dirty="0"/>
              <a:t>[1]&lt;--&gt;</a:t>
            </a:r>
            <a:r>
              <a:rPr lang="en-US" altLang="zh-CN" sz="1600" dirty="0" err="1"/>
              <a:t>H.r</a:t>
            </a:r>
            <a:r>
              <a:rPr lang="en-US" altLang="zh-CN" sz="1600" dirty="0"/>
              <a:t>[</a:t>
            </a:r>
            <a:r>
              <a:rPr lang="en-US" altLang="zh-CN" sz="1600" dirty="0" err="1"/>
              <a:t>i</a:t>
            </a:r>
            <a:r>
              <a:rPr lang="en-US" altLang="zh-CN" sz="1600" dirty="0"/>
              <a:t>];</a:t>
            </a:r>
            <a:endParaRPr lang="en-US" altLang="zh-CN" sz="1600" dirty="0"/>
          </a:p>
          <a:p>
            <a:pPr lvl="2">
              <a:lnSpc>
                <a:spcPct val="100000"/>
              </a:lnSpc>
              <a:spcBef>
                <a:spcPct val="0"/>
              </a:spcBef>
            </a:pPr>
            <a:r>
              <a:rPr lang="en-US" altLang="zh-CN" sz="1600" dirty="0"/>
              <a:t>		</a:t>
            </a:r>
            <a:r>
              <a:rPr lang="en-US" altLang="zh-CN" sz="1600" dirty="0" err="1"/>
              <a:t>HeapAdjust</a:t>
            </a:r>
            <a:r>
              <a:rPr lang="en-US" altLang="zh-CN" sz="1600" dirty="0"/>
              <a:t>(H,1,i-1);</a:t>
            </a:r>
            <a:endParaRPr lang="en-US" altLang="zh-CN" sz="1600" dirty="0"/>
          </a:p>
          <a:p>
            <a:pPr lvl="2">
              <a:lnSpc>
                <a:spcPct val="100000"/>
              </a:lnSpc>
              <a:spcBef>
                <a:spcPct val="0"/>
              </a:spcBef>
            </a:pPr>
            <a:r>
              <a:rPr lang="en-US" altLang="zh-CN" sz="1600" dirty="0"/>
              <a:t>	}</a:t>
            </a:r>
            <a:endParaRPr lang="en-US" altLang="zh-CN" sz="1600" dirty="0"/>
          </a:p>
          <a:p>
            <a:pPr lvl="2">
              <a:lnSpc>
                <a:spcPct val="100000"/>
              </a:lnSpc>
              <a:spcBef>
                <a:spcPct val="0"/>
              </a:spcBef>
            </a:pPr>
            <a:r>
              <a:rPr lang="en-US" altLang="zh-CN" sz="1600" dirty="0" smtClean="0"/>
              <a:t>}</a:t>
            </a:r>
            <a:endParaRPr lang="zh-CN" altLang="en-US" sz="20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sz="2200" dirty="0" smtClean="0"/>
              <a:t>堆</a:t>
            </a:r>
            <a:r>
              <a:rPr lang="zh-CN" altLang="en-US" sz="2200" dirty="0"/>
              <a:t>排序的时间主要耗费在建初始堆和调整建新堆时进行的反复</a:t>
            </a:r>
            <a:r>
              <a:rPr lang="zh-CN" altLang="en-US" sz="2200" dirty="0">
                <a:latin typeface="Courier New" panose="02070309020205020404" pitchFamily="49" charset="0"/>
              </a:rPr>
              <a:t>“</a:t>
            </a:r>
            <a:r>
              <a:rPr lang="zh-CN" altLang="en-US" sz="2200" dirty="0"/>
              <a:t>筛选</a:t>
            </a:r>
            <a:r>
              <a:rPr lang="zh-CN" altLang="en-US" sz="2200" dirty="0">
                <a:latin typeface="Courier New" panose="02070309020205020404" pitchFamily="49" charset="0"/>
              </a:rPr>
              <a:t>”</a:t>
            </a:r>
            <a:r>
              <a:rPr lang="zh-CN" altLang="en-US" sz="2200" dirty="0"/>
              <a:t>上。对深度为</a:t>
            </a:r>
            <a:r>
              <a:rPr lang="en-US" altLang="zh-CN" sz="2200" dirty="0"/>
              <a:t>k</a:t>
            </a:r>
            <a:r>
              <a:rPr lang="zh-CN" altLang="en-US" sz="2200" dirty="0"/>
              <a:t>的堆，筛选算法中进行的关键字的比较次数至多为</a:t>
            </a:r>
            <a:r>
              <a:rPr lang="en-US" altLang="zh-CN" sz="2200" dirty="0"/>
              <a:t>2(k-1)</a:t>
            </a:r>
            <a:r>
              <a:rPr lang="zh-CN" altLang="en-US" sz="2200" dirty="0"/>
              <a:t>次，则在建含</a:t>
            </a:r>
            <a:r>
              <a:rPr lang="en-US" altLang="zh-CN" sz="2200" dirty="0"/>
              <a:t>n</a:t>
            </a:r>
            <a:r>
              <a:rPr lang="zh-CN" altLang="en-US" sz="2200" dirty="0"/>
              <a:t>个元素、深度为</a:t>
            </a:r>
            <a:r>
              <a:rPr lang="en-US" altLang="zh-CN" sz="2200" dirty="0"/>
              <a:t>h</a:t>
            </a:r>
            <a:r>
              <a:rPr lang="zh-CN" altLang="en-US" sz="2200" dirty="0"/>
              <a:t>的堆时，总共进行的关键字比较次数不超过</a:t>
            </a:r>
            <a:r>
              <a:rPr lang="en-US" altLang="zh-CN" sz="2200" dirty="0"/>
              <a:t>4n</a:t>
            </a:r>
            <a:r>
              <a:rPr lang="zh-CN" altLang="en-US" sz="2200" dirty="0"/>
              <a:t>。另外，</a:t>
            </a:r>
            <a:r>
              <a:rPr lang="en-US" altLang="zh-CN" sz="2200" dirty="0"/>
              <a:t>n</a:t>
            </a:r>
            <a:r>
              <a:rPr lang="zh-CN" altLang="en-US" sz="2200" dirty="0"/>
              <a:t>个结点的完全二叉树的深度为</a:t>
            </a:r>
            <a:r>
              <a:rPr lang="en-US" altLang="zh-CN" sz="2200" dirty="0"/>
              <a:t>[log</a:t>
            </a:r>
            <a:r>
              <a:rPr lang="en-US" altLang="zh-CN" sz="2200" baseline="-25000" dirty="0"/>
              <a:t>2</a:t>
            </a:r>
            <a:r>
              <a:rPr lang="en-US" altLang="zh-CN" sz="2200" dirty="0"/>
              <a:t>n]+1</a:t>
            </a:r>
            <a:r>
              <a:rPr lang="zh-CN" altLang="en-US" sz="2200" dirty="0"/>
              <a:t>，则调整建新堆时调用</a:t>
            </a:r>
            <a:r>
              <a:rPr lang="en-US" altLang="zh-CN" sz="2200" dirty="0" err="1"/>
              <a:t>HeapAdjust</a:t>
            </a:r>
            <a:r>
              <a:rPr lang="zh-CN" altLang="en-US" sz="2200" dirty="0"/>
              <a:t>过程</a:t>
            </a:r>
            <a:r>
              <a:rPr lang="en-US" altLang="zh-CN" sz="2200" dirty="0"/>
              <a:t>n-1</a:t>
            </a:r>
            <a:r>
              <a:rPr lang="zh-CN" altLang="en-US" sz="2200" dirty="0"/>
              <a:t>次，总共进行的比较次数不超过</a:t>
            </a:r>
            <a:r>
              <a:rPr lang="zh-CN" altLang="en-US" sz="2200" dirty="0" smtClean="0"/>
              <a:t>：</a:t>
            </a:r>
            <a:endParaRPr lang="en-US" altLang="zh-CN" sz="2200" dirty="0" smtClean="0"/>
          </a:p>
          <a:p>
            <a:pPr lvl="2"/>
            <a:r>
              <a:rPr lang="en-US" altLang="zh-CN" sz="2200" dirty="0" smtClean="0"/>
              <a:t>2</a:t>
            </a:r>
            <a:r>
              <a:rPr lang="en-US" altLang="zh-CN" sz="2200" dirty="0"/>
              <a:t>([log</a:t>
            </a:r>
            <a:r>
              <a:rPr lang="en-US" altLang="zh-CN" sz="2200" baseline="-25000" dirty="0"/>
              <a:t>2</a:t>
            </a:r>
            <a:r>
              <a:rPr lang="en-US" altLang="zh-CN" sz="2200" dirty="0"/>
              <a:t>(n-1)]+[log</a:t>
            </a:r>
            <a:r>
              <a:rPr lang="en-US" altLang="zh-CN" sz="2200" baseline="-25000" dirty="0"/>
              <a:t>2</a:t>
            </a:r>
            <a:r>
              <a:rPr lang="en-US" altLang="zh-CN" sz="2200" dirty="0"/>
              <a:t>(n-2)]+</a:t>
            </a:r>
            <a:r>
              <a:rPr lang="en-US" altLang="zh-CN" sz="2200" dirty="0">
                <a:latin typeface="Courier New" panose="02070309020205020404" pitchFamily="49" charset="0"/>
              </a:rPr>
              <a:t>…</a:t>
            </a:r>
            <a:r>
              <a:rPr lang="en-US" altLang="zh-CN" sz="2200" dirty="0"/>
              <a:t>+[log</a:t>
            </a:r>
            <a:r>
              <a:rPr lang="en-US" altLang="zh-CN" sz="2200" baseline="-25000" dirty="0"/>
              <a:t>2</a:t>
            </a:r>
            <a:r>
              <a:rPr lang="en-US" altLang="zh-CN" sz="2200" dirty="0"/>
              <a:t>2])&lt;2n[log</a:t>
            </a:r>
            <a:r>
              <a:rPr lang="en-US" altLang="zh-CN" sz="2200" baseline="-25000" dirty="0"/>
              <a:t>2</a:t>
            </a:r>
            <a:r>
              <a:rPr lang="en-US" altLang="zh-CN" sz="2200" dirty="0"/>
              <a:t>n]  </a:t>
            </a:r>
            <a:endParaRPr lang="en-US" altLang="zh-CN" sz="2200" dirty="0"/>
          </a:p>
          <a:p>
            <a:pPr lvl="2"/>
            <a:r>
              <a:rPr lang="en-US" altLang="zh-CN" sz="2200" dirty="0"/>
              <a:t>        </a:t>
            </a:r>
            <a:r>
              <a:rPr lang="zh-CN" altLang="en-US" sz="2200" dirty="0"/>
              <a:t>因此，堆排序在最坏情况下，其时间复杂度也为</a:t>
            </a:r>
            <a:r>
              <a:rPr lang="en-US" altLang="zh-CN" sz="2200" dirty="0">
                <a:solidFill>
                  <a:srgbClr val="FF0000"/>
                </a:solidFill>
              </a:rPr>
              <a:t>O(nlog</a:t>
            </a:r>
            <a:r>
              <a:rPr lang="en-US" altLang="zh-CN" sz="2200" baseline="-25000" dirty="0">
                <a:solidFill>
                  <a:srgbClr val="FF0000"/>
                </a:solidFill>
              </a:rPr>
              <a:t>2</a:t>
            </a:r>
            <a:r>
              <a:rPr lang="en-US" altLang="zh-CN" sz="2200" dirty="0">
                <a:solidFill>
                  <a:srgbClr val="FF0000"/>
                </a:solidFill>
              </a:rPr>
              <a:t>n)</a:t>
            </a:r>
            <a:r>
              <a:rPr lang="zh-CN" altLang="en-US" sz="2200" dirty="0"/>
              <a:t>， 这是堆排序的最大优点</a:t>
            </a:r>
            <a:r>
              <a:rPr lang="zh-CN" altLang="en-US" sz="2200" dirty="0" smtClean="0"/>
              <a:t>。</a:t>
            </a:r>
            <a:endParaRPr lang="zh-CN" altLang="en-US" sz="20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indent="135255"/>
            <a:r>
              <a:rPr lang="zh-CN" altLang="en-US" sz="2400" dirty="0" smtClean="0"/>
              <a:t>堆</a:t>
            </a:r>
            <a:r>
              <a:rPr lang="zh-CN" altLang="en-US" sz="2400" dirty="0"/>
              <a:t>排序只需要存放一个记录的辅助空间，因此也将堆排序称作</a:t>
            </a:r>
            <a:r>
              <a:rPr lang="zh-CN" altLang="en-US" sz="2400" dirty="0">
                <a:solidFill>
                  <a:srgbClr val="FF0000"/>
                </a:solidFill>
              </a:rPr>
              <a:t>原地排序</a:t>
            </a:r>
            <a:r>
              <a:rPr lang="zh-CN" altLang="en-US" sz="2400" dirty="0"/>
              <a:t>。</a:t>
            </a:r>
            <a:endParaRPr lang="en-US" altLang="zh-CN" sz="2400" dirty="0"/>
          </a:p>
          <a:p>
            <a:pPr marL="0" lvl="2" indent="135255"/>
            <a:r>
              <a:rPr lang="zh-CN" altLang="en-US" sz="2400" dirty="0"/>
              <a:t> </a:t>
            </a:r>
            <a:r>
              <a:rPr lang="zh-CN" altLang="en-US" sz="2400" dirty="0" smtClean="0"/>
              <a:t>堆</a:t>
            </a:r>
            <a:r>
              <a:rPr lang="zh-CN" altLang="en-US" sz="2400" dirty="0"/>
              <a:t>排序是一种</a:t>
            </a:r>
            <a:r>
              <a:rPr lang="zh-CN" altLang="en-US" sz="2400" dirty="0">
                <a:solidFill>
                  <a:srgbClr val="FF0000"/>
                </a:solidFill>
              </a:rPr>
              <a:t>不稳定</a:t>
            </a:r>
            <a:r>
              <a:rPr lang="zh-CN" altLang="en-US" sz="2400" dirty="0"/>
              <a:t>的排序方法，它不适用于待排序记录个数</a:t>
            </a:r>
            <a:r>
              <a:rPr lang="en-US" altLang="zh-CN" sz="2400" dirty="0"/>
              <a:t>n</a:t>
            </a:r>
            <a:r>
              <a:rPr lang="zh-CN" altLang="en-US" sz="2400" dirty="0"/>
              <a:t>较少的情况，但对于</a:t>
            </a:r>
            <a:r>
              <a:rPr lang="en-US" altLang="zh-CN" sz="2400" dirty="0"/>
              <a:t>n</a:t>
            </a:r>
            <a:r>
              <a:rPr lang="zh-CN" altLang="en-US" sz="2400" dirty="0"/>
              <a:t>较大的文件还是很有效的</a:t>
            </a:r>
            <a:r>
              <a:rPr lang="zh-CN" altLang="en-US" sz="2400" dirty="0" smtClean="0"/>
              <a:t>。</a:t>
            </a:r>
            <a:endParaRPr lang="zh-CN" altLang="en-US" sz="2400" dirty="0"/>
          </a:p>
        </p:txBody>
      </p:sp>
      <p:sp>
        <p:nvSpPr>
          <p:cNvPr id="3" name="标题 2"/>
          <p:cNvSpPr>
            <a:spLocks noGrp="1"/>
          </p:cNvSpPr>
          <p:nvPr>
            <p:ph type="title"/>
          </p:nvPr>
        </p:nvSpPr>
        <p:spPr>
          <a:xfrm>
            <a:off x="746301" y="171219"/>
            <a:ext cx="4816300" cy="248285"/>
          </a:xfrm>
        </p:spPr>
        <p:txBody>
          <a:bodyPr/>
          <a:lstStyle/>
          <a:p>
            <a:r>
              <a:rPr lang="en-US" altLang="zh-CN" dirty="0" smtClean="0"/>
              <a:t>9.4 </a:t>
            </a:r>
            <a:r>
              <a:rPr lang="zh-CN" altLang="en-US" dirty="0" smtClean="0"/>
              <a:t>选择类排序</a:t>
            </a:r>
            <a:endParaRPr lang="zh-CN" altLang="en-US" dirty="0"/>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46301" y="171219"/>
            <a:ext cx="4816300" cy="248285"/>
          </a:xfrm>
        </p:spPr>
        <p:txBody>
          <a:bodyPr/>
          <a:lstStyle/>
          <a:p>
            <a:r>
              <a:rPr lang="en-US" altLang="zh-CN" dirty="0" smtClean="0"/>
              <a:t>9.5 </a:t>
            </a:r>
            <a:r>
              <a:rPr lang="zh-CN" altLang="en-US" dirty="0" smtClean="0"/>
              <a:t>归并排序</a:t>
            </a:r>
            <a:endParaRPr lang="zh-CN" altLang="en-US" dirty="0"/>
          </a:p>
        </p:txBody>
      </p:sp>
      <p:sp>
        <p:nvSpPr>
          <p:cNvPr id="5" name="Text Box 5"/>
          <p:cNvSpPr txBox="1">
            <a:spLocks noChangeArrowheads="1"/>
          </p:cNvSpPr>
          <p:nvPr/>
        </p:nvSpPr>
        <p:spPr bwMode="auto">
          <a:xfrm>
            <a:off x="3599848" y="3803182"/>
            <a:ext cx="226215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 </a:t>
            </a:r>
            <a:r>
              <a:rPr lang="zh-CN" altLang="en-US" sz="1800" dirty="0"/>
              <a:t>图</a:t>
            </a:r>
            <a:r>
              <a:rPr lang="en-US" altLang="zh-CN" sz="1800" dirty="0" smtClean="0"/>
              <a:t>9.5 </a:t>
            </a:r>
            <a:r>
              <a:rPr lang="zh-CN" altLang="en-US" sz="1800" dirty="0"/>
              <a:t>归并排序示例 </a:t>
            </a:r>
            <a:endParaRPr lang="zh-CN" altLang="en-US" sz="1800" dirty="0"/>
          </a:p>
        </p:txBody>
      </p:sp>
      <p:grpSp>
        <p:nvGrpSpPr>
          <p:cNvPr id="6" name="Group 7"/>
          <p:cNvGrpSpPr/>
          <p:nvPr/>
        </p:nvGrpSpPr>
        <p:grpSpPr bwMode="auto">
          <a:xfrm>
            <a:off x="1004286" y="1068317"/>
            <a:ext cx="6858000" cy="2555081"/>
            <a:chOff x="0" y="1447"/>
            <a:chExt cx="5760" cy="2146"/>
          </a:xfrm>
        </p:grpSpPr>
        <p:graphicFrame>
          <p:nvGraphicFramePr>
            <p:cNvPr id="7" name="Object 0"/>
            <p:cNvGraphicFramePr>
              <a:graphicFrameLocks noChangeAspect="1"/>
            </p:cNvGraphicFramePr>
            <p:nvPr/>
          </p:nvGraphicFramePr>
          <p:xfrm>
            <a:off x="0" y="1680"/>
            <a:ext cx="5760" cy="1913"/>
          </p:xfrm>
          <a:graphic>
            <a:graphicData uri="http://schemas.openxmlformats.org/presentationml/2006/ole">
              <mc:AlternateContent xmlns:mc="http://schemas.openxmlformats.org/markup-compatibility/2006">
                <mc:Choice xmlns:v="urn:schemas-microsoft-com:vml" Requires="v">
                  <p:oleObj spid="_x0000_s32775" name="VISIO" r:id="rId1" imgW="3878580" imgH="1287780" progId="Visio.Drawing.4">
                    <p:embed/>
                  </p:oleObj>
                </mc:Choice>
                <mc:Fallback>
                  <p:oleObj name="VISIO" r:id="rId1" imgW="3878580" imgH="1287780" progId="Visio.Drawing.4">
                    <p:embed/>
                    <p:pic>
                      <p:nvPicPr>
                        <p:cNvPr id="0" name="Object 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680"/>
                          <a:ext cx="5760" cy="1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8" name="Text Box 6"/>
            <p:cNvSpPr txBox="1">
              <a:spLocks noChangeArrowheads="1"/>
            </p:cNvSpPr>
            <p:nvPr/>
          </p:nvSpPr>
          <p:spPr bwMode="auto">
            <a:xfrm>
              <a:off x="100" y="1447"/>
              <a:ext cx="5632" cy="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a:solidFill>
                    <a:schemeClr val="folHlink"/>
                  </a:solidFill>
                </a:rPr>
                <a:t> 1              2              3             4              5             6             7               8</a:t>
              </a:r>
              <a:endParaRPr lang="en-US" altLang="zh-CN" sz="1800">
                <a:solidFill>
                  <a:schemeClr val="folHlink"/>
                </a:solidFill>
              </a:endParaRPr>
            </a:p>
          </p:txBody>
        </p:sp>
      </p:gr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a:lnSpc>
                <a:spcPts val="2800"/>
              </a:lnSpc>
            </a:pPr>
            <a:r>
              <a:rPr lang="en-US" altLang="zh-CN" sz="2000" dirty="0"/>
              <a:t> 2</a:t>
            </a:r>
            <a:r>
              <a:rPr lang="zh-CN" altLang="en-US" sz="2000" dirty="0"/>
              <a:t>路归并排序法的基本操作是将待排序列中相邻的两个有序子序列合并成一个有序序列。合并算法描述如下：</a:t>
            </a:r>
            <a:endParaRPr lang="zh-CN" altLang="en-US" sz="2000" dirty="0"/>
          </a:p>
          <a:p>
            <a:pPr marL="0" lvl="2">
              <a:lnSpc>
                <a:spcPts val="2800"/>
              </a:lnSpc>
            </a:pPr>
            <a:r>
              <a:rPr lang="en-US" altLang="zh-CN" sz="2000" dirty="0"/>
              <a:t>void Merge ( </a:t>
            </a:r>
            <a:r>
              <a:rPr lang="en-US" altLang="zh-CN" sz="2000" dirty="0" err="1"/>
              <a:t>RcdType</a:t>
            </a:r>
            <a:r>
              <a:rPr lang="en-US" altLang="zh-CN" sz="2000" dirty="0"/>
              <a:t> SR[], </a:t>
            </a:r>
            <a:r>
              <a:rPr lang="en-US" altLang="zh-CN" sz="2000" dirty="0" err="1"/>
              <a:t>RcdType</a:t>
            </a:r>
            <a:r>
              <a:rPr lang="en-US" altLang="zh-CN" sz="2000" dirty="0"/>
              <a:t> &amp;TR[],  </a:t>
            </a:r>
            <a:r>
              <a:rPr lang="en-US" altLang="zh-CN" sz="2000" dirty="0" err="1"/>
              <a:t>int</a:t>
            </a:r>
            <a:r>
              <a:rPr lang="en-US" altLang="zh-CN" sz="2000" dirty="0"/>
              <a:t> </a:t>
            </a:r>
            <a:r>
              <a:rPr lang="en-US" altLang="zh-CN" sz="2000" dirty="0" err="1"/>
              <a:t>i</a:t>
            </a:r>
            <a:r>
              <a:rPr lang="en-US" altLang="zh-CN" sz="2000" dirty="0"/>
              <a:t>,  </a:t>
            </a:r>
            <a:r>
              <a:rPr lang="en-US" altLang="zh-CN" sz="2000" dirty="0" err="1"/>
              <a:t>int</a:t>
            </a:r>
            <a:r>
              <a:rPr lang="en-US" altLang="zh-CN" sz="2000" dirty="0"/>
              <a:t> m,  </a:t>
            </a:r>
            <a:r>
              <a:rPr lang="en-US" altLang="zh-CN" sz="2000" dirty="0" err="1"/>
              <a:t>int</a:t>
            </a:r>
            <a:r>
              <a:rPr lang="en-US" altLang="zh-CN" sz="2000" dirty="0"/>
              <a:t> n</a:t>
            </a:r>
            <a:r>
              <a:rPr lang="en-US" altLang="zh-CN" sz="2000" dirty="0" smtClean="0"/>
              <a:t>)</a:t>
            </a:r>
            <a:endParaRPr lang="en-US" altLang="zh-CN" sz="2000" dirty="0"/>
          </a:p>
          <a:p>
            <a:pPr marL="0" lvl="2">
              <a:lnSpc>
                <a:spcPts val="2800"/>
              </a:lnSpc>
            </a:pPr>
            <a:r>
              <a:rPr lang="en-US" altLang="zh-CN" sz="2000" dirty="0"/>
              <a:t>//</a:t>
            </a:r>
            <a:r>
              <a:rPr lang="zh-CN" altLang="en-US" sz="2000" dirty="0"/>
              <a:t>将有序的</a:t>
            </a:r>
            <a:r>
              <a:rPr lang="en-US" altLang="zh-CN" sz="2000" dirty="0"/>
              <a:t>SR[</a:t>
            </a:r>
            <a:r>
              <a:rPr lang="en-US" altLang="zh-CN" sz="2000" dirty="0" err="1"/>
              <a:t>i</a:t>
            </a:r>
            <a:r>
              <a:rPr lang="en-US" altLang="zh-CN" sz="2000" dirty="0"/>
              <a:t>..m]</a:t>
            </a:r>
            <a:r>
              <a:rPr lang="zh-CN" altLang="en-US" sz="2000" dirty="0"/>
              <a:t>和</a:t>
            </a:r>
            <a:r>
              <a:rPr lang="en-US" altLang="zh-CN" sz="2000" dirty="0"/>
              <a:t>SR[m+1..n] </a:t>
            </a:r>
            <a:r>
              <a:rPr lang="zh-CN" altLang="en-US" sz="2000" dirty="0"/>
              <a:t>合并成有序的</a:t>
            </a:r>
            <a:r>
              <a:rPr lang="en-US" altLang="zh-CN" sz="2000" dirty="0"/>
              <a:t>TR[</a:t>
            </a:r>
            <a:r>
              <a:rPr lang="en-US" altLang="zh-CN" sz="2000" dirty="0" err="1"/>
              <a:t>i</a:t>
            </a:r>
            <a:r>
              <a:rPr lang="en-US" altLang="zh-CN" sz="2000" dirty="0"/>
              <a:t>..n</a:t>
            </a:r>
            <a:r>
              <a:rPr lang="en-US" altLang="zh-CN" sz="2000" dirty="0" smtClean="0"/>
              <a:t>]</a:t>
            </a:r>
            <a:endParaRPr lang="en-US" altLang="zh-CN" sz="2000" dirty="0"/>
          </a:p>
          <a:p>
            <a:pPr marL="0" lvl="2">
              <a:lnSpc>
                <a:spcPts val="2800"/>
              </a:lnSpc>
            </a:pPr>
            <a:r>
              <a:rPr lang="en-US" altLang="zh-CN" sz="2000" dirty="0"/>
              <a:t>{ </a:t>
            </a:r>
            <a:r>
              <a:rPr lang="en-US" altLang="zh-CN" sz="2000" dirty="0" smtClean="0"/>
              <a:t> </a:t>
            </a:r>
            <a:endParaRPr lang="en-US" altLang="zh-CN" sz="2000" dirty="0"/>
          </a:p>
          <a:p>
            <a:pPr marL="0" lvl="2">
              <a:lnSpc>
                <a:spcPts val="2800"/>
              </a:lnSpc>
            </a:pPr>
            <a:r>
              <a:rPr lang="en-US" altLang="zh-CN" sz="2000" dirty="0"/>
              <a:t>        for(j=m+1,k=</a:t>
            </a:r>
            <a:r>
              <a:rPr lang="en-US" altLang="zh-CN" sz="2000" dirty="0" err="1"/>
              <a:t>i</a:t>
            </a:r>
            <a:r>
              <a:rPr lang="en-US" altLang="zh-CN" sz="2000" dirty="0"/>
              <a:t>; </a:t>
            </a:r>
            <a:r>
              <a:rPr lang="en-US" altLang="zh-CN" sz="2000" dirty="0" err="1"/>
              <a:t>i</a:t>
            </a:r>
            <a:r>
              <a:rPr lang="en-US" altLang="zh-CN" sz="2000" dirty="0"/>
              <a:t>&lt;=m&amp;&amp;j&lt;=n; ++k){</a:t>
            </a:r>
            <a:endParaRPr lang="en-US" altLang="zh-CN" sz="2000" dirty="0"/>
          </a:p>
          <a:p>
            <a:pPr marL="0" lvl="2">
              <a:lnSpc>
                <a:spcPts val="2800"/>
              </a:lnSpc>
            </a:pPr>
            <a:r>
              <a:rPr lang="en-US" altLang="zh-CN" sz="2000" dirty="0"/>
              <a:t>	if(LQ(SR[</a:t>
            </a:r>
            <a:r>
              <a:rPr lang="en-US" altLang="zh-CN" sz="2000" dirty="0" err="1"/>
              <a:t>i</a:t>
            </a:r>
            <a:r>
              <a:rPr lang="en-US" altLang="zh-CN" sz="2000" dirty="0"/>
              <a:t>].key, SR[j].key)) TR[k]=SR[</a:t>
            </a:r>
            <a:r>
              <a:rPr lang="en-US" altLang="zh-CN" sz="2000" dirty="0" err="1"/>
              <a:t>i</a:t>
            </a:r>
            <a:r>
              <a:rPr lang="en-US" altLang="zh-CN" sz="2000" dirty="0"/>
              <a:t>++];</a:t>
            </a:r>
            <a:endParaRPr lang="en-US" altLang="zh-CN" sz="2000" dirty="0"/>
          </a:p>
          <a:p>
            <a:pPr marL="0" lvl="2">
              <a:lnSpc>
                <a:spcPts val="2800"/>
              </a:lnSpc>
            </a:pPr>
            <a:r>
              <a:rPr lang="en-US" altLang="zh-CN" sz="2000" dirty="0"/>
              <a:t>	else  TR[k]=SR[</a:t>
            </a:r>
            <a:r>
              <a:rPr lang="en-US" altLang="zh-CN" sz="2000" dirty="0" err="1"/>
              <a:t>j++</a:t>
            </a:r>
            <a:r>
              <a:rPr lang="en-US" altLang="zh-CN" sz="2000" dirty="0"/>
              <a:t>];</a:t>
            </a:r>
            <a:endParaRPr lang="en-US" altLang="zh-CN" sz="2000" dirty="0"/>
          </a:p>
          <a:p>
            <a:pPr marL="0" lvl="2">
              <a:lnSpc>
                <a:spcPts val="2800"/>
              </a:lnSpc>
            </a:pPr>
            <a:r>
              <a:rPr lang="en-US" altLang="zh-CN" sz="2000" dirty="0"/>
              <a:t>        }</a:t>
            </a:r>
            <a:endParaRPr lang="en-US" altLang="zh-CN" sz="2000" dirty="0"/>
          </a:p>
          <a:p>
            <a:pPr marL="0" lvl="2">
              <a:lnSpc>
                <a:spcPts val="2800"/>
              </a:lnSpc>
            </a:pPr>
            <a:r>
              <a:rPr lang="en-US" altLang="zh-CN" sz="2000" dirty="0"/>
              <a:t>        if ( </a:t>
            </a:r>
            <a:r>
              <a:rPr lang="en-US" altLang="zh-CN" sz="2000" dirty="0" err="1"/>
              <a:t>i</a:t>
            </a:r>
            <a:r>
              <a:rPr lang="en-US" altLang="zh-CN" sz="2000" dirty="0"/>
              <a:t>&lt;=m )   TR[</a:t>
            </a:r>
            <a:r>
              <a:rPr lang="en-US" altLang="zh-CN" sz="2000" dirty="0" err="1"/>
              <a:t>k..n</a:t>
            </a:r>
            <a:r>
              <a:rPr lang="en-US" altLang="zh-CN" sz="2000" dirty="0"/>
              <a:t>] = SR[</a:t>
            </a:r>
            <a:r>
              <a:rPr lang="en-US" altLang="zh-CN" sz="2000" dirty="0" err="1"/>
              <a:t>i</a:t>
            </a:r>
            <a:r>
              <a:rPr lang="en-US" altLang="zh-CN" sz="2000" dirty="0"/>
              <a:t>..m]; </a:t>
            </a:r>
            <a:r>
              <a:rPr lang="en-US" altLang="zh-CN" sz="2000" dirty="0" smtClean="0"/>
              <a:t> </a:t>
            </a:r>
            <a:endParaRPr lang="en-US" altLang="zh-CN" sz="2000" dirty="0"/>
          </a:p>
          <a:p>
            <a:pPr marL="0" lvl="2">
              <a:lnSpc>
                <a:spcPts val="2800"/>
              </a:lnSpc>
            </a:pPr>
            <a:r>
              <a:rPr lang="en-US" altLang="zh-CN" sz="2000" dirty="0"/>
              <a:t>        if ( j&lt;=n  )   TR[</a:t>
            </a:r>
            <a:r>
              <a:rPr lang="en-US" altLang="zh-CN" sz="2000" dirty="0" err="1"/>
              <a:t>k..n</a:t>
            </a:r>
            <a:r>
              <a:rPr lang="en-US" altLang="zh-CN" sz="2000" dirty="0"/>
              <a:t>] = SR[</a:t>
            </a:r>
            <a:r>
              <a:rPr lang="en-US" altLang="zh-CN" sz="2000" dirty="0" err="1"/>
              <a:t>j..n</a:t>
            </a:r>
            <a:r>
              <a:rPr lang="en-US" altLang="zh-CN" sz="2000" dirty="0"/>
              <a:t>]; </a:t>
            </a:r>
            <a:endParaRPr lang="en-US" altLang="zh-CN" sz="2000" dirty="0"/>
          </a:p>
          <a:p>
            <a:pPr marL="0" lvl="2">
              <a:lnSpc>
                <a:spcPts val="2800"/>
              </a:lnSpc>
            </a:pPr>
            <a:r>
              <a:rPr lang="en-US" altLang="zh-CN" sz="2000" dirty="0"/>
              <a:t>}</a:t>
            </a:r>
            <a:endParaRPr lang="zh-CN" altLang="en-US" sz="2000" dirty="0"/>
          </a:p>
        </p:txBody>
      </p:sp>
      <p:sp>
        <p:nvSpPr>
          <p:cNvPr id="3" name="标题 2"/>
          <p:cNvSpPr>
            <a:spLocks noGrp="1"/>
          </p:cNvSpPr>
          <p:nvPr>
            <p:ph type="title"/>
          </p:nvPr>
        </p:nvSpPr>
        <p:spPr/>
        <p:txBody>
          <a:bodyPr/>
          <a:lstStyle/>
          <a:p>
            <a:r>
              <a:rPr lang="en-US" altLang="zh-CN" dirty="0" smtClean="0"/>
              <a:t>9.5 </a:t>
            </a:r>
            <a:r>
              <a:rPr lang="zh-CN" altLang="en-US" dirty="0" smtClean="0"/>
              <a:t>归并排序</a:t>
            </a:r>
            <a:endParaRPr lang="zh-CN" alt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a:xfrm>
            <a:off x="528070" y="593325"/>
            <a:ext cx="8094201" cy="4431062"/>
          </a:xfrm>
        </p:spPr>
        <p:txBody>
          <a:bodyPr/>
          <a:lstStyle/>
          <a:p>
            <a:pPr lvl="2">
              <a:lnSpc>
                <a:spcPts val="2800"/>
              </a:lnSpc>
              <a:spcBef>
                <a:spcPct val="0"/>
              </a:spcBef>
            </a:pPr>
            <a:r>
              <a:rPr lang="en-US" altLang="zh-CN" sz="2000" dirty="0"/>
              <a:t>void </a:t>
            </a:r>
            <a:r>
              <a:rPr lang="en-US" altLang="zh-CN" sz="2000" dirty="0" err="1"/>
              <a:t>MSort</a:t>
            </a:r>
            <a:r>
              <a:rPr lang="en-US" altLang="zh-CN" sz="2000" dirty="0"/>
              <a:t>(</a:t>
            </a:r>
            <a:r>
              <a:rPr lang="en-US" altLang="zh-CN" sz="2000" dirty="0" err="1"/>
              <a:t>RcdType</a:t>
            </a:r>
            <a:r>
              <a:rPr lang="en-US" altLang="zh-CN" sz="2000" dirty="0"/>
              <a:t> SR[],</a:t>
            </a:r>
            <a:r>
              <a:rPr lang="en-US" altLang="zh-CN" sz="2000" dirty="0" err="1"/>
              <a:t>RcdType</a:t>
            </a:r>
            <a:r>
              <a:rPr lang="en-US" altLang="zh-CN" sz="2000" dirty="0"/>
              <a:t> &amp;TR1[],</a:t>
            </a:r>
            <a:r>
              <a:rPr lang="en-US" altLang="zh-CN" sz="2000" dirty="0" err="1"/>
              <a:t>int</a:t>
            </a:r>
            <a:r>
              <a:rPr lang="en-US" altLang="zh-CN" sz="2000" dirty="0"/>
              <a:t> </a:t>
            </a:r>
            <a:r>
              <a:rPr lang="en-US" altLang="zh-CN" sz="2000" dirty="0" err="1"/>
              <a:t>s,int</a:t>
            </a:r>
            <a:r>
              <a:rPr lang="en-US" altLang="zh-CN" sz="2000" dirty="0"/>
              <a:t>  t){</a:t>
            </a:r>
            <a:endParaRPr lang="zh-CN" altLang="en-US" sz="2000" dirty="0"/>
          </a:p>
          <a:p>
            <a:pPr lvl="2">
              <a:lnSpc>
                <a:spcPts val="2800"/>
              </a:lnSpc>
              <a:spcBef>
                <a:spcPct val="0"/>
              </a:spcBef>
            </a:pPr>
            <a:r>
              <a:rPr lang="zh-CN" altLang="en-US" sz="2000" dirty="0"/>
              <a:t>    </a:t>
            </a:r>
            <a:r>
              <a:rPr lang="en-US" altLang="zh-CN" sz="2000" dirty="0"/>
              <a:t>if(s==t) TR1[s]=SR[s];</a:t>
            </a:r>
            <a:endParaRPr lang="zh-CN" altLang="en-US" sz="2000" dirty="0"/>
          </a:p>
          <a:p>
            <a:pPr lvl="2">
              <a:lnSpc>
                <a:spcPts val="2800"/>
              </a:lnSpc>
              <a:spcBef>
                <a:spcPct val="0"/>
              </a:spcBef>
            </a:pPr>
            <a:r>
              <a:rPr lang="zh-CN" altLang="en-US" sz="2000" dirty="0"/>
              <a:t>    </a:t>
            </a:r>
            <a:r>
              <a:rPr lang="en-US" altLang="zh-CN" sz="2000" dirty="0"/>
              <a:t>else{</a:t>
            </a:r>
            <a:endParaRPr lang="zh-CN" altLang="en-US" sz="2000" dirty="0"/>
          </a:p>
          <a:p>
            <a:pPr lvl="2">
              <a:lnSpc>
                <a:spcPts val="2800"/>
              </a:lnSpc>
              <a:spcBef>
                <a:spcPct val="0"/>
              </a:spcBef>
            </a:pPr>
            <a:r>
              <a:rPr lang="zh-CN" altLang="en-US" sz="2000" dirty="0"/>
              <a:t>	</a:t>
            </a:r>
            <a:r>
              <a:rPr lang="en-US" altLang="zh-CN" sz="2000" dirty="0"/>
              <a:t>m=(</a:t>
            </a:r>
            <a:r>
              <a:rPr lang="en-US" altLang="zh-CN" sz="2000" dirty="0" err="1"/>
              <a:t>s+t</a:t>
            </a:r>
            <a:r>
              <a:rPr lang="en-US" altLang="zh-CN" sz="2000" dirty="0"/>
              <a:t>)/2;</a:t>
            </a:r>
            <a:endParaRPr lang="zh-CN" altLang="en-US" sz="2000" dirty="0"/>
          </a:p>
          <a:p>
            <a:pPr lvl="2">
              <a:lnSpc>
                <a:spcPts val="2800"/>
              </a:lnSpc>
              <a:spcBef>
                <a:spcPct val="0"/>
              </a:spcBef>
            </a:pPr>
            <a:r>
              <a:rPr lang="zh-CN" altLang="en-US" sz="2000" dirty="0"/>
              <a:t>	</a:t>
            </a:r>
            <a:r>
              <a:rPr lang="en-US" altLang="zh-CN" sz="2000" dirty="0" err="1"/>
              <a:t>MSort</a:t>
            </a:r>
            <a:r>
              <a:rPr lang="en-US" altLang="zh-CN" sz="2000" dirty="0"/>
              <a:t>(SR,TR2,s,m);</a:t>
            </a:r>
            <a:endParaRPr lang="zh-CN" altLang="en-US" sz="2000" dirty="0"/>
          </a:p>
          <a:p>
            <a:pPr lvl="2">
              <a:lnSpc>
                <a:spcPts val="2800"/>
              </a:lnSpc>
              <a:spcBef>
                <a:spcPct val="0"/>
              </a:spcBef>
            </a:pPr>
            <a:r>
              <a:rPr lang="zh-CN" altLang="en-US" sz="2000" dirty="0"/>
              <a:t>	</a:t>
            </a:r>
            <a:r>
              <a:rPr lang="en-US" altLang="zh-CN" sz="2000" dirty="0" err="1"/>
              <a:t>MSort</a:t>
            </a:r>
            <a:r>
              <a:rPr lang="en-US" altLang="zh-CN" sz="2000" dirty="0"/>
              <a:t>(SR,TR2,m+1,t);</a:t>
            </a:r>
            <a:endParaRPr lang="zh-CN" altLang="en-US" sz="2000" dirty="0"/>
          </a:p>
          <a:p>
            <a:pPr lvl="2">
              <a:lnSpc>
                <a:spcPts val="2800"/>
              </a:lnSpc>
              <a:spcBef>
                <a:spcPct val="0"/>
              </a:spcBef>
            </a:pPr>
            <a:r>
              <a:rPr lang="zh-CN" altLang="en-US" sz="2000" dirty="0"/>
              <a:t>	</a:t>
            </a:r>
            <a:r>
              <a:rPr lang="en-US" altLang="zh-CN" sz="2000" dirty="0"/>
              <a:t>Merge(TR2,TR1,s,m,t);</a:t>
            </a:r>
            <a:endParaRPr lang="zh-CN" altLang="en-US" sz="2000" dirty="0"/>
          </a:p>
          <a:p>
            <a:pPr lvl="2">
              <a:lnSpc>
                <a:spcPts val="2800"/>
              </a:lnSpc>
              <a:spcBef>
                <a:spcPct val="0"/>
              </a:spcBef>
            </a:pPr>
            <a:r>
              <a:rPr lang="zh-CN" altLang="en-US" sz="2000" dirty="0"/>
              <a:t>    </a:t>
            </a:r>
            <a:r>
              <a:rPr lang="en-US" altLang="zh-CN" sz="2000" dirty="0"/>
              <a:t>}</a:t>
            </a:r>
            <a:endParaRPr lang="zh-CN" altLang="en-US" sz="2000" dirty="0"/>
          </a:p>
          <a:p>
            <a:pPr lvl="2">
              <a:lnSpc>
                <a:spcPts val="2800"/>
              </a:lnSpc>
              <a:spcBef>
                <a:spcPct val="0"/>
              </a:spcBef>
            </a:pPr>
            <a:r>
              <a:rPr lang="en-US" altLang="zh-CN" sz="2000" dirty="0"/>
              <a:t>}</a:t>
            </a:r>
            <a:endParaRPr lang="zh-CN" altLang="en-US" sz="2000" dirty="0"/>
          </a:p>
          <a:p>
            <a:pPr lvl="2">
              <a:lnSpc>
                <a:spcPts val="2800"/>
              </a:lnSpc>
              <a:spcBef>
                <a:spcPct val="0"/>
              </a:spcBef>
            </a:pPr>
            <a:r>
              <a:rPr lang="en-US" altLang="zh-CN" sz="2000" dirty="0" smtClean="0"/>
              <a:t>void </a:t>
            </a:r>
            <a:r>
              <a:rPr lang="en-US" altLang="zh-CN" sz="2000" dirty="0" err="1"/>
              <a:t>MergeSort</a:t>
            </a:r>
            <a:r>
              <a:rPr lang="en-US" altLang="zh-CN" sz="2000" dirty="0"/>
              <a:t>(</a:t>
            </a:r>
            <a:r>
              <a:rPr lang="en-US" altLang="zh-CN" sz="2000" dirty="0" err="1"/>
              <a:t>SqList</a:t>
            </a:r>
            <a:r>
              <a:rPr lang="en-US" altLang="zh-CN" sz="2000" dirty="0"/>
              <a:t> &amp;L){</a:t>
            </a:r>
            <a:endParaRPr lang="zh-CN" altLang="en-US" sz="2000" dirty="0"/>
          </a:p>
          <a:p>
            <a:pPr lvl="2">
              <a:lnSpc>
                <a:spcPts val="2800"/>
              </a:lnSpc>
              <a:spcBef>
                <a:spcPct val="0"/>
              </a:spcBef>
            </a:pPr>
            <a:r>
              <a:rPr lang="zh-CN" altLang="en-US" sz="2000" dirty="0"/>
              <a:t>    </a:t>
            </a:r>
            <a:r>
              <a:rPr lang="en-US" altLang="zh-CN" sz="2000" dirty="0" err="1"/>
              <a:t>MSort</a:t>
            </a:r>
            <a:r>
              <a:rPr lang="en-US" altLang="zh-CN" sz="2000" dirty="0"/>
              <a:t>(L.r,L.r,1,L.length);</a:t>
            </a:r>
            <a:endParaRPr lang="zh-CN" altLang="en-US" sz="2000" dirty="0"/>
          </a:p>
          <a:p>
            <a:pPr lvl="2">
              <a:lnSpc>
                <a:spcPts val="2800"/>
              </a:lnSpc>
              <a:spcBef>
                <a:spcPct val="0"/>
              </a:spcBef>
            </a:pPr>
            <a:r>
              <a:rPr lang="en-US" altLang="zh-CN" sz="2000" dirty="0" smtClean="0"/>
              <a:t>}</a:t>
            </a:r>
            <a:endParaRPr lang="zh-CN" altLang="en-US" sz="2000" dirty="0"/>
          </a:p>
        </p:txBody>
      </p:sp>
      <p:sp>
        <p:nvSpPr>
          <p:cNvPr id="3" name="标题 2"/>
          <p:cNvSpPr>
            <a:spLocks noGrp="1"/>
          </p:cNvSpPr>
          <p:nvPr>
            <p:ph type="title"/>
          </p:nvPr>
        </p:nvSpPr>
        <p:spPr/>
        <p:txBody>
          <a:bodyPr/>
          <a:lstStyle/>
          <a:p>
            <a:r>
              <a:rPr lang="en-US" altLang="zh-CN" dirty="0" smtClean="0"/>
              <a:t>9.5 </a:t>
            </a:r>
            <a:r>
              <a:rPr lang="zh-CN" altLang="en-US" dirty="0" smtClean="0"/>
              <a:t>归并排序</a:t>
            </a:r>
            <a:endParaRPr lang="zh-CN" alt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indent="135255"/>
            <a:r>
              <a:rPr lang="en-US" altLang="zh-CN" sz="2200" dirty="0"/>
              <a:t> </a:t>
            </a:r>
            <a:r>
              <a:rPr lang="zh-CN" altLang="en-US" sz="2200" dirty="0"/>
              <a:t>在合并过程中，两个有序的子表被遍历了一遍，表中的每一项均被复制了一次。因此，合并的代价与两个有序子表的长度之和成正比，该算法的时间复杂度为</a:t>
            </a:r>
            <a:r>
              <a:rPr lang="en-US" altLang="zh-CN" sz="2200" dirty="0">
                <a:solidFill>
                  <a:srgbClr val="FF0000"/>
                </a:solidFill>
              </a:rPr>
              <a:t>O(nlog</a:t>
            </a:r>
            <a:r>
              <a:rPr lang="en-US" altLang="zh-CN" sz="2200" baseline="-25000" dirty="0">
                <a:solidFill>
                  <a:srgbClr val="FF0000"/>
                </a:solidFill>
              </a:rPr>
              <a:t>2</a:t>
            </a:r>
            <a:r>
              <a:rPr lang="en-US" altLang="zh-CN" sz="2200" dirty="0">
                <a:solidFill>
                  <a:srgbClr val="FF0000"/>
                </a:solidFill>
              </a:rPr>
              <a:t>n)</a:t>
            </a:r>
            <a:r>
              <a:rPr lang="zh-CN" altLang="en-US" sz="2200" dirty="0"/>
              <a:t>。</a:t>
            </a:r>
            <a:r>
              <a:rPr lang="en-US" altLang="zh-CN" sz="2200" dirty="0"/>
              <a:t>2</a:t>
            </a:r>
            <a:r>
              <a:rPr lang="zh-CN" altLang="en-US" sz="2200" dirty="0"/>
              <a:t>路归并排序可以采用</a:t>
            </a:r>
            <a:r>
              <a:rPr lang="zh-CN" altLang="en-US" sz="2200" dirty="0">
                <a:solidFill>
                  <a:srgbClr val="FF0000"/>
                </a:solidFill>
              </a:rPr>
              <a:t>递归方法</a:t>
            </a:r>
            <a:r>
              <a:rPr lang="zh-CN" altLang="en-US" sz="2200" dirty="0"/>
              <a:t>实现。 </a:t>
            </a:r>
            <a:endParaRPr lang="zh-CN" altLang="en-US" sz="2200" dirty="0"/>
          </a:p>
          <a:p>
            <a:pPr marL="0" lvl="2" indent="135255"/>
            <a:r>
              <a:rPr lang="zh-CN" altLang="en-US" sz="2200" dirty="0" smtClean="0"/>
              <a:t>与</a:t>
            </a:r>
            <a:r>
              <a:rPr lang="zh-CN" altLang="en-US" sz="2200" dirty="0"/>
              <a:t>快速排序和堆排序相比，归并排序的最大特点是它为一种</a:t>
            </a:r>
            <a:r>
              <a:rPr lang="zh-CN" altLang="en-US" sz="2200" dirty="0">
                <a:solidFill>
                  <a:srgbClr val="FF0000"/>
                </a:solidFill>
              </a:rPr>
              <a:t>稳定</a:t>
            </a:r>
            <a:r>
              <a:rPr lang="zh-CN" altLang="en-US" sz="2200" dirty="0"/>
              <a:t>的排序方法。一般情况下，由于要求附加与待排记录等数量的辅助空间，因此很少利用</a:t>
            </a:r>
            <a:r>
              <a:rPr lang="en-US" altLang="zh-CN" sz="2200" dirty="0"/>
              <a:t>2</a:t>
            </a:r>
            <a:r>
              <a:rPr lang="zh-CN" altLang="en-US" sz="2200" dirty="0"/>
              <a:t>路归并排序进行内部排序。 </a:t>
            </a:r>
            <a:endParaRPr lang="zh-CN" altLang="en-US" dirty="0"/>
          </a:p>
        </p:txBody>
      </p:sp>
      <p:sp>
        <p:nvSpPr>
          <p:cNvPr id="3" name="标题 2"/>
          <p:cNvSpPr>
            <a:spLocks noGrp="1"/>
          </p:cNvSpPr>
          <p:nvPr>
            <p:ph type="title"/>
          </p:nvPr>
        </p:nvSpPr>
        <p:spPr/>
        <p:txBody>
          <a:bodyPr/>
          <a:lstStyle/>
          <a:p>
            <a:r>
              <a:rPr lang="en-US" altLang="zh-CN" dirty="0" smtClean="0"/>
              <a:t>9.5 </a:t>
            </a:r>
            <a:r>
              <a:rPr lang="zh-CN" altLang="en-US" dirty="0" smtClean="0"/>
              <a:t>归并排序</a:t>
            </a:r>
            <a:endParaRPr lang="zh-CN" alt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0" lvl="2" indent="135255"/>
            <a:r>
              <a:rPr lang="en-US" altLang="zh-CN" sz="2200" dirty="0"/>
              <a:t> </a:t>
            </a:r>
            <a:r>
              <a:rPr lang="zh-CN" altLang="en-US" sz="2200" dirty="0"/>
              <a:t>类似</a:t>
            </a:r>
            <a:r>
              <a:rPr lang="en-US" altLang="zh-CN" sz="2200" dirty="0"/>
              <a:t>2</a:t>
            </a:r>
            <a:r>
              <a:rPr lang="zh-CN" altLang="en-US" sz="2200" dirty="0"/>
              <a:t>路归并排序，可设计多路归并排序法，归并的思想主要用于外部排序。外部排序可分两步</a:t>
            </a:r>
            <a:r>
              <a:rPr lang="zh-CN" altLang="en-US" sz="2200" dirty="0" smtClean="0"/>
              <a:t>：①待</a:t>
            </a:r>
            <a:r>
              <a:rPr lang="zh-CN" altLang="en-US" sz="2200" dirty="0"/>
              <a:t>排序记录分批读入内存，用某种方法在内存排序，组成有序的子文件，再按某种策略存入外存；</a:t>
            </a:r>
            <a:r>
              <a:rPr lang="zh-CN" altLang="en-US" sz="2200" dirty="0" smtClean="0"/>
              <a:t>②子</a:t>
            </a:r>
            <a:r>
              <a:rPr lang="zh-CN" altLang="en-US" sz="2200" dirty="0"/>
              <a:t>文件多路归并，形成较长的有序子文件，再存入外存，如此反复，直到整个待排序文件有序</a:t>
            </a:r>
            <a:r>
              <a:rPr lang="zh-CN" altLang="en-US" sz="2200" dirty="0" smtClean="0"/>
              <a:t>。</a:t>
            </a:r>
            <a:endParaRPr lang="en-US" altLang="zh-CN" sz="2200" dirty="0" smtClean="0"/>
          </a:p>
          <a:p>
            <a:pPr marL="0" lvl="2" indent="135255"/>
            <a:r>
              <a:rPr lang="zh-CN" altLang="en-US" sz="2200" dirty="0" smtClean="0"/>
              <a:t>外部</a:t>
            </a:r>
            <a:r>
              <a:rPr lang="zh-CN" altLang="en-US" sz="2200" dirty="0"/>
              <a:t>排序可使用外存、磁带和磁盘，最初形成有序子文件的长度取决于内存所能提供排序区大小和最初排序策略，归并路数取决于所能提供排序的外部设备数。 </a:t>
            </a:r>
            <a:endParaRPr lang="zh-CN" altLang="en-US" dirty="0"/>
          </a:p>
        </p:txBody>
      </p:sp>
      <p:sp>
        <p:nvSpPr>
          <p:cNvPr id="3" name="标题 2"/>
          <p:cNvSpPr>
            <a:spLocks noGrp="1"/>
          </p:cNvSpPr>
          <p:nvPr>
            <p:ph type="title"/>
          </p:nvPr>
        </p:nvSpPr>
        <p:spPr/>
        <p:txBody>
          <a:bodyPr/>
          <a:lstStyle/>
          <a:p>
            <a:r>
              <a:rPr lang="en-US" altLang="zh-CN" dirty="0" smtClean="0"/>
              <a:t>9.5 </a:t>
            </a:r>
            <a:r>
              <a:rPr lang="zh-CN" altLang="en-US" dirty="0" smtClean="0"/>
              <a:t>归并排序</a:t>
            </a:r>
            <a:endParaRPr lang="zh-CN" alt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sz="2400" dirty="0" smtClean="0"/>
              <a:t>9.6.1 </a:t>
            </a:r>
            <a:r>
              <a:rPr lang="zh-CN" altLang="en-US" sz="2400" dirty="0"/>
              <a:t>多关键字排序 </a:t>
            </a:r>
            <a:endParaRPr lang="zh-CN" altLang="en-US" sz="2400" dirty="0"/>
          </a:p>
          <a:p>
            <a:pPr marL="0" lvl="2" indent="135255"/>
            <a:r>
              <a:rPr lang="en-US" altLang="zh-CN" sz="2200" dirty="0"/>
              <a:t> </a:t>
            </a:r>
            <a:r>
              <a:rPr lang="zh-CN" altLang="en-US" sz="2200" dirty="0"/>
              <a:t>例如：我们可以将一副扑克牌的排序过程看成由花色和面值两个关键字进行排序的问题。若规定花色和面值的顺序如下： </a:t>
            </a:r>
            <a:endParaRPr lang="zh-CN" altLang="en-US" sz="2200" dirty="0"/>
          </a:p>
          <a:p>
            <a:pPr marL="0" lvl="2" indent="135255"/>
            <a:r>
              <a:rPr lang="zh-CN" altLang="en-US" sz="2200" dirty="0"/>
              <a:t>花色： 梅花 </a:t>
            </a:r>
            <a:r>
              <a:rPr lang="en-US" altLang="zh-CN" sz="2200" dirty="0"/>
              <a:t>&lt; </a:t>
            </a:r>
            <a:r>
              <a:rPr lang="zh-CN" altLang="en-US" sz="2200" dirty="0"/>
              <a:t>方块 </a:t>
            </a:r>
            <a:r>
              <a:rPr lang="en-US" altLang="zh-CN" sz="2200" dirty="0"/>
              <a:t>&lt; </a:t>
            </a:r>
            <a:r>
              <a:rPr lang="zh-CN" altLang="en-US" sz="2200" dirty="0"/>
              <a:t>红桃 </a:t>
            </a:r>
            <a:r>
              <a:rPr lang="en-US" altLang="zh-CN" sz="2200" dirty="0"/>
              <a:t>&lt; </a:t>
            </a:r>
            <a:r>
              <a:rPr lang="zh-CN" altLang="en-US" sz="2200" dirty="0" smtClean="0"/>
              <a:t>黑桃</a:t>
            </a:r>
            <a:endParaRPr lang="zh-CN" altLang="en-US" sz="2200" dirty="0"/>
          </a:p>
          <a:p>
            <a:pPr marL="0" lvl="2" indent="135255"/>
            <a:r>
              <a:rPr lang="zh-CN" altLang="en-US" sz="2200" dirty="0"/>
              <a:t>面值： </a:t>
            </a:r>
            <a:r>
              <a:rPr lang="en-US" altLang="zh-CN" sz="2200" dirty="0"/>
              <a:t>A&lt;2&lt;3&lt;</a:t>
            </a:r>
            <a:r>
              <a:rPr lang="en-US" altLang="zh-CN" sz="2200" dirty="0">
                <a:latin typeface="Courier New" panose="02070309020205020404" pitchFamily="49" charset="0"/>
              </a:rPr>
              <a:t>…</a:t>
            </a:r>
            <a:r>
              <a:rPr lang="en-US" altLang="zh-CN" sz="2200" dirty="0"/>
              <a:t>&lt;</a:t>
            </a:r>
            <a:r>
              <a:rPr lang="en-US" altLang="zh-CN" sz="2200" dirty="0" smtClean="0"/>
              <a:t>10&lt;J&lt;Q&lt;K</a:t>
            </a:r>
            <a:endParaRPr lang="en-US" altLang="zh-CN" sz="2200" dirty="0" smtClean="0"/>
          </a:p>
          <a:p>
            <a:pPr marL="0" lvl="2" indent="135255"/>
            <a:r>
              <a:rPr lang="zh-CN" altLang="en-US" sz="2200" dirty="0" smtClean="0"/>
              <a:t>并</a:t>
            </a:r>
            <a:r>
              <a:rPr lang="zh-CN" altLang="en-US" sz="2200" dirty="0"/>
              <a:t>进一步规定花色的优先级高于面值，则一副扑克牌从小到大的顺序为：梅花</a:t>
            </a:r>
            <a:r>
              <a:rPr lang="en-US" altLang="zh-CN" sz="2200" dirty="0"/>
              <a:t>A</a:t>
            </a:r>
            <a:r>
              <a:rPr lang="zh-CN" altLang="en-US" sz="2200" dirty="0"/>
              <a:t>，梅花</a:t>
            </a:r>
            <a:r>
              <a:rPr lang="en-US" altLang="zh-CN" sz="2200" dirty="0"/>
              <a:t>2</a:t>
            </a:r>
            <a:r>
              <a:rPr lang="zh-CN" altLang="en-US" sz="2200" dirty="0"/>
              <a:t>，</a:t>
            </a:r>
            <a:r>
              <a:rPr lang="en-US" altLang="zh-CN" sz="2200" dirty="0">
                <a:latin typeface="Courier New" panose="02070309020205020404" pitchFamily="49" charset="0"/>
              </a:rPr>
              <a:t>…</a:t>
            </a:r>
            <a:r>
              <a:rPr lang="zh-CN" altLang="en-US" sz="2200" dirty="0"/>
              <a:t>，梅花</a:t>
            </a:r>
            <a:r>
              <a:rPr lang="en-US" altLang="zh-CN" sz="2200" dirty="0"/>
              <a:t>K</a:t>
            </a:r>
            <a:r>
              <a:rPr lang="zh-CN" altLang="en-US" sz="2200" dirty="0"/>
              <a:t>；方块</a:t>
            </a:r>
            <a:r>
              <a:rPr lang="en-US" altLang="zh-CN" sz="2200" dirty="0"/>
              <a:t>A</a:t>
            </a:r>
            <a:r>
              <a:rPr lang="zh-CN" altLang="en-US" sz="2200" dirty="0"/>
              <a:t>，方块</a:t>
            </a:r>
            <a:r>
              <a:rPr lang="en-US" altLang="zh-CN" sz="2200" dirty="0"/>
              <a:t>2</a:t>
            </a:r>
            <a:r>
              <a:rPr lang="zh-CN" altLang="en-US" sz="2200" dirty="0"/>
              <a:t>，</a:t>
            </a:r>
            <a:r>
              <a:rPr lang="en-US" altLang="zh-CN" sz="2200" dirty="0">
                <a:latin typeface="Courier New" panose="02070309020205020404" pitchFamily="49" charset="0"/>
              </a:rPr>
              <a:t>…</a:t>
            </a:r>
            <a:r>
              <a:rPr lang="zh-CN" altLang="en-US" sz="2200" dirty="0"/>
              <a:t>， 方块</a:t>
            </a:r>
            <a:r>
              <a:rPr lang="en-US" altLang="zh-CN" sz="2200" dirty="0"/>
              <a:t>K</a:t>
            </a:r>
            <a:r>
              <a:rPr lang="zh-CN" altLang="en-US" sz="2200" dirty="0"/>
              <a:t>；红桃</a:t>
            </a:r>
            <a:r>
              <a:rPr lang="en-US" altLang="zh-CN" sz="2200" dirty="0"/>
              <a:t>A</a:t>
            </a:r>
            <a:r>
              <a:rPr lang="zh-CN" altLang="en-US" sz="2200" dirty="0"/>
              <a:t>，红桃</a:t>
            </a:r>
            <a:r>
              <a:rPr lang="en-US" altLang="zh-CN" sz="2200" dirty="0"/>
              <a:t>2</a:t>
            </a:r>
            <a:r>
              <a:rPr lang="zh-CN" altLang="en-US" sz="2200" dirty="0"/>
              <a:t>，</a:t>
            </a:r>
            <a:r>
              <a:rPr lang="en-US" altLang="zh-CN" sz="2200" dirty="0">
                <a:latin typeface="Courier New" panose="02070309020205020404" pitchFamily="49" charset="0"/>
              </a:rPr>
              <a:t>…</a:t>
            </a:r>
            <a:r>
              <a:rPr lang="zh-CN" altLang="en-US" sz="2200" dirty="0"/>
              <a:t>，红桃</a:t>
            </a:r>
            <a:r>
              <a:rPr lang="en-US" altLang="zh-CN" sz="2200" dirty="0"/>
              <a:t>K</a:t>
            </a:r>
            <a:r>
              <a:rPr lang="zh-CN" altLang="en-US" sz="2200" dirty="0"/>
              <a:t>；黑桃</a:t>
            </a:r>
            <a:r>
              <a:rPr lang="en-US" altLang="zh-CN" sz="2200" dirty="0"/>
              <a:t>A</a:t>
            </a:r>
            <a:r>
              <a:rPr lang="zh-CN" altLang="en-US" sz="2200" dirty="0"/>
              <a:t>，黑桃</a:t>
            </a:r>
            <a:r>
              <a:rPr lang="en-US" altLang="zh-CN" sz="2200" dirty="0"/>
              <a:t>2</a:t>
            </a:r>
            <a:r>
              <a:rPr lang="zh-CN" altLang="en-US" sz="2200" dirty="0"/>
              <a:t>，</a:t>
            </a:r>
            <a:r>
              <a:rPr lang="en-US" altLang="zh-CN" sz="2200" dirty="0">
                <a:latin typeface="Courier New" panose="02070309020205020404" pitchFamily="49" charset="0"/>
              </a:rPr>
              <a:t>…</a:t>
            </a:r>
            <a:r>
              <a:rPr lang="zh-CN" altLang="en-US" sz="2200" dirty="0"/>
              <a:t>，黑桃</a:t>
            </a:r>
            <a:r>
              <a:rPr lang="en-US" altLang="zh-CN" sz="2200" dirty="0"/>
              <a:t>K</a:t>
            </a:r>
            <a:r>
              <a:rPr lang="zh-CN" altLang="en-US" sz="2200" dirty="0"/>
              <a:t>。</a:t>
            </a:r>
            <a:endParaRPr lang="zh-CN" altLang="en-US" dirty="0"/>
          </a:p>
        </p:txBody>
      </p:sp>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sz="2200" dirty="0"/>
              <a:t> 具体进行排序时有两种做法，</a:t>
            </a:r>
            <a:endParaRPr lang="en-US" altLang="zh-CN" sz="2200" dirty="0"/>
          </a:p>
          <a:p>
            <a:pPr lvl="2"/>
            <a:r>
              <a:rPr lang="en-US" altLang="zh-CN" sz="2200" dirty="0"/>
              <a:t>1</a:t>
            </a:r>
            <a:r>
              <a:rPr lang="zh-CN" altLang="en-US" sz="2200" dirty="0"/>
              <a:t>、先按花色分成有序的四类，然后再按面值对每一类从小到大排序。该方法称为</a:t>
            </a:r>
            <a:r>
              <a:rPr lang="zh-CN" altLang="en-US" sz="2200" dirty="0">
                <a:latin typeface="Courier New" panose="02070309020205020404" pitchFamily="49" charset="0"/>
              </a:rPr>
              <a:t>“</a:t>
            </a:r>
            <a:r>
              <a:rPr lang="zh-CN" altLang="en-US" sz="2200" dirty="0">
                <a:solidFill>
                  <a:srgbClr val="FF0000"/>
                </a:solidFill>
              </a:rPr>
              <a:t>高位优先</a:t>
            </a:r>
            <a:r>
              <a:rPr lang="zh-CN" altLang="en-US" sz="2200" dirty="0">
                <a:latin typeface="Courier New" panose="02070309020205020404" pitchFamily="49" charset="0"/>
              </a:rPr>
              <a:t>”</a:t>
            </a:r>
            <a:r>
              <a:rPr lang="zh-CN" altLang="en-US" sz="2200" dirty="0"/>
              <a:t>排序法（</a:t>
            </a:r>
            <a:r>
              <a:rPr lang="en-US" altLang="zh-CN" sz="2200" dirty="0">
                <a:solidFill>
                  <a:srgbClr val="FF0000"/>
                </a:solidFill>
              </a:rPr>
              <a:t>MSD</a:t>
            </a:r>
            <a:r>
              <a:rPr lang="zh-CN" altLang="en-US" sz="2200" dirty="0"/>
              <a:t>）。</a:t>
            </a:r>
            <a:endParaRPr lang="en-US" altLang="zh-CN" sz="2200" dirty="0"/>
          </a:p>
          <a:p>
            <a:pPr lvl="2"/>
            <a:r>
              <a:rPr lang="en-US" altLang="zh-CN" sz="2200" dirty="0"/>
              <a:t>2</a:t>
            </a:r>
            <a:r>
              <a:rPr lang="zh-CN" altLang="en-US" sz="2200" dirty="0"/>
              <a:t>、分配与收集交替进行。首先按面值从小到大把牌摆成</a:t>
            </a:r>
            <a:r>
              <a:rPr lang="en-US" altLang="zh-CN" sz="2200" dirty="0"/>
              <a:t>13</a:t>
            </a:r>
            <a:r>
              <a:rPr lang="zh-CN" altLang="en-US" sz="2200" dirty="0"/>
              <a:t>叠（每叠</a:t>
            </a:r>
            <a:r>
              <a:rPr lang="en-US" altLang="zh-CN" sz="2200" dirty="0"/>
              <a:t>4</a:t>
            </a:r>
            <a:r>
              <a:rPr lang="zh-CN" altLang="en-US" sz="2200" dirty="0"/>
              <a:t>张牌），然后将每叠牌按面值的次序收集到一起，再对这些牌按花色摆成</a:t>
            </a:r>
            <a:r>
              <a:rPr lang="en-US" altLang="zh-CN" sz="2200" dirty="0"/>
              <a:t>4</a:t>
            </a:r>
            <a:r>
              <a:rPr lang="zh-CN" altLang="en-US" sz="2200" dirty="0"/>
              <a:t>叠，每叠有</a:t>
            </a:r>
            <a:r>
              <a:rPr lang="en-US" altLang="zh-CN" sz="2200" dirty="0"/>
              <a:t>13</a:t>
            </a:r>
            <a:r>
              <a:rPr lang="zh-CN" altLang="en-US" sz="2200" dirty="0"/>
              <a:t>张牌，最后把这</a:t>
            </a:r>
            <a:r>
              <a:rPr lang="en-US" altLang="zh-CN" sz="2200" dirty="0"/>
              <a:t>4</a:t>
            </a:r>
            <a:r>
              <a:rPr lang="zh-CN" altLang="en-US" sz="2200" dirty="0"/>
              <a:t>叠牌按花色的次序收集到一起，该方法称为“</a:t>
            </a:r>
            <a:r>
              <a:rPr lang="zh-CN" altLang="en-US" sz="2200" dirty="0">
                <a:solidFill>
                  <a:srgbClr val="FF0000"/>
                </a:solidFill>
              </a:rPr>
              <a:t>低位优先</a:t>
            </a:r>
            <a:r>
              <a:rPr lang="zh-CN" altLang="en-US" sz="2200" dirty="0"/>
              <a:t>”排序法（</a:t>
            </a:r>
            <a:r>
              <a:rPr lang="en-US" altLang="zh-CN" sz="2200" dirty="0">
                <a:solidFill>
                  <a:srgbClr val="FF0000"/>
                </a:solidFill>
              </a:rPr>
              <a:t>LSD</a:t>
            </a:r>
            <a:r>
              <a:rPr lang="zh-CN" altLang="en-US" sz="2200" dirty="0"/>
              <a:t>）， 如图</a:t>
            </a:r>
            <a:r>
              <a:rPr lang="en-US" altLang="zh-CN" sz="2200" dirty="0" smtClean="0"/>
              <a:t>9.6</a:t>
            </a:r>
            <a:r>
              <a:rPr lang="zh-CN" altLang="en-US" sz="2200" dirty="0" smtClean="0"/>
              <a:t>所</a:t>
            </a:r>
            <a:r>
              <a:rPr lang="zh-CN" altLang="en-US" sz="2200" dirty="0"/>
              <a:t>示。 </a:t>
            </a:r>
            <a:endParaRPr lang="zh-CN" altLang="en-US" dirty="0"/>
          </a:p>
        </p:txBody>
      </p:sp>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graphicFrame>
        <p:nvGraphicFramePr>
          <p:cNvPr id="5" name="Object 5"/>
          <p:cNvGraphicFramePr>
            <a:graphicFrameLocks noChangeAspect="1"/>
          </p:cNvGraphicFramePr>
          <p:nvPr/>
        </p:nvGraphicFramePr>
        <p:xfrm>
          <a:off x="1996641" y="171219"/>
          <a:ext cx="6343650" cy="4449366"/>
        </p:xfrm>
        <a:graphic>
          <a:graphicData uri="http://schemas.openxmlformats.org/presentationml/2006/ole">
            <mc:AlternateContent xmlns:mc="http://schemas.openxmlformats.org/markup-compatibility/2006">
              <mc:Choice xmlns:v="urn:schemas-microsoft-com:vml" Requires="v">
                <p:oleObj spid="_x0000_s33798" name="VISIO" r:id="rId1" imgW="3901440" imgH="2735580" progId="Visio.Drawing.4">
                  <p:embed/>
                </p:oleObj>
              </mc:Choice>
              <mc:Fallback>
                <p:oleObj name="VISIO" r:id="rId1" imgW="3901440" imgH="2735580" progId="Visio.Drawing.4">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6641" y="171219"/>
                        <a:ext cx="6343650" cy="4449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 name="Text Box 4"/>
          <p:cNvSpPr txBox="1">
            <a:spLocks noChangeArrowheads="1"/>
          </p:cNvSpPr>
          <p:nvPr/>
        </p:nvSpPr>
        <p:spPr bwMode="auto">
          <a:xfrm>
            <a:off x="3371851" y="4629150"/>
            <a:ext cx="27238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en-US" altLang="zh-CN" sz="1800" dirty="0"/>
              <a:t> </a:t>
            </a:r>
            <a:r>
              <a:rPr lang="zh-CN" altLang="en-US" sz="1800" dirty="0"/>
              <a:t>图</a:t>
            </a:r>
            <a:r>
              <a:rPr lang="en-US" altLang="zh-CN" sz="1800" dirty="0" smtClean="0"/>
              <a:t>9.6 </a:t>
            </a:r>
            <a:r>
              <a:rPr lang="zh-CN" altLang="en-US" sz="1800" dirty="0"/>
              <a:t>扑克牌的洗牌过程 </a:t>
            </a:r>
            <a:endParaRPr lang="zh-CN" alt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sz="2400" dirty="0"/>
              <a:t>9.6.2  </a:t>
            </a:r>
            <a:r>
              <a:rPr lang="zh-CN" altLang="en-US" sz="2400" dirty="0"/>
              <a:t>链式基数</a:t>
            </a:r>
            <a:r>
              <a:rPr lang="zh-CN" altLang="en-US" sz="2400" dirty="0" smtClean="0"/>
              <a:t>排序</a:t>
            </a:r>
            <a:endParaRPr lang="en-US" altLang="zh-CN" sz="2400" dirty="0" smtClean="0"/>
          </a:p>
          <a:p>
            <a:pPr marL="0" lvl="2" indent="135255"/>
            <a:r>
              <a:rPr lang="en-US" altLang="zh-CN" sz="2200" dirty="0"/>
              <a:t> </a:t>
            </a:r>
            <a:r>
              <a:rPr lang="zh-CN" altLang="en-US" sz="2200" dirty="0"/>
              <a:t>基数排序属于上述</a:t>
            </a:r>
            <a:r>
              <a:rPr lang="zh-CN" altLang="en-US" sz="2200" dirty="0">
                <a:latin typeface="Courier New" panose="02070309020205020404" pitchFamily="49" charset="0"/>
              </a:rPr>
              <a:t>“</a:t>
            </a:r>
            <a:r>
              <a:rPr lang="zh-CN" altLang="en-US" sz="2200" dirty="0"/>
              <a:t>低位优先</a:t>
            </a:r>
            <a:r>
              <a:rPr lang="zh-CN" altLang="en-US" sz="2200" dirty="0">
                <a:latin typeface="Courier New" panose="02070309020205020404" pitchFamily="49" charset="0"/>
              </a:rPr>
              <a:t>”</a:t>
            </a:r>
            <a:r>
              <a:rPr lang="zh-CN" altLang="en-US" sz="2200" dirty="0"/>
              <a:t>排序法，通过反复进行分配与收集操作完成排序。</a:t>
            </a:r>
            <a:r>
              <a:rPr lang="zh-CN" altLang="en-US" sz="2200" dirty="0" smtClean="0"/>
              <a:t>假设关键字</a:t>
            </a:r>
            <a:r>
              <a:rPr lang="zh-CN" altLang="en-US" sz="2200" dirty="0"/>
              <a:t>为</a:t>
            </a:r>
            <a:r>
              <a:rPr lang="en-US" altLang="zh-CN" sz="2200" dirty="0" smtClean="0"/>
              <a:t>key</a:t>
            </a:r>
            <a:r>
              <a:rPr lang="zh-CN" altLang="en-US" sz="2200" dirty="0" smtClean="0"/>
              <a:t>，</a:t>
            </a:r>
            <a:endParaRPr lang="en-US" altLang="zh-CN" sz="2200" dirty="0" smtClean="0"/>
          </a:p>
          <a:p>
            <a:pPr marL="342900" lvl="2" indent="-342900">
              <a:buFont typeface="Wingdings" panose="05000000000000000000" pitchFamily="2" charset="2"/>
              <a:buChar char="Ø"/>
            </a:pPr>
            <a:r>
              <a:rPr lang="en-US" altLang="zh-CN" sz="2200" dirty="0" smtClean="0"/>
              <a:t>key</a:t>
            </a:r>
            <a:r>
              <a:rPr lang="zh-CN" altLang="en-US" sz="2200" dirty="0" smtClean="0"/>
              <a:t>是</a:t>
            </a:r>
            <a:r>
              <a:rPr lang="zh-CN" altLang="en-US" sz="2200" dirty="0"/>
              <a:t>由</a:t>
            </a:r>
            <a:r>
              <a:rPr lang="en-US" altLang="zh-CN" sz="2200" dirty="0"/>
              <a:t>d</a:t>
            </a:r>
            <a:r>
              <a:rPr lang="zh-CN" altLang="en-US" sz="2200" dirty="0"/>
              <a:t>位十进制数字构成的，即</a:t>
            </a:r>
            <a:r>
              <a:rPr lang="en-US" altLang="zh-CN" sz="2200" dirty="0" smtClean="0"/>
              <a:t>key=K</a:t>
            </a:r>
            <a:r>
              <a:rPr lang="en-US" altLang="zh-CN" sz="2200" baseline="30000" dirty="0" smtClean="0"/>
              <a:t>1</a:t>
            </a:r>
            <a:r>
              <a:rPr lang="en-US" altLang="zh-CN" sz="2200" dirty="0" smtClean="0"/>
              <a:t>K</a:t>
            </a:r>
            <a:r>
              <a:rPr lang="en-US" altLang="zh-CN" sz="2200" baseline="30000" dirty="0" smtClean="0"/>
              <a:t>2</a:t>
            </a:r>
            <a:r>
              <a:rPr lang="en-US" altLang="zh-CN" sz="2200" dirty="0" smtClean="0">
                <a:latin typeface="Courier New" panose="02070309020205020404" pitchFamily="49" charset="0"/>
              </a:rPr>
              <a:t>…</a:t>
            </a:r>
            <a:r>
              <a:rPr lang="en-US" altLang="zh-CN" sz="2200" dirty="0" err="1" smtClean="0"/>
              <a:t>K</a:t>
            </a:r>
            <a:r>
              <a:rPr lang="en-US" altLang="zh-CN" sz="2200" baseline="30000" dirty="0" err="1" smtClean="0"/>
              <a:t>d</a:t>
            </a:r>
            <a:r>
              <a:rPr lang="zh-CN" altLang="en-US" sz="2200" dirty="0"/>
              <a:t>，则每一位可以视为一个子关键字，其中</a:t>
            </a:r>
            <a:r>
              <a:rPr lang="en-US" altLang="zh-CN" sz="2200" dirty="0" smtClean="0"/>
              <a:t>K</a:t>
            </a:r>
            <a:r>
              <a:rPr lang="en-US" altLang="zh-CN" sz="2200" baseline="30000" dirty="0" smtClean="0"/>
              <a:t>1</a:t>
            </a:r>
            <a:r>
              <a:rPr lang="zh-CN" altLang="en-US" sz="2200" dirty="0"/>
              <a:t>是最高位，</a:t>
            </a:r>
            <a:r>
              <a:rPr lang="en-US" altLang="zh-CN" sz="2200" dirty="0" err="1" smtClean="0"/>
              <a:t>K</a:t>
            </a:r>
            <a:r>
              <a:rPr lang="en-US" altLang="zh-CN" sz="2200" baseline="30000" dirty="0" err="1" smtClean="0"/>
              <a:t>d</a:t>
            </a:r>
            <a:r>
              <a:rPr lang="zh-CN" altLang="en-US" sz="2200" dirty="0"/>
              <a:t>是最低位，每一位的值都在</a:t>
            </a:r>
            <a:r>
              <a:rPr lang="en-US" altLang="zh-CN" sz="2200" dirty="0"/>
              <a:t>0≤</a:t>
            </a:r>
            <a:r>
              <a:rPr lang="en-US" altLang="zh-CN" sz="2200" dirty="0" smtClean="0"/>
              <a:t>K</a:t>
            </a:r>
            <a:r>
              <a:rPr lang="en-US" altLang="zh-CN" sz="2200" baseline="30000" dirty="0" smtClean="0"/>
              <a:t>j</a:t>
            </a:r>
            <a:r>
              <a:rPr lang="en-US" altLang="zh-CN" sz="2200" dirty="0"/>
              <a:t>≤9</a:t>
            </a:r>
            <a:r>
              <a:rPr lang="zh-CN" altLang="en-US" sz="2200" dirty="0"/>
              <a:t>的范围内，此时基数</a:t>
            </a:r>
            <a:r>
              <a:rPr lang="en-US" altLang="zh-CN" sz="2200" dirty="0" err="1"/>
              <a:t>rd</a:t>
            </a:r>
            <a:r>
              <a:rPr lang="en-US" altLang="zh-CN" sz="2200" dirty="0"/>
              <a:t>=10</a:t>
            </a:r>
            <a:r>
              <a:rPr lang="zh-CN" altLang="en-US" sz="2200" dirty="0" smtClean="0"/>
              <a:t>。</a:t>
            </a:r>
            <a:endParaRPr lang="en-US" altLang="zh-CN" sz="2200" dirty="0" smtClean="0"/>
          </a:p>
          <a:p>
            <a:pPr marL="342900" lvl="2" indent="-342900">
              <a:buFont typeface="Wingdings" panose="05000000000000000000" pitchFamily="2" charset="2"/>
              <a:buChar char="Ø"/>
            </a:pPr>
            <a:r>
              <a:rPr lang="zh-CN" altLang="en-US" sz="2200" dirty="0" smtClean="0"/>
              <a:t>如果</a:t>
            </a:r>
            <a:r>
              <a:rPr lang="en-US" altLang="zh-CN" sz="2200" dirty="0" smtClean="0"/>
              <a:t>key</a:t>
            </a:r>
            <a:r>
              <a:rPr lang="zh-CN" altLang="en-US" sz="2200" dirty="0" smtClean="0"/>
              <a:t>是</a:t>
            </a:r>
            <a:r>
              <a:rPr lang="zh-CN" altLang="en-US" sz="2200" dirty="0"/>
              <a:t>由</a:t>
            </a:r>
            <a:r>
              <a:rPr lang="en-US" altLang="zh-CN" sz="2200" dirty="0"/>
              <a:t>d</a:t>
            </a:r>
            <a:r>
              <a:rPr lang="zh-CN" altLang="en-US" sz="2200" dirty="0"/>
              <a:t>个英文字母构成的，即</a:t>
            </a:r>
            <a:r>
              <a:rPr lang="en-US" altLang="zh-CN" sz="2200" dirty="0" smtClean="0"/>
              <a:t>key=K</a:t>
            </a:r>
            <a:r>
              <a:rPr lang="en-US" altLang="zh-CN" sz="2200" baseline="30000" dirty="0" smtClean="0"/>
              <a:t>1</a:t>
            </a:r>
            <a:r>
              <a:rPr lang="en-US" altLang="zh-CN" sz="2200" dirty="0" smtClean="0"/>
              <a:t>K</a:t>
            </a:r>
            <a:r>
              <a:rPr lang="en-US" altLang="zh-CN" sz="2200" baseline="30000" dirty="0" smtClean="0"/>
              <a:t>2</a:t>
            </a:r>
            <a:r>
              <a:rPr lang="en-US" altLang="zh-CN" sz="2200" dirty="0" smtClean="0">
                <a:latin typeface="Courier New" panose="02070309020205020404" pitchFamily="49" charset="0"/>
              </a:rPr>
              <a:t>…</a:t>
            </a:r>
            <a:r>
              <a:rPr lang="en-US" altLang="zh-CN" sz="2200" dirty="0" err="1" smtClean="0"/>
              <a:t>K</a:t>
            </a:r>
            <a:r>
              <a:rPr lang="en-US" altLang="zh-CN" sz="2200" baseline="30000" dirty="0" err="1" smtClean="0"/>
              <a:t>d</a:t>
            </a:r>
            <a:r>
              <a:rPr lang="zh-CN" altLang="en-US" sz="2200" dirty="0"/>
              <a:t>，</a:t>
            </a:r>
            <a:r>
              <a:rPr lang="zh-CN" altLang="en-US" sz="2200" dirty="0" smtClean="0"/>
              <a:t>其中</a:t>
            </a:r>
            <a:r>
              <a:rPr lang="en-US" altLang="zh-CN" sz="2200" dirty="0">
                <a:latin typeface="Courier New" panose="02070309020205020404" pitchFamily="49" charset="0"/>
              </a:rPr>
              <a:t>’</a:t>
            </a:r>
            <a:r>
              <a:rPr lang="en-US" altLang="zh-CN" sz="2200" dirty="0" smtClean="0"/>
              <a:t>a</a:t>
            </a:r>
            <a:r>
              <a:rPr lang="en-US" altLang="zh-CN" sz="2200" dirty="0">
                <a:latin typeface="Courier New" panose="02070309020205020404" pitchFamily="49" charset="0"/>
              </a:rPr>
              <a:t>’</a:t>
            </a:r>
            <a:r>
              <a:rPr lang="en-US" altLang="zh-CN" sz="2200" dirty="0"/>
              <a:t>≤</a:t>
            </a:r>
            <a:r>
              <a:rPr lang="en-US" altLang="zh-CN" sz="2200" dirty="0" err="1" smtClean="0"/>
              <a:t>K</a:t>
            </a:r>
            <a:r>
              <a:rPr lang="en-US" altLang="zh-CN" sz="2200" baseline="30000" dirty="0" err="1" smtClean="0"/>
              <a:t>j</a:t>
            </a:r>
            <a:r>
              <a:rPr lang="en-US" altLang="zh-CN" sz="2200" dirty="0"/>
              <a:t>≤</a:t>
            </a:r>
            <a:r>
              <a:rPr lang="en-US" altLang="zh-CN" sz="2200" dirty="0">
                <a:latin typeface="Courier New" panose="02070309020205020404" pitchFamily="49" charset="0"/>
              </a:rPr>
              <a:t>’</a:t>
            </a:r>
            <a:r>
              <a:rPr lang="en-US" altLang="zh-CN" sz="2200" dirty="0"/>
              <a:t>z</a:t>
            </a:r>
            <a:r>
              <a:rPr lang="en-US" altLang="zh-CN" sz="2200" dirty="0">
                <a:latin typeface="Courier New" panose="02070309020205020404" pitchFamily="49" charset="0"/>
              </a:rPr>
              <a:t>’</a:t>
            </a:r>
            <a:r>
              <a:rPr lang="zh-CN" altLang="en-US" sz="2200" dirty="0"/>
              <a:t>，则基数</a:t>
            </a:r>
            <a:r>
              <a:rPr lang="en-US" altLang="zh-CN" sz="2200" dirty="0" err="1"/>
              <a:t>rd</a:t>
            </a:r>
            <a:r>
              <a:rPr lang="en-US" altLang="zh-CN" sz="2200" dirty="0"/>
              <a:t>=26</a:t>
            </a:r>
            <a:r>
              <a:rPr lang="zh-CN" altLang="en-US" sz="2200" dirty="0"/>
              <a:t>。 </a:t>
            </a:r>
            <a:r>
              <a:rPr lang="zh-CN" altLang="en-US" sz="2200" dirty="0" smtClean="0"/>
              <a:t> </a:t>
            </a:r>
            <a:endParaRPr lang="zh-CN" altLang="en-US" sz="2200" dirty="0"/>
          </a:p>
          <a:p>
            <a:endParaRPr lang="zh-CN" altLang="en-US" dirty="0"/>
          </a:p>
        </p:txBody>
      </p:sp>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sp>
        <p:nvSpPr>
          <p:cNvPr id="4" name="Text Box 2052"/>
          <p:cNvSpPr txBox="1">
            <a:spLocks noChangeArrowheads="1"/>
          </p:cNvSpPr>
          <p:nvPr/>
        </p:nvSpPr>
        <p:spPr bwMode="auto">
          <a:xfrm>
            <a:off x="3257550" y="4400550"/>
            <a:ext cx="266611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eaLnBrk="1" hangingPunct="1">
              <a:spcBef>
                <a:spcPct val="0"/>
              </a:spcBef>
              <a:buFontTx/>
              <a:buNone/>
            </a:pPr>
            <a:r>
              <a:rPr lang="zh-CN" altLang="en-US" sz="1800" dirty="0"/>
              <a:t>图</a:t>
            </a:r>
            <a:r>
              <a:rPr lang="en-US" altLang="zh-CN" sz="1800" dirty="0" smtClean="0"/>
              <a:t>9.7 </a:t>
            </a:r>
            <a:r>
              <a:rPr lang="zh-CN" altLang="en-US" sz="1800" dirty="0"/>
              <a:t>链式基数排序示例 </a:t>
            </a:r>
            <a:endParaRPr lang="zh-CN" altLang="en-US" sz="1800" dirty="0"/>
          </a:p>
        </p:txBody>
      </p:sp>
      <p:graphicFrame>
        <p:nvGraphicFramePr>
          <p:cNvPr id="5" name="Object 2048"/>
          <p:cNvGraphicFramePr>
            <a:graphicFrameLocks noChangeAspect="1"/>
          </p:cNvGraphicFramePr>
          <p:nvPr/>
        </p:nvGraphicFramePr>
        <p:xfrm>
          <a:off x="1143000" y="800100"/>
          <a:ext cx="6858000" cy="3274219"/>
        </p:xfrm>
        <a:graphic>
          <a:graphicData uri="http://schemas.openxmlformats.org/presentationml/2006/ole">
            <mc:AlternateContent xmlns:mc="http://schemas.openxmlformats.org/markup-compatibility/2006">
              <mc:Choice xmlns:v="urn:schemas-microsoft-com:vml" Requires="v">
                <p:oleObj spid="_x0000_s34821" name="VISIO" r:id="rId1" imgW="4213860" imgH="2011680" progId="Visio.Drawing.4">
                  <p:embed/>
                </p:oleObj>
              </mc:Choice>
              <mc:Fallback>
                <p:oleObj name="VISIO" r:id="rId1" imgW="4213860" imgH="2011680" progId="Visio.Drawing.4">
                  <p:embed/>
                  <p:pic>
                    <p:nvPicPr>
                      <p:cNvPr id="0" name="Object 204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800100"/>
                        <a:ext cx="6858000" cy="3274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graphicFrame>
        <p:nvGraphicFramePr>
          <p:cNvPr id="4" name="Object 0"/>
          <p:cNvGraphicFramePr>
            <a:graphicFrameLocks noChangeAspect="1"/>
          </p:cNvGraphicFramePr>
          <p:nvPr/>
        </p:nvGraphicFramePr>
        <p:xfrm>
          <a:off x="1143000" y="971550"/>
          <a:ext cx="6858000" cy="3419475"/>
        </p:xfrm>
        <a:graphic>
          <a:graphicData uri="http://schemas.openxmlformats.org/presentationml/2006/ole">
            <mc:AlternateContent xmlns:mc="http://schemas.openxmlformats.org/markup-compatibility/2006">
              <mc:Choice xmlns:v="urn:schemas-microsoft-com:vml" Requires="v">
                <p:oleObj spid="_x0000_s35845" name="VISIO" r:id="rId1" imgW="4030980" imgH="2011680" progId="Visio.Drawing.4">
                  <p:embed/>
                </p:oleObj>
              </mc:Choice>
              <mc:Fallback>
                <p:oleObj name="VISIO" r:id="rId1" imgW="4030980" imgH="2011680" progId="Visio.Drawing.4">
                  <p:embed/>
                  <p:pic>
                    <p:nvPicPr>
                      <p:cNvPr id="0" name="Object 0"/>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971550"/>
                        <a:ext cx="6858000" cy="3419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graphicFrame>
        <p:nvGraphicFramePr>
          <p:cNvPr id="4" name="Object 1024"/>
          <p:cNvGraphicFramePr>
            <a:graphicFrameLocks noChangeAspect="1"/>
          </p:cNvGraphicFramePr>
          <p:nvPr/>
        </p:nvGraphicFramePr>
        <p:xfrm>
          <a:off x="1143000" y="742950"/>
          <a:ext cx="6858000" cy="3976688"/>
        </p:xfrm>
        <a:graphic>
          <a:graphicData uri="http://schemas.openxmlformats.org/presentationml/2006/ole">
            <mc:AlternateContent xmlns:mc="http://schemas.openxmlformats.org/markup-compatibility/2006">
              <mc:Choice xmlns:v="urn:schemas-microsoft-com:vml" Requires="v">
                <p:oleObj spid="_x0000_s36869" name="VISIO" r:id="rId1" imgW="4213860" imgH="2446020" progId="Visio.Drawing.4">
                  <p:embed/>
                </p:oleObj>
              </mc:Choice>
              <mc:Fallback>
                <p:oleObj name="VISIO" r:id="rId1" imgW="4213860" imgH="2446020" progId="Visio.Drawing.4">
                  <p:embed/>
                  <p:pic>
                    <p:nvPicPr>
                      <p:cNvPr id="0" name="Object 102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742950"/>
                        <a:ext cx="6858000" cy="3976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r>
              <a:rPr lang="en-US" altLang="zh-CN" sz="2400" dirty="0"/>
              <a:t>9.6.3  </a:t>
            </a:r>
            <a:r>
              <a:rPr lang="zh-CN" altLang="en-US" sz="2400" dirty="0"/>
              <a:t>基数排序的顺序</a:t>
            </a:r>
            <a:r>
              <a:rPr lang="zh-CN" altLang="en-US" sz="2400" dirty="0" smtClean="0"/>
              <a:t>表结构</a:t>
            </a:r>
            <a:endParaRPr lang="en-US" altLang="zh-CN" sz="2400" dirty="0" smtClean="0"/>
          </a:p>
          <a:p>
            <a:pPr lvl="2"/>
            <a:r>
              <a:rPr lang="zh-CN" altLang="en-US" sz="2200" dirty="0"/>
              <a:t>基数排序法也可以利用顺序方式实现，即仿照第</a:t>
            </a:r>
            <a:r>
              <a:rPr lang="en-US" altLang="zh-CN" sz="2200" dirty="0"/>
              <a:t>5</a:t>
            </a:r>
            <a:r>
              <a:rPr lang="zh-CN" altLang="en-US" sz="2200" dirty="0"/>
              <a:t>章中介绍的稀疏矩阵的转置中的交换方法实现。如：对于关键字</a:t>
            </a:r>
            <a:r>
              <a:rPr lang="en-US" altLang="zh-CN" sz="2200" dirty="0"/>
              <a:t>k</a:t>
            </a:r>
            <a:r>
              <a:rPr lang="en-US" altLang="zh-CN" sz="2200" baseline="-25000" dirty="0"/>
              <a:t>1</a:t>
            </a:r>
            <a:r>
              <a:rPr lang="en-US" altLang="zh-CN" sz="2200" dirty="0"/>
              <a:t>k</a:t>
            </a:r>
            <a:r>
              <a:rPr lang="en-US" altLang="zh-CN" sz="2200" baseline="-25000" dirty="0"/>
              <a:t>2</a:t>
            </a:r>
            <a:r>
              <a:rPr lang="en-US" altLang="zh-CN" sz="2200" dirty="0"/>
              <a:t>k</a:t>
            </a:r>
            <a:r>
              <a:rPr lang="en-US" altLang="zh-CN" sz="2200" baseline="-25000" dirty="0"/>
              <a:t>3</a:t>
            </a:r>
            <a:r>
              <a:rPr lang="zh-CN" altLang="en-US" sz="2200" dirty="0"/>
              <a:t>，先按</a:t>
            </a:r>
            <a:r>
              <a:rPr lang="en-US" altLang="zh-CN" sz="2200" dirty="0"/>
              <a:t>k</a:t>
            </a:r>
            <a:r>
              <a:rPr lang="en-US" altLang="zh-CN" sz="2200" baseline="-25000" dirty="0"/>
              <a:t>3</a:t>
            </a:r>
            <a:r>
              <a:rPr lang="zh-CN" altLang="en-US" sz="2200" dirty="0"/>
              <a:t>扫描一遍，分别记下</a:t>
            </a:r>
            <a:r>
              <a:rPr lang="en-US" altLang="zh-CN" sz="2200" dirty="0"/>
              <a:t>k</a:t>
            </a:r>
            <a:r>
              <a:rPr lang="en-US" altLang="zh-CN" sz="2200" baseline="-25000" dirty="0"/>
              <a:t>3</a:t>
            </a:r>
            <a:r>
              <a:rPr lang="zh-CN" altLang="en-US" sz="2200" dirty="0"/>
              <a:t>位为</a:t>
            </a:r>
            <a:r>
              <a:rPr lang="en-US" altLang="zh-CN" sz="2200" dirty="0"/>
              <a:t>0</a:t>
            </a:r>
            <a:r>
              <a:rPr lang="zh-CN" altLang="en-US" sz="2200" dirty="0"/>
              <a:t>的记录个数，为</a:t>
            </a:r>
            <a:r>
              <a:rPr lang="en-US" altLang="zh-CN" sz="2200" dirty="0"/>
              <a:t>1</a:t>
            </a:r>
            <a:r>
              <a:rPr lang="zh-CN" altLang="en-US" sz="2200" dirty="0"/>
              <a:t>的记录个数，</a:t>
            </a:r>
            <a:r>
              <a:rPr lang="en-US" altLang="zh-CN" sz="2200" dirty="0">
                <a:latin typeface="Courier New" panose="02070309020205020404" pitchFamily="49" charset="0"/>
              </a:rPr>
              <a:t>…</a:t>
            </a:r>
            <a:r>
              <a:rPr lang="zh-CN" altLang="en-US" sz="2200" dirty="0"/>
              <a:t>，为</a:t>
            </a:r>
            <a:r>
              <a:rPr lang="en-US" altLang="zh-CN" sz="2200" dirty="0"/>
              <a:t>9</a:t>
            </a:r>
            <a:r>
              <a:rPr lang="zh-CN" altLang="en-US" sz="2200" dirty="0"/>
              <a:t>的记录个数。之后形成两个计数数组</a:t>
            </a:r>
            <a:r>
              <a:rPr lang="en-US" altLang="zh-CN" sz="2200" dirty="0" err="1"/>
              <a:t>num</a:t>
            </a:r>
            <a:r>
              <a:rPr lang="en-US" altLang="zh-CN" sz="2200" dirty="0"/>
              <a:t>[10]</a:t>
            </a:r>
            <a:r>
              <a:rPr lang="zh-CN" altLang="en-US" sz="2200" dirty="0"/>
              <a:t>和</a:t>
            </a:r>
            <a:r>
              <a:rPr lang="en-US" altLang="zh-CN" sz="2200" dirty="0" err="1"/>
              <a:t>cpos</a:t>
            </a:r>
            <a:r>
              <a:rPr lang="en-US" altLang="zh-CN" sz="2200" dirty="0"/>
              <a:t>[10]</a:t>
            </a:r>
            <a:r>
              <a:rPr lang="zh-CN" altLang="en-US" sz="2200" dirty="0"/>
              <a:t>，对上例中按</a:t>
            </a:r>
            <a:r>
              <a:rPr lang="en-US" altLang="zh-CN" sz="2200" dirty="0"/>
              <a:t>k</a:t>
            </a:r>
            <a:r>
              <a:rPr lang="en-US" altLang="zh-CN" sz="2200" baseline="-25000" dirty="0"/>
              <a:t>3</a:t>
            </a:r>
            <a:r>
              <a:rPr lang="zh-CN" altLang="en-US" sz="2200" dirty="0"/>
              <a:t>位统计的结果如下所示</a:t>
            </a:r>
            <a:r>
              <a:rPr lang="zh-CN" altLang="en-US" sz="2200" dirty="0" smtClean="0"/>
              <a:t>。 </a:t>
            </a:r>
            <a:endParaRPr lang="zh-CN" altLang="en-US" sz="2200" dirty="0"/>
          </a:p>
          <a:p>
            <a:endParaRPr lang="zh-CN" altLang="en-US" dirty="0"/>
          </a:p>
        </p:txBody>
      </p:sp>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pic>
        <p:nvPicPr>
          <p:cNvPr id="4" name="Picture 8" descr="0000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313672" y="3250214"/>
            <a:ext cx="4200525" cy="1428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r>
              <a:rPr lang="zh-CN" altLang="en-US" sz="2000" dirty="0" smtClean="0"/>
              <a:t>通过</a:t>
            </a:r>
            <a:r>
              <a:rPr lang="zh-CN" altLang="en-US" sz="2000" dirty="0"/>
              <a:t>统计和确定位置，决定了第一次出现在</a:t>
            </a:r>
            <a:r>
              <a:rPr lang="en-US" altLang="zh-CN" sz="2000" dirty="0"/>
              <a:t>k</a:t>
            </a:r>
            <a:r>
              <a:rPr lang="en-US" altLang="zh-CN" sz="2000" baseline="-25000" dirty="0"/>
              <a:t>3</a:t>
            </a:r>
            <a:r>
              <a:rPr lang="zh-CN" altLang="en-US" sz="2000" dirty="0"/>
              <a:t>位上值为</a:t>
            </a:r>
            <a:r>
              <a:rPr lang="en-US" altLang="zh-CN" sz="2000" dirty="0" err="1"/>
              <a:t>i</a:t>
            </a:r>
            <a:r>
              <a:rPr lang="en-US" altLang="zh-CN" sz="2000" dirty="0"/>
              <a:t>(0≤i≤9)</a:t>
            </a:r>
            <a:r>
              <a:rPr lang="zh-CN" altLang="en-US" sz="2000" dirty="0"/>
              <a:t>的记录在排好序向量中的位置</a:t>
            </a:r>
            <a:r>
              <a:rPr lang="en-US" altLang="zh-CN" sz="2000" dirty="0" err="1"/>
              <a:t>cpos</a:t>
            </a:r>
            <a:r>
              <a:rPr lang="en-US" altLang="zh-CN" sz="2000" dirty="0"/>
              <a:t>[</a:t>
            </a:r>
            <a:r>
              <a:rPr lang="en-US" altLang="zh-CN" sz="2000" dirty="0" err="1"/>
              <a:t>i</a:t>
            </a:r>
            <a:r>
              <a:rPr lang="en-US" altLang="zh-CN" sz="2000" dirty="0"/>
              <a:t>]</a:t>
            </a:r>
            <a:r>
              <a:rPr lang="zh-CN" altLang="en-US" sz="2000" dirty="0"/>
              <a:t>，之后扫描待排序记录，根据其</a:t>
            </a:r>
            <a:r>
              <a:rPr lang="en-US" altLang="zh-CN" sz="2000" dirty="0"/>
              <a:t>k</a:t>
            </a:r>
            <a:r>
              <a:rPr lang="en-US" altLang="zh-CN" sz="2000" baseline="-25000" dirty="0"/>
              <a:t>3</a:t>
            </a:r>
            <a:r>
              <a:rPr lang="zh-CN" altLang="en-US" sz="2000" dirty="0"/>
              <a:t>位的值，找到其在排好序的向量中的相应位置，即可完成按</a:t>
            </a:r>
            <a:r>
              <a:rPr lang="en-US" altLang="zh-CN" sz="2000" dirty="0"/>
              <a:t>k</a:t>
            </a:r>
            <a:r>
              <a:rPr lang="en-US" altLang="zh-CN" sz="2000" baseline="-25000" dirty="0"/>
              <a:t>3</a:t>
            </a:r>
            <a:r>
              <a:rPr lang="zh-CN" altLang="en-US" sz="2000" dirty="0"/>
              <a:t>位进行的排序。依此类推，再分别按</a:t>
            </a:r>
            <a:r>
              <a:rPr lang="en-US" altLang="zh-CN" sz="2000" dirty="0"/>
              <a:t>k</a:t>
            </a:r>
            <a:r>
              <a:rPr lang="en-US" altLang="zh-CN" sz="2000" baseline="-25000" dirty="0"/>
              <a:t>2</a:t>
            </a:r>
            <a:r>
              <a:rPr lang="zh-CN" altLang="en-US" sz="2000" dirty="0"/>
              <a:t>和</a:t>
            </a:r>
            <a:r>
              <a:rPr lang="en-US" altLang="zh-CN" sz="2000" dirty="0"/>
              <a:t>k</a:t>
            </a:r>
            <a:r>
              <a:rPr lang="en-US" altLang="zh-CN" sz="2000" baseline="-25000" dirty="0"/>
              <a:t>1</a:t>
            </a:r>
            <a:r>
              <a:rPr lang="zh-CN" altLang="en-US" sz="2000" dirty="0"/>
              <a:t>位进行统计、定位与置放，最终完成基数排序的全过程</a:t>
            </a:r>
            <a:r>
              <a:rPr lang="zh-CN" altLang="en-US" sz="2000" dirty="0" smtClean="0"/>
              <a:t>。</a:t>
            </a:r>
            <a:endParaRPr lang="en-US" altLang="zh-CN" sz="2000" dirty="0" smtClean="0"/>
          </a:p>
          <a:p>
            <a:pPr lvl="2"/>
            <a:r>
              <a:rPr lang="zh-CN" altLang="en-US" sz="2000" dirty="0" smtClean="0">
                <a:solidFill>
                  <a:srgbClr val="FF0000"/>
                </a:solidFill>
              </a:rPr>
              <a:t>注意</a:t>
            </a:r>
            <a:r>
              <a:rPr lang="zh-CN" altLang="en-US" sz="2000" dirty="0">
                <a:solidFill>
                  <a:srgbClr val="FF0000"/>
                </a:solidFill>
              </a:rPr>
              <a:t>：这种方法必须以上一趟排序的结果为基础，以保证基数排序的稳定性。 </a:t>
            </a:r>
            <a:endParaRPr lang="zh-CN" altLang="en-US" dirty="0">
              <a:solidFill>
                <a:srgbClr val="FF0000"/>
              </a:solidFill>
            </a:endParaRPr>
          </a:p>
        </p:txBody>
      </p:sp>
      <p:sp>
        <p:nvSpPr>
          <p:cNvPr id="3" name="标题 2"/>
          <p:cNvSpPr>
            <a:spLocks noGrp="1"/>
          </p:cNvSpPr>
          <p:nvPr>
            <p:ph type="title"/>
          </p:nvPr>
        </p:nvSpPr>
        <p:spPr/>
        <p:txBody>
          <a:bodyPr/>
          <a:lstStyle/>
          <a:p>
            <a:r>
              <a:rPr lang="en-US" altLang="zh-CN" dirty="0" smtClean="0"/>
              <a:t>9.6 </a:t>
            </a:r>
            <a:r>
              <a:rPr lang="zh-CN" altLang="en-US" dirty="0" smtClean="0"/>
              <a:t>基数排序</a:t>
            </a:r>
            <a:endParaRPr lang="zh-CN" alt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t>9.7 </a:t>
            </a:r>
            <a:r>
              <a:rPr lang="zh-CN" altLang="en-US" dirty="0"/>
              <a:t>各种</a:t>
            </a:r>
            <a:r>
              <a:rPr lang="zh-CN" altLang="en-US" dirty="0" smtClean="0"/>
              <a:t>排序方法的综合比较</a:t>
            </a:r>
            <a:endParaRPr lang="zh-CN" altLang="en-US" dirty="0"/>
          </a:p>
        </p:txBody>
      </p:sp>
      <p:pic>
        <p:nvPicPr>
          <p:cNvPr id="5" name="Picture 2"/>
          <p:cNvPicPr>
            <a:picLocks noChangeAspect="1" noChangeArrowheads="1"/>
          </p:cNvPicPr>
          <p:nvPr/>
        </p:nvPicPr>
        <p:blipFill rotWithShape="1">
          <a:blip r:embed="rId1">
            <a:extLst>
              <a:ext uri="{28A0092B-C50C-407E-A947-70E740481C1C}">
                <a14:useLocalDpi xmlns:a14="http://schemas.microsoft.com/office/drawing/2010/main" val="0"/>
              </a:ext>
            </a:extLst>
          </a:blip>
          <a:srcRect r="875"/>
          <a:stretch>
            <a:fillRect/>
          </a:stretch>
        </p:blipFill>
        <p:spPr bwMode="auto">
          <a:xfrm>
            <a:off x="1555735" y="625355"/>
            <a:ext cx="5942346" cy="4229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lvl="2">
              <a:lnSpc>
                <a:spcPts val="3100"/>
              </a:lnSpc>
            </a:pPr>
            <a:r>
              <a:rPr lang="zh-CN" altLang="en-US" sz="2200" dirty="0" smtClean="0"/>
              <a:t>综合</a:t>
            </a:r>
            <a:r>
              <a:rPr lang="zh-CN" altLang="en-US" sz="2200" dirty="0"/>
              <a:t>分析和比较各种排序方法，可以得出以下结论</a:t>
            </a:r>
            <a:r>
              <a:rPr lang="zh-CN" altLang="en-US" sz="2200" dirty="0" smtClean="0"/>
              <a:t>：</a:t>
            </a:r>
            <a:endParaRPr lang="zh-CN" altLang="en-US" sz="2200" dirty="0"/>
          </a:p>
          <a:p>
            <a:pPr marL="478155" lvl="2" indent="-342900">
              <a:lnSpc>
                <a:spcPts val="3100"/>
              </a:lnSpc>
              <a:buFont typeface="Wingdings" panose="05000000000000000000" pitchFamily="2" charset="2"/>
              <a:buChar char="Ø"/>
            </a:pPr>
            <a:r>
              <a:rPr lang="zh-CN" altLang="en-US" sz="2200" dirty="0" smtClean="0"/>
              <a:t>简单</a:t>
            </a:r>
            <a:r>
              <a:rPr lang="zh-CN" altLang="en-US" sz="2200" dirty="0"/>
              <a:t>排序一般只用于</a:t>
            </a:r>
            <a:r>
              <a:rPr lang="en-US" altLang="zh-CN" sz="2200" dirty="0"/>
              <a:t>n</a:t>
            </a:r>
            <a:r>
              <a:rPr lang="zh-CN" altLang="en-US" sz="2200" dirty="0"/>
              <a:t>较小的情况。当序列中的记录</a:t>
            </a:r>
            <a:r>
              <a:rPr lang="zh-CN" altLang="en-US" sz="2200" dirty="0">
                <a:latin typeface="Courier New" panose="02070309020205020404" pitchFamily="49" charset="0"/>
              </a:rPr>
              <a:t>“</a:t>
            </a:r>
            <a:r>
              <a:rPr lang="zh-CN" altLang="en-US" sz="2200" dirty="0"/>
              <a:t>基本有序</a:t>
            </a:r>
            <a:r>
              <a:rPr lang="zh-CN" altLang="en-US" sz="2200" dirty="0">
                <a:latin typeface="Courier New" panose="02070309020205020404" pitchFamily="49" charset="0"/>
              </a:rPr>
              <a:t>”</a:t>
            </a:r>
            <a:r>
              <a:rPr lang="zh-CN" altLang="en-US" sz="2200" dirty="0"/>
              <a:t>时，直接插入排序是最佳的排序方法，常与快速排序、 归并排序等其它排序方法结合使用</a:t>
            </a:r>
            <a:r>
              <a:rPr lang="zh-CN" altLang="en-US" sz="2200" dirty="0" smtClean="0"/>
              <a:t>。</a:t>
            </a:r>
            <a:endParaRPr lang="zh-CN" altLang="en-US" sz="2200" dirty="0"/>
          </a:p>
          <a:p>
            <a:pPr marL="478155" lvl="2" indent="-342900">
              <a:lnSpc>
                <a:spcPts val="3100"/>
              </a:lnSpc>
              <a:buFont typeface="Wingdings" panose="05000000000000000000" pitchFamily="2" charset="2"/>
              <a:buChar char="Ø"/>
            </a:pPr>
            <a:r>
              <a:rPr lang="zh-CN" altLang="en-US" sz="2200" dirty="0" smtClean="0"/>
              <a:t>快速</a:t>
            </a:r>
            <a:r>
              <a:rPr lang="zh-CN" altLang="en-US" sz="2200" dirty="0"/>
              <a:t>排序、堆排序和归并排序的平均时间复杂度均为</a:t>
            </a:r>
            <a:r>
              <a:rPr lang="en-US" altLang="zh-CN" sz="2200" dirty="0"/>
              <a:t>O(</a:t>
            </a:r>
            <a:r>
              <a:rPr lang="en-US" altLang="zh-CN" sz="2200" dirty="0" err="1"/>
              <a:t>nlogn</a:t>
            </a:r>
            <a:r>
              <a:rPr lang="en-US" altLang="zh-CN" sz="2200" dirty="0"/>
              <a:t>)</a:t>
            </a:r>
            <a:r>
              <a:rPr lang="zh-CN" altLang="en-US" sz="2200" dirty="0"/>
              <a:t>，但实验结果表明，就平均时间性能而言，快速排序是所有排序方法中最好的。遗憾的是，快速排序在最坏情况下的时间性能为</a:t>
            </a:r>
            <a:r>
              <a:rPr lang="en-US" altLang="zh-CN" sz="2200" dirty="0"/>
              <a:t>O(n</a:t>
            </a:r>
            <a:r>
              <a:rPr lang="en-US" altLang="zh-CN" sz="2200" baseline="30000" dirty="0"/>
              <a:t>2</a:t>
            </a:r>
            <a:r>
              <a:rPr lang="en-US" altLang="zh-CN" sz="2200" dirty="0"/>
              <a:t>)</a:t>
            </a:r>
            <a:r>
              <a:rPr lang="zh-CN" altLang="en-US" sz="2200" dirty="0"/>
              <a:t>。堆排序和归并排序的最坏时间复杂度仍为</a:t>
            </a:r>
            <a:r>
              <a:rPr lang="en-US" altLang="zh-CN" sz="2200" dirty="0"/>
              <a:t>O(</a:t>
            </a:r>
            <a:r>
              <a:rPr lang="en-US" altLang="zh-CN" sz="2200" dirty="0" err="1"/>
              <a:t>nlogn</a:t>
            </a:r>
            <a:r>
              <a:rPr lang="en-US" altLang="zh-CN" sz="2200" dirty="0"/>
              <a:t>)</a:t>
            </a:r>
            <a:r>
              <a:rPr lang="zh-CN" altLang="en-US" sz="2200" dirty="0"/>
              <a:t>，当</a:t>
            </a:r>
            <a:r>
              <a:rPr lang="en-US" altLang="zh-CN" sz="2200" dirty="0"/>
              <a:t>n</a:t>
            </a:r>
            <a:r>
              <a:rPr lang="zh-CN" altLang="en-US" sz="2200" dirty="0"/>
              <a:t>较大时，归并排序的时间性能优于堆排序，但它所需的辅助空间最多</a:t>
            </a:r>
            <a:r>
              <a:rPr lang="zh-CN" altLang="en-US" sz="2200" dirty="0" smtClean="0"/>
              <a:t>。</a:t>
            </a:r>
            <a:endParaRPr lang="zh-CN" altLang="en-US" dirty="0"/>
          </a:p>
        </p:txBody>
      </p:sp>
      <p:sp>
        <p:nvSpPr>
          <p:cNvPr id="3" name="标题 2"/>
          <p:cNvSpPr>
            <a:spLocks noGrp="1"/>
          </p:cNvSpPr>
          <p:nvPr>
            <p:ph type="title"/>
          </p:nvPr>
        </p:nvSpPr>
        <p:spPr/>
        <p:txBody>
          <a:bodyPr/>
          <a:lstStyle/>
          <a:p>
            <a:r>
              <a:rPr lang="en-US" altLang="zh-CN" dirty="0" smtClean="0"/>
              <a:t>9.7 </a:t>
            </a:r>
            <a:r>
              <a:rPr lang="zh-CN" altLang="en-US" dirty="0"/>
              <a:t>各种</a:t>
            </a:r>
            <a:r>
              <a:rPr lang="zh-CN" altLang="en-US" dirty="0" smtClean="0"/>
              <a:t>排序方法的综合比较</a:t>
            </a:r>
            <a:endParaRPr lang="zh-CN" alt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idx="1"/>
          </p:nvPr>
        </p:nvSpPr>
        <p:spPr/>
        <p:txBody>
          <a:bodyPr/>
          <a:lstStyle/>
          <a:p>
            <a:pPr marL="478155" lvl="2" indent="-342900">
              <a:lnSpc>
                <a:spcPts val="2900"/>
              </a:lnSpc>
              <a:buFont typeface="Wingdings" panose="05000000000000000000" pitchFamily="2" charset="2"/>
              <a:buChar char="Ø"/>
            </a:pPr>
            <a:r>
              <a:rPr lang="zh-CN" altLang="en-US" sz="2200" dirty="0" smtClean="0"/>
              <a:t>基数</a:t>
            </a:r>
            <a:r>
              <a:rPr lang="zh-CN" altLang="en-US" sz="2200" dirty="0"/>
              <a:t>排序的时间复杂度可以写成</a:t>
            </a:r>
            <a:r>
              <a:rPr lang="en-US" altLang="zh-CN" sz="2200" dirty="0"/>
              <a:t>O(</a:t>
            </a:r>
            <a:r>
              <a:rPr lang="en-US" altLang="zh-CN" sz="2200" dirty="0" err="1"/>
              <a:t>d×n</a:t>
            </a:r>
            <a:r>
              <a:rPr lang="en-US" altLang="zh-CN" sz="2200" dirty="0"/>
              <a:t>)</a:t>
            </a:r>
            <a:r>
              <a:rPr lang="zh-CN" altLang="en-US" sz="2200" dirty="0"/>
              <a:t>。因此，它最适用于</a:t>
            </a:r>
            <a:r>
              <a:rPr lang="en-US" altLang="zh-CN" sz="2200" dirty="0"/>
              <a:t>n</a:t>
            </a:r>
            <a:r>
              <a:rPr lang="zh-CN" altLang="en-US" sz="2200" dirty="0"/>
              <a:t>值很大而关键字的位数</a:t>
            </a:r>
            <a:r>
              <a:rPr lang="en-US" altLang="zh-CN" sz="2200" dirty="0"/>
              <a:t>d</a:t>
            </a:r>
            <a:r>
              <a:rPr lang="zh-CN" altLang="en-US" sz="2200" dirty="0"/>
              <a:t>较小的序列</a:t>
            </a:r>
            <a:r>
              <a:rPr lang="zh-CN" altLang="en-US" sz="2200" dirty="0" smtClean="0"/>
              <a:t>。</a:t>
            </a:r>
            <a:endParaRPr lang="zh-CN" altLang="en-US" sz="2200" dirty="0"/>
          </a:p>
          <a:p>
            <a:pPr marL="478155" lvl="2" indent="-342900">
              <a:lnSpc>
                <a:spcPts val="2900"/>
              </a:lnSpc>
              <a:buFont typeface="Wingdings" panose="05000000000000000000" pitchFamily="2" charset="2"/>
              <a:buChar char="Ø"/>
            </a:pPr>
            <a:r>
              <a:rPr lang="zh-CN" altLang="en-US" sz="2200" dirty="0" smtClean="0"/>
              <a:t>从</a:t>
            </a:r>
            <a:r>
              <a:rPr lang="zh-CN" altLang="en-US" sz="2200" dirty="0"/>
              <a:t>排序的稳定性上来看，基数排序是稳定的，除了简单选择排序，其它各种简单排序法也是稳定的。然而，快速排序、堆排序、希尔排序等时间性能较好的排序方法，以及简单选择排序都是不稳定的。多数情况下，排序是按记录的主关键字进行的，此时不用考虑排序方法的稳定性。如果排序是按记录的次关键字进行的， 则应充分考虑排序方法的稳定性</a:t>
            </a:r>
            <a:r>
              <a:rPr lang="zh-CN" altLang="en-US" sz="2200" dirty="0" smtClean="0"/>
              <a:t>。</a:t>
            </a:r>
            <a:endParaRPr lang="zh-CN" altLang="en-US" sz="2200" dirty="0"/>
          </a:p>
          <a:p>
            <a:pPr lvl="2">
              <a:lnSpc>
                <a:spcPts val="2900"/>
              </a:lnSpc>
            </a:pPr>
            <a:r>
              <a:rPr lang="zh-CN" altLang="en-US" sz="2200" dirty="0" smtClean="0"/>
              <a:t>    综上所述</a:t>
            </a:r>
            <a:r>
              <a:rPr lang="zh-CN" altLang="en-US" sz="2200" dirty="0"/>
              <a:t>，每一种排序方法各有特点，没有哪一种方法是绝对最优的。我们应根据具体情况选择合适的排序方法，也可以将多种方法结合起来使用</a:t>
            </a:r>
            <a:r>
              <a:rPr lang="zh-CN" altLang="en-US" sz="2200" dirty="0" smtClean="0"/>
              <a:t>。</a:t>
            </a:r>
            <a:endParaRPr lang="zh-CN" altLang="en-US" dirty="0"/>
          </a:p>
        </p:txBody>
      </p:sp>
      <p:sp>
        <p:nvSpPr>
          <p:cNvPr id="3" name="标题 2"/>
          <p:cNvSpPr>
            <a:spLocks noGrp="1"/>
          </p:cNvSpPr>
          <p:nvPr>
            <p:ph type="title"/>
          </p:nvPr>
        </p:nvSpPr>
        <p:spPr/>
        <p:txBody>
          <a:bodyPr/>
          <a:lstStyle/>
          <a:p>
            <a:r>
              <a:rPr lang="en-US" altLang="zh-CN" dirty="0" smtClean="0"/>
              <a:t>9.7 </a:t>
            </a:r>
            <a:r>
              <a:rPr lang="zh-CN" altLang="en-US" dirty="0"/>
              <a:t>各种</a:t>
            </a:r>
            <a:r>
              <a:rPr lang="zh-CN" altLang="en-US" dirty="0" smtClean="0"/>
              <a:t>排序方法的综合比较</a:t>
            </a:r>
            <a:endParaRPr lang="zh-CN" altLang="en-US" dirty="0"/>
          </a:p>
        </p:txBody>
      </p:sp>
    </p:spTree>
  </p:cSld>
  <p:clrMapOvr>
    <a:masterClrMapping/>
  </p:clrMapOvr>
</p:sld>
</file>

<file path=ppt/tags/tag1.xml><?xml version="1.0" encoding="utf-8"?>
<p:tagLst xmlns:p="http://schemas.openxmlformats.org/presentationml/2006/main">
  <p:tag name="COMMONDATA" val="eyJoZGlkIjoiY2RkOTFiNGE3ZGMwNWJhNzRjN2YzYTQyNDI1ZmYzMDYifQ=="/>
  <p:tag name="KSO_WPP_MARK_KEY" val="2216ff9c-555d-4b1b-81aa-384d2ac71159"/>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幻灯片</Template>
  <TotalTime>0</TotalTime>
  <Words>10703</Words>
  <Application>WPS 演示</Application>
  <PresentationFormat>全屏显示(16:9)</PresentationFormat>
  <Paragraphs>1129</Paragraphs>
  <Slides>63</Slides>
  <Notes>44</Notes>
  <HiddenSlides>0</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14</vt:i4>
      </vt:variant>
      <vt:variant>
        <vt:lpstr>幻灯片标题</vt:lpstr>
      </vt:variant>
      <vt:variant>
        <vt:i4>63</vt:i4>
      </vt:variant>
    </vt:vector>
  </HeadingPairs>
  <TitlesOfParts>
    <vt:vector size="91" baseType="lpstr">
      <vt:lpstr>Arial</vt:lpstr>
      <vt:lpstr>宋体</vt:lpstr>
      <vt:lpstr>Wingdings</vt:lpstr>
      <vt:lpstr>黑体</vt:lpstr>
      <vt:lpstr>华文新魏</vt:lpstr>
      <vt:lpstr>华文彩云</vt:lpstr>
      <vt:lpstr>Times New Roman</vt:lpstr>
      <vt:lpstr>方正隶书简体</vt:lpstr>
      <vt:lpstr>华文楷体</vt:lpstr>
      <vt:lpstr>Courier New</vt:lpstr>
      <vt:lpstr>微软雅黑</vt:lpstr>
      <vt:lpstr>Arial Unicode MS</vt:lpstr>
      <vt:lpstr>Calibri</vt:lpstr>
      <vt:lpstr>Office 主题</vt:lpstr>
      <vt:lpstr>Visio.Drawing.4</vt:lpstr>
      <vt:lpstr>Visio.Drawing.4</vt:lpstr>
      <vt:lpstr>Visio.Drawing.4</vt:lpstr>
      <vt:lpstr>Visio.Drawing.4</vt:lpstr>
      <vt:lpstr>Visio.Drawing.4</vt:lpstr>
      <vt:lpstr>Visio.Drawing.4</vt:lpstr>
      <vt:lpstr>Visio.Drawing.4</vt:lpstr>
      <vt:lpstr>Visio.Drawing.4</vt:lpstr>
      <vt:lpstr>Visio.Drawing.4</vt:lpstr>
      <vt:lpstr>Visio.Drawing.4</vt:lpstr>
      <vt:lpstr>Visio.Drawing.4</vt:lpstr>
      <vt:lpstr>Visio.Drawing.4</vt:lpstr>
      <vt:lpstr>Paint.Picture</vt:lpstr>
      <vt:lpstr>Paint.Picture</vt:lpstr>
      <vt:lpstr>第9章 排序</vt:lpstr>
      <vt:lpstr>本章目录</vt:lpstr>
      <vt:lpstr>9.1 概述</vt:lpstr>
      <vt:lpstr>9.1 概述</vt:lpstr>
      <vt:lpstr>9.1 概述</vt:lpstr>
      <vt:lpstr>9.1 概述</vt:lpstr>
      <vt:lpstr>9.1 概述</vt:lpstr>
      <vt:lpstr>9.1 概述</vt:lpstr>
      <vt:lpstr>9.2 插入排序</vt:lpstr>
      <vt:lpstr>9.2 插入排序</vt:lpstr>
      <vt:lpstr>9.2 插入排序</vt:lpstr>
      <vt:lpstr>9.2 插入排序</vt:lpstr>
      <vt:lpstr>9.2 插入排序</vt:lpstr>
      <vt:lpstr>9.2 插入排序</vt:lpstr>
      <vt:lpstr>9.2 插入排序</vt:lpstr>
      <vt:lpstr>9.2 插入排序</vt:lpstr>
      <vt:lpstr>9.2 插入排序</vt:lpstr>
      <vt:lpstr>9.2 插入排序</vt:lpstr>
      <vt:lpstr>9.2 插入排序</vt:lpstr>
      <vt:lpstr>9.2 插入排序</vt:lpstr>
      <vt:lpstr>9.3 快速排序</vt:lpstr>
      <vt:lpstr>9.3快速排序</vt:lpstr>
      <vt:lpstr>9.3 快速排序</vt:lpstr>
      <vt:lpstr>9.3 快速排序</vt:lpstr>
      <vt:lpstr>9.3 快速排序</vt:lpstr>
      <vt:lpstr>9.3 快速排序</vt:lpstr>
      <vt:lpstr>9.3 快速排序</vt:lpstr>
      <vt:lpstr>9.3 快速排序</vt:lpstr>
      <vt:lpstr>9.3 快速排序</vt:lpstr>
      <vt:lpstr>9.3 快速排序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9.4 选择类排序</vt:lpstr>
      <vt:lpstr>9.5 归并排序</vt:lpstr>
      <vt:lpstr>9.5 归并排序</vt:lpstr>
      <vt:lpstr>9.5 归并排序</vt:lpstr>
      <vt:lpstr>9.5 归并排序</vt:lpstr>
      <vt:lpstr>9.5 归并排序</vt:lpstr>
      <vt:lpstr>9.6 基数排序</vt:lpstr>
      <vt:lpstr>9.6 基数排序</vt:lpstr>
      <vt:lpstr>9.6 基数排序</vt:lpstr>
      <vt:lpstr>9.6 基数排序</vt:lpstr>
      <vt:lpstr>9.6 基数排序</vt:lpstr>
      <vt:lpstr>9.6 基数排序</vt:lpstr>
      <vt:lpstr>9.6 基数排序</vt:lpstr>
      <vt:lpstr>9.6 基数排序</vt:lpstr>
      <vt:lpstr>9.6 基数排序</vt:lpstr>
      <vt:lpstr>9.7 各种排序方法的综合比较</vt:lpstr>
      <vt:lpstr>9.7 各种排序方法的综合比较</vt:lpstr>
      <vt:lpstr>9.7 各种排序方法的综合比较</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线 性 表</dc:title>
  <dc:creator>PC</dc:creator>
  <cp:lastModifiedBy>Administrator</cp:lastModifiedBy>
  <cp:revision>172</cp:revision>
  <dcterms:created xsi:type="dcterms:W3CDTF">2020-02-02T14:08:00Z</dcterms:created>
  <dcterms:modified xsi:type="dcterms:W3CDTF">2023-05-27T11:26:48Z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2052-11.1.0.14309</vt:lpwstr>
  </property>
  <property fmtid="{D5CDD505-2E9C-101B-9397-08002B2CF9AE}" pid="3" name="ICV">
    <vt:lpwstr>7B53EB291C694D8898376E484B5CD626</vt:lpwstr>
  </property>
</Properties>
</file>