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wmf" ContentType="image/x-w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3"/>
  </p:sldMasterIdLst>
  <p:notesMasterIdLst>
    <p:notesMasterId r:id="rId7"/>
  </p:notesMasterIdLst>
  <p:sldIdLst>
    <p:sldId id="284" r:id="rId4"/>
    <p:sldId id="285" r:id="rId5"/>
    <p:sldId id="709" r:id="rId6"/>
    <p:sldId id="807" r:id="rId8"/>
    <p:sldId id="806" r:id="rId9"/>
    <p:sldId id="808" r:id="rId10"/>
    <p:sldId id="805" r:id="rId11"/>
    <p:sldId id="811" r:id="rId12"/>
    <p:sldId id="810" r:id="rId13"/>
    <p:sldId id="809" r:id="rId14"/>
    <p:sldId id="812" r:id="rId15"/>
    <p:sldId id="813" r:id="rId16"/>
    <p:sldId id="814" r:id="rId17"/>
    <p:sldId id="822" r:id="rId18"/>
    <p:sldId id="815" r:id="rId19"/>
    <p:sldId id="816" r:id="rId20"/>
    <p:sldId id="817" r:id="rId21"/>
    <p:sldId id="819" r:id="rId22"/>
    <p:sldId id="820" r:id="rId23"/>
    <p:sldId id="818" r:id="rId24"/>
    <p:sldId id="821" r:id="rId25"/>
    <p:sldId id="824" r:id="rId26"/>
    <p:sldId id="823" r:id="rId27"/>
    <p:sldId id="825" r:id="rId28"/>
    <p:sldId id="827" r:id="rId29"/>
    <p:sldId id="826" r:id="rId30"/>
    <p:sldId id="829" r:id="rId31"/>
    <p:sldId id="830" r:id="rId32"/>
    <p:sldId id="831" r:id="rId33"/>
    <p:sldId id="834" r:id="rId34"/>
    <p:sldId id="833" r:id="rId35"/>
    <p:sldId id="839" r:id="rId36"/>
    <p:sldId id="838" r:id="rId37"/>
    <p:sldId id="837" r:id="rId38"/>
    <p:sldId id="836" r:id="rId39"/>
    <p:sldId id="835" r:id="rId40"/>
    <p:sldId id="832" r:id="rId41"/>
    <p:sldId id="841" r:id="rId42"/>
    <p:sldId id="840" r:id="rId43"/>
    <p:sldId id="842" r:id="rId44"/>
    <p:sldId id="843" r:id="rId45"/>
    <p:sldId id="844" r:id="rId46"/>
    <p:sldId id="845" r:id="rId47"/>
    <p:sldId id="846" r:id="rId48"/>
    <p:sldId id="847" r:id="rId49"/>
    <p:sldId id="848" r:id="rId50"/>
    <p:sldId id="849" r:id="rId51"/>
    <p:sldId id="850" r:id="rId52"/>
    <p:sldId id="851" r:id="rId53"/>
    <p:sldId id="853" r:id="rId54"/>
    <p:sldId id="852" r:id="rId55"/>
    <p:sldId id="854" r:id="rId56"/>
    <p:sldId id="855" r:id="rId57"/>
    <p:sldId id="856" r:id="rId58"/>
    <p:sldId id="857" r:id="rId59"/>
    <p:sldId id="861" r:id="rId60"/>
    <p:sldId id="860" r:id="rId61"/>
    <p:sldId id="859" r:id="rId62"/>
    <p:sldId id="858" r:id="rId63"/>
    <p:sldId id="862" r:id="rId64"/>
    <p:sldId id="866" r:id="rId65"/>
    <p:sldId id="867" r:id="rId66"/>
    <p:sldId id="868" r:id="rId67"/>
    <p:sldId id="863" r:id="rId68"/>
    <p:sldId id="869" r:id="rId69"/>
    <p:sldId id="943" r:id="rId70"/>
    <p:sldId id="899" r:id="rId71"/>
    <p:sldId id="901" r:id="rId72"/>
    <p:sldId id="900" r:id="rId73"/>
    <p:sldId id="905" r:id="rId74"/>
    <p:sldId id="906" r:id="rId75"/>
    <p:sldId id="911" r:id="rId76"/>
    <p:sldId id="912" r:id="rId77"/>
    <p:sldId id="915" r:id="rId78"/>
    <p:sldId id="914" r:id="rId79"/>
    <p:sldId id="913" r:id="rId80"/>
    <p:sldId id="916" r:id="rId81"/>
    <p:sldId id="917" r:id="rId82"/>
    <p:sldId id="920" r:id="rId83"/>
    <p:sldId id="919" r:id="rId84"/>
    <p:sldId id="918" r:id="rId85"/>
    <p:sldId id="922" r:id="rId86"/>
    <p:sldId id="929" r:id="rId87"/>
    <p:sldId id="921" r:id="rId88"/>
    <p:sldId id="923" r:id="rId89"/>
    <p:sldId id="925" r:id="rId90"/>
    <p:sldId id="924" r:id="rId91"/>
    <p:sldId id="927" r:id="rId92"/>
    <p:sldId id="893" r:id="rId93"/>
    <p:sldId id="926" r:id="rId94"/>
    <p:sldId id="930" r:id="rId95"/>
    <p:sldId id="931" r:id="rId96"/>
    <p:sldId id="934" r:id="rId97"/>
    <p:sldId id="932" r:id="rId98"/>
    <p:sldId id="933" r:id="rId99"/>
    <p:sldId id="935" r:id="rId100"/>
  </p:sldIdLst>
  <p:sldSz cx="9144000" cy="5143500" type="screen16x9"/>
  <p:notesSz cx="6858000" cy="9144000"/>
  <p:custDataLst>
    <p:tags r:id="rId104"/>
  </p:custDataLst>
  <p:defaultText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F0FB"/>
    <a:srgbClr val="00194C"/>
    <a:srgbClr val="CC6600"/>
    <a:srgbClr val="800000"/>
    <a:srgbClr val="990000"/>
    <a:srgbClr val="993300"/>
    <a:srgbClr val="3333FF"/>
    <a:srgbClr val="1A6ED1"/>
    <a:srgbClr val="3079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81115" autoAdjust="0"/>
  </p:normalViewPr>
  <p:slideViewPr>
    <p:cSldViewPr snapToGrid="0">
      <p:cViewPr varScale="1">
        <p:scale>
          <a:sx n="94" d="100"/>
          <a:sy n="94" d="100"/>
        </p:scale>
        <p:origin x="7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5.xml"/><Relationship Id="rId98" Type="http://schemas.openxmlformats.org/officeDocument/2006/relationships/slide" Target="slides/slide94.xml"/><Relationship Id="rId97" Type="http://schemas.openxmlformats.org/officeDocument/2006/relationships/slide" Target="slides/slide93.xml"/><Relationship Id="rId96" Type="http://schemas.openxmlformats.org/officeDocument/2006/relationships/slide" Target="slides/slide92.xml"/><Relationship Id="rId95" Type="http://schemas.openxmlformats.org/officeDocument/2006/relationships/slide" Target="slides/slide91.xml"/><Relationship Id="rId94" Type="http://schemas.openxmlformats.org/officeDocument/2006/relationships/slide" Target="slides/slide90.xml"/><Relationship Id="rId93" Type="http://schemas.openxmlformats.org/officeDocument/2006/relationships/slide" Target="slides/slide89.xml"/><Relationship Id="rId92" Type="http://schemas.openxmlformats.org/officeDocument/2006/relationships/slide" Target="slides/slide88.xml"/><Relationship Id="rId91" Type="http://schemas.openxmlformats.org/officeDocument/2006/relationships/slide" Target="slides/slide87.xml"/><Relationship Id="rId90" Type="http://schemas.openxmlformats.org/officeDocument/2006/relationships/slide" Target="slides/slide86.xml"/><Relationship Id="rId9" Type="http://schemas.openxmlformats.org/officeDocument/2006/relationships/slide" Target="slides/slide5.xml"/><Relationship Id="rId89" Type="http://schemas.openxmlformats.org/officeDocument/2006/relationships/slide" Target="slides/slide85.xml"/><Relationship Id="rId88" Type="http://schemas.openxmlformats.org/officeDocument/2006/relationships/slide" Target="slides/slide84.xml"/><Relationship Id="rId87" Type="http://schemas.openxmlformats.org/officeDocument/2006/relationships/slide" Target="slides/slide83.xml"/><Relationship Id="rId86" Type="http://schemas.openxmlformats.org/officeDocument/2006/relationships/slide" Target="slides/slide82.xml"/><Relationship Id="rId85" Type="http://schemas.openxmlformats.org/officeDocument/2006/relationships/slide" Target="slides/slide81.xml"/><Relationship Id="rId84" Type="http://schemas.openxmlformats.org/officeDocument/2006/relationships/slide" Target="slides/slide80.xml"/><Relationship Id="rId83" Type="http://schemas.openxmlformats.org/officeDocument/2006/relationships/slide" Target="slides/slide79.xml"/><Relationship Id="rId82" Type="http://schemas.openxmlformats.org/officeDocument/2006/relationships/slide" Target="slides/slide78.xml"/><Relationship Id="rId81" Type="http://schemas.openxmlformats.org/officeDocument/2006/relationships/slide" Target="slides/slide77.xml"/><Relationship Id="rId80" Type="http://schemas.openxmlformats.org/officeDocument/2006/relationships/slide" Target="slides/slide76.xml"/><Relationship Id="rId8" Type="http://schemas.openxmlformats.org/officeDocument/2006/relationships/slide" Target="slides/slide4.xml"/><Relationship Id="rId79" Type="http://schemas.openxmlformats.org/officeDocument/2006/relationships/slide" Target="slides/slide75.xml"/><Relationship Id="rId78" Type="http://schemas.openxmlformats.org/officeDocument/2006/relationships/slide" Target="slides/slide74.xml"/><Relationship Id="rId77" Type="http://schemas.openxmlformats.org/officeDocument/2006/relationships/slide" Target="slides/slide73.xml"/><Relationship Id="rId76" Type="http://schemas.openxmlformats.org/officeDocument/2006/relationships/slide" Target="slides/slide72.xml"/><Relationship Id="rId75" Type="http://schemas.openxmlformats.org/officeDocument/2006/relationships/slide" Target="slides/slide71.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notesMaster" Target="notesMasters/notesMaster1.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3.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slide" Target="slides/slide2.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4" Type="http://schemas.openxmlformats.org/officeDocument/2006/relationships/tags" Target="tags/tag3.xml"/><Relationship Id="rId103" Type="http://schemas.openxmlformats.org/officeDocument/2006/relationships/tableStyles" Target="tableStyles.xml"/><Relationship Id="rId102" Type="http://schemas.openxmlformats.org/officeDocument/2006/relationships/viewProps" Target="viewProps.xml"/><Relationship Id="rId101" Type="http://schemas.openxmlformats.org/officeDocument/2006/relationships/presProps" Target="presProps.xml"/><Relationship Id="rId100" Type="http://schemas.openxmlformats.org/officeDocument/2006/relationships/slide" Target="slides/slide96.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4.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5.wmf"/></Relationships>
</file>

<file path=ppt/drawings/_rels/vmlDrawing6.vml.rels><?xml version="1.0" encoding="UTF-8" standalone="yes"?>
<Relationships xmlns="http://schemas.openxmlformats.org/package/2006/relationships"><Relationship Id="rId5" Type="http://schemas.openxmlformats.org/officeDocument/2006/relationships/image" Target="../media/image20.wmf"/><Relationship Id="rId4" Type="http://schemas.openxmlformats.org/officeDocument/2006/relationships/image" Target="../media/image19.wmf"/><Relationship Id="rId3" Type="http://schemas.openxmlformats.org/officeDocument/2006/relationships/image" Target="../media/image18.wmf"/><Relationship Id="rId2" Type="http://schemas.openxmlformats.org/officeDocument/2006/relationships/image" Target="../media/image17.wmf"/><Relationship Id="rId1" Type="http://schemas.openxmlformats.org/officeDocument/2006/relationships/image" Target="../media/image16.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4.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5.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image" Target="../media/image26.wmf"/></Relationships>
</file>

<file path=ppt/drawings/_rels/vmlDrawing11.vml.rels><?xml version="1.0" encoding="UTF-8" standalone="yes"?>
<Relationships xmlns="http://schemas.openxmlformats.org/package/2006/relationships"><Relationship Id="rId2" Type="http://schemas.openxmlformats.org/officeDocument/2006/relationships/image" Target="../media/image29.wmf"/><Relationship Id="rId1" Type="http://schemas.openxmlformats.org/officeDocument/2006/relationships/image" Target="../media/image28.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0.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1.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2.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33.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34.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44.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45.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46.wmf"/></Relationships>
</file>

<file path=ppt/drawings/_rels/vmlDrawing24.vml.rels><?xml version="1.0" encoding="UTF-8" standalone="yes"?>
<Relationships xmlns="http://schemas.openxmlformats.org/package/2006/relationships"><Relationship Id="rId6" Type="http://schemas.openxmlformats.org/officeDocument/2006/relationships/image" Target="../media/image52.wmf"/><Relationship Id="rId5" Type="http://schemas.openxmlformats.org/officeDocument/2006/relationships/image" Target="../media/image51.wmf"/><Relationship Id="rId4" Type="http://schemas.openxmlformats.org/officeDocument/2006/relationships/image" Target="../media/image50.wmf"/><Relationship Id="rId3" Type="http://schemas.openxmlformats.org/officeDocument/2006/relationships/image" Target="../media/image49.wmf"/><Relationship Id="rId2" Type="http://schemas.openxmlformats.org/officeDocument/2006/relationships/image" Target="../media/image48.wmf"/><Relationship Id="rId1" Type="http://schemas.openxmlformats.org/officeDocument/2006/relationships/image" Target="../media/image47.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0460013-E2CC-49A6-99FC-33B54BFB7965}"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7AA911-2240-47A0-A152-528C1809DA1A}"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85800" y="457200"/>
            <a:ext cx="7772400" cy="857250"/>
          </a:xfrm>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a:xfrm>
            <a:off x="685800" y="1485900"/>
            <a:ext cx="7772400" cy="3086100"/>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a:xfrm>
            <a:off x="685800" y="4686300"/>
            <a:ext cx="1905000" cy="342900"/>
          </a:xfrm>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5" name="页脚占位符 4"/>
          <p:cNvSpPr>
            <a:spLocks noGrp="1"/>
          </p:cNvSpPr>
          <p:nvPr>
            <p:ph type="ftr" sz="quarter" idx="11"/>
          </p:nvPr>
        </p:nvSpPr>
        <p:spPr>
          <a:xfrm>
            <a:off x="3124200" y="4686300"/>
            <a:ext cx="2895600" cy="342900"/>
          </a:xfrm>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6" name="灯片编号占位符 5"/>
          <p:cNvSpPr>
            <a:spLocks noGrp="1"/>
          </p:cNvSpPr>
          <p:nvPr>
            <p:ph type="sldNum" sz="quarter" idx="12"/>
          </p:nvPr>
        </p:nvSpPr>
        <p:spPr>
          <a:xfrm>
            <a:off x="6553200" y="4686300"/>
            <a:ext cx="1905000" cy="342900"/>
          </a:xfrm>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7CC98C3A-2E3F-4FFD-9C28-A3EE959F7F52}" type="slidenum">
              <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rPr>
            </a:fld>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正文内容">
    <p:spTree>
      <p:nvGrpSpPr>
        <p:cNvPr id="1" name=""/>
        <p:cNvGrpSpPr/>
        <p:nvPr/>
      </p:nvGrpSpPr>
      <p:grpSpPr>
        <a:xfrm>
          <a:off x="0" y="0"/>
          <a:ext cx="0" cy="0"/>
          <a:chOff x="0" y="0"/>
          <a:chExt cx="0" cy="0"/>
        </a:xfrm>
      </p:grpSpPr>
      <p:sp>
        <p:nvSpPr>
          <p:cNvPr id="7" name="内容占位符 2"/>
          <p:cNvSpPr>
            <a:spLocks noGrp="1"/>
          </p:cNvSpPr>
          <p:nvPr>
            <p:ph idx="1" hasCustomPrompt="1"/>
          </p:nvPr>
        </p:nvSpPr>
        <p:spPr>
          <a:xfrm>
            <a:off x="528069" y="593322"/>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en-US" altLang="zh-CN" sz="2300" b="1" kern="1200" baseline="0" dirty="0" smtClean="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smtClean="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zh-CN" altLang="en-US" sz="2100" b="1" kern="1200" baseline="0" smtClean="0">
                <a:solidFill>
                  <a:schemeClr val="tx1"/>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377825" indent="-269875" algn="just" fontAlgn="ctr">
              <a:lnSpc>
                <a:spcPts val="2550"/>
              </a:lnSpc>
              <a:spcBef>
                <a:spcPts val="0"/>
              </a:spcBef>
              <a:spcAft>
                <a:spcPts val="225"/>
              </a:spcAft>
              <a:buClr>
                <a:srgbClr val="800000"/>
              </a:buClr>
              <a:buSzPct val="160000"/>
              <a:buFontTx/>
              <a:buBlip>
                <a:blip r:embed="rId2"/>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323850" algn="just" fontAlgn="ctr">
              <a:lnSpc>
                <a:spcPts val="2550"/>
              </a:lnSpc>
              <a:spcBef>
                <a:spcPts val="0"/>
              </a:spcBef>
              <a:spcAft>
                <a:spcPts val="0"/>
              </a:spcAft>
              <a:buSzPct val="220000"/>
              <a:buFontTx/>
              <a:buBlip>
                <a:blip r:embed="rId3"/>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4"/>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5"/>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smtClean="0"/>
              <a:t>第一级标题</a:t>
            </a:r>
            <a:endParaRPr lang="zh-CN" altLang="en-US" dirty="0"/>
          </a:p>
          <a:p>
            <a:pPr marL="135255" lvl="1" indent="0" algn="just" rtl="0" eaLnBrk="0" fontAlgn="base" hangingPunct="0">
              <a:lnSpc>
                <a:spcPts val="2250"/>
              </a:lnSpc>
              <a:spcBef>
                <a:spcPts val="225"/>
              </a:spcBef>
              <a:spcAft>
                <a:spcPct val="0"/>
              </a:spcAft>
              <a:buClr>
                <a:srgbClr val="006600"/>
              </a:buClr>
              <a:buFontTx/>
              <a:buNone/>
            </a:pPr>
            <a:r>
              <a:rPr lang="zh-CN" altLang="en-US" dirty="0" smtClean="0"/>
              <a:t>第二级</a:t>
            </a:r>
            <a:endParaRPr lang="en-US" altLang="zh-CN" dirty="0" smtClean="0"/>
          </a:p>
          <a:p>
            <a:pPr marL="135255" lvl="2" indent="0" algn="just" rtl="0" eaLnBrk="0" fontAlgn="base" hangingPunct="0">
              <a:lnSpc>
                <a:spcPts val="2250"/>
              </a:lnSpc>
              <a:spcBef>
                <a:spcPts val="225"/>
              </a:spcBef>
              <a:spcAft>
                <a:spcPct val="0"/>
              </a:spcAft>
              <a:buClr>
                <a:srgbClr val="006600"/>
              </a:buClr>
              <a:buFontTx/>
              <a:buNone/>
            </a:pPr>
            <a:r>
              <a:rPr lang="zh-CN" altLang="en-US" dirty="0" smtClean="0"/>
              <a:t>第三级（正文）</a:t>
            </a:r>
            <a:endParaRPr lang="en-US" altLang="zh-CN" dirty="0"/>
          </a:p>
        </p:txBody>
      </p:sp>
      <p:sp>
        <p:nvSpPr>
          <p:cNvPr id="8" name="标题 13"/>
          <p:cNvSpPr>
            <a:spLocks noGrp="1"/>
          </p:cNvSpPr>
          <p:nvPr>
            <p:ph type="title" hasCustomPrompt="1"/>
          </p:nvPr>
        </p:nvSpPr>
        <p:spPr>
          <a:xfrm>
            <a:off x="746300" y="176980"/>
            <a:ext cx="3096197"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chemeClr val="accent1">
                    <a:lumMod val="50000"/>
                  </a:schemeClr>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10" name="图片 9"/>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64078" y="110939"/>
            <a:ext cx="381381" cy="381381"/>
          </a:xfrm>
          <a:prstGeom prst="rect">
            <a:avLst/>
          </a:prstGeom>
        </p:spPr>
      </p:pic>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85800" y="457200"/>
            <a:ext cx="7772400" cy="857250"/>
          </a:xfrm>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a:xfrm>
            <a:off x="685800" y="1485900"/>
            <a:ext cx="7772400" cy="3086100"/>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a:xfrm>
            <a:off x="685800" y="4686300"/>
            <a:ext cx="1905000" cy="342900"/>
          </a:xfrm>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5" name="页脚占位符 4"/>
          <p:cNvSpPr>
            <a:spLocks noGrp="1"/>
          </p:cNvSpPr>
          <p:nvPr>
            <p:ph type="ftr" sz="quarter" idx="11"/>
          </p:nvPr>
        </p:nvSpPr>
        <p:spPr>
          <a:xfrm>
            <a:off x="3124200" y="4686300"/>
            <a:ext cx="2895600" cy="342900"/>
          </a:xfrm>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6" name="灯片编号占位符 5"/>
          <p:cNvSpPr>
            <a:spLocks noGrp="1"/>
          </p:cNvSpPr>
          <p:nvPr>
            <p:ph type="sldNum" sz="quarter" idx="12"/>
          </p:nvPr>
        </p:nvSpPr>
        <p:spPr>
          <a:xfrm>
            <a:off x="6553200" y="4686300"/>
            <a:ext cx="1905000" cy="342900"/>
          </a:xfrm>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7CC98C3A-2E3F-4FFD-9C28-A3EE959F7F52}" type="slidenum">
              <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rPr>
            </a:fld>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正文内容">
    <p:spTree>
      <p:nvGrpSpPr>
        <p:cNvPr id="1" name=""/>
        <p:cNvGrpSpPr/>
        <p:nvPr/>
      </p:nvGrpSpPr>
      <p:grpSpPr>
        <a:xfrm>
          <a:off x="0" y="0"/>
          <a:ext cx="0" cy="0"/>
          <a:chOff x="0" y="0"/>
          <a:chExt cx="0" cy="0"/>
        </a:xfrm>
      </p:grpSpPr>
      <p:sp>
        <p:nvSpPr>
          <p:cNvPr id="7" name="内容占位符 2"/>
          <p:cNvSpPr>
            <a:spLocks noGrp="1"/>
          </p:cNvSpPr>
          <p:nvPr>
            <p:ph idx="1" hasCustomPrompt="1"/>
          </p:nvPr>
        </p:nvSpPr>
        <p:spPr>
          <a:xfrm>
            <a:off x="528069" y="593322"/>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en-US" altLang="zh-CN" sz="2300" b="1" kern="1200" baseline="0" dirty="0" smtClean="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smtClean="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zh-CN" altLang="en-US" sz="2100" b="1" kern="1200" baseline="0" smtClean="0">
                <a:solidFill>
                  <a:schemeClr val="tx1"/>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377825" indent="-269875" algn="just" fontAlgn="ctr">
              <a:lnSpc>
                <a:spcPts val="2550"/>
              </a:lnSpc>
              <a:spcBef>
                <a:spcPts val="0"/>
              </a:spcBef>
              <a:spcAft>
                <a:spcPts val="225"/>
              </a:spcAft>
              <a:buClr>
                <a:srgbClr val="800000"/>
              </a:buClr>
              <a:buSzPct val="160000"/>
              <a:buFontTx/>
              <a:buBlip>
                <a:blip r:embed="rId2"/>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323850" algn="just" fontAlgn="ctr">
              <a:lnSpc>
                <a:spcPts val="2550"/>
              </a:lnSpc>
              <a:spcBef>
                <a:spcPts val="0"/>
              </a:spcBef>
              <a:spcAft>
                <a:spcPts val="0"/>
              </a:spcAft>
              <a:buSzPct val="220000"/>
              <a:buFontTx/>
              <a:buBlip>
                <a:blip r:embed="rId3"/>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4"/>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5"/>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smtClean="0"/>
              <a:t>第一级标题</a:t>
            </a:r>
            <a:endParaRPr lang="zh-CN" altLang="en-US" dirty="0"/>
          </a:p>
          <a:p>
            <a:pPr marL="135255" lvl="1" indent="0" algn="just" rtl="0" eaLnBrk="0" fontAlgn="base" hangingPunct="0">
              <a:lnSpc>
                <a:spcPts val="2250"/>
              </a:lnSpc>
              <a:spcBef>
                <a:spcPts val="225"/>
              </a:spcBef>
              <a:spcAft>
                <a:spcPct val="0"/>
              </a:spcAft>
              <a:buClr>
                <a:srgbClr val="006600"/>
              </a:buClr>
              <a:buFontTx/>
              <a:buNone/>
            </a:pPr>
            <a:r>
              <a:rPr lang="zh-CN" altLang="en-US" dirty="0" smtClean="0"/>
              <a:t>第二级</a:t>
            </a:r>
            <a:endParaRPr lang="en-US" altLang="zh-CN" dirty="0" smtClean="0"/>
          </a:p>
          <a:p>
            <a:pPr marL="135255" lvl="2" indent="0" algn="just" rtl="0" eaLnBrk="0" fontAlgn="base" hangingPunct="0">
              <a:lnSpc>
                <a:spcPts val="2250"/>
              </a:lnSpc>
              <a:spcBef>
                <a:spcPts val="225"/>
              </a:spcBef>
              <a:spcAft>
                <a:spcPct val="0"/>
              </a:spcAft>
              <a:buClr>
                <a:srgbClr val="006600"/>
              </a:buClr>
              <a:buFontTx/>
              <a:buNone/>
            </a:pPr>
            <a:r>
              <a:rPr lang="zh-CN" altLang="en-US" dirty="0" smtClean="0"/>
              <a:t>第三级（正文）</a:t>
            </a:r>
            <a:endParaRPr lang="en-US" altLang="zh-CN" dirty="0"/>
          </a:p>
        </p:txBody>
      </p:sp>
      <p:sp>
        <p:nvSpPr>
          <p:cNvPr id="8" name="标题 13"/>
          <p:cNvSpPr>
            <a:spLocks noGrp="1"/>
          </p:cNvSpPr>
          <p:nvPr>
            <p:ph type="title" hasCustomPrompt="1"/>
          </p:nvPr>
        </p:nvSpPr>
        <p:spPr>
          <a:xfrm>
            <a:off x="746300" y="176980"/>
            <a:ext cx="3096197"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chemeClr val="accent1">
                    <a:lumMod val="50000"/>
                  </a:schemeClr>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10" name="图片 9"/>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64078" y="110939"/>
            <a:ext cx="381381" cy="381381"/>
          </a:xfrm>
          <a:prstGeom prst="rect">
            <a:avLst/>
          </a:prstGeom>
        </p:spPr>
      </p:pic>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image" Target="../media/image8.jpeg"/><Relationship Id="rId6" Type="http://schemas.openxmlformats.org/officeDocument/2006/relationships/image" Target="../media/image7.jpe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7" Type="http://schemas.openxmlformats.org/officeDocument/2006/relationships/image" Target="../media/image8.jpeg"/><Relationship Id="rId6" Type="http://schemas.openxmlformats.org/officeDocument/2006/relationships/image" Target="../media/image7.jpeg"/><Relationship Id="rId5" Type="http://schemas.openxmlformats.org/officeDocument/2006/relationships/slideLayout" Target="../slideLayouts/slideLayout10.xml"/><Relationship Id="rId4" Type="http://schemas.openxmlformats.org/officeDocument/2006/relationships/slideLayout" Target="../slideLayouts/slideLayout9.xml"/><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9.wmf"/><Relationship Id="rId1"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10.wmf"/><Relationship Id="rId1" Type="http://schemas.openxmlformats.org/officeDocument/2006/relationships/oleObject" Target="../embeddings/oleObject2.bin"/></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11.wmf"/><Relationship Id="rId1"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2.xml"/><Relationship Id="rId2" Type="http://schemas.openxmlformats.org/officeDocument/2006/relationships/image" Target="../media/image12.png"/><Relationship Id="rId1" Type="http://schemas.openxmlformats.org/officeDocument/2006/relationships/tags" Target="../tags/tag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14.wmf"/><Relationship Id="rId1" Type="http://schemas.openxmlformats.org/officeDocument/2006/relationships/oleObject" Target="../embeddings/oleObject4.bin"/></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7.xml"/><Relationship Id="rId4" Type="http://schemas.openxmlformats.org/officeDocument/2006/relationships/vmlDrawing" Target="../drawings/vmlDrawing5.vml"/><Relationship Id="rId3" Type="http://schemas.openxmlformats.org/officeDocument/2006/relationships/slideLayout" Target="../slideLayouts/slideLayout2.xml"/><Relationship Id="rId2" Type="http://schemas.openxmlformats.org/officeDocument/2006/relationships/image" Target="../media/image15.wmf"/><Relationship Id="rId1" Type="http://schemas.openxmlformats.org/officeDocument/2006/relationships/oleObject" Target="../embeddings/oleObject5.bin"/></Relationships>
</file>

<file path=ppt/slides/_rels/slide20.xml.rels><?xml version="1.0" encoding="UTF-8" standalone="yes"?>
<Relationships xmlns="http://schemas.openxmlformats.org/package/2006/relationships"><Relationship Id="rId9" Type="http://schemas.openxmlformats.org/officeDocument/2006/relationships/oleObject" Target="../embeddings/oleObject10.bin"/><Relationship Id="rId8" Type="http://schemas.openxmlformats.org/officeDocument/2006/relationships/image" Target="../media/image19.wmf"/><Relationship Id="rId7" Type="http://schemas.openxmlformats.org/officeDocument/2006/relationships/oleObject" Target="../embeddings/oleObject9.bin"/><Relationship Id="rId6" Type="http://schemas.openxmlformats.org/officeDocument/2006/relationships/image" Target="../media/image18.wmf"/><Relationship Id="rId5" Type="http://schemas.openxmlformats.org/officeDocument/2006/relationships/oleObject" Target="../embeddings/oleObject8.bin"/><Relationship Id="rId4" Type="http://schemas.openxmlformats.org/officeDocument/2006/relationships/image" Target="../media/image17.wmf"/><Relationship Id="rId3" Type="http://schemas.openxmlformats.org/officeDocument/2006/relationships/oleObject" Target="../embeddings/oleObject7.bin"/><Relationship Id="rId2" Type="http://schemas.openxmlformats.org/officeDocument/2006/relationships/image" Target="../media/image16.wmf"/><Relationship Id="rId13" Type="http://schemas.openxmlformats.org/officeDocument/2006/relationships/notesSlide" Target="../notesSlides/notesSlide18.xml"/><Relationship Id="rId12" Type="http://schemas.openxmlformats.org/officeDocument/2006/relationships/vmlDrawing" Target="../drawings/vmlDrawing6.vml"/><Relationship Id="rId11" Type="http://schemas.openxmlformats.org/officeDocument/2006/relationships/slideLayout" Target="../slideLayouts/slideLayout2.xml"/><Relationship Id="rId10" Type="http://schemas.openxmlformats.org/officeDocument/2006/relationships/image" Target="../media/image20.wmf"/><Relationship Id="rId1" Type="http://schemas.openxmlformats.org/officeDocument/2006/relationships/oleObject" Target="../embeddings/oleObject6.bin"/></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vmlDrawing" Target="../drawings/vmlDrawing7.vml"/><Relationship Id="rId3" Type="http://schemas.openxmlformats.org/officeDocument/2006/relationships/slideLayout" Target="../slideLayouts/slideLayout2.xml"/><Relationship Id="rId2" Type="http://schemas.openxmlformats.org/officeDocument/2006/relationships/image" Target="../media/image21.wmf"/><Relationship Id="rId1" Type="http://schemas.openxmlformats.org/officeDocument/2006/relationships/oleObject" Target="../embeddings/oleObject11.bin"/></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34.xml"/><Relationship Id="rId4" Type="http://schemas.openxmlformats.org/officeDocument/2006/relationships/vmlDrawing" Target="../drawings/vmlDrawing8.vml"/><Relationship Id="rId3" Type="http://schemas.openxmlformats.org/officeDocument/2006/relationships/slideLayout" Target="../slideLayouts/slideLayout2.xml"/><Relationship Id="rId2" Type="http://schemas.openxmlformats.org/officeDocument/2006/relationships/image" Target="../media/image24.wmf"/><Relationship Id="rId1" Type="http://schemas.openxmlformats.org/officeDocument/2006/relationships/oleObject" Target="../embeddings/oleObject12.bin"/></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5" Type="http://schemas.openxmlformats.org/officeDocument/2006/relationships/notesSlide" Target="../notesSlides/notesSlide36.xml"/><Relationship Id="rId4" Type="http://schemas.openxmlformats.org/officeDocument/2006/relationships/vmlDrawing" Target="../drawings/vmlDrawing9.vml"/><Relationship Id="rId3" Type="http://schemas.openxmlformats.org/officeDocument/2006/relationships/slideLayout" Target="../slideLayouts/slideLayout2.xml"/><Relationship Id="rId2" Type="http://schemas.openxmlformats.org/officeDocument/2006/relationships/image" Target="../media/image25.wmf"/><Relationship Id="rId1" Type="http://schemas.openxmlformats.org/officeDocument/2006/relationships/oleObject" Target="../embeddings/oleObject13.bin"/></Relationships>
</file>

<file path=ppt/slides/_rels/slide39.xml.rels><?xml version="1.0" encoding="UTF-8" standalone="yes"?>
<Relationships xmlns="http://schemas.openxmlformats.org/package/2006/relationships"><Relationship Id="rId7" Type="http://schemas.openxmlformats.org/officeDocument/2006/relationships/notesSlide" Target="../notesSlides/notesSlide37.xml"/><Relationship Id="rId6" Type="http://schemas.openxmlformats.org/officeDocument/2006/relationships/vmlDrawing" Target="../drawings/vmlDrawing10.vml"/><Relationship Id="rId5" Type="http://schemas.openxmlformats.org/officeDocument/2006/relationships/slideLayout" Target="../slideLayouts/slideLayout2.xml"/><Relationship Id="rId4" Type="http://schemas.openxmlformats.org/officeDocument/2006/relationships/image" Target="../media/image27.wmf"/><Relationship Id="rId3" Type="http://schemas.openxmlformats.org/officeDocument/2006/relationships/oleObject" Target="../embeddings/oleObject15.bin"/><Relationship Id="rId2" Type="http://schemas.openxmlformats.org/officeDocument/2006/relationships/image" Target="../media/image26.wmf"/><Relationship Id="rId1" Type="http://schemas.openxmlformats.org/officeDocument/2006/relationships/oleObject" Target="../embeddings/oleObject14.bin"/></Relationships>
</file>

<file path=ppt/slides/_rels/slide40.xml.rels><?xml version="1.0" encoding="UTF-8" standalone="yes"?>
<Relationships xmlns="http://schemas.openxmlformats.org/package/2006/relationships"><Relationship Id="rId7" Type="http://schemas.openxmlformats.org/officeDocument/2006/relationships/notesSlide" Target="../notesSlides/notesSlide38.xml"/><Relationship Id="rId6" Type="http://schemas.openxmlformats.org/officeDocument/2006/relationships/vmlDrawing" Target="../drawings/vmlDrawing11.vml"/><Relationship Id="rId5" Type="http://schemas.openxmlformats.org/officeDocument/2006/relationships/slideLayout" Target="../slideLayouts/slideLayout2.xml"/><Relationship Id="rId4" Type="http://schemas.openxmlformats.org/officeDocument/2006/relationships/image" Target="../media/image29.wmf"/><Relationship Id="rId3" Type="http://schemas.openxmlformats.org/officeDocument/2006/relationships/oleObject" Target="../embeddings/oleObject17.bin"/><Relationship Id="rId2" Type="http://schemas.openxmlformats.org/officeDocument/2006/relationships/image" Target="../media/image28.wmf"/><Relationship Id="rId1" Type="http://schemas.openxmlformats.org/officeDocument/2006/relationships/oleObject" Target="../embeddings/oleObject16.bin"/></Relationships>
</file>

<file path=ppt/slides/_rels/slide41.xml.rels><?xml version="1.0" encoding="UTF-8" standalone="yes"?>
<Relationships xmlns="http://schemas.openxmlformats.org/package/2006/relationships"><Relationship Id="rId5" Type="http://schemas.openxmlformats.org/officeDocument/2006/relationships/notesSlide" Target="../notesSlides/notesSlide39.xml"/><Relationship Id="rId4" Type="http://schemas.openxmlformats.org/officeDocument/2006/relationships/vmlDrawing" Target="../drawings/vmlDrawing12.vml"/><Relationship Id="rId3" Type="http://schemas.openxmlformats.org/officeDocument/2006/relationships/slideLayout" Target="../slideLayouts/slideLayout2.xml"/><Relationship Id="rId2" Type="http://schemas.openxmlformats.org/officeDocument/2006/relationships/image" Target="../media/image30.wmf"/><Relationship Id="rId1" Type="http://schemas.openxmlformats.org/officeDocument/2006/relationships/oleObject" Target="../embeddings/oleObject18.bin"/></Relationships>
</file>

<file path=ppt/slides/_rels/slide42.xml.rels><?xml version="1.0" encoding="UTF-8" standalone="yes"?>
<Relationships xmlns="http://schemas.openxmlformats.org/package/2006/relationships"><Relationship Id="rId5" Type="http://schemas.openxmlformats.org/officeDocument/2006/relationships/notesSlide" Target="../notesSlides/notesSlide40.xml"/><Relationship Id="rId4" Type="http://schemas.openxmlformats.org/officeDocument/2006/relationships/vmlDrawing" Target="../drawings/vmlDrawing13.vml"/><Relationship Id="rId3" Type="http://schemas.openxmlformats.org/officeDocument/2006/relationships/slideLayout" Target="../slideLayouts/slideLayout2.xml"/><Relationship Id="rId2" Type="http://schemas.openxmlformats.org/officeDocument/2006/relationships/image" Target="../media/image31.wmf"/><Relationship Id="rId1" Type="http://schemas.openxmlformats.org/officeDocument/2006/relationships/oleObject" Target="../embeddings/oleObject19.bin"/></Relationships>
</file>

<file path=ppt/slides/_rels/slide43.xml.rels><?xml version="1.0" encoding="UTF-8" standalone="yes"?>
<Relationships xmlns="http://schemas.openxmlformats.org/package/2006/relationships"><Relationship Id="rId5" Type="http://schemas.openxmlformats.org/officeDocument/2006/relationships/notesSlide" Target="../notesSlides/notesSlide41.xml"/><Relationship Id="rId4" Type="http://schemas.openxmlformats.org/officeDocument/2006/relationships/vmlDrawing" Target="../drawings/vmlDrawing14.vml"/><Relationship Id="rId3" Type="http://schemas.openxmlformats.org/officeDocument/2006/relationships/slideLayout" Target="../slideLayouts/slideLayout2.xml"/><Relationship Id="rId2" Type="http://schemas.openxmlformats.org/officeDocument/2006/relationships/image" Target="../media/image32.wmf"/><Relationship Id="rId1" Type="http://schemas.openxmlformats.org/officeDocument/2006/relationships/oleObject" Target="../embeddings/oleObject20.bin"/></Relationships>
</file>

<file path=ppt/slides/_rels/slide44.xml.rels><?xml version="1.0" encoding="UTF-8" standalone="yes"?>
<Relationships xmlns="http://schemas.openxmlformats.org/package/2006/relationships"><Relationship Id="rId5" Type="http://schemas.openxmlformats.org/officeDocument/2006/relationships/notesSlide" Target="../notesSlides/notesSlide42.xml"/><Relationship Id="rId4" Type="http://schemas.openxmlformats.org/officeDocument/2006/relationships/vmlDrawing" Target="../drawings/vmlDrawing15.vml"/><Relationship Id="rId3" Type="http://schemas.openxmlformats.org/officeDocument/2006/relationships/slideLayout" Target="../slideLayouts/slideLayout2.xml"/><Relationship Id="rId2" Type="http://schemas.openxmlformats.org/officeDocument/2006/relationships/image" Target="../media/image33.wmf"/><Relationship Id="rId1" Type="http://schemas.openxmlformats.org/officeDocument/2006/relationships/oleObject" Target="../embeddings/oleObject21.bin"/></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5" Type="http://schemas.openxmlformats.org/officeDocument/2006/relationships/notesSlide" Target="../notesSlides/notesSlide46.xml"/><Relationship Id="rId4" Type="http://schemas.openxmlformats.org/officeDocument/2006/relationships/vmlDrawing" Target="../drawings/vmlDrawing16.vml"/><Relationship Id="rId3" Type="http://schemas.openxmlformats.org/officeDocument/2006/relationships/slideLayout" Target="../slideLayouts/slideLayout2.xml"/><Relationship Id="rId2" Type="http://schemas.openxmlformats.org/officeDocument/2006/relationships/image" Target="../media/image34.wmf"/><Relationship Id="rId1" Type="http://schemas.openxmlformats.org/officeDocument/2006/relationships/oleObject" Target="../embeddings/oleObject22.bin"/></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5" Type="http://schemas.openxmlformats.org/officeDocument/2006/relationships/notesSlide" Target="../notesSlides/notesSlide48.xml"/><Relationship Id="rId4" Type="http://schemas.openxmlformats.org/officeDocument/2006/relationships/vmlDrawing" Target="../drawings/vmlDrawing17.vml"/><Relationship Id="rId3" Type="http://schemas.openxmlformats.org/officeDocument/2006/relationships/slideLayout" Target="../slideLayouts/slideLayout2.xml"/><Relationship Id="rId2" Type="http://schemas.openxmlformats.org/officeDocument/2006/relationships/image" Target="../media/image35.wmf"/><Relationship Id="rId1" Type="http://schemas.openxmlformats.org/officeDocument/2006/relationships/oleObject" Target="../embeddings/oleObject23.bin"/></Relationships>
</file>

<file path=ppt/slides/_rels/slide51.xml.rels><?xml version="1.0" encoding="UTF-8" standalone="yes"?>
<Relationships xmlns="http://schemas.openxmlformats.org/package/2006/relationships"><Relationship Id="rId5" Type="http://schemas.openxmlformats.org/officeDocument/2006/relationships/notesSlide" Target="../notesSlides/notesSlide49.xml"/><Relationship Id="rId4" Type="http://schemas.openxmlformats.org/officeDocument/2006/relationships/vmlDrawing" Target="../drawings/vmlDrawing18.vml"/><Relationship Id="rId3" Type="http://schemas.openxmlformats.org/officeDocument/2006/relationships/slideLayout" Target="../slideLayouts/slideLayout2.xml"/><Relationship Id="rId2" Type="http://schemas.openxmlformats.org/officeDocument/2006/relationships/image" Target="../media/image35.wmf"/><Relationship Id="rId1" Type="http://schemas.openxmlformats.org/officeDocument/2006/relationships/oleObject" Target="../embeddings/oleObject24.bin"/></Relationships>
</file>

<file path=ppt/slides/_rels/slide52.xml.rels><?xml version="1.0" encoding="UTF-8" standalone="yes"?>
<Relationships xmlns="http://schemas.openxmlformats.org/package/2006/relationships"><Relationship Id="rId5" Type="http://schemas.openxmlformats.org/officeDocument/2006/relationships/notesSlide" Target="../notesSlides/notesSlide50.xml"/><Relationship Id="rId4" Type="http://schemas.openxmlformats.org/officeDocument/2006/relationships/vmlDrawing" Target="../drawings/vmlDrawing19.vml"/><Relationship Id="rId3" Type="http://schemas.openxmlformats.org/officeDocument/2006/relationships/slideLayout" Target="../slideLayouts/slideLayout2.xml"/><Relationship Id="rId2" Type="http://schemas.openxmlformats.org/officeDocument/2006/relationships/image" Target="../media/image36.wmf"/><Relationship Id="rId1" Type="http://schemas.openxmlformats.org/officeDocument/2006/relationships/oleObject" Target="../embeddings/oleObject25.bin"/></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5" Type="http://schemas.openxmlformats.org/officeDocument/2006/relationships/notesSlide" Target="../notesSlides/notesSlide52.xml"/><Relationship Id="rId4" Type="http://schemas.openxmlformats.org/officeDocument/2006/relationships/vmlDrawing" Target="../drawings/vmlDrawing20.vml"/><Relationship Id="rId3" Type="http://schemas.openxmlformats.org/officeDocument/2006/relationships/slideLayout" Target="../slideLayouts/slideLayout2.xml"/><Relationship Id="rId2" Type="http://schemas.openxmlformats.org/officeDocument/2006/relationships/image" Target="../media/image37.wmf"/><Relationship Id="rId1" Type="http://schemas.openxmlformats.org/officeDocument/2006/relationships/oleObject" Target="../embeddings/oleObject26.bin"/></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62.xml.rels><?xml version="1.0" encoding="UTF-8" standalone="yes"?>
<Relationships xmlns="http://schemas.openxmlformats.org/package/2006/relationships"><Relationship Id="rId4" Type="http://schemas.openxmlformats.org/officeDocument/2006/relationships/notesSlide" Target="../notesSlides/notesSlide60.xml"/><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1.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64.xml.rels><?xml version="1.0" encoding="UTF-8" standalone="yes"?>
<Relationships xmlns="http://schemas.openxmlformats.org/package/2006/relationships"><Relationship Id="rId5" Type="http://schemas.openxmlformats.org/officeDocument/2006/relationships/notesSlide" Target="../notesSlides/notesSlide62.xml"/><Relationship Id="rId4" Type="http://schemas.openxmlformats.org/officeDocument/2006/relationships/vmlDrawing" Target="../drawings/vmlDrawing21.vml"/><Relationship Id="rId3" Type="http://schemas.openxmlformats.org/officeDocument/2006/relationships/slideLayout" Target="../slideLayouts/slideLayout2.xml"/><Relationship Id="rId2" Type="http://schemas.openxmlformats.org/officeDocument/2006/relationships/image" Target="../media/image44.wmf"/><Relationship Id="rId1" Type="http://schemas.openxmlformats.org/officeDocument/2006/relationships/oleObject" Target="../embeddings/oleObject27.bin"/></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6" Type="http://schemas.openxmlformats.org/officeDocument/2006/relationships/notesSlide" Target="../notesSlides/notesSlide64.xml"/><Relationship Id="rId5" Type="http://schemas.openxmlformats.org/officeDocument/2006/relationships/vmlDrawing" Target="../drawings/vmlDrawing22.vml"/><Relationship Id="rId4" Type="http://schemas.openxmlformats.org/officeDocument/2006/relationships/slideLayout" Target="../slideLayouts/slideLayout7.xml"/><Relationship Id="rId3" Type="http://schemas.openxmlformats.org/officeDocument/2006/relationships/image" Target="../media/image45.wmf"/><Relationship Id="rId2" Type="http://schemas.openxmlformats.org/officeDocument/2006/relationships/oleObject" Target="../embeddings/oleObject28.bin"/><Relationship Id="rId1" Type="http://schemas.openxmlformats.org/officeDocument/2006/relationships/tags" Target="../tags/tag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4" Type="http://schemas.openxmlformats.org/officeDocument/2006/relationships/vmlDrawing" Target="../drawings/vmlDrawing23.vml"/><Relationship Id="rId3" Type="http://schemas.openxmlformats.org/officeDocument/2006/relationships/slideLayout" Target="../slideLayouts/slideLayout2.xml"/><Relationship Id="rId2" Type="http://schemas.openxmlformats.org/officeDocument/2006/relationships/image" Target="../media/image46.wmf"/><Relationship Id="rId1" Type="http://schemas.openxmlformats.org/officeDocument/2006/relationships/oleObject" Target="../embeddings/oleObject29.bin"/></Relationships>
</file>

<file path=ppt/slides/_rels/slide92.xml.rels><?xml version="1.0" encoding="UTF-8" standalone="yes"?>
<Relationships xmlns="http://schemas.openxmlformats.org/package/2006/relationships"><Relationship Id="rId9" Type="http://schemas.openxmlformats.org/officeDocument/2006/relationships/oleObject" Target="../embeddings/oleObject34.bin"/><Relationship Id="rId8" Type="http://schemas.openxmlformats.org/officeDocument/2006/relationships/image" Target="../media/image50.wmf"/><Relationship Id="rId7" Type="http://schemas.openxmlformats.org/officeDocument/2006/relationships/oleObject" Target="../embeddings/oleObject33.bin"/><Relationship Id="rId6" Type="http://schemas.openxmlformats.org/officeDocument/2006/relationships/image" Target="../media/image49.wmf"/><Relationship Id="rId5" Type="http://schemas.openxmlformats.org/officeDocument/2006/relationships/oleObject" Target="../embeddings/oleObject32.bin"/><Relationship Id="rId4" Type="http://schemas.openxmlformats.org/officeDocument/2006/relationships/image" Target="../media/image48.wmf"/><Relationship Id="rId3" Type="http://schemas.openxmlformats.org/officeDocument/2006/relationships/oleObject" Target="../embeddings/oleObject31.bin"/><Relationship Id="rId2" Type="http://schemas.openxmlformats.org/officeDocument/2006/relationships/image" Target="../media/image47.wmf"/><Relationship Id="rId14" Type="http://schemas.openxmlformats.org/officeDocument/2006/relationships/vmlDrawing" Target="../drawings/vmlDrawing24.vml"/><Relationship Id="rId13" Type="http://schemas.openxmlformats.org/officeDocument/2006/relationships/slideLayout" Target="../slideLayouts/slideLayout2.xml"/><Relationship Id="rId12" Type="http://schemas.openxmlformats.org/officeDocument/2006/relationships/image" Target="../media/image52.wmf"/><Relationship Id="rId11" Type="http://schemas.openxmlformats.org/officeDocument/2006/relationships/oleObject" Target="../embeddings/oleObject35.bin"/><Relationship Id="rId10" Type="http://schemas.openxmlformats.org/officeDocument/2006/relationships/image" Target="../media/image51.wmf"/><Relationship Id="rId1" Type="http://schemas.openxmlformats.org/officeDocument/2006/relationships/oleObject" Target="../embeddings/oleObject30.bin"/></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ctrTitle"/>
          </p:nvPr>
        </p:nvSpPr>
        <p:spPr/>
        <p:txBody>
          <a:bodyPr/>
          <a:lstStyle/>
          <a:p>
            <a:r>
              <a:rPr lang="zh-CN" altLang="en-US" dirty="0" smtClean="0">
                <a:sym typeface="+mn-ea"/>
              </a:rPr>
              <a:t>第</a:t>
            </a:r>
            <a:r>
              <a:rPr lang="en-US" altLang="zh-CN" dirty="0" smtClean="0">
                <a:sym typeface="+mn-ea"/>
              </a:rPr>
              <a:t>8</a:t>
            </a:r>
            <a:r>
              <a:rPr lang="zh-CN" altLang="en-US" dirty="0" smtClean="0">
                <a:sym typeface="+mn-ea"/>
              </a:rPr>
              <a:t>章 </a:t>
            </a:r>
            <a:r>
              <a:rPr lang="zh-CN" altLang="en-US" dirty="0">
                <a:sym typeface="+mn-ea"/>
              </a:rPr>
              <a:t>查找</a:t>
            </a:r>
            <a:endParaRPr lang="zh-CN" alt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ct val="150000"/>
              </a:lnSpc>
              <a:spcBef>
                <a:spcPct val="0"/>
              </a:spcBef>
            </a:pPr>
            <a:r>
              <a:rPr lang="en-US" altLang="zh-CN" sz="2400" dirty="0">
                <a:sym typeface="+mn-ea"/>
              </a:rPr>
              <a:t>8</a:t>
            </a:r>
            <a:r>
              <a:rPr lang="en-US" altLang="zh-CN" sz="2400" dirty="0" smtClean="0">
                <a:sym typeface="+mn-ea"/>
              </a:rPr>
              <a:t>.1 </a:t>
            </a:r>
            <a:r>
              <a:rPr lang="zh-CN" altLang="en-US" sz="2400" dirty="0" smtClean="0">
                <a:sym typeface="+mn-ea"/>
              </a:rPr>
              <a:t>静态查找表</a:t>
            </a:r>
            <a:endParaRPr lang="en-US" altLang="zh-CN" sz="2400" dirty="0"/>
          </a:p>
          <a:p>
            <a:pPr algn="l">
              <a:lnSpc>
                <a:spcPct val="150000"/>
              </a:lnSpc>
            </a:pPr>
            <a:r>
              <a:rPr lang="en-US" altLang="zh-CN" sz="2400" dirty="0">
                <a:sym typeface="+mn-ea"/>
              </a:rPr>
              <a:t>8</a:t>
            </a:r>
            <a:r>
              <a:rPr lang="en-US" altLang="zh-CN" sz="2400" dirty="0" smtClean="0">
                <a:sym typeface="+mn-ea"/>
              </a:rPr>
              <a:t>.2 </a:t>
            </a:r>
            <a:r>
              <a:rPr lang="zh-CN" altLang="en-US" sz="2400" dirty="0" smtClean="0">
                <a:sym typeface="+mn-ea"/>
              </a:rPr>
              <a:t>动态查找表</a:t>
            </a:r>
            <a:endParaRPr lang="en-US" altLang="zh-CN" sz="2400" dirty="0"/>
          </a:p>
          <a:p>
            <a:pPr algn="l">
              <a:lnSpc>
                <a:spcPct val="150000"/>
              </a:lnSpc>
            </a:pPr>
            <a:r>
              <a:rPr lang="en-US" altLang="zh-CN" sz="2400" dirty="0">
                <a:sym typeface="+mn-ea"/>
              </a:rPr>
              <a:t>8</a:t>
            </a:r>
            <a:r>
              <a:rPr lang="en-US" altLang="zh-CN" sz="2400" dirty="0" smtClean="0">
                <a:sym typeface="+mn-ea"/>
              </a:rPr>
              <a:t>.3 </a:t>
            </a:r>
            <a:r>
              <a:rPr lang="zh-CN" altLang="en-US" sz="2400" dirty="0" smtClean="0">
                <a:sym typeface="+mn-ea"/>
              </a:rPr>
              <a:t>哈希表</a:t>
            </a:r>
            <a:endParaRPr lang="en-US" altLang="zh-CN" sz="2400" dirty="0"/>
          </a:p>
        </p:txBody>
      </p:sp>
      <p:sp>
        <p:nvSpPr>
          <p:cNvPr id="3" name="标题 2"/>
          <p:cNvSpPr>
            <a:spLocks noGrp="1"/>
          </p:cNvSpPr>
          <p:nvPr>
            <p:ph type="title"/>
          </p:nvPr>
        </p:nvSpPr>
        <p:spPr>
          <a:xfrm>
            <a:off x="746301" y="171219"/>
            <a:ext cx="4816300" cy="248285"/>
          </a:xfrm>
        </p:spPr>
        <p:txBody>
          <a:bodyPr/>
          <a:lstStyle/>
          <a:p>
            <a:r>
              <a:rPr lang="zh-CN" altLang="en-US"/>
              <a:t>本章目录</a:t>
            </a:r>
            <a:endParaRPr lang="zh-CN" altLang="en-US"/>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dirty="0" smtClean="0"/>
              <a:t>    </a:t>
            </a:r>
            <a:r>
              <a:rPr lang="zh-CN" altLang="en-US" dirty="0" smtClean="0">
                <a:solidFill>
                  <a:srgbClr val="FF0000"/>
                </a:solidFill>
              </a:rPr>
              <a:t>查找</a:t>
            </a:r>
            <a:r>
              <a:rPr lang="zh-CN" altLang="en-US" dirty="0">
                <a:solidFill>
                  <a:srgbClr val="FF0000"/>
                </a:solidFill>
              </a:rPr>
              <a:t>表</a:t>
            </a:r>
            <a:r>
              <a:rPr lang="zh-CN" altLang="en-US" dirty="0"/>
              <a:t>：由同一类型的数据元素（或记录）构成的集合</a:t>
            </a:r>
            <a:r>
              <a:rPr lang="zh-CN" altLang="en-US" dirty="0" smtClean="0"/>
              <a:t>，可</a:t>
            </a:r>
            <a:r>
              <a:rPr lang="zh-CN" altLang="en-US" dirty="0"/>
              <a:t>利用任意数据结构实现。</a:t>
            </a:r>
            <a:r>
              <a:rPr lang="zh-CN" altLang="en-US" dirty="0">
                <a:solidFill>
                  <a:srgbClr val="FF0000"/>
                </a:solidFill>
              </a:rPr>
              <a:t>松散</a:t>
            </a:r>
            <a:r>
              <a:rPr lang="zh-CN" altLang="en-US" dirty="0"/>
              <a:t>的关系</a:t>
            </a:r>
            <a:r>
              <a:rPr lang="zh-CN" altLang="en-US" dirty="0" smtClean="0"/>
              <a:t>。</a:t>
            </a:r>
            <a:endParaRPr lang="en-US" altLang="zh-CN" dirty="0" smtClean="0"/>
          </a:p>
          <a:p>
            <a:pPr marL="0" lvl="2"/>
            <a:r>
              <a:rPr lang="zh-CN" altLang="en-US" dirty="0" smtClean="0"/>
              <a:t>    </a:t>
            </a:r>
            <a:r>
              <a:rPr lang="zh-CN" altLang="en-US" dirty="0" smtClean="0">
                <a:solidFill>
                  <a:srgbClr val="FF0000"/>
                </a:solidFill>
              </a:rPr>
              <a:t>关键字</a:t>
            </a:r>
            <a:r>
              <a:rPr lang="zh-CN" altLang="en-US" dirty="0"/>
              <a:t>：数据元素的某个数据项的值，</a:t>
            </a:r>
            <a:r>
              <a:rPr lang="zh-CN" altLang="en-US" dirty="0">
                <a:solidFill>
                  <a:srgbClr val="FF0000"/>
                </a:solidFill>
              </a:rPr>
              <a:t>用它可以标识列表中的一个或一组数据元素</a:t>
            </a:r>
            <a:r>
              <a:rPr lang="zh-CN" altLang="en-US" dirty="0"/>
              <a:t>。如果一个关键字可以唯一标识列表中的一个数据元素，则称其为主关键字，否则为次关键字</a:t>
            </a:r>
            <a:r>
              <a:rPr lang="zh-CN" altLang="en-US" dirty="0" smtClean="0"/>
              <a:t>。</a:t>
            </a:r>
            <a:endParaRPr lang="en-US" altLang="zh-CN" dirty="0" smtClean="0"/>
          </a:p>
          <a:p>
            <a:pPr marL="0" lvl="2"/>
            <a:r>
              <a:rPr lang="zh-CN" altLang="en-US" dirty="0" smtClean="0"/>
              <a:t>    </a:t>
            </a:r>
            <a:r>
              <a:rPr lang="zh-CN" altLang="en-US" dirty="0" smtClean="0">
                <a:solidFill>
                  <a:srgbClr val="FF0000"/>
                </a:solidFill>
              </a:rPr>
              <a:t>查找</a:t>
            </a:r>
            <a:r>
              <a:rPr lang="zh-CN" altLang="en-US" dirty="0"/>
              <a:t>：根据给定的关键字值，在特定的列表中确定一个其关键字与给定值相同的数据元素，并返回该数据元素在列表中的位置。查找可能成功或失败。</a:t>
            </a:r>
            <a:endParaRPr lang="zh-CN" altLang="en-US" dirty="0"/>
          </a:p>
        </p:txBody>
      </p:sp>
      <p:sp>
        <p:nvSpPr>
          <p:cNvPr id="3" name="标题 2"/>
          <p:cNvSpPr>
            <a:spLocks noGrp="1"/>
          </p:cNvSpPr>
          <p:nvPr>
            <p:ph type="title"/>
          </p:nvPr>
        </p:nvSpPr>
        <p:spPr>
          <a:xfrm>
            <a:off x="746301" y="171219"/>
            <a:ext cx="4816300" cy="248285"/>
          </a:xfrm>
        </p:spPr>
        <p:txBody>
          <a:bodyPr/>
          <a:lstStyle/>
          <a:p>
            <a:r>
              <a:rPr lang="zh-CN" altLang="en-US" dirty="0" smtClean="0"/>
              <a:t>查找</a:t>
            </a:r>
            <a:endParaRPr lang="zh-CN" alt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50000"/>
              </a:lnSpc>
              <a:spcBef>
                <a:spcPct val="50000"/>
              </a:spcBef>
            </a:pPr>
            <a:r>
              <a:rPr lang="zh-CN" altLang="en-US" sz="2100" dirty="0" smtClean="0">
                <a:solidFill>
                  <a:srgbClr val="00194C"/>
                </a:solidFill>
                <a:latin typeface="华文楷体" panose="02010600040101010101" pitchFamily="2" charset="-122"/>
                <a:ea typeface="华文楷体" panose="02010600040101010101" pitchFamily="2" charset="-122"/>
              </a:rPr>
              <a:t>查找</a:t>
            </a:r>
            <a:r>
              <a:rPr lang="zh-CN" altLang="en-US" sz="2100" dirty="0">
                <a:solidFill>
                  <a:srgbClr val="00194C"/>
                </a:solidFill>
                <a:latin typeface="华文楷体" panose="02010600040101010101" pitchFamily="2" charset="-122"/>
                <a:ea typeface="华文楷体" panose="02010600040101010101" pitchFamily="2" charset="-122"/>
              </a:rPr>
              <a:t>算法中涉及到三类参量：</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① 查找对象</a:t>
            </a:r>
            <a:r>
              <a:rPr lang="en-US" altLang="zh-CN" sz="2100" dirty="0">
                <a:solidFill>
                  <a:srgbClr val="00194C"/>
                </a:solidFill>
                <a:latin typeface="华文楷体" panose="02010600040101010101" pitchFamily="2" charset="-122"/>
                <a:ea typeface="华文楷体" panose="02010600040101010101" pitchFamily="2" charset="-122"/>
              </a:rPr>
              <a:t>K</a:t>
            </a:r>
            <a:r>
              <a:rPr lang="zh-CN" altLang="en-US" sz="2100" dirty="0">
                <a:solidFill>
                  <a:srgbClr val="00194C"/>
                </a:solidFill>
                <a:latin typeface="华文楷体" panose="02010600040101010101" pitchFamily="2" charset="-122"/>
                <a:ea typeface="华文楷体" panose="02010600040101010101" pitchFamily="2" charset="-122"/>
              </a:rPr>
              <a:t>（</a:t>
            </a:r>
            <a:r>
              <a:rPr lang="zh-CN" altLang="en-US" sz="2100" dirty="0">
                <a:solidFill>
                  <a:srgbClr val="FF0000"/>
                </a:solidFill>
                <a:latin typeface="华文楷体" panose="02010600040101010101" pitchFamily="2" charset="-122"/>
                <a:ea typeface="华文楷体" panose="02010600040101010101" pitchFamily="2" charset="-122"/>
              </a:rPr>
              <a:t>找什么</a:t>
            </a:r>
            <a:r>
              <a:rPr lang="zh-CN" altLang="en-US"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② 查找范围</a:t>
            </a:r>
            <a:r>
              <a:rPr lang="en-US" altLang="zh-CN" sz="2100" dirty="0">
                <a:solidFill>
                  <a:srgbClr val="00194C"/>
                </a:solidFill>
                <a:latin typeface="华文楷体" panose="02010600040101010101" pitchFamily="2" charset="-122"/>
                <a:ea typeface="华文楷体" panose="02010600040101010101" pitchFamily="2" charset="-122"/>
              </a:rPr>
              <a:t>L</a:t>
            </a:r>
            <a:r>
              <a:rPr lang="zh-CN" altLang="en-US" sz="2100" dirty="0">
                <a:solidFill>
                  <a:srgbClr val="00194C"/>
                </a:solidFill>
                <a:latin typeface="华文楷体" panose="02010600040101010101" pitchFamily="2" charset="-122"/>
                <a:ea typeface="华文楷体" panose="02010600040101010101" pitchFamily="2" charset="-122"/>
              </a:rPr>
              <a:t>（</a:t>
            </a:r>
            <a:r>
              <a:rPr lang="zh-CN" altLang="en-US" sz="2100" dirty="0">
                <a:solidFill>
                  <a:srgbClr val="FF0000"/>
                </a:solidFill>
                <a:latin typeface="华文楷体" panose="02010600040101010101" pitchFamily="2" charset="-122"/>
                <a:ea typeface="华文楷体" panose="02010600040101010101" pitchFamily="2" charset="-122"/>
              </a:rPr>
              <a:t>在哪找</a:t>
            </a:r>
            <a:r>
              <a:rPr lang="zh-CN" altLang="en-US"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③ </a:t>
            </a:r>
            <a:r>
              <a:rPr lang="en-US" altLang="zh-CN" sz="2100" dirty="0">
                <a:solidFill>
                  <a:srgbClr val="00194C"/>
                </a:solidFill>
                <a:latin typeface="华文楷体" panose="02010600040101010101" pitchFamily="2" charset="-122"/>
                <a:ea typeface="华文楷体" panose="02010600040101010101" pitchFamily="2" charset="-122"/>
              </a:rPr>
              <a:t>K</a:t>
            </a:r>
            <a:r>
              <a:rPr lang="zh-CN" altLang="en-US" sz="2100" dirty="0">
                <a:solidFill>
                  <a:srgbClr val="00194C"/>
                </a:solidFill>
                <a:latin typeface="华文楷体" panose="02010600040101010101" pitchFamily="2" charset="-122"/>
                <a:ea typeface="华文楷体" panose="02010600040101010101" pitchFamily="2" charset="-122"/>
              </a:rPr>
              <a:t>在</a:t>
            </a:r>
            <a:r>
              <a:rPr lang="en-US" altLang="zh-CN" sz="2100" dirty="0">
                <a:solidFill>
                  <a:srgbClr val="00194C"/>
                </a:solidFill>
                <a:latin typeface="华文楷体" panose="02010600040101010101" pitchFamily="2" charset="-122"/>
                <a:ea typeface="华文楷体" panose="02010600040101010101" pitchFamily="2" charset="-122"/>
              </a:rPr>
              <a:t>L</a:t>
            </a:r>
            <a:r>
              <a:rPr lang="zh-CN" altLang="en-US" sz="2100" dirty="0">
                <a:solidFill>
                  <a:srgbClr val="00194C"/>
                </a:solidFill>
                <a:latin typeface="华文楷体" panose="02010600040101010101" pitchFamily="2" charset="-122"/>
                <a:ea typeface="华文楷体" panose="02010600040101010101" pitchFamily="2" charset="-122"/>
              </a:rPr>
              <a:t>中的位置（</a:t>
            </a:r>
            <a:r>
              <a:rPr lang="zh-CN" altLang="en-US" sz="2100" dirty="0">
                <a:solidFill>
                  <a:srgbClr val="FF0000"/>
                </a:solidFill>
                <a:latin typeface="华文楷体" panose="02010600040101010101" pitchFamily="2" charset="-122"/>
                <a:ea typeface="华文楷体" panose="02010600040101010101" pitchFamily="2" charset="-122"/>
              </a:rPr>
              <a:t>查找的结果</a:t>
            </a:r>
            <a:r>
              <a:rPr lang="zh-CN" altLang="en-US" sz="2100" dirty="0">
                <a:solidFill>
                  <a:srgbClr val="00194C"/>
                </a:solidFill>
                <a:latin typeface="华文楷体" panose="02010600040101010101" pitchFamily="2" charset="-122"/>
                <a:ea typeface="华文楷体" panose="02010600040101010101" pitchFamily="2" charset="-122"/>
              </a:rPr>
              <a:t>）</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50000"/>
              </a:spcBef>
            </a:pPr>
            <a:r>
              <a:rPr lang="zh-CN" altLang="en-US" sz="2100" dirty="0">
                <a:solidFill>
                  <a:srgbClr val="FF0000"/>
                </a:solidFill>
                <a:latin typeface="华文楷体" panose="02010600040101010101" pitchFamily="2" charset="-122"/>
                <a:ea typeface="华文楷体" panose="02010600040101010101" pitchFamily="2" charset="-122"/>
              </a:rPr>
              <a:t>查找的操作</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1</a:t>
            </a:r>
            <a:r>
              <a:rPr lang="zh-CN" altLang="en-US" sz="2100" dirty="0">
                <a:solidFill>
                  <a:srgbClr val="00194C"/>
                </a:solidFill>
                <a:latin typeface="华文楷体" panose="02010600040101010101" pitchFamily="2" charset="-122"/>
                <a:ea typeface="华文楷体" panose="02010600040101010101" pitchFamily="2" charset="-122"/>
              </a:rPr>
              <a:t>、查某个数据元素是否存在。</a:t>
            </a:r>
            <a:r>
              <a:rPr lang="en-US" altLang="zh-CN" sz="2100" dirty="0">
                <a:solidFill>
                  <a:srgbClr val="00194C"/>
                </a:solidFill>
                <a:latin typeface="华文楷体" panose="02010600040101010101" pitchFamily="2" charset="-122"/>
                <a:ea typeface="华文楷体" panose="02010600040101010101" pitchFamily="2" charset="-122"/>
              </a:rPr>
              <a:t>2</a:t>
            </a:r>
            <a:r>
              <a:rPr lang="zh-CN" altLang="en-US" sz="2100" dirty="0">
                <a:solidFill>
                  <a:srgbClr val="00194C"/>
                </a:solidFill>
                <a:latin typeface="华文楷体" panose="02010600040101010101" pitchFamily="2" charset="-122"/>
                <a:ea typeface="华文楷体" panose="02010600040101010101" pitchFamily="2" charset="-122"/>
              </a:rPr>
              <a:t>、检索某个特定数据元素的属性。</a:t>
            </a:r>
            <a:r>
              <a:rPr lang="en-US" altLang="zh-CN" sz="2100" dirty="0">
                <a:solidFill>
                  <a:srgbClr val="00194C"/>
                </a:solidFill>
                <a:latin typeface="华文楷体" panose="02010600040101010101" pitchFamily="2" charset="-122"/>
                <a:ea typeface="华文楷体" panose="02010600040101010101" pitchFamily="2" charset="-122"/>
              </a:rPr>
              <a:t>3</a:t>
            </a:r>
            <a:r>
              <a:rPr lang="zh-CN" altLang="en-US" sz="2100" dirty="0">
                <a:solidFill>
                  <a:srgbClr val="00194C"/>
                </a:solidFill>
                <a:latin typeface="华文楷体" panose="02010600040101010101" pitchFamily="2" charset="-122"/>
                <a:ea typeface="华文楷体" panose="02010600040101010101" pitchFamily="2" charset="-122"/>
              </a:rPr>
              <a:t>、在查找表中插入一个数据元素。</a:t>
            </a:r>
            <a:r>
              <a:rPr lang="en-US" altLang="zh-CN" sz="2100" dirty="0">
                <a:solidFill>
                  <a:srgbClr val="00194C"/>
                </a:solidFill>
                <a:latin typeface="华文楷体" panose="02010600040101010101" pitchFamily="2" charset="-122"/>
                <a:ea typeface="华文楷体" panose="02010600040101010101" pitchFamily="2" charset="-122"/>
              </a:rPr>
              <a:t>4</a:t>
            </a:r>
            <a:r>
              <a:rPr lang="zh-CN" altLang="en-US" sz="2100" dirty="0">
                <a:solidFill>
                  <a:srgbClr val="00194C"/>
                </a:solidFill>
                <a:latin typeface="华文楷体" panose="02010600040101010101" pitchFamily="2" charset="-122"/>
                <a:ea typeface="华文楷体" panose="02010600040101010101" pitchFamily="2" charset="-122"/>
              </a:rPr>
              <a:t>、从查找表中删除某个数据元素。</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zh-CN" altLang="en-US" dirty="0" smtClean="0"/>
              <a:t>查找</a:t>
            </a:r>
            <a:endParaRPr lang="zh-CN" alt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30000"/>
              </a:spcBef>
            </a:pPr>
            <a:r>
              <a:rPr lang="zh-CN" altLang="en-US" sz="2100" dirty="0">
                <a:solidFill>
                  <a:srgbClr val="00194C"/>
                </a:solidFill>
                <a:latin typeface="华文楷体" panose="02010600040101010101" pitchFamily="2" charset="-122"/>
                <a:ea typeface="华文楷体" panose="02010600040101010101" pitchFamily="2" charset="-122"/>
              </a:rPr>
              <a:t>查找的基本方法：即</a:t>
            </a:r>
            <a:r>
              <a:rPr lang="zh-CN" altLang="en-US" sz="2100" dirty="0">
                <a:solidFill>
                  <a:srgbClr val="FF0000"/>
                </a:solidFill>
                <a:latin typeface="华文楷体" panose="02010600040101010101" pitchFamily="2" charset="-122"/>
                <a:ea typeface="华文楷体" panose="02010600040101010101" pitchFamily="2" charset="-122"/>
              </a:rPr>
              <a:t>比较式查找法</a:t>
            </a:r>
            <a:r>
              <a:rPr lang="zh-CN" altLang="en-US" sz="2100" dirty="0">
                <a:solidFill>
                  <a:srgbClr val="00194C"/>
                </a:solidFill>
                <a:latin typeface="华文楷体" panose="02010600040101010101" pitchFamily="2" charset="-122"/>
                <a:ea typeface="华文楷体" panose="02010600040101010101" pitchFamily="2" charset="-122"/>
              </a:rPr>
              <a:t>和</a:t>
            </a:r>
            <a:r>
              <a:rPr lang="zh-CN" altLang="en-US" sz="2100" dirty="0">
                <a:solidFill>
                  <a:srgbClr val="FF0000"/>
                </a:solidFill>
                <a:latin typeface="华文楷体" panose="02010600040101010101" pitchFamily="2" charset="-122"/>
                <a:ea typeface="华文楷体" panose="02010600040101010101" pitchFamily="2" charset="-122"/>
              </a:rPr>
              <a:t>计算式查找法</a:t>
            </a:r>
            <a:r>
              <a:rPr lang="zh-CN" altLang="en-US"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marL="342900" indent="-342900" eaLnBrk="1" hangingPunct="1">
              <a:lnSpc>
                <a:spcPct val="130000"/>
              </a:lnSpc>
              <a:spcBef>
                <a:spcPct val="30000"/>
              </a:spcBef>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比较式查找法：分为静态查找表和动态查找表</a:t>
            </a:r>
            <a:endParaRPr lang="en-US" altLang="zh-CN" sz="2100" dirty="0">
              <a:solidFill>
                <a:srgbClr val="00194C"/>
              </a:solidFill>
              <a:latin typeface="华文楷体" panose="02010600040101010101" pitchFamily="2" charset="-122"/>
              <a:ea typeface="华文楷体" panose="02010600040101010101" pitchFamily="2" charset="-122"/>
            </a:endParaRPr>
          </a:p>
          <a:p>
            <a:pPr marL="478155" lvl="1" indent="-342900">
              <a:lnSpc>
                <a:spcPct val="130000"/>
              </a:lnSpc>
              <a:spcBef>
                <a:spcPct val="30000"/>
              </a:spcBef>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静态</a:t>
            </a:r>
            <a:r>
              <a:rPr lang="zh-CN" altLang="en-US" sz="2100" dirty="0">
                <a:solidFill>
                  <a:srgbClr val="00194C"/>
                </a:solidFill>
                <a:latin typeface="华文楷体" panose="02010600040101010101" pitchFamily="2" charset="-122"/>
                <a:ea typeface="华文楷体" panose="02010600040101010101" pitchFamily="2" charset="-122"/>
              </a:rPr>
              <a:t>查找表：只作前两种操作</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478155" lvl="1" indent="-342900">
              <a:lnSpc>
                <a:spcPct val="130000"/>
              </a:lnSpc>
              <a:spcBef>
                <a:spcPct val="30000"/>
              </a:spcBef>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动态</a:t>
            </a:r>
            <a:r>
              <a:rPr lang="zh-CN" altLang="en-US" sz="2100" dirty="0">
                <a:solidFill>
                  <a:srgbClr val="00194C"/>
                </a:solidFill>
                <a:latin typeface="华文楷体" panose="02010600040101010101" pitchFamily="2" charset="-122"/>
                <a:ea typeface="华文楷体" panose="02010600040101010101" pitchFamily="2" charset="-122"/>
              </a:rPr>
              <a:t>查找表：查找过程中同时插入不存在或删除已存在</a:t>
            </a:r>
            <a:r>
              <a:rPr lang="zh-CN" altLang="en-US" sz="2100" dirty="0" smtClean="0">
                <a:solidFill>
                  <a:srgbClr val="00194C"/>
                </a:solidFill>
                <a:latin typeface="华文楷体" panose="02010600040101010101" pitchFamily="2" charset="-122"/>
                <a:ea typeface="华文楷体" panose="02010600040101010101" pitchFamily="2" charset="-122"/>
              </a:rPr>
              <a:t>的元素。</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342900" indent="-342900" eaLnBrk="1" hangingPunct="1">
              <a:lnSpc>
                <a:spcPct val="130000"/>
              </a:lnSpc>
              <a:spcBef>
                <a:spcPct val="30000"/>
              </a:spcBef>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计算式查找法：</a:t>
            </a:r>
            <a:r>
              <a:rPr lang="en-US" altLang="zh-CN" sz="2100" dirty="0">
                <a:solidFill>
                  <a:srgbClr val="00194C"/>
                </a:solidFill>
                <a:latin typeface="华文楷体" panose="02010600040101010101" pitchFamily="2" charset="-122"/>
                <a:ea typeface="华文楷体" panose="02010600040101010101" pitchFamily="2" charset="-122"/>
              </a:rPr>
              <a:t>HASH</a:t>
            </a:r>
            <a:r>
              <a:rPr lang="zh-CN" altLang="en-US" sz="2100" dirty="0">
                <a:solidFill>
                  <a:srgbClr val="00194C"/>
                </a:solidFill>
                <a:latin typeface="华文楷体" panose="02010600040101010101" pitchFamily="2" charset="-122"/>
                <a:ea typeface="华文楷体" panose="02010600040101010101" pitchFamily="2" charset="-122"/>
              </a:rPr>
              <a:t>（哈希）查找法。 </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30000"/>
              </a:spcBef>
            </a:pP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zh-CN" altLang="en-US" dirty="0" smtClean="0"/>
              <a:t>查找</a:t>
            </a:r>
            <a:endParaRPr lang="zh-CN" alt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dirty="0" smtClean="0">
                <a:solidFill>
                  <a:srgbClr val="FF0000"/>
                </a:solidFill>
              </a:rPr>
              <a:t>    平均</a:t>
            </a:r>
            <a:r>
              <a:rPr lang="zh-CN" altLang="en-US" dirty="0">
                <a:solidFill>
                  <a:srgbClr val="FF0000"/>
                </a:solidFill>
              </a:rPr>
              <a:t>查找长度</a:t>
            </a:r>
            <a:r>
              <a:rPr lang="zh-CN" altLang="en-US" dirty="0"/>
              <a:t>：为确定数据元素在列表中的位置，需和给定值进行比较的关键字个数的期望值，称为查找算法在查找成功时的平均查找长度。对于长度为</a:t>
            </a:r>
            <a:r>
              <a:rPr lang="en-US" altLang="zh-CN" dirty="0"/>
              <a:t>n</a:t>
            </a:r>
            <a:r>
              <a:rPr lang="zh-CN" altLang="en-US" dirty="0"/>
              <a:t>的列表，查找成功时的平均查找长度为</a:t>
            </a:r>
            <a:r>
              <a:rPr lang="zh-CN" altLang="en-US" dirty="0" smtClean="0"/>
              <a:t>：</a:t>
            </a:r>
            <a:endParaRPr lang="en-US" altLang="zh-CN" dirty="0" smtClean="0"/>
          </a:p>
          <a:p>
            <a:pPr marL="0" lvl="2"/>
            <a:endParaRPr lang="en-US" altLang="zh-CN" dirty="0"/>
          </a:p>
          <a:p>
            <a:pPr marL="0" lvl="2"/>
            <a:endParaRPr lang="en-US" altLang="zh-CN" dirty="0" smtClean="0"/>
          </a:p>
          <a:p>
            <a:pPr marL="0" lvl="2"/>
            <a:r>
              <a:rPr lang="en-US" altLang="zh-CN" dirty="0" smtClean="0"/>
              <a:t>P</a:t>
            </a:r>
            <a:r>
              <a:rPr lang="en-US" altLang="zh-CN" baseline="-25000" dirty="0" smtClean="0"/>
              <a:t>i</a:t>
            </a:r>
            <a:r>
              <a:rPr lang="zh-CN" altLang="en-US" dirty="0" smtClean="0"/>
              <a:t>：查找</a:t>
            </a:r>
            <a:r>
              <a:rPr lang="zh-CN" altLang="en-US" dirty="0"/>
              <a:t>列表中第</a:t>
            </a:r>
            <a:r>
              <a:rPr lang="en-US" altLang="zh-CN" dirty="0" err="1"/>
              <a:t>i</a:t>
            </a:r>
            <a:r>
              <a:rPr lang="zh-CN" altLang="en-US" dirty="0"/>
              <a:t>个数据元素的</a:t>
            </a:r>
            <a:r>
              <a:rPr lang="zh-CN" altLang="en-US" dirty="0" smtClean="0"/>
              <a:t>概率。</a:t>
            </a:r>
            <a:endParaRPr lang="en-US" altLang="zh-CN" dirty="0" smtClean="0"/>
          </a:p>
          <a:p>
            <a:pPr marL="0" lvl="2"/>
            <a:r>
              <a:rPr lang="en-US" altLang="zh-CN" dirty="0" smtClean="0"/>
              <a:t>C</a:t>
            </a:r>
            <a:r>
              <a:rPr lang="en-US" altLang="zh-CN" baseline="-25000" dirty="0" smtClean="0"/>
              <a:t>i</a:t>
            </a:r>
            <a:r>
              <a:rPr lang="zh-CN" altLang="en-US" dirty="0" smtClean="0"/>
              <a:t>：找到</a:t>
            </a:r>
            <a:r>
              <a:rPr lang="zh-CN" altLang="en-US" dirty="0"/>
              <a:t>列表中第</a:t>
            </a:r>
            <a:r>
              <a:rPr lang="en-US" altLang="zh-CN" dirty="0" err="1"/>
              <a:t>i</a:t>
            </a:r>
            <a:r>
              <a:rPr lang="zh-CN" altLang="en-US" dirty="0"/>
              <a:t>个数据元素时，已经进行过的关键字比较</a:t>
            </a:r>
            <a:r>
              <a:rPr lang="zh-CN" altLang="en-US" dirty="0" smtClean="0"/>
              <a:t>次数。</a:t>
            </a:r>
            <a:endParaRPr lang="en-US" altLang="zh-CN" dirty="0" smtClean="0"/>
          </a:p>
          <a:p>
            <a:pPr marL="0" lvl="2"/>
            <a:r>
              <a:rPr lang="en-US" altLang="zh-CN" dirty="0"/>
              <a:t> </a:t>
            </a:r>
            <a:r>
              <a:rPr lang="en-US" altLang="zh-CN" dirty="0" smtClean="0"/>
              <a:t>   </a:t>
            </a:r>
            <a:r>
              <a:rPr lang="zh-CN" altLang="en-US" dirty="0" smtClean="0"/>
              <a:t>由于</a:t>
            </a:r>
            <a:r>
              <a:rPr lang="zh-CN" altLang="en-US" dirty="0"/>
              <a:t>查找算法的基本运算是关键字之间的比较操作，所以可用平均查找长度来衡量查找算法的性能。 </a:t>
            </a:r>
            <a:endParaRPr lang="en-US" altLang="zh-CN" dirty="0"/>
          </a:p>
        </p:txBody>
      </p:sp>
      <p:sp>
        <p:nvSpPr>
          <p:cNvPr id="3" name="标题 2"/>
          <p:cNvSpPr>
            <a:spLocks noGrp="1"/>
          </p:cNvSpPr>
          <p:nvPr>
            <p:ph type="title"/>
          </p:nvPr>
        </p:nvSpPr>
        <p:spPr>
          <a:xfrm>
            <a:off x="746301" y="171219"/>
            <a:ext cx="4816300" cy="248285"/>
          </a:xfrm>
        </p:spPr>
        <p:txBody>
          <a:bodyPr/>
          <a:lstStyle/>
          <a:p>
            <a:r>
              <a:rPr lang="zh-CN" altLang="en-US" dirty="0" smtClean="0"/>
              <a:t>查找</a:t>
            </a:r>
            <a:endParaRPr lang="zh-CN" altLang="en-US" dirty="0"/>
          </a:p>
        </p:txBody>
      </p:sp>
      <p:graphicFrame>
        <p:nvGraphicFramePr>
          <p:cNvPr id="4" name="Object 5"/>
          <p:cNvGraphicFramePr>
            <a:graphicFrameLocks noChangeAspect="1"/>
          </p:cNvGraphicFramePr>
          <p:nvPr/>
        </p:nvGraphicFramePr>
        <p:xfrm>
          <a:off x="1383631" y="1852863"/>
          <a:ext cx="4972050" cy="885825"/>
        </p:xfrm>
        <a:graphic>
          <a:graphicData uri="http://schemas.openxmlformats.org/presentationml/2006/ole">
            <mc:AlternateContent xmlns:mc="http://schemas.openxmlformats.org/markup-compatibility/2006">
              <mc:Choice xmlns:v="urn:schemas-microsoft-com:vml" Requires="v">
                <p:oleObj spid="_x0000_s36918" name="Equation" r:id="rId1" imgW="2425700" imgH="431800" progId="Equation.3">
                  <p:embed/>
                </p:oleObj>
              </mc:Choice>
              <mc:Fallback>
                <p:oleObj name="Equation" r:id="rId1" imgW="2425700" imgH="4318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83631" y="1852863"/>
                        <a:ext cx="4972050" cy="885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40000"/>
              </a:lnSpc>
              <a:spcBef>
                <a:spcPct val="50000"/>
              </a:spcBef>
            </a:pPr>
            <a:r>
              <a:rPr lang="en-US" altLang="zh-CN" dirty="0" smtClean="0"/>
              <a:t>8.1.1  </a:t>
            </a:r>
            <a:r>
              <a:rPr lang="zh-CN" altLang="en-US" dirty="0"/>
              <a:t>顺序表的</a:t>
            </a:r>
            <a:r>
              <a:rPr lang="zh-CN" altLang="en-US" dirty="0" smtClean="0"/>
              <a:t>查找</a:t>
            </a:r>
            <a:endParaRPr lang="en-US" altLang="zh-CN" dirty="0" smtClean="0"/>
          </a:p>
          <a:p>
            <a:pPr marL="0" lvl="2">
              <a:lnSpc>
                <a:spcPct val="140000"/>
              </a:lnSpc>
              <a:spcBef>
                <a:spcPct val="50000"/>
              </a:spcBef>
            </a:pPr>
            <a:r>
              <a:rPr lang="en-US" altLang="zh-CN" dirty="0"/>
              <a:t> </a:t>
            </a:r>
            <a:r>
              <a:rPr lang="en-US" altLang="zh-CN" dirty="0" smtClean="0"/>
              <a:t>   </a:t>
            </a:r>
            <a:r>
              <a:rPr lang="zh-CN" altLang="en-US" dirty="0" smtClean="0"/>
              <a:t>顺序</a:t>
            </a:r>
            <a:r>
              <a:rPr lang="zh-CN" altLang="en-US" dirty="0"/>
              <a:t>查找法的特点是，</a:t>
            </a:r>
            <a:r>
              <a:rPr lang="zh-CN" altLang="en-US" dirty="0">
                <a:solidFill>
                  <a:srgbClr val="FF0000"/>
                </a:solidFill>
              </a:rPr>
              <a:t>用所给关键字与查找表中各元素的关键字逐个比较</a:t>
            </a:r>
            <a:r>
              <a:rPr lang="zh-CN" altLang="en-US" dirty="0"/>
              <a:t>，直到成功或失败。存储结构通常为顺序结构，也可为链式结构。 </a:t>
            </a:r>
            <a:r>
              <a:rPr lang="zh-CN" altLang="en-US" dirty="0" smtClean="0"/>
              <a:t>顺序</a:t>
            </a:r>
            <a:r>
              <a:rPr lang="zh-CN" altLang="en-US" dirty="0"/>
              <a:t>结构有关数据类型的定义： </a:t>
            </a:r>
            <a:endParaRPr lang="en-US" altLang="zh-CN" dirty="0"/>
          </a:p>
          <a:p>
            <a:pPr eaLnBrk="1" hangingPunct="1">
              <a:lnSpc>
                <a:spcPct val="150000"/>
              </a:lnSpc>
              <a:spcBef>
                <a:spcPct val="0"/>
              </a:spcBef>
            </a:pPr>
            <a:r>
              <a:rPr lang="en-US" altLang="zh-CN" sz="2100" dirty="0" err="1">
                <a:solidFill>
                  <a:srgbClr val="00194C"/>
                </a:solidFill>
                <a:latin typeface="华文楷体" panose="02010600040101010101" pitchFamily="2" charset="-122"/>
                <a:ea typeface="华文楷体" panose="02010600040101010101" pitchFamily="2" charset="-122"/>
              </a:rPr>
              <a:t>typedef</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struct</a:t>
            </a:r>
            <a:r>
              <a:rPr lang="en-US" altLang="zh-CN"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ElemType</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elem</a:t>
            </a:r>
            <a:r>
              <a:rPr lang="en-US" altLang="zh-CN" sz="2100" dirty="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int</a:t>
            </a:r>
            <a:r>
              <a:rPr lang="en-US" altLang="zh-CN" sz="2100" dirty="0">
                <a:solidFill>
                  <a:srgbClr val="00194C"/>
                </a:solidFill>
                <a:latin typeface="华文楷体" panose="02010600040101010101" pitchFamily="2" charset="-122"/>
                <a:ea typeface="华文楷体" panose="02010600040101010101" pitchFamily="2" charset="-122"/>
              </a:rPr>
              <a:t> length;</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a:t>
            </a:r>
            <a:r>
              <a:rPr lang="en-US" altLang="zh-CN" sz="2100" dirty="0" err="1">
                <a:solidFill>
                  <a:srgbClr val="00194C"/>
                </a:solidFill>
                <a:latin typeface="华文楷体" panose="02010600040101010101" pitchFamily="2" charset="-122"/>
                <a:ea typeface="华文楷体" panose="02010600040101010101" pitchFamily="2" charset="-122"/>
              </a:rPr>
              <a:t>SSTable</a:t>
            </a:r>
            <a:r>
              <a:rPr lang="en-US" altLang="zh-CN" sz="2100" dirty="0">
                <a:solidFill>
                  <a:srgbClr val="00194C"/>
                </a:solidFill>
                <a:latin typeface="华文楷体" panose="02010600040101010101" pitchFamily="2" charset="-122"/>
                <a:ea typeface="华文楷体" panose="02010600040101010101" pitchFamily="2" charset="-122"/>
              </a:rPr>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ts val="2800"/>
              </a:lnSpc>
              <a:spcBef>
                <a:spcPts val="0"/>
              </a:spcBef>
              <a:spcAft>
                <a:spcPts val="0"/>
              </a:spcAft>
            </a:pPr>
            <a:r>
              <a:rPr lang="zh-CN" altLang="en-US" sz="2000" dirty="0" smtClean="0">
                <a:solidFill>
                  <a:srgbClr val="00194C"/>
                </a:solidFill>
                <a:latin typeface="华文楷体" panose="02010600040101010101" pitchFamily="2" charset="-122"/>
                <a:ea typeface="华文楷体" panose="02010600040101010101" pitchFamily="2" charset="-122"/>
              </a:rPr>
              <a:t>查找</a:t>
            </a:r>
            <a:r>
              <a:rPr lang="zh-CN" altLang="en-US" sz="2000" dirty="0">
                <a:solidFill>
                  <a:srgbClr val="00194C"/>
                </a:solidFill>
                <a:latin typeface="华文楷体" panose="02010600040101010101" pitchFamily="2" charset="-122"/>
                <a:ea typeface="华文楷体" panose="02010600040101010101" pitchFamily="2" charset="-122"/>
              </a:rPr>
              <a:t>过程：</a:t>
            </a:r>
            <a:r>
              <a:rPr lang="zh-CN" altLang="en-US" sz="2000" dirty="0">
                <a:solidFill>
                  <a:srgbClr val="FF0000"/>
                </a:solidFill>
                <a:latin typeface="华文楷体" panose="02010600040101010101" pitchFamily="2" charset="-122"/>
                <a:ea typeface="华文楷体" panose="02010600040101010101" pitchFamily="2" charset="-122"/>
              </a:rPr>
              <a:t>从最后一个记录开始逐个</a:t>
            </a:r>
            <a:r>
              <a:rPr lang="zh-CN" altLang="en-US" sz="2000" dirty="0" smtClean="0">
                <a:solidFill>
                  <a:srgbClr val="FF0000"/>
                </a:solidFill>
                <a:latin typeface="华文楷体" panose="02010600040101010101" pitchFamily="2" charset="-122"/>
                <a:ea typeface="华文楷体" panose="02010600040101010101" pitchFamily="2" charset="-122"/>
              </a:rPr>
              <a:t>比较</a:t>
            </a:r>
            <a:endParaRPr lang="zh-CN" altLang="en-US"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err="1">
                <a:solidFill>
                  <a:srgbClr val="00194C"/>
                </a:solidFill>
                <a:latin typeface="华文楷体" panose="02010600040101010101" pitchFamily="2" charset="-122"/>
                <a:ea typeface="华文楷体" panose="02010600040101010101" pitchFamily="2" charset="-122"/>
              </a:rPr>
              <a:t>int</a:t>
            </a: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err="1">
                <a:solidFill>
                  <a:srgbClr val="00194C"/>
                </a:solidFill>
                <a:latin typeface="华文楷体" panose="02010600040101010101" pitchFamily="2" charset="-122"/>
                <a:ea typeface="华文楷体" panose="02010600040101010101" pitchFamily="2" charset="-122"/>
              </a:rPr>
              <a:t>Search_Seq</a:t>
            </a:r>
            <a:r>
              <a:rPr lang="en-US" altLang="zh-CN" sz="2000" dirty="0">
                <a:solidFill>
                  <a:srgbClr val="00194C"/>
                </a:solidFill>
                <a:latin typeface="华文楷体" panose="02010600040101010101" pitchFamily="2" charset="-122"/>
                <a:ea typeface="华文楷体" panose="02010600040101010101" pitchFamily="2" charset="-122"/>
              </a:rPr>
              <a:t>(</a:t>
            </a:r>
            <a:r>
              <a:rPr lang="en-US" altLang="zh-CN" sz="2000" dirty="0" err="1">
                <a:solidFill>
                  <a:srgbClr val="00194C"/>
                </a:solidFill>
                <a:latin typeface="华文楷体" panose="02010600040101010101" pitchFamily="2" charset="-122"/>
                <a:ea typeface="华文楷体" panose="02010600040101010101" pitchFamily="2" charset="-122"/>
              </a:rPr>
              <a:t>SSTable</a:t>
            </a: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err="1">
                <a:solidFill>
                  <a:srgbClr val="00194C"/>
                </a:solidFill>
                <a:latin typeface="华文楷体" panose="02010600040101010101" pitchFamily="2" charset="-122"/>
                <a:ea typeface="华文楷体" panose="02010600040101010101" pitchFamily="2" charset="-122"/>
              </a:rPr>
              <a:t>ST,KeyType</a:t>
            </a:r>
            <a:r>
              <a:rPr lang="en-US" altLang="zh-CN" sz="2000" dirty="0">
                <a:solidFill>
                  <a:srgbClr val="00194C"/>
                </a:solidFill>
                <a:latin typeface="华文楷体" panose="02010600040101010101" pitchFamily="2" charset="-122"/>
                <a:ea typeface="华文楷体" panose="02010600040101010101" pitchFamily="2" charset="-122"/>
              </a:rPr>
              <a:t> key</a:t>
            </a:r>
            <a:r>
              <a:rPr lang="en-US" altLang="zh-CN" sz="2000" dirty="0" smtClean="0">
                <a:solidFill>
                  <a:srgbClr val="00194C"/>
                </a:solidFill>
                <a:latin typeface="华文楷体" panose="02010600040101010101" pitchFamily="2" charset="-122"/>
                <a:ea typeface="华文楷体" panose="02010600040101010101" pitchFamily="2" charset="-122"/>
              </a:rPr>
              <a:t>)</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a:solidFill>
                  <a:srgbClr val="00B050"/>
                </a:solidFill>
                <a:latin typeface="华文楷体" panose="02010600040101010101" pitchFamily="2" charset="-122"/>
                <a:ea typeface="华文楷体" panose="02010600040101010101" pitchFamily="2" charset="-122"/>
              </a:rPr>
              <a:t>/*</a:t>
            </a:r>
            <a:r>
              <a:rPr lang="zh-CN" altLang="en-US" sz="2000" dirty="0">
                <a:solidFill>
                  <a:srgbClr val="00B050"/>
                </a:solidFill>
                <a:latin typeface="华文楷体" panose="02010600040101010101" pitchFamily="2" charset="-122"/>
                <a:ea typeface="华文楷体" panose="02010600040101010101" pitchFamily="2" charset="-122"/>
              </a:rPr>
              <a:t>在顺序表</a:t>
            </a:r>
            <a:r>
              <a:rPr lang="en-US" altLang="zh-CN" sz="2000" dirty="0">
                <a:solidFill>
                  <a:srgbClr val="00B050"/>
                </a:solidFill>
                <a:latin typeface="华文楷体" panose="02010600040101010101" pitchFamily="2" charset="-122"/>
                <a:ea typeface="华文楷体" panose="02010600040101010101" pitchFamily="2" charset="-122"/>
              </a:rPr>
              <a:t>ST</a:t>
            </a:r>
            <a:r>
              <a:rPr lang="zh-CN" altLang="en-US" sz="2000" dirty="0">
                <a:solidFill>
                  <a:srgbClr val="00B050"/>
                </a:solidFill>
                <a:latin typeface="华文楷体" panose="02010600040101010101" pitchFamily="2" charset="-122"/>
                <a:ea typeface="华文楷体" panose="02010600040101010101" pitchFamily="2" charset="-122"/>
              </a:rPr>
              <a:t>中顺序查找其关键字等于</a:t>
            </a:r>
            <a:r>
              <a:rPr lang="en-US" altLang="zh-CN" sz="2000" dirty="0">
                <a:solidFill>
                  <a:srgbClr val="00B050"/>
                </a:solidFill>
                <a:latin typeface="华文楷体" panose="02010600040101010101" pitchFamily="2" charset="-122"/>
                <a:ea typeface="华文楷体" panose="02010600040101010101" pitchFamily="2" charset="-122"/>
              </a:rPr>
              <a:t>key</a:t>
            </a:r>
            <a:r>
              <a:rPr lang="zh-CN" altLang="en-US" sz="2000" dirty="0">
                <a:solidFill>
                  <a:srgbClr val="00B050"/>
                </a:solidFill>
                <a:latin typeface="华文楷体" panose="02010600040101010101" pitchFamily="2" charset="-122"/>
                <a:ea typeface="华文楷体" panose="02010600040101010101" pitchFamily="2" charset="-122"/>
              </a:rPr>
              <a:t>的元素，若找到，则函数值为该元素在表中的位置，否则为</a:t>
            </a:r>
            <a:r>
              <a:rPr lang="en-US" altLang="zh-CN" sz="2000" dirty="0">
                <a:solidFill>
                  <a:srgbClr val="00B050"/>
                </a:solidFill>
                <a:latin typeface="华文楷体" panose="02010600040101010101" pitchFamily="2" charset="-122"/>
                <a:ea typeface="华文楷体" panose="02010600040101010101" pitchFamily="2" charset="-122"/>
              </a:rPr>
              <a:t>0</a:t>
            </a:r>
            <a:r>
              <a:rPr lang="en-US" altLang="zh-CN" sz="2000" dirty="0" smtClean="0">
                <a:solidFill>
                  <a:srgbClr val="00B050"/>
                </a:solidFill>
                <a:latin typeface="华文楷体" panose="02010600040101010101" pitchFamily="2" charset="-122"/>
                <a:ea typeface="华文楷体" panose="02010600040101010101" pitchFamily="2" charset="-122"/>
              </a:rPr>
              <a:t>*/</a:t>
            </a:r>
            <a:endParaRPr lang="en-US" altLang="zh-CN" sz="2000" dirty="0">
              <a:solidFill>
                <a:srgbClr val="00B050"/>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a:solidFill>
                  <a:srgbClr val="00194C"/>
                </a:solidFill>
                <a:latin typeface="华文楷体" panose="02010600040101010101" pitchFamily="2" charset="-122"/>
                <a:ea typeface="华文楷体" panose="02010600040101010101" pitchFamily="2" charset="-122"/>
              </a:rPr>
              <a:t>{ </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err="1">
                <a:solidFill>
                  <a:srgbClr val="00194C"/>
                </a:solidFill>
                <a:latin typeface="华文楷体" panose="02010600040101010101" pitchFamily="2" charset="-122"/>
                <a:ea typeface="华文楷体" panose="02010600040101010101" pitchFamily="2" charset="-122"/>
              </a:rPr>
              <a:t>ST.elem</a:t>
            </a:r>
            <a:r>
              <a:rPr lang="en-US" altLang="zh-CN" sz="2000" dirty="0">
                <a:solidFill>
                  <a:srgbClr val="00194C"/>
                </a:solidFill>
                <a:latin typeface="华文楷体" panose="02010600040101010101" pitchFamily="2" charset="-122"/>
                <a:ea typeface="华文楷体" panose="02010600040101010101" pitchFamily="2" charset="-122"/>
              </a:rPr>
              <a:t>[0].key=key;</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a:solidFill>
                  <a:srgbClr val="00194C"/>
                </a:solidFill>
                <a:latin typeface="华文楷体" panose="02010600040101010101" pitchFamily="2" charset="-122"/>
                <a:ea typeface="华文楷体" panose="02010600040101010101" pitchFamily="2" charset="-122"/>
              </a:rPr>
              <a:t>       for(</a:t>
            </a:r>
            <a:r>
              <a:rPr lang="en-US" altLang="zh-CN" sz="2000" dirty="0" err="1">
                <a:solidFill>
                  <a:srgbClr val="00194C"/>
                </a:solidFill>
                <a:latin typeface="华文楷体" panose="02010600040101010101" pitchFamily="2" charset="-122"/>
                <a:ea typeface="华文楷体" panose="02010600040101010101" pitchFamily="2" charset="-122"/>
              </a:rPr>
              <a:t>i</a:t>
            </a:r>
            <a:r>
              <a:rPr lang="en-US" altLang="zh-CN" sz="2000" dirty="0">
                <a:solidFill>
                  <a:srgbClr val="00194C"/>
                </a:solidFill>
                <a:latin typeface="华文楷体" panose="02010600040101010101" pitchFamily="2" charset="-122"/>
                <a:ea typeface="华文楷体" panose="02010600040101010101" pitchFamily="2" charset="-122"/>
              </a:rPr>
              <a:t>=</a:t>
            </a:r>
            <a:r>
              <a:rPr lang="en-US" altLang="zh-CN" sz="2000" dirty="0" err="1">
                <a:solidFill>
                  <a:srgbClr val="00194C"/>
                </a:solidFill>
                <a:latin typeface="华文楷体" panose="02010600040101010101" pitchFamily="2" charset="-122"/>
                <a:ea typeface="华文楷体" panose="02010600040101010101" pitchFamily="2" charset="-122"/>
              </a:rPr>
              <a:t>ST.length</a:t>
            </a:r>
            <a:r>
              <a:rPr lang="en-US" altLang="zh-CN" sz="2000" dirty="0">
                <a:solidFill>
                  <a:srgbClr val="00194C"/>
                </a:solidFill>
                <a:latin typeface="华文楷体" panose="02010600040101010101" pitchFamily="2" charset="-122"/>
                <a:ea typeface="华文楷体" panose="02010600040101010101" pitchFamily="2" charset="-122"/>
              </a:rPr>
              <a:t>; !EQ(</a:t>
            </a:r>
            <a:r>
              <a:rPr lang="en-US" altLang="zh-CN" sz="2000" dirty="0" err="1">
                <a:solidFill>
                  <a:srgbClr val="00194C"/>
                </a:solidFill>
                <a:latin typeface="华文楷体" panose="02010600040101010101" pitchFamily="2" charset="-122"/>
                <a:ea typeface="华文楷体" panose="02010600040101010101" pitchFamily="2" charset="-122"/>
              </a:rPr>
              <a:t>ST.elem</a:t>
            </a:r>
            <a:r>
              <a:rPr lang="en-US" altLang="zh-CN" sz="2000" dirty="0">
                <a:solidFill>
                  <a:srgbClr val="00194C"/>
                </a:solidFill>
                <a:latin typeface="华文楷体" panose="02010600040101010101" pitchFamily="2" charset="-122"/>
                <a:ea typeface="华文楷体" panose="02010600040101010101" pitchFamily="2" charset="-122"/>
              </a:rPr>
              <a:t>[</a:t>
            </a:r>
            <a:r>
              <a:rPr lang="en-US" altLang="zh-CN" sz="2000" dirty="0" err="1">
                <a:solidFill>
                  <a:srgbClr val="00194C"/>
                </a:solidFill>
                <a:latin typeface="华文楷体" panose="02010600040101010101" pitchFamily="2" charset="-122"/>
                <a:ea typeface="华文楷体" panose="02010600040101010101" pitchFamily="2" charset="-122"/>
              </a:rPr>
              <a:t>i</a:t>
            </a:r>
            <a:r>
              <a:rPr lang="en-US" altLang="zh-CN" sz="2000" dirty="0">
                <a:solidFill>
                  <a:srgbClr val="00194C"/>
                </a:solidFill>
                <a:latin typeface="华文楷体" panose="02010600040101010101" pitchFamily="2" charset="-122"/>
                <a:ea typeface="华文楷体" panose="02010600040101010101" pitchFamily="2" charset="-122"/>
              </a:rPr>
              <a:t>].</a:t>
            </a:r>
            <a:r>
              <a:rPr lang="en-US" altLang="zh-CN" sz="2000" dirty="0" err="1">
                <a:solidFill>
                  <a:srgbClr val="00194C"/>
                </a:solidFill>
                <a:latin typeface="华文楷体" panose="02010600040101010101" pitchFamily="2" charset="-122"/>
                <a:ea typeface="华文楷体" panose="02010600040101010101" pitchFamily="2" charset="-122"/>
              </a:rPr>
              <a:t>key,key</a:t>
            </a: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err="1">
                <a:solidFill>
                  <a:srgbClr val="00194C"/>
                </a:solidFill>
                <a:latin typeface="华文楷体" panose="02010600040101010101" pitchFamily="2" charset="-122"/>
                <a:ea typeface="华文楷体" panose="02010600040101010101" pitchFamily="2" charset="-122"/>
              </a:rPr>
              <a:t>i</a:t>
            </a:r>
            <a:r>
              <a:rPr lang="en-US" altLang="zh-CN" sz="2000" dirty="0">
                <a:solidFill>
                  <a:srgbClr val="00194C"/>
                </a:solidFill>
                <a:latin typeface="华文楷体" panose="02010600040101010101" pitchFamily="2" charset="-122"/>
                <a:ea typeface="华文楷体" panose="02010600040101010101" pitchFamily="2" charset="-122"/>
              </a:rPr>
              <a:t>);  </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a:solidFill>
                  <a:srgbClr val="00194C"/>
                </a:solidFill>
                <a:latin typeface="华文楷体" panose="02010600040101010101" pitchFamily="2" charset="-122"/>
                <a:ea typeface="华文楷体" panose="02010600040101010101" pitchFamily="2" charset="-122"/>
              </a:rPr>
              <a:t>return  </a:t>
            </a:r>
            <a:r>
              <a:rPr lang="en-US" altLang="zh-CN" sz="2000" dirty="0" err="1">
                <a:solidFill>
                  <a:srgbClr val="00194C"/>
                </a:solidFill>
                <a:latin typeface="华文楷体" panose="02010600040101010101" pitchFamily="2" charset="-122"/>
                <a:ea typeface="华文楷体" panose="02010600040101010101" pitchFamily="2" charset="-122"/>
              </a:rPr>
              <a:t>i</a:t>
            </a:r>
            <a:r>
              <a:rPr lang="en-US" altLang="zh-CN" sz="2000" dirty="0">
                <a:solidFill>
                  <a:srgbClr val="00194C"/>
                </a:solidFill>
                <a:latin typeface="华文楷体" panose="02010600040101010101" pitchFamily="2" charset="-122"/>
                <a:ea typeface="华文楷体" panose="02010600040101010101" pitchFamily="2" charset="-122"/>
              </a:rPr>
              <a:t>; </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smtClean="0">
                <a:solidFill>
                  <a:srgbClr val="00194C"/>
                </a:solidFill>
                <a:latin typeface="华文楷体" panose="02010600040101010101" pitchFamily="2" charset="-122"/>
                <a:ea typeface="华文楷体" panose="02010600040101010101" pitchFamily="2" charset="-122"/>
              </a:rPr>
              <a:t>}</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pPr>
            <a:r>
              <a:rPr lang="en-US" altLang="zh-CN" sz="2000" dirty="0" err="1">
                <a:solidFill>
                  <a:srgbClr val="FF0000"/>
                </a:solidFill>
                <a:latin typeface="华文楷体" panose="02010600040101010101" pitchFamily="2" charset="-122"/>
                <a:ea typeface="华文楷体" panose="02010600040101010101" pitchFamily="2" charset="-122"/>
              </a:rPr>
              <a:t>ST.elem</a:t>
            </a:r>
            <a:r>
              <a:rPr lang="en-US" altLang="zh-CN" sz="2000" dirty="0">
                <a:solidFill>
                  <a:srgbClr val="FF0000"/>
                </a:solidFill>
                <a:latin typeface="华文楷体" panose="02010600040101010101" pitchFamily="2" charset="-122"/>
                <a:ea typeface="华文楷体" panose="02010600040101010101" pitchFamily="2" charset="-122"/>
              </a:rPr>
              <a:t>[0]</a:t>
            </a:r>
            <a:r>
              <a:rPr lang="zh-CN" altLang="en-US" sz="2000" dirty="0">
                <a:solidFill>
                  <a:srgbClr val="FF0000"/>
                </a:solidFill>
                <a:latin typeface="华文楷体" panose="02010600040101010101" pitchFamily="2" charset="-122"/>
                <a:ea typeface="华文楷体" panose="02010600040101010101" pitchFamily="2" charset="-122"/>
              </a:rPr>
              <a:t>起监视哨</a:t>
            </a:r>
            <a:r>
              <a:rPr lang="zh-CN" altLang="en-US" sz="2000" dirty="0">
                <a:solidFill>
                  <a:srgbClr val="00194C"/>
                </a:solidFill>
                <a:latin typeface="华文楷体" panose="02010600040101010101" pitchFamily="2" charset="-122"/>
                <a:ea typeface="华文楷体" panose="02010600040101010101" pitchFamily="2" charset="-122"/>
              </a:rPr>
              <a:t>。当</a:t>
            </a:r>
            <a:r>
              <a:rPr lang="en-US" altLang="zh-CN" sz="2000" dirty="0" err="1">
                <a:solidFill>
                  <a:srgbClr val="00194C"/>
                </a:solidFill>
                <a:latin typeface="华文楷体" panose="02010600040101010101" pitchFamily="2" charset="-122"/>
                <a:ea typeface="华文楷体" panose="02010600040101010101" pitchFamily="2" charset="-122"/>
              </a:rPr>
              <a:t>ST.length</a:t>
            </a:r>
            <a:r>
              <a:rPr lang="en-US" altLang="zh-CN" sz="2000" dirty="0">
                <a:solidFill>
                  <a:srgbClr val="00194C"/>
                </a:solidFill>
                <a:latin typeface="华文楷体" panose="02010600040101010101" pitchFamily="2" charset="-122"/>
                <a:ea typeface="华文楷体" panose="02010600040101010101" pitchFamily="2" charset="-122"/>
              </a:rPr>
              <a:t>&gt;=1000</a:t>
            </a:r>
            <a:r>
              <a:rPr lang="zh-CN" altLang="en-US" sz="2000" dirty="0">
                <a:solidFill>
                  <a:srgbClr val="00194C"/>
                </a:solidFill>
                <a:latin typeface="华文楷体" panose="02010600040101010101" pitchFamily="2" charset="-122"/>
                <a:ea typeface="华文楷体" panose="02010600040101010101" pitchFamily="2" charset="-122"/>
              </a:rPr>
              <a:t>时，平均时间减少一半</a:t>
            </a:r>
            <a:r>
              <a:rPr lang="zh-CN" altLang="en-US" sz="2000" dirty="0" smtClean="0">
                <a:solidFill>
                  <a:srgbClr val="00194C"/>
                </a:solidFill>
                <a:latin typeface="华文楷体" panose="02010600040101010101" pitchFamily="2" charset="-122"/>
                <a:ea typeface="华文楷体" panose="02010600040101010101" pitchFamily="2" charset="-122"/>
              </a:rPr>
              <a:t>。</a:t>
            </a:r>
            <a:endParaRPr lang="zh-CN" altLang="en-US" sz="20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ts val="3000"/>
              </a:lnSpc>
            </a:pPr>
            <a:r>
              <a:rPr lang="zh-CN" altLang="en-US" sz="2000" dirty="0" smtClean="0"/>
              <a:t>    假设</a:t>
            </a:r>
            <a:r>
              <a:rPr lang="zh-CN" altLang="en-US" sz="2000" dirty="0"/>
              <a:t>表长度为</a:t>
            </a:r>
            <a:r>
              <a:rPr lang="en-US" altLang="zh-CN" sz="2000" dirty="0"/>
              <a:t>n</a:t>
            </a:r>
            <a:r>
              <a:rPr lang="zh-CN" altLang="en-US" sz="2000" dirty="0"/>
              <a:t>，那么查找第</a:t>
            </a:r>
            <a:r>
              <a:rPr lang="en-US" altLang="zh-CN" sz="2000" dirty="0" err="1"/>
              <a:t>i</a:t>
            </a:r>
            <a:r>
              <a:rPr lang="zh-CN" altLang="en-US" sz="2000" dirty="0"/>
              <a:t>个数据元素时需进行</a:t>
            </a:r>
            <a:r>
              <a:rPr lang="en-US" altLang="zh-CN" sz="2000" dirty="0"/>
              <a:t>n-i+1</a:t>
            </a:r>
            <a:r>
              <a:rPr lang="zh-CN" altLang="en-US" sz="2000" dirty="0"/>
              <a:t>次比较，即</a:t>
            </a:r>
            <a:r>
              <a:rPr lang="en-US" altLang="zh-CN" sz="2000" dirty="0">
                <a:solidFill>
                  <a:srgbClr val="FF0000"/>
                </a:solidFill>
              </a:rPr>
              <a:t>C</a:t>
            </a:r>
            <a:r>
              <a:rPr lang="en-US" altLang="zh-CN" sz="2000" baseline="-25000" dirty="0">
                <a:solidFill>
                  <a:srgbClr val="FF0000"/>
                </a:solidFill>
              </a:rPr>
              <a:t>i</a:t>
            </a:r>
            <a:r>
              <a:rPr lang="en-US" altLang="zh-CN" sz="2000" dirty="0">
                <a:solidFill>
                  <a:srgbClr val="FF0000"/>
                </a:solidFill>
              </a:rPr>
              <a:t>=n-i+1</a:t>
            </a:r>
            <a:r>
              <a:rPr lang="zh-CN" altLang="en-US" sz="2000" dirty="0" smtClean="0"/>
              <a:t>。假设每个</a:t>
            </a:r>
            <a:r>
              <a:rPr lang="zh-CN" altLang="en-US" sz="2000" dirty="0"/>
              <a:t>数据元素</a:t>
            </a:r>
            <a:r>
              <a:rPr lang="zh-CN" altLang="en-US" sz="2000" dirty="0" smtClean="0"/>
              <a:t>的</a:t>
            </a:r>
            <a:r>
              <a:rPr lang="zh-CN" altLang="en-US" sz="2000" dirty="0"/>
              <a:t>查找</a:t>
            </a:r>
            <a:r>
              <a:rPr lang="zh-CN" altLang="en-US" sz="2000" dirty="0" smtClean="0"/>
              <a:t>概率</a:t>
            </a:r>
            <a:r>
              <a:rPr lang="zh-CN" altLang="en-US" sz="2000" dirty="0"/>
              <a:t>相等，即</a:t>
            </a:r>
            <a:r>
              <a:rPr lang="en-US" altLang="zh-CN" sz="2000" dirty="0">
                <a:solidFill>
                  <a:srgbClr val="FF0000"/>
                </a:solidFill>
              </a:rPr>
              <a:t>P</a:t>
            </a:r>
            <a:r>
              <a:rPr lang="en-US" altLang="zh-CN" sz="2000" baseline="-25000" dirty="0">
                <a:solidFill>
                  <a:srgbClr val="FF0000"/>
                </a:solidFill>
              </a:rPr>
              <a:t>i</a:t>
            </a:r>
            <a:r>
              <a:rPr lang="en-US" altLang="zh-CN" sz="2000" dirty="0">
                <a:solidFill>
                  <a:srgbClr val="FF0000"/>
                </a:solidFill>
              </a:rPr>
              <a:t>=1/n</a:t>
            </a:r>
            <a:r>
              <a:rPr lang="zh-CN" altLang="en-US" sz="2000" dirty="0" smtClean="0"/>
              <a:t>，则</a:t>
            </a:r>
            <a:r>
              <a:rPr lang="zh-CN" altLang="en-US" sz="2000" dirty="0"/>
              <a:t>顺序查找算法的平均查找长度为</a:t>
            </a:r>
            <a:r>
              <a:rPr lang="zh-CN" altLang="en-US" sz="2000" dirty="0" smtClean="0"/>
              <a:t>：</a:t>
            </a:r>
            <a:endParaRPr lang="en-US" altLang="zh-CN" sz="2000" dirty="0" smtClean="0"/>
          </a:p>
          <a:p>
            <a:pPr marL="0" lvl="2">
              <a:lnSpc>
                <a:spcPts val="3000"/>
              </a:lnSpc>
            </a:pPr>
            <a:endParaRPr lang="en-US" altLang="zh-CN" sz="2000" dirty="0">
              <a:solidFill>
                <a:srgbClr val="00194C"/>
              </a:solidFill>
              <a:latin typeface="华文楷体" panose="02010600040101010101" pitchFamily="2" charset="-122"/>
              <a:ea typeface="华文楷体" panose="02010600040101010101" pitchFamily="2" charset="-122"/>
            </a:endParaRPr>
          </a:p>
          <a:p>
            <a:pPr marL="0" lvl="2">
              <a:lnSpc>
                <a:spcPts val="3000"/>
              </a:lnSpc>
            </a:pPr>
            <a:r>
              <a:rPr lang="zh-CN" altLang="en-US" sz="2000" dirty="0" smtClean="0">
                <a:solidFill>
                  <a:srgbClr val="00194C"/>
                </a:solidFill>
                <a:latin typeface="华文楷体" panose="02010600040101010101" pitchFamily="2" charset="-122"/>
                <a:ea typeface="华文楷体" panose="02010600040101010101" pitchFamily="2" charset="-122"/>
              </a:rPr>
              <a:t>    查找</a:t>
            </a:r>
            <a:r>
              <a:rPr lang="zh-CN" altLang="en-US" sz="2000" dirty="0">
                <a:solidFill>
                  <a:srgbClr val="00194C"/>
                </a:solidFill>
                <a:latin typeface="华文楷体" panose="02010600040101010101" pitchFamily="2" charset="-122"/>
                <a:ea typeface="华文楷体" panose="02010600040101010101" pitchFamily="2" charset="-122"/>
              </a:rPr>
              <a:t>不成功</a:t>
            </a:r>
            <a:r>
              <a:rPr lang="zh-CN" altLang="en-US" sz="2000" dirty="0" smtClean="0">
                <a:solidFill>
                  <a:srgbClr val="00194C"/>
                </a:solidFill>
                <a:latin typeface="华文楷体" panose="02010600040101010101" pitchFamily="2" charset="-122"/>
                <a:ea typeface="华文楷体" panose="02010600040101010101" pitchFamily="2" charset="-122"/>
              </a:rPr>
              <a:t>的</a:t>
            </a:r>
            <a:r>
              <a:rPr lang="zh-CN" altLang="en-US" sz="2000" dirty="0" smtClean="0"/>
              <a:t>时候</a:t>
            </a:r>
            <a:r>
              <a:rPr lang="zh-CN" altLang="en-US" sz="2000" dirty="0" smtClean="0">
                <a:solidFill>
                  <a:srgbClr val="00194C"/>
                </a:solidFill>
                <a:latin typeface="华文楷体" panose="02010600040101010101" pitchFamily="2" charset="-122"/>
                <a:ea typeface="华文楷体" panose="02010600040101010101" pitchFamily="2" charset="-122"/>
              </a:rPr>
              <a:t>，</a:t>
            </a:r>
            <a:r>
              <a:rPr lang="zh-CN" altLang="en-US" sz="2000" dirty="0">
                <a:solidFill>
                  <a:srgbClr val="00194C"/>
                </a:solidFill>
                <a:latin typeface="华文楷体" panose="02010600040101010101" pitchFamily="2" charset="-122"/>
                <a:ea typeface="华文楷体" panose="02010600040101010101" pitchFamily="2" charset="-122"/>
              </a:rPr>
              <a:t>不成功比较</a:t>
            </a:r>
            <a:r>
              <a:rPr lang="en-US" altLang="zh-CN" sz="2000" dirty="0">
                <a:solidFill>
                  <a:srgbClr val="00194C"/>
                </a:solidFill>
                <a:latin typeface="华文楷体" panose="02010600040101010101" pitchFamily="2" charset="-122"/>
                <a:ea typeface="华文楷体" panose="02010600040101010101" pitchFamily="2" charset="-122"/>
              </a:rPr>
              <a:t>n+1</a:t>
            </a:r>
            <a:r>
              <a:rPr lang="zh-CN" altLang="en-US" sz="2000" dirty="0">
                <a:solidFill>
                  <a:srgbClr val="00194C"/>
                </a:solidFill>
                <a:latin typeface="华文楷体" panose="02010600040101010101" pitchFamily="2" charset="-122"/>
                <a:ea typeface="华文楷体" panose="02010600040101010101" pitchFamily="2" charset="-122"/>
              </a:rPr>
              <a:t>次，设查找成功和不成功概率相同，则</a:t>
            </a:r>
            <a:r>
              <a:rPr lang="en-US" altLang="zh-CN" sz="2000" dirty="0">
                <a:solidFill>
                  <a:srgbClr val="FF0000"/>
                </a:solidFill>
                <a:latin typeface="华文楷体" panose="02010600040101010101" pitchFamily="2" charset="-122"/>
                <a:ea typeface="华文楷体" panose="02010600040101010101" pitchFamily="2" charset="-122"/>
              </a:rPr>
              <a:t>P</a:t>
            </a:r>
            <a:r>
              <a:rPr lang="en-US" altLang="zh-CN" sz="2000" baseline="-25000" dirty="0">
                <a:solidFill>
                  <a:srgbClr val="FF0000"/>
                </a:solidFill>
                <a:latin typeface="华文楷体" panose="02010600040101010101" pitchFamily="2" charset="-122"/>
                <a:ea typeface="华文楷体" panose="02010600040101010101" pitchFamily="2" charset="-122"/>
              </a:rPr>
              <a:t>i</a:t>
            </a:r>
            <a:r>
              <a:rPr lang="en-US" altLang="zh-CN" sz="2000" dirty="0">
                <a:solidFill>
                  <a:srgbClr val="FF0000"/>
                </a:solidFill>
                <a:latin typeface="华文楷体" panose="02010600040101010101" pitchFamily="2" charset="-122"/>
                <a:ea typeface="华文楷体" panose="02010600040101010101" pitchFamily="2" charset="-122"/>
              </a:rPr>
              <a:t> = 1/2n</a:t>
            </a:r>
            <a:r>
              <a:rPr lang="en-US" altLang="zh-CN" sz="2000" dirty="0">
                <a:solidFill>
                  <a:srgbClr val="00194C"/>
                </a:solidFill>
                <a:latin typeface="华文楷体" panose="02010600040101010101" pitchFamily="2" charset="-122"/>
                <a:ea typeface="华文楷体" panose="02010600040101010101" pitchFamily="2" charset="-122"/>
              </a:rPr>
              <a:t>;</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spcBef>
                <a:spcPts val="0"/>
              </a:spcBef>
              <a:spcAft>
                <a:spcPts val="0"/>
              </a:spcAft>
            </a:pP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err="1" smtClean="0">
                <a:solidFill>
                  <a:srgbClr val="00194C"/>
                </a:solidFill>
                <a:latin typeface="华文楷体" panose="02010600040101010101" pitchFamily="2" charset="-122"/>
                <a:ea typeface="华文楷体" panose="02010600040101010101" pitchFamily="2" charset="-122"/>
              </a:rPr>
              <a:t>ASLss</a:t>
            </a:r>
            <a:r>
              <a:rPr lang="en-US" altLang="zh-CN" sz="2000" dirty="0">
                <a:solidFill>
                  <a:srgbClr val="00194C"/>
                </a:solidFill>
                <a:latin typeface="华文楷体" panose="02010600040101010101" pitchFamily="2" charset="-122"/>
                <a:ea typeface="华文楷体" panose="02010600040101010101" pitchFamily="2" charset="-122"/>
              </a:rPr>
              <a:t>= (1/2n</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a:solidFill>
                  <a:srgbClr val="00194C"/>
                </a:solidFill>
                <a:latin typeface="华文楷体" panose="02010600040101010101" pitchFamily="2" charset="-122"/>
                <a:ea typeface="华文楷体" panose="02010600040101010101" pitchFamily="2" charset="-122"/>
              </a:rPr>
              <a:t>(n-i+1)+ (1/2n</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a:solidFill>
                  <a:srgbClr val="00194C"/>
                </a:solidFill>
                <a:latin typeface="华文楷体" panose="02010600040101010101" pitchFamily="2" charset="-122"/>
                <a:ea typeface="华文楷体" panose="02010600040101010101" pitchFamily="2" charset="-122"/>
              </a:rPr>
              <a:t>(n+1) = (</a:t>
            </a:r>
            <a:r>
              <a:rPr lang="en-US" altLang="zh-CN" sz="2000" dirty="0" smtClean="0">
                <a:solidFill>
                  <a:srgbClr val="00194C"/>
                </a:solidFill>
                <a:latin typeface="华文楷体" panose="02010600040101010101" pitchFamily="2" charset="-122"/>
                <a:ea typeface="华文楷体" panose="02010600040101010101" pitchFamily="2" charset="-122"/>
              </a:rPr>
              <a:t>3/4)(n+1</a:t>
            </a:r>
            <a:r>
              <a:rPr lang="en-US" altLang="zh-CN" sz="2000" dirty="0">
                <a:solidFill>
                  <a:srgbClr val="00194C"/>
                </a:solidFill>
                <a:latin typeface="华文楷体" panose="02010600040101010101" pitchFamily="2" charset="-122"/>
                <a:ea typeface="华文楷体" panose="02010600040101010101" pitchFamily="2" charset="-122"/>
              </a:rPr>
              <a:t>) </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spcBef>
                <a:spcPts val="0"/>
              </a:spcBef>
              <a:spcAft>
                <a:spcPts val="0"/>
              </a:spcAft>
            </a:pPr>
            <a:r>
              <a:rPr lang="zh-CN" altLang="en-US" sz="2000" dirty="0" smtClean="0">
                <a:solidFill>
                  <a:srgbClr val="00194C"/>
                </a:solidFill>
                <a:latin typeface="华文楷体" panose="02010600040101010101" pitchFamily="2" charset="-122"/>
                <a:ea typeface="华文楷体" panose="02010600040101010101" pitchFamily="2" charset="-122"/>
              </a:rPr>
              <a:t>    若</a:t>
            </a:r>
            <a:r>
              <a:rPr lang="zh-CN" altLang="en-US" sz="2000" dirty="0">
                <a:solidFill>
                  <a:srgbClr val="00194C"/>
                </a:solidFill>
                <a:latin typeface="华文楷体" panose="02010600040101010101" pitchFamily="2" charset="-122"/>
                <a:ea typeface="华文楷体" panose="02010600040101010101" pitchFamily="2" charset="-122"/>
              </a:rPr>
              <a:t>查找概率不等时，将概率高的放在最后，即按概率递增的顺序存放，可提高查找效率。但实际上记录的查找概率无法预测，可通过设一个</a:t>
            </a:r>
            <a:r>
              <a:rPr lang="zh-CN" altLang="en-US" sz="2000" dirty="0">
                <a:solidFill>
                  <a:srgbClr val="FF0000"/>
                </a:solidFill>
                <a:latin typeface="华文楷体" panose="02010600040101010101" pitchFamily="2" charset="-122"/>
                <a:ea typeface="华文楷体" panose="02010600040101010101" pitchFamily="2" charset="-122"/>
              </a:rPr>
              <a:t>访问频度域</a:t>
            </a:r>
            <a:r>
              <a:rPr lang="zh-CN" altLang="en-US" sz="2000" dirty="0">
                <a:solidFill>
                  <a:srgbClr val="00194C"/>
                </a:solidFill>
                <a:latin typeface="华文楷体" panose="02010600040101010101" pitchFamily="2" charset="-122"/>
                <a:ea typeface="华文楷体" panose="02010600040101010101" pitchFamily="2" charset="-122"/>
              </a:rPr>
              <a:t>来解决该问题</a:t>
            </a:r>
            <a:r>
              <a:rPr lang="zh-CN" altLang="en-US" sz="2000" dirty="0" smtClean="0">
                <a:solidFill>
                  <a:srgbClr val="00194C"/>
                </a:solidFill>
                <a:latin typeface="华文楷体" panose="02010600040101010101" pitchFamily="2" charset="-122"/>
                <a:ea typeface="华文楷体" panose="02010600040101010101" pitchFamily="2" charset="-122"/>
              </a:rPr>
              <a:t>。</a:t>
            </a:r>
            <a:endParaRPr lang="zh-CN" altLang="en-US" sz="20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graphicFrame>
        <p:nvGraphicFramePr>
          <p:cNvPr id="4" name="Object 5"/>
          <p:cNvGraphicFramePr>
            <a:graphicFrameLocks noChangeAspect="1"/>
          </p:cNvGraphicFramePr>
          <p:nvPr/>
        </p:nvGraphicFramePr>
        <p:xfrm>
          <a:off x="3316393" y="1427291"/>
          <a:ext cx="4990209" cy="680742"/>
        </p:xfrm>
        <a:graphic>
          <a:graphicData uri="http://schemas.openxmlformats.org/presentationml/2006/ole">
            <mc:AlternateContent xmlns:mc="http://schemas.openxmlformats.org/markup-compatibility/2006">
              <mc:Choice xmlns:v="urn:schemas-microsoft-com:vml" Requires="v">
                <p:oleObj spid="_x0000_s37939" name="Equation" r:id="rId1" imgW="3162300" imgH="431800" progId="Equation.3">
                  <p:embed/>
                </p:oleObj>
              </mc:Choice>
              <mc:Fallback>
                <p:oleObj name="Equation" r:id="rId1" imgW="3162300" imgH="4318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6393" y="1427291"/>
                        <a:ext cx="4990209" cy="680742"/>
                      </a:xfrm>
                      <a:prstGeom prst="rect">
                        <a:avLst/>
                      </a:prstGeom>
                      <a:noFill/>
                      <a:ln>
                        <a:noFill/>
                      </a:ln>
                      <a:effectLst/>
                    </p:spPr>
                  </p:pic>
                </p:oleObj>
              </mc:Fallback>
            </mc:AlternateContent>
          </a:graphicData>
        </a:graphic>
      </p:graphicFrame>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lnSpc>
                <a:spcPts val="2800"/>
              </a:lnSpc>
              <a:spcBef>
                <a:spcPts val="0"/>
              </a:spcBef>
              <a:spcAft>
                <a:spcPts val="0"/>
              </a:spcAft>
            </a:pPr>
            <a:r>
              <a:rPr lang="en-US" altLang="zh-CN" sz="2400" dirty="0" smtClean="0">
                <a:ea typeface="宋体" panose="02010600030101010101" pitchFamily="2" charset="-122"/>
              </a:rPr>
              <a:t>8.1.2  </a:t>
            </a:r>
            <a:r>
              <a:rPr lang="zh-CN" altLang="en-US" sz="2400" dirty="0">
                <a:ea typeface="宋体" panose="02010600030101010101" pitchFamily="2" charset="-122"/>
              </a:rPr>
              <a:t>有序表的查找 </a:t>
            </a:r>
            <a:endParaRPr lang="zh-CN" altLang="en-US" sz="2400" dirty="0">
              <a:ea typeface="宋体" panose="02010600030101010101" pitchFamily="2" charset="-122"/>
            </a:endParaRPr>
          </a:p>
          <a:p>
            <a:pPr eaLnBrk="1" hangingPunct="1">
              <a:lnSpc>
                <a:spcPts val="2800"/>
              </a:lnSpc>
              <a:spcBef>
                <a:spcPts val="0"/>
              </a:spcBef>
              <a:spcAft>
                <a:spcPts val="0"/>
              </a:spcAft>
              <a:buClr>
                <a:schemeClr val="accent2"/>
              </a:buClr>
            </a:pPr>
            <a:r>
              <a:rPr lang="zh-CN" altLang="en-US" sz="2100" dirty="0" smtClean="0">
                <a:solidFill>
                  <a:srgbClr val="00194C"/>
                </a:solidFill>
                <a:latin typeface="华文楷体" panose="02010600040101010101" pitchFamily="2" charset="-122"/>
                <a:ea typeface="华文楷体" panose="02010600040101010101" pitchFamily="2" charset="-122"/>
              </a:rPr>
              <a:t>    </a:t>
            </a:r>
            <a:r>
              <a:rPr lang="zh-CN" altLang="en-US" sz="2100" dirty="0" smtClean="0">
                <a:solidFill>
                  <a:srgbClr val="FF0000"/>
                </a:solidFill>
                <a:latin typeface="华文楷体" panose="02010600040101010101" pitchFamily="2" charset="-122"/>
                <a:ea typeface="华文楷体" panose="02010600040101010101" pitchFamily="2" charset="-122"/>
              </a:rPr>
              <a:t>折半</a:t>
            </a:r>
            <a:r>
              <a:rPr lang="zh-CN" altLang="en-US" sz="2100" dirty="0">
                <a:solidFill>
                  <a:srgbClr val="FF0000"/>
                </a:solidFill>
                <a:latin typeface="华文楷体" panose="02010600040101010101" pitchFamily="2" charset="-122"/>
                <a:ea typeface="华文楷体" panose="02010600040101010101" pitchFamily="2" charset="-122"/>
              </a:rPr>
              <a:t>查找法</a:t>
            </a:r>
            <a:r>
              <a:rPr lang="zh-CN" altLang="en-US" sz="2100" dirty="0">
                <a:solidFill>
                  <a:srgbClr val="00194C"/>
                </a:solidFill>
                <a:latin typeface="华文楷体" panose="02010600040101010101" pitchFamily="2" charset="-122"/>
                <a:ea typeface="华文楷体" panose="02010600040101010101" pitchFamily="2" charset="-122"/>
              </a:rPr>
              <a:t>又称为二分法查找法</a:t>
            </a:r>
            <a:r>
              <a:rPr lang="zh-CN" altLang="en-US" sz="2100" dirty="0" smtClean="0">
                <a:solidFill>
                  <a:srgbClr val="00194C"/>
                </a:solidFill>
                <a:latin typeface="华文楷体" panose="02010600040101010101" pitchFamily="2" charset="-122"/>
                <a:ea typeface="华文楷体" panose="02010600040101010101" pitchFamily="2" charset="-122"/>
              </a:rPr>
              <a:t>，要求</a:t>
            </a:r>
            <a:r>
              <a:rPr lang="zh-CN" altLang="en-US" sz="2100" dirty="0">
                <a:solidFill>
                  <a:srgbClr val="00194C"/>
                </a:solidFill>
                <a:latin typeface="华文楷体" panose="02010600040101010101" pitchFamily="2" charset="-122"/>
                <a:ea typeface="华文楷体" panose="02010600040101010101" pitchFamily="2" charset="-122"/>
              </a:rPr>
              <a:t>待查找的列表必须是按关键字大小有序排列的顺序表。其基本过程是：</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spcAft>
                <a:spcPts val="0"/>
              </a:spcAft>
              <a:buClr>
                <a:schemeClr val="accent2"/>
              </a:buClr>
            </a:pPr>
            <a:r>
              <a:rPr lang="zh-CN" altLang="en-US" sz="2100" dirty="0" smtClean="0">
                <a:solidFill>
                  <a:srgbClr val="00194C"/>
                </a:solidFill>
                <a:latin typeface="华文楷体" panose="02010600040101010101" pitchFamily="2" charset="-122"/>
                <a:ea typeface="华文楷体" panose="02010600040101010101" pitchFamily="2" charset="-122"/>
              </a:rPr>
              <a:t>（</a:t>
            </a:r>
            <a:r>
              <a:rPr lang="en-US" altLang="zh-CN" sz="2100" dirty="0" smtClean="0">
                <a:solidFill>
                  <a:srgbClr val="00194C"/>
                </a:solidFill>
                <a:latin typeface="华文楷体" panose="02010600040101010101" pitchFamily="2" charset="-122"/>
                <a:ea typeface="华文楷体" panose="02010600040101010101" pitchFamily="2" charset="-122"/>
              </a:rPr>
              <a:t>1</a:t>
            </a:r>
            <a:r>
              <a:rPr lang="zh-CN" altLang="en-US" sz="2100" dirty="0" smtClean="0">
                <a:solidFill>
                  <a:srgbClr val="00194C"/>
                </a:solidFill>
                <a:latin typeface="华文楷体" panose="02010600040101010101" pitchFamily="2" charset="-122"/>
                <a:ea typeface="华文楷体" panose="02010600040101010101" pitchFamily="2" charset="-122"/>
              </a:rPr>
              <a:t>）将中间</a:t>
            </a:r>
            <a:r>
              <a:rPr lang="zh-CN" altLang="en-US" sz="2100" dirty="0">
                <a:solidFill>
                  <a:srgbClr val="00194C"/>
                </a:solidFill>
                <a:latin typeface="华文楷体" panose="02010600040101010101" pitchFamily="2" charset="-122"/>
                <a:ea typeface="华文楷体" panose="02010600040101010101" pitchFamily="2" charset="-122"/>
              </a:rPr>
              <a:t>位置记录的关键字与查找关键字比较</a:t>
            </a:r>
            <a:r>
              <a:rPr lang="zh-CN" altLang="en-US" sz="2100" dirty="0" smtClean="0">
                <a:solidFill>
                  <a:srgbClr val="00194C"/>
                </a:solidFill>
                <a:latin typeface="华文楷体" panose="02010600040101010101" pitchFamily="2" charset="-122"/>
                <a:ea typeface="华文楷体" panose="02010600040101010101" pitchFamily="2" charset="-122"/>
              </a:rPr>
              <a:t>，如果</a:t>
            </a:r>
            <a:r>
              <a:rPr lang="zh-CN" altLang="en-US" sz="2100" dirty="0">
                <a:solidFill>
                  <a:srgbClr val="00194C"/>
                </a:solidFill>
                <a:latin typeface="华文楷体" panose="02010600040101010101" pitchFamily="2" charset="-122"/>
                <a:ea typeface="华文楷体" panose="02010600040101010101" pitchFamily="2" charset="-122"/>
              </a:rPr>
              <a:t>两者相等，则查找成功；</a:t>
            </a:r>
            <a:endParaRPr lang="en-US" altLang="zh-CN" sz="2100" dirty="0">
              <a:solidFill>
                <a:srgbClr val="00194C"/>
              </a:solidFill>
              <a:latin typeface="华文楷体" panose="02010600040101010101" pitchFamily="2" charset="-122"/>
              <a:ea typeface="华文楷体" panose="02010600040101010101" pitchFamily="2" charset="-122"/>
            </a:endParaRPr>
          </a:p>
          <a:p>
            <a:pPr marL="0" lvl="1">
              <a:lnSpc>
                <a:spcPts val="2800"/>
              </a:lnSpc>
              <a:spcBef>
                <a:spcPts val="0"/>
              </a:spcBef>
              <a:buClr>
                <a:schemeClr val="accent2"/>
              </a:buClr>
            </a:pPr>
            <a:r>
              <a:rPr lang="zh-CN" altLang="en-US" sz="2100" dirty="0" smtClean="0">
                <a:solidFill>
                  <a:srgbClr val="00194C"/>
                </a:solidFill>
                <a:latin typeface="华文楷体" panose="02010600040101010101" pitchFamily="2" charset="-122"/>
                <a:ea typeface="华文楷体" panose="02010600040101010101" pitchFamily="2" charset="-122"/>
              </a:rPr>
              <a:t>（</a:t>
            </a:r>
            <a:r>
              <a:rPr lang="en-US" altLang="zh-CN" sz="2100" dirty="0" smtClean="0">
                <a:solidFill>
                  <a:srgbClr val="00194C"/>
                </a:solidFill>
                <a:latin typeface="华文楷体" panose="02010600040101010101" pitchFamily="2" charset="-122"/>
                <a:ea typeface="华文楷体" panose="02010600040101010101" pitchFamily="2" charset="-122"/>
              </a:rPr>
              <a:t>2</a:t>
            </a:r>
            <a:r>
              <a:rPr lang="zh-CN" altLang="en-US" sz="2100" dirty="0" smtClean="0">
                <a:solidFill>
                  <a:srgbClr val="00194C"/>
                </a:solidFill>
                <a:latin typeface="华文楷体" panose="02010600040101010101" pitchFamily="2" charset="-122"/>
                <a:ea typeface="华文楷体" panose="02010600040101010101" pitchFamily="2" charset="-122"/>
              </a:rPr>
              <a:t>）否则</a:t>
            </a:r>
            <a:r>
              <a:rPr lang="zh-CN" altLang="en-US" sz="2100" dirty="0">
                <a:solidFill>
                  <a:srgbClr val="00194C"/>
                </a:solidFill>
                <a:latin typeface="华文楷体" panose="02010600040101010101" pitchFamily="2" charset="-122"/>
                <a:ea typeface="华文楷体" panose="02010600040101010101" pitchFamily="2" charset="-122"/>
              </a:rPr>
              <a:t>利用中间位置记录将表分成前、后两个子表，</a:t>
            </a:r>
            <a:endParaRPr lang="en-US" altLang="zh-CN" sz="2100" dirty="0">
              <a:solidFill>
                <a:srgbClr val="00194C"/>
              </a:solidFill>
              <a:latin typeface="华文楷体" panose="02010600040101010101" pitchFamily="2" charset="-122"/>
              <a:ea typeface="华文楷体" panose="02010600040101010101" pitchFamily="2" charset="-122"/>
            </a:endParaRPr>
          </a:p>
          <a:p>
            <a:pPr marL="0" lvl="2">
              <a:lnSpc>
                <a:spcPts val="2800"/>
              </a:lnSpc>
              <a:buClr>
                <a:schemeClr val="accent2"/>
              </a:buClr>
            </a:pPr>
            <a:r>
              <a:rPr lang="zh-CN" altLang="en-US" dirty="0" smtClean="0"/>
              <a:t>（</a:t>
            </a:r>
            <a:r>
              <a:rPr lang="en-US" altLang="zh-CN" dirty="0" smtClean="0"/>
              <a:t>3</a:t>
            </a:r>
            <a:r>
              <a:rPr lang="zh-CN" altLang="en-US" dirty="0" smtClean="0"/>
              <a:t>）如果</a:t>
            </a:r>
            <a:r>
              <a:rPr lang="zh-CN" altLang="en-US" dirty="0"/>
              <a:t>中间位置记录的关键字大于查找关键字，则进一步查找前一子表</a:t>
            </a:r>
            <a:r>
              <a:rPr lang="zh-CN" altLang="en-US" dirty="0" smtClean="0"/>
              <a:t>，否则</a:t>
            </a:r>
            <a:r>
              <a:rPr lang="zh-CN" altLang="en-US" dirty="0"/>
              <a:t>进一步查找后一子表。</a:t>
            </a:r>
            <a:endParaRPr lang="en-US" altLang="zh-CN" dirty="0"/>
          </a:p>
          <a:p>
            <a:pPr eaLnBrk="1" hangingPunct="1">
              <a:lnSpc>
                <a:spcPts val="2800"/>
              </a:lnSpc>
              <a:spcBef>
                <a:spcPts val="0"/>
              </a:spcBef>
              <a:spcAft>
                <a:spcPts val="0"/>
              </a:spcAft>
              <a:buClr>
                <a:schemeClr val="accent2"/>
              </a:buClr>
            </a:pPr>
            <a:r>
              <a:rPr lang="zh-CN" altLang="en-US" sz="2100" dirty="0" smtClean="0">
                <a:solidFill>
                  <a:srgbClr val="00194C"/>
                </a:solidFill>
                <a:latin typeface="华文楷体" panose="02010600040101010101" pitchFamily="2" charset="-122"/>
                <a:ea typeface="华文楷体" panose="02010600040101010101" pitchFamily="2" charset="-122"/>
              </a:rPr>
              <a:t>    重复</a:t>
            </a:r>
            <a:r>
              <a:rPr lang="zh-CN" altLang="en-US" sz="2100" dirty="0">
                <a:solidFill>
                  <a:srgbClr val="00194C"/>
                </a:solidFill>
                <a:latin typeface="华文楷体" panose="02010600040101010101" pitchFamily="2" charset="-122"/>
                <a:ea typeface="华文楷体" panose="02010600040101010101" pitchFamily="2" charset="-122"/>
              </a:rPr>
              <a:t>以上过程，直到找到满足条件的记录，查找成功，或直到子表不存在，查找不成功。</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graphicFrame>
        <p:nvGraphicFramePr>
          <p:cNvPr id="4" name="Object 7"/>
          <p:cNvGraphicFramePr>
            <a:graphicFrameLocks noGrp="1" noChangeAspect="1"/>
          </p:cNvGraphicFramePr>
          <p:nvPr>
            <p:ph idx="1"/>
          </p:nvPr>
        </p:nvGraphicFramePr>
        <p:xfrm>
          <a:off x="1604138" y="532078"/>
          <a:ext cx="5716905" cy="4360545"/>
        </p:xfrm>
        <a:graphic>
          <a:graphicData uri="http://schemas.openxmlformats.org/presentationml/2006/ole">
            <mc:AlternateContent xmlns:mc="http://schemas.openxmlformats.org/markup-compatibility/2006">
              <mc:Choice xmlns:v="urn:schemas-microsoft-com:vml" Requires="v">
                <p:oleObj spid="_x0000_s38962" name="位图图像" r:id="rId1" imgW="7143750" imgH="5448300" progId="Paint.Picture">
                  <p:embed/>
                </p:oleObj>
              </mc:Choice>
              <mc:Fallback>
                <p:oleObj name="位图图像" r:id="rId1" imgW="7143750" imgH="5448300" progId="Paint.Picture">
                  <p:embed/>
                  <p:pic>
                    <p:nvPicPr>
                      <p:cNvPr id="0" name="Object 7"/>
                      <p:cNvPicPr>
                        <a:picLocks noChangeAspect="1" noChangeArrowheads="1"/>
                      </p:cNvPicPr>
                      <p:nvPr/>
                    </p:nvPicPr>
                    <p:blipFill>
                      <a:blip r:embed="rId2"/>
                      <a:srcRect/>
                      <a:stretch>
                        <a:fillRect/>
                      </a:stretch>
                    </p:blipFill>
                    <p:spPr bwMode="auto">
                      <a:xfrm>
                        <a:off x="1604138" y="532078"/>
                        <a:ext cx="5716905" cy="4360545"/>
                      </a:xfrm>
                      <a:prstGeom prst="rect">
                        <a:avLst/>
                      </a:prstGeom>
                      <a:noFill/>
                      <a:ln>
                        <a:noFill/>
                      </a:ln>
                      <a:effectLst/>
                    </p:spPr>
                  </p:pic>
                </p:oleObj>
              </mc:Fallback>
            </mc:AlternateContent>
          </a:graphicData>
        </a:graphic>
      </p:graphicFrame>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550175"/>
          </a:xfrm>
        </p:spPr>
        <p:txBody>
          <a:bodyPr/>
          <a:lstStyle/>
          <a:p>
            <a:pPr marL="205105" indent="-205105">
              <a:lnSpc>
                <a:spcPts val="2800"/>
              </a:lnSpc>
              <a:spcBef>
                <a:spcPts val="0"/>
              </a:spcBef>
            </a:pPr>
            <a:r>
              <a:rPr lang="zh-CN" altLang="en-US" dirty="0" smtClean="0"/>
              <a:t>折半</a:t>
            </a:r>
            <a:r>
              <a:rPr lang="zh-CN" altLang="en-US" dirty="0"/>
              <a:t>查找的算法如下</a:t>
            </a:r>
            <a:r>
              <a:rPr lang="zh-CN" altLang="en-US" dirty="0" smtClean="0"/>
              <a:t>：</a:t>
            </a:r>
            <a:endParaRPr lang="en-US" altLang="zh-CN" dirty="0" smtClean="0"/>
          </a:p>
          <a:p>
            <a:pPr marL="205105" indent="-205105">
              <a:lnSpc>
                <a:spcPts val="2800"/>
              </a:lnSpc>
              <a:spcBef>
                <a:spcPts val="0"/>
              </a:spcBef>
            </a:pPr>
            <a:r>
              <a:rPr lang="en-US" altLang="zh-CN" sz="2100" dirty="0" err="1" smtClean="0">
                <a:solidFill>
                  <a:srgbClr val="00194C"/>
                </a:solidFill>
                <a:latin typeface="华文楷体" panose="02010600040101010101" pitchFamily="2" charset="-122"/>
                <a:ea typeface="华文楷体" panose="02010600040101010101" pitchFamily="2" charset="-122"/>
              </a:rPr>
              <a:t>int</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Search_Bin</a:t>
            </a:r>
            <a:r>
              <a:rPr lang="en-US" altLang="zh-CN" sz="2100" dirty="0">
                <a:solidFill>
                  <a:srgbClr val="00194C"/>
                </a:solidFill>
                <a:latin typeface="华文楷体" panose="02010600040101010101" pitchFamily="2" charset="-122"/>
                <a:ea typeface="华文楷体" panose="02010600040101010101" pitchFamily="2" charset="-122"/>
              </a:rPr>
              <a:t>(</a:t>
            </a:r>
            <a:r>
              <a:rPr lang="en-US" altLang="zh-CN" sz="2100" dirty="0" err="1">
                <a:solidFill>
                  <a:srgbClr val="00194C"/>
                </a:solidFill>
                <a:latin typeface="华文楷体" panose="02010600040101010101" pitchFamily="2" charset="-122"/>
                <a:ea typeface="华文楷体" panose="02010600040101010101" pitchFamily="2" charset="-122"/>
              </a:rPr>
              <a:t>SSTable</a:t>
            </a:r>
            <a:r>
              <a:rPr lang="en-US" altLang="zh-CN" sz="2100" dirty="0">
                <a:solidFill>
                  <a:srgbClr val="00194C"/>
                </a:solidFill>
                <a:latin typeface="华文楷体" panose="02010600040101010101" pitchFamily="2" charset="-122"/>
                <a:ea typeface="华文楷体" panose="02010600040101010101" pitchFamily="2" charset="-122"/>
              </a:rPr>
              <a:t> ST,  </a:t>
            </a:r>
            <a:r>
              <a:rPr lang="en-US" altLang="zh-CN" sz="2100" dirty="0" err="1">
                <a:solidFill>
                  <a:srgbClr val="00194C"/>
                </a:solidFill>
                <a:latin typeface="华文楷体" panose="02010600040101010101" pitchFamily="2" charset="-122"/>
                <a:ea typeface="华文楷体" panose="02010600040101010101" pitchFamily="2" charset="-122"/>
              </a:rPr>
              <a:t>KeyType</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key){</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205105" indent="-205105">
              <a:lnSpc>
                <a:spcPts val="2800"/>
              </a:lnSpc>
              <a:spcBef>
                <a:spcPts val="0"/>
              </a:spcBef>
            </a:pPr>
            <a:r>
              <a:rPr lang="en-US" altLang="zh-CN" sz="2100" dirty="0" smtClean="0">
                <a:solidFill>
                  <a:srgbClr val="00194C"/>
                </a:solidFill>
                <a:latin typeface="华文楷体" panose="02010600040101010101" pitchFamily="2" charset="-122"/>
                <a:ea typeface="华文楷体" panose="02010600040101010101" pitchFamily="2" charset="-122"/>
              </a:rPr>
              <a:t>       low </a:t>
            </a:r>
            <a:r>
              <a:rPr lang="en-US" altLang="zh-CN" sz="2100" dirty="0">
                <a:solidFill>
                  <a:srgbClr val="00194C"/>
                </a:solidFill>
                <a:latin typeface="华文楷体" panose="02010600040101010101" pitchFamily="2" charset="-122"/>
                <a:ea typeface="华文楷体" panose="02010600040101010101" pitchFamily="2" charset="-122"/>
              </a:rPr>
              <a:t>= 1 ;    high = </a:t>
            </a:r>
            <a:r>
              <a:rPr lang="en-US" altLang="zh-CN" sz="2100" dirty="0" err="1">
                <a:solidFill>
                  <a:srgbClr val="00194C"/>
                </a:solidFill>
                <a:latin typeface="华文楷体" panose="02010600040101010101" pitchFamily="2" charset="-122"/>
                <a:ea typeface="华文楷体" panose="02010600040101010101" pitchFamily="2" charset="-122"/>
              </a:rPr>
              <a:t>ST.length</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置区间初值*</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marL="205105" indent="-205105">
              <a:lnSpc>
                <a:spcPts val="2800"/>
              </a:lnSpc>
              <a:spcBef>
                <a:spcPts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while  ( low &lt;= high)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205105" indent="-205105">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	  mid=(</a:t>
            </a:r>
            <a:r>
              <a:rPr lang="en-US" altLang="zh-CN" sz="2100" dirty="0" err="1">
                <a:solidFill>
                  <a:srgbClr val="00194C"/>
                </a:solidFill>
                <a:latin typeface="华文楷体" panose="02010600040101010101" pitchFamily="2" charset="-122"/>
                <a:ea typeface="华文楷体" panose="02010600040101010101" pitchFamily="2" charset="-122"/>
              </a:rPr>
              <a:t>low+high</a:t>
            </a:r>
            <a:r>
              <a:rPr lang="en-US" altLang="zh-CN" sz="2100" dirty="0">
                <a:solidFill>
                  <a:srgbClr val="00194C"/>
                </a:solidFill>
                <a:latin typeface="华文楷体" panose="02010600040101010101" pitchFamily="2" charset="-122"/>
                <a:ea typeface="华文楷体" panose="02010600040101010101" pitchFamily="2" charset="-122"/>
              </a:rPr>
              <a:t>) / 2;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205105" indent="-205105">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if </a:t>
            </a:r>
            <a:r>
              <a:rPr lang="en-US" altLang="zh-CN" sz="2100" dirty="0">
                <a:solidFill>
                  <a:srgbClr val="00194C"/>
                </a:solidFill>
                <a:latin typeface="华文楷体" panose="02010600040101010101" pitchFamily="2" charset="-122"/>
                <a:ea typeface="华文楷体" panose="02010600040101010101" pitchFamily="2" charset="-122"/>
              </a:rPr>
              <a:t>(EQ(</a:t>
            </a:r>
            <a:r>
              <a:rPr lang="en-US" altLang="zh-CN" sz="2100" dirty="0" err="1">
                <a:solidFill>
                  <a:srgbClr val="00194C"/>
                </a:solidFill>
                <a:latin typeface="华文楷体" panose="02010600040101010101" pitchFamily="2" charset="-122"/>
                <a:ea typeface="华文楷体" panose="02010600040101010101" pitchFamily="2" charset="-122"/>
              </a:rPr>
              <a:t>key,ST.elem</a:t>
            </a:r>
            <a:r>
              <a:rPr lang="en-US" altLang="zh-CN" sz="2100" dirty="0">
                <a:solidFill>
                  <a:srgbClr val="00194C"/>
                </a:solidFill>
                <a:latin typeface="华文楷体" panose="02010600040101010101" pitchFamily="2" charset="-122"/>
                <a:ea typeface="华文楷体" panose="02010600040101010101" pitchFamily="2" charset="-122"/>
              </a:rPr>
              <a:t>[mid].key))   return  mid;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查找成功*</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a:solidFill>
                <a:srgbClr val="00B050"/>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else  </a:t>
            </a:r>
            <a:r>
              <a:rPr lang="en-US" altLang="zh-CN" sz="2100" dirty="0">
                <a:solidFill>
                  <a:srgbClr val="00194C"/>
                </a:solidFill>
                <a:latin typeface="华文楷体" panose="02010600040101010101" pitchFamily="2" charset="-122"/>
                <a:ea typeface="华文楷体" panose="02010600040101010101" pitchFamily="2" charset="-122"/>
              </a:rPr>
              <a:t>if (LT(</a:t>
            </a:r>
            <a:r>
              <a:rPr lang="en-US" altLang="zh-CN" sz="2100" dirty="0" err="1">
                <a:solidFill>
                  <a:srgbClr val="00194C"/>
                </a:solidFill>
                <a:latin typeface="华文楷体" panose="02010600040101010101" pitchFamily="2" charset="-122"/>
                <a:ea typeface="华文楷体" panose="02010600040101010101" pitchFamily="2" charset="-122"/>
              </a:rPr>
              <a:t>key,ST.elem</a:t>
            </a:r>
            <a:r>
              <a:rPr lang="en-US" altLang="zh-CN" sz="2100" dirty="0">
                <a:solidFill>
                  <a:srgbClr val="00194C"/>
                </a:solidFill>
                <a:latin typeface="华文楷体" panose="02010600040101010101" pitchFamily="2" charset="-122"/>
                <a:ea typeface="华文楷体" panose="02010600040101010101" pitchFamily="2" charset="-122"/>
              </a:rPr>
              <a:t>[mid].key)   high=mid-1;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未找到， 则继续在前半区间进行查找*</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else  low=mid+1;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继续在后半区间进行查找*</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a:solidFill>
                <a:srgbClr val="00B050"/>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return 0;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en-US" altLang="zh-CN"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sz="2100" dirty="0" smtClean="0">
                <a:solidFill>
                  <a:srgbClr val="00194C"/>
                </a:solidFill>
                <a:latin typeface="华文楷体" panose="02010600040101010101" pitchFamily="2" charset="-122"/>
                <a:ea typeface="华文楷体" panose="02010600040101010101" pitchFamily="2" charset="-122"/>
              </a:rPr>
              <a:t>    折半</a:t>
            </a:r>
            <a:r>
              <a:rPr lang="zh-CN" altLang="en-US" sz="2100" dirty="0">
                <a:solidFill>
                  <a:srgbClr val="00194C"/>
                </a:solidFill>
                <a:latin typeface="华文楷体" panose="02010600040101010101" pitchFamily="2" charset="-122"/>
                <a:ea typeface="华文楷体" panose="02010600040101010101" pitchFamily="2" charset="-122"/>
              </a:rPr>
              <a:t>查找过程可用一个称为</a:t>
            </a:r>
            <a:r>
              <a:rPr lang="zh-CN" altLang="en-US" sz="2100" dirty="0">
                <a:solidFill>
                  <a:srgbClr val="FF0000"/>
                </a:solidFill>
                <a:latin typeface="华文楷体" panose="02010600040101010101" pitchFamily="2" charset="-122"/>
                <a:ea typeface="华文楷体" panose="02010600040101010101" pitchFamily="2" charset="-122"/>
              </a:rPr>
              <a:t>判定树</a:t>
            </a:r>
            <a:r>
              <a:rPr lang="zh-CN" altLang="en-US" sz="2100" dirty="0">
                <a:solidFill>
                  <a:srgbClr val="00194C"/>
                </a:solidFill>
                <a:latin typeface="华文楷体" panose="02010600040101010101" pitchFamily="2" charset="-122"/>
                <a:ea typeface="华文楷体" panose="02010600040101010101" pitchFamily="2" charset="-122"/>
              </a:rPr>
              <a:t>的二叉树描述，判定树中每一结点对应表中一个记录，结点值对应记录在表中的位置。</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根</a:t>
            </a:r>
            <a:r>
              <a:rPr lang="zh-CN" altLang="en-US" sz="2100" dirty="0">
                <a:solidFill>
                  <a:srgbClr val="00194C"/>
                </a:solidFill>
                <a:latin typeface="华文楷体" panose="02010600040101010101" pitchFamily="2" charset="-122"/>
                <a:ea typeface="华文楷体" panose="02010600040101010101" pitchFamily="2" charset="-122"/>
              </a:rPr>
              <a:t>结点对应当前查找区间的中间记录，左子树对应前一子表，右子树对应后一子表</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FF0000"/>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pic>
        <p:nvPicPr>
          <p:cNvPr id="4" name="图片 3" descr="SPX8H)7]$${(7D{1DLBBP[E"/>
          <p:cNvPicPr>
            <a:picLocks noChangeAspect="1"/>
          </p:cNvPicPr>
          <p:nvPr>
            <p:custDataLst>
              <p:tags r:id="rId1"/>
            </p:custDataLst>
          </p:nvPr>
        </p:nvPicPr>
        <p:blipFill>
          <a:blip r:embed="rId2"/>
          <a:stretch>
            <a:fillRect/>
          </a:stretch>
        </p:blipFill>
        <p:spPr>
          <a:xfrm>
            <a:off x="1932940" y="2527935"/>
            <a:ext cx="3286125" cy="1581150"/>
          </a:xfrm>
          <a:prstGeom prst="rect">
            <a:avLst/>
          </a:prstGeom>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sz="2100" dirty="0" smtClean="0">
                <a:solidFill>
                  <a:srgbClr val="00194C"/>
                </a:solidFill>
                <a:latin typeface="华文楷体" panose="02010600040101010101" pitchFamily="2" charset="-122"/>
                <a:ea typeface="华文楷体" panose="02010600040101010101" pitchFamily="2" charset="-122"/>
              </a:rPr>
              <a:t>    找到</a:t>
            </a:r>
            <a:r>
              <a:rPr lang="zh-CN" altLang="en-US" sz="2100" dirty="0">
                <a:solidFill>
                  <a:srgbClr val="00194C"/>
                </a:solidFill>
                <a:latin typeface="华文楷体" panose="02010600040101010101" pitchFamily="2" charset="-122"/>
                <a:ea typeface="华文楷体" panose="02010600040101010101" pitchFamily="2" charset="-122"/>
              </a:rPr>
              <a:t>有序表中任一记录的过程，对应判定树中从根结点到与该记录相应的结点的路径，而所做比较的次数恰为该结点在判定树上的层次数。因此，折半查找成功时，关键字比较次数最多不超过判定树的深度。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n</a:t>
            </a:r>
            <a:r>
              <a:rPr lang="zh-CN" altLang="en-US" sz="2100" dirty="0">
                <a:solidFill>
                  <a:srgbClr val="00194C"/>
                </a:solidFill>
                <a:latin typeface="华文楷体" panose="02010600040101010101" pitchFamily="2" charset="-122"/>
                <a:ea typeface="华文楷体" panose="02010600040101010101" pitchFamily="2" charset="-122"/>
              </a:rPr>
              <a:t>个结点的判定树的深度与</a:t>
            </a:r>
            <a:r>
              <a:rPr lang="en-US" altLang="zh-CN" sz="2100" dirty="0">
                <a:solidFill>
                  <a:srgbClr val="00194C"/>
                </a:solidFill>
                <a:latin typeface="华文楷体" panose="02010600040101010101" pitchFamily="2" charset="-122"/>
                <a:ea typeface="华文楷体" panose="02010600040101010101" pitchFamily="2" charset="-122"/>
              </a:rPr>
              <a:t>n</a:t>
            </a:r>
            <a:r>
              <a:rPr lang="zh-CN" altLang="en-US" sz="2100" dirty="0">
                <a:solidFill>
                  <a:srgbClr val="00194C"/>
                </a:solidFill>
                <a:latin typeface="华文楷体" panose="02010600040101010101" pitchFamily="2" charset="-122"/>
                <a:ea typeface="华文楷体" panose="02010600040101010101" pitchFamily="2" charset="-122"/>
              </a:rPr>
              <a:t>个结点的完全二叉树的深度相等，均为</a:t>
            </a:r>
            <a:r>
              <a:rPr lang="en-US" altLang="zh-CN" sz="2100" dirty="0">
                <a:solidFill>
                  <a:srgbClr val="00194C"/>
                </a:solidFill>
                <a:latin typeface="华文楷体" panose="02010600040101010101" pitchFamily="2" charset="-122"/>
                <a:ea typeface="华文楷体" panose="02010600040101010101" pitchFamily="2" charset="-122"/>
              </a:rPr>
              <a:t>[log</a:t>
            </a:r>
            <a:r>
              <a:rPr lang="en-US" altLang="zh-CN" sz="2100" baseline="-25000" dirty="0">
                <a:solidFill>
                  <a:srgbClr val="00194C"/>
                </a:solidFill>
                <a:latin typeface="华文楷体" panose="02010600040101010101" pitchFamily="2" charset="-122"/>
                <a:ea typeface="华文楷体" panose="02010600040101010101" pitchFamily="2" charset="-122"/>
              </a:rPr>
              <a:t>2</a:t>
            </a:r>
            <a:r>
              <a:rPr lang="en-US" altLang="zh-CN" sz="2100" dirty="0">
                <a:solidFill>
                  <a:srgbClr val="00194C"/>
                </a:solidFill>
                <a:latin typeface="华文楷体" panose="02010600040101010101" pitchFamily="2" charset="-122"/>
                <a:ea typeface="华文楷体" panose="02010600040101010101" pitchFamily="2" charset="-122"/>
              </a:rPr>
              <a:t>n]+1</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FF0000"/>
              </a:solidFill>
              <a:latin typeface="华文楷体" panose="02010600040101010101" pitchFamily="2" charset="-122"/>
              <a:ea typeface="华文楷体" panose="02010600040101010101" pitchFamily="2" charset="-122"/>
            </a:endParaRPr>
          </a:p>
          <a:p>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pic>
        <p:nvPicPr>
          <p:cNvPr id="4" name="图片 3" descr="SPX8H)7]$${(7D{1DLBBP[E"/>
          <p:cNvPicPr>
            <a:picLocks noChangeAspect="1"/>
          </p:cNvPicPr>
          <p:nvPr/>
        </p:nvPicPr>
        <p:blipFill>
          <a:blip r:embed="rId1"/>
          <a:stretch>
            <a:fillRect/>
          </a:stretch>
        </p:blipFill>
        <p:spPr>
          <a:xfrm>
            <a:off x="2928620" y="2979420"/>
            <a:ext cx="3286125" cy="1581150"/>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45000"/>
              </a:lnSpc>
              <a:spcBef>
                <a:spcPct val="50000"/>
              </a:spcBef>
            </a:pPr>
            <a:r>
              <a:rPr lang="zh-CN" altLang="en-US" sz="2100" dirty="0" smtClean="0">
                <a:solidFill>
                  <a:srgbClr val="00194C"/>
                </a:solidFill>
                <a:latin typeface="华文楷体" panose="02010600040101010101" pitchFamily="2" charset="-122"/>
                <a:ea typeface="华文楷体" panose="02010600040101010101" pitchFamily="2" charset="-122"/>
              </a:rPr>
              <a:t>    折半</a:t>
            </a:r>
            <a:r>
              <a:rPr lang="zh-CN" altLang="en-US" sz="2100" dirty="0">
                <a:solidFill>
                  <a:srgbClr val="00194C"/>
                </a:solidFill>
                <a:latin typeface="华文楷体" panose="02010600040101010101" pitchFamily="2" charset="-122"/>
                <a:ea typeface="华文楷体" panose="02010600040101010101" pitchFamily="2" charset="-122"/>
              </a:rPr>
              <a:t>查找成功时，关键字比较次数最多不超过判定树的深度。</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45000"/>
              </a:lnSpc>
              <a:spcBef>
                <a:spcPct val="5000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zh-CN" altLang="en-US" sz="2100" dirty="0">
                <a:solidFill>
                  <a:srgbClr val="00194C"/>
                </a:solidFill>
                <a:latin typeface="华文楷体" panose="02010600040101010101" pitchFamily="2" charset="-122"/>
                <a:ea typeface="华文楷体" panose="02010600040101010101" pitchFamily="2" charset="-122"/>
              </a:rPr>
              <a:t>为便于讨论，假定表的长度</a:t>
            </a:r>
            <a:r>
              <a:rPr lang="en-US" altLang="zh-CN" sz="2100" dirty="0">
                <a:solidFill>
                  <a:srgbClr val="00194C"/>
                </a:solidFill>
                <a:latin typeface="华文楷体" panose="02010600040101010101" pitchFamily="2" charset="-122"/>
                <a:ea typeface="华文楷体" panose="02010600040101010101" pitchFamily="2" charset="-122"/>
              </a:rPr>
              <a:t>n=2</a:t>
            </a:r>
            <a:r>
              <a:rPr lang="en-US" altLang="zh-CN" sz="2100" baseline="30000" dirty="0">
                <a:solidFill>
                  <a:srgbClr val="00194C"/>
                </a:solidFill>
                <a:latin typeface="华文楷体" panose="02010600040101010101" pitchFamily="2" charset="-122"/>
                <a:ea typeface="华文楷体" panose="02010600040101010101" pitchFamily="2" charset="-122"/>
              </a:rPr>
              <a:t>h</a:t>
            </a:r>
            <a:r>
              <a:rPr lang="en-US" altLang="zh-CN" sz="2100" dirty="0">
                <a:solidFill>
                  <a:srgbClr val="00194C"/>
                </a:solidFill>
                <a:latin typeface="华文楷体" panose="02010600040101010101" pitchFamily="2" charset="-122"/>
                <a:ea typeface="华文楷体" panose="02010600040101010101" pitchFamily="2" charset="-122"/>
              </a:rPr>
              <a:t>-1</a:t>
            </a:r>
            <a:r>
              <a:rPr lang="zh-CN" altLang="en-US" sz="2100" dirty="0">
                <a:solidFill>
                  <a:srgbClr val="00194C"/>
                </a:solidFill>
                <a:latin typeface="华文楷体" panose="02010600040101010101" pitchFamily="2" charset="-122"/>
                <a:ea typeface="华文楷体" panose="02010600040101010101" pitchFamily="2" charset="-122"/>
              </a:rPr>
              <a:t>，则相应判定树必为深度是</a:t>
            </a:r>
            <a:r>
              <a:rPr lang="en-US" altLang="zh-CN" sz="2100" dirty="0">
                <a:solidFill>
                  <a:srgbClr val="00194C"/>
                </a:solidFill>
                <a:latin typeface="华文楷体" panose="02010600040101010101" pitchFamily="2" charset="-122"/>
                <a:ea typeface="华文楷体" panose="02010600040101010101" pitchFamily="2" charset="-122"/>
              </a:rPr>
              <a:t>h</a:t>
            </a:r>
            <a:r>
              <a:rPr lang="zh-CN" altLang="en-US" sz="2100" dirty="0">
                <a:solidFill>
                  <a:srgbClr val="00194C"/>
                </a:solidFill>
                <a:latin typeface="华文楷体" panose="02010600040101010101" pitchFamily="2" charset="-122"/>
                <a:ea typeface="华文楷体" panose="02010600040101010101" pitchFamily="2" charset="-122"/>
              </a:rPr>
              <a:t>的满二叉树，</a:t>
            </a:r>
            <a:r>
              <a:rPr lang="en-US" altLang="zh-CN" sz="2100" dirty="0">
                <a:solidFill>
                  <a:srgbClr val="00194C"/>
                </a:solidFill>
                <a:latin typeface="华文楷体" panose="02010600040101010101" pitchFamily="2" charset="-122"/>
                <a:ea typeface="华文楷体" panose="02010600040101010101" pitchFamily="2" charset="-122"/>
              </a:rPr>
              <a:t>h=log</a:t>
            </a:r>
            <a:r>
              <a:rPr lang="en-US" altLang="zh-CN" sz="2100" baseline="-25000" dirty="0">
                <a:solidFill>
                  <a:srgbClr val="00194C"/>
                </a:solidFill>
                <a:latin typeface="华文楷体" panose="02010600040101010101" pitchFamily="2" charset="-122"/>
                <a:ea typeface="华文楷体" panose="02010600040101010101" pitchFamily="2" charset="-122"/>
              </a:rPr>
              <a:t>2</a:t>
            </a:r>
            <a:r>
              <a:rPr lang="en-US" altLang="zh-CN" sz="2100" dirty="0">
                <a:solidFill>
                  <a:srgbClr val="00194C"/>
                </a:solidFill>
                <a:latin typeface="华文楷体" panose="02010600040101010101" pitchFamily="2" charset="-122"/>
                <a:ea typeface="华文楷体" panose="02010600040101010101" pitchFamily="2" charset="-122"/>
              </a:rPr>
              <a:t>(n+1)</a:t>
            </a:r>
            <a:r>
              <a:rPr lang="zh-CN" altLang="en-US" sz="2100" dirty="0">
                <a:solidFill>
                  <a:srgbClr val="00194C"/>
                </a:solidFill>
                <a:latin typeface="华文楷体" panose="02010600040101010101" pitchFamily="2" charset="-122"/>
                <a:ea typeface="华文楷体" panose="02010600040101010101" pitchFamily="2" charset="-122"/>
              </a:rPr>
              <a:t>。又假设每个记录的查找概率相等</a:t>
            </a:r>
            <a:r>
              <a:rPr lang="zh-CN" altLang="en-US" sz="2100" dirty="0" smtClean="0">
                <a:solidFill>
                  <a:srgbClr val="00194C"/>
                </a:solidFill>
                <a:latin typeface="华文楷体" panose="02010600040101010101" pitchFamily="2" charset="-122"/>
                <a:ea typeface="华文楷体" panose="02010600040101010101" pitchFamily="2" charset="-122"/>
              </a:rPr>
              <a:t>，则</a:t>
            </a:r>
            <a:r>
              <a:rPr lang="zh-CN" altLang="en-US" sz="2100" dirty="0">
                <a:solidFill>
                  <a:srgbClr val="00194C"/>
                </a:solidFill>
                <a:latin typeface="华文楷体" panose="02010600040101010101" pitchFamily="2" charset="-122"/>
                <a:ea typeface="华文楷体" panose="02010600040101010101" pitchFamily="2" charset="-122"/>
              </a:rPr>
              <a:t>折半查找成功时的平均查找长度为 </a:t>
            </a:r>
            <a:endParaRPr lang="zh-CN" altLang="en-US" sz="2100" dirty="0">
              <a:solidFill>
                <a:srgbClr val="00194C"/>
              </a:solidFill>
              <a:latin typeface="华文楷体" panose="02010600040101010101" pitchFamily="2" charset="-122"/>
              <a:ea typeface="华文楷体" panose="02010600040101010101" pitchFamily="2" charset="-122"/>
            </a:endParaRPr>
          </a:p>
          <a:p>
            <a:pPr marL="339725" lvl="2" indent="-205105"/>
            <a:endParaRPr lang="en-US" altLang="zh-CN" dirty="0"/>
          </a:p>
          <a:p>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pic>
        <p:nvPicPr>
          <p:cNvPr id="4" name="Picture 6"/>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97130" y="2901693"/>
            <a:ext cx="5651897" cy="8358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8.1.3 </a:t>
            </a:r>
            <a:r>
              <a:rPr lang="zh-CN" altLang="en-US" dirty="0"/>
              <a:t>索引顺序表的</a:t>
            </a:r>
            <a:r>
              <a:rPr lang="zh-CN" altLang="en-US" dirty="0" smtClean="0"/>
              <a:t>查找</a:t>
            </a:r>
            <a:endParaRPr lang="en-US" altLang="zh-CN" dirty="0" smtClean="0"/>
          </a:p>
          <a:p>
            <a:pPr marL="205105" indent="-205105"/>
            <a:r>
              <a:rPr lang="zh-CN" altLang="en-US" sz="2100" dirty="0" smtClean="0">
                <a:solidFill>
                  <a:srgbClr val="00194C"/>
                </a:solidFill>
                <a:latin typeface="华文楷体" panose="02010600040101010101" pitchFamily="2" charset="-122"/>
                <a:ea typeface="华文楷体" panose="02010600040101010101" pitchFamily="2" charset="-122"/>
              </a:rPr>
              <a:t>    索引</a:t>
            </a:r>
            <a:r>
              <a:rPr lang="zh-CN" altLang="en-US" sz="2100" dirty="0">
                <a:solidFill>
                  <a:srgbClr val="00194C"/>
                </a:solidFill>
                <a:latin typeface="华文楷体" panose="02010600040101010101" pitchFamily="2" charset="-122"/>
                <a:ea typeface="华文楷体" panose="02010600040101010101" pitchFamily="2" charset="-122"/>
              </a:rPr>
              <a:t>顺序查找又称</a:t>
            </a:r>
            <a:r>
              <a:rPr lang="zh-CN" altLang="en-US" sz="2100" dirty="0">
                <a:solidFill>
                  <a:srgbClr val="FF0000"/>
                </a:solidFill>
                <a:latin typeface="华文楷体" panose="02010600040101010101" pitchFamily="2" charset="-122"/>
                <a:ea typeface="华文楷体" panose="02010600040101010101" pitchFamily="2" charset="-122"/>
              </a:rPr>
              <a:t>分块</a:t>
            </a:r>
            <a:r>
              <a:rPr lang="zh-CN" altLang="en-US" sz="2100" dirty="0" smtClean="0">
                <a:solidFill>
                  <a:srgbClr val="FF0000"/>
                </a:solidFill>
                <a:latin typeface="华文楷体" panose="02010600040101010101" pitchFamily="2" charset="-122"/>
                <a:ea typeface="华文楷体" panose="02010600040101010101" pitchFamily="2" charset="-122"/>
              </a:rPr>
              <a:t>查找</a:t>
            </a:r>
            <a:r>
              <a:rPr lang="zh-CN" altLang="en-US" sz="2100" dirty="0" smtClean="0">
                <a:solidFill>
                  <a:srgbClr val="00194C"/>
                </a:solidFill>
                <a:latin typeface="华文楷体" panose="02010600040101010101" pitchFamily="2" charset="-122"/>
                <a:ea typeface="华文楷体" panose="02010600040101010101" pitchFamily="2" charset="-122"/>
              </a:rPr>
              <a:t>。要求</a:t>
            </a:r>
            <a:r>
              <a:rPr lang="zh-CN" altLang="en-US" sz="2100" dirty="0">
                <a:solidFill>
                  <a:srgbClr val="00194C"/>
                </a:solidFill>
                <a:latin typeface="华文楷体" panose="02010600040101010101" pitchFamily="2" charset="-122"/>
                <a:ea typeface="华文楷体" panose="02010600040101010101" pitchFamily="2" charset="-122"/>
              </a:rPr>
              <a:t>将列表组织成</a:t>
            </a:r>
            <a:r>
              <a:rPr lang="zh-CN" altLang="en-US" sz="2100" dirty="0" smtClean="0">
                <a:solidFill>
                  <a:srgbClr val="00194C"/>
                </a:solidFill>
                <a:latin typeface="华文楷体" panose="02010600040101010101" pitchFamily="2" charset="-122"/>
                <a:ea typeface="华文楷体" panose="02010600040101010101" pitchFamily="2" charset="-122"/>
              </a:rPr>
              <a:t>以下结构：</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ct val="120000"/>
              </a:lnSpc>
            </a:pPr>
            <a:r>
              <a:rPr lang="zh-CN" altLang="en-US" sz="2100" dirty="0" smtClean="0">
                <a:solidFill>
                  <a:srgbClr val="00194C"/>
                </a:solidFill>
                <a:latin typeface="华文楷体" panose="02010600040101010101" pitchFamily="2" charset="-122"/>
                <a:ea typeface="华文楷体" panose="02010600040101010101" pitchFamily="2" charset="-122"/>
              </a:rPr>
              <a:t>    首先</a:t>
            </a:r>
            <a:r>
              <a:rPr lang="zh-CN" altLang="en-US" sz="2100" dirty="0">
                <a:solidFill>
                  <a:srgbClr val="00194C"/>
                </a:solidFill>
                <a:latin typeface="华文楷体" panose="02010600040101010101" pitchFamily="2" charset="-122"/>
                <a:ea typeface="华文楷体" panose="02010600040101010101" pitchFamily="2" charset="-122"/>
              </a:rPr>
              <a:t>将列表分成若干个块（</a:t>
            </a:r>
            <a:r>
              <a:rPr lang="zh-CN" altLang="en-US" sz="2100" dirty="0">
                <a:solidFill>
                  <a:srgbClr val="FF0000"/>
                </a:solidFill>
                <a:latin typeface="华文楷体" panose="02010600040101010101" pitchFamily="2" charset="-122"/>
                <a:ea typeface="华文楷体" panose="02010600040101010101" pitchFamily="2" charset="-122"/>
              </a:rPr>
              <a:t>子表</a:t>
            </a:r>
            <a:r>
              <a:rPr lang="zh-CN" altLang="en-US" sz="2100" dirty="0">
                <a:solidFill>
                  <a:srgbClr val="00194C"/>
                </a:solidFill>
                <a:latin typeface="华文楷体" panose="02010600040101010101" pitchFamily="2" charset="-122"/>
                <a:ea typeface="华文楷体" panose="02010600040101010101" pitchFamily="2" charset="-122"/>
              </a:rPr>
              <a:t>）。一般情况下，块的长度均匀， 最后一块可以不满。每块中元素任意排列，即</a:t>
            </a:r>
            <a:r>
              <a:rPr lang="zh-CN" altLang="en-US" sz="2100" dirty="0">
                <a:solidFill>
                  <a:srgbClr val="FF0000"/>
                </a:solidFill>
                <a:latin typeface="华文楷体" panose="02010600040101010101" pitchFamily="2" charset="-122"/>
                <a:ea typeface="华文楷体" panose="02010600040101010101" pitchFamily="2" charset="-122"/>
              </a:rPr>
              <a:t>块内无序</a:t>
            </a:r>
            <a:r>
              <a:rPr lang="zh-CN" altLang="en-US" sz="2100" dirty="0">
                <a:solidFill>
                  <a:srgbClr val="00194C"/>
                </a:solidFill>
                <a:latin typeface="华文楷体" panose="02010600040101010101" pitchFamily="2" charset="-122"/>
                <a:ea typeface="华文楷体" panose="02010600040101010101" pitchFamily="2" charset="-122"/>
              </a:rPr>
              <a:t>，但</a:t>
            </a:r>
            <a:r>
              <a:rPr lang="zh-CN" altLang="en-US" sz="2100" dirty="0">
                <a:solidFill>
                  <a:srgbClr val="FF0000"/>
                </a:solidFill>
                <a:latin typeface="华文楷体" panose="02010600040101010101" pitchFamily="2" charset="-122"/>
                <a:ea typeface="华文楷体" panose="02010600040101010101" pitchFamily="2" charset="-122"/>
              </a:rPr>
              <a:t>块与块之间有序</a:t>
            </a:r>
            <a:r>
              <a:rPr lang="zh-CN" altLang="en-US" sz="2100" dirty="0">
                <a:solidFill>
                  <a:srgbClr val="00194C"/>
                </a:solidFill>
                <a:latin typeface="华文楷体" panose="02010600040101010101" pitchFamily="2" charset="-122"/>
                <a:ea typeface="华文楷体" panose="02010600040101010101" pitchFamily="2" charset="-122"/>
              </a:rPr>
              <a:t>，是指第二个子表中所有记录关键字均大于第一个子表中的最大关键字，第三个</a:t>
            </a:r>
            <a:r>
              <a:rPr lang="en-US" altLang="zh-CN" sz="2100" dirty="0">
                <a:solidFill>
                  <a:srgbClr val="00194C"/>
                </a:solidFill>
                <a:latin typeface="华文楷体" panose="02010600040101010101" pitchFamily="2" charset="-122"/>
                <a:ea typeface="华文楷体" panose="02010600040101010101" pitchFamily="2" charset="-122"/>
              </a:rPr>
              <a:t>……  </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20000"/>
              </a:lnSpc>
            </a:pPr>
            <a:r>
              <a:rPr lang="zh-CN" altLang="en-US" sz="2100" dirty="0" smtClean="0">
                <a:solidFill>
                  <a:srgbClr val="00194C"/>
                </a:solidFill>
                <a:latin typeface="华文楷体" panose="02010600040101010101" pitchFamily="2" charset="-122"/>
                <a:ea typeface="华文楷体" panose="02010600040101010101" pitchFamily="2" charset="-122"/>
              </a:rPr>
              <a:t>    构造</a:t>
            </a:r>
            <a:r>
              <a:rPr lang="zh-CN" altLang="en-US" sz="2100" dirty="0">
                <a:solidFill>
                  <a:srgbClr val="00194C"/>
                </a:solidFill>
                <a:latin typeface="华文楷体" panose="02010600040101010101" pitchFamily="2" charset="-122"/>
                <a:ea typeface="华文楷体" panose="02010600040101010101" pitchFamily="2" charset="-122"/>
              </a:rPr>
              <a:t>一个索引表。其中每个索引项对应一个块并记录每块的起始位置，以及每块中的最大关键字（或最小关键字）。索引表按关键字有序排列</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graphicFrame>
        <p:nvGraphicFramePr>
          <p:cNvPr id="5" name="Object 5"/>
          <p:cNvGraphicFramePr>
            <a:graphicFrameLocks noChangeAspect="1"/>
          </p:cNvGraphicFramePr>
          <p:nvPr/>
        </p:nvGraphicFramePr>
        <p:xfrm>
          <a:off x="1257300" y="1257300"/>
          <a:ext cx="6743700" cy="2624138"/>
        </p:xfrm>
        <a:graphic>
          <a:graphicData uri="http://schemas.openxmlformats.org/presentationml/2006/ole">
            <mc:AlternateContent xmlns:mc="http://schemas.openxmlformats.org/markup-compatibility/2006">
              <mc:Choice xmlns:v="urn:schemas-microsoft-com:vml" Requires="v">
                <p:oleObj spid="_x0000_s39987" name="VISIO" r:id="rId1" imgW="3032760" imgH="1181100" progId="Visio.Drawing.4">
                  <p:embed/>
                </p:oleObj>
              </mc:Choice>
              <mc:Fallback>
                <p:oleObj name="VISIO" r:id="rId1" imgW="3032760" imgH="118110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7300" y="1257300"/>
                        <a:ext cx="6743700" cy="2624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分块</a:t>
            </a:r>
            <a:r>
              <a:rPr lang="zh-CN" altLang="en-US" sz="2100" dirty="0">
                <a:solidFill>
                  <a:srgbClr val="00194C"/>
                </a:solidFill>
                <a:latin typeface="华文楷体" panose="02010600040101010101" pitchFamily="2" charset="-122"/>
                <a:ea typeface="华文楷体" panose="02010600040101010101" pitchFamily="2" charset="-122"/>
              </a:rPr>
              <a:t>查找的基本过程如下</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(1) </a:t>
            </a:r>
            <a:r>
              <a:rPr lang="zh-CN" altLang="en-US" sz="2100" dirty="0">
                <a:solidFill>
                  <a:srgbClr val="00194C"/>
                </a:solidFill>
                <a:latin typeface="华文楷体" panose="02010600040101010101" pitchFamily="2" charset="-122"/>
                <a:ea typeface="华文楷体" panose="02010600040101010101" pitchFamily="2" charset="-122"/>
              </a:rPr>
              <a:t>首先，将待查关键字</a:t>
            </a:r>
            <a:r>
              <a:rPr lang="en-US" altLang="zh-CN" sz="2100" dirty="0">
                <a:solidFill>
                  <a:srgbClr val="00194C"/>
                </a:solidFill>
                <a:latin typeface="华文楷体" panose="02010600040101010101" pitchFamily="2" charset="-122"/>
                <a:ea typeface="华文楷体" panose="02010600040101010101" pitchFamily="2" charset="-122"/>
              </a:rPr>
              <a:t>K</a:t>
            </a:r>
            <a:r>
              <a:rPr lang="zh-CN" altLang="en-US" sz="2100" dirty="0">
                <a:solidFill>
                  <a:srgbClr val="00194C"/>
                </a:solidFill>
                <a:latin typeface="华文楷体" panose="02010600040101010101" pitchFamily="2" charset="-122"/>
                <a:ea typeface="华文楷体" panose="02010600040101010101" pitchFamily="2" charset="-122"/>
              </a:rPr>
              <a:t>与索引表中的关键字进行比较</a:t>
            </a:r>
            <a:r>
              <a:rPr lang="zh-CN" altLang="en-US" sz="2100" dirty="0" smtClean="0">
                <a:solidFill>
                  <a:srgbClr val="00194C"/>
                </a:solidFill>
                <a:latin typeface="华文楷体" panose="02010600040101010101" pitchFamily="2" charset="-122"/>
                <a:ea typeface="华文楷体" panose="02010600040101010101" pitchFamily="2" charset="-122"/>
              </a:rPr>
              <a:t>，以</a:t>
            </a:r>
            <a:r>
              <a:rPr lang="zh-CN" altLang="en-US" sz="2100" dirty="0">
                <a:solidFill>
                  <a:srgbClr val="00194C"/>
                </a:solidFill>
                <a:latin typeface="华文楷体" panose="02010600040101010101" pitchFamily="2" charset="-122"/>
                <a:ea typeface="华文楷体" panose="02010600040101010101" pitchFamily="2" charset="-122"/>
              </a:rPr>
              <a:t>确定待查记录所在的块。具体的可用顺序查找法或折半查找法进行</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(2) </a:t>
            </a:r>
            <a:r>
              <a:rPr lang="zh-CN" altLang="en-US" sz="2100" dirty="0">
                <a:solidFill>
                  <a:srgbClr val="00194C"/>
                </a:solidFill>
                <a:latin typeface="华文楷体" panose="02010600040101010101" pitchFamily="2" charset="-122"/>
                <a:ea typeface="华文楷体" panose="02010600040101010101" pitchFamily="2" charset="-122"/>
              </a:rPr>
              <a:t>进一步用顺序查找法，在相应块内查找关键字为</a:t>
            </a:r>
            <a:r>
              <a:rPr lang="en-US" altLang="zh-CN" sz="2100" dirty="0">
                <a:solidFill>
                  <a:srgbClr val="00194C"/>
                </a:solidFill>
                <a:latin typeface="华文楷体" panose="02010600040101010101" pitchFamily="2" charset="-122"/>
                <a:ea typeface="华文楷体" panose="02010600040101010101" pitchFamily="2" charset="-122"/>
              </a:rPr>
              <a:t>K</a:t>
            </a:r>
            <a:r>
              <a:rPr lang="zh-CN" altLang="en-US" sz="2100" dirty="0">
                <a:solidFill>
                  <a:srgbClr val="00194C"/>
                </a:solidFill>
                <a:latin typeface="华文楷体" panose="02010600040101010101" pitchFamily="2" charset="-122"/>
                <a:ea typeface="华文楷体" panose="02010600040101010101" pitchFamily="2" charset="-122"/>
              </a:rPr>
              <a:t>的元素</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a:t>
            </a:r>
            <a:r>
              <a:rPr lang="zh-CN" altLang="en-US" sz="2100" dirty="0">
                <a:solidFill>
                  <a:srgbClr val="00194C"/>
                </a:solidFill>
                <a:latin typeface="华文楷体" panose="02010600040101010101" pitchFamily="2" charset="-122"/>
                <a:ea typeface="华文楷体" panose="02010600040101010101" pitchFamily="2" charset="-122"/>
              </a:rPr>
              <a:t>例如，在上述索引顺序表中查找</a:t>
            </a:r>
            <a:r>
              <a:rPr lang="en-US" altLang="zh-CN" sz="2100" dirty="0">
                <a:solidFill>
                  <a:srgbClr val="00194C"/>
                </a:solidFill>
                <a:latin typeface="华文楷体" panose="02010600040101010101" pitchFamily="2" charset="-122"/>
                <a:ea typeface="华文楷体" panose="02010600040101010101" pitchFamily="2" charset="-122"/>
              </a:rPr>
              <a:t>36</a:t>
            </a:r>
            <a:r>
              <a:rPr lang="zh-CN" altLang="en-US" sz="2100" dirty="0">
                <a:solidFill>
                  <a:srgbClr val="00194C"/>
                </a:solidFill>
                <a:latin typeface="华文楷体" panose="02010600040101010101" pitchFamily="2" charset="-122"/>
                <a:ea typeface="华文楷体" panose="02010600040101010101" pitchFamily="2" charset="-122"/>
              </a:rPr>
              <a:t>。首先将</a:t>
            </a:r>
            <a:r>
              <a:rPr lang="en-US" altLang="zh-CN" sz="2100" dirty="0">
                <a:solidFill>
                  <a:srgbClr val="00194C"/>
                </a:solidFill>
                <a:latin typeface="华文楷体" panose="02010600040101010101" pitchFamily="2" charset="-122"/>
                <a:ea typeface="华文楷体" panose="02010600040101010101" pitchFamily="2" charset="-122"/>
              </a:rPr>
              <a:t>36</a:t>
            </a:r>
            <a:r>
              <a:rPr lang="zh-CN" altLang="en-US" sz="2100" dirty="0">
                <a:solidFill>
                  <a:srgbClr val="00194C"/>
                </a:solidFill>
                <a:latin typeface="华文楷体" panose="02010600040101010101" pitchFamily="2" charset="-122"/>
                <a:ea typeface="华文楷体" panose="02010600040101010101" pitchFamily="2" charset="-122"/>
              </a:rPr>
              <a:t>与索引表中的关键字进行比较，因为</a:t>
            </a:r>
            <a:r>
              <a:rPr lang="en-US" altLang="zh-CN" sz="2100" dirty="0">
                <a:solidFill>
                  <a:srgbClr val="00194C"/>
                </a:solidFill>
                <a:latin typeface="华文楷体" panose="02010600040101010101" pitchFamily="2" charset="-122"/>
                <a:ea typeface="华文楷体" panose="02010600040101010101" pitchFamily="2" charset="-122"/>
              </a:rPr>
              <a:t>25</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36≤58</a:t>
            </a:r>
            <a:r>
              <a:rPr lang="zh-CN" altLang="en-US" sz="2100" dirty="0">
                <a:solidFill>
                  <a:srgbClr val="00194C"/>
                </a:solidFill>
                <a:latin typeface="华文楷体" panose="02010600040101010101" pitchFamily="2" charset="-122"/>
                <a:ea typeface="华文楷体" panose="02010600040101010101" pitchFamily="2" charset="-122"/>
              </a:rPr>
              <a:t>，所以</a:t>
            </a:r>
            <a:r>
              <a:rPr lang="en-US" altLang="zh-CN" sz="2100" dirty="0">
                <a:solidFill>
                  <a:srgbClr val="00194C"/>
                </a:solidFill>
                <a:latin typeface="华文楷体" panose="02010600040101010101" pitchFamily="2" charset="-122"/>
                <a:ea typeface="华文楷体" panose="02010600040101010101" pitchFamily="2" charset="-122"/>
              </a:rPr>
              <a:t>36</a:t>
            </a:r>
            <a:r>
              <a:rPr lang="zh-CN" altLang="en-US" sz="2100" dirty="0">
                <a:solidFill>
                  <a:srgbClr val="00194C"/>
                </a:solidFill>
                <a:latin typeface="华文楷体" panose="02010600040101010101" pitchFamily="2" charset="-122"/>
                <a:ea typeface="华文楷体" panose="02010600040101010101" pitchFamily="2" charset="-122"/>
              </a:rPr>
              <a:t>在第二个块中，进一步在第二个块中顺序查找，最后在</a:t>
            </a:r>
            <a:r>
              <a:rPr lang="en-US" altLang="zh-CN" sz="2100" dirty="0">
                <a:solidFill>
                  <a:srgbClr val="00194C"/>
                </a:solidFill>
                <a:latin typeface="华文楷体" panose="02010600040101010101" pitchFamily="2" charset="-122"/>
                <a:ea typeface="华文楷体" panose="02010600040101010101" pitchFamily="2" charset="-122"/>
              </a:rPr>
              <a:t>8</a:t>
            </a:r>
            <a:r>
              <a:rPr lang="zh-CN" altLang="en-US" sz="2100" dirty="0">
                <a:solidFill>
                  <a:srgbClr val="00194C"/>
                </a:solidFill>
                <a:latin typeface="华文楷体" panose="02010600040101010101" pitchFamily="2" charset="-122"/>
                <a:ea typeface="华文楷体" panose="02010600040101010101" pitchFamily="2" charset="-122"/>
              </a:rPr>
              <a:t>号单元中找到</a:t>
            </a:r>
            <a:r>
              <a:rPr lang="en-US" altLang="zh-CN" sz="2100" dirty="0">
                <a:solidFill>
                  <a:srgbClr val="00194C"/>
                </a:solidFill>
                <a:latin typeface="华文楷体" panose="02010600040101010101" pitchFamily="2" charset="-122"/>
                <a:ea typeface="华文楷体" panose="02010600040101010101" pitchFamily="2" charset="-122"/>
              </a:rPr>
              <a:t>36</a:t>
            </a:r>
            <a:r>
              <a:rPr lang="zh-CN" altLang="en-US"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gn="ctr"/>
            <a:r>
              <a:rPr lang="zh-CN" altLang="en-US" sz="2100" dirty="0" smtClean="0">
                <a:solidFill>
                  <a:srgbClr val="00194C"/>
                </a:solidFill>
                <a:latin typeface="华文楷体" panose="02010600040101010101" pitchFamily="2" charset="-122"/>
                <a:ea typeface="华文楷体" panose="02010600040101010101" pitchFamily="2" charset="-122"/>
              </a:rPr>
              <a:t>    分块</a:t>
            </a:r>
            <a:r>
              <a:rPr lang="zh-CN" altLang="en-US" sz="2100" dirty="0">
                <a:solidFill>
                  <a:srgbClr val="00194C"/>
                </a:solidFill>
                <a:latin typeface="华文楷体" panose="02010600040101010101" pitchFamily="2" charset="-122"/>
                <a:ea typeface="华文楷体" panose="02010600040101010101" pitchFamily="2" charset="-122"/>
              </a:rPr>
              <a:t>查找的平均查找长度由两部分构成，即查找索引表时的平均查找长度为</a:t>
            </a:r>
            <a:r>
              <a:rPr lang="en-US" altLang="zh-CN" sz="2100" dirty="0">
                <a:solidFill>
                  <a:srgbClr val="00194C"/>
                </a:solidFill>
                <a:latin typeface="华文楷体" panose="02010600040101010101" pitchFamily="2" charset="-122"/>
                <a:ea typeface="华文楷体" panose="02010600040101010101" pitchFamily="2" charset="-122"/>
              </a:rPr>
              <a:t>L</a:t>
            </a:r>
            <a:r>
              <a:rPr lang="en-US" altLang="zh-CN" sz="2100" baseline="-25000" dirty="0">
                <a:solidFill>
                  <a:srgbClr val="00194C"/>
                </a:solidFill>
                <a:latin typeface="华文楷体" panose="02010600040101010101" pitchFamily="2" charset="-122"/>
                <a:ea typeface="华文楷体" panose="02010600040101010101" pitchFamily="2" charset="-122"/>
              </a:rPr>
              <a:t>B</a:t>
            </a:r>
            <a:r>
              <a:rPr lang="zh-CN" altLang="en-US" sz="2100" dirty="0">
                <a:solidFill>
                  <a:srgbClr val="00194C"/>
                </a:solidFill>
                <a:latin typeface="华文楷体" panose="02010600040101010101" pitchFamily="2" charset="-122"/>
                <a:ea typeface="华文楷体" panose="02010600040101010101" pitchFamily="2" charset="-122"/>
              </a:rPr>
              <a:t>，以及在相应块内进行顺序查找的平均查找长度为</a:t>
            </a:r>
            <a:r>
              <a:rPr lang="en-US" altLang="zh-CN" sz="2100" dirty="0">
                <a:solidFill>
                  <a:srgbClr val="00194C"/>
                </a:solidFill>
                <a:latin typeface="华文楷体" panose="02010600040101010101" pitchFamily="2" charset="-122"/>
                <a:ea typeface="华文楷体" panose="02010600040101010101" pitchFamily="2" charset="-122"/>
              </a:rPr>
              <a:t>L</a:t>
            </a:r>
            <a:r>
              <a:rPr lang="en-US" altLang="zh-CN" sz="2100" baseline="-25000" dirty="0">
                <a:solidFill>
                  <a:srgbClr val="00194C"/>
                </a:solidFill>
                <a:latin typeface="华文楷体" panose="02010600040101010101" pitchFamily="2" charset="-122"/>
                <a:ea typeface="华文楷体" panose="02010600040101010101" pitchFamily="2" charset="-122"/>
              </a:rPr>
              <a:t>W</a:t>
            </a:r>
            <a:r>
              <a:rPr lang="zh-CN" altLang="en-US" sz="2100" dirty="0" smtClean="0">
                <a:solidFill>
                  <a:srgbClr val="00194C"/>
                </a:solidFill>
                <a:latin typeface="华文楷体" panose="02010600040101010101" pitchFamily="2" charset="-122"/>
                <a:ea typeface="华文楷体" panose="02010600040101010101" pitchFamily="2" charset="-122"/>
              </a:rPr>
              <a:t>。  </a:t>
            </a:r>
            <a:r>
              <a:rPr lang="en-US" altLang="zh-CN" sz="2100" dirty="0" err="1" smtClean="0">
                <a:solidFill>
                  <a:srgbClr val="00194C"/>
                </a:solidFill>
                <a:latin typeface="华文楷体" panose="02010600040101010101" pitchFamily="2" charset="-122"/>
                <a:ea typeface="华文楷体" panose="02010600040101010101" pitchFamily="2" charset="-122"/>
              </a:rPr>
              <a:t>ASL</a:t>
            </a:r>
            <a:r>
              <a:rPr lang="en-US" altLang="zh-CN" sz="2100" baseline="-25000" dirty="0" err="1" smtClean="0">
                <a:solidFill>
                  <a:srgbClr val="00194C"/>
                </a:solidFill>
                <a:latin typeface="华文楷体" panose="02010600040101010101" pitchFamily="2" charset="-122"/>
                <a:ea typeface="华文楷体" panose="02010600040101010101" pitchFamily="2" charset="-122"/>
              </a:rPr>
              <a:t>bs</a:t>
            </a:r>
            <a:r>
              <a:rPr lang="en-US" altLang="zh-CN" sz="2100" dirty="0" smtClean="0">
                <a:solidFill>
                  <a:srgbClr val="00194C"/>
                </a:solidFill>
                <a:latin typeface="华文楷体" panose="02010600040101010101" pitchFamily="2" charset="-122"/>
                <a:ea typeface="华文楷体" panose="02010600040101010101" pitchFamily="2" charset="-122"/>
              </a:rPr>
              <a:t>=L</a:t>
            </a:r>
            <a:r>
              <a:rPr lang="en-US" altLang="zh-CN" sz="2100" baseline="-25000" dirty="0" smtClean="0">
                <a:solidFill>
                  <a:srgbClr val="00194C"/>
                </a:solidFill>
                <a:latin typeface="华文楷体" panose="02010600040101010101" pitchFamily="2" charset="-122"/>
                <a:ea typeface="华文楷体" panose="02010600040101010101" pitchFamily="2" charset="-122"/>
              </a:rPr>
              <a:t>B</a:t>
            </a:r>
            <a:r>
              <a:rPr lang="en-US" altLang="zh-CN" sz="2100" dirty="0" smtClean="0">
                <a:solidFill>
                  <a:srgbClr val="00194C"/>
                </a:solidFill>
                <a:latin typeface="华文楷体" panose="02010600040101010101" pitchFamily="2" charset="-122"/>
                <a:ea typeface="华文楷体" panose="02010600040101010101" pitchFamily="2" charset="-122"/>
              </a:rPr>
              <a:t>+L</a:t>
            </a:r>
            <a:r>
              <a:rPr lang="en-US" altLang="zh-CN" sz="2100" baseline="-25000" dirty="0" smtClean="0">
                <a:solidFill>
                  <a:srgbClr val="00194C"/>
                </a:solidFill>
                <a:latin typeface="华文楷体" panose="02010600040101010101" pitchFamily="2" charset="-122"/>
                <a:ea typeface="华文楷体" panose="02010600040101010101" pitchFamily="2" charset="-122"/>
              </a:rPr>
              <a:t>W</a:t>
            </a:r>
            <a:r>
              <a:rPr lang="en-US" altLang="zh-CN" sz="2100" dirty="0">
                <a:solidFill>
                  <a:srgbClr val="00194C"/>
                </a:solidFill>
                <a:latin typeface="华文楷体" panose="02010600040101010101" pitchFamily="2" charset="-122"/>
                <a:ea typeface="华文楷体" panose="02010600040101010101" pitchFamily="2" charset="-122"/>
              </a:rPr>
              <a:t>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40000"/>
              </a:lnSpc>
              <a:spcBef>
                <a:spcPct val="5000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zh-CN" altLang="en-US" sz="2100" dirty="0" smtClean="0">
                <a:solidFill>
                  <a:srgbClr val="00194C"/>
                </a:solidFill>
                <a:latin typeface="华文楷体" panose="02010600040101010101" pitchFamily="2" charset="-122"/>
                <a:ea typeface="华文楷体" panose="02010600040101010101" pitchFamily="2" charset="-122"/>
              </a:rPr>
              <a:t>假定</a:t>
            </a:r>
            <a:r>
              <a:rPr lang="zh-CN" altLang="en-US" sz="2100" dirty="0">
                <a:solidFill>
                  <a:srgbClr val="00194C"/>
                </a:solidFill>
                <a:latin typeface="华文楷体" panose="02010600040101010101" pitchFamily="2" charset="-122"/>
                <a:ea typeface="华文楷体" panose="02010600040101010101" pitchFamily="2" charset="-122"/>
              </a:rPr>
              <a:t>将长度为</a:t>
            </a:r>
            <a:r>
              <a:rPr lang="en-US" altLang="zh-CN" sz="2100" dirty="0">
                <a:solidFill>
                  <a:srgbClr val="00194C"/>
                </a:solidFill>
                <a:latin typeface="华文楷体" panose="02010600040101010101" pitchFamily="2" charset="-122"/>
                <a:ea typeface="华文楷体" panose="02010600040101010101" pitchFamily="2" charset="-122"/>
              </a:rPr>
              <a:t>n</a:t>
            </a:r>
            <a:r>
              <a:rPr lang="zh-CN" altLang="en-US" sz="2100" dirty="0">
                <a:solidFill>
                  <a:srgbClr val="00194C"/>
                </a:solidFill>
                <a:latin typeface="华文楷体" panose="02010600040101010101" pitchFamily="2" charset="-122"/>
                <a:ea typeface="华文楷体" panose="02010600040101010101" pitchFamily="2" charset="-122"/>
              </a:rPr>
              <a:t>的表分成</a:t>
            </a:r>
            <a:r>
              <a:rPr lang="en-US" altLang="zh-CN" sz="2100" dirty="0">
                <a:solidFill>
                  <a:srgbClr val="00194C"/>
                </a:solidFill>
                <a:latin typeface="华文楷体" panose="02010600040101010101" pitchFamily="2" charset="-122"/>
                <a:ea typeface="华文楷体" panose="02010600040101010101" pitchFamily="2" charset="-122"/>
              </a:rPr>
              <a:t>b</a:t>
            </a:r>
            <a:r>
              <a:rPr lang="zh-CN" altLang="en-US" sz="2100" dirty="0">
                <a:solidFill>
                  <a:srgbClr val="00194C"/>
                </a:solidFill>
                <a:latin typeface="华文楷体" panose="02010600040101010101" pitchFamily="2" charset="-122"/>
                <a:ea typeface="华文楷体" panose="02010600040101010101" pitchFamily="2" charset="-122"/>
              </a:rPr>
              <a:t>块，且每块含</a:t>
            </a:r>
            <a:r>
              <a:rPr lang="en-US" altLang="zh-CN" sz="2100" dirty="0">
                <a:solidFill>
                  <a:srgbClr val="00194C"/>
                </a:solidFill>
                <a:latin typeface="华文楷体" panose="02010600040101010101" pitchFamily="2" charset="-122"/>
                <a:ea typeface="华文楷体" panose="02010600040101010101" pitchFamily="2" charset="-122"/>
              </a:rPr>
              <a:t>s</a:t>
            </a:r>
            <a:r>
              <a:rPr lang="zh-CN" altLang="en-US" sz="2100" dirty="0">
                <a:solidFill>
                  <a:srgbClr val="00194C"/>
                </a:solidFill>
                <a:latin typeface="华文楷体" panose="02010600040101010101" pitchFamily="2" charset="-122"/>
                <a:ea typeface="华文楷体" panose="02010600040101010101" pitchFamily="2" charset="-122"/>
              </a:rPr>
              <a:t>个元素，则</a:t>
            </a:r>
            <a:r>
              <a:rPr lang="en-US" altLang="zh-CN" sz="2100" dirty="0">
                <a:solidFill>
                  <a:srgbClr val="00194C"/>
                </a:solidFill>
                <a:latin typeface="华文楷体" panose="02010600040101010101" pitchFamily="2" charset="-122"/>
                <a:ea typeface="华文楷体" panose="02010600040101010101" pitchFamily="2" charset="-122"/>
              </a:rPr>
              <a:t>b=n/s</a:t>
            </a:r>
            <a:r>
              <a:rPr lang="zh-CN" altLang="en-US" sz="2100" dirty="0">
                <a:solidFill>
                  <a:srgbClr val="00194C"/>
                </a:solidFill>
                <a:latin typeface="华文楷体" panose="02010600040101010101" pitchFamily="2" charset="-122"/>
                <a:ea typeface="华文楷体" panose="02010600040101010101" pitchFamily="2" charset="-122"/>
              </a:rPr>
              <a:t>。又假定表中每个元素的查找概率相等，则每个索引项的查找概率为</a:t>
            </a:r>
            <a:r>
              <a:rPr lang="en-US" altLang="zh-CN" sz="2100" dirty="0">
                <a:solidFill>
                  <a:srgbClr val="00194C"/>
                </a:solidFill>
                <a:latin typeface="华文楷体" panose="02010600040101010101" pitchFamily="2" charset="-122"/>
                <a:ea typeface="华文楷体" panose="02010600040101010101" pitchFamily="2" charset="-122"/>
              </a:rPr>
              <a:t>1/b</a:t>
            </a:r>
            <a:r>
              <a:rPr lang="zh-CN" altLang="en-US" sz="2100" dirty="0">
                <a:solidFill>
                  <a:srgbClr val="00194C"/>
                </a:solidFill>
                <a:latin typeface="华文楷体" panose="02010600040101010101" pitchFamily="2" charset="-122"/>
                <a:ea typeface="华文楷体" panose="02010600040101010101" pitchFamily="2" charset="-122"/>
              </a:rPr>
              <a:t>，块中每个元素的查找概率为</a:t>
            </a:r>
            <a:r>
              <a:rPr lang="en-US" altLang="zh-CN" sz="2100" dirty="0">
                <a:solidFill>
                  <a:srgbClr val="00194C"/>
                </a:solidFill>
                <a:latin typeface="华文楷体" panose="02010600040101010101" pitchFamily="2" charset="-122"/>
                <a:ea typeface="华文楷体" panose="02010600040101010101" pitchFamily="2" charset="-122"/>
              </a:rPr>
              <a:t>1/s</a:t>
            </a:r>
            <a:r>
              <a:rPr lang="zh-CN" altLang="en-US" sz="2100" dirty="0">
                <a:solidFill>
                  <a:srgbClr val="00194C"/>
                </a:solidFill>
                <a:latin typeface="华文楷体" panose="02010600040101010101" pitchFamily="2" charset="-122"/>
                <a:ea typeface="华文楷体" panose="02010600040101010101" pitchFamily="2" charset="-122"/>
              </a:rPr>
              <a:t>。若用顺序查找法确定待查元素所在的块，则有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graphicFrame>
        <p:nvGraphicFramePr>
          <p:cNvPr id="4" name="Object 5"/>
          <p:cNvGraphicFramePr>
            <a:graphicFrameLocks noChangeAspect="1"/>
          </p:cNvGraphicFramePr>
          <p:nvPr/>
        </p:nvGraphicFramePr>
        <p:xfrm>
          <a:off x="2273367" y="3616092"/>
          <a:ext cx="4229100" cy="850106"/>
        </p:xfrm>
        <a:graphic>
          <a:graphicData uri="http://schemas.openxmlformats.org/presentationml/2006/ole">
            <mc:AlternateContent xmlns:mc="http://schemas.openxmlformats.org/markup-compatibility/2006">
              <mc:Choice xmlns:v="urn:schemas-microsoft-com:vml" Requires="v">
                <p:oleObj spid="_x0000_s41011" name="Equation" r:id="rId1" imgW="2209800" imgH="444500" progId="Equation.3">
                  <p:embed/>
                </p:oleObj>
              </mc:Choice>
              <mc:Fallback>
                <p:oleObj name="Equation" r:id="rId1" imgW="2209800" imgH="4445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3367" y="3616092"/>
                        <a:ext cx="4229100" cy="8501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39725" lvl="2" indent="-205105"/>
            <a:endParaRPr lang="en-US" altLang="zh-CN" dirty="0" smtClean="0"/>
          </a:p>
          <a:p>
            <a:pPr marL="339725" lvl="2" indent="-205105"/>
            <a:endParaRPr lang="en-US" altLang="zh-CN" dirty="0"/>
          </a:p>
          <a:p>
            <a:pPr marL="339725" lvl="2" indent="-205105"/>
            <a:r>
              <a:rPr lang="zh-CN" altLang="en-US" dirty="0"/>
              <a:t>将                代入</a:t>
            </a:r>
            <a:r>
              <a:rPr lang="en-US" altLang="zh-CN" dirty="0"/>
              <a:t>, </a:t>
            </a:r>
            <a:r>
              <a:rPr lang="zh-CN" altLang="en-US" dirty="0"/>
              <a:t>得 </a:t>
            </a:r>
            <a:endParaRPr lang="en-US" altLang="zh-CN" dirty="0"/>
          </a:p>
          <a:p>
            <a:pPr marL="339725" lvl="2" indent="-205105"/>
            <a:endParaRPr lang="en-US" altLang="zh-CN" sz="2400" dirty="0">
              <a:latin typeface="Times New Roman" panose="02020603050405020304" pitchFamily="18" charset="0"/>
              <a:ea typeface="宋体" panose="02010600030101010101" pitchFamily="2" charset="-122"/>
            </a:endParaRPr>
          </a:p>
          <a:p>
            <a:pPr marL="339725" lvl="2" indent="-205105"/>
            <a:r>
              <a:rPr lang="zh-CN" altLang="en-US" dirty="0" smtClean="0"/>
              <a:t>若</a:t>
            </a:r>
            <a:r>
              <a:rPr lang="zh-CN" altLang="en-US" dirty="0"/>
              <a:t>用折半查找法确定待查元素所在的块，则有 </a:t>
            </a:r>
            <a:endParaRPr lang="zh-CN" altLang="en-US" dirty="0"/>
          </a:p>
          <a:p>
            <a:pPr marL="339725" lvl="2" indent="-205105"/>
            <a:endParaRPr lang="zh-CN" altLang="en-US" sz="2400" dirty="0">
              <a:latin typeface="Times New Roman" panose="02020603050405020304" pitchFamily="18" charset="0"/>
              <a:ea typeface="宋体" panose="02010600030101010101" pitchFamily="2" charset="-122"/>
            </a:endParaRPr>
          </a:p>
          <a:p>
            <a:pPr marL="339725" lvl="2" indent="-205105"/>
            <a:endParaRPr lang="en-US" altLang="zh-CN" dirty="0" smtClean="0"/>
          </a:p>
          <a:p>
            <a:pPr marL="339725" lvl="2" indent="-205105"/>
            <a:endParaRPr lang="en-US" altLang="zh-CN" dirty="0"/>
          </a:p>
          <a:p>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8</a:t>
            </a:r>
            <a:r>
              <a:rPr lang="en-US" altLang="zh-CN" dirty="0" smtClean="0"/>
              <a:t>.1 </a:t>
            </a:r>
            <a:r>
              <a:rPr lang="zh-CN" altLang="en-US" dirty="0" smtClean="0"/>
              <a:t>静态查找表</a:t>
            </a:r>
            <a:endParaRPr lang="zh-CN" altLang="en-US" dirty="0"/>
          </a:p>
        </p:txBody>
      </p:sp>
      <p:graphicFrame>
        <p:nvGraphicFramePr>
          <p:cNvPr id="4" name="Object 4"/>
          <p:cNvGraphicFramePr>
            <a:graphicFrameLocks noChangeAspect="1"/>
          </p:cNvGraphicFramePr>
          <p:nvPr/>
        </p:nvGraphicFramePr>
        <p:xfrm>
          <a:off x="2561402" y="655636"/>
          <a:ext cx="3143250" cy="732235"/>
        </p:xfrm>
        <a:graphic>
          <a:graphicData uri="http://schemas.openxmlformats.org/presentationml/2006/ole">
            <mc:AlternateContent xmlns:mc="http://schemas.openxmlformats.org/markup-compatibility/2006">
              <mc:Choice xmlns:v="urn:schemas-microsoft-com:vml" Requires="v">
                <p:oleObj spid="_x0000_s42231" name="Equation" r:id="rId1" imgW="1688465" imgH="393700" progId="Equation.3">
                  <p:embed/>
                </p:oleObj>
              </mc:Choice>
              <mc:Fallback>
                <p:oleObj name="Equation" r:id="rId1" imgW="1688465" imgH="3937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61402" y="655636"/>
                        <a:ext cx="3143250" cy="7322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 name="Object 6"/>
          <p:cNvGraphicFramePr>
            <a:graphicFrameLocks noChangeAspect="1"/>
          </p:cNvGraphicFramePr>
          <p:nvPr/>
        </p:nvGraphicFramePr>
        <p:xfrm>
          <a:off x="1190525" y="1387871"/>
          <a:ext cx="708422" cy="732235"/>
        </p:xfrm>
        <a:graphic>
          <a:graphicData uri="http://schemas.openxmlformats.org/presentationml/2006/ole">
            <mc:AlternateContent xmlns:mc="http://schemas.openxmlformats.org/markup-compatibility/2006">
              <mc:Choice xmlns:v="urn:schemas-microsoft-com:vml" Requires="v">
                <p:oleObj spid="_x0000_s42232" name="Equation" r:id="rId3" imgW="381000" imgH="393700" progId="Equation.3">
                  <p:embed/>
                </p:oleObj>
              </mc:Choice>
              <mc:Fallback>
                <p:oleObj name="Equation" r:id="rId3" imgW="381000" imgH="3937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525" y="1387871"/>
                        <a:ext cx="708422" cy="7322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 name="Object 7"/>
          <p:cNvGraphicFramePr>
            <a:graphicFrameLocks noChangeAspect="1"/>
          </p:cNvGraphicFramePr>
          <p:nvPr/>
        </p:nvGraphicFramePr>
        <p:xfrm>
          <a:off x="3224580" y="1387871"/>
          <a:ext cx="2480072" cy="803672"/>
        </p:xfrm>
        <a:graphic>
          <a:graphicData uri="http://schemas.openxmlformats.org/presentationml/2006/ole">
            <mc:AlternateContent xmlns:mc="http://schemas.openxmlformats.org/markup-compatibility/2006">
              <mc:Choice xmlns:v="urn:schemas-microsoft-com:vml" Requires="v">
                <p:oleObj spid="_x0000_s42233" name="Equation" r:id="rId5" imgW="1333500" imgH="431800" progId="Equation.3">
                  <p:embed/>
                </p:oleObj>
              </mc:Choice>
              <mc:Fallback>
                <p:oleObj name="Equation" r:id="rId5" imgW="1333500" imgH="431800" progId="Equation.3">
                  <p:embed/>
                  <p:pic>
                    <p:nvPicPr>
                      <p:cNvPr id="0"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24580" y="1387871"/>
                        <a:ext cx="2480072" cy="8036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 name="Object 10"/>
          <p:cNvGraphicFramePr>
            <a:graphicFrameLocks noChangeAspect="1"/>
          </p:cNvGraphicFramePr>
          <p:nvPr/>
        </p:nvGraphicFramePr>
        <p:xfrm>
          <a:off x="3154451" y="2831032"/>
          <a:ext cx="2514600" cy="459581"/>
        </p:xfrm>
        <a:graphic>
          <a:graphicData uri="http://schemas.openxmlformats.org/presentationml/2006/ole">
            <mc:AlternateContent xmlns:mc="http://schemas.openxmlformats.org/markup-compatibility/2006">
              <mc:Choice xmlns:v="urn:schemas-microsoft-com:vml" Requires="v">
                <p:oleObj spid="_x0000_s42234" name="Equation" r:id="rId7" imgW="1180465" imgH="215900" progId="Equation.3">
                  <p:embed/>
                </p:oleObj>
              </mc:Choice>
              <mc:Fallback>
                <p:oleObj name="Equation" r:id="rId7" imgW="1180465" imgH="215900" progId="Equation.3">
                  <p:embed/>
                  <p:pic>
                    <p:nvPicPr>
                      <p:cNvPr id="0" name="Object 1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154451" y="2831032"/>
                        <a:ext cx="2514600" cy="4595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 name="Object 11"/>
          <p:cNvGraphicFramePr>
            <a:graphicFrameLocks noChangeAspect="1"/>
          </p:cNvGraphicFramePr>
          <p:nvPr/>
        </p:nvGraphicFramePr>
        <p:xfrm>
          <a:off x="1707246" y="3464434"/>
          <a:ext cx="5409010" cy="803672"/>
        </p:xfrm>
        <a:graphic>
          <a:graphicData uri="http://schemas.openxmlformats.org/presentationml/2006/ole">
            <mc:AlternateContent xmlns:mc="http://schemas.openxmlformats.org/markup-compatibility/2006">
              <mc:Choice xmlns:v="urn:schemas-microsoft-com:vml" Requires="v">
                <p:oleObj spid="_x0000_s42235" name="Equation" r:id="rId9" imgW="2908300" imgH="431800" progId="Equation.3">
                  <p:embed/>
                </p:oleObj>
              </mc:Choice>
              <mc:Fallback>
                <p:oleObj name="Equation" r:id="rId9" imgW="2908300" imgH="431800" progId="Equation.3">
                  <p:embed/>
                  <p:pic>
                    <p:nvPicPr>
                      <p:cNvPr id="0" name="Object 1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07246" y="3464434"/>
                        <a:ext cx="5409010" cy="8036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8.2.1</a:t>
            </a:r>
            <a:r>
              <a:rPr lang="zh-CN" altLang="en-US" dirty="0"/>
              <a:t>二叉排序树和平衡二叉树 </a:t>
            </a:r>
            <a:endParaRPr lang="zh-CN" altLang="en-US" dirty="0"/>
          </a:p>
          <a:p>
            <a:pPr eaLnBrk="1" hangingPunct="1">
              <a:spcBef>
                <a:spcPct val="50000"/>
              </a:spcBef>
            </a:pPr>
            <a:r>
              <a:rPr lang="zh-CN" altLang="en-US" sz="2100" dirty="0" smtClean="0">
                <a:solidFill>
                  <a:srgbClr val="00194C"/>
                </a:solidFill>
                <a:latin typeface="华文楷体" panose="02010600040101010101" pitchFamily="2" charset="-122"/>
                <a:ea typeface="华文楷体" panose="02010600040101010101" pitchFamily="2" charset="-122"/>
              </a:rPr>
              <a:t>二</a:t>
            </a:r>
            <a:r>
              <a:rPr lang="zh-CN" altLang="en-US" sz="2100" dirty="0">
                <a:solidFill>
                  <a:srgbClr val="00194C"/>
                </a:solidFill>
                <a:latin typeface="华文楷体" panose="02010600040101010101" pitchFamily="2" charset="-122"/>
                <a:ea typeface="华文楷体" panose="02010600040101010101" pitchFamily="2" charset="-122"/>
              </a:rPr>
              <a:t>叉排序树或者是一棵空树，或者是具有如下性质的二叉树： </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1</a:t>
            </a:r>
            <a:r>
              <a:rPr lang="zh-CN" altLang="en-US" sz="2100" dirty="0">
                <a:solidFill>
                  <a:srgbClr val="00194C"/>
                </a:solidFill>
                <a:latin typeface="华文楷体" panose="02010600040101010101" pitchFamily="2" charset="-122"/>
                <a:ea typeface="华文楷体" panose="02010600040101010101" pitchFamily="2" charset="-122"/>
              </a:rPr>
              <a:t>）若它的左子树非空，则左子树上所有结点的值均小于根结点的值</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2</a:t>
            </a:r>
            <a:r>
              <a:rPr lang="zh-CN" altLang="en-US" sz="2100" dirty="0">
                <a:solidFill>
                  <a:srgbClr val="00194C"/>
                </a:solidFill>
                <a:latin typeface="华文楷体" panose="02010600040101010101" pitchFamily="2" charset="-122"/>
                <a:ea typeface="华文楷体" panose="02010600040101010101" pitchFamily="2" charset="-122"/>
              </a:rPr>
              <a:t>）若它的右子树非空，则右子树上所有结点的值均大于根结点的值</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3</a:t>
            </a:r>
            <a:r>
              <a:rPr lang="zh-CN" altLang="en-US" sz="2100" dirty="0">
                <a:solidFill>
                  <a:srgbClr val="00194C"/>
                </a:solidFill>
                <a:latin typeface="华文楷体" panose="02010600040101010101" pitchFamily="2" charset="-122"/>
                <a:ea typeface="华文楷体" panose="02010600040101010101" pitchFamily="2" charset="-122"/>
              </a:rPr>
              <a:t>）它的左右子树也分别为二叉排序树。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50000"/>
              </a:spcBef>
            </a:pPr>
            <a:r>
              <a:rPr lang="zh-CN" altLang="en-US" sz="2100" dirty="0" smtClean="0">
                <a:solidFill>
                  <a:srgbClr val="00194C"/>
                </a:solidFill>
                <a:latin typeface="华文楷体" panose="02010600040101010101" pitchFamily="2" charset="-122"/>
                <a:ea typeface="华文楷体" panose="02010600040101010101" pitchFamily="2" charset="-122"/>
              </a:rPr>
              <a:t>  </a:t>
            </a:r>
            <a:r>
              <a:rPr lang="zh-CN" altLang="en-US" sz="2100" dirty="0">
                <a:solidFill>
                  <a:srgbClr val="00194C"/>
                </a:solidFill>
                <a:latin typeface="华文楷体" panose="02010600040101010101" pitchFamily="2" charset="-122"/>
                <a:ea typeface="华文楷体" panose="02010600040101010101" pitchFamily="2" charset="-122"/>
              </a:rPr>
              <a:t>二叉排序树又称二叉查找</a:t>
            </a:r>
            <a:r>
              <a:rPr lang="zh-CN" altLang="en-US" sz="2100" dirty="0" smtClean="0">
                <a:solidFill>
                  <a:srgbClr val="00194C"/>
                </a:solidFill>
                <a:latin typeface="华文楷体" panose="02010600040101010101" pitchFamily="2" charset="-122"/>
                <a:ea typeface="华文楷体" panose="02010600040101010101" pitchFamily="2" charset="-122"/>
              </a:rPr>
              <a:t>树</a:t>
            </a:r>
            <a:r>
              <a:rPr lang="zh-CN" altLang="en-US" sz="2100" dirty="0">
                <a:solidFill>
                  <a:srgbClr val="00194C"/>
                </a:solidFill>
                <a:latin typeface="华文楷体" panose="02010600040101010101" pitchFamily="2" charset="-122"/>
                <a:ea typeface="华文楷体" panose="02010600040101010101" pitchFamily="2" charset="-122"/>
              </a:rPr>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Object 5"/>
          <p:cNvGraphicFramePr>
            <a:graphicFrameLocks noChangeAspect="1"/>
          </p:cNvGraphicFramePr>
          <p:nvPr/>
        </p:nvGraphicFramePr>
        <p:xfrm>
          <a:off x="1143000" y="1200150"/>
          <a:ext cx="6858000" cy="2838450"/>
        </p:xfrm>
        <a:graphic>
          <a:graphicData uri="http://schemas.openxmlformats.org/presentationml/2006/ole">
            <mc:AlternateContent xmlns:mc="http://schemas.openxmlformats.org/markup-compatibility/2006">
              <mc:Choice xmlns:v="urn:schemas-microsoft-com:vml" Requires="v">
                <p:oleObj spid="_x0000_s43055" name="VISIO" r:id="rId1" imgW="4114800" imgH="1706880" progId="Visio.Drawing.4">
                  <p:embed/>
                </p:oleObj>
              </mc:Choice>
              <mc:Fallback>
                <p:oleObj name="VISIO" r:id="rId1" imgW="4114800" imgH="170688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1200150"/>
                        <a:ext cx="68580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查找</a:t>
            </a:r>
            <a:r>
              <a:rPr lang="zh-CN" altLang="en-US" sz="2100" dirty="0">
                <a:solidFill>
                  <a:srgbClr val="00194C"/>
                </a:solidFill>
                <a:latin typeface="华文楷体" panose="02010600040101010101" pitchFamily="2" charset="-122"/>
                <a:ea typeface="华文楷体" panose="02010600040101010101" pitchFamily="2" charset="-122"/>
              </a:rPr>
              <a:t>过程：当二叉排序树不空时，首先将给定值和根结点的关键字比较，若相等，则查找成功。否则将依据给定值和根结点的关键字之间的大小关系，分别在左子树或右子树上进行查找</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zh-CN" altLang="en-US" sz="2100" dirty="0" smtClean="0">
                <a:solidFill>
                  <a:srgbClr val="00194C"/>
                </a:solidFill>
                <a:latin typeface="华文楷体" panose="02010600040101010101" pitchFamily="2" charset="-122"/>
                <a:ea typeface="华文楷体" panose="02010600040101010101" pitchFamily="2" charset="-122"/>
              </a:rPr>
              <a:t>    使用</a:t>
            </a:r>
            <a:r>
              <a:rPr lang="zh-CN" altLang="en-US" sz="2100" dirty="0">
                <a:solidFill>
                  <a:srgbClr val="00194C"/>
                </a:solidFill>
                <a:latin typeface="华文楷体" panose="02010600040101010101" pitchFamily="2" charset="-122"/>
                <a:ea typeface="华文楷体" panose="02010600040101010101" pitchFamily="2" charset="-122"/>
              </a:rPr>
              <a:t>二叉链表作为存储结构，其结点结构说明如下</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50000"/>
              </a:lnSpc>
              <a:spcBef>
                <a:spcPct val="0"/>
              </a:spcBef>
            </a:pPr>
            <a:r>
              <a:rPr lang="en-US" altLang="zh-CN" sz="2100" dirty="0" err="1" smtClean="0">
                <a:solidFill>
                  <a:srgbClr val="00194C"/>
                </a:solidFill>
                <a:latin typeface="华文楷体" panose="02010600040101010101" pitchFamily="2" charset="-122"/>
                <a:ea typeface="华文楷体" panose="02010600040101010101" pitchFamily="2" charset="-122"/>
              </a:rPr>
              <a:t>typedef</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struct</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BiTNode</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7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TElemType</a:t>
            </a:r>
            <a:r>
              <a:rPr lang="en-US" altLang="zh-CN" sz="2100" dirty="0">
                <a:solidFill>
                  <a:srgbClr val="00194C"/>
                </a:solidFill>
                <a:latin typeface="华文楷体" panose="02010600040101010101" pitchFamily="2" charset="-122"/>
                <a:ea typeface="华文楷体" panose="02010600040101010101" pitchFamily="2" charset="-122"/>
              </a:rPr>
              <a:t>  data ;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关键字的值*</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a:solidFill>
                <a:srgbClr val="00B050"/>
              </a:solidFill>
              <a:latin typeface="华文楷体" panose="02010600040101010101" pitchFamily="2" charset="-122"/>
              <a:ea typeface="华文楷体" panose="02010600040101010101" pitchFamily="2" charset="-122"/>
            </a:endParaRPr>
          </a:p>
          <a:p>
            <a:pPr eaLnBrk="1" hangingPunct="1">
              <a:lnSpc>
                <a:spcPct val="17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struct</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BiTNode</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lchild</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rchild</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左右指针*</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a:solidFill>
                <a:srgbClr val="00B050"/>
              </a:solidFill>
              <a:latin typeface="华文楷体" panose="02010600040101010101" pitchFamily="2" charset="-122"/>
              <a:ea typeface="华文楷体" panose="02010600040101010101" pitchFamily="2" charset="-122"/>
            </a:endParaRPr>
          </a:p>
          <a:p>
            <a:pPr eaLnBrk="1" hangingPunct="1">
              <a:lnSpc>
                <a:spcPct val="17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a:t>
            </a:r>
            <a:r>
              <a:rPr lang="en-US" altLang="zh-CN" sz="2100" dirty="0" err="1">
                <a:solidFill>
                  <a:srgbClr val="00194C"/>
                </a:solidFill>
                <a:latin typeface="华文楷体" panose="02010600040101010101" pitchFamily="2" charset="-122"/>
                <a:ea typeface="华文楷体" panose="02010600040101010101" pitchFamily="2" charset="-122"/>
              </a:rPr>
              <a:t>BiTNode</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err="1">
                <a:solidFill>
                  <a:srgbClr val="00194C"/>
                </a:solidFill>
                <a:latin typeface="华文楷体" panose="02010600040101010101" pitchFamily="2" charset="-122"/>
                <a:ea typeface="华文楷体" panose="02010600040101010101" pitchFamily="2" charset="-122"/>
              </a:rPr>
              <a:t>BiTree</a:t>
            </a:r>
            <a:r>
              <a:rPr lang="en-US" altLang="zh-CN" sz="2100" dirty="0">
                <a:solidFill>
                  <a:srgbClr val="00194C"/>
                </a:solidFill>
                <a:latin typeface="华文楷体" panose="02010600040101010101" pitchFamily="2" charset="-122"/>
                <a:ea typeface="华文楷体" panose="02010600040101010101" pitchFamily="2" charset="-122"/>
              </a:rPr>
              <a:t>; </a:t>
            </a:r>
            <a:r>
              <a:rPr lang="zh-CN" altLang="en-US"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defRPr/>
            </a:pPr>
            <a:r>
              <a:rPr lang="en-US" altLang="zh-CN" sz="2300" dirty="0" smtClean="0">
                <a:solidFill>
                  <a:srgbClr val="800000"/>
                </a:solidFill>
                <a:latin typeface="Times New Roman" panose="02020603050405020304" pitchFamily="18" charset="0"/>
                <a:ea typeface="黑体" panose="02010609060101010101" pitchFamily="49" charset="-122"/>
              </a:rPr>
              <a:t>1</a:t>
            </a:r>
            <a:r>
              <a:rPr lang="en-US" altLang="zh-CN" sz="2300" dirty="0">
                <a:solidFill>
                  <a:srgbClr val="800000"/>
                </a:solidFill>
                <a:latin typeface="Times New Roman" panose="02020603050405020304" pitchFamily="18" charset="0"/>
                <a:ea typeface="黑体" panose="02010609060101010101" pitchFamily="49" charset="-122"/>
              </a:rPr>
              <a:t>.</a:t>
            </a:r>
            <a:r>
              <a:rPr lang="zh-CN" altLang="en-US" sz="2300" dirty="0">
                <a:solidFill>
                  <a:srgbClr val="800000"/>
                </a:solidFill>
                <a:latin typeface="Times New Roman" panose="02020603050405020304" pitchFamily="18" charset="0"/>
                <a:ea typeface="黑体" panose="02010609060101010101" pitchFamily="49" charset="-122"/>
              </a:rPr>
              <a:t>二叉排序树的查找操作：</a:t>
            </a:r>
            <a:r>
              <a:rPr lang="en-US" altLang="zh-CN" sz="2300" dirty="0">
                <a:solidFill>
                  <a:srgbClr val="800000"/>
                </a:solidFill>
                <a:latin typeface="Times New Roman" panose="02020603050405020304" pitchFamily="18" charset="0"/>
                <a:ea typeface="黑体" panose="02010609060101010101" pitchFamily="49" charset="-122"/>
              </a:rPr>
              <a:t>Find </a:t>
            </a:r>
            <a:endParaRPr lang="en-US" altLang="zh-CN" sz="2300" dirty="0">
              <a:solidFill>
                <a:srgbClr val="800000"/>
              </a:solidFill>
              <a:latin typeface="Times New Roman" panose="02020603050405020304" pitchFamily="18" charset="0"/>
              <a:ea typeface="黑体" panose="02010609060101010101" pitchFamily="49" charset="-122"/>
            </a:endParaRPr>
          </a:p>
          <a:p>
            <a:pPr marL="0" lvl="2">
              <a:defRPr/>
            </a:pPr>
            <a:r>
              <a:rPr lang="zh-CN" altLang="en-US" dirty="0" smtClean="0"/>
              <a:t>查找</a:t>
            </a:r>
            <a:r>
              <a:rPr lang="zh-CN" altLang="en-US" dirty="0"/>
              <a:t>从根结点开始，如果树为空，返回</a:t>
            </a:r>
            <a:r>
              <a:rPr lang="en-US" altLang="zh-CN" dirty="0" smtClean="0"/>
              <a:t>NULL</a:t>
            </a:r>
            <a:r>
              <a:rPr lang="zh-CN" altLang="en-US" dirty="0" smtClean="0"/>
              <a:t>；</a:t>
            </a:r>
            <a:endParaRPr lang="en-US" altLang="zh-CN" dirty="0"/>
          </a:p>
          <a:p>
            <a:pPr marL="0" lvl="2">
              <a:defRPr/>
            </a:pPr>
            <a:r>
              <a:rPr lang="zh-CN" altLang="en-US" dirty="0" smtClean="0"/>
              <a:t>若</a:t>
            </a:r>
            <a:r>
              <a:rPr lang="zh-CN" altLang="en-US" dirty="0"/>
              <a:t>树非空，则</a:t>
            </a:r>
            <a:r>
              <a:rPr lang="zh-CN" altLang="en-US" dirty="0">
                <a:solidFill>
                  <a:srgbClr val="FF0000"/>
                </a:solidFill>
              </a:rPr>
              <a:t>根结点关键字和</a:t>
            </a:r>
            <a:r>
              <a:rPr lang="en-US" altLang="zh-CN" dirty="0">
                <a:solidFill>
                  <a:srgbClr val="FF0000"/>
                </a:solidFill>
              </a:rPr>
              <a:t>X</a:t>
            </a:r>
            <a:r>
              <a:rPr lang="zh-CN" altLang="en-US" dirty="0"/>
              <a:t>进行比较，并进行不同处理</a:t>
            </a:r>
            <a:r>
              <a:rPr lang="zh-CN" altLang="en-US" dirty="0" smtClean="0"/>
              <a:t>：</a:t>
            </a:r>
            <a:endParaRPr lang="zh-CN" altLang="en-US" dirty="0" smtClean="0"/>
          </a:p>
          <a:p>
            <a:pPr marL="477520" lvl="2" indent="-342900">
              <a:buFont typeface="Wingdings" panose="05000000000000000000" pitchFamily="2" charset="2"/>
              <a:buChar char="Ø"/>
              <a:defRPr/>
            </a:pPr>
            <a:r>
              <a:rPr lang="zh-CN" altLang="en-US" dirty="0" smtClean="0"/>
              <a:t>若</a:t>
            </a:r>
            <a:r>
              <a:rPr lang="en-US" altLang="zh-CN" dirty="0" smtClean="0"/>
              <a:t>X</a:t>
            </a:r>
            <a:r>
              <a:rPr lang="zh-CN" altLang="en-US" dirty="0" smtClean="0">
                <a:solidFill>
                  <a:srgbClr val="FF0000"/>
                </a:solidFill>
              </a:rPr>
              <a:t>小于</a:t>
            </a:r>
            <a:r>
              <a:rPr lang="zh-CN" altLang="en-US" dirty="0" smtClean="0"/>
              <a:t>根结点键值，在</a:t>
            </a:r>
            <a:r>
              <a:rPr lang="zh-CN" altLang="en-US" dirty="0" smtClean="0">
                <a:solidFill>
                  <a:srgbClr val="FF0000"/>
                </a:solidFill>
              </a:rPr>
              <a:t>左子树</a:t>
            </a:r>
            <a:r>
              <a:rPr lang="zh-CN" altLang="en-US" dirty="0" smtClean="0"/>
              <a:t>中继续查找；</a:t>
            </a:r>
            <a:endParaRPr lang="zh-CN" altLang="en-US" dirty="0" smtClean="0"/>
          </a:p>
          <a:p>
            <a:pPr marL="477520" lvl="2" indent="-342900">
              <a:buFont typeface="Wingdings" panose="05000000000000000000" pitchFamily="2" charset="2"/>
              <a:buChar char="Ø"/>
              <a:defRPr/>
            </a:pPr>
            <a:r>
              <a:rPr lang="zh-CN" altLang="en-US" dirty="0" smtClean="0"/>
              <a:t>如果</a:t>
            </a:r>
            <a:r>
              <a:rPr lang="en-US" altLang="zh-CN" dirty="0"/>
              <a:t>X</a:t>
            </a:r>
            <a:r>
              <a:rPr lang="zh-CN" altLang="en-US" dirty="0">
                <a:solidFill>
                  <a:srgbClr val="FF0000"/>
                </a:solidFill>
              </a:rPr>
              <a:t>大于</a:t>
            </a:r>
            <a:r>
              <a:rPr lang="zh-CN" altLang="en-US" dirty="0"/>
              <a:t>根结点的键值，在</a:t>
            </a:r>
            <a:r>
              <a:rPr lang="zh-CN" altLang="en-US" dirty="0">
                <a:solidFill>
                  <a:srgbClr val="FF0000"/>
                </a:solidFill>
              </a:rPr>
              <a:t>右子树</a:t>
            </a:r>
            <a:r>
              <a:rPr lang="zh-CN" altLang="en-US" dirty="0"/>
              <a:t>中进行继续查找</a:t>
            </a:r>
            <a:r>
              <a:rPr lang="zh-CN" altLang="en-US" dirty="0" smtClean="0"/>
              <a:t>；</a:t>
            </a:r>
            <a:endParaRPr lang="zh-CN" altLang="en-US" dirty="0"/>
          </a:p>
          <a:p>
            <a:pPr marL="477520" lvl="2" indent="-342900">
              <a:buFont typeface="Wingdings" panose="05000000000000000000" pitchFamily="2" charset="2"/>
              <a:buChar char="Ø"/>
              <a:defRPr/>
            </a:pPr>
            <a:r>
              <a:rPr lang="zh-CN" altLang="en-US" dirty="0"/>
              <a:t>若两者比较结果是相等，搜索完成，返回指向此结点的指针</a:t>
            </a:r>
            <a:r>
              <a:rPr lang="zh-CN" altLang="en-US" dirty="0" smtClean="0"/>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81626" y="3323499"/>
            <a:ext cx="2100263" cy="1164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0"/>
              </a:spcBef>
            </a:pPr>
            <a:r>
              <a:rPr lang="en-US" altLang="zh-CN" sz="2100" dirty="0" err="1" smtClean="0">
                <a:solidFill>
                  <a:srgbClr val="00194C"/>
                </a:solidFill>
                <a:latin typeface="华文楷体" panose="02010600040101010101" pitchFamily="2" charset="-122"/>
                <a:ea typeface="华文楷体" panose="02010600040101010101" pitchFamily="2" charset="-122"/>
              </a:rPr>
              <a:t>BiTree</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Find(</a:t>
            </a:r>
            <a:r>
              <a:rPr lang="en-US" altLang="zh-CN" sz="2100" dirty="0" err="1">
                <a:solidFill>
                  <a:srgbClr val="00194C"/>
                </a:solidFill>
                <a:latin typeface="华文楷体" panose="02010600040101010101" pitchFamily="2" charset="-122"/>
                <a:ea typeface="华文楷体" panose="02010600040101010101" pitchFamily="2" charset="-122"/>
              </a:rPr>
              <a:t>TElemType</a:t>
            </a:r>
            <a:r>
              <a:rPr lang="en-US" altLang="zh-CN" sz="2100" dirty="0">
                <a:solidFill>
                  <a:srgbClr val="00194C"/>
                </a:solidFill>
                <a:latin typeface="华文楷体" panose="02010600040101010101" pitchFamily="2" charset="-122"/>
                <a:ea typeface="华文楷体" panose="02010600040101010101" pitchFamily="2" charset="-122"/>
              </a:rPr>
              <a:t> X, </a:t>
            </a:r>
            <a:r>
              <a:rPr lang="en-US" altLang="zh-CN" sz="2100" dirty="0" err="1">
                <a:solidFill>
                  <a:srgbClr val="00194C"/>
                </a:solidFill>
                <a:latin typeface="华文楷体" panose="02010600040101010101" pitchFamily="2" charset="-122"/>
                <a:ea typeface="华文楷体" panose="02010600040101010101" pitchFamily="2" charset="-122"/>
              </a:rPr>
              <a:t>BiTree</a:t>
            </a:r>
            <a:r>
              <a:rPr lang="en-US" altLang="zh-CN" sz="2100" dirty="0">
                <a:solidFill>
                  <a:srgbClr val="00194C"/>
                </a:solidFill>
                <a:latin typeface="华文楷体" panose="02010600040101010101" pitchFamily="2" charset="-122"/>
                <a:ea typeface="华文楷体" panose="02010600040101010101" pitchFamily="2" charset="-122"/>
              </a:rPr>
              <a:t> BST )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if( !BST ) return </a:t>
            </a:r>
            <a:r>
              <a:rPr lang="en-US" altLang="zh-CN" sz="2100" dirty="0">
                <a:solidFill>
                  <a:srgbClr val="FF0000"/>
                </a:solidFill>
                <a:latin typeface="华文楷体" panose="02010600040101010101" pitchFamily="2" charset="-122"/>
                <a:ea typeface="华文楷体" panose="02010600040101010101" pitchFamily="2" charset="-122"/>
              </a:rPr>
              <a:t>NULL</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查找失败*</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if( X &gt; BST-&gt;data )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return Find( X, </a:t>
            </a:r>
            <a:r>
              <a:rPr lang="en-US" altLang="zh-CN" sz="2100" dirty="0">
                <a:solidFill>
                  <a:srgbClr val="FF0000"/>
                </a:solidFill>
                <a:latin typeface="华文楷体" panose="02010600040101010101" pitchFamily="2" charset="-122"/>
                <a:ea typeface="华文楷体" panose="02010600040101010101" pitchFamily="2" charset="-122"/>
              </a:rPr>
              <a:t>BST-&gt;</a:t>
            </a:r>
            <a:r>
              <a:rPr lang="en-US" altLang="zh-CN" sz="2100" dirty="0" err="1">
                <a:solidFill>
                  <a:srgbClr val="FF0000"/>
                </a:solidFill>
                <a:latin typeface="华文楷体" panose="02010600040101010101" pitchFamily="2" charset="-122"/>
                <a:ea typeface="华文楷体" panose="02010600040101010101" pitchFamily="2" charset="-122"/>
              </a:rPr>
              <a:t>rchild</a:t>
            </a:r>
            <a:r>
              <a:rPr lang="en-US" altLang="zh-CN" sz="2100" dirty="0">
                <a:solidFill>
                  <a:srgbClr val="FF0000"/>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在右子树继续查找*</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else if( X &lt; BST-&gt;data )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return </a:t>
            </a:r>
            <a:r>
              <a:rPr lang="en-US" altLang="zh-CN" sz="2100" dirty="0">
                <a:solidFill>
                  <a:srgbClr val="00194C"/>
                </a:solidFill>
                <a:latin typeface="华文楷体" panose="02010600040101010101" pitchFamily="2" charset="-122"/>
                <a:ea typeface="华文楷体" panose="02010600040101010101" pitchFamily="2" charset="-122"/>
              </a:rPr>
              <a:t>Find( X, </a:t>
            </a:r>
            <a:r>
              <a:rPr lang="en-US" altLang="zh-CN" sz="2100" dirty="0">
                <a:solidFill>
                  <a:srgbClr val="FF0000"/>
                </a:solidFill>
                <a:latin typeface="华文楷体" panose="02010600040101010101" pitchFamily="2" charset="-122"/>
                <a:ea typeface="华文楷体" panose="02010600040101010101" pitchFamily="2" charset="-122"/>
              </a:rPr>
              <a:t>BST-&gt;</a:t>
            </a:r>
            <a:r>
              <a:rPr lang="en-US" altLang="zh-CN" sz="2100" dirty="0" err="1">
                <a:solidFill>
                  <a:srgbClr val="FF0000"/>
                </a:solidFill>
                <a:latin typeface="华文楷体" panose="02010600040101010101" pitchFamily="2" charset="-122"/>
                <a:ea typeface="华文楷体" panose="02010600040101010101" pitchFamily="2" charset="-122"/>
              </a:rPr>
              <a:t>lchild</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在左子树中继续查找*</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else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 </a:t>
            </a:r>
            <a:r>
              <a:rPr lang="en-US" altLang="zh-CN" sz="2100" dirty="0">
                <a:solidFill>
                  <a:srgbClr val="00B050"/>
                </a:solidFill>
                <a:latin typeface="华文楷体" panose="02010600040101010101" pitchFamily="2" charset="-122"/>
                <a:ea typeface="华文楷体" panose="02010600040101010101" pitchFamily="2" charset="-122"/>
              </a:rPr>
              <a:t>X == BST-&gt;data </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return </a:t>
            </a:r>
            <a:r>
              <a:rPr lang="en-US" altLang="zh-CN" sz="2100" dirty="0">
                <a:solidFill>
                  <a:srgbClr val="FF0000"/>
                </a:solidFill>
                <a:latin typeface="华文楷体" panose="02010600040101010101" pitchFamily="2" charset="-122"/>
                <a:ea typeface="华文楷体" panose="02010600040101010101" pitchFamily="2" charset="-122"/>
              </a:rPr>
              <a:t>BST</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查找成功，返回找到结点的地址*</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a:solidFill>
                <a:srgbClr val="00B050"/>
              </a:solidFill>
              <a:latin typeface="华文楷体" panose="02010600040101010101" pitchFamily="2" charset="-122"/>
              <a:ea typeface="华文楷体" panose="02010600040101010101" pitchFamily="2" charset="-122"/>
            </a:endParaRPr>
          </a:p>
          <a:p>
            <a:pPr eaLnBrk="1" hangingPunct="1">
              <a:lnSpc>
                <a:spcPct val="130000"/>
              </a:lnSpc>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39725" lvl="2" indent="-339725">
              <a:lnSpc>
                <a:spcPts val="2600"/>
              </a:lnSpc>
            </a:pPr>
            <a:r>
              <a:rPr lang="zh-CN" altLang="en-US" dirty="0" smtClean="0"/>
              <a:t>非递归算法：    </a:t>
            </a:r>
            <a:r>
              <a:rPr lang="zh-CN" altLang="en-US" sz="2000" dirty="0" smtClean="0">
                <a:solidFill>
                  <a:srgbClr val="FF0000"/>
                </a:solidFill>
                <a:latin typeface="Times New Roman" panose="02020603050405020304" pitchFamily="18" charset="0"/>
                <a:ea typeface="宋体" panose="02010600030101010101" pitchFamily="2" charset="-122"/>
              </a:rPr>
              <a:t>查找</a:t>
            </a:r>
            <a:r>
              <a:rPr lang="zh-CN" altLang="en-US" sz="2000" dirty="0">
                <a:solidFill>
                  <a:srgbClr val="FF0000"/>
                </a:solidFill>
                <a:latin typeface="Times New Roman" panose="02020603050405020304" pitchFamily="18" charset="0"/>
                <a:ea typeface="宋体" panose="02010600030101010101" pitchFamily="2" charset="-122"/>
              </a:rPr>
              <a:t>的效率决定于树的高度 </a:t>
            </a:r>
            <a:endParaRPr lang="en-US" altLang="zh-CN" sz="2000" dirty="0" smtClean="0">
              <a:solidFill>
                <a:srgbClr val="FF0000"/>
              </a:solidFill>
              <a:latin typeface="Times New Roman" panose="02020603050405020304" pitchFamily="18" charset="0"/>
              <a:ea typeface="宋体" panose="02010600030101010101" pitchFamily="2" charset="-122"/>
            </a:endParaRPr>
          </a:p>
          <a:p>
            <a:pPr marL="339725" lvl="2" indent="-339725">
              <a:lnSpc>
                <a:spcPts val="2600"/>
              </a:lnSpc>
            </a:pPr>
            <a:r>
              <a:rPr lang="en-US" altLang="zh-CN" sz="2100" dirty="0" err="1" smtClean="0">
                <a:solidFill>
                  <a:srgbClr val="00194C"/>
                </a:solidFill>
                <a:latin typeface="华文楷体" panose="02010600040101010101" pitchFamily="2" charset="-122"/>
                <a:ea typeface="华文楷体" panose="02010600040101010101" pitchFamily="2" charset="-122"/>
              </a:rPr>
              <a:t>BiTree</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Find(</a:t>
            </a:r>
            <a:r>
              <a:rPr lang="en-US" altLang="zh-CN" sz="2100" dirty="0" err="1">
                <a:solidFill>
                  <a:srgbClr val="00194C"/>
                </a:solidFill>
                <a:latin typeface="华文楷体" panose="02010600040101010101" pitchFamily="2" charset="-122"/>
                <a:ea typeface="华文楷体" panose="02010600040101010101" pitchFamily="2" charset="-122"/>
              </a:rPr>
              <a:t>TElemType</a:t>
            </a:r>
            <a:r>
              <a:rPr lang="en-US" altLang="zh-CN" sz="2100" dirty="0">
                <a:solidFill>
                  <a:srgbClr val="00194C"/>
                </a:solidFill>
                <a:latin typeface="华文楷体" panose="02010600040101010101" pitchFamily="2" charset="-122"/>
                <a:ea typeface="华文楷体" panose="02010600040101010101" pitchFamily="2" charset="-122"/>
              </a:rPr>
              <a:t> X,  </a:t>
            </a:r>
            <a:r>
              <a:rPr lang="en-US" altLang="zh-CN" sz="2100" dirty="0" err="1">
                <a:solidFill>
                  <a:srgbClr val="00194C"/>
                </a:solidFill>
                <a:latin typeface="华文楷体" panose="02010600040101010101" pitchFamily="2" charset="-122"/>
                <a:ea typeface="华文楷体" panose="02010600040101010101" pitchFamily="2" charset="-122"/>
              </a:rPr>
              <a:t>BiTree</a:t>
            </a:r>
            <a:r>
              <a:rPr lang="en-US" altLang="zh-CN" sz="2100" dirty="0">
                <a:solidFill>
                  <a:srgbClr val="00194C"/>
                </a:solidFill>
                <a:latin typeface="华文楷体" panose="02010600040101010101" pitchFamily="2" charset="-122"/>
                <a:ea typeface="华文楷体" panose="02010600040101010101" pitchFamily="2" charset="-122"/>
              </a:rPr>
              <a:t> BST )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dirty="0"/>
              <a:t> </a:t>
            </a:r>
            <a:r>
              <a:rPr lang="en-US" altLang="zh-CN" dirty="0" smtClean="0"/>
              <a:t>  </a:t>
            </a:r>
            <a:r>
              <a:rPr lang="en-US" altLang="zh-CN" sz="2100" dirty="0" smtClean="0">
                <a:solidFill>
                  <a:srgbClr val="00194C"/>
                </a:solidFill>
                <a:latin typeface="华文楷体" panose="02010600040101010101" pitchFamily="2" charset="-122"/>
                <a:ea typeface="华文楷体" panose="02010600040101010101" pitchFamily="2" charset="-122"/>
              </a:rPr>
              <a:t>while</a:t>
            </a:r>
            <a:r>
              <a:rPr lang="en-US" altLang="zh-CN" sz="2100" dirty="0">
                <a:solidFill>
                  <a:srgbClr val="00194C"/>
                </a:solidFill>
                <a:latin typeface="华文楷体" panose="02010600040101010101" pitchFamily="2" charset="-122"/>
                <a:ea typeface="华文楷体" panose="02010600040101010101" pitchFamily="2" charset="-122"/>
              </a:rPr>
              <a:t>( BST )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if( X &gt; BST-&gt;data )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FF0000"/>
                </a:solidFill>
                <a:latin typeface="华文楷体" panose="02010600040101010101" pitchFamily="2" charset="-122"/>
                <a:ea typeface="华文楷体" panose="02010600040101010101" pitchFamily="2" charset="-122"/>
              </a:rPr>
              <a:t>BST = BST-&gt;</a:t>
            </a:r>
            <a:r>
              <a:rPr lang="en-US" altLang="zh-CN" sz="2100" dirty="0" err="1">
                <a:solidFill>
                  <a:srgbClr val="FF0000"/>
                </a:solidFill>
                <a:latin typeface="华文楷体" panose="02010600040101010101" pitchFamily="2" charset="-122"/>
                <a:ea typeface="华文楷体" panose="02010600040101010101" pitchFamily="2" charset="-122"/>
              </a:rPr>
              <a:t>rchild</a:t>
            </a:r>
            <a:r>
              <a:rPr lang="en-US" altLang="zh-CN" sz="2100" dirty="0">
                <a:solidFill>
                  <a:srgbClr val="FF0000"/>
                </a:solidFill>
                <a:latin typeface="华文楷体" panose="02010600040101010101" pitchFamily="2" charset="-122"/>
                <a:ea typeface="华文楷体" panose="02010600040101010101" pitchFamily="2" charset="-122"/>
              </a:rPr>
              <a:t>; </a:t>
            </a:r>
            <a:r>
              <a:rPr lang="en-US" altLang="zh-CN" sz="2100" dirty="0" smtClean="0">
                <a:solidFill>
                  <a:srgbClr val="FF0000"/>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向右子树中移动，继续查找*</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else if( X &lt; BST-&gt;data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FF0000"/>
                </a:solidFill>
                <a:latin typeface="华文楷体" panose="02010600040101010101" pitchFamily="2" charset="-122"/>
                <a:ea typeface="华文楷体" panose="02010600040101010101" pitchFamily="2" charset="-122"/>
              </a:rPr>
              <a:t>BST = BST-&gt;</a:t>
            </a:r>
            <a:r>
              <a:rPr lang="en-US" altLang="zh-CN" sz="2100" dirty="0" err="1">
                <a:solidFill>
                  <a:srgbClr val="FF0000"/>
                </a:solidFill>
                <a:latin typeface="华文楷体" panose="02010600040101010101" pitchFamily="2" charset="-122"/>
                <a:ea typeface="华文楷体" panose="02010600040101010101" pitchFamily="2" charset="-122"/>
              </a:rPr>
              <a:t>lchild</a:t>
            </a:r>
            <a:r>
              <a:rPr lang="en-US" altLang="zh-CN" sz="2100" dirty="0">
                <a:solidFill>
                  <a:srgbClr val="FF0000"/>
                </a:solidFill>
                <a:latin typeface="华文楷体" panose="02010600040101010101" pitchFamily="2" charset="-122"/>
                <a:ea typeface="华文楷体" panose="02010600040101010101" pitchFamily="2" charset="-122"/>
              </a:rPr>
              <a:t>; </a:t>
            </a:r>
            <a:r>
              <a:rPr lang="en-US" altLang="zh-CN" sz="2100" dirty="0" smtClean="0">
                <a:solidFill>
                  <a:srgbClr val="FF0000"/>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向左子树中移动，继续查找*</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else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 </a:t>
            </a:r>
            <a:r>
              <a:rPr lang="en-US" altLang="zh-CN" sz="2100" dirty="0">
                <a:solidFill>
                  <a:srgbClr val="00B050"/>
                </a:solidFill>
                <a:latin typeface="华文楷体" panose="02010600040101010101" pitchFamily="2" charset="-122"/>
                <a:ea typeface="华文楷体" panose="02010600040101010101" pitchFamily="2" charset="-122"/>
              </a:rPr>
              <a:t>X == BST-&gt;data */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a:solidFill>
                  <a:srgbClr val="00194C"/>
                </a:solidFill>
                <a:latin typeface="华文楷体" panose="02010600040101010101" pitchFamily="2" charset="-122"/>
                <a:ea typeface="华文楷体" panose="02010600040101010101" pitchFamily="2" charset="-122"/>
              </a:rPr>
              <a:t>	    return </a:t>
            </a:r>
            <a:r>
              <a:rPr lang="en-US" altLang="zh-CN" sz="2100" dirty="0">
                <a:solidFill>
                  <a:srgbClr val="FF0000"/>
                </a:solidFill>
                <a:latin typeface="华文楷体" panose="02010600040101010101" pitchFamily="2" charset="-122"/>
                <a:ea typeface="华文楷体" panose="02010600040101010101" pitchFamily="2" charset="-122"/>
              </a:rPr>
              <a:t>BST</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查找成功，返回结点的找到结点的地址*</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ts val="2600"/>
              </a:lnSpc>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ts val="2600"/>
              </a:lnSpc>
              <a:spcBef>
                <a:spcPts val="0"/>
              </a:spcBef>
              <a:spcAft>
                <a:spcPts val="0"/>
              </a:spcAft>
            </a:pPr>
            <a:r>
              <a:rPr lang="en-US" altLang="zh-CN" sz="2100" dirty="0">
                <a:solidFill>
                  <a:srgbClr val="00194C"/>
                </a:solidFill>
                <a:latin typeface="华文楷体" panose="02010600040101010101" pitchFamily="2" charset="-122"/>
                <a:ea typeface="华文楷体" panose="02010600040101010101" pitchFamily="2" charset="-122"/>
              </a:rPr>
              <a:t>    return </a:t>
            </a:r>
            <a:r>
              <a:rPr lang="en-US" altLang="zh-CN" sz="2100" dirty="0">
                <a:solidFill>
                  <a:srgbClr val="FF0000"/>
                </a:solidFill>
                <a:latin typeface="华文楷体" panose="02010600040101010101" pitchFamily="2" charset="-122"/>
                <a:ea typeface="华文楷体" panose="02010600040101010101" pitchFamily="2" charset="-122"/>
              </a:rPr>
              <a:t>NULL</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查找失败*</a:t>
            </a:r>
            <a:r>
              <a:rPr lang="en-US" altLang="zh-CN" sz="2100" dirty="0">
                <a:solidFill>
                  <a:srgbClr val="00B050"/>
                </a:solidFill>
                <a:latin typeface="华文楷体" panose="02010600040101010101" pitchFamily="2" charset="-122"/>
                <a:ea typeface="华文楷体" panose="02010600040101010101" pitchFamily="2" charset="-122"/>
              </a:rPr>
              <a:t>/ </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600"/>
              </a:lnSpc>
              <a:spcBef>
                <a:spcPts val="0"/>
              </a:spcBef>
              <a:spcAft>
                <a:spcPts val="0"/>
              </a:spcAft>
            </a:pPr>
            <a:r>
              <a:rPr lang="en-US" altLang="zh-CN" sz="2100" dirty="0" smtClean="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2.</a:t>
            </a:r>
            <a:r>
              <a:rPr lang="zh-CN" altLang="en-US" dirty="0"/>
              <a:t>二叉排序树的插入和生成</a:t>
            </a:r>
            <a:endParaRPr lang="en-US" altLang="zh-CN" dirty="0"/>
          </a:p>
          <a:p>
            <a:pPr marL="339725" lvl="2" indent="-205105"/>
            <a:r>
              <a:rPr lang="zh-CN" altLang="en-US" dirty="0" smtClean="0"/>
              <a:t>关键</a:t>
            </a:r>
            <a:r>
              <a:rPr lang="zh-CN" altLang="en-US" dirty="0"/>
              <a:t>是要找到元素应该插入的位置</a:t>
            </a:r>
            <a:r>
              <a:rPr lang="zh-CN" altLang="en-US" dirty="0" smtClean="0"/>
              <a:t>，</a:t>
            </a:r>
            <a:r>
              <a:rPr lang="zh-CN" altLang="en-US" sz="2100" dirty="0" smtClean="0">
                <a:solidFill>
                  <a:srgbClr val="00194C"/>
                </a:solidFill>
                <a:latin typeface="华文楷体" panose="02010600040101010101" pitchFamily="2" charset="-122"/>
                <a:ea typeface="华文楷体" panose="02010600040101010101" pitchFamily="2" charset="-122"/>
              </a:rPr>
              <a:t>可以</a:t>
            </a:r>
            <a:r>
              <a:rPr lang="zh-CN" altLang="en-US" sz="2100" dirty="0">
                <a:solidFill>
                  <a:srgbClr val="00194C"/>
                </a:solidFill>
                <a:latin typeface="华文楷体" panose="02010600040101010101" pitchFamily="2" charset="-122"/>
                <a:ea typeface="华文楷体" panose="02010600040101010101" pitchFamily="2" charset="-122"/>
              </a:rPr>
              <a:t>采用与</a:t>
            </a:r>
            <a:r>
              <a:rPr lang="en-US" altLang="zh-CN" sz="2100" dirty="0">
                <a:solidFill>
                  <a:srgbClr val="00194C"/>
                </a:solidFill>
                <a:latin typeface="华文楷体" panose="02010600040101010101" pitchFamily="2" charset="-122"/>
                <a:ea typeface="华文楷体" panose="02010600040101010101" pitchFamily="2" charset="-122"/>
              </a:rPr>
              <a:t>Find</a:t>
            </a:r>
            <a:r>
              <a:rPr lang="zh-CN" altLang="en-US" sz="2100" dirty="0">
                <a:solidFill>
                  <a:srgbClr val="00194C"/>
                </a:solidFill>
                <a:latin typeface="华文楷体" panose="02010600040101010101" pitchFamily="2" charset="-122"/>
                <a:ea typeface="华文楷体" panose="02010600040101010101" pitchFamily="2" charset="-122"/>
              </a:rPr>
              <a:t>类似的方法</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buClr>
                <a:schemeClr val="accent2"/>
              </a:buClr>
              <a:buFont typeface="Wingdings" panose="05000000000000000000" pitchFamily="2" charset="2"/>
              <a:buChar char="p"/>
            </a:pPr>
            <a:r>
              <a:rPr lang="zh-CN" altLang="en-US" sz="2100" dirty="0">
                <a:solidFill>
                  <a:srgbClr val="00194C"/>
                </a:solidFill>
                <a:latin typeface="华文楷体" panose="02010600040101010101" pitchFamily="2" charset="-122"/>
                <a:ea typeface="华文楷体" panose="02010600040101010101" pitchFamily="2" charset="-122"/>
              </a:rPr>
              <a:t>若二叉排序树是空树，则</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成为二叉排序树的根；</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buClr>
                <a:schemeClr val="accent2"/>
              </a:buClr>
              <a:buFont typeface="Wingdings" panose="05000000000000000000" pitchFamily="2" charset="2"/>
              <a:buChar char="p"/>
            </a:pPr>
            <a:r>
              <a:rPr lang="zh-CN" altLang="en-US" sz="2100" dirty="0">
                <a:solidFill>
                  <a:srgbClr val="00194C"/>
                </a:solidFill>
                <a:latin typeface="华文楷体" panose="02010600040101010101" pitchFamily="2" charset="-122"/>
                <a:ea typeface="华文楷体" panose="02010600040101010101" pitchFamily="2" charset="-122"/>
              </a:rPr>
              <a:t>若二叉排序树非空，则将</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与二叉排序树的根进行比较，</a:t>
            </a:r>
            <a:endParaRPr lang="en-US" altLang="zh-CN" sz="2100" dirty="0">
              <a:solidFill>
                <a:srgbClr val="00194C"/>
              </a:solidFill>
              <a:latin typeface="华文楷体" panose="02010600040101010101" pitchFamily="2" charset="-122"/>
              <a:ea typeface="华文楷体" panose="02010600040101010101" pitchFamily="2" charset="-122"/>
            </a:endParaRPr>
          </a:p>
          <a:p>
            <a:pPr lvl="1">
              <a:lnSpc>
                <a:spcPct val="130000"/>
              </a:lnSpc>
              <a:spcBef>
                <a:spcPct val="0"/>
              </a:spcBef>
              <a:buClr>
                <a:schemeClr val="accent2"/>
              </a:buClr>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 如果</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的值等于根结点的值，则停止插入；</a:t>
            </a:r>
            <a:endParaRPr lang="en-US" altLang="zh-CN" sz="2100" dirty="0">
              <a:solidFill>
                <a:srgbClr val="00194C"/>
              </a:solidFill>
              <a:latin typeface="华文楷体" panose="02010600040101010101" pitchFamily="2" charset="-122"/>
              <a:ea typeface="华文楷体" panose="02010600040101010101" pitchFamily="2" charset="-122"/>
            </a:endParaRPr>
          </a:p>
          <a:p>
            <a:pPr lvl="1">
              <a:lnSpc>
                <a:spcPct val="130000"/>
              </a:lnSpc>
              <a:spcBef>
                <a:spcPct val="0"/>
              </a:spcBef>
              <a:buClr>
                <a:schemeClr val="accent2"/>
              </a:buClr>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 如果</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的值小于根结点的值，则将</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插入左子树；</a:t>
            </a:r>
            <a:endParaRPr lang="en-US" altLang="zh-CN" sz="2100" dirty="0">
              <a:solidFill>
                <a:srgbClr val="00194C"/>
              </a:solidFill>
              <a:latin typeface="华文楷体" panose="02010600040101010101" pitchFamily="2" charset="-122"/>
              <a:ea typeface="华文楷体" panose="02010600040101010101" pitchFamily="2" charset="-122"/>
            </a:endParaRPr>
          </a:p>
          <a:p>
            <a:pPr lvl="1">
              <a:lnSpc>
                <a:spcPct val="130000"/>
              </a:lnSpc>
              <a:spcBef>
                <a:spcPct val="0"/>
              </a:spcBef>
              <a:buClr>
                <a:schemeClr val="accent2"/>
              </a:buClr>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 如果</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的值大于根结点的值，则将</a:t>
            </a:r>
            <a:r>
              <a:rPr lang="en-US" altLang="zh-CN" sz="2100" dirty="0">
                <a:solidFill>
                  <a:srgbClr val="00194C"/>
                </a:solidFill>
                <a:latin typeface="华文楷体" panose="02010600040101010101" pitchFamily="2" charset="-122"/>
                <a:ea typeface="华文楷体" panose="02010600040101010101" pitchFamily="2" charset="-122"/>
              </a:rPr>
              <a:t>key</a:t>
            </a:r>
            <a:r>
              <a:rPr lang="zh-CN" altLang="en-US" sz="2100" dirty="0">
                <a:solidFill>
                  <a:srgbClr val="00194C"/>
                </a:solidFill>
                <a:latin typeface="华文楷体" panose="02010600040101010101" pitchFamily="2" charset="-122"/>
                <a:ea typeface="华文楷体" panose="02010600040101010101" pitchFamily="2" charset="-122"/>
              </a:rPr>
              <a:t>插入右子树。</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39725" lvl="2" indent="-205105"/>
            <a:r>
              <a:rPr lang="zh-CN" altLang="en-US" dirty="0" smtClean="0"/>
              <a:t>例</a:t>
            </a:r>
            <a:r>
              <a:rPr lang="zh-CN" altLang="en-US" dirty="0"/>
              <a:t>：在二叉排序树中插入</a:t>
            </a:r>
            <a:r>
              <a:rPr lang="en-US" altLang="zh-CN" dirty="0" smtClean="0"/>
              <a:t>33</a:t>
            </a:r>
            <a:endParaRPr lang="en-US" altLang="zh-CN" dirty="0" smtClean="0"/>
          </a:p>
          <a:p>
            <a:pPr marL="339725" lvl="2" indent="-205105"/>
            <a:endParaRPr lang="en-US" altLang="zh-CN" dirty="0"/>
          </a:p>
          <a:p>
            <a:pPr marL="339725" lvl="2" indent="-205105"/>
            <a:endParaRPr lang="en-US" altLang="zh-CN" dirty="0"/>
          </a:p>
          <a:p>
            <a:pPr marL="339725" lvl="2" indent="-205105"/>
            <a:endParaRPr lang="en-US" altLang="zh-CN" dirty="0"/>
          </a:p>
          <a:p>
            <a:pPr marL="339725" lvl="2" indent="-205105"/>
            <a:endParaRPr lang="en-US" altLang="zh-CN" dirty="0"/>
          </a:p>
          <a:p>
            <a:pPr marL="339725" lvl="2" indent="-205105"/>
            <a:endParaRPr lang="en-US" altLang="zh-CN" dirty="0"/>
          </a:p>
          <a:p>
            <a:pPr marL="339725" lvl="2" indent="-205105"/>
            <a:endParaRPr lang="en-US" altLang="zh-CN" dirty="0" smtClean="0"/>
          </a:p>
          <a:p>
            <a:pPr marL="0" lvl="2"/>
            <a:r>
              <a:rPr lang="zh-CN" altLang="en-US" dirty="0" smtClean="0"/>
              <a:t>新</a:t>
            </a:r>
            <a:r>
              <a:rPr lang="zh-CN" altLang="en-US" dirty="0"/>
              <a:t>插入的结点一定是</a:t>
            </a:r>
            <a:r>
              <a:rPr lang="zh-CN" altLang="en-US" dirty="0">
                <a:solidFill>
                  <a:srgbClr val="FF0000"/>
                </a:solidFill>
              </a:rPr>
              <a:t>叶子结点</a:t>
            </a:r>
            <a:r>
              <a:rPr lang="zh-CN" altLang="en-US" dirty="0"/>
              <a:t>，且其位置一定是查找不成功时指向最后一个结点的左孩子或右孩子。</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330179" y="1471313"/>
            <a:ext cx="1771650" cy="155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下箭头 4"/>
          <p:cNvSpPr>
            <a:spLocks noChangeArrowheads="1"/>
          </p:cNvSpPr>
          <p:nvPr/>
        </p:nvSpPr>
        <p:spPr bwMode="auto">
          <a:xfrm>
            <a:off x="4139803" y="1192707"/>
            <a:ext cx="108347" cy="323850"/>
          </a:xfrm>
          <a:prstGeom prst="downArrow">
            <a:avLst>
              <a:gd name="adj1" fmla="val 50000"/>
              <a:gd name="adj2" fmla="val 49817"/>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800">
              <a:latin typeface="Times New Roman" panose="02020603050405020304" pitchFamily="18" charset="0"/>
              <a:ea typeface="宋体" panose="02010600030101010101" pitchFamily="2" charset="-122"/>
            </a:endParaRPr>
          </a:p>
        </p:txBody>
      </p:sp>
      <p:sp>
        <p:nvSpPr>
          <p:cNvPr id="6" name="椭圆 5"/>
          <p:cNvSpPr/>
          <p:nvPr/>
        </p:nvSpPr>
        <p:spPr bwMode="auto">
          <a:xfrm>
            <a:off x="3099335" y="1084361"/>
            <a:ext cx="501115" cy="393795"/>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a:lstStyle/>
          <a:p>
            <a:pPr eaLnBrk="1" hangingPunct="1">
              <a:defRPr/>
            </a:pPr>
            <a:r>
              <a:rPr lang="en-US" altLang="zh-CN" sz="1200" b="1" dirty="0">
                <a:solidFill>
                  <a:schemeClr val="tx1">
                    <a:lumMod val="85000"/>
                    <a:lumOff val="15000"/>
                  </a:schemeClr>
                </a:solidFill>
              </a:rPr>
              <a:t>33</a:t>
            </a:r>
            <a:endParaRPr lang="zh-CN" altLang="en-US" sz="1200" b="1" dirty="0">
              <a:solidFill>
                <a:schemeClr val="tx1">
                  <a:lumMod val="85000"/>
                  <a:lumOff val="15000"/>
                </a:schemeClr>
              </a:solidFill>
            </a:endParaRPr>
          </a:p>
        </p:txBody>
      </p:sp>
      <p:sp>
        <p:nvSpPr>
          <p:cNvPr id="7" name="下箭头 6"/>
          <p:cNvSpPr>
            <a:spLocks noChangeArrowheads="1"/>
          </p:cNvSpPr>
          <p:nvPr/>
        </p:nvSpPr>
        <p:spPr bwMode="auto">
          <a:xfrm>
            <a:off x="3707607" y="1624905"/>
            <a:ext cx="108347" cy="323850"/>
          </a:xfrm>
          <a:prstGeom prst="downArrow">
            <a:avLst>
              <a:gd name="adj1" fmla="val 50000"/>
              <a:gd name="adj2" fmla="val 49817"/>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800">
              <a:latin typeface="Times New Roman" panose="02020603050405020304" pitchFamily="18" charset="0"/>
              <a:ea typeface="宋体" panose="02010600030101010101" pitchFamily="2" charset="-122"/>
            </a:endParaRPr>
          </a:p>
        </p:txBody>
      </p:sp>
      <p:sp>
        <p:nvSpPr>
          <p:cNvPr id="8" name="下箭头 7"/>
          <p:cNvSpPr>
            <a:spLocks noChangeArrowheads="1"/>
          </p:cNvSpPr>
          <p:nvPr/>
        </p:nvSpPr>
        <p:spPr bwMode="auto">
          <a:xfrm>
            <a:off x="4086226" y="2219026"/>
            <a:ext cx="107156" cy="323850"/>
          </a:xfrm>
          <a:prstGeom prst="downArrow">
            <a:avLst>
              <a:gd name="adj1" fmla="val 50000"/>
              <a:gd name="adj2" fmla="val 50370"/>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800">
              <a:latin typeface="Times New Roman" panose="02020603050405020304" pitchFamily="18" charset="0"/>
              <a:ea typeface="宋体" panose="02010600030101010101" pitchFamily="2" charset="-122"/>
            </a:endParaRPr>
          </a:p>
        </p:txBody>
      </p:sp>
      <p:grpSp>
        <p:nvGrpSpPr>
          <p:cNvPr id="9" name="组合 10"/>
          <p:cNvGrpSpPr/>
          <p:nvPr/>
        </p:nvGrpSpPr>
        <p:grpSpPr bwMode="auto">
          <a:xfrm>
            <a:off x="4193382" y="2858933"/>
            <a:ext cx="561498" cy="718898"/>
            <a:chOff x="4067944" y="3789040"/>
            <a:chExt cx="576064" cy="792088"/>
          </a:xfrm>
        </p:grpSpPr>
        <p:sp>
          <p:nvSpPr>
            <p:cNvPr id="10" name="椭圆 9"/>
            <p:cNvSpPr/>
            <p:nvPr/>
          </p:nvSpPr>
          <p:spPr bwMode="auto">
            <a:xfrm>
              <a:off x="4067944" y="4076350"/>
              <a:ext cx="576064" cy="504778"/>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a:lstStyle/>
            <a:p>
              <a:pPr eaLnBrk="1" hangingPunct="1">
                <a:defRPr/>
              </a:pPr>
              <a:r>
                <a:rPr lang="en-US" altLang="zh-CN" sz="1200" b="1" dirty="0">
                  <a:solidFill>
                    <a:schemeClr val="tx1">
                      <a:lumMod val="85000"/>
                      <a:lumOff val="15000"/>
                    </a:schemeClr>
                  </a:solidFill>
                </a:rPr>
                <a:t>33</a:t>
              </a:r>
              <a:endParaRPr lang="zh-CN" altLang="en-US" sz="1200" b="1" dirty="0">
                <a:solidFill>
                  <a:schemeClr val="tx1">
                    <a:lumMod val="85000"/>
                    <a:lumOff val="15000"/>
                  </a:schemeClr>
                </a:solidFill>
              </a:endParaRPr>
            </a:p>
          </p:txBody>
        </p:sp>
        <p:cxnSp>
          <p:nvCxnSpPr>
            <p:cNvPr id="11" name="直接连接符 9"/>
            <p:cNvCxnSpPr>
              <a:cxnSpLocks noChangeShapeType="1"/>
            </p:cNvCxnSpPr>
            <p:nvPr/>
          </p:nvCxnSpPr>
          <p:spPr bwMode="auto">
            <a:xfrm>
              <a:off x="4067944" y="3789040"/>
              <a:ext cx="144016" cy="288032"/>
            </a:xfrm>
            <a:prstGeom prst="line">
              <a:avLst/>
            </a:prstGeom>
            <a:noFill/>
            <a:ln w="9525" algn="ctr">
              <a:solidFill>
                <a:schemeClr val="tx1"/>
              </a:solidFill>
              <a:round/>
            </a:ln>
            <a:extLst>
              <a:ext uri="{909E8E84-426E-40DD-AFC4-6F175D3DCCD1}">
                <a14:hiddenFill xmlns:a14="http://schemas.microsoft.com/office/drawing/2010/main">
                  <a:noFill/>
                </a14:hiddenFill>
              </a:ext>
            </a:ex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xit" presetSubtype="0" fill="hold" grpId="1" nodeType="clickEffect">
                                  <p:stCondLst>
                                    <p:cond delay="0"/>
                                  </p:stCondLst>
                                  <p:childTnLst>
                                    <p:animEffect transition="out" filter="dissolve">
                                      <p:cBhvr>
                                        <p:cTn id="16" dur="500"/>
                                        <p:tgtEl>
                                          <p:spTgt spid="5"/>
                                        </p:tgtEl>
                                      </p:cBhvr>
                                    </p:animEffect>
                                    <p:set>
                                      <p:cBhvr>
                                        <p:cTn id="17" dur="1" fill="hold">
                                          <p:stCondLst>
                                            <p:cond delay="499"/>
                                          </p:stCondLst>
                                        </p:cTn>
                                        <p:tgtEl>
                                          <p:spTgt spid="5"/>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dissolv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xit" presetSubtype="0" fill="hold" grpId="1" nodeType="clickEffect">
                                  <p:stCondLst>
                                    <p:cond delay="0"/>
                                  </p:stCondLst>
                                  <p:childTnLst>
                                    <p:animEffect transition="out" filter="dissolve">
                                      <p:cBhvr>
                                        <p:cTn id="26" dur="500"/>
                                        <p:tgtEl>
                                          <p:spTgt spid="7"/>
                                        </p:tgtEl>
                                      </p:cBhvr>
                                    </p:animEffect>
                                    <p:set>
                                      <p:cBhvr>
                                        <p:cTn id="27" dur="1" fill="hold">
                                          <p:stCondLst>
                                            <p:cond delay="499"/>
                                          </p:stCondLst>
                                        </p:cTn>
                                        <p:tgtEl>
                                          <p:spTgt spid="7"/>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dissolv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xit" presetSubtype="0" fill="hold" grpId="1" nodeType="clickEffect">
                                  <p:stCondLst>
                                    <p:cond delay="0"/>
                                  </p:stCondLst>
                                  <p:childTnLst>
                                    <p:animEffect transition="out" filter="dissolve">
                                      <p:cBhvr>
                                        <p:cTn id="36" dur="500"/>
                                        <p:tgtEl>
                                          <p:spTgt spid="8"/>
                                        </p:tgtEl>
                                      </p:cBhvr>
                                    </p:animEffect>
                                    <p:set>
                                      <p:cBhvr>
                                        <p:cTn id="37" dur="1" fill="hold">
                                          <p:stCondLst>
                                            <p:cond delay="499"/>
                                          </p:stCondLst>
                                        </p:cTn>
                                        <p:tgtEl>
                                          <p:spTgt spid="8"/>
                                        </p:tgtEl>
                                        <p:attrNameLst>
                                          <p:attrName>style.visibility</p:attrName>
                                        </p:attrNameLst>
                                      </p:cBhvr>
                                      <p:to>
                                        <p:strVal val="hidden"/>
                                      </p:to>
                                    </p:set>
                                  </p:childTnLst>
                                </p:cTn>
                              </p:par>
                            </p:childTnLst>
                          </p:cTn>
                        </p:par>
                      </p:childTnLst>
                    </p:cTn>
                  </p:par>
                  <p:par>
                    <p:cTn id="38" fill="hold">
                      <p:stCondLst>
                        <p:cond delay="indefinite"/>
                      </p:stCondLst>
                      <p:childTnLst>
                        <p:par>
                          <p:cTn id="39" fill="hold">
                            <p:stCondLst>
                              <p:cond delay="0"/>
                            </p:stCondLst>
                            <p:childTnLst>
                              <p:par>
                                <p:cTn id="40" presetID="9" presetClass="exit" presetSubtype="0" fill="hold" grpId="1" nodeType="clickEffect">
                                  <p:stCondLst>
                                    <p:cond delay="0"/>
                                  </p:stCondLst>
                                  <p:childTnLst>
                                    <p:animEffect transition="out" filter="dissolve">
                                      <p:cBhvr>
                                        <p:cTn id="41" dur="500"/>
                                        <p:tgtEl>
                                          <p:spTgt spid="6"/>
                                        </p:tgtEl>
                                      </p:cBhvr>
                                    </p:animEffect>
                                    <p:set>
                                      <p:cBhvr>
                                        <p:cTn id="42" dur="1" fill="hold">
                                          <p:stCondLst>
                                            <p:cond delay="499"/>
                                          </p:stCondLst>
                                        </p:cTn>
                                        <p:tgtEl>
                                          <p:spTgt spid="6"/>
                                        </p:tgtEl>
                                        <p:attrNameLst>
                                          <p:attrName>style.visibility</p:attrName>
                                        </p:attrNameLst>
                                      </p:cBhvr>
                                      <p:to>
                                        <p:strVal val="hidden"/>
                                      </p:to>
                                    </p:set>
                                  </p:childTnLst>
                                </p:cTn>
                              </p:par>
                            </p:childTnLst>
                          </p:cTn>
                        </p:par>
                        <p:par>
                          <p:cTn id="43" fill="hold">
                            <p:stCondLst>
                              <p:cond delay="500"/>
                            </p:stCondLst>
                            <p:childTnLst>
                              <p:par>
                                <p:cTn id="44" presetID="9" presetClass="entr" presetSubtype="0" fill="hold" nodeType="after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dissolve">
                                      <p:cBhvr>
                                        <p:cTn id="4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296309"/>
          </a:xfrm>
        </p:spPr>
        <p:txBody>
          <a:bodyPr/>
          <a:lstStyle/>
          <a:p>
            <a:pPr eaLnBrk="1" hangingPunct="1">
              <a:lnSpc>
                <a:spcPts val="2200"/>
              </a:lnSpc>
              <a:spcBef>
                <a:spcPct val="0"/>
              </a:spcBef>
            </a:pPr>
            <a:r>
              <a:rPr lang="zh-CN" altLang="en-US" sz="2000" dirty="0" smtClean="0">
                <a:solidFill>
                  <a:srgbClr val="00194C"/>
                </a:solidFill>
                <a:latin typeface="华文楷体" panose="02010600040101010101" pitchFamily="2" charset="-122"/>
                <a:ea typeface="华文楷体" panose="02010600040101010101" pitchFamily="2" charset="-122"/>
              </a:rPr>
              <a:t>算法</a:t>
            </a:r>
            <a:r>
              <a:rPr lang="zh-CN" altLang="en-US" sz="2000" dirty="0">
                <a:solidFill>
                  <a:srgbClr val="00194C"/>
                </a:solidFill>
                <a:latin typeface="华文楷体" panose="02010600040101010101" pitchFamily="2" charset="-122"/>
                <a:ea typeface="华文楷体" panose="02010600040101010101" pitchFamily="2" charset="-122"/>
              </a:rPr>
              <a:t>如下</a:t>
            </a:r>
            <a:r>
              <a:rPr lang="zh-CN" altLang="en-US" sz="2000" dirty="0" smtClean="0">
                <a:solidFill>
                  <a:srgbClr val="00194C"/>
                </a:solidFill>
                <a:latin typeface="华文楷体" panose="02010600040101010101" pitchFamily="2" charset="-122"/>
                <a:ea typeface="华文楷体" panose="02010600040101010101" pitchFamily="2" charset="-122"/>
              </a:rPr>
              <a:t>：</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err="1" smtClean="0">
                <a:solidFill>
                  <a:srgbClr val="00194C"/>
                </a:solidFill>
                <a:latin typeface="华文楷体" panose="02010600040101010101" pitchFamily="2" charset="-122"/>
                <a:ea typeface="华文楷体" panose="02010600040101010101" pitchFamily="2" charset="-122"/>
              </a:rPr>
              <a:t>BiTree</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a:solidFill>
                  <a:srgbClr val="00194C"/>
                </a:solidFill>
                <a:latin typeface="华文楷体" panose="02010600040101010101" pitchFamily="2" charset="-122"/>
                <a:ea typeface="华文楷体" panose="02010600040101010101" pitchFamily="2" charset="-122"/>
              </a:rPr>
              <a:t>Insert( </a:t>
            </a:r>
            <a:r>
              <a:rPr lang="en-US" altLang="zh-CN" sz="2000" dirty="0" err="1">
                <a:solidFill>
                  <a:srgbClr val="00194C"/>
                </a:solidFill>
                <a:latin typeface="华文楷体" panose="02010600040101010101" pitchFamily="2" charset="-122"/>
                <a:ea typeface="华文楷体" panose="02010600040101010101" pitchFamily="2" charset="-122"/>
              </a:rPr>
              <a:t>TElemType</a:t>
            </a:r>
            <a:r>
              <a:rPr lang="en-US" altLang="zh-CN" sz="2000" dirty="0">
                <a:solidFill>
                  <a:srgbClr val="00194C"/>
                </a:solidFill>
                <a:latin typeface="华文楷体" panose="02010600040101010101" pitchFamily="2" charset="-122"/>
                <a:ea typeface="华文楷体" panose="02010600040101010101" pitchFamily="2" charset="-122"/>
              </a:rPr>
              <a:t> X, </a:t>
            </a:r>
            <a:r>
              <a:rPr lang="en-US" altLang="zh-CN" sz="2000" dirty="0" err="1">
                <a:solidFill>
                  <a:srgbClr val="00194C"/>
                </a:solidFill>
                <a:latin typeface="华文楷体" panose="02010600040101010101" pitchFamily="2" charset="-122"/>
                <a:ea typeface="华文楷体" panose="02010600040101010101" pitchFamily="2" charset="-122"/>
              </a:rPr>
              <a:t>BiTree</a:t>
            </a:r>
            <a:r>
              <a:rPr lang="en-US" altLang="zh-CN" sz="2000" dirty="0">
                <a:solidFill>
                  <a:srgbClr val="00194C"/>
                </a:solidFill>
                <a:latin typeface="华文楷体" panose="02010600040101010101" pitchFamily="2" charset="-122"/>
                <a:ea typeface="华文楷体" panose="02010600040101010101" pitchFamily="2" charset="-122"/>
              </a:rPr>
              <a:t> BST ) </a:t>
            </a:r>
            <a:r>
              <a:rPr lang="en-US" altLang="zh-CN" sz="2000" dirty="0" smtClean="0">
                <a:solidFill>
                  <a:srgbClr val="00194C"/>
                </a:solidFill>
                <a:latin typeface="华文楷体" panose="02010600040101010101" pitchFamily="2" charset="-122"/>
                <a:ea typeface="华文楷体" panose="02010600040101010101" pitchFamily="2" charset="-122"/>
              </a:rPr>
              <a:t>{</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smtClean="0">
                <a:solidFill>
                  <a:srgbClr val="00194C"/>
                </a:solidFill>
                <a:latin typeface="华文楷体" panose="02010600040101010101" pitchFamily="2" charset="-122"/>
                <a:ea typeface="华文楷体" panose="02010600040101010101" pitchFamily="2" charset="-122"/>
              </a:rPr>
              <a:t>    if</a:t>
            </a:r>
            <a:r>
              <a:rPr lang="en-US" altLang="zh-CN" sz="2000" dirty="0">
                <a:solidFill>
                  <a:srgbClr val="00194C"/>
                </a:solidFill>
                <a:latin typeface="华文楷体" panose="02010600040101010101" pitchFamily="2" charset="-122"/>
                <a:ea typeface="华文楷体" panose="02010600040101010101" pitchFamily="2" charset="-122"/>
              </a:rPr>
              <a:t>( !BST ){ </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smtClean="0">
                <a:solidFill>
                  <a:srgbClr val="00B050"/>
                </a:solidFill>
                <a:latin typeface="华文楷体" panose="02010600040101010101" pitchFamily="2" charset="-122"/>
                <a:ea typeface="华文楷体" panose="02010600040101010101" pitchFamily="2" charset="-122"/>
              </a:rPr>
              <a:t>/*</a:t>
            </a:r>
            <a:r>
              <a:rPr lang="zh-CN" altLang="en-US" sz="2000" dirty="0">
                <a:solidFill>
                  <a:srgbClr val="00B050"/>
                </a:solidFill>
                <a:latin typeface="华文楷体" panose="02010600040101010101" pitchFamily="2" charset="-122"/>
                <a:ea typeface="华文楷体" panose="02010600040101010101" pitchFamily="2" charset="-122"/>
              </a:rPr>
              <a:t>若原树为空，生成并返回一个结点的二叉搜索树*</a:t>
            </a:r>
            <a:r>
              <a:rPr lang="en-US" altLang="zh-CN" sz="2000" dirty="0">
                <a:solidFill>
                  <a:srgbClr val="00B050"/>
                </a:solidFill>
                <a:latin typeface="华文楷体" panose="02010600040101010101" pitchFamily="2" charset="-122"/>
                <a:ea typeface="华文楷体" panose="02010600040101010101" pitchFamily="2" charset="-122"/>
              </a:rPr>
              <a:t>/ </a:t>
            </a:r>
            <a:endParaRPr lang="en-US" altLang="zh-CN" sz="20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a:solidFill>
                  <a:srgbClr val="FF0000"/>
                </a:solidFill>
                <a:latin typeface="华文楷体" panose="02010600040101010101" pitchFamily="2" charset="-122"/>
                <a:ea typeface="华文楷体" panose="02010600040101010101" pitchFamily="2" charset="-122"/>
              </a:rPr>
              <a:t>BST = (</a:t>
            </a:r>
            <a:r>
              <a:rPr lang="en-US" altLang="zh-CN" sz="2000" dirty="0" err="1">
                <a:solidFill>
                  <a:srgbClr val="FF0000"/>
                </a:solidFill>
                <a:latin typeface="华文楷体" panose="02010600040101010101" pitchFamily="2" charset="-122"/>
                <a:ea typeface="华文楷体" panose="02010600040101010101" pitchFamily="2" charset="-122"/>
              </a:rPr>
              <a:t>BiTree</a:t>
            </a:r>
            <a:r>
              <a:rPr lang="en-US" altLang="zh-CN" sz="2000" dirty="0">
                <a:solidFill>
                  <a:srgbClr val="FF0000"/>
                </a:solidFill>
                <a:latin typeface="华文楷体" panose="02010600040101010101" pitchFamily="2" charset="-122"/>
                <a:ea typeface="华文楷体" panose="02010600040101010101" pitchFamily="2" charset="-122"/>
              </a:rPr>
              <a:t>) </a:t>
            </a:r>
            <a:r>
              <a:rPr lang="en-US" altLang="zh-CN" sz="2000" dirty="0" err="1">
                <a:solidFill>
                  <a:srgbClr val="FF0000"/>
                </a:solidFill>
                <a:latin typeface="华文楷体" panose="02010600040101010101" pitchFamily="2" charset="-122"/>
                <a:ea typeface="华文楷体" panose="02010600040101010101" pitchFamily="2" charset="-122"/>
              </a:rPr>
              <a:t>malloc</a:t>
            </a:r>
            <a:r>
              <a:rPr lang="en-US" altLang="zh-CN" sz="2000" dirty="0">
                <a:solidFill>
                  <a:srgbClr val="FF0000"/>
                </a:solidFill>
                <a:latin typeface="华文楷体" panose="02010600040101010101" pitchFamily="2" charset="-122"/>
                <a:ea typeface="华文楷体" panose="02010600040101010101" pitchFamily="2" charset="-122"/>
              </a:rPr>
              <a:t>(</a:t>
            </a:r>
            <a:r>
              <a:rPr lang="en-US" altLang="zh-CN" sz="2000" dirty="0" err="1">
                <a:solidFill>
                  <a:srgbClr val="FF0000"/>
                </a:solidFill>
                <a:latin typeface="华文楷体" panose="02010600040101010101" pitchFamily="2" charset="-122"/>
                <a:ea typeface="华文楷体" panose="02010600040101010101" pitchFamily="2" charset="-122"/>
              </a:rPr>
              <a:t>sizeof</a:t>
            </a:r>
            <a:r>
              <a:rPr lang="en-US" altLang="zh-CN" sz="2000" dirty="0">
                <a:solidFill>
                  <a:srgbClr val="FF0000"/>
                </a:solidFill>
                <a:latin typeface="华文楷体" panose="02010600040101010101" pitchFamily="2" charset="-122"/>
                <a:ea typeface="华文楷体" panose="02010600040101010101" pitchFamily="2" charset="-122"/>
              </a:rPr>
              <a:t>(</a:t>
            </a:r>
            <a:r>
              <a:rPr lang="en-US" altLang="zh-CN" sz="2000" dirty="0" err="1">
                <a:solidFill>
                  <a:srgbClr val="FF0000"/>
                </a:solidFill>
                <a:latin typeface="华文楷体" panose="02010600040101010101" pitchFamily="2" charset="-122"/>
                <a:ea typeface="华文楷体" panose="02010600040101010101" pitchFamily="2" charset="-122"/>
              </a:rPr>
              <a:t>BiTNode</a:t>
            </a:r>
            <a:r>
              <a:rPr lang="en-US" altLang="zh-CN" sz="2000" dirty="0">
                <a:solidFill>
                  <a:srgbClr val="FF0000"/>
                </a:solidFill>
                <a:latin typeface="华文楷体" panose="02010600040101010101" pitchFamily="2" charset="-122"/>
                <a:ea typeface="华文楷体" panose="02010600040101010101" pitchFamily="2" charset="-122"/>
              </a:rPr>
              <a:t>)); </a:t>
            </a:r>
            <a:endParaRPr lang="en-US" altLang="zh-CN" sz="2000" dirty="0" smtClean="0">
              <a:solidFill>
                <a:srgbClr val="FF000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BST-&gt;data = X; </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BST-&gt;</a:t>
            </a:r>
            <a:r>
              <a:rPr lang="en-US" altLang="zh-CN" sz="2000" dirty="0" err="1">
                <a:solidFill>
                  <a:srgbClr val="00194C"/>
                </a:solidFill>
                <a:latin typeface="华文楷体" panose="02010600040101010101" pitchFamily="2" charset="-122"/>
                <a:ea typeface="华文楷体" panose="02010600040101010101" pitchFamily="2" charset="-122"/>
              </a:rPr>
              <a:t>lchild</a:t>
            </a:r>
            <a:r>
              <a:rPr lang="en-US" altLang="zh-CN" sz="2000" dirty="0">
                <a:solidFill>
                  <a:srgbClr val="00194C"/>
                </a:solidFill>
                <a:latin typeface="华文楷体" panose="02010600040101010101" pitchFamily="2" charset="-122"/>
                <a:ea typeface="华文楷体" panose="02010600040101010101" pitchFamily="2" charset="-122"/>
              </a:rPr>
              <a:t> = BST-&gt;</a:t>
            </a:r>
            <a:r>
              <a:rPr lang="en-US" altLang="zh-CN" sz="2000" dirty="0" err="1">
                <a:solidFill>
                  <a:srgbClr val="00194C"/>
                </a:solidFill>
                <a:latin typeface="华文楷体" panose="02010600040101010101" pitchFamily="2" charset="-122"/>
                <a:ea typeface="华文楷体" panose="02010600040101010101" pitchFamily="2" charset="-122"/>
              </a:rPr>
              <a:t>rchild</a:t>
            </a:r>
            <a:r>
              <a:rPr lang="en-US" altLang="zh-CN" sz="2000" dirty="0">
                <a:solidFill>
                  <a:srgbClr val="00194C"/>
                </a:solidFill>
                <a:latin typeface="华文楷体" panose="02010600040101010101" pitchFamily="2" charset="-122"/>
                <a:ea typeface="华文楷体" panose="02010600040101010101" pitchFamily="2" charset="-122"/>
              </a:rPr>
              <a:t> = NULL; </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smtClean="0">
                <a:solidFill>
                  <a:srgbClr val="00194C"/>
                </a:solidFill>
                <a:latin typeface="华文楷体" panose="02010600040101010101" pitchFamily="2" charset="-122"/>
                <a:ea typeface="华文楷体" panose="02010600040101010101" pitchFamily="2" charset="-122"/>
              </a:rPr>
              <a:t>    }</a:t>
            </a:r>
            <a:endParaRPr lang="en-US" altLang="zh-CN" sz="2000" dirty="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else </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smtClean="0">
                <a:solidFill>
                  <a:srgbClr val="00B050"/>
                </a:solidFill>
                <a:latin typeface="华文楷体" panose="02010600040101010101" pitchFamily="2" charset="-122"/>
                <a:ea typeface="华文楷体" panose="02010600040101010101" pitchFamily="2" charset="-122"/>
              </a:rPr>
              <a:t>/*</a:t>
            </a:r>
            <a:r>
              <a:rPr lang="zh-CN" altLang="en-US" sz="2000" dirty="0">
                <a:solidFill>
                  <a:srgbClr val="00B050"/>
                </a:solidFill>
                <a:latin typeface="华文楷体" panose="02010600040101010101" pitchFamily="2" charset="-122"/>
                <a:ea typeface="华文楷体" panose="02010600040101010101" pitchFamily="2" charset="-122"/>
              </a:rPr>
              <a:t>开始找要插入元素的位置*</a:t>
            </a:r>
            <a:r>
              <a:rPr lang="en-US" altLang="zh-CN" sz="2000" dirty="0" smtClean="0">
                <a:solidFill>
                  <a:srgbClr val="00B050"/>
                </a:solidFill>
                <a:latin typeface="华文楷体" panose="02010600040101010101" pitchFamily="2" charset="-122"/>
                <a:ea typeface="华文楷体" panose="02010600040101010101" pitchFamily="2" charset="-122"/>
              </a:rPr>
              <a:t>/</a:t>
            </a:r>
            <a:endParaRPr lang="en-US" altLang="zh-CN" sz="20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if( X &lt; BST-&gt;data ) </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a:solidFill>
                  <a:srgbClr val="FF0000"/>
                </a:solidFill>
                <a:latin typeface="华文楷体" panose="02010600040101010101" pitchFamily="2" charset="-122"/>
                <a:ea typeface="华文楷体" panose="02010600040101010101" pitchFamily="2" charset="-122"/>
              </a:rPr>
              <a:t>BST-&gt;</a:t>
            </a:r>
            <a:r>
              <a:rPr lang="en-US" altLang="zh-CN" sz="2000" dirty="0" err="1">
                <a:solidFill>
                  <a:srgbClr val="FF0000"/>
                </a:solidFill>
                <a:latin typeface="华文楷体" panose="02010600040101010101" pitchFamily="2" charset="-122"/>
                <a:ea typeface="华文楷体" panose="02010600040101010101" pitchFamily="2" charset="-122"/>
              </a:rPr>
              <a:t>lchild</a:t>
            </a:r>
            <a:r>
              <a:rPr lang="en-US" altLang="zh-CN" sz="2000" dirty="0">
                <a:solidFill>
                  <a:srgbClr val="FF0000"/>
                </a:solidFill>
                <a:latin typeface="华文楷体" panose="02010600040101010101" pitchFamily="2" charset="-122"/>
                <a:ea typeface="华文楷体" panose="02010600040101010101" pitchFamily="2" charset="-122"/>
              </a:rPr>
              <a:t> = Insert( X, BST-&gt; </a:t>
            </a:r>
            <a:r>
              <a:rPr lang="en-US" altLang="zh-CN" sz="2000" dirty="0" err="1">
                <a:solidFill>
                  <a:srgbClr val="FF0000"/>
                </a:solidFill>
                <a:latin typeface="华文楷体" panose="02010600040101010101" pitchFamily="2" charset="-122"/>
                <a:ea typeface="华文楷体" panose="02010600040101010101" pitchFamily="2" charset="-122"/>
              </a:rPr>
              <a:t>lchild</a:t>
            </a:r>
            <a:r>
              <a:rPr lang="en-US" altLang="zh-CN" sz="2000" dirty="0">
                <a:solidFill>
                  <a:srgbClr val="FF0000"/>
                </a:solidFill>
                <a:latin typeface="华文楷体" panose="02010600040101010101" pitchFamily="2" charset="-122"/>
                <a:ea typeface="华文楷体" panose="02010600040101010101" pitchFamily="2" charset="-122"/>
              </a:rPr>
              <a:t>); </a:t>
            </a:r>
            <a:r>
              <a:rPr lang="en-US" altLang="zh-CN" sz="2000" dirty="0" smtClean="0">
                <a:solidFill>
                  <a:srgbClr val="FF0000"/>
                </a:solidFill>
                <a:latin typeface="华文楷体" panose="02010600040101010101" pitchFamily="2" charset="-122"/>
                <a:ea typeface="华文楷体" panose="02010600040101010101" pitchFamily="2" charset="-122"/>
              </a:rPr>
              <a:t>   </a:t>
            </a:r>
            <a:r>
              <a:rPr lang="en-US" altLang="zh-CN" sz="2000" dirty="0" smtClean="0">
                <a:solidFill>
                  <a:srgbClr val="00B050"/>
                </a:solidFill>
                <a:latin typeface="华文楷体" panose="02010600040101010101" pitchFamily="2" charset="-122"/>
                <a:ea typeface="华文楷体" panose="02010600040101010101" pitchFamily="2" charset="-122"/>
              </a:rPr>
              <a:t>/*</a:t>
            </a:r>
            <a:r>
              <a:rPr lang="zh-CN" altLang="en-US" sz="2000" dirty="0">
                <a:solidFill>
                  <a:srgbClr val="00B050"/>
                </a:solidFill>
                <a:latin typeface="华文楷体" panose="02010600040101010101" pitchFamily="2" charset="-122"/>
                <a:ea typeface="华文楷体" panose="02010600040101010101" pitchFamily="2" charset="-122"/>
              </a:rPr>
              <a:t>递归插入左子树*</a:t>
            </a:r>
            <a:r>
              <a:rPr lang="en-US" altLang="zh-CN" sz="2000" dirty="0" smtClean="0">
                <a:solidFill>
                  <a:srgbClr val="00B050"/>
                </a:solidFill>
                <a:latin typeface="华文楷体" panose="02010600040101010101" pitchFamily="2" charset="-122"/>
                <a:ea typeface="华文楷体" panose="02010600040101010101" pitchFamily="2" charset="-122"/>
              </a:rPr>
              <a:t>/</a:t>
            </a:r>
            <a:endParaRPr lang="en-US" altLang="zh-CN" sz="20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else if( X &gt; BST-&gt;data ) </a:t>
            </a:r>
            <a:endParaRPr lang="en-US" altLang="zh-CN" sz="2000" dirty="0" smtClean="0">
              <a:solidFill>
                <a:srgbClr val="00194C"/>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a:solidFill>
                  <a:srgbClr val="FF0000"/>
                </a:solidFill>
                <a:latin typeface="华文楷体" panose="02010600040101010101" pitchFamily="2" charset="-122"/>
                <a:ea typeface="华文楷体" panose="02010600040101010101" pitchFamily="2" charset="-122"/>
              </a:rPr>
              <a:t>BST-&gt;</a:t>
            </a:r>
            <a:r>
              <a:rPr lang="en-US" altLang="zh-CN" sz="2000" dirty="0" err="1">
                <a:solidFill>
                  <a:srgbClr val="FF0000"/>
                </a:solidFill>
                <a:latin typeface="华文楷体" panose="02010600040101010101" pitchFamily="2" charset="-122"/>
                <a:ea typeface="华文楷体" panose="02010600040101010101" pitchFamily="2" charset="-122"/>
              </a:rPr>
              <a:t>rchild</a:t>
            </a:r>
            <a:r>
              <a:rPr lang="en-US" altLang="zh-CN" sz="2000" dirty="0">
                <a:solidFill>
                  <a:srgbClr val="FF0000"/>
                </a:solidFill>
                <a:latin typeface="华文楷体" panose="02010600040101010101" pitchFamily="2" charset="-122"/>
                <a:ea typeface="华文楷体" panose="02010600040101010101" pitchFamily="2" charset="-122"/>
              </a:rPr>
              <a:t> = Insert( X, BST-&gt; </a:t>
            </a:r>
            <a:r>
              <a:rPr lang="en-US" altLang="zh-CN" sz="2000" dirty="0" err="1">
                <a:solidFill>
                  <a:srgbClr val="FF0000"/>
                </a:solidFill>
                <a:latin typeface="华文楷体" panose="02010600040101010101" pitchFamily="2" charset="-122"/>
                <a:ea typeface="华文楷体" panose="02010600040101010101" pitchFamily="2" charset="-122"/>
              </a:rPr>
              <a:t>rchild</a:t>
            </a:r>
            <a:r>
              <a:rPr lang="en-US" altLang="zh-CN" sz="2000" dirty="0">
                <a:solidFill>
                  <a:srgbClr val="FF0000"/>
                </a:solidFill>
                <a:latin typeface="华文楷体" panose="02010600040101010101" pitchFamily="2" charset="-122"/>
                <a:ea typeface="华文楷体" panose="02010600040101010101" pitchFamily="2" charset="-122"/>
              </a:rPr>
              <a:t>); </a:t>
            </a:r>
            <a:r>
              <a:rPr lang="en-US" altLang="zh-CN" sz="2000" dirty="0" smtClean="0">
                <a:solidFill>
                  <a:srgbClr val="FF0000"/>
                </a:solidFill>
                <a:latin typeface="华文楷体" panose="02010600040101010101" pitchFamily="2" charset="-122"/>
                <a:ea typeface="华文楷体" panose="02010600040101010101" pitchFamily="2" charset="-122"/>
              </a:rPr>
              <a:t>   </a:t>
            </a:r>
            <a:r>
              <a:rPr lang="en-US" altLang="zh-CN" sz="2000" dirty="0" smtClean="0">
                <a:solidFill>
                  <a:srgbClr val="00B050"/>
                </a:solidFill>
                <a:latin typeface="华文楷体" panose="02010600040101010101" pitchFamily="2" charset="-122"/>
                <a:ea typeface="华文楷体" panose="02010600040101010101" pitchFamily="2" charset="-122"/>
              </a:rPr>
              <a:t>/*</a:t>
            </a:r>
            <a:r>
              <a:rPr lang="zh-CN" altLang="en-US" sz="2000" dirty="0">
                <a:solidFill>
                  <a:srgbClr val="00B050"/>
                </a:solidFill>
                <a:latin typeface="华文楷体" panose="02010600040101010101" pitchFamily="2" charset="-122"/>
                <a:ea typeface="华文楷体" panose="02010600040101010101" pitchFamily="2" charset="-122"/>
              </a:rPr>
              <a:t>递归插入右子树*</a:t>
            </a:r>
            <a:r>
              <a:rPr lang="en-US" altLang="zh-CN" sz="2000" dirty="0" smtClean="0">
                <a:solidFill>
                  <a:srgbClr val="00B050"/>
                </a:solidFill>
                <a:latin typeface="华文楷体" panose="02010600040101010101" pitchFamily="2" charset="-122"/>
                <a:ea typeface="华文楷体" panose="02010600040101010101" pitchFamily="2" charset="-122"/>
              </a:rPr>
              <a:t>/</a:t>
            </a:r>
            <a:endParaRPr lang="en-US" altLang="zh-CN" sz="20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else   </a:t>
            </a:r>
            <a:r>
              <a:rPr lang="en-US" altLang="zh-CN" sz="2000" dirty="0" smtClean="0">
                <a:solidFill>
                  <a:srgbClr val="00194C"/>
                </a:solidFill>
                <a:latin typeface="华文楷体" panose="02010600040101010101" pitchFamily="2" charset="-122"/>
                <a:ea typeface="华文楷体" panose="02010600040101010101" pitchFamily="2" charset="-122"/>
              </a:rPr>
              <a:t>    </a:t>
            </a:r>
            <a:r>
              <a:rPr lang="en-US" altLang="zh-CN" sz="2000" dirty="0">
                <a:solidFill>
                  <a:srgbClr val="00B050"/>
                </a:solidFill>
                <a:latin typeface="华文楷体" panose="02010600040101010101" pitchFamily="2" charset="-122"/>
                <a:ea typeface="华文楷体" panose="02010600040101010101" pitchFamily="2" charset="-122"/>
              </a:rPr>
              <a:t>/* X</a:t>
            </a:r>
            <a:r>
              <a:rPr lang="zh-CN" altLang="en-US" sz="2000" dirty="0">
                <a:solidFill>
                  <a:srgbClr val="00B050"/>
                </a:solidFill>
                <a:latin typeface="华文楷体" panose="02010600040101010101" pitchFamily="2" charset="-122"/>
                <a:ea typeface="华文楷体" panose="02010600040101010101" pitchFamily="2" charset="-122"/>
              </a:rPr>
              <a:t>已经存在，什么都不做 *</a:t>
            </a:r>
            <a:r>
              <a:rPr lang="en-US" altLang="zh-CN" sz="2000" dirty="0" smtClean="0">
                <a:solidFill>
                  <a:srgbClr val="00B050"/>
                </a:solidFill>
                <a:latin typeface="华文楷体" panose="02010600040101010101" pitchFamily="2" charset="-122"/>
                <a:ea typeface="华文楷体" panose="02010600040101010101" pitchFamily="2" charset="-122"/>
              </a:rPr>
              <a:t>/</a:t>
            </a:r>
            <a:endParaRPr lang="en-US" altLang="zh-CN" sz="2000" dirty="0" smtClean="0">
              <a:solidFill>
                <a:srgbClr val="00B05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a:t>
            </a:r>
            <a:r>
              <a:rPr lang="en-US" altLang="zh-CN" sz="2000" dirty="0">
                <a:solidFill>
                  <a:srgbClr val="FF0000"/>
                </a:solidFill>
                <a:latin typeface="华文楷体" panose="02010600040101010101" pitchFamily="2" charset="-122"/>
                <a:ea typeface="华文楷体" panose="02010600040101010101" pitchFamily="2" charset="-122"/>
              </a:rPr>
              <a:t>return BST; </a:t>
            </a:r>
            <a:endParaRPr lang="en-US" altLang="zh-CN" sz="2000" dirty="0">
              <a:solidFill>
                <a:srgbClr val="FF0000"/>
              </a:solidFill>
              <a:latin typeface="华文楷体" panose="02010600040101010101" pitchFamily="2" charset="-122"/>
              <a:ea typeface="华文楷体" panose="02010600040101010101" pitchFamily="2" charset="-122"/>
            </a:endParaRPr>
          </a:p>
          <a:p>
            <a:pPr eaLnBrk="1" hangingPunct="1">
              <a:lnSpc>
                <a:spcPts val="2200"/>
              </a:lnSpc>
              <a:spcBef>
                <a:spcPct val="0"/>
              </a:spcBef>
            </a:pPr>
            <a:r>
              <a:rPr lang="en-US" altLang="zh-CN" sz="2000" dirty="0">
                <a:solidFill>
                  <a:srgbClr val="00194C"/>
                </a:solidFill>
                <a:latin typeface="华文楷体" panose="02010600040101010101" pitchFamily="2" charset="-122"/>
                <a:ea typeface="华文楷体" panose="02010600040101010101" pitchFamily="2" charset="-122"/>
              </a:rPr>
              <a:t>} </a:t>
            </a:r>
            <a:endParaRPr lang="zh-CN" altLang="en-US" sz="20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20000"/>
              </a:lnSpc>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 </a:t>
            </a:r>
            <a:r>
              <a:rPr lang="zh-CN" altLang="en-US" sz="2100" dirty="0" smtClean="0">
                <a:solidFill>
                  <a:srgbClr val="00194C"/>
                </a:solidFill>
                <a:latin typeface="华文楷体" panose="02010600040101010101" pitchFamily="2" charset="-122"/>
                <a:ea typeface="华文楷体" panose="02010600040101010101" pitchFamily="2" charset="-122"/>
              </a:rPr>
              <a:t>   从</a:t>
            </a:r>
            <a:r>
              <a:rPr lang="zh-CN" altLang="en-US" sz="2100" dirty="0">
                <a:solidFill>
                  <a:srgbClr val="00194C"/>
                </a:solidFill>
                <a:latin typeface="华文楷体" panose="02010600040101010101" pitchFamily="2" charset="-122"/>
                <a:ea typeface="华文楷体" panose="02010600040101010101" pitchFamily="2" charset="-122"/>
              </a:rPr>
              <a:t>空树出发经过一系列的查找插入操作之后，可生成一棵二叉树</a:t>
            </a:r>
            <a:r>
              <a:rPr lang="zh-CN" altLang="en-US" sz="2100" dirty="0" smtClean="0">
                <a:solidFill>
                  <a:srgbClr val="00194C"/>
                </a:solidFill>
                <a:latin typeface="华文楷体" panose="02010600040101010101" pitchFamily="2" charset="-122"/>
                <a:ea typeface="华文楷体" panose="02010600040101010101" pitchFamily="2" charset="-122"/>
              </a:rPr>
              <a:t>。    </a:t>
            </a:r>
            <a:r>
              <a:rPr lang="zh-CN" altLang="en-US" sz="2100" dirty="0" smtClean="0">
                <a:solidFill>
                  <a:srgbClr val="FF0000"/>
                </a:solidFill>
                <a:latin typeface="华文楷体" panose="02010600040101010101" pitchFamily="2" charset="-122"/>
                <a:ea typeface="华文楷体" panose="02010600040101010101" pitchFamily="2" charset="-122"/>
              </a:rPr>
              <a:t>中</a:t>
            </a:r>
            <a:r>
              <a:rPr lang="zh-CN" altLang="en-US" sz="2100" dirty="0">
                <a:solidFill>
                  <a:srgbClr val="FF0000"/>
                </a:solidFill>
                <a:latin typeface="华文楷体" panose="02010600040101010101" pitchFamily="2" charset="-122"/>
                <a:ea typeface="华文楷体" panose="02010600040101010101" pitchFamily="2" charset="-122"/>
              </a:rPr>
              <a:t>序遍历二叉排序树可得到一个关键字的有序序列</a:t>
            </a:r>
            <a:r>
              <a:rPr lang="zh-CN" altLang="en-US" sz="2100" dirty="0">
                <a:solidFill>
                  <a:srgbClr val="00194C"/>
                </a:solidFill>
                <a:latin typeface="华文楷体" panose="02010600040101010101" pitchFamily="2" charset="-122"/>
                <a:ea typeface="华文楷体" panose="02010600040101010101" pitchFamily="2" charset="-122"/>
              </a:rPr>
              <a:t>。一个无序序列可以通过构造一棵二叉排序树而变成一个有序序列。又因为每次插入在叶子，无需移动其它结点。所以二叉排序树既具有类似于折半查找的性能，又可以使用链式结构，避免元素位置的移动。</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lnSpc>
                <a:spcPct val="120000"/>
              </a:lnSpc>
              <a:spcBef>
                <a:spcPct val="50000"/>
              </a:spcBef>
            </a:pPr>
            <a:r>
              <a:rPr lang="zh-CN" altLang="en-US" sz="2100" dirty="0">
                <a:solidFill>
                  <a:srgbClr val="00194C"/>
                </a:solidFill>
                <a:latin typeface="华文楷体" panose="02010600040101010101" pitchFamily="2" charset="-122"/>
                <a:ea typeface="华文楷体" panose="02010600040101010101" pitchFamily="2" charset="-122"/>
              </a:rPr>
              <a:t>例：根据输入序列</a:t>
            </a:r>
            <a:r>
              <a:rPr lang="en-US" altLang="zh-CN" sz="2100" dirty="0">
                <a:solidFill>
                  <a:srgbClr val="00194C"/>
                </a:solidFill>
                <a:latin typeface="华文楷体" panose="02010600040101010101" pitchFamily="2" charset="-122"/>
                <a:ea typeface="华文楷体" panose="02010600040101010101" pitchFamily="2" charset="-122"/>
              </a:rPr>
              <a:t>{45</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24</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53</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45</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12</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24</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28</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90}</a:t>
            </a:r>
            <a:r>
              <a:rPr lang="zh-CN" altLang="en-US" sz="2100" dirty="0">
                <a:solidFill>
                  <a:srgbClr val="00194C"/>
                </a:solidFill>
                <a:latin typeface="华文楷体" panose="02010600040101010101" pitchFamily="2" charset="-122"/>
                <a:ea typeface="华文楷体" panose="02010600040101010101" pitchFamily="2" charset="-122"/>
              </a:rPr>
              <a:t>生成二叉排序</a:t>
            </a:r>
            <a:r>
              <a:rPr lang="zh-CN" altLang="en-US" sz="2100" dirty="0" smtClean="0">
                <a:solidFill>
                  <a:srgbClr val="00194C"/>
                </a:solidFill>
                <a:latin typeface="华文楷体" panose="02010600040101010101" pitchFamily="2" charset="-122"/>
                <a:ea typeface="华文楷体" panose="02010600040101010101" pitchFamily="2" charset="-122"/>
              </a:rPr>
              <a:t>树</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
        <p:nvSpPr>
          <p:cNvPr id="21" name="椭圆 20"/>
          <p:cNvSpPr>
            <a:spLocks noChangeArrowheads="1"/>
          </p:cNvSpPr>
          <p:nvPr/>
        </p:nvSpPr>
        <p:spPr bwMode="auto">
          <a:xfrm>
            <a:off x="3958629" y="3166871"/>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45</a:t>
            </a:r>
            <a:endParaRPr lang="zh-CN" altLang="en-US" sz="1400" b="1">
              <a:latin typeface="Times New Roman" panose="02020603050405020304" pitchFamily="18" charset="0"/>
              <a:ea typeface="宋体" panose="02010600030101010101" pitchFamily="2" charset="-122"/>
            </a:endParaRPr>
          </a:p>
        </p:txBody>
      </p:sp>
      <p:grpSp>
        <p:nvGrpSpPr>
          <p:cNvPr id="22" name="组合 11"/>
          <p:cNvGrpSpPr/>
          <p:nvPr/>
        </p:nvGrpSpPr>
        <p:grpSpPr bwMode="auto">
          <a:xfrm>
            <a:off x="3310929" y="3535964"/>
            <a:ext cx="726281" cy="548879"/>
            <a:chOff x="2915816" y="2552549"/>
            <a:chExt cx="969549" cy="732435"/>
          </a:xfrm>
        </p:grpSpPr>
        <p:sp>
          <p:nvSpPr>
            <p:cNvPr id="23" name="椭圆 4"/>
            <p:cNvSpPr>
              <a:spLocks noChangeArrowheads="1"/>
            </p:cNvSpPr>
            <p:nvPr/>
          </p:nvSpPr>
          <p:spPr bwMode="auto">
            <a:xfrm>
              <a:off x="2915816" y="270892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24</a:t>
              </a:r>
              <a:endParaRPr lang="zh-CN" altLang="en-US" sz="1400" b="1">
                <a:latin typeface="Times New Roman" panose="02020603050405020304" pitchFamily="18" charset="0"/>
                <a:ea typeface="宋体" panose="02010600030101010101" pitchFamily="2" charset="-122"/>
              </a:endParaRPr>
            </a:p>
          </p:txBody>
        </p:sp>
        <p:cxnSp>
          <p:nvCxnSpPr>
            <p:cNvPr id="24" name="直接箭头连接符 9"/>
            <p:cNvCxnSpPr>
              <a:cxnSpLocks noChangeShapeType="1"/>
              <a:stCxn id="21" idx="3"/>
              <a:endCxn id="23" idx="7"/>
            </p:cNvCxnSpPr>
            <p:nvPr/>
          </p:nvCxnSpPr>
          <p:spPr bwMode="auto">
            <a:xfrm flipH="1">
              <a:off x="3530443" y="2552549"/>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25" name="组合 16"/>
          <p:cNvGrpSpPr/>
          <p:nvPr/>
        </p:nvGrpSpPr>
        <p:grpSpPr bwMode="auto">
          <a:xfrm>
            <a:off x="2770385" y="4031265"/>
            <a:ext cx="644128" cy="594122"/>
            <a:chOff x="2195736" y="3212976"/>
            <a:chExt cx="858978" cy="792088"/>
          </a:xfrm>
        </p:grpSpPr>
        <p:sp>
          <p:nvSpPr>
            <p:cNvPr id="26" name="椭圆 6"/>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12</a:t>
              </a:r>
              <a:endParaRPr lang="zh-CN" altLang="en-US" sz="1400" b="1">
                <a:latin typeface="Times New Roman" panose="02020603050405020304" pitchFamily="18" charset="0"/>
                <a:ea typeface="宋体" panose="02010600030101010101" pitchFamily="2" charset="-122"/>
              </a:endParaRPr>
            </a:p>
          </p:txBody>
        </p:sp>
        <p:cxnSp>
          <p:nvCxnSpPr>
            <p:cNvPr id="27" name="直接箭头连接符 10"/>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28" name="组合 14"/>
          <p:cNvGrpSpPr/>
          <p:nvPr/>
        </p:nvGrpSpPr>
        <p:grpSpPr bwMode="auto">
          <a:xfrm>
            <a:off x="4419400" y="3535965"/>
            <a:ext cx="673894" cy="603647"/>
            <a:chOff x="4394539" y="2552549"/>
            <a:chExt cx="897541" cy="804443"/>
          </a:xfrm>
        </p:grpSpPr>
        <p:sp>
          <p:nvSpPr>
            <p:cNvPr id="29" name="椭圆 5"/>
            <p:cNvSpPr>
              <a:spLocks noChangeArrowheads="1"/>
            </p:cNvSpPr>
            <p:nvPr/>
          </p:nvSpPr>
          <p:spPr bwMode="auto">
            <a:xfrm>
              <a:off x="4572000" y="278092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53</a:t>
              </a:r>
              <a:endParaRPr lang="zh-CN" altLang="en-US" sz="1400" b="1">
                <a:latin typeface="Times New Roman" panose="02020603050405020304" pitchFamily="18" charset="0"/>
                <a:ea typeface="宋体" panose="02010600030101010101" pitchFamily="2" charset="-122"/>
              </a:endParaRPr>
            </a:p>
          </p:txBody>
        </p:sp>
        <p:cxnSp>
          <p:nvCxnSpPr>
            <p:cNvPr id="30" name="直接箭头连接符 13"/>
            <p:cNvCxnSpPr>
              <a:cxnSpLocks noChangeShapeType="1"/>
              <a:stCxn id="21" idx="5"/>
            </p:cNvCxnSpPr>
            <p:nvPr/>
          </p:nvCxnSpPr>
          <p:spPr bwMode="auto">
            <a:xfrm>
              <a:off x="4394539" y="2552549"/>
              <a:ext cx="321477"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31" name="组合 19"/>
          <p:cNvGrpSpPr/>
          <p:nvPr/>
        </p:nvGrpSpPr>
        <p:grpSpPr bwMode="auto">
          <a:xfrm>
            <a:off x="3771701" y="4021739"/>
            <a:ext cx="565547" cy="657225"/>
            <a:chOff x="3530443" y="3200621"/>
            <a:chExt cx="753525" cy="876451"/>
          </a:xfrm>
        </p:grpSpPr>
        <p:sp>
          <p:nvSpPr>
            <p:cNvPr id="32" name="椭圆 15"/>
            <p:cNvSpPr>
              <a:spLocks noChangeArrowheads="1"/>
            </p:cNvSpPr>
            <p:nvPr/>
          </p:nvSpPr>
          <p:spPr bwMode="auto">
            <a:xfrm>
              <a:off x="3563888"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28</a:t>
              </a:r>
              <a:endParaRPr lang="zh-CN" altLang="en-US" sz="1400" b="1">
                <a:latin typeface="Times New Roman" panose="02020603050405020304" pitchFamily="18" charset="0"/>
                <a:ea typeface="宋体" panose="02010600030101010101" pitchFamily="2" charset="-122"/>
              </a:endParaRPr>
            </a:p>
          </p:txBody>
        </p:sp>
        <p:cxnSp>
          <p:nvCxnSpPr>
            <p:cNvPr id="33" name="直接箭头连接符 18"/>
            <p:cNvCxnSpPr>
              <a:cxnSpLocks noChangeShapeType="1"/>
              <a:stCxn id="23" idx="5"/>
            </p:cNvCxnSpPr>
            <p:nvPr/>
          </p:nvCxnSpPr>
          <p:spPr bwMode="auto">
            <a:xfrm>
              <a:off x="3530443" y="3200621"/>
              <a:ext cx="249469"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34" name="组合 24"/>
          <p:cNvGrpSpPr/>
          <p:nvPr/>
        </p:nvGrpSpPr>
        <p:grpSpPr bwMode="auto">
          <a:xfrm>
            <a:off x="5013523" y="4075317"/>
            <a:ext cx="673894" cy="603647"/>
            <a:chOff x="5186627" y="3272629"/>
            <a:chExt cx="897541" cy="804443"/>
          </a:xfrm>
        </p:grpSpPr>
        <p:sp>
          <p:nvSpPr>
            <p:cNvPr id="35" name="椭圆 7"/>
            <p:cNvSpPr>
              <a:spLocks noChangeArrowheads="1"/>
            </p:cNvSpPr>
            <p:nvPr/>
          </p:nvSpPr>
          <p:spPr bwMode="auto">
            <a:xfrm>
              <a:off x="5364088"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cxnSp>
          <p:nvCxnSpPr>
            <p:cNvPr id="36" name="直接箭头连接符 21"/>
            <p:cNvCxnSpPr>
              <a:cxnSpLocks noChangeShapeType="1"/>
              <a:stCxn id="29" idx="5"/>
              <a:endCxn id="35" idx="1"/>
            </p:cNvCxnSpPr>
            <p:nvPr/>
          </p:nvCxnSpPr>
          <p:spPr bwMode="auto">
            <a:xfrm>
              <a:off x="5186627" y="3272629"/>
              <a:ext cx="282914" cy="312742"/>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dissolv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dissolv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dissolve">
                                      <p:cBhvr>
                                        <p:cTn id="17" dur="5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dissolv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dissolve">
                                      <p:cBhvr>
                                        <p:cTn id="3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3</a:t>
            </a:r>
            <a:r>
              <a:rPr lang="en-US" altLang="zh-CN" dirty="0"/>
              <a:t>. </a:t>
            </a:r>
            <a:r>
              <a:rPr lang="zh-CN" altLang="en-US" dirty="0"/>
              <a:t>二叉排序树的删除</a:t>
            </a:r>
            <a:endParaRPr lang="en-US" altLang="zh-CN" dirty="0"/>
          </a:p>
          <a:p>
            <a:pPr eaLnBrk="1" hangingPunct="1">
              <a:spcBef>
                <a:spcPct val="0"/>
              </a:spcBef>
              <a:buClr>
                <a:schemeClr val="accent2"/>
              </a:buClr>
              <a:buFont typeface="Wingdings" panose="05000000000000000000" pitchFamily="2" charset="2"/>
              <a:buChar char="p"/>
            </a:pPr>
            <a:r>
              <a:rPr lang="zh-CN" altLang="en-US" sz="2100" dirty="0" smtClean="0">
                <a:solidFill>
                  <a:srgbClr val="00194C"/>
                </a:solidFill>
                <a:latin typeface="华文楷体" panose="02010600040101010101" pitchFamily="2" charset="-122"/>
                <a:ea typeface="华文楷体" panose="02010600040101010101" pitchFamily="2" charset="-122"/>
              </a:rPr>
              <a:t>考虑</a:t>
            </a:r>
            <a:r>
              <a:rPr lang="zh-CN" altLang="en-US" sz="2100" dirty="0">
                <a:solidFill>
                  <a:srgbClr val="00194C"/>
                </a:solidFill>
                <a:latin typeface="华文楷体" panose="02010600040101010101" pitchFamily="2" charset="-122"/>
                <a:ea typeface="华文楷体" panose="02010600040101010101" pitchFamily="2" charset="-122"/>
              </a:rPr>
              <a:t>三种情况： </a:t>
            </a:r>
            <a:endParaRPr lang="zh-CN" altLang="en-US" sz="2100" dirty="0">
              <a:solidFill>
                <a:srgbClr val="00194C"/>
              </a:solidFill>
              <a:latin typeface="华文楷体" panose="02010600040101010101" pitchFamily="2" charset="-122"/>
              <a:ea typeface="华文楷体" panose="02010600040101010101" pitchFamily="2" charset="-122"/>
            </a:endParaRPr>
          </a:p>
          <a:p>
            <a:pPr lvl="1">
              <a:spcBef>
                <a:spcPct val="0"/>
              </a:spcBef>
              <a:buClr>
                <a:schemeClr val="accent1"/>
              </a:buClr>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要删除的是叶结点：</a:t>
            </a:r>
            <a:r>
              <a:rPr lang="zh-CN" altLang="en-US" sz="2100" dirty="0">
                <a:solidFill>
                  <a:srgbClr val="FF0000"/>
                </a:solidFill>
                <a:latin typeface="华文楷体" panose="02010600040101010101" pitchFamily="2" charset="-122"/>
                <a:ea typeface="华文楷体" panose="02010600040101010101" pitchFamily="2" charset="-122"/>
              </a:rPr>
              <a:t>直接删除</a:t>
            </a:r>
            <a:r>
              <a:rPr lang="zh-CN" altLang="en-US" sz="2100" dirty="0">
                <a:solidFill>
                  <a:srgbClr val="00194C"/>
                </a:solidFill>
                <a:latin typeface="华文楷体" panose="02010600040101010101" pitchFamily="2" charset="-122"/>
                <a:ea typeface="华文楷体" panose="02010600040101010101" pitchFamily="2" charset="-122"/>
              </a:rPr>
              <a:t>，并再修改其父结点相应指针</a:t>
            </a:r>
            <a:r>
              <a:rPr lang="en-US" altLang="zh-CN" sz="2100" dirty="0">
                <a:solidFill>
                  <a:srgbClr val="00194C"/>
                </a:solidFill>
                <a:latin typeface="华文楷体" panose="02010600040101010101" pitchFamily="2" charset="-122"/>
                <a:ea typeface="华文楷体" panose="02010600040101010101" pitchFamily="2" charset="-122"/>
              </a:rPr>
              <a:t>---</a:t>
            </a:r>
            <a:r>
              <a:rPr lang="zh-CN" altLang="en-US" sz="2100" dirty="0">
                <a:solidFill>
                  <a:srgbClr val="00194C"/>
                </a:solidFill>
                <a:latin typeface="华文楷体" panose="02010600040101010101" pitchFamily="2" charset="-122"/>
                <a:ea typeface="华文楷体" panose="02010600040101010101" pitchFamily="2" charset="-122"/>
              </a:rPr>
              <a:t>置为</a:t>
            </a:r>
            <a:r>
              <a:rPr lang="en-US" altLang="zh-CN" sz="2100" dirty="0" smtClean="0">
                <a:solidFill>
                  <a:srgbClr val="FF0000"/>
                </a:solidFill>
                <a:latin typeface="华文楷体" panose="02010600040101010101" pitchFamily="2" charset="-122"/>
                <a:ea typeface="华文楷体" panose="02010600040101010101" pitchFamily="2" charset="-122"/>
              </a:rPr>
              <a:t>NULL</a:t>
            </a:r>
            <a:endParaRPr lang="en-US" altLang="zh-CN" sz="2100" dirty="0" smtClean="0">
              <a:solidFill>
                <a:srgbClr val="FF0000"/>
              </a:solidFill>
              <a:latin typeface="华文楷体" panose="02010600040101010101" pitchFamily="2" charset="-122"/>
              <a:ea typeface="华文楷体" panose="02010600040101010101" pitchFamily="2" charset="-122"/>
            </a:endParaRPr>
          </a:p>
          <a:p>
            <a:pPr lvl="1">
              <a:spcBef>
                <a:spcPct val="0"/>
              </a:spcBef>
              <a:buClr>
                <a:schemeClr val="accent1"/>
              </a:buClr>
            </a:pPr>
            <a:r>
              <a:rPr lang="zh-CN" altLang="en-US" sz="2100" dirty="0">
                <a:solidFill>
                  <a:srgbClr val="00194C"/>
                </a:solidFill>
                <a:latin typeface="华文楷体" panose="02010600040101010101" pitchFamily="2" charset="-122"/>
                <a:ea typeface="华文楷体" panose="02010600040101010101" pitchFamily="2" charset="-122"/>
              </a:rPr>
              <a:t>例：要删除</a:t>
            </a:r>
            <a:r>
              <a:rPr lang="en-US" altLang="zh-CN" sz="2100" dirty="0" smtClean="0">
                <a:solidFill>
                  <a:srgbClr val="00194C"/>
                </a:solidFill>
                <a:latin typeface="华文楷体" panose="02010600040101010101" pitchFamily="2" charset="-122"/>
                <a:ea typeface="华文楷体" panose="02010600040101010101" pitchFamily="2" charset="-122"/>
              </a:rPr>
              <a:t>28</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
        <p:nvSpPr>
          <p:cNvPr id="4" name="椭圆 3"/>
          <p:cNvSpPr>
            <a:spLocks noChangeArrowheads="1"/>
          </p:cNvSpPr>
          <p:nvPr/>
        </p:nvSpPr>
        <p:spPr bwMode="auto">
          <a:xfrm>
            <a:off x="3977879" y="2899007"/>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45</a:t>
            </a:r>
            <a:endParaRPr lang="zh-CN" altLang="en-US" sz="1400" b="1">
              <a:latin typeface="Times New Roman" panose="02020603050405020304" pitchFamily="18" charset="0"/>
              <a:ea typeface="宋体" panose="02010600030101010101" pitchFamily="2" charset="-122"/>
            </a:endParaRPr>
          </a:p>
        </p:txBody>
      </p:sp>
      <p:grpSp>
        <p:nvGrpSpPr>
          <p:cNvPr id="5" name="组合 4"/>
          <p:cNvGrpSpPr/>
          <p:nvPr/>
        </p:nvGrpSpPr>
        <p:grpSpPr bwMode="auto">
          <a:xfrm>
            <a:off x="3330180" y="3277534"/>
            <a:ext cx="726861" cy="539428"/>
            <a:chOff x="2915816" y="2565712"/>
            <a:chExt cx="970323" cy="719272"/>
          </a:xfrm>
        </p:grpSpPr>
        <p:sp>
          <p:nvSpPr>
            <p:cNvPr id="6" name="椭圆 5"/>
            <p:cNvSpPr>
              <a:spLocks noChangeArrowheads="1"/>
            </p:cNvSpPr>
            <p:nvPr/>
          </p:nvSpPr>
          <p:spPr bwMode="auto">
            <a:xfrm>
              <a:off x="2915816" y="270892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24</a:t>
              </a:r>
              <a:endParaRPr lang="zh-CN" altLang="en-US" sz="1400" b="1">
                <a:latin typeface="Times New Roman" panose="02020603050405020304" pitchFamily="18" charset="0"/>
                <a:ea typeface="宋体" panose="02010600030101010101" pitchFamily="2" charset="-122"/>
              </a:endParaRPr>
            </a:p>
          </p:txBody>
        </p:sp>
        <p:cxnSp>
          <p:nvCxnSpPr>
            <p:cNvPr id="7" name="直接箭头连接符 6"/>
            <p:cNvCxnSpPr>
              <a:cxnSpLocks noChangeShapeType="1"/>
              <a:stCxn id="4" idx="3"/>
              <a:endCxn id="6" idx="7"/>
            </p:cNvCxnSpPr>
            <p:nvPr/>
          </p:nvCxnSpPr>
          <p:spPr bwMode="auto">
            <a:xfrm flipH="1">
              <a:off x="3530443" y="2565712"/>
              <a:ext cx="355696" cy="227571"/>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8" name="组合 7"/>
          <p:cNvGrpSpPr/>
          <p:nvPr/>
        </p:nvGrpSpPr>
        <p:grpSpPr bwMode="auto">
          <a:xfrm>
            <a:off x="2789635" y="3763400"/>
            <a:ext cx="644128" cy="594122"/>
            <a:chOff x="2195736" y="3212976"/>
            <a:chExt cx="858978" cy="792088"/>
          </a:xfrm>
        </p:grpSpPr>
        <p:sp>
          <p:nvSpPr>
            <p:cNvPr id="9" name="椭圆 8"/>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12</a:t>
              </a:r>
              <a:endParaRPr lang="zh-CN" altLang="en-US" sz="1400" b="1">
                <a:latin typeface="Times New Roman" panose="02020603050405020304" pitchFamily="18" charset="0"/>
                <a:ea typeface="宋体" panose="02010600030101010101" pitchFamily="2" charset="-122"/>
              </a:endParaRPr>
            </a:p>
          </p:txBody>
        </p:sp>
        <p:cxnSp>
          <p:nvCxnSpPr>
            <p:cNvPr id="10" name="直接箭头连接符 9"/>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11" name="组合 10"/>
          <p:cNvGrpSpPr/>
          <p:nvPr/>
        </p:nvGrpSpPr>
        <p:grpSpPr bwMode="auto">
          <a:xfrm>
            <a:off x="4463654" y="3277625"/>
            <a:ext cx="673894" cy="592931"/>
            <a:chOff x="4394539" y="2564904"/>
            <a:chExt cx="897541" cy="792088"/>
          </a:xfrm>
        </p:grpSpPr>
        <p:sp>
          <p:nvSpPr>
            <p:cNvPr id="12" name="椭圆 11"/>
            <p:cNvSpPr>
              <a:spLocks noChangeArrowheads="1"/>
            </p:cNvSpPr>
            <p:nvPr/>
          </p:nvSpPr>
          <p:spPr bwMode="auto">
            <a:xfrm>
              <a:off x="4572000" y="278092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53</a:t>
              </a:r>
              <a:endParaRPr lang="zh-CN" altLang="en-US" sz="1400" b="1">
                <a:latin typeface="Times New Roman" panose="02020603050405020304" pitchFamily="18" charset="0"/>
                <a:ea typeface="宋体" panose="02010600030101010101" pitchFamily="2" charset="-122"/>
              </a:endParaRPr>
            </a:p>
          </p:txBody>
        </p:sp>
        <p:cxnSp>
          <p:nvCxnSpPr>
            <p:cNvPr id="13" name="直接箭头连接符 12"/>
            <p:cNvCxnSpPr>
              <a:cxnSpLocks noChangeShapeType="1"/>
            </p:cNvCxnSpPr>
            <p:nvPr/>
          </p:nvCxnSpPr>
          <p:spPr bwMode="auto">
            <a:xfrm>
              <a:off x="4394539" y="2564904"/>
              <a:ext cx="321477"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14" name="组合 13"/>
          <p:cNvGrpSpPr/>
          <p:nvPr/>
        </p:nvGrpSpPr>
        <p:grpSpPr bwMode="auto">
          <a:xfrm>
            <a:off x="3762376" y="3807453"/>
            <a:ext cx="594122" cy="603647"/>
            <a:chOff x="3491880" y="3272629"/>
            <a:chExt cx="792088" cy="804443"/>
          </a:xfrm>
        </p:grpSpPr>
        <p:sp>
          <p:nvSpPr>
            <p:cNvPr id="15" name="椭圆 14"/>
            <p:cNvSpPr>
              <a:spLocks noChangeArrowheads="1"/>
            </p:cNvSpPr>
            <p:nvPr/>
          </p:nvSpPr>
          <p:spPr bwMode="auto">
            <a:xfrm>
              <a:off x="3563888"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28</a:t>
              </a:r>
              <a:endParaRPr lang="zh-CN" altLang="en-US" sz="1400" b="1">
                <a:latin typeface="Times New Roman" panose="02020603050405020304" pitchFamily="18" charset="0"/>
                <a:ea typeface="宋体" panose="02010600030101010101" pitchFamily="2" charset="-122"/>
              </a:endParaRPr>
            </a:p>
          </p:txBody>
        </p:sp>
        <p:cxnSp>
          <p:nvCxnSpPr>
            <p:cNvPr id="16" name="直接箭头连接符 15"/>
            <p:cNvCxnSpPr>
              <a:cxnSpLocks noChangeShapeType="1"/>
            </p:cNvCxnSpPr>
            <p:nvPr/>
          </p:nvCxnSpPr>
          <p:spPr bwMode="auto">
            <a:xfrm>
              <a:off x="3491880" y="3272629"/>
              <a:ext cx="249469"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17" name="组合 16"/>
          <p:cNvGrpSpPr/>
          <p:nvPr/>
        </p:nvGrpSpPr>
        <p:grpSpPr bwMode="auto">
          <a:xfrm>
            <a:off x="5058373" y="3817031"/>
            <a:ext cx="648295" cy="594091"/>
            <a:chOff x="5220866" y="3284311"/>
            <a:chExt cx="863302" cy="792761"/>
          </a:xfrm>
        </p:grpSpPr>
        <p:sp>
          <p:nvSpPr>
            <p:cNvPr id="18" name="椭圆 17"/>
            <p:cNvSpPr>
              <a:spLocks noChangeArrowheads="1"/>
            </p:cNvSpPr>
            <p:nvPr/>
          </p:nvSpPr>
          <p:spPr bwMode="auto">
            <a:xfrm>
              <a:off x="5364088"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cxnSp>
          <p:nvCxnSpPr>
            <p:cNvPr id="19" name="直接箭头连接符 18"/>
            <p:cNvCxnSpPr>
              <a:cxnSpLocks noChangeShapeType="1"/>
              <a:stCxn id="12" idx="5"/>
              <a:endCxn id="18" idx="1"/>
            </p:cNvCxnSpPr>
            <p:nvPr/>
          </p:nvCxnSpPr>
          <p:spPr bwMode="auto">
            <a:xfrm>
              <a:off x="5220866" y="3284311"/>
              <a:ext cx="248676" cy="301060"/>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20" name="组合 25"/>
          <p:cNvGrpSpPr/>
          <p:nvPr/>
        </p:nvGrpSpPr>
        <p:grpSpPr bwMode="auto">
          <a:xfrm>
            <a:off x="4248144" y="2304885"/>
            <a:ext cx="243978" cy="647700"/>
            <a:chOff x="6444208" y="2708920"/>
            <a:chExt cx="325213" cy="864096"/>
          </a:xfrm>
        </p:grpSpPr>
        <p:sp>
          <p:nvSpPr>
            <p:cNvPr id="21" name="下箭头 23"/>
            <p:cNvSpPr>
              <a:spLocks noChangeArrowheads="1"/>
            </p:cNvSpPr>
            <p:nvPr/>
          </p:nvSpPr>
          <p:spPr bwMode="auto">
            <a:xfrm flipH="1">
              <a:off x="6516216" y="3140968"/>
              <a:ext cx="117727" cy="432048"/>
            </a:xfrm>
            <a:prstGeom prst="downArrow">
              <a:avLst>
                <a:gd name="adj1" fmla="val 50000"/>
                <a:gd name="adj2" fmla="val 50003"/>
              </a:avLst>
            </a:prstGeom>
            <a:solidFill>
              <a:schemeClr val="tx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22" name="TextBox 24"/>
            <p:cNvSpPr txBox="1">
              <a:spLocks noChangeArrowheads="1"/>
            </p:cNvSpPr>
            <p:nvPr/>
          </p:nvSpPr>
          <p:spPr bwMode="auto">
            <a:xfrm>
              <a:off x="6444208" y="2708920"/>
              <a:ext cx="325213" cy="410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f</a:t>
              </a:r>
              <a:endParaRPr lang="zh-CN" altLang="en-US" sz="1400" b="1">
                <a:latin typeface="Times New Roman" panose="02020603050405020304" pitchFamily="18" charset="0"/>
                <a:ea typeface="宋体" panose="02010600030101010101" pitchFamily="2" charset="-122"/>
              </a:endParaRPr>
            </a:p>
          </p:txBody>
        </p:sp>
      </p:grpSp>
      <p:grpSp>
        <p:nvGrpSpPr>
          <p:cNvPr id="23" name="组合 27"/>
          <p:cNvGrpSpPr/>
          <p:nvPr/>
        </p:nvGrpSpPr>
        <p:grpSpPr bwMode="auto">
          <a:xfrm>
            <a:off x="4108849" y="2358463"/>
            <a:ext cx="318319" cy="540544"/>
            <a:chOff x="4094232" y="2708920"/>
            <a:chExt cx="424712" cy="720080"/>
          </a:xfrm>
        </p:grpSpPr>
        <p:sp>
          <p:nvSpPr>
            <p:cNvPr id="24" name="下箭头 20"/>
            <p:cNvSpPr>
              <a:spLocks noChangeArrowheads="1"/>
            </p:cNvSpPr>
            <p:nvPr/>
          </p:nvSpPr>
          <p:spPr bwMode="auto">
            <a:xfrm flipH="1">
              <a:off x="4094232" y="2996952"/>
              <a:ext cx="117727" cy="432048"/>
            </a:xfrm>
            <a:prstGeom prst="downArrow">
              <a:avLst>
                <a:gd name="adj1" fmla="val 50000"/>
                <a:gd name="adj2" fmla="val 50003"/>
              </a:avLst>
            </a:prstGeom>
            <a:solidFill>
              <a:srgbClr val="FF0000"/>
            </a:solidFill>
            <a:ln w="9525" algn="ctr">
              <a:solidFill>
                <a:srgbClr val="FF0000"/>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25" name="TextBox 26"/>
            <p:cNvSpPr txBox="1">
              <a:spLocks noChangeArrowheads="1"/>
            </p:cNvSpPr>
            <p:nvPr/>
          </p:nvSpPr>
          <p:spPr bwMode="auto">
            <a:xfrm>
              <a:off x="4139952" y="2708920"/>
              <a:ext cx="378992" cy="4100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solidFill>
                    <a:srgbClr val="FF0000"/>
                  </a:solidFill>
                  <a:latin typeface="Times New Roman" panose="02020603050405020304" pitchFamily="18" charset="0"/>
                  <a:ea typeface="宋体" panose="02010600030101010101" pitchFamily="2" charset="-122"/>
                </a:rPr>
                <a:t>p</a:t>
              </a:r>
              <a:endParaRPr lang="zh-CN" altLang="en-US" sz="1400" b="1">
                <a:solidFill>
                  <a:srgbClr val="FF0000"/>
                </a:solidFill>
                <a:latin typeface="Times New Roman" panose="02020603050405020304" pitchFamily="18" charset="0"/>
                <a:ea typeface="宋体" panose="02010600030101010101" pitchFamily="2" charset="-122"/>
              </a:endParaRPr>
            </a:p>
          </p:txBody>
        </p:sp>
      </p:grpSp>
      <p:grpSp>
        <p:nvGrpSpPr>
          <p:cNvPr id="26" name="组合 28"/>
          <p:cNvGrpSpPr/>
          <p:nvPr/>
        </p:nvGrpSpPr>
        <p:grpSpPr bwMode="auto">
          <a:xfrm>
            <a:off x="3437345" y="2845429"/>
            <a:ext cx="318454" cy="539353"/>
            <a:chOff x="4094232" y="2708920"/>
            <a:chExt cx="423217" cy="720080"/>
          </a:xfrm>
        </p:grpSpPr>
        <p:sp>
          <p:nvSpPr>
            <p:cNvPr id="27" name="下箭头 29"/>
            <p:cNvSpPr>
              <a:spLocks noChangeArrowheads="1"/>
            </p:cNvSpPr>
            <p:nvPr/>
          </p:nvSpPr>
          <p:spPr bwMode="auto">
            <a:xfrm flipH="1">
              <a:off x="4094232" y="2996952"/>
              <a:ext cx="117727" cy="432048"/>
            </a:xfrm>
            <a:prstGeom prst="downArrow">
              <a:avLst>
                <a:gd name="adj1" fmla="val 50000"/>
                <a:gd name="adj2" fmla="val 50003"/>
              </a:avLst>
            </a:prstGeom>
            <a:solidFill>
              <a:srgbClr val="FF0000"/>
            </a:solidFill>
            <a:ln w="9525" algn="ctr">
              <a:solidFill>
                <a:srgbClr val="FF0000"/>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28" name="TextBox 30"/>
            <p:cNvSpPr txBox="1">
              <a:spLocks noChangeArrowheads="1"/>
            </p:cNvSpPr>
            <p:nvPr/>
          </p:nvSpPr>
          <p:spPr bwMode="auto">
            <a:xfrm>
              <a:off x="4139951" y="2708920"/>
              <a:ext cx="377498" cy="410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solidFill>
                    <a:srgbClr val="FF0000"/>
                  </a:solidFill>
                  <a:latin typeface="Times New Roman" panose="02020603050405020304" pitchFamily="18" charset="0"/>
                  <a:ea typeface="宋体" panose="02010600030101010101" pitchFamily="2" charset="-122"/>
                </a:rPr>
                <a:t>p</a:t>
              </a:r>
              <a:endParaRPr lang="zh-CN" altLang="en-US" sz="1400" b="1">
                <a:solidFill>
                  <a:srgbClr val="FF0000"/>
                </a:solidFill>
                <a:latin typeface="Times New Roman" panose="02020603050405020304" pitchFamily="18" charset="0"/>
                <a:ea typeface="宋体" panose="02010600030101010101" pitchFamily="2" charset="-122"/>
              </a:endParaRPr>
            </a:p>
          </p:txBody>
        </p:sp>
      </p:grpSp>
      <p:grpSp>
        <p:nvGrpSpPr>
          <p:cNvPr id="29" name="组合 31"/>
          <p:cNvGrpSpPr/>
          <p:nvPr/>
        </p:nvGrpSpPr>
        <p:grpSpPr bwMode="auto">
          <a:xfrm>
            <a:off x="4031467" y="3439550"/>
            <a:ext cx="318454" cy="539354"/>
            <a:chOff x="4094232" y="2708920"/>
            <a:chExt cx="423217" cy="720080"/>
          </a:xfrm>
        </p:grpSpPr>
        <p:sp>
          <p:nvSpPr>
            <p:cNvPr id="30" name="下箭头 32"/>
            <p:cNvSpPr>
              <a:spLocks noChangeArrowheads="1"/>
            </p:cNvSpPr>
            <p:nvPr/>
          </p:nvSpPr>
          <p:spPr bwMode="auto">
            <a:xfrm flipH="1">
              <a:off x="4094232" y="2996952"/>
              <a:ext cx="117727" cy="432048"/>
            </a:xfrm>
            <a:prstGeom prst="downArrow">
              <a:avLst>
                <a:gd name="adj1" fmla="val 50000"/>
                <a:gd name="adj2" fmla="val 50003"/>
              </a:avLst>
            </a:prstGeom>
            <a:solidFill>
              <a:srgbClr val="FF0000"/>
            </a:solidFill>
            <a:ln w="9525" algn="ctr">
              <a:solidFill>
                <a:srgbClr val="FF0000"/>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31" name="TextBox 33"/>
            <p:cNvSpPr txBox="1">
              <a:spLocks noChangeArrowheads="1"/>
            </p:cNvSpPr>
            <p:nvPr/>
          </p:nvSpPr>
          <p:spPr bwMode="auto">
            <a:xfrm>
              <a:off x="4139951" y="2708920"/>
              <a:ext cx="377498" cy="4109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solidFill>
                    <a:srgbClr val="FF0000"/>
                  </a:solidFill>
                  <a:latin typeface="Times New Roman" panose="02020603050405020304" pitchFamily="18" charset="0"/>
                  <a:ea typeface="宋体" panose="02010600030101010101" pitchFamily="2" charset="-122"/>
                </a:rPr>
                <a:t>p</a:t>
              </a:r>
              <a:endParaRPr lang="zh-CN" altLang="en-US" sz="1400" b="1">
                <a:solidFill>
                  <a:srgbClr val="FF0000"/>
                </a:solidFill>
                <a:latin typeface="Times New Roman" panose="02020603050405020304" pitchFamily="18" charset="0"/>
                <a:ea typeface="宋体" panose="02010600030101010101" pitchFamily="2" charset="-122"/>
              </a:endParaRPr>
            </a:p>
          </p:txBody>
        </p:sp>
      </p:grpSp>
      <p:grpSp>
        <p:nvGrpSpPr>
          <p:cNvPr id="32" name="组合 34"/>
          <p:cNvGrpSpPr/>
          <p:nvPr/>
        </p:nvGrpSpPr>
        <p:grpSpPr bwMode="auto">
          <a:xfrm>
            <a:off x="3545675" y="2737081"/>
            <a:ext cx="243978" cy="647700"/>
            <a:chOff x="6444208" y="2708920"/>
            <a:chExt cx="325213" cy="864096"/>
          </a:xfrm>
        </p:grpSpPr>
        <p:sp>
          <p:nvSpPr>
            <p:cNvPr id="33" name="下箭头 35"/>
            <p:cNvSpPr>
              <a:spLocks noChangeArrowheads="1"/>
            </p:cNvSpPr>
            <p:nvPr/>
          </p:nvSpPr>
          <p:spPr bwMode="auto">
            <a:xfrm flipH="1">
              <a:off x="6516216" y="3140968"/>
              <a:ext cx="117727" cy="432048"/>
            </a:xfrm>
            <a:prstGeom prst="downArrow">
              <a:avLst>
                <a:gd name="adj1" fmla="val 50000"/>
                <a:gd name="adj2" fmla="val 50003"/>
              </a:avLst>
            </a:prstGeom>
            <a:solidFill>
              <a:schemeClr val="tx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34" name="TextBox 36"/>
            <p:cNvSpPr txBox="1">
              <a:spLocks noChangeArrowheads="1"/>
            </p:cNvSpPr>
            <p:nvPr/>
          </p:nvSpPr>
          <p:spPr bwMode="auto">
            <a:xfrm>
              <a:off x="6444208" y="2708920"/>
              <a:ext cx="325213" cy="410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f</a:t>
              </a:r>
              <a:endParaRPr lang="zh-CN" altLang="en-US" sz="1400" b="1">
                <a:latin typeface="Times New Roman" panose="02020603050405020304" pitchFamily="18" charset="0"/>
                <a:ea typeface="宋体" panose="0201060003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dissolv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xit" presetSubtype="0" fill="hold" nodeType="clickEffect">
                                  <p:stCondLst>
                                    <p:cond delay="0"/>
                                  </p:stCondLst>
                                  <p:childTnLst>
                                    <p:animEffect transition="out" filter="dissolve">
                                      <p:cBhvr>
                                        <p:cTn id="16" dur="500"/>
                                        <p:tgtEl>
                                          <p:spTgt spid="23"/>
                                        </p:tgtEl>
                                      </p:cBhvr>
                                    </p:animEffect>
                                    <p:set>
                                      <p:cBhvr>
                                        <p:cTn id="17" dur="1" fill="hold">
                                          <p:stCondLst>
                                            <p:cond delay="499"/>
                                          </p:stCondLst>
                                        </p:cTn>
                                        <p:tgtEl>
                                          <p:spTgt spid="23"/>
                                        </p:tgtEl>
                                        <p:attrNameLst>
                                          <p:attrName>style.visibility</p:attrName>
                                        </p:attrNameLst>
                                      </p:cBhvr>
                                      <p:to>
                                        <p:strVal val="hidden"/>
                                      </p:to>
                                    </p:se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dissolve">
                                      <p:cBhvr>
                                        <p:cTn id="21" dur="500"/>
                                        <p:tgtEl>
                                          <p:spTgt spid="26"/>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xit" presetSubtype="0" fill="hold" nodeType="clickEffect">
                                  <p:stCondLst>
                                    <p:cond delay="0"/>
                                  </p:stCondLst>
                                  <p:childTnLst>
                                    <p:animEffect transition="out" filter="dissolve">
                                      <p:cBhvr>
                                        <p:cTn id="25" dur="500"/>
                                        <p:tgtEl>
                                          <p:spTgt spid="20"/>
                                        </p:tgtEl>
                                      </p:cBhvr>
                                    </p:animEffect>
                                    <p:set>
                                      <p:cBhvr>
                                        <p:cTn id="26" dur="1" fill="hold">
                                          <p:stCondLst>
                                            <p:cond delay="499"/>
                                          </p:stCondLst>
                                        </p:cTn>
                                        <p:tgtEl>
                                          <p:spTgt spid="20"/>
                                        </p:tgtEl>
                                        <p:attrNameLst>
                                          <p:attrName>style.visibility</p:attrName>
                                        </p:attrNameLst>
                                      </p:cBhvr>
                                      <p:to>
                                        <p:strVal val="hidden"/>
                                      </p:to>
                                    </p:set>
                                  </p:childTnLst>
                                </p:cTn>
                              </p:par>
                            </p:childTnLst>
                          </p:cTn>
                        </p:par>
                        <p:par>
                          <p:cTn id="27" fill="hold">
                            <p:stCondLst>
                              <p:cond delay="500"/>
                            </p:stCondLst>
                            <p:childTnLst>
                              <p:par>
                                <p:cTn id="28" presetID="9" presetClass="entr" presetSubtype="0" fill="hold" nodeType="after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dissolve">
                                      <p:cBhvr>
                                        <p:cTn id="30" dur="500"/>
                                        <p:tgtEl>
                                          <p:spTgt spid="32"/>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xit" presetSubtype="0" fill="hold" nodeType="clickEffect">
                                  <p:stCondLst>
                                    <p:cond delay="0"/>
                                  </p:stCondLst>
                                  <p:childTnLst>
                                    <p:animEffect transition="out" filter="dissolve">
                                      <p:cBhvr>
                                        <p:cTn id="34" dur="500"/>
                                        <p:tgtEl>
                                          <p:spTgt spid="26"/>
                                        </p:tgtEl>
                                      </p:cBhvr>
                                    </p:animEffect>
                                    <p:set>
                                      <p:cBhvr>
                                        <p:cTn id="35" dur="1" fill="hold">
                                          <p:stCondLst>
                                            <p:cond delay="499"/>
                                          </p:stCondLst>
                                        </p:cTn>
                                        <p:tgtEl>
                                          <p:spTgt spid="26"/>
                                        </p:tgtEl>
                                        <p:attrNameLst>
                                          <p:attrName>style.visibility</p:attrName>
                                        </p:attrNameLst>
                                      </p:cBhvr>
                                      <p:to>
                                        <p:strVal val="hidden"/>
                                      </p:to>
                                    </p:set>
                                  </p:childTnLst>
                                </p:cTn>
                              </p:par>
                            </p:childTnLst>
                          </p:cTn>
                        </p:par>
                        <p:par>
                          <p:cTn id="36" fill="hold">
                            <p:stCondLst>
                              <p:cond delay="500"/>
                            </p:stCondLst>
                            <p:childTnLst>
                              <p:par>
                                <p:cTn id="37" presetID="9" presetClass="entr" presetSubtype="0" fill="hold"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dissolve">
                                      <p:cBhvr>
                                        <p:cTn id="39" dur="500"/>
                                        <p:tgtEl>
                                          <p:spTgt spid="29"/>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xit" presetSubtype="0" fill="hold" nodeType="clickEffect">
                                  <p:stCondLst>
                                    <p:cond delay="0"/>
                                  </p:stCondLst>
                                  <p:childTnLst>
                                    <p:animEffect transition="out" filter="dissolve">
                                      <p:cBhvr>
                                        <p:cTn id="43" dur="500"/>
                                        <p:tgtEl>
                                          <p:spTgt spid="14"/>
                                        </p:tgtEl>
                                      </p:cBhvr>
                                    </p:animEffect>
                                    <p:set>
                                      <p:cBhvr>
                                        <p:cTn id="44" dur="1" fill="hold">
                                          <p:stCondLst>
                                            <p:cond delay="499"/>
                                          </p:stCondLst>
                                        </p:cTn>
                                        <p:tgtEl>
                                          <p:spTgt spid="14"/>
                                        </p:tgtEl>
                                        <p:attrNameLst>
                                          <p:attrName>style.visibility</p:attrName>
                                        </p:attrNameLst>
                                      </p:cBhvr>
                                      <p:to>
                                        <p:strVal val="hidden"/>
                                      </p:to>
                                    </p:set>
                                  </p:childTnLst>
                                </p:cTn>
                              </p:par>
                              <p:par>
                                <p:cTn id="45" presetID="9" presetClass="exit" presetSubtype="0" fill="hold" nodeType="withEffect">
                                  <p:stCondLst>
                                    <p:cond delay="0"/>
                                  </p:stCondLst>
                                  <p:childTnLst>
                                    <p:animEffect transition="out" filter="dissolve">
                                      <p:cBhvr>
                                        <p:cTn id="46" dur="500"/>
                                        <p:tgtEl>
                                          <p:spTgt spid="29"/>
                                        </p:tgtEl>
                                      </p:cBhvr>
                                    </p:animEffect>
                                    <p:set>
                                      <p:cBhvr>
                                        <p:cTn id="47" dur="1" fill="hold">
                                          <p:stCondLst>
                                            <p:cond delay="4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3</a:t>
            </a:r>
            <a:r>
              <a:rPr lang="en-US" altLang="zh-CN" dirty="0"/>
              <a:t>. </a:t>
            </a:r>
            <a:r>
              <a:rPr lang="zh-CN" altLang="en-US" dirty="0"/>
              <a:t>二叉排序树的删除</a:t>
            </a:r>
            <a:endParaRPr lang="en-US" altLang="zh-CN" dirty="0"/>
          </a:p>
          <a:p>
            <a:pPr lvl="1">
              <a:spcBef>
                <a:spcPct val="0"/>
              </a:spcBef>
              <a:buClr>
                <a:schemeClr val="accent1"/>
              </a:buClr>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要</a:t>
            </a:r>
            <a:r>
              <a:rPr lang="zh-CN" altLang="en-US" sz="2100" dirty="0">
                <a:solidFill>
                  <a:srgbClr val="00194C"/>
                </a:solidFill>
                <a:latin typeface="华文楷体" panose="02010600040101010101" pitchFamily="2" charset="-122"/>
                <a:ea typeface="华文楷体" panose="02010600040101010101" pitchFamily="2" charset="-122"/>
              </a:rPr>
              <a:t>删除的结点只有一个孩子结点</a:t>
            </a:r>
            <a:r>
              <a:rPr lang="en-US" altLang="zh-CN" sz="2100" dirty="0">
                <a:solidFill>
                  <a:srgbClr val="00194C"/>
                </a:solidFill>
                <a:latin typeface="华文楷体" panose="02010600040101010101" pitchFamily="2" charset="-122"/>
                <a:ea typeface="华文楷体" panose="02010600040101010101" pitchFamily="2" charset="-122"/>
              </a:rPr>
              <a:t>: </a:t>
            </a:r>
            <a:r>
              <a:rPr lang="zh-CN" altLang="en-US" sz="2100" dirty="0">
                <a:solidFill>
                  <a:srgbClr val="00194C"/>
                </a:solidFill>
                <a:latin typeface="华文楷体" panose="02010600040101010101" pitchFamily="2" charset="-122"/>
                <a:ea typeface="华文楷体" panose="02010600040101010101" pitchFamily="2" charset="-122"/>
              </a:rPr>
              <a:t>将其</a:t>
            </a:r>
            <a:r>
              <a:rPr lang="zh-CN" altLang="en-US" sz="2100" dirty="0">
                <a:solidFill>
                  <a:srgbClr val="FF0000"/>
                </a:solidFill>
                <a:latin typeface="华文楷体" panose="02010600040101010101" pitchFamily="2" charset="-122"/>
                <a:ea typeface="华文楷体" panose="02010600040101010101" pitchFamily="2" charset="-122"/>
              </a:rPr>
              <a:t>父结点的指针指向</a:t>
            </a:r>
            <a:r>
              <a:rPr lang="zh-CN" altLang="en-US" sz="2100" dirty="0">
                <a:solidFill>
                  <a:srgbClr val="00194C"/>
                </a:solidFill>
                <a:latin typeface="华文楷体" panose="02010600040101010101" pitchFamily="2" charset="-122"/>
                <a:ea typeface="华文楷体" panose="02010600040101010101" pitchFamily="2" charset="-122"/>
              </a:rPr>
              <a:t>要删除结点的</a:t>
            </a:r>
            <a:r>
              <a:rPr lang="zh-CN" altLang="en-US" sz="2100" dirty="0">
                <a:solidFill>
                  <a:srgbClr val="FF0000"/>
                </a:solidFill>
                <a:latin typeface="华文楷体" panose="02010600040101010101" pitchFamily="2" charset="-122"/>
                <a:ea typeface="华文楷体" panose="02010600040101010101" pitchFamily="2" charset="-122"/>
              </a:rPr>
              <a:t>孩子结点 </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FF0000"/>
              </a:solidFill>
              <a:latin typeface="华文楷体" panose="02010600040101010101" pitchFamily="2" charset="-122"/>
              <a:ea typeface="华文楷体" panose="02010600040101010101" pitchFamily="2" charset="-122"/>
            </a:endParaRPr>
          </a:p>
          <a:p>
            <a:pPr lvl="1">
              <a:spcBef>
                <a:spcPct val="0"/>
              </a:spcBef>
              <a:buClr>
                <a:schemeClr val="accent1"/>
              </a:buClr>
            </a:pPr>
            <a:r>
              <a:rPr lang="zh-CN" altLang="en-US" sz="2100" dirty="0">
                <a:solidFill>
                  <a:srgbClr val="00194C"/>
                </a:solidFill>
                <a:latin typeface="华文楷体" panose="02010600040101010101" pitchFamily="2" charset="-122"/>
                <a:ea typeface="华文楷体" panose="02010600040101010101" pitchFamily="2" charset="-122"/>
              </a:rPr>
              <a:t>例：要</a:t>
            </a:r>
            <a:r>
              <a:rPr lang="zh-CN" altLang="en-US" sz="2100" dirty="0" smtClean="0">
                <a:solidFill>
                  <a:srgbClr val="00194C"/>
                </a:solidFill>
                <a:latin typeface="华文楷体" panose="02010600040101010101" pitchFamily="2" charset="-122"/>
                <a:ea typeface="华文楷体" panose="02010600040101010101" pitchFamily="2" charset="-122"/>
              </a:rPr>
              <a:t>删除</a:t>
            </a:r>
            <a:r>
              <a:rPr lang="en-US" altLang="zh-CN" sz="2100" dirty="0" smtClean="0">
                <a:solidFill>
                  <a:srgbClr val="00194C"/>
                </a:solidFill>
                <a:latin typeface="华文楷体" panose="02010600040101010101" pitchFamily="2" charset="-122"/>
                <a:ea typeface="华文楷体" panose="02010600040101010101" pitchFamily="2" charset="-122"/>
              </a:rPr>
              <a:t>53</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
        <p:nvSpPr>
          <p:cNvPr id="35" name="椭圆 3"/>
          <p:cNvSpPr>
            <a:spLocks noChangeArrowheads="1"/>
          </p:cNvSpPr>
          <p:nvPr/>
        </p:nvSpPr>
        <p:spPr bwMode="auto">
          <a:xfrm>
            <a:off x="3977879" y="2571751"/>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45</a:t>
            </a:r>
            <a:endParaRPr lang="zh-CN" altLang="en-US" sz="1400" b="1">
              <a:latin typeface="Times New Roman" panose="02020603050405020304" pitchFamily="18" charset="0"/>
              <a:ea typeface="宋体" panose="02010600030101010101" pitchFamily="2" charset="-122"/>
            </a:endParaRPr>
          </a:p>
        </p:txBody>
      </p:sp>
      <p:grpSp>
        <p:nvGrpSpPr>
          <p:cNvPr id="36" name="组合 4"/>
          <p:cNvGrpSpPr/>
          <p:nvPr/>
        </p:nvGrpSpPr>
        <p:grpSpPr bwMode="auto">
          <a:xfrm>
            <a:off x="3330179" y="2994422"/>
            <a:ext cx="726281" cy="495300"/>
            <a:chOff x="2915816" y="2624557"/>
            <a:chExt cx="969549" cy="660427"/>
          </a:xfrm>
        </p:grpSpPr>
        <p:sp>
          <p:nvSpPr>
            <p:cNvPr id="37" name="椭圆 5"/>
            <p:cNvSpPr>
              <a:spLocks noChangeArrowheads="1"/>
            </p:cNvSpPr>
            <p:nvPr/>
          </p:nvSpPr>
          <p:spPr bwMode="auto">
            <a:xfrm>
              <a:off x="2915816" y="270892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24</a:t>
              </a:r>
              <a:endParaRPr lang="zh-CN" altLang="en-US" sz="1400" b="1">
                <a:latin typeface="Times New Roman" panose="02020603050405020304" pitchFamily="18" charset="0"/>
                <a:ea typeface="宋体" panose="02010600030101010101" pitchFamily="2" charset="-122"/>
              </a:endParaRPr>
            </a:p>
          </p:txBody>
        </p:sp>
        <p:cxnSp>
          <p:nvCxnSpPr>
            <p:cNvPr id="38" name="直接箭头连接符 6"/>
            <p:cNvCxnSpPr>
              <a:cxnSpLocks noChangeShapeType="1"/>
              <a:stCxn id="35" idx="3"/>
              <a:endCxn id="37" idx="7"/>
            </p:cNvCxnSpPr>
            <p:nvPr/>
          </p:nvCxnSpPr>
          <p:spPr bwMode="auto">
            <a:xfrm flipH="1">
              <a:off x="3530443" y="2624557"/>
              <a:ext cx="354922" cy="168726"/>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39" name="组合 7"/>
          <p:cNvGrpSpPr/>
          <p:nvPr/>
        </p:nvGrpSpPr>
        <p:grpSpPr bwMode="auto">
          <a:xfrm>
            <a:off x="2789635" y="3436144"/>
            <a:ext cx="644128" cy="594122"/>
            <a:chOff x="2195736" y="3212976"/>
            <a:chExt cx="858978" cy="792088"/>
          </a:xfrm>
        </p:grpSpPr>
        <p:sp>
          <p:nvSpPr>
            <p:cNvPr id="40" name="椭圆 8"/>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12</a:t>
              </a:r>
              <a:endParaRPr lang="zh-CN" altLang="en-US" sz="1400" b="1">
                <a:latin typeface="Times New Roman" panose="02020603050405020304" pitchFamily="18" charset="0"/>
                <a:ea typeface="宋体" panose="02010600030101010101" pitchFamily="2" charset="-122"/>
              </a:endParaRPr>
            </a:p>
          </p:txBody>
        </p:sp>
        <p:cxnSp>
          <p:nvCxnSpPr>
            <p:cNvPr id="41" name="直接箭头连接符 9"/>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42" name="椭圆 41"/>
          <p:cNvSpPr>
            <a:spLocks noChangeArrowheads="1"/>
          </p:cNvSpPr>
          <p:nvPr/>
        </p:nvSpPr>
        <p:spPr bwMode="auto">
          <a:xfrm>
            <a:off x="4597004" y="3112294"/>
            <a:ext cx="540544" cy="431006"/>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53</a:t>
            </a:r>
            <a:endParaRPr lang="zh-CN" altLang="en-US" sz="1400" b="1">
              <a:latin typeface="Times New Roman" panose="02020603050405020304" pitchFamily="18" charset="0"/>
              <a:ea typeface="宋体" panose="02010600030101010101" pitchFamily="2" charset="-122"/>
            </a:endParaRPr>
          </a:p>
        </p:txBody>
      </p:sp>
      <p:cxnSp>
        <p:nvCxnSpPr>
          <p:cNvPr id="43" name="直接箭头连接符 12"/>
          <p:cNvCxnSpPr>
            <a:cxnSpLocks noChangeShapeType="1"/>
          </p:cNvCxnSpPr>
          <p:nvPr/>
        </p:nvCxnSpPr>
        <p:spPr bwMode="auto">
          <a:xfrm>
            <a:off x="4463653" y="2950369"/>
            <a:ext cx="241697" cy="225029"/>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44" name="组合 13"/>
          <p:cNvGrpSpPr/>
          <p:nvPr/>
        </p:nvGrpSpPr>
        <p:grpSpPr bwMode="auto">
          <a:xfrm>
            <a:off x="3762376" y="3480197"/>
            <a:ext cx="594122" cy="603647"/>
            <a:chOff x="3491880" y="3272629"/>
            <a:chExt cx="792088" cy="804443"/>
          </a:xfrm>
        </p:grpSpPr>
        <p:sp>
          <p:nvSpPr>
            <p:cNvPr id="45" name="椭圆 14"/>
            <p:cNvSpPr>
              <a:spLocks noChangeArrowheads="1"/>
            </p:cNvSpPr>
            <p:nvPr/>
          </p:nvSpPr>
          <p:spPr bwMode="auto">
            <a:xfrm>
              <a:off x="3563888"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28</a:t>
              </a:r>
              <a:endParaRPr lang="zh-CN" altLang="en-US" sz="1400" b="1">
                <a:latin typeface="Times New Roman" panose="02020603050405020304" pitchFamily="18" charset="0"/>
                <a:ea typeface="宋体" panose="02010600030101010101" pitchFamily="2" charset="-122"/>
              </a:endParaRPr>
            </a:p>
          </p:txBody>
        </p:sp>
        <p:cxnSp>
          <p:nvCxnSpPr>
            <p:cNvPr id="46" name="直接箭头连接符 15"/>
            <p:cNvCxnSpPr>
              <a:cxnSpLocks noChangeShapeType="1"/>
            </p:cNvCxnSpPr>
            <p:nvPr/>
          </p:nvCxnSpPr>
          <p:spPr bwMode="auto">
            <a:xfrm>
              <a:off x="3491880" y="3272629"/>
              <a:ext cx="249469"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47" name="椭圆 17"/>
          <p:cNvSpPr>
            <a:spLocks noChangeArrowheads="1"/>
          </p:cNvSpPr>
          <p:nvPr/>
        </p:nvSpPr>
        <p:spPr bwMode="auto">
          <a:xfrm>
            <a:off x="5166123" y="3651647"/>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cxnSp>
        <p:nvCxnSpPr>
          <p:cNvPr id="48" name="直接箭头连接符 47"/>
          <p:cNvCxnSpPr>
            <a:cxnSpLocks noChangeShapeType="1"/>
            <a:stCxn id="42" idx="5"/>
            <a:endCxn id="47" idx="1"/>
          </p:cNvCxnSpPr>
          <p:nvPr/>
        </p:nvCxnSpPr>
        <p:spPr bwMode="auto">
          <a:xfrm>
            <a:off x="5057775" y="3534966"/>
            <a:ext cx="186929" cy="17978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49" name="组合 25"/>
          <p:cNvGrpSpPr/>
          <p:nvPr/>
        </p:nvGrpSpPr>
        <p:grpSpPr bwMode="auto">
          <a:xfrm>
            <a:off x="4248144" y="1977629"/>
            <a:ext cx="243978" cy="647700"/>
            <a:chOff x="6444208" y="2708920"/>
            <a:chExt cx="325213" cy="864096"/>
          </a:xfrm>
        </p:grpSpPr>
        <p:sp>
          <p:nvSpPr>
            <p:cNvPr id="50" name="下箭头 23"/>
            <p:cNvSpPr>
              <a:spLocks noChangeArrowheads="1"/>
            </p:cNvSpPr>
            <p:nvPr/>
          </p:nvSpPr>
          <p:spPr bwMode="auto">
            <a:xfrm flipH="1">
              <a:off x="6516216" y="3140968"/>
              <a:ext cx="117727" cy="432048"/>
            </a:xfrm>
            <a:prstGeom prst="downArrow">
              <a:avLst>
                <a:gd name="adj1" fmla="val 50000"/>
                <a:gd name="adj2" fmla="val 50003"/>
              </a:avLst>
            </a:prstGeom>
            <a:solidFill>
              <a:schemeClr val="tx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51" name="TextBox 24"/>
            <p:cNvSpPr txBox="1">
              <a:spLocks noChangeArrowheads="1"/>
            </p:cNvSpPr>
            <p:nvPr/>
          </p:nvSpPr>
          <p:spPr bwMode="auto">
            <a:xfrm>
              <a:off x="6444208" y="2708920"/>
              <a:ext cx="325213" cy="410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f</a:t>
              </a:r>
              <a:endParaRPr lang="zh-CN" altLang="en-US" sz="1400" b="1">
                <a:latin typeface="Times New Roman" panose="02020603050405020304" pitchFamily="18" charset="0"/>
                <a:ea typeface="宋体" panose="02010600030101010101" pitchFamily="2" charset="-122"/>
              </a:endParaRPr>
            </a:p>
          </p:txBody>
        </p:sp>
      </p:grpSp>
      <p:grpSp>
        <p:nvGrpSpPr>
          <p:cNvPr id="52" name="组合 27"/>
          <p:cNvGrpSpPr/>
          <p:nvPr/>
        </p:nvGrpSpPr>
        <p:grpSpPr bwMode="auto">
          <a:xfrm>
            <a:off x="4108849" y="2031207"/>
            <a:ext cx="318319" cy="540544"/>
            <a:chOff x="4094232" y="2708920"/>
            <a:chExt cx="424712" cy="720080"/>
          </a:xfrm>
        </p:grpSpPr>
        <p:sp>
          <p:nvSpPr>
            <p:cNvPr id="53" name="下箭头 20"/>
            <p:cNvSpPr>
              <a:spLocks noChangeArrowheads="1"/>
            </p:cNvSpPr>
            <p:nvPr/>
          </p:nvSpPr>
          <p:spPr bwMode="auto">
            <a:xfrm flipH="1">
              <a:off x="4094232" y="2996952"/>
              <a:ext cx="117727" cy="432048"/>
            </a:xfrm>
            <a:prstGeom prst="downArrow">
              <a:avLst>
                <a:gd name="adj1" fmla="val 50000"/>
                <a:gd name="adj2" fmla="val 50003"/>
              </a:avLst>
            </a:prstGeom>
            <a:solidFill>
              <a:srgbClr val="FF0000"/>
            </a:solidFill>
            <a:ln w="9525" algn="ctr">
              <a:solidFill>
                <a:srgbClr val="FF0000"/>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54" name="TextBox 26"/>
            <p:cNvSpPr txBox="1">
              <a:spLocks noChangeArrowheads="1"/>
            </p:cNvSpPr>
            <p:nvPr/>
          </p:nvSpPr>
          <p:spPr bwMode="auto">
            <a:xfrm>
              <a:off x="4139952" y="2708920"/>
              <a:ext cx="378992" cy="4100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solidFill>
                    <a:srgbClr val="FF0000"/>
                  </a:solidFill>
                  <a:latin typeface="Times New Roman" panose="02020603050405020304" pitchFamily="18" charset="0"/>
                  <a:ea typeface="宋体" panose="02010600030101010101" pitchFamily="2" charset="-122"/>
                </a:rPr>
                <a:t>p</a:t>
              </a:r>
              <a:endParaRPr lang="zh-CN" altLang="en-US" sz="1400" b="1">
                <a:solidFill>
                  <a:srgbClr val="FF0000"/>
                </a:solidFill>
                <a:latin typeface="Times New Roman" panose="02020603050405020304" pitchFamily="18" charset="0"/>
                <a:ea typeface="宋体" panose="02010600030101010101" pitchFamily="2" charset="-122"/>
              </a:endParaRPr>
            </a:p>
          </p:txBody>
        </p:sp>
      </p:grpSp>
      <p:grpSp>
        <p:nvGrpSpPr>
          <p:cNvPr id="55" name="组合 28"/>
          <p:cNvGrpSpPr/>
          <p:nvPr/>
        </p:nvGrpSpPr>
        <p:grpSpPr bwMode="auto">
          <a:xfrm>
            <a:off x="4842274" y="2571750"/>
            <a:ext cx="318319" cy="540544"/>
            <a:chOff x="4094232" y="2708920"/>
            <a:chExt cx="424712" cy="720080"/>
          </a:xfrm>
        </p:grpSpPr>
        <p:sp>
          <p:nvSpPr>
            <p:cNvPr id="56" name="下箭头 29"/>
            <p:cNvSpPr>
              <a:spLocks noChangeArrowheads="1"/>
            </p:cNvSpPr>
            <p:nvPr/>
          </p:nvSpPr>
          <p:spPr bwMode="auto">
            <a:xfrm flipH="1">
              <a:off x="4094232" y="2996952"/>
              <a:ext cx="117727" cy="432048"/>
            </a:xfrm>
            <a:prstGeom prst="downArrow">
              <a:avLst>
                <a:gd name="adj1" fmla="val 50000"/>
                <a:gd name="adj2" fmla="val 50003"/>
              </a:avLst>
            </a:prstGeom>
            <a:solidFill>
              <a:srgbClr val="FF0000"/>
            </a:solidFill>
            <a:ln w="9525" algn="ctr">
              <a:solidFill>
                <a:srgbClr val="FF0000"/>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endParaRPr lang="zh-CN" altLang="en-US" sz="1400">
                <a:latin typeface="Times New Roman" panose="02020603050405020304" pitchFamily="18" charset="0"/>
                <a:ea typeface="宋体" panose="02010600030101010101" pitchFamily="2" charset="-122"/>
              </a:endParaRPr>
            </a:p>
          </p:txBody>
        </p:sp>
        <p:sp>
          <p:nvSpPr>
            <p:cNvPr id="57" name="TextBox 30"/>
            <p:cNvSpPr txBox="1">
              <a:spLocks noChangeArrowheads="1"/>
            </p:cNvSpPr>
            <p:nvPr/>
          </p:nvSpPr>
          <p:spPr bwMode="auto">
            <a:xfrm>
              <a:off x="4139952" y="2708920"/>
              <a:ext cx="378992" cy="4100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solidFill>
                    <a:srgbClr val="FF0000"/>
                  </a:solidFill>
                  <a:latin typeface="Times New Roman" panose="02020603050405020304" pitchFamily="18" charset="0"/>
                  <a:ea typeface="宋体" panose="02010600030101010101" pitchFamily="2" charset="-122"/>
                </a:rPr>
                <a:t>p</a:t>
              </a:r>
              <a:endParaRPr lang="zh-CN" altLang="en-US" sz="1400" b="1">
                <a:solidFill>
                  <a:srgbClr val="FF0000"/>
                </a:solidFill>
                <a:latin typeface="Times New Roman" panose="02020603050405020304" pitchFamily="18" charset="0"/>
                <a:ea typeface="宋体" panose="02010600030101010101" pitchFamily="2" charset="-122"/>
              </a:endParaRPr>
            </a:p>
          </p:txBody>
        </p:sp>
      </p:grpSp>
      <p:cxnSp>
        <p:nvCxnSpPr>
          <p:cNvPr id="58" name="直接箭头连接符 57"/>
          <p:cNvCxnSpPr>
            <a:cxnSpLocks noChangeShapeType="1"/>
          </p:cNvCxnSpPr>
          <p:nvPr/>
        </p:nvCxnSpPr>
        <p:spPr bwMode="auto">
          <a:xfrm>
            <a:off x="4469537" y="2940209"/>
            <a:ext cx="806053" cy="773906"/>
          </a:xfrm>
          <a:prstGeom prst="straightConnector1">
            <a:avLst/>
          </a:prstGeom>
          <a:noFill/>
          <a:ln w="25400" algn="ctr">
            <a:solidFill>
              <a:srgbClr val="FF0000"/>
            </a:solidFill>
            <a:round/>
            <a:tailEnd type="arrow" w="med" len="med"/>
          </a:ln>
          <a:extLst>
            <a:ext uri="{909E8E84-426E-40DD-AFC4-6F175D3DCCD1}">
              <a14:hiddenFill xmlns:a14="http://schemas.microsoft.com/office/drawing/2010/main">
                <a:noFill/>
              </a14:hiddenFill>
            </a:ext>
          </a:ex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dissolve">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9"/>
                                        </p:tgtEl>
                                        <p:attrNameLst>
                                          <p:attrName>style.visibility</p:attrName>
                                        </p:attrNameLst>
                                      </p:cBhvr>
                                      <p:to>
                                        <p:strVal val="visible"/>
                                      </p:to>
                                    </p:set>
                                    <p:animEffect transition="in" filter="dissolve">
                                      <p:cBhvr>
                                        <p:cTn id="12" dur="500"/>
                                        <p:tgtEl>
                                          <p:spTgt spid="4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xit" presetSubtype="0" fill="hold" nodeType="clickEffect">
                                  <p:stCondLst>
                                    <p:cond delay="0"/>
                                  </p:stCondLst>
                                  <p:childTnLst>
                                    <p:animEffect transition="out" filter="dissolve">
                                      <p:cBhvr>
                                        <p:cTn id="16" dur="500"/>
                                        <p:tgtEl>
                                          <p:spTgt spid="52"/>
                                        </p:tgtEl>
                                      </p:cBhvr>
                                    </p:animEffect>
                                    <p:set>
                                      <p:cBhvr>
                                        <p:cTn id="17" dur="1" fill="hold">
                                          <p:stCondLst>
                                            <p:cond delay="499"/>
                                          </p:stCondLst>
                                        </p:cTn>
                                        <p:tgtEl>
                                          <p:spTgt spid="52"/>
                                        </p:tgtEl>
                                        <p:attrNameLst>
                                          <p:attrName>style.visibility</p:attrName>
                                        </p:attrNameLst>
                                      </p:cBhvr>
                                      <p:to>
                                        <p:strVal val="hidden"/>
                                      </p:to>
                                    </p:set>
                                  </p:childTnLst>
                                </p:cTn>
                              </p:par>
                            </p:childTnLst>
                          </p:cTn>
                        </p:par>
                        <p:par>
                          <p:cTn id="18" fill="hold">
                            <p:stCondLst>
                              <p:cond delay="500"/>
                            </p:stCondLst>
                            <p:childTnLst>
                              <p:par>
                                <p:cTn id="19" presetID="9" presetClass="entr" presetSubtype="0" fill="hold" nodeType="after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dissolve">
                                      <p:cBhvr>
                                        <p:cTn id="21" dur="500"/>
                                        <p:tgtEl>
                                          <p:spTgt spid="5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58"/>
                                        </p:tgtEl>
                                        <p:attrNameLst>
                                          <p:attrName>style.visibility</p:attrName>
                                        </p:attrNameLst>
                                      </p:cBhvr>
                                      <p:to>
                                        <p:strVal val="visible"/>
                                      </p:to>
                                    </p:set>
                                    <p:animEffect transition="in" filter="dissolve">
                                      <p:cBhvr>
                                        <p:cTn id="26" dur="500"/>
                                        <p:tgtEl>
                                          <p:spTgt spid="58"/>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xit" presetSubtype="0" fill="hold" grpId="0" nodeType="clickEffect">
                                  <p:stCondLst>
                                    <p:cond delay="0"/>
                                  </p:stCondLst>
                                  <p:childTnLst>
                                    <p:animEffect transition="out" filter="dissolve">
                                      <p:cBhvr>
                                        <p:cTn id="30" dur="500"/>
                                        <p:tgtEl>
                                          <p:spTgt spid="42"/>
                                        </p:tgtEl>
                                      </p:cBhvr>
                                    </p:animEffect>
                                    <p:set>
                                      <p:cBhvr>
                                        <p:cTn id="31" dur="1" fill="hold">
                                          <p:stCondLst>
                                            <p:cond delay="499"/>
                                          </p:stCondLst>
                                        </p:cTn>
                                        <p:tgtEl>
                                          <p:spTgt spid="42"/>
                                        </p:tgtEl>
                                        <p:attrNameLst>
                                          <p:attrName>style.visibility</p:attrName>
                                        </p:attrNameLst>
                                      </p:cBhvr>
                                      <p:to>
                                        <p:strVal val="hidden"/>
                                      </p:to>
                                    </p:set>
                                  </p:childTnLst>
                                </p:cTn>
                              </p:par>
                              <p:par>
                                <p:cTn id="32" presetID="9" presetClass="exit" presetSubtype="0" fill="hold" nodeType="withEffect">
                                  <p:stCondLst>
                                    <p:cond delay="0"/>
                                  </p:stCondLst>
                                  <p:childTnLst>
                                    <p:animEffect transition="out" filter="dissolve">
                                      <p:cBhvr>
                                        <p:cTn id="33" dur="500"/>
                                        <p:tgtEl>
                                          <p:spTgt spid="43"/>
                                        </p:tgtEl>
                                      </p:cBhvr>
                                    </p:animEffect>
                                    <p:set>
                                      <p:cBhvr>
                                        <p:cTn id="34" dur="1" fill="hold">
                                          <p:stCondLst>
                                            <p:cond delay="499"/>
                                          </p:stCondLst>
                                        </p:cTn>
                                        <p:tgtEl>
                                          <p:spTgt spid="43"/>
                                        </p:tgtEl>
                                        <p:attrNameLst>
                                          <p:attrName>style.visibility</p:attrName>
                                        </p:attrNameLst>
                                      </p:cBhvr>
                                      <p:to>
                                        <p:strVal val="hidden"/>
                                      </p:to>
                                    </p:set>
                                  </p:childTnLst>
                                </p:cTn>
                              </p:par>
                              <p:par>
                                <p:cTn id="35" presetID="9" presetClass="exit" presetSubtype="0" fill="hold" nodeType="withEffect">
                                  <p:stCondLst>
                                    <p:cond delay="0"/>
                                  </p:stCondLst>
                                  <p:childTnLst>
                                    <p:animEffect transition="out" filter="dissolve">
                                      <p:cBhvr>
                                        <p:cTn id="36" dur="500"/>
                                        <p:tgtEl>
                                          <p:spTgt spid="48"/>
                                        </p:tgtEl>
                                      </p:cBhvr>
                                    </p:animEffect>
                                    <p:set>
                                      <p:cBhvr>
                                        <p:cTn id="37" dur="1" fill="hold">
                                          <p:stCondLst>
                                            <p:cond delay="499"/>
                                          </p:stCondLst>
                                        </p:cTn>
                                        <p:tgtEl>
                                          <p:spTgt spid="48"/>
                                        </p:tgtEl>
                                        <p:attrNameLst>
                                          <p:attrName>style.visibility</p:attrName>
                                        </p:attrNameLst>
                                      </p:cBhvr>
                                      <p:to>
                                        <p:strVal val="hidden"/>
                                      </p:to>
                                    </p:set>
                                  </p:childTnLst>
                                </p:cTn>
                              </p:par>
                              <p:par>
                                <p:cTn id="38" presetID="9" presetClass="exit" presetSubtype="0" fill="hold" nodeType="withEffect">
                                  <p:stCondLst>
                                    <p:cond delay="0"/>
                                  </p:stCondLst>
                                  <p:childTnLst>
                                    <p:animEffect transition="out" filter="dissolve">
                                      <p:cBhvr>
                                        <p:cTn id="39" dur="500"/>
                                        <p:tgtEl>
                                          <p:spTgt spid="55"/>
                                        </p:tgtEl>
                                      </p:cBhvr>
                                    </p:animEffect>
                                    <p:set>
                                      <p:cBhvr>
                                        <p:cTn id="40" dur="1" fill="hold">
                                          <p:stCondLst>
                                            <p:cond delay="499"/>
                                          </p:stCondLst>
                                        </p:cTn>
                                        <p:tgtEl>
                                          <p:spTgt spid="5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3</a:t>
            </a:r>
            <a:r>
              <a:rPr lang="en-US" altLang="zh-CN" dirty="0"/>
              <a:t>. </a:t>
            </a:r>
            <a:r>
              <a:rPr lang="zh-CN" altLang="en-US" dirty="0"/>
              <a:t>二叉排序树的删除</a:t>
            </a:r>
            <a:endParaRPr lang="en-US" altLang="zh-CN" dirty="0"/>
          </a:p>
          <a:p>
            <a:pPr lvl="1">
              <a:spcBef>
                <a:spcPct val="0"/>
              </a:spcBef>
              <a:buClr>
                <a:schemeClr val="accent1"/>
              </a:buClr>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要</a:t>
            </a:r>
            <a:r>
              <a:rPr lang="zh-CN" altLang="en-US" sz="2100" dirty="0">
                <a:solidFill>
                  <a:srgbClr val="00194C"/>
                </a:solidFill>
                <a:latin typeface="华文楷体" panose="02010600040101010101" pitchFamily="2" charset="-122"/>
                <a:ea typeface="华文楷体" panose="02010600040101010101" pitchFamily="2" charset="-122"/>
              </a:rPr>
              <a:t>删除的结点有左、右两棵子树</a:t>
            </a:r>
            <a:r>
              <a:rPr lang="zh-CN" altLang="en-US" sz="2100" dirty="0" smtClean="0">
                <a:solidFill>
                  <a:srgbClr val="00194C"/>
                </a:solidFill>
                <a:latin typeface="华文楷体" panose="02010600040101010101" pitchFamily="2" charset="-122"/>
                <a:ea typeface="华文楷体" panose="02010600040101010101" pitchFamily="2" charset="-122"/>
              </a:rPr>
              <a:t>：</a:t>
            </a:r>
            <a:r>
              <a:rPr lang="zh-CN" altLang="en-US" sz="2100" dirty="0" smtClean="0">
                <a:solidFill>
                  <a:srgbClr val="00194C"/>
                </a:solidFill>
                <a:latin typeface="华文楷体" panose="02010600040101010101" pitchFamily="2" charset="-122"/>
                <a:ea typeface="华文楷体" panose="02010600040101010101" pitchFamily="2" charset="-122"/>
              </a:rPr>
              <a:t>用</a:t>
            </a:r>
            <a:r>
              <a:rPr lang="zh-CN" altLang="en-US" sz="2100" dirty="0">
                <a:solidFill>
                  <a:srgbClr val="FF0000"/>
                </a:solidFill>
                <a:latin typeface="华文楷体" panose="02010600040101010101" pitchFamily="2" charset="-122"/>
                <a:ea typeface="华文楷体" panose="02010600040101010101" pitchFamily="2" charset="-122"/>
              </a:rPr>
              <a:t>右子树的最小</a:t>
            </a:r>
            <a:r>
              <a:rPr lang="zh-CN" altLang="en-US" sz="2100" dirty="0" smtClean="0">
                <a:solidFill>
                  <a:srgbClr val="FF0000"/>
                </a:solidFill>
                <a:latin typeface="华文楷体" panose="02010600040101010101" pitchFamily="2" charset="-122"/>
                <a:ea typeface="华文楷体" panose="02010600040101010101" pitchFamily="2" charset="-122"/>
              </a:rPr>
              <a:t>元素</a:t>
            </a:r>
            <a:r>
              <a:rPr lang="zh-CN" altLang="en-US" sz="2100" dirty="0" smtClean="0">
                <a:solidFill>
                  <a:srgbClr val="00194C"/>
                </a:solidFill>
                <a:latin typeface="华文楷体" panose="02010600040101010101" pitchFamily="2" charset="-122"/>
                <a:ea typeface="华文楷体" panose="02010600040101010101" pitchFamily="2" charset="-122"/>
              </a:rPr>
              <a:t>或者</a:t>
            </a:r>
            <a:r>
              <a:rPr lang="zh-CN" altLang="en-US" sz="2100" dirty="0" smtClean="0">
                <a:solidFill>
                  <a:srgbClr val="FF0000"/>
                </a:solidFill>
                <a:latin typeface="华文楷体" panose="02010600040101010101" pitchFamily="2" charset="-122"/>
                <a:ea typeface="华文楷体" panose="02010600040101010101" pitchFamily="2" charset="-122"/>
              </a:rPr>
              <a:t>左子树</a:t>
            </a:r>
            <a:r>
              <a:rPr lang="zh-CN" altLang="en-US" sz="2100" dirty="0">
                <a:solidFill>
                  <a:srgbClr val="FF0000"/>
                </a:solidFill>
                <a:latin typeface="华文楷体" panose="02010600040101010101" pitchFamily="2" charset="-122"/>
                <a:ea typeface="华文楷体" panose="02010600040101010101" pitchFamily="2" charset="-122"/>
              </a:rPr>
              <a:t>的最大元素</a:t>
            </a:r>
            <a:r>
              <a:rPr lang="zh-CN" altLang="en-US" sz="2100" dirty="0" smtClean="0">
                <a:solidFill>
                  <a:srgbClr val="00194C"/>
                </a:solidFill>
                <a:latin typeface="华文楷体" panose="02010600040101010101" pitchFamily="2" charset="-122"/>
                <a:ea typeface="华文楷体" panose="02010600040101010101" pitchFamily="2" charset="-122"/>
              </a:rPr>
              <a:t>替代</a:t>
            </a:r>
            <a:r>
              <a:rPr lang="zh-CN" altLang="en-US" sz="2100" dirty="0">
                <a:solidFill>
                  <a:srgbClr val="00194C"/>
                </a:solidFill>
                <a:latin typeface="华文楷体" panose="02010600040101010101" pitchFamily="2" charset="-122"/>
                <a:ea typeface="华文楷体" panose="02010600040101010101" pitchFamily="2" charset="-122"/>
              </a:rPr>
              <a:t>被删除</a:t>
            </a:r>
            <a:r>
              <a:rPr lang="zh-CN" altLang="en-US" sz="2100" dirty="0" smtClean="0">
                <a:solidFill>
                  <a:srgbClr val="00194C"/>
                </a:solidFill>
                <a:latin typeface="华文楷体" panose="02010600040101010101" pitchFamily="2" charset="-122"/>
                <a:ea typeface="华文楷体" panose="02010600040101010101" pitchFamily="2" charset="-122"/>
              </a:rPr>
              <a:t>结点。</a:t>
            </a:r>
            <a:endParaRPr lang="en-US" altLang="zh-CN" sz="2100" dirty="0" smtClean="0">
              <a:solidFill>
                <a:srgbClr val="FF0000"/>
              </a:solidFill>
              <a:latin typeface="华文楷体" panose="02010600040101010101" pitchFamily="2" charset="-122"/>
              <a:ea typeface="华文楷体" panose="02010600040101010101" pitchFamily="2" charset="-122"/>
            </a:endParaRPr>
          </a:p>
          <a:p>
            <a:pPr lvl="1">
              <a:spcBef>
                <a:spcPct val="0"/>
              </a:spcBef>
              <a:buClr>
                <a:schemeClr val="accent1"/>
              </a:buClr>
            </a:pPr>
            <a:r>
              <a:rPr lang="zh-CN" altLang="en-US" sz="2100" dirty="0">
                <a:solidFill>
                  <a:srgbClr val="00194C"/>
                </a:solidFill>
                <a:latin typeface="华文楷体" panose="02010600040101010101" pitchFamily="2" charset="-122"/>
                <a:ea typeface="华文楷体" panose="02010600040101010101" pitchFamily="2" charset="-122"/>
              </a:rPr>
              <a:t>例：要</a:t>
            </a:r>
            <a:r>
              <a:rPr lang="zh-CN" altLang="en-US" sz="2100" dirty="0" smtClean="0">
                <a:solidFill>
                  <a:srgbClr val="00194C"/>
                </a:solidFill>
                <a:latin typeface="华文楷体" panose="02010600040101010101" pitchFamily="2" charset="-122"/>
                <a:ea typeface="华文楷体" panose="02010600040101010101" pitchFamily="2" charset="-122"/>
              </a:rPr>
              <a:t>删除</a:t>
            </a:r>
            <a:r>
              <a:rPr lang="en-US" altLang="zh-CN" sz="2100" dirty="0" smtClean="0">
                <a:solidFill>
                  <a:srgbClr val="00194C"/>
                </a:solidFill>
                <a:latin typeface="华文楷体" panose="02010600040101010101" pitchFamily="2" charset="-122"/>
                <a:ea typeface="华文楷体" panose="02010600040101010101" pitchFamily="2" charset="-122"/>
              </a:rPr>
              <a:t>53</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
        <p:nvSpPr>
          <p:cNvPr id="35" name="椭圆 3"/>
          <p:cNvSpPr>
            <a:spLocks noChangeArrowheads="1"/>
          </p:cNvSpPr>
          <p:nvPr/>
        </p:nvSpPr>
        <p:spPr bwMode="auto">
          <a:xfrm>
            <a:off x="2528988" y="1912722"/>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45</a:t>
            </a:r>
            <a:endParaRPr lang="zh-CN" altLang="en-US" sz="1400" b="1">
              <a:latin typeface="Times New Roman" panose="02020603050405020304" pitchFamily="18" charset="0"/>
              <a:ea typeface="宋体" panose="02010600030101010101" pitchFamily="2" charset="-122"/>
            </a:endParaRPr>
          </a:p>
        </p:txBody>
      </p:sp>
      <p:grpSp>
        <p:nvGrpSpPr>
          <p:cNvPr id="36" name="组合 4"/>
          <p:cNvGrpSpPr/>
          <p:nvPr/>
        </p:nvGrpSpPr>
        <p:grpSpPr bwMode="auto">
          <a:xfrm>
            <a:off x="1881287" y="2281624"/>
            <a:ext cx="736487" cy="549063"/>
            <a:chOff x="2915816" y="2553886"/>
            <a:chExt cx="982642" cy="731098"/>
          </a:xfrm>
        </p:grpSpPr>
        <p:sp>
          <p:nvSpPr>
            <p:cNvPr id="37" name="椭圆 5"/>
            <p:cNvSpPr>
              <a:spLocks noChangeArrowheads="1"/>
            </p:cNvSpPr>
            <p:nvPr/>
          </p:nvSpPr>
          <p:spPr bwMode="auto">
            <a:xfrm>
              <a:off x="2915816" y="270892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24</a:t>
              </a:r>
              <a:endParaRPr lang="zh-CN" altLang="en-US" sz="1400" b="1">
                <a:latin typeface="Times New Roman" panose="02020603050405020304" pitchFamily="18" charset="0"/>
                <a:ea typeface="宋体" panose="02010600030101010101" pitchFamily="2" charset="-122"/>
              </a:endParaRPr>
            </a:p>
          </p:txBody>
        </p:sp>
        <p:cxnSp>
          <p:nvCxnSpPr>
            <p:cNvPr id="38" name="直接箭头连接符 6"/>
            <p:cNvCxnSpPr>
              <a:cxnSpLocks noChangeShapeType="1"/>
              <a:stCxn id="35" idx="3"/>
              <a:endCxn id="37" idx="7"/>
            </p:cNvCxnSpPr>
            <p:nvPr/>
          </p:nvCxnSpPr>
          <p:spPr bwMode="auto">
            <a:xfrm flipH="1">
              <a:off x="3530443" y="2553886"/>
              <a:ext cx="368015" cy="239396"/>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39" name="组合 7"/>
          <p:cNvGrpSpPr/>
          <p:nvPr/>
        </p:nvGrpSpPr>
        <p:grpSpPr bwMode="auto">
          <a:xfrm>
            <a:off x="1340744" y="2777115"/>
            <a:ext cx="645319" cy="592931"/>
            <a:chOff x="2195736" y="3212976"/>
            <a:chExt cx="858978" cy="792088"/>
          </a:xfrm>
        </p:grpSpPr>
        <p:sp>
          <p:nvSpPr>
            <p:cNvPr id="40" name="椭圆 8"/>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12</a:t>
              </a:r>
              <a:endParaRPr lang="zh-CN" altLang="en-US" sz="1400" b="1">
                <a:latin typeface="Times New Roman" panose="02020603050405020304" pitchFamily="18" charset="0"/>
                <a:ea typeface="宋体" panose="02010600030101010101" pitchFamily="2" charset="-122"/>
              </a:endParaRPr>
            </a:p>
          </p:txBody>
        </p:sp>
        <p:cxnSp>
          <p:nvCxnSpPr>
            <p:cNvPr id="41" name="直接箭头连接符 9"/>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42" name="椭圆 41"/>
          <p:cNvSpPr>
            <a:spLocks noChangeArrowheads="1"/>
          </p:cNvSpPr>
          <p:nvPr/>
        </p:nvSpPr>
        <p:spPr bwMode="auto">
          <a:xfrm>
            <a:off x="3148113" y="2452074"/>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53</a:t>
            </a:r>
            <a:endParaRPr lang="zh-CN" altLang="en-US" sz="1400" b="1">
              <a:latin typeface="Times New Roman" panose="02020603050405020304" pitchFamily="18" charset="0"/>
              <a:ea typeface="宋体" panose="02010600030101010101" pitchFamily="2" charset="-122"/>
            </a:endParaRPr>
          </a:p>
        </p:txBody>
      </p:sp>
      <p:cxnSp>
        <p:nvCxnSpPr>
          <p:cNvPr id="43" name="直接箭头连接符 12"/>
          <p:cNvCxnSpPr>
            <a:cxnSpLocks noChangeShapeType="1"/>
          </p:cNvCxnSpPr>
          <p:nvPr/>
        </p:nvCxnSpPr>
        <p:spPr bwMode="auto">
          <a:xfrm>
            <a:off x="3015954" y="2290150"/>
            <a:ext cx="240506" cy="226219"/>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44" name="组合 13"/>
          <p:cNvGrpSpPr/>
          <p:nvPr/>
        </p:nvGrpSpPr>
        <p:grpSpPr bwMode="auto">
          <a:xfrm>
            <a:off x="2313485" y="2777115"/>
            <a:ext cx="540544" cy="647700"/>
            <a:chOff x="3491880" y="3212976"/>
            <a:chExt cx="720080" cy="864096"/>
          </a:xfrm>
        </p:grpSpPr>
        <p:sp>
          <p:nvSpPr>
            <p:cNvPr id="45" name="椭圆 14"/>
            <p:cNvSpPr>
              <a:spLocks noChangeArrowheads="1"/>
            </p:cNvSpPr>
            <p:nvPr/>
          </p:nvSpPr>
          <p:spPr bwMode="auto">
            <a:xfrm>
              <a:off x="3491880"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28</a:t>
              </a:r>
              <a:endParaRPr lang="zh-CN" altLang="en-US" sz="1400" b="1">
                <a:latin typeface="Times New Roman" panose="02020603050405020304" pitchFamily="18" charset="0"/>
                <a:ea typeface="宋体" panose="02010600030101010101" pitchFamily="2" charset="-122"/>
              </a:endParaRPr>
            </a:p>
          </p:txBody>
        </p:sp>
        <p:cxnSp>
          <p:nvCxnSpPr>
            <p:cNvPr id="46" name="直接箭头连接符 15"/>
            <p:cNvCxnSpPr>
              <a:cxnSpLocks noChangeShapeType="1"/>
            </p:cNvCxnSpPr>
            <p:nvPr/>
          </p:nvCxnSpPr>
          <p:spPr bwMode="auto">
            <a:xfrm>
              <a:off x="3491880" y="3212976"/>
              <a:ext cx="249469"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47" name="椭圆 46"/>
          <p:cNvSpPr>
            <a:spLocks noChangeArrowheads="1"/>
          </p:cNvSpPr>
          <p:nvPr/>
        </p:nvSpPr>
        <p:spPr bwMode="auto">
          <a:xfrm>
            <a:off x="3717232" y="2992618"/>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cxnSp>
        <p:nvCxnSpPr>
          <p:cNvPr id="48" name="直接箭头连接符 47"/>
          <p:cNvCxnSpPr>
            <a:cxnSpLocks noChangeShapeType="1"/>
            <a:stCxn id="42" idx="5"/>
            <a:endCxn id="47" idx="1"/>
          </p:cNvCxnSpPr>
          <p:nvPr/>
        </p:nvCxnSpPr>
        <p:spPr bwMode="auto">
          <a:xfrm>
            <a:off x="3610075" y="2874746"/>
            <a:ext cx="186929" cy="180975"/>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49" name="直接箭头连接符 31"/>
          <p:cNvCxnSpPr>
            <a:cxnSpLocks noChangeShapeType="1"/>
          </p:cNvCxnSpPr>
          <p:nvPr/>
        </p:nvCxnSpPr>
        <p:spPr bwMode="auto">
          <a:xfrm flipH="1">
            <a:off x="3177879" y="2830694"/>
            <a:ext cx="161925" cy="215503"/>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sp>
        <p:nvSpPr>
          <p:cNvPr id="50" name="椭圆 32"/>
          <p:cNvSpPr>
            <a:spLocks noChangeArrowheads="1"/>
          </p:cNvSpPr>
          <p:nvPr/>
        </p:nvSpPr>
        <p:spPr bwMode="auto">
          <a:xfrm>
            <a:off x="2907606" y="3046197"/>
            <a:ext cx="53935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46</a:t>
            </a:r>
            <a:endParaRPr lang="zh-CN" altLang="en-US" sz="1400" b="1">
              <a:latin typeface="Times New Roman" panose="02020603050405020304" pitchFamily="18" charset="0"/>
              <a:ea typeface="宋体" panose="02010600030101010101" pitchFamily="2" charset="-122"/>
            </a:endParaRPr>
          </a:p>
        </p:txBody>
      </p:sp>
      <p:sp>
        <p:nvSpPr>
          <p:cNvPr id="51" name="椭圆 33"/>
          <p:cNvSpPr>
            <a:spLocks noChangeArrowheads="1"/>
          </p:cNvSpPr>
          <p:nvPr/>
        </p:nvSpPr>
        <p:spPr bwMode="auto">
          <a:xfrm>
            <a:off x="3446960" y="3596265"/>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50</a:t>
            </a:r>
            <a:endParaRPr lang="zh-CN" altLang="en-US" sz="1400" b="1">
              <a:latin typeface="Times New Roman" panose="02020603050405020304" pitchFamily="18" charset="0"/>
              <a:ea typeface="宋体" panose="02010600030101010101" pitchFamily="2" charset="-122"/>
            </a:endParaRPr>
          </a:p>
        </p:txBody>
      </p:sp>
      <p:cxnSp>
        <p:nvCxnSpPr>
          <p:cNvPr id="52" name="直接箭头连接符 34"/>
          <p:cNvCxnSpPr>
            <a:cxnSpLocks noChangeShapeType="1"/>
            <a:endCxn id="51" idx="1"/>
          </p:cNvCxnSpPr>
          <p:nvPr/>
        </p:nvCxnSpPr>
        <p:spPr bwMode="auto">
          <a:xfrm>
            <a:off x="3339804" y="3478393"/>
            <a:ext cx="186928" cy="180975"/>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53" name="组合 7"/>
          <p:cNvGrpSpPr/>
          <p:nvPr/>
        </p:nvGrpSpPr>
        <p:grpSpPr bwMode="auto">
          <a:xfrm>
            <a:off x="2857600" y="3964168"/>
            <a:ext cx="644129" cy="594122"/>
            <a:chOff x="2195736" y="3212976"/>
            <a:chExt cx="858978" cy="792088"/>
          </a:xfrm>
        </p:grpSpPr>
        <p:sp>
          <p:nvSpPr>
            <p:cNvPr id="54" name="椭圆 36"/>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48</a:t>
              </a:r>
              <a:endParaRPr lang="zh-CN" altLang="en-US" sz="1400" b="1">
                <a:latin typeface="Times New Roman" panose="02020603050405020304" pitchFamily="18" charset="0"/>
                <a:ea typeface="宋体" panose="02010600030101010101" pitchFamily="2" charset="-122"/>
              </a:endParaRPr>
            </a:p>
          </p:txBody>
        </p:sp>
        <p:cxnSp>
          <p:nvCxnSpPr>
            <p:cNvPr id="55" name="直接箭头连接符 37"/>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56" name="椭圆 39"/>
          <p:cNvSpPr>
            <a:spLocks noChangeArrowheads="1"/>
          </p:cNvSpPr>
          <p:nvPr/>
        </p:nvSpPr>
        <p:spPr bwMode="auto">
          <a:xfrm>
            <a:off x="5823448" y="1912722"/>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45</a:t>
            </a:r>
            <a:endParaRPr lang="zh-CN" altLang="en-US" sz="1400" b="1">
              <a:latin typeface="Times New Roman" panose="02020603050405020304" pitchFamily="18" charset="0"/>
              <a:ea typeface="宋体" panose="02010600030101010101" pitchFamily="2" charset="-122"/>
            </a:endParaRPr>
          </a:p>
        </p:txBody>
      </p:sp>
      <p:grpSp>
        <p:nvGrpSpPr>
          <p:cNvPr id="57" name="组合 4"/>
          <p:cNvGrpSpPr/>
          <p:nvPr/>
        </p:nvGrpSpPr>
        <p:grpSpPr bwMode="auto">
          <a:xfrm>
            <a:off x="5175748" y="2281624"/>
            <a:ext cx="736486" cy="549063"/>
            <a:chOff x="2915816" y="2553886"/>
            <a:chExt cx="982129" cy="731098"/>
          </a:xfrm>
        </p:grpSpPr>
        <p:sp>
          <p:nvSpPr>
            <p:cNvPr id="58" name="椭圆 41"/>
            <p:cNvSpPr>
              <a:spLocks noChangeArrowheads="1"/>
            </p:cNvSpPr>
            <p:nvPr/>
          </p:nvSpPr>
          <p:spPr bwMode="auto">
            <a:xfrm>
              <a:off x="2915816" y="270892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24</a:t>
              </a:r>
              <a:endParaRPr lang="zh-CN" altLang="en-US" sz="1400" b="1">
                <a:latin typeface="Times New Roman" panose="02020603050405020304" pitchFamily="18" charset="0"/>
                <a:ea typeface="宋体" panose="02010600030101010101" pitchFamily="2" charset="-122"/>
              </a:endParaRPr>
            </a:p>
          </p:txBody>
        </p:sp>
        <p:cxnSp>
          <p:nvCxnSpPr>
            <p:cNvPr id="59" name="直接箭头连接符 42"/>
            <p:cNvCxnSpPr>
              <a:cxnSpLocks noChangeShapeType="1"/>
              <a:stCxn id="56" idx="3"/>
              <a:endCxn id="58" idx="7"/>
            </p:cNvCxnSpPr>
            <p:nvPr/>
          </p:nvCxnSpPr>
          <p:spPr bwMode="auto">
            <a:xfrm flipH="1">
              <a:off x="3530443" y="2553886"/>
              <a:ext cx="367502" cy="239396"/>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grpSp>
        <p:nvGrpSpPr>
          <p:cNvPr id="60" name="组合 7"/>
          <p:cNvGrpSpPr/>
          <p:nvPr/>
        </p:nvGrpSpPr>
        <p:grpSpPr bwMode="auto">
          <a:xfrm>
            <a:off x="4635204" y="2777115"/>
            <a:ext cx="644128" cy="592931"/>
            <a:chOff x="2195736" y="3212976"/>
            <a:chExt cx="858978" cy="792088"/>
          </a:xfrm>
        </p:grpSpPr>
        <p:sp>
          <p:nvSpPr>
            <p:cNvPr id="61" name="椭圆 44"/>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12</a:t>
              </a:r>
              <a:endParaRPr lang="zh-CN" altLang="en-US" sz="1400" b="1">
                <a:latin typeface="Times New Roman" panose="02020603050405020304" pitchFamily="18" charset="0"/>
                <a:ea typeface="宋体" panose="02010600030101010101" pitchFamily="2" charset="-122"/>
              </a:endParaRPr>
            </a:p>
          </p:txBody>
        </p:sp>
        <p:cxnSp>
          <p:nvCxnSpPr>
            <p:cNvPr id="62" name="直接箭头连接符 45"/>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63" name="椭圆 62"/>
          <p:cNvSpPr>
            <a:spLocks noChangeArrowheads="1"/>
          </p:cNvSpPr>
          <p:nvPr/>
        </p:nvSpPr>
        <p:spPr bwMode="auto">
          <a:xfrm>
            <a:off x="6442573" y="2452074"/>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53</a:t>
            </a:r>
            <a:endParaRPr lang="zh-CN" altLang="en-US" sz="1400" b="1">
              <a:latin typeface="Times New Roman" panose="02020603050405020304" pitchFamily="18" charset="0"/>
              <a:ea typeface="宋体" panose="02010600030101010101" pitchFamily="2" charset="-122"/>
            </a:endParaRPr>
          </a:p>
        </p:txBody>
      </p:sp>
      <p:cxnSp>
        <p:nvCxnSpPr>
          <p:cNvPr id="64" name="直接箭头连接符 47"/>
          <p:cNvCxnSpPr>
            <a:cxnSpLocks noChangeShapeType="1"/>
          </p:cNvCxnSpPr>
          <p:nvPr/>
        </p:nvCxnSpPr>
        <p:spPr bwMode="auto">
          <a:xfrm>
            <a:off x="6309222" y="2290150"/>
            <a:ext cx="241697" cy="226219"/>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65" name="组合 13"/>
          <p:cNvGrpSpPr/>
          <p:nvPr/>
        </p:nvGrpSpPr>
        <p:grpSpPr bwMode="auto">
          <a:xfrm>
            <a:off x="5607944" y="2777115"/>
            <a:ext cx="539354" cy="647700"/>
            <a:chOff x="3491880" y="3212976"/>
            <a:chExt cx="720080" cy="864096"/>
          </a:xfrm>
        </p:grpSpPr>
        <p:sp>
          <p:nvSpPr>
            <p:cNvPr id="66" name="椭圆 49"/>
            <p:cNvSpPr>
              <a:spLocks noChangeArrowheads="1"/>
            </p:cNvSpPr>
            <p:nvPr/>
          </p:nvSpPr>
          <p:spPr bwMode="auto">
            <a:xfrm>
              <a:off x="3491880" y="3501008"/>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28</a:t>
              </a:r>
              <a:endParaRPr lang="zh-CN" altLang="en-US" sz="1400" b="1">
                <a:latin typeface="Times New Roman" panose="02020603050405020304" pitchFamily="18" charset="0"/>
                <a:ea typeface="宋体" panose="02010600030101010101" pitchFamily="2" charset="-122"/>
              </a:endParaRPr>
            </a:p>
          </p:txBody>
        </p:sp>
        <p:cxnSp>
          <p:nvCxnSpPr>
            <p:cNvPr id="67" name="直接箭头连接符 50"/>
            <p:cNvCxnSpPr>
              <a:cxnSpLocks noChangeShapeType="1"/>
            </p:cNvCxnSpPr>
            <p:nvPr/>
          </p:nvCxnSpPr>
          <p:spPr bwMode="auto">
            <a:xfrm>
              <a:off x="3491880" y="3212976"/>
              <a:ext cx="249469" cy="300387"/>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68" name="椭圆 51"/>
          <p:cNvSpPr>
            <a:spLocks noChangeArrowheads="1"/>
          </p:cNvSpPr>
          <p:nvPr/>
        </p:nvSpPr>
        <p:spPr bwMode="auto">
          <a:xfrm>
            <a:off x="7011691" y="2992618"/>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cxnSp>
        <p:nvCxnSpPr>
          <p:cNvPr id="69" name="直接箭头连接符 52"/>
          <p:cNvCxnSpPr>
            <a:cxnSpLocks noChangeShapeType="1"/>
            <a:stCxn id="63" idx="5"/>
            <a:endCxn id="68" idx="1"/>
          </p:cNvCxnSpPr>
          <p:nvPr/>
        </p:nvCxnSpPr>
        <p:spPr bwMode="auto">
          <a:xfrm>
            <a:off x="6903344" y="2874746"/>
            <a:ext cx="188119" cy="180975"/>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70" name="直接箭头连接符 53"/>
          <p:cNvCxnSpPr>
            <a:cxnSpLocks noChangeShapeType="1"/>
          </p:cNvCxnSpPr>
          <p:nvPr/>
        </p:nvCxnSpPr>
        <p:spPr bwMode="auto">
          <a:xfrm flipH="1">
            <a:off x="6472338" y="2830694"/>
            <a:ext cx="161925" cy="215503"/>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sp>
        <p:nvSpPr>
          <p:cNvPr id="71" name="椭圆 54"/>
          <p:cNvSpPr>
            <a:spLocks noChangeArrowheads="1"/>
          </p:cNvSpPr>
          <p:nvPr/>
        </p:nvSpPr>
        <p:spPr bwMode="auto">
          <a:xfrm>
            <a:off x="6202066" y="3046197"/>
            <a:ext cx="539353"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46</a:t>
            </a:r>
            <a:endParaRPr lang="zh-CN" altLang="en-US" sz="1400" b="1">
              <a:latin typeface="Times New Roman" panose="02020603050405020304" pitchFamily="18" charset="0"/>
              <a:ea typeface="宋体" panose="02010600030101010101" pitchFamily="2" charset="-122"/>
            </a:endParaRPr>
          </a:p>
        </p:txBody>
      </p:sp>
      <p:sp>
        <p:nvSpPr>
          <p:cNvPr id="72" name="椭圆 71"/>
          <p:cNvSpPr>
            <a:spLocks noChangeArrowheads="1"/>
          </p:cNvSpPr>
          <p:nvPr/>
        </p:nvSpPr>
        <p:spPr bwMode="auto">
          <a:xfrm>
            <a:off x="6741419" y="3596265"/>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50</a:t>
            </a:r>
            <a:endParaRPr lang="zh-CN" altLang="en-US" sz="1400" b="1">
              <a:latin typeface="Times New Roman" panose="02020603050405020304" pitchFamily="18" charset="0"/>
              <a:ea typeface="宋体" panose="02010600030101010101" pitchFamily="2" charset="-122"/>
            </a:endParaRPr>
          </a:p>
        </p:txBody>
      </p:sp>
      <p:cxnSp>
        <p:nvCxnSpPr>
          <p:cNvPr id="73" name="直接箭头连接符 56"/>
          <p:cNvCxnSpPr>
            <a:cxnSpLocks noChangeShapeType="1"/>
            <a:endCxn id="72" idx="1"/>
          </p:cNvCxnSpPr>
          <p:nvPr/>
        </p:nvCxnSpPr>
        <p:spPr bwMode="auto">
          <a:xfrm>
            <a:off x="6634262" y="3478393"/>
            <a:ext cx="186929" cy="180975"/>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nvGrpSpPr>
          <p:cNvPr id="74" name="组合 7"/>
          <p:cNvGrpSpPr/>
          <p:nvPr/>
        </p:nvGrpSpPr>
        <p:grpSpPr bwMode="auto">
          <a:xfrm>
            <a:off x="6152060" y="3964168"/>
            <a:ext cx="644128" cy="594122"/>
            <a:chOff x="2195736" y="3212976"/>
            <a:chExt cx="858978" cy="792088"/>
          </a:xfrm>
        </p:grpSpPr>
        <p:sp>
          <p:nvSpPr>
            <p:cNvPr id="75" name="椭圆 58"/>
            <p:cNvSpPr>
              <a:spLocks noChangeArrowheads="1"/>
            </p:cNvSpPr>
            <p:nvPr/>
          </p:nvSpPr>
          <p:spPr bwMode="auto">
            <a:xfrm>
              <a:off x="2195736" y="3429000"/>
              <a:ext cx="720080" cy="576064"/>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48</a:t>
              </a:r>
              <a:endParaRPr lang="zh-CN" altLang="en-US" sz="1400" b="1">
                <a:latin typeface="Times New Roman" panose="02020603050405020304" pitchFamily="18" charset="0"/>
                <a:ea typeface="宋体" panose="02010600030101010101" pitchFamily="2" charset="-122"/>
              </a:endParaRPr>
            </a:p>
          </p:txBody>
        </p:sp>
        <p:cxnSp>
          <p:nvCxnSpPr>
            <p:cNvPr id="76" name="直接箭头连接符 59"/>
            <p:cNvCxnSpPr>
              <a:cxnSpLocks noChangeShapeType="1"/>
            </p:cNvCxnSpPr>
            <p:nvPr/>
          </p:nvCxnSpPr>
          <p:spPr bwMode="auto">
            <a:xfrm flipH="1">
              <a:off x="2699792" y="3212976"/>
              <a:ext cx="354922" cy="240734"/>
            </a:xfrm>
            <a:prstGeom prst="straightConnector1">
              <a:avLst/>
            </a:prstGeom>
            <a:noFill/>
            <a:ln w="19050" algn="ctr">
              <a:solidFill>
                <a:schemeClr val="tx1"/>
              </a:solidFill>
              <a:round/>
              <a:tailEnd type="arrow" w="med" len="med"/>
            </a:ln>
            <a:extLst>
              <a:ext uri="{909E8E84-426E-40DD-AFC4-6F175D3DCCD1}">
                <a14:hiddenFill xmlns:a14="http://schemas.microsoft.com/office/drawing/2010/main">
                  <a:noFill/>
                </a14:hiddenFill>
              </a:ext>
            </a:extLst>
          </p:spPr>
        </p:cxnSp>
      </p:grpSp>
      <p:sp>
        <p:nvSpPr>
          <p:cNvPr id="77" name="矩形 60"/>
          <p:cNvSpPr>
            <a:spLocks noChangeArrowheads="1"/>
          </p:cNvSpPr>
          <p:nvPr/>
        </p:nvSpPr>
        <p:spPr bwMode="auto">
          <a:xfrm>
            <a:off x="4581625" y="4623775"/>
            <a:ext cx="3429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b="1">
                <a:latin typeface="Times New Roman" panose="02020603050405020304" pitchFamily="18" charset="0"/>
                <a:ea typeface="宋体" panose="02010600030101010101" pitchFamily="2" charset="-122"/>
              </a:rPr>
              <a:t>2</a:t>
            </a:r>
            <a:r>
              <a:rPr lang="zh-CN" altLang="en-US" sz="1800" b="1">
                <a:latin typeface="Times New Roman" panose="02020603050405020304" pitchFamily="18" charset="0"/>
                <a:ea typeface="宋体" panose="02010600030101010101" pitchFamily="2" charset="-122"/>
              </a:rPr>
              <a:t>、取</a:t>
            </a:r>
            <a:r>
              <a:rPr lang="zh-CN" altLang="en-US" sz="1800" b="1">
                <a:solidFill>
                  <a:srgbClr val="FF0000"/>
                </a:solidFill>
                <a:latin typeface="Times New Roman" panose="02020603050405020304" pitchFamily="18" charset="0"/>
                <a:ea typeface="宋体" panose="02010600030101010101" pitchFamily="2" charset="-122"/>
              </a:rPr>
              <a:t>左子树中的最大元素</a:t>
            </a:r>
            <a:r>
              <a:rPr lang="zh-CN" altLang="en-US" sz="1800" b="1">
                <a:latin typeface="Times New Roman" panose="02020603050405020304" pitchFamily="18" charset="0"/>
                <a:ea typeface="宋体" panose="02010600030101010101" pitchFamily="2" charset="-122"/>
              </a:rPr>
              <a:t>替代 </a:t>
            </a:r>
            <a:endParaRPr lang="zh-CN" altLang="en-US" sz="1800">
              <a:latin typeface="Times New Roman" panose="02020603050405020304" pitchFamily="18" charset="0"/>
              <a:ea typeface="宋体" panose="02010600030101010101" pitchFamily="2" charset="-122"/>
            </a:endParaRPr>
          </a:p>
        </p:txBody>
      </p:sp>
      <p:sp>
        <p:nvSpPr>
          <p:cNvPr id="78" name="矩形 61"/>
          <p:cNvSpPr>
            <a:spLocks noChangeArrowheads="1"/>
          </p:cNvSpPr>
          <p:nvPr/>
        </p:nvSpPr>
        <p:spPr bwMode="auto">
          <a:xfrm>
            <a:off x="1152625" y="4623775"/>
            <a:ext cx="34290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b="1">
                <a:latin typeface="Times New Roman" panose="02020603050405020304" pitchFamily="18" charset="0"/>
                <a:ea typeface="宋体" panose="02010600030101010101" pitchFamily="2" charset="-122"/>
              </a:rPr>
              <a:t>1</a:t>
            </a:r>
            <a:r>
              <a:rPr lang="zh-CN" altLang="en-US" sz="1800" b="1">
                <a:latin typeface="Times New Roman" panose="02020603050405020304" pitchFamily="18" charset="0"/>
                <a:ea typeface="宋体" panose="02010600030101010101" pitchFamily="2" charset="-122"/>
              </a:rPr>
              <a:t>、取</a:t>
            </a:r>
            <a:r>
              <a:rPr lang="zh-CN" altLang="en-US" sz="1800" b="1">
                <a:solidFill>
                  <a:srgbClr val="FF0000"/>
                </a:solidFill>
                <a:latin typeface="Times New Roman" panose="02020603050405020304" pitchFamily="18" charset="0"/>
                <a:ea typeface="宋体" panose="02010600030101010101" pitchFamily="2" charset="-122"/>
              </a:rPr>
              <a:t>右子树中的最小元素</a:t>
            </a:r>
            <a:r>
              <a:rPr lang="zh-CN" altLang="en-US" sz="1800" b="1">
                <a:latin typeface="Times New Roman" panose="02020603050405020304" pitchFamily="18" charset="0"/>
                <a:ea typeface="宋体" panose="02010600030101010101" pitchFamily="2" charset="-122"/>
              </a:rPr>
              <a:t>替代 </a:t>
            </a:r>
            <a:endParaRPr lang="zh-CN" altLang="en-US" sz="1800">
              <a:latin typeface="Times New Roman" panose="02020603050405020304" pitchFamily="18" charset="0"/>
              <a:ea typeface="宋体" panose="02010600030101010101" pitchFamily="2" charset="-122"/>
            </a:endParaRPr>
          </a:p>
        </p:txBody>
      </p:sp>
      <p:sp>
        <p:nvSpPr>
          <p:cNvPr id="79" name="椭圆 78"/>
          <p:cNvSpPr>
            <a:spLocks noChangeArrowheads="1"/>
          </p:cNvSpPr>
          <p:nvPr/>
        </p:nvSpPr>
        <p:spPr bwMode="auto">
          <a:xfrm>
            <a:off x="3143350" y="2452074"/>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90</a:t>
            </a:r>
            <a:endParaRPr lang="zh-CN" altLang="en-US" sz="1400" b="1">
              <a:latin typeface="Times New Roman" panose="02020603050405020304" pitchFamily="18" charset="0"/>
              <a:ea typeface="宋体" panose="02010600030101010101" pitchFamily="2" charset="-122"/>
            </a:endParaRPr>
          </a:p>
        </p:txBody>
      </p:sp>
      <p:sp>
        <p:nvSpPr>
          <p:cNvPr id="80" name="椭圆 79"/>
          <p:cNvSpPr>
            <a:spLocks noChangeArrowheads="1"/>
          </p:cNvSpPr>
          <p:nvPr/>
        </p:nvSpPr>
        <p:spPr bwMode="auto">
          <a:xfrm>
            <a:off x="6452098" y="2452074"/>
            <a:ext cx="539353"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a:latin typeface="Times New Roman" panose="02020603050405020304" pitchFamily="18" charset="0"/>
                <a:ea typeface="宋体" panose="02010600030101010101" pitchFamily="2" charset="-122"/>
              </a:rPr>
              <a:t>50</a:t>
            </a:r>
            <a:endParaRPr lang="zh-CN" altLang="en-US" sz="1400" b="1">
              <a:latin typeface="Times New Roman" panose="02020603050405020304" pitchFamily="18" charset="0"/>
              <a:ea typeface="宋体" panose="02010600030101010101" pitchFamily="2" charset="-122"/>
            </a:endParaRPr>
          </a:p>
        </p:txBody>
      </p:sp>
      <p:sp>
        <p:nvSpPr>
          <p:cNvPr id="81" name="椭圆 80"/>
          <p:cNvSpPr>
            <a:spLocks noChangeArrowheads="1"/>
          </p:cNvSpPr>
          <p:nvPr/>
        </p:nvSpPr>
        <p:spPr bwMode="auto">
          <a:xfrm>
            <a:off x="6744991" y="3586740"/>
            <a:ext cx="540544" cy="432197"/>
          </a:xfrm>
          <a:prstGeom prst="ellipse">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400" b="1" dirty="0" smtClean="0">
                <a:latin typeface="Times New Roman" panose="02020603050405020304" pitchFamily="18" charset="0"/>
                <a:ea typeface="宋体" panose="02010600030101010101" pitchFamily="2" charset="-122"/>
              </a:rPr>
              <a:t>48</a:t>
            </a:r>
            <a:endParaRPr lang="zh-CN" altLang="en-US" sz="1400" b="1" dirty="0">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42"/>
                                        </p:tgtEl>
                                      </p:cBhvr>
                                    </p:animEffect>
                                    <p:set>
                                      <p:cBhvr>
                                        <p:cTn id="7" dur="1" fill="hold">
                                          <p:stCondLst>
                                            <p:cond delay="499"/>
                                          </p:stCondLst>
                                        </p:cTn>
                                        <p:tgtEl>
                                          <p:spTgt spid="4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48"/>
                                        </p:tgtEl>
                                      </p:cBhvr>
                                    </p:animEffect>
                                    <p:set>
                                      <p:cBhvr>
                                        <p:cTn id="12" dur="1" fill="hold">
                                          <p:stCondLst>
                                            <p:cond delay="499"/>
                                          </p:stCondLst>
                                        </p:cTn>
                                        <p:tgtEl>
                                          <p:spTgt spid="48"/>
                                        </p:tgtEl>
                                        <p:attrNameLst>
                                          <p:attrName>style.visibility</p:attrName>
                                        </p:attrNameLst>
                                      </p:cBhvr>
                                      <p:to>
                                        <p:strVal val="hidden"/>
                                      </p:to>
                                    </p:set>
                                  </p:childTnLst>
                                </p:cTn>
                              </p:par>
                              <p:par>
                                <p:cTn id="13" presetID="9" presetClass="exit" presetSubtype="0" fill="hold" grpId="0" nodeType="withEffect">
                                  <p:stCondLst>
                                    <p:cond delay="0"/>
                                  </p:stCondLst>
                                  <p:childTnLst>
                                    <p:animEffect transition="out" filter="dissolve">
                                      <p:cBhvr>
                                        <p:cTn id="14" dur="500"/>
                                        <p:tgtEl>
                                          <p:spTgt spid="47"/>
                                        </p:tgtEl>
                                      </p:cBhvr>
                                    </p:animEffect>
                                    <p:set>
                                      <p:cBhvr>
                                        <p:cTn id="15" dur="1" fill="hold">
                                          <p:stCondLst>
                                            <p:cond delay="499"/>
                                          </p:stCondLst>
                                        </p:cTn>
                                        <p:tgtEl>
                                          <p:spTgt spid="47"/>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dissolve">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xit" presetSubtype="0" fill="hold" grpId="0" nodeType="clickEffect">
                                  <p:stCondLst>
                                    <p:cond delay="0"/>
                                  </p:stCondLst>
                                  <p:childTnLst>
                                    <p:animEffect transition="out" filter="dissolve">
                                      <p:cBhvr>
                                        <p:cTn id="24" dur="500"/>
                                        <p:tgtEl>
                                          <p:spTgt spid="63"/>
                                        </p:tgtEl>
                                      </p:cBhvr>
                                    </p:animEffect>
                                    <p:set>
                                      <p:cBhvr>
                                        <p:cTn id="25" dur="1" fill="hold">
                                          <p:stCondLst>
                                            <p:cond delay="499"/>
                                          </p:stCondLst>
                                        </p:cTn>
                                        <p:tgtEl>
                                          <p:spTgt spid="63"/>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9" presetClass="exit" presetSubtype="0" fill="hold" grpId="0" nodeType="clickEffect">
                                  <p:stCondLst>
                                    <p:cond delay="0"/>
                                  </p:stCondLst>
                                  <p:childTnLst>
                                    <p:animEffect transition="out" filter="dissolve">
                                      <p:cBhvr>
                                        <p:cTn id="29" dur="500"/>
                                        <p:tgtEl>
                                          <p:spTgt spid="72"/>
                                        </p:tgtEl>
                                      </p:cBhvr>
                                    </p:animEffect>
                                    <p:set>
                                      <p:cBhvr>
                                        <p:cTn id="30" dur="1" fill="hold">
                                          <p:stCondLst>
                                            <p:cond delay="499"/>
                                          </p:stCondLst>
                                        </p:cTn>
                                        <p:tgtEl>
                                          <p:spTgt spid="7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80"/>
                                        </p:tgtEl>
                                        <p:attrNameLst>
                                          <p:attrName>style.visibility</p:attrName>
                                        </p:attrNameLst>
                                      </p:cBhvr>
                                      <p:to>
                                        <p:strVal val="visible"/>
                                      </p:to>
                                    </p:set>
                                    <p:animEffect transition="in" filter="dissolve">
                                      <p:cBhvr>
                                        <p:cTn id="35" dur="500"/>
                                        <p:tgtEl>
                                          <p:spTgt spid="80"/>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xit" presetSubtype="0" fill="hold" nodeType="clickEffect">
                                  <p:stCondLst>
                                    <p:cond delay="0"/>
                                  </p:stCondLst>
                                  <p:childTnLst>
                                    <p:animEffect transition="out" filter="dissolve">
                                      <p:cBhvr>
                                        <p:cTn id="39" dur="500"/>
                                        <p:tgtEl>
                                          <p:spTgt spid="74"/>
                                        </p:tgtEl>
                                      </p:cBhvr>
                                    </p:animEffect>
                                    <p:set>
                                      <p:cBhvr>
                                        <p:cTn id="40" dur="1" fill="hold">
                                          <p:stCondLst>
                                            <p:cond delay="499"/>
                                          </p:stCondLst>
                                        </p:cTn>
                                        <p:tgtEl>
                                          <p:spTgt spid="74"/>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81"/>
                                        </p:tgtEl>
                                        <p:attrNameLst>
                                          <p:attrName>style.visibility</p:attrName>
                                        </p:attrNameLst>
                                      </p:cBhvr>
                                      <p:to>
                                        <p:strVal val="visible"/>
                                      </p:to>
                                    </p:set>
                                    <p:animEffect transition="in" filter="dissolve">
                                      <p:cBhvr>
                                        <p:cTn id="45"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7" grpId="0" animBg="1"/>
      <p:bldP spid="63" grpId="0" animBg="1"/>
      <p:bldP spid="72" grpId="0" animBg="1"/>
      <p:bldP spid="79" grpId="0" animBg="1"/>
      <p:bldP spid="80" grpId="0" animBg="1"/>
      <p:bldP spid="8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spcBef>
                <a:spcPct val="0"/>
              </a:spcBef>
            </a:pPr>
            <a:r>
              <a:rPr lang="en-US" altLang="zh-CN" sz="2100" dirty="0" err="1" smtClean="0">
                <a:solidFill>
                  <a:srgbClr val="00194C"/>
                </a:solidFill>
                <a:latin typeface="华文楷体" panose="02010600040101010101" pitchFamily="2" charset="-122"/>
                <a:ea typeface="华文楷体" panose="02010600040101010101" pitchFamily="2" charset="-122"/>
              </a:rPr>
              <a:t>BiTree</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Delete ( </a:t>
            </a:r>
            <a:r>
              <a:rPr lang="en-US" altLang="zh-CN" sz="2100" dirty="0" err="1">
                <a:solidFill>
                  <a:srgbClr val="00194C"/>
                </a:solidFill>
                <a:latin typeface="华文楷体" panose="02010600040101010101" pitchFamily="2" charset="-122"/>
                <a:ea typeface="华文楷体" panose="02010600040101010101" pitchFamily="2" charset="-122"/>
              </a:rPr>
              <a:t>TElemType</a:t>
            </a:r>
            <a:r>
              <a:rPr lang="en-US" altLang="zh-CN" sz="2100" dirty="0">
                <a:solidFill>
                  <a:srgbClr val="00194C"/>
                </a:solidFill>
                <a:latin typeface="华文楷体" panose="02010600040101010101" pitchFamily="2" charset="-122"/>
                <a:ea typeface="华文楷体" panose="02010600040101010101" pitchFamily="2" charset="-122"/>
              </a:rPr>
              <a:t> X, </a:t>
            </a:r>
            <a:r>
              <a:rPr lang="en-US" altLang="zh-CN" sz="2100" dirty="0" err="1">
                <a:solidFill>
                  <a:srgbClr val="00194C"/>
                </a:solidFill>
                <a:latin typeface="华文楷体" panose="02010600040101010101" pitchFamily="2" charset="-122"/>
                <a:ea typeface="华文楷体" panose="02010600040101010101" pitchFamily="2" charset="-122"/>
              </a:rPr>
              <a:t>BiTree</a:t>
            </a:r>
            <a:r>
              <a:rPr lang="en-US" altLang="zh-CN" sz="2100" dirty="0">
                <a:solidFill>
                  <a:srgbClr val="00194C"/>
                </a:solidFill>
                <a:latin typeface="华文楷体" panose="02010600040101010101" pitchFamily="2" charset="-122"/>
                <a:ea typeface="华文楷体" panose="02010600040101010101" pitchFamily="2" charset="-122"/>
              </a:rPr>
              <a:t> BST ) </a:t>
            </a:r>
            <a:r>
              <a:rPr lang="en-US" altLang="zh-CN"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err="1" smtClean="0">
                <a:solidFill>
                  <a:srgbClr val="00194C"/>
                </a:solidFill>
                <a:latin typeface="华文楷体" panose="02010600040101010101" pitchFamily="2" charset="-122"/>
                <a:ea typeface="华文楷体" panose="02010600040101010101" pitchFamily="2" charset="-122"/>
              </a:rPr>
              <a:t>BiTree</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p; </a:t>
            </a:r>
            <a:endParaRPr lang="en-US" altLang="zh-CN" sz="2100" dirty="0">
              <a:solidFill>
                <a:srgbClr val="00194C"/>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if( !BST ) </a:t>
            </a:r>
            <a:r>
              <a:rPr lang="en-US" altLang="zh-CN" sz="2100" dirty="0" err="1">
                <a:solidFill>
                  <a:srgbClr val="00194C"/>
                </a:solidFill>
                <a:latin typeface="华文楷体" panose="02010600040101010101" pitchFamily="2" charset="-122"/>
                <a:ea typeface="华文楷体" panose="02010600040101010101" pitchFamily="2" charset="-122"/>
              </a:rPr>
              <a:t>printf</a:t>
            </a:r>
            <a:r>
              <a:rPr lang="en-US" altLang="zh-CN" sz="2100" dirty="0">
                <a:solidFill>
                  <a:srgbClr val="00194C"/>
                </a:solidFill>
                <a:latin typeface="华文楷体" panose="02010600040101010101" pitchFamily="2" charset="-122"/>
                <a:ea typeface="华文楷体" panose="02010600040101010101" pitchFamily="2" charset="-122"/>
              </a:rPr>
              <a:t>("</a:t>
            </a:r>
            <a:r>
              <a:rPr lang="zh-CN" altLang="en-US" sz="2100" dirty="0">
                <a:solidFill>
                  <a:srgbClr val="00194C"/>
                </a:solidFill>
                <a:latin typeface="华文楷体" panose="02010600040101010101" pitchFamily="2" charset="-122"/>
                <a:ea typeface="华文楷体" panose="02010600040101010101" pitchFamily="2" charset="-122"/>
              </a:rPr>
              <a:t>要删除的元素未找到</a:t>
            </a:r>
            <a:r>
              <a:rPr lang="en-US" altLang="zh-CN" sz="2100" dirty="0">
                <a:solidFill>
                  <a:srgbClr val="00194C"/>
                </a:solidFill>
                <a:latin typeface="华文楷体" panose="02010600040101010101" pitchFamily="2" charset="-122"/>
                <a:ea typeface="华文楷体" panose="02010600040101010101" pitchFamily="2" charset="-122"/>
              </a:rPr>
              <a:t>");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else </a:t>
            </a:r>
            <a:r>
              <a:rPr lang="en-US" altLang="zh-CN" sz="2100" dirty="0">
                <a:solidFill>
                  <a:srgbClr val="00194C"/>
                </a:solidFill>
                <a:latin typeface="华文楷体" panose="02010600040101010101" pitchFamily="2" charset="-122"/>
                <a:ea typeface="华文楷体" panose="02010600040101010101" pitchFamily="2" charset="-122"/>
              </a:rPr>
              <a:t>if( X &lt; BST-&gt;data )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BST-</a:t>
            </a:r>
            <a:r>
              <a:rPr lang="en-US" altLang="zh-CN" sz="2100" dirty="0">
                <a:solidFill>
                  <a:srgbClr val="00194C"/>
                </a:solidFill>
                <a:latin typeface="华文楷体" panose="02010600040101010101" pitchFamily="2" charset="-122"/>
                <a:ea typeface="华文楷体" panose="02010600040101010101" pitchFamily="2" charset="-122"/>
              </a:rPr>
              <a:t>&gt;</a:t>
            </a:r>
            <a:r>
              <a:rPr lang="en-US" altLang="zh-CN" sz="2100" dirty="0" err="1">
                <a:solidFill>
                  <a:srgbClr val="00194C"/>
                </a:solidFill>
                <a:latin typeface="华文楷体" panose="02010600040101010101" pitchFamily="2" charset="-122"/>
                <a:ea typeface="华文楷体" panose="02010600040101010101" pitchFamily="2" charset="-122"/>
              </a:rPr>
              <a:t>lchild</a:t>
            </a:r>
            <a:r>
              <a:rPr lang="en-US" altLang="zh-CN" sz="2100" dirty="0">
                <a:solidFill>
                  <a:srgbClr val="00194C"/>
                </a:solidFill>
                <a:latin typeface="华文楷体" panose="02010600040101010101" pitchFamily="2" charset="-122"/>
                <a:ea typeface="华文楷体" panose="02010600040101010101" pitchFamily="2" charset="-122"/>
              </a:rPr>
              <a:t> = Delete( X, BST-&gt; </a:t>
            </a:r>
            <a:r>
              <a:rPr lang="en-US" altLang="zh-CN" sz="2100" dirty="0" err="1">
                <a:solidFill>
                  <a:srgbClr val="00194C"/>
                </a:solidFill>
                <a:latin typeface="华文楷体" panose="02010600040101010101" pitchFamily="2" charset="-122"/>
                <a:ea typeface="华文楷体" panose="02010600040101010101" pitchFamily="2" charset="-122"/>
              </a:rPr>
              <a:t>lchild</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 </a:t>
            </a:r>
            <a:r>
              <a:rPr lang="zh-CN" altLang="en-US" sz="2100" dirty="0">
                <a:solidFill>
                  <a:srgbClr val="00B050"/>
                </a:solidFill>
                <a:latin typeface="华文楷体" panose="02010600040101010101" pitchFamily="2" charset="-122"/>
                <a:ea typeface="华文楷体" panose="02010600040101010101" pitchFamily="2" charset="-122"/>
              </a:rPr>
              <a:t>左子树递归删除 *</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else if( X &gt; BST-&gt;data )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BST-&gt;</a:t>
            </a:r>
            <a:r>
              <a:rPr lang="en-US" altLang="zh-CN" sz="2100" dirty="0" err="1">
                <a:solidFill>
                  <a:srgbClr val="00194C"/>
                </a:solidFill>
                <a:latin typeface="华文楷体" panose="02010600040101010101" pitchFamily="2" charset="-122"/>
                <a:ea typeface="华文楷体" panose="02010600040101010101" pitchFamily="2" charset="-122"/>
              </a:rPr>
              <a:t>rchild</a:t>
            </a:r>
            <a:r>
              <a:rPr lang="en-US" altLang="zh-CN" sz="2100" dirty="0">
                <a:solidFill>
                  <a:srgbClr val="00194C"/>
                </a:solidFill>
                <a:latin typeface="华文楷体" panose="02010600040101010101" pitchFamily="2" charset="-122"/>
                <a:ea typeface="华文楷体" panose="02010600040101010101" pitchFamily="2" charset="-122"/>
              </a:rPr>
              <a:t> = Delete( X, BST-&gt; </a:t>
            </a:r>
            <a:r>
              <a:rPr lang="en-US" altLang="zh-CN" sz="2100" dirty="0" err="1">
                <a:solidFill>
                  <a:srgbClr val="00194C"/>
                </a:solidFill>
                <a:latin typeface="华文楷体" panose="02010600040101010101" pitchFamily="2" charset="-122"/>
                <a:ea typeface="华文楷体" panose="02010600040101010101" pitchFamily="2" charset="-122"/>
              </a:rPr>
              <a:t>rchild</a:t>
            </a: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B050"/>
                </a:solidFill>
                <a:latin typeface="华文楷体" panose="02010600040101010101" pitchFamily="2" charset="-122"/>
                <a:ea typeface="华文楷体" panose="02010600040101010101" pitchFamily="2" charset="-122"/>
              </a:rPr>
              <a:t>/* </a:t>
            </a:r>
            <a:r>
              <a:rPr lang="zh-CN" altLang="en-US" sz="2100" dirty="0">
                <a:solidFill>
                  <a:srgbClr val="00B050"/>
                </a:solidFill>
                <a:latin typeface="华文楷体" panose="02010600040101010101" pitchFamily="2" charset="-122"/>
                <a:ea typeface="华文楷体" panose="02010600040101010101" pitchFamily="2" charset="-122"/>
              </a:rPr>
              <a:t>右子树递归删除 *</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en-US" altLang="zh-CN" sz="2100" dirty="0" smtClean="0">
              <a:solidFill>
                <a:srgbClr val="00B050"/>
              </a:solidFill>
              <a:latin typeface="华文楷体" panose="02010600040101010101" pitchFamily="2" charset="-122"/>
              <a:ea typeface="华文楷体" panose="02010600040101010101" pitchFamily="2" charset="-122"/>
            </a:endParaRPr>
          </a:p>
          <a:p>
            <a:pPr eaLnBrk="1" hangingPunct="1">
              <a:spcBef>
                <a:spcPct val="0"/>
              </a:spcBef>
            </a:pPr>
            <a:r>
              <a:rPr lang="en-US" altLang="zh-CN" sz="2100" dirty="0" smtClean="0">
                <a:solidFill>
                  <a:srgbClr val="00194C"/>
                </a:solidFill>
                <a:latin typeface="华文楷体" panose="02010600040101010101" pitchFamily="2" charset="-122"/>
                <a:ea typeface="华文楷体" panose="02010600040101010101" pitchFamily="2" charset="-122"/>
              </a:rPr>
              <a:t>    else    </a:t>
            </a:r>
            <a:r>
              <a:rPr lang="en-US" altLang="zh-CN" sz="2100" dirty="0">
                <a:solidFill>
                  <a:srgbClr val="00B050"/>
                </a:solidFill>
                <a:latin typeface="华文楷体" panose="02010600040101010101" pitchFamily="2" charset="-122"/>
                <a:ea typeface="华文楷体" panose="02010600040101010101" pitchFamily="2" charset="-122"/>
              </a:rPr>
              <a:t>/*</a:t>
            </a:r>
            <a:r>
              <a:rPr lang="zh-CN" altLang="en-US" sz="2100" dirty="0">
                <a:solidFill>
                  <a:srgbClr val="00B050"/>
                </a:solidFill>
                <a:latin typeface="华文楷体" panose="02010600040101010101" pitchFamily="2" charset="-122"/>
                <a:ea typeface="华文楷体" panose="02010600040101010101" pitchFamily="2" charset="-122"/>
              </a:rPr>
              <a:t>找到要删除的结点 *</a:t>
            </a:r>
            <a:r>
              <a:rPr lang="en-US" altLang="zh-CN" sz="2100" dirty="0" smtClean="0">
                <a:solidFill>
                  <a:srgbClr val="00B050"/>
                </a:solidFill>
                <a:latin typeface="华文楷体" panose="02010600040101010101" pitchFamily="2" charset="-122"/>
                <a:ea typeface="华文楷体" panose="02010600040101010101" pitchFamily="2" charset="-122"/>
              </a:rPr>
              <a:t>/</a:t>
            </a:r>
            <a:endParaRPr lang="zh-CN" altLang="en-US" sz="2100" dirty="0">
              <a:solidFill>
                <a:srgbClr val="00B050"/>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440688"/>
          </a:xfrm>
        </p:spPr>
        <p:txBody>
          <a:bodyPr/>
          <a:lstStyle/>
          <a:p>
            <a:pPr marL="339725" lvl="2" indent="-339725">
              <a:lnSpc>
                <a:spcPct val="100000"/>
              </a:lnSpc>
            </a:pPr>
            <a:r>
              <a:rPr lang="en-US" altLang="zh-CN" sz="1800" dirty="0" smtClean="0">
                <a:solidFill>
                  <a:srgbClr val="00194C"/>
                </a:solidFill>
                <a:latin typeface="华文楷体" panose="02010600040101010101" pitchFamily="2" charset="-122"/>
                <a:ea typeface="华文楷体" panose="02010600040101010101" pitchFamily="2" charset="-122"/>
              </a:rPr>
              <a:t>if</a:t>
            </a:r>
            <a:r>
              <a:rPr lang="en-US" altLang="zh-CN" sz="1800" dirty="0">
                <a:solidFill>
                  <a:srgbClr val="00194C"/>
                </a:solidFill>
                <a:latin typeface="华文楷体" panose="02010600040101010101" pitchFamily="2" charset="-122"/>
                <a:ea typeface="华文楷体" panose="02010600040101010101" pitchFamily="2" charset="-122"/>
              </a:rPr>
              <a:t>( BST-&gt; </a:t>
            </a:r>
            <a:r>
              <a:rPr lang="en-US" altLang="zh-CN" sz="1800" dirty="0" err="1">
                <a:solidFill>
                  <a:srgbClr val="00194C"/>
                </a:solidFill>
                <a:latin typeface="华文楷体" panose="02010600040101010101" pitchFamily="2" charset="-122"/>
                <a:ea typeface="华文楷体" panose="02010600040101010101" pitchFamily="2" charset="-122"/>
              </a:rPr>
              <a:t>lchild</a:t>
            </a:r>
            <a:r>
              <a:rPr lang="en-US" altLang="zh-CN" sz="1800" dirty="0">
                <a:solidFill>
                  <a:srgbClr val="00194C"/>
                </a:solidFill>
                <a:latin typeface="华文楷体" panose="02010600040101010101" pitchFamily="2" charset="-122"/>
                <a:ea typeface="华文楷体" panose="02010600040101010101" pitchFamily="2" charset="-122"/>
              </a:rPr>
              <a:t> &amp;&amp; BST-&gt;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B050"/>
                </a:solidFill>
                <a:latin typeface="华文楷体" panose="02010600040101010101" pitchFamily="2" charset="-122"/>
                <a:ea typeface="华文楷体" panose="02010600040101010101" pitchFamily="2" charset="-122"/>
              </a:rPr>
              <a:t>/*</a:t>
            </a:r>
            <a:r>
              <a:rPr lang="zh-CN" altLang="en-US" sz="1800" dirty="0">
                <a:solidFill>
                  <a:srgbClr val="00B050"/>
                </a:solidFill>
                <a:latin typeface="华文楷体" panose="02010600040101010101" pitchFamily="2" charset="-122"/>
                <a:ea typeface="华文楷体" panose="02010600040101010101" pitchFamily="2" charset="-122"/>
              </a:rPr>
              <a:t>被删除结点有左右两</a:t>
            </a:r>
            <a:r>
              <a:rPr lang="zh-CN" altLang="en-US" sz="1800" dirty="0" smtClean="0">
                <a:solidFill>
                  <a:srgbClr val="00B050"/>
                </a:solidFill>
                <a:latin typeface="华文楷体" panose="02010600040101010101" pitchFamily="2" charset="-122"/>
                <a:ea typeface="华文楷体" panose="02010600040101010101" pitchFamily="2" charset="-122"/>
              </a:rPr>
              <a:t>个孩子 </a:t>
            </a:r>
            <a:r>
              <a:rPr lang="zh-CN" altLang="en-US" sz="1800" dirty="0">
                <a:solidFill>
                  <a:srgbClr val="00B050"/>
                </a:solidFill>
                <a:latin typeface="华文楷体" panose="02010600040101010101" pitchFamily="2" charset="-122"/>
                <a:ea typeface="华文楷体" panose="02010600040101010101" pitchFamily="2" charset="-122"/>
              </a:rPr>
              <a:t>*</a:t>
            </a:r>
            <a:r>
              <a:rPr lang="en-US" altLang="zh-CN" sz="1800" dirty="0" smtClean="0">
                <a:solidFill>
                  <a:srgbClr val="00B050"/>
                </a:solidFill>
                <a:latin typeface="华文楷体" panose="02010600040101010101" pitchFamily="2" charset="-122"/>
                <a:ea typeface="华文楷体" panose="02010600040101010101" pitchFamily="2" charset="-122"/>
              </a:rPr>
              <a:t>/</a:t>
            </a:r>
            <a:endParaRPr lang="en-US" altLang="zh-CN" sz="18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ct val="100000"/>
              </a:lnSpc>
            </a:pPr>
            <a:r>
              <a:rPr lang="en-US" altLang="zh-CN" sz="1800" dirty="0" smtClean="0">
                <a:solidFill>
                  <a:srgbClr val="00194C"/>
                </a:solidFill>
                <a:latin typeface="华文楷体" panose="02010600040101010101" pitchFamily="2" charset="-122"/>
                <a:ea typeface="华文楷体" panose="02010600040101010101" pitchFamily="2" charset="-122"/>
              </a:rPr>
              <a:t>      p </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err="1">
                <a:solidFill>
                  <a:srgbClr val="00194C"/>
                </a:solidFill>
                <a:latin typeface="华文楷体" panose="02010600040101010101" pitchFamily="2" charset="-122"/>
                <a:ea typeface="华文楷体" panose="02010600040101010101" pitchFamily="2" charset="-122"/>
              </a:rPr>
              <a:t>FindMin</a:t>
            </a:r>
            <a:r>
              <a:rPr lang="en-US" altLang="zh-CN" sz="1800" dirty="0">
                <a:solidFill>
                  <a:srgbClr val="00194C"/>
                </a:solidFill>
                <a:latin typeface="华文楷体" panose="02010600040101010101" pitchFamily="2" charset="-122"/>
                <a:ea typeface="华文楷体" panose="02010600040101010101" pitchFamily="2" charset="-122"/>
              </a:rPr>
              <a:t>( BST-&gt;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B050"/>
                </a:solidFill>
                <a:latin typeface="华文楷体" panose="02010600040101010101" pitchFamily="2" charset="-122"/>
                <a:ea typeface="华文楷体" panose="02010600040101010101" pitchFamily="2" charset="-122"/>
              </a:rPr>
              <a:t>/*</a:t>
            </a:r>
            <a:r>
              <a:rPr lang="zh-CN" altLang="en-US" sz="1800" dirty="0">
                <a:solidFill>
                  <a:srgbClr val="00B050"/>
                </a:solidFill>
                <a:latin typeface="华文楷体" panose="02010600040101010101" pitchFamily="2" charset="-122"/>
                <a:ea typeface="华文楷体" panose="02010600040101010101" pitchFamily="2" charset="-122"/>
              </a:rPr>
              <a:t>在右子树中找最小的元素填充删除结点*</a:t>
            </a:r>
            <a:r>
              <a:rPr lang="en-US" altLang="zh-CN" sz="1800" dirty="0" smtClean="0">
                <a:solidFill>
                  <a:srgbClr val="00B050"/>
                </a:solidFill>
                <a:latin typeface="华文楷体" panose="02010600040101010101" pitchFamily="2" charset="-122"/>
                <a:ea typeface="华文楷体" panose="02010600040101010101" pitchFamily="2" charset="-122"/>
              </a:rPr>
              <a:t>/</a:t>
            </a:r>
            <a:endParaRPr lang="en-US" altLang="zh-CN" sz="18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ct val="100000"/>
              </a:lnSpc>
            </a:pPr>
            <a:r>
              <a:rPr lang="en-US" altLang="zh-CN" sz="1800" dirty="0" smtClean="0">
                <a:solidFill>
                  <a:srgbClr val="00194C"/>
                </a:solidFill>
                <a:latin typeface="华文楷体" panose="02010600040101010101" pitchFamily="2" charset="-122"/>
                <a:ea typeface="华文楷体" panose="02010600040101010101" pitchFamily="2" charset="-122"/>
              </a:rPr>
              <a:t>      BST-</a:t>
            </a:r>
            <a:r>
              <a:rPr lang="en-US" altLang="zh-CN" sz="1800" dirty="0">
                <a:solidFill>
                  <a:srgbClr val="00194C"/>
                </a:solidFill>
                <a:latin typeface="华文楷体" panose="02010600040101010101" pitchFamily="2" charset="-122"/>
                <a:ea typeface="华文楷体" panose="02010600040101010101" pitchFamily="2" charset="-122"/>
              </a:rPr>
              <a:t>&gt;data = p-&gt;data; </a:t>
            </a:r>
            <a:endParaRPr lang="en-US" altLang="zh-CN" sz="18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ct val="100000"/>
              </a:lnSpc>
            </a:pPr>
            <a:r>
              <a:rPr lang="en-US" altLang="zh-CN" sz="1800" dirty="0" smtClean="0">
                <a:solidFill>
                  <a:srgbClr val="00194C"/>
                </a:solidFill>
                <a:latin typeface="华文楷体" panose="02010600040101010101" pitchFamily="2" charset="-122"/>
                <a:ea typeface="华文楷体" panose="02010600040101010101" pitchFamily="2" charset="-122"/>
              </a:rPr>
              <a:t>      BST-</a:t>
            </a:r>
            <a:r>
              <a:rPr lang="en-US" altLang="zh-CN" sz="1800" dirty="0">
                <a:solidFill>
                  <a:srgbClr val="00194C"/>
                </a:solidFill>
                <a:latin typeface="华文楷体" panose="02010600040101010101" pitchFamily="2" charset="-122"/>
                <a:ea typeface="华文楷体" panose="02010600040101010101" pitchFamily="2" charset="-122"/>
              </a:rPr>
              <a: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 Delete( BST-&gt;data, BST-&gt;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a:t>
            </a:r>
            <a:endParaRPr lang="en-US" altLang="zh-CN" sz="1800" dirty="0" smtClean="0">
              <a:solidFill>
                <a:srgbClr val="00194C"/>
              </a:solidFill>
              <a:latin typeface="华文楷体" panose="02010600040101010101" pitchFamily="2" charset="-122"/>
              <a:ea typeface="华文楷体" panose="02010600040101010101" pitchFamily="2" charset="-122"/>
            </a:endParaRPr>
          </a:p>
          <a:p>
            <a:pPr marL="339725" lvl="2" indent="-339725">
              <a:lnSpc>
                <a:spcPct val="100000"/>
              </a:lnSpc>
            </a:pPr>
            <a:r>
              <a:rPr lang="en-US" altLang="zh-CN" sz="1800" dirty="0"/>
              <a:t> </a:t>
            </a:r>
            <a:r>
              <a:rPr lang="en-US" altLang="zh-CN" sz="1800" dirty="0" smtClean="0"/>
              <a:t>                      </a:t>
            </a:r>
            <a:r>
              <a:rPr lang="en-US" altLang="zh-CN" sz="1800" dirty="0" smtClean="0">
                <a:solidFill>
                  <a:srgbClr val="00B050"/>
                </a:solidFill>
                <a:latin typeface="华文楷体" panose="02010600040101010101" pitchFamily="2" charset="-122"/>
                <a:ea typeface="华文楷体" panose="02010600040101010101" pitchFamily="2" charset="-122"/>
              </a:rPr>
              <a:t>/*</a:t>
            </a:r>
            <a:r>
              <a:rPr lang="zh-CN" altLang="en-US" sz="1800" dirty="0">
                <a:solidFill>
                  <a:srgbClr val="00B050"/>
                </a:solidFill>
                <a:latin typeface="华文楷体" panose="02010600040101010101" pitchFamily="2" charset="-122"/>
                <a:ea typeface="华文楷体" panose="02010600040101010101" pitchFamily="2" charset="-122"/>
              </a:rPr>
              <a:t>在删除结点的右子树中删除最小元素*</a:t>
            </a:r>
            <a:r>
              <a:rPr lang="en-US" altLang="zh-CN" sz="1800" dirty="0">
                <a:solidFill>
                  <a:srgbClr val="00B050"/>
                </a:solidFill>
                <a:latin typeface="华文楷体" panose="02010600040101010101" pitchFamily="2" charset="-122"/>
                <a:ea typeface="华文楷体" panose="02010600040101010101" pitchFamily="2" charset="-122"/>
              </a:rPr>
              <a:t>/ </a:t>
            </a:r>
            <a:endParaRPr lang="en-US" altLang="zh-CN" sz="1800" dirty="0" smtClean="0">
              <a:solidFill>
                <a:srgbClr val="00B050"/>
              </a:solidFill>
              <a:latin typeface="华文楷体" panose="02010600040101010101" pitchFamily="2" charset="-122"/>
              <a:ea typeface="华文楷体" panose="02010600040101010101" pitchFamily="2" charset="-122"/>
            </a:endParaRPr>
          </a:p>
          <a:p>
            <a:pPr marL="339725" lvl="2" indent="-339725">
              <a:lnSpc>
                <a:spcPct val="100000"/>
              </a:lnSpc>
            </a:pPr>
            <a:r>
              <a:rPr lang="en-US" altLang="zh-CN" sz="1800" dirty="0" smtClean="0">
                <a:solidFill>
                  <a:srgbClr val="00194C"/>
                </a:solidFill>
                <a:latin typeface="华文楷体" panose="02010600040101010101" pitchFamily="2" charset="-122"/>
                <a:ea typeface="华文楷体" panose="02010600040101010101" pitchFamily="2" charset="-122"/>
              </a:rPr>
              <a:t>}</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smtClean="0">
                <a:solidFill>
                  <a:srgbClr val="00194C"/>
                </a:solidFill>
                <a:latin typeface="华文楷体" panose="02010600040101010101" pitchFamily="2" charset="-122"/>
                <a:ea typeface="华文楷体" panose="02010600040101010101" pitchFamily="2" charset="-122"/>
              </a:rPr>
              <a:t>else </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B050"/>
                </a:solidFill>
                <a:latin typeface="华文楷体" panose="02010600040101010101" pitchFamily="2" charset="-122"/>
                <a:ea typeface="华文楷体" panose="02010600040101010101" pitchFamily="2" charset="-122"/>
              </a:rPr>
              <a:t>/*</a:t>
            </a:r>
            <a:r>
              <a:rPr lang="zh-CN" altLang="en-US" sz="1800" dirty="0">
                <a:solidFill>
                  <a:srgbClr val="00B050"/>
                </a:solidFill>
                <a:latin typeface="华文楷体" panose="02010600040101010101" pitchFamily="2" charset="-122"/>
                <a:ea typeface="华文楷体" panose="02010600040101010101" pitchFamily="2" charset="-122"/>
              </a:rPr>
              <a:t>被删除结点有一个或无子结点*</a:t>
            </a:r>
            <a:r>
              <a:rPr lang="en-US" altLang="zh-CN" sz="1800" dirty="0">
                <a:solidFill>
                  <a:srgbClr val="00B050"/>
                </a:solidFill>
                <a:latin typeface="华文楷体" panose="02010600040101010101" pitchFamily="2" charset="-122"/>
                <a:ea typeface="华文楷体" panose="02010600040101010101" pitchFamily="2" charset="-122"/>
              </a:rPr>
              <a:t>/ </a:t>
            </a:r>
            <a:endParaRPr lang="en-US" altLang="zh-CN" sz="1800" dirty="0">
              <a:solidFill>
                <a:srgbClr val="00B050"/>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p = BST; </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if( !BST-&gt; </a:t>
            </a:r>
            <a:r>
              <a:rPr lang="en-US" altLang="zh-CN" sz="1800" dirty="0" err="1">
                <a:solidFill>
                  <a:srgbClr val="00194C"/>
                </a:solidFill>
                <a:latin typeface="华文楷体" panose="02010600040101010101" pitchFamily="2" charset="-122"/>
                <a:ea typeface="华文楷体" panose="02010600040101010101" pitchFamily="2" charset="-122"/>
              </a:rPr>
              <a:t>lchild</a:t>
            </a: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B050"/>
                </a:solidFill>
                <a:latin typeface="华文楷体" panose="02010600040101010101" pitchFamily="2" charset="-122"/>
                <a:ea typeface="华文楷体" panose="02010600040101010101" pitchFamily="2" charset="-122"/>
              </a:rPr>
              <a:t>/* </a:t>
            </a:r>
            <a:r>
              <a:rPr lang="zh-CN" altLang="en-US" sz="1800" dirty="0">
                <a:solidFill>
                  <a:srgbClr val="00B050"/>
                </a:solidFill>
                <a:latin typeface="华文楷体" panose="02010600040101010101" pitchFamily="2" charset="-122"/>
                <a:ea typeface="华文楷体" panose="02010600040101010101" pitchFamily="2" charset="-122"/>
              </a:rPr>
              <a:t>有右孩子或无子结点*</a:t>
            </a:r>
            <a:r>
              <a:rPr lang="en-US" altLang="zh-CN" sz="1800" dirty="0">
                <a:solidFill>
                  <a:srgbClr val="00B050"/>
                </a:solidFill>
                <a:latin typeface="华文楷体" panose="02010600040101010101" pitchFamily="2" charset="-122"/>
                <a:ea typeface="华文楷体" panose="02010600040101010101" pitchFamily="2" charset="-122"/>
              </a:rPr>
              <a:t>/ </a:t>
            </a:r>
            <a:endParaRPr lang="en-US" altLang="zh-CN" sz="1800" dirty="0">
              <a:solidFill>
                <a:srgbClr val="00B050"/>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BST = BST-&gt;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else if( !BST-&gt; </a:t>
            </a:r>
            <a:r>
              <a:rPr lang="en-US" altLang="zh-CN" sz="1800" dirty="0" err="1">
                <a:solidFill>
                  <a:srgbClr val="00194C"/>
                </a:solidFill>
                <a:latin typeface="华文楷体" panose="02010600040101010101" pitchFamily="2" charset="-122"/>
                <a:ea typeface="华文楷体" panose="02010600040101010101" pitchFamily="2" charset="-122"/>
              </a:rPr>
              <a:t>rchild</a:t>
            </a:r>
            <a:r>
              <a:rPr lang="en-US" altLang="zh-CN" sz="1800" dirty="0">
                <a:solidFill>
                  <a:srgbClr val="00194C"/>
                </a:solidFill>
                <a:latin typeface="华文楷体" panose="02010600040101010101" pitchFamily="2" charset="-122"/>
                <a:ea typeface="华文楷体" panose="02010600040101010101" pitchFamily="2" charset="-122"/>
              </a:rPr>
              <a:t> )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B050"/>
                </a:solidFill>
                <a:latin typeface="华文楷体" panose="02010600040101010101" pitchFamily="2" charset="-122"/>
                <a:ea typeface="华文楷体" panose="02010600040101010101" pitchFamily="2" charset="-122"/>
              </a:rPr>
              <a:t>/*</a:t>
            </a:r>
            <a:r>
              <a:rPr lang="zh-CN" altLang="en-US" sz="1800" dirty="0">
                <a:solidFill>
                  <a:srgbClr val="00B050"/>
                </a:solidFill>
                <a:latin typeface="华文楷体" panose="02010600040101010101" pitchFamily="2" charset="-122"/>
                <a:ea typeface="华文楷体" panose="02010600040101010101" pitchFamily="2" charset="-122"/>
              </a:rPr>
              <a:t>有左孩子或无子结点*</a:t>
            </a:r>
            <a:r>
              <a:rPr lang="en-US" altLang="zh-CN" sz="1800" dirty="0">
                <a:solidFill>
                  <a:srgbClr val="00B050"/>
                </a:solidFill>
                <a:latin typeface="华文楷体" panose="02010600040101010101" pitchFamily="2" charset="-122"/>
                <a:ea typeface="华文楷体" panose="02010600040101010101" pitchFamily="2" charset="-122"/>
              </a:rPr>
              <a:t>/ </a:t>
            </a:r>
            <a:endParaRPr lang="en-US" altLang="zh-CN" sz="1800" dirty="0">
              <a:solidFill>
                <a:srgbClr val="00B050"/>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BST = BST-&gt; </a:t>
            </a:r>
            <a:r>
              <a:rPr lang="en-US" altLang="zh-CN" sz="1800" dirty="0" err="1">
                <a:solidFill>
                  <a:srgbClr val="00194C"/>
                </a:solidFill>
                <a:latin typeface="华文楷体" panose="02010600040101010101" pitchFamily="2" charset="-122"/>
                <a:ea typeface="华文楷体" panose="02010600040101010101" pitchFamily="2" charset="-122"/>
              </a:rPr>
              <a:t>lchild</a:t>
            </a:r>
            <a:r>
              <a:rPr lang="en-US" altLang="zh-CN" sz="1800" dirty="0">
                <a:solidFill>
                  <a:srgbClr val="00194C"/>
                </a:solidFill>
                <a:latin typeface="华文楷体" panose="02010600040101010101" pitchFamily="2" charset="-122"/>
                <a:ea typeface="华文楷体" panose="02010600040101010101" pitchFamily="2" charset="-122"/>
              </a:rPr>
              <a:t>; </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free(p); </a:t>
            </a:r>
            <a:endParaRPr lang="en-US" altLang="zh-CN" sz="18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smtClean="0">
                <a:solidFill>
                  <a:srgbClr val="00194C"/>
                </a:solidFill>
                <a:latin typeface="华文楷体" panose="02010600040101010101" pitchFamily="2" charset="-122"/>
                <a:ea typeface="华文楷体" panose="02010600040101010101" pitchFamily="2" charset="-122"/>
              </a:rPr>
              <a:t>} </a:t>
            </a:r>
            <a:endParaRPr lang="en-US" altLang="zh-CN" sz="18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smtClean="0">
                <a:solidFill>
                  <a:srgbClr val="00194C"/>
                </a:solidFill>
                <a:latin typeface="华文楷体" panose="02010600040101010101" pitchFamily="2" charset="-122"/>
                <a:ea typeface="华文楷体" panose="02010600040101010101" pitchFamily="2" charset="-122"/>
              </a:rPr>
              <a:t>       </a:t>
            </a:r>
            <a:r>
              <a:rPr lang="en-US" altLang="zh-CN" sz="1800" dirty="0">
                <a:solidFill>
                  <a:srgbClr val="00194C"/>
                </a:solidFill>
                <a:latin typeface="华文楷体" panose="02010600040101010101" pitchFamily="2" charset="-122"/>
                <a:ea typeface="华文楷体" panose="02010600040101010101" pitchFamily="2" charset="-122"/>
              </a:rPr>
              <a:t>return BST; </a:t>
            </a:r>
            <a:endParaRPr lang="en-US" altLang="zh-CN" sz="1800" dirty="0">
              <a:solidFill>
                <a:srgbClr val="00194C"/>
              </a:solidFill>
              <a:latin typeface="华文楷体" panose="02010600040101010101" pitchFamily="2" charset="-122"/>
              <a:ea typeface="华文楷体" panose="02010600040101010101" pitchFamily="2" charset="-122"/>
            </a:endParaRPr>
          </a:p>
          <a:p>
            <a:pPr eaLnBrk="1" hangingPunct="1">
              <a:lnSpc>
                <a:spcPct val="100000"/>
              </a:lnSpc>
              <a:spcBef>
                <a:spcPts val="0"/>
              </a:spcBef>
              <a:spcAft>
                <a:spcPts val="0"/>
              </a:spcAft>
            </a:pPr>
            <a:r>
              <a:rPr lang="en-US" altLang="zh-CN" sz="1800" dirty="0" smtClean="0">
                <a:solidFill>
                  <a:srgbClr val="00194C"/>
                </a:solidFill>
                <a:latin typeface="华文楷体" panose="02010600040101010101" pitchFamily="2" charset="-122"/>
                <a:ea typeface="华文楷体" panose="02010600040101010101" pitchFamily="2" charset="-122"/>
              </a:rPr>
              <a:t>}</a:t>
            </a:r>
            <a:endParaRPr lang="zh-CN" altLang="en-US" sz="18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259460"/>
          </a:xfrm>
        </p:spPr>
        <p:txBody>
          <a:bodyPr/>
          <a:lstStyle/>
          <a:p>
            <a:pPr eaLnBrk="1" hangingPunct="1">
              <a:spcBef>
                <a:spcPct val="0"/>
              </a:spcBef>
            </a:pPr>
            <a:r>
              <a:rPr lang="en-US" altLang="zh-CN" dirty="0" smtClean="0"/>
              <a:t>4</a:t>
            </a:r>
            <a:r>
              <a:rPr lang="en-US" altLang="zh-CN" dirty="0"/>
              <a:t>.  </a:t>
            </a:r>
            <a:r>
              <a:rPr lang="zh-CN" altLang="en-US" dirty="0"/>
              <a:t>二叉排序树的查找性能分析 </a:t>
            </a:r>
            <a:endParaRPr lang="zh-CN" altLang="en-US" dirty="0"/>
          </a:p>
          <a:p>
            <a:pPr marL="339725" lvl="2" indent="-205105"/>
            <a:r>
              <a:rPr lang="zh-CN" altLang="en-US" dirty="0" smtClean="0">
                <a:solidFill>
                  <a:schemeClr val="tx1"/>
                </a:solidFill>
              </a:rPr>
              <a:t>含有</a:t>
            </a:r>
            <a:r>
              <a:rPr lang="en-US" altLang="zh-CN" dirty="0">
                <a:solidFill>
                  <a:schemeClr val="tx1"/>
                </a:solidFill>
              </a:rPr>
              <a:t>n</a:t>
            </a:r>
            <a:r>
              <a:rPr lang="zh-CN" altLang="en-US" dirty="0">
                <a:solidFill>
                  <a:schemeClr val="tx1"/>
                </a:solidFill>
              </a:rPr>
              <a:t>个结点的二叉排序树的</a:t>
            </a:r>
            <a:r>
              <a:rPr lang="zh-CN" altLang="en-US" dirty="0">
                <a:solidFill>
                  <a:srgbClr val="FF0000"/>
                </a:solidFill>
              </a:rPr>
              <a:t>平均查找长度和树的形态</a:t>
            </a:r>
            <a:r>
              <a:rPr lang="zh-CN" altLang="en-US" dirty="0" smtClean="0">
                <a:solidFill>
                  <a:srgbClr val="FF0000"/>
                </a:solidFill>
              </a:rPr>
              <a:t>有关</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7"/>
          <p:cNvGraphicFramePr>
            <a:graphicFrameLocks noChangeAspect="1"/>
          </p:cNvGraphicFramePr>
          <p:nvPr/>
        </p:nvGraphicFramePr>
        <p:xfrm>
          <a:off x="746301" y="1516954"/>
          <a:ext cx="6441105" cy="2540658"/>
        </p:xfrm>
        <a:graphic>
          <a:graphicData uri="http://schemas.openxmlformats.org/presentationml/2006/ole">
            <mc:AlternateContent xmlns:mc="http://schemas.openxmlformats.org/markup-compatibility/2006">
              <mc:Choice xmlns:v="urn:schemas-microsoft-com:vml" Requires="v">
                <p:oleObj spid="_x0000_s44074" name="VISIO" r:id="rId1" imgW="4640580" imgH="1828800" progId="Visio.Drawing.11">
                  <p:embed/>
                </p:oleObj>
              </mc:Choice>
              <mc:Fallback>
                <p:oleObj name="VISIO" r:id="rId1" imgW="4640580" imgH="1828800" progId="Visio.Drawing.11">
                  <p:embed/>
                  <p:pic>
                    <p:nvPicPr>
                      <p:cNvPr id="0" name="Object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6301" y="1516954"/>
                        <a:ext cx="6441105" cy="2540658"/>
                      </a:xfrm>
                      <a:prstGeom prst="rect">
                        <a:avLst/>
                      </a:prstGeom>
                      <a:noFill/>
                      <a:ln>
                        <a:noFill/>
                      </a:ln>
                      <a:effectLst/>
                    </p:spPr>
                  </p:pic>
                </p:oleObj>
              </mc:Fallback>
            </mc:AlternateContent>
          </a:graphicData>
        </a:graphic>
      </p:graphicFrame>
      <p:sp>
        <p:nvSpPr>
          <p:cNvPr id="5" name="矩形 4"/>
          <p:cNvSpPr/>
          <p:nvPr/>
        </p:nvSpPr>
        <p:spPr>
          <a:xfrm>
            <a:off x="868451" y="4206454"/>
            <a:ext cx="4572000" cy="645160"/>
          </a:xfrm>
          <a:prstGeom prst="rect">
            <a:avLst/>
          </a:prstGeom>
        </p:spPr>
        <p:txBody>
          <a:bodyPr>
            <a:spAutoFit/>
          </a:bodyPr>
          <a:lstStyle/>
          <a:p>
            <a:pPr>
              <a:spcBef>
                <a:spcPct val="0"/>
              </a:spcBef>
            </a:pPr>
            <a:r>
              <a:rPr lang="en-US" altLang="zh-CN" sz="1800" dirty="0" err="1">
                <a:latin typeface="Times New Roman" panose="02020603050405020304" pitchFamily="18" charset="0"/>
              </a:rPr>
              <a:t>ASL</a:t>
            </a:r>
            <a:r>
              <a:rPr lang="en-US" altLang="zh-CN" sz="1800" dirty="0" err="1">
                <a:latin typeface="宋体" panose="02010600030101010101" pitchFamily="2" charset="-122"/>
              </a:rPr>
              <a:t>a </a:t>
            </a:r>
            <a:r>
              <a:rPr lang="en-US" altLang="zh-CN" sz="1800" dirty="0">
                <a:latin typeface="宋体" panose="02010600030101010101" pitchFamily="2" charset="-122"/>
              </a:rPr>
              <a:t>=1/6[1+2+2+3+3+3]=14/6</a:t>
            </a:r>
            <a:endParaRPr lang="en-US" altLang="zh-CN" sz="1800" dirty="0">
              <a:latin typeface="Times New Roman" panose="02020603050405020304" pitchFamily="18" charset="0"/>
            </a:endParaRPr>
          </a:p>
          <a:p>
            <a:pPr>
              <a:spcBef>
                <a:spcPct val="0"/>
              </a:spcBef>
            </a:pPr>
            <a:r>
              <a:rPr lang="en-US" altLang="zh-CN" sz="1800" dirty="0" err="1">
                <a:latin typeface="Times New Roman" panose="02020603050405020304" pitchFamily="18" charset="0"/>
              </a:rPr>
              <a:t>ASL</a:t>
            </a:r>
            <a:r>
              <a:rPr lang="en-US" altLang="zh-CN" sz="1800" dirty="0" err="1">
                <a:latin typeface="宋体" panose="02010600030101010101" pitchFamily="2" charset="-122"/>
              </a:rPr>
              <a:t>b</a:t>
            </a:r>
            <a:r>
              <a:rPr lang="en-US" altLang="zh-CN" sz="1800" dirty="0">
                <a:latin typeface="宋体" panose="02010600030101010101" pitchFamily="2" charset="-122"/>
              </a:rPr>
              <a:t> =1/6[1+2+3+4+5+6]=21/6</a:t>
            </a:r>
            <a:endParaRPr lang="en-US" altLang="zh-CN" sz="1800" dirty="0">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zh-CN" altLang="en-US" dirty="0" smtClean="0"/>
              <a:t>平衡</a:t>
            </a:r>
            <a:r>
              <a:rPr lang="zh-CN" altLang="en-US" dirty="0"/>
              <a:t>二叉排序树</a:t>
            </a:r>
            <a:endParaRPr lang="en-US" altLang="zh-CN" dirty="0"/>
          </a:p>
          <a:p>
            <a:pPr marL="340360" lvl="2" indent="-205105">
              <a:defRPr/>
            </a:pPr>
            <a:r>
              <a:rPr lang="zh-CN" altLang="en-US" dirty="0" smtClean="0"/>
              <a:t>平衡</a:t>
            </a:r>
            <a:r>
              <a:rPr lang="zh-CN" altLang="en-US" dirty="0"/>
              <a:t>二叉树又称为</a:t>
            </a:r>
            <a:r>
              <a:rPr lang="en-US" altLang="zh-CN" dirty="0"/>
              <a:t>AVL</a:t>
            </a:r>
            <a:r>
              <a:rPr lang="zh-CN" altLang="en-US" dirty="0"/>
              <a:t>树。</a:t>
            </a:r>
            <a:endParaRPr lang="en-US" altLang="zh-CN" dirty="0"/>
          </a:p>
          <a:p>
            <a:pPr marL="478155" lvl="2" indent="-342900">
              <a:buFont typeface="Wingdings" panose="05000000000000000000" pitchFamily="2" charset="2"/>
              <a:buChar char="Ø"/>
              <a:defRPr/>
            </a:pPr>
            <a:r>
              <a:rPr lang="zh-CN" altLang="en-US" dirty="0"/>
              <a:t>或者是空树，</a:t>
            </a:r>
            <a:endParaRPr lang="en-US" altLang="zh-CN" dirty="0"/>
          </a:p>
          <a:p>
            <a:pPr marL="478155" lvl="2" indent="-342900">
              <a:buFont typeface="Wingdings" panose="05000000000000000000" pitchFamily="2" charset="2"/>
              <a:buChar char="Ø"/>
              <a:defRPr/>
            </a:pPr>
            <a:r>
              <a:rPr lang="zh-CN" altLang="en-US" dirty="0"/>
              <a:t>或者任一结点左、右子树高度差的绝对值不超过</a:t>
            </a:r>
            <a:r>
              <a:rPr lang="en-US" altLang="zh-CN" dirty="0"/>
              <a:t>1</a:t>
            </a:r>
            <a:r>
              <a:rPr lang="zh-CN" altLang="en-US" dirty="0"/>
              <a:t>。</a:t>
            </a:r>
            <a:endParaRPr lang="en-US" altLang="zh-CN" dirty="0"/>
          </a:p>
          <a:p>
            <a:pPr marL="340360" lvl="2" indent="-205105">
              <a:defRPr/>
            </a:pPr>
            <a:r>
              <a:rPr lang="zh-CN" altLang="en-US" dirty="0"/>
              <a:t>    </a:t>
            </a:r>
            <a:r>
              <a:rPr lang="zh-CN" altLang="en-US" dirty="0">
                <a:solidFill>
                  <a:srgbClr val="FF0000"/>
                </a:solidFill>
              </a:rPr>
              <a:t>结点的平衡因子（</a:t>
            </a:r>
            <a:r>
              <a:rPr lang="en-US" altLang="zh-CN" dirty="0">
                <a:solidFill>
                  <a:srgbClr val="FF0000"/>
                </a:solidFill>
              </a:rPr>
              <a:t>balance factor</a:t>
            </a:r>
            <a:r>
              <a:rPr lang="zh-CN" altLang="en-US" dirty="0">
                <a:solidFill>
                  <a:srgbClr val="FF0000"/>
                </a:solidFill>
              </a:rPr>
              <a:t>）</a:t>
            </a:r>
            <a:r>
              <a:rPr lang="en-US" altLang="zh-CN" dirty="0">
                <a:solidFill>
                  <a:srgbClr val="FF0000"/>
                </a:solidFill>
              </a:rPr>
              <a:t>BF</a:t>
            </a:r>
            <a:r>
              <a:rPr lang="zh-CN" altLang="en-US" dirty="0">
                <a:solidFill>
                  <a:srgbClr val="FF0000"/>
                </a:solidFill>
              </a:rPr>
              <a:t>：</a:t>
            </a:r>
            <a:r>
              <a:rPr lang="en-US" altLang="zh-CN" dirty="0">
                <a:solidFill>
                  <a:srgbClr val="FF0000"/>
                </a:solidFill>
              </a:rPr>
              <a:t>BF</a:t>
            </a:r>
            <a:r>
              <a:rPr lang="zh-CN" altLang="en-US" dirty="0">
                <a:solidFill>
                  <a:srgbClr val="FF0000"/>
                </a:solidFill>
              </a:rPr>
              <a:t> </a:t>
            </a:r>
            <a:r>
              <a:rPr lang="en-US" altLang="zh-CN" dirty="0">
                <a:solidFill>
                  <a:srgbClr val="FF0000"/>
                </a:solidFill>
              </a:rPr>
              <a:t>= H</a:t>
            </a:r>
            <a:r>
              <a:rPr lang="en-US" altLang="zh-CN" baseline="-25000" dirty="0">
                <a:solidFill>
                  <a:srgbClr val="FF0000"/>
                </a:solidFill>
              </a:rPr>
              <a:t>L</a:t>
            </a:r>
            <a:r>
              <a:rPr lang="en-US" altLang="zh-CN" dirty="0">
                <a:solidFill>
                  <a:srgbClr val="FF0000"/>
                </a:solidFill>
              </a:rPr>
              <a:t>-H</a:t>
            </a:r>
            <a:r>
              <a:rPr lang="en-US" altLang="zh-CN" baseline="-25000" dirty="0">
                <a:solidFill>
                  <a:srgbClr val="FF0000"/>
                </a:solidFill>
              </a:rPr>
              <a:t>R</a:t>
            </a:r>
            <a:endParaRPr lang="en-US" altLang="zh-CN" baseline="-25000" dirty="0">
              <a:solidFill>
                <a:srgbClr val="FF0000"/>
              </a:solidFill>
            </a:endParaRPr>
          </a:p>
          <a:p>
            <a:pPr marL="340360" lvl="2" indent="-205105">
              <a:defRPr/>
            </a:pPr>
            <a:endParaRPr lang="en-US" altLang="zh-CN" dirty="0"/>
          </a:p>
          <a:p>
            <a:pPr marL="0" lvl="2">
              <a:defRPr/>
            </a:pPr>
            <a:r>
              <a:rPr lang="zh-CN" altLang="en-US" dirty="0"/>
              <a:t>    引入平衡二叉树的目的是为了提高查找效率，其平均查找长度为</a:t>
            </a:r>
            <a:r>
              <a:rPr lang="en-US" altLang="zh-CN" dirty="0" smtClean="0">
                <a:solidFill>
                  <a:srgbClr val="FF0000"/>
                </a:solidFill>
              </a:rPr>
              <a:t>O(log</a:t>
            </a:r>
            <a:r>
              <a:rPr lang="en-US" altLang="zh-CN" baseline="-25000" dirty="0" smtClean="0">
                <a:solidFill>
                  <a:srgbClr val="FF0000"/>
                </a:solidFill>
              </a:rPr>
              <a:t>2</a:t>
            </a:r>
            <a:r>
              <a:rPr lang="en-US" altLang="zh-CN" dirty="0" smtClean="0">
                <a:solidFill>
                  <a:srgbClr val="FF0000"/>
                </a:solidFill>
              </a:rPr>
              <a:t>n)</a:t>
            </a:r>
            <a:r>
              <a:rPr lang="zh-CN" altLang="en-US" dirty="0" smtClean="0"/>
              <a:t>。</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Object 5"/>
          <p:cNvGraphicFramePr>
            <a:graphicFrameLocks noChangeAspect="1"/>
          </p:cNvGraphicFramePr>
          <p:nvPr/>
        </p:nvGraphicFramePr>
        <p:xfrm>
          <a:off x="1143000" y="800101"/>
          <a:ext cx="6858000" cy="2993231"/>
        </p:xfrm>
        <a:graphic>
          <a:graphicData uri="http://schemas.openxmlformats.org/presentationml/2006/ole">
            <mc:AlternateContent xmlns:mc="http://schemas.openxmlformats.org/markup-compatibility/2006">
              <mc:Choice xmlns:v="urn:schemas-microsoft-com:vml" Requires="v">
                <p:oleObj spid="_x0000_s45096" name="VISIO" r:id="rId1" imgW="3863340" imgH="1684020" progId="Visio.Drawing.4">
                  <p:embed/>
                </p:oleObj>
              </mc:Choice>
              <mc:Fallback>
                <p:oleObj name="VISIO" r:id="rId1" imgW="3863340" imgH="168402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800101"/>
                        <a:ext cx="6858000" cy="2993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lnSpc>
                <a:spcPct val="100000"/>
              </a:lnSpc>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a:t>1</a:t>
            </a:r>
            <a:r>
              <a:rPr lang="zh-CN" altLang="en-US" dirty="0"/>
              <a:t>）</a:t>
            </a:r>
            <a:r>
              <a:rPr lang="en-US" altLang="zh-CN" dirty="0"/>
              <a:t>—LL</a:t>
            </a:r>
            <a:r>
              <a:rPr lang="zh-CN" altLang="en-US" dirty="0" smtClean="0"/>
              <a:t>旋转</a:t>
            </a:r>
            <a:endParaRPr lang="en-US" altLang="zh-CN" dirty="0" smtClean="0"/>
          </a:p>
          <a:p>
            <a:pPr marL="205105" indent="-205105">
              <a:lnSpc>
                <a:spcPct val="100000"/>
              </a:lnSpc>
              <a:spcBef>
                <a:spcPts val="0"/>
              </a:spcBef>
              <a:spcAft>
                <a:spcPts val="0"/>
              </a:spcAft>
            </a:pPr>
            <a:endParaRPr lang="en-US" altLang="zh-CN" dirty="0"/>
          </a:p>
          <a:p>
            <a:pPr marL="205105" indent="-205105">
              <a:lnSpc>
                <a:spcPct val="100000"/>
              </a:lnSpc>
              <a:spcBef>
                <a:spcPts val="0"/>
              </a:spcBef>
              <a:spcAft>
                <a:spcPts val="0"/>
              </a:spcAft>
            </a:pPr>
            <a:endParaRPr lang="en-US" altLang="zh-CN" dirty="0" smtClean="0"/>
          </a:p>
          <a:p>
            <a:pPr marL="205105" indent="-205105">
              <a:lnSpc>
                <a:spcPct val="100000"/>
              </a:lnSpc>
              <a:spcBef>
                <a:spcPts val="0"/>
              </a:spcBef>
              <a:spcAft>
                <a:spcPts val="0"/>
              </a:spcAft>
            </a:pPr>
            <a:endParaRPr lang="en-US" altLang="zh-CN" dirty="0"/>
          </a:p>
          <a:p>
            <a:pPr marL="205105" indent="-205105">
              <a:lnSpc>
                <a:spcPct val="100000"/>
              </a:lnSpc>
              <a:spcBef>
                <a:spcPts val="0"/>
              </a:spcBef>
              <a:spcAft>
                <a:spcPts val="0"/>
              </a:spcAft>
            </a:pPr>
            <a:endParaRPr lang="en-US" altLang="zh-CN" dirty="0" smtClean="0"/>
          </a:p>
          <a:p>
            <a:pPr marL="205105" indent="-205105">
              <a:lnSpc>
                <a:spcPct val="100000"/>
              </a:lnSpc>
              <a:spcBef>
                <a:spcPts val="0"/>
              </a:spcBef>
              <a:spcAft>
                <a:spcPts val="0"/>
              </a:spcAft>
            </a:pPr>
            <a:endParaRPr lang="en-US" altLang="zh-CN" dirty="0"/>
          </a:p>
          <a:p>
            <a:pPr marL="0" lvl="2">
              <a:lnSpc>
                <a:spcPct val="100000"/>
              </a:lnSpc>
            </a:pPr>
            <a:endParaRPr lang="en-US" altLang="zh-CN" dirty="0" smtClean="0"/>
          </a:p>
          <a:p>
            <a:pPr marL="0" lvl="2">
              <a:lnSpc>
                <a:spcPct val="100000"/>
              </a:lnSpc>
            </a:pPr>
            <a:r>
              <a:rPr lang="zh-CN" altLang="en-US" dirty="0" smtClean="0"/>
              <a:t>不平衡点</a:t>
            </a:r>
            <a:r>
              <a:rPr lang="en-US" altLang="zh-CN" dirty="0" smtClean="0">
                <a:solidFill>
                  <a:srgbClr val="C00000"/>
                </a:solidFill>
              </a:rPr>
              <a:t>A</a:t>
            </a:r>
            <a:r>
              <a:rPr lang="zh-CN" altLang="en-US" dirty="0"/>
              <a:t>，插入结点</a:t>
            </a:r>
            <a:r>
              <a:rPr lang="en-US" altLang="zh-CN" dirty="0" smtClean="0"/>
              <a:t>15</a:t>
            </a:r>
            <a:r>
              <a:rPr lang="zh-CN" altLang="en-US" dirty="0" smtClean="0"/>
              <a:t>在</a:t>
            </a:r>
            <a:r>
              <a:rPr lang="en-US" altLang="zh-CN" dirty="0"/>
              <a:t>A</a:t>
            </a:r>
            <a:r>
              <a:rPr lang="zh-CN" altLang="en-US" dirty="0" smtClean="0"/>
              <a:t>的</a:t>
            </a:r>
            <a:endParaRPr lang="en-US" altLang="zh-CN" dirty="0" smtClean="0"/>
          </a:p>
          <a:p>
            <a:pPr marL="0" lvl="2">
              <a:lnSpc>
                <a:spcPct val="100000"/>
              </a:lnSpc>
            </a:pPr>
            <a:r>
              <a:rPr lang="zh-CN" altLang="en-US" dirty="0" smtClean="0">
                <a:solidFill>
                  <a:srgbClr val="C00000"/>
                </a:solidFill>
              </a:rPr>
              <a:t>左子树</a:t>
            </a:r>
            <a:r>
              <a:rPr lang="zh-CN" altLang="en-US" dirty="0"/>
              <a:t>的</a:t>
            </a:r>
            <a:r>
              <a:rPr lang="zh-CN" altLang="en-US" dirty="0">
                <a:solidFill>
                  <a:srgbClr val="C00000"/>
                </a:solidFill>
              </a:rPr>
              <a:t>左边</a:t>
            </a:r>
            <a:r>
              <a:rPr lang="zh-CN" altLang="en-US" dirty="0" smtClean="0"/>
              <a:t>，因而</a:t>
            </a:r>
            <a:r>
              <a:rPr lang="zh-CN" altLang="en-US" dirty="0"/>
              <a:t>叫 </a:t>
            </a:r>
            <a:r>
              <a:rPr lang="en-US" altLang="zh-CN" dirty="0"/>
              <a:t>LL </a:t>
            </a:r>
            <a:r>
              <a:rPr lang="zh-CN" altLang="en-US" dirty="0"/>
              <a:t>插入</a:t>
            </a:r>
            <a:r>
              <a:rPr lang="zh-CN" altLang="en-US" dirty="0" smtClean="0"/>
              <a:t>，</a:t>
            </a:r>
            <a:endParaRPr lang="en-US" altLang="zh-CN" dirty="0" smtClean="0"/>
          </a:p>
          <a:p>
            <a:pPr marL="0" lvl="2">
              <a:lnSpc>
                <a:spcPct val="100000"/>
              </a:lnSpc>
            </a:pPr>
            <a:r>
              <a:rPr lang="zh-CN" altLang="en-US" dirty="0" smtClean="0"/>
              <a:t>需要</a:t>
            </a:r>
            <a:r>
              <a:rPr lang="en-US" altLang="zh-CN" dirty="0">
                <a:solidFill>
                  <a:srgbClr val="FF0000"/>
                </a:solidFill>
              </a:rPr>
              <a:t>LL </a:t>
            </a:r>
            <a:r>
              <a:rPr lang="zh-CN" altLang="en-US" dirty="0">
                <a:solidFill>
                  <a:srgbClr val="FF0000"/>
                </a:solidFill>
              </a:rPr>
              <a:t>旋转</a:t>
            </a:r>
            <a:r>
              <a:rPr lang="zh-CN" altLang="en-US" dirty="0" smtClean="0"/>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6"/>
          <p:cNvGraphicFramePr>
            <a:graphicFrameLocks noChangeAspect="1"/>
          </p:cNvGraphicFramePr>
          <p:nvPr/>
        </p:nvGraphicFramePr>
        <p:xfrm>
          <a:off x="390776" y="1063066"/>
          <a:ext cx="5628123" cy="1754044"/>
        </p:xfrm>
        <a:graphic>
          <a:graphicData uri="http://schemas.openxmlformats.org/presentationml/2006/ole">
            <mc:AlternateContent xmlns:mc="http://schemas.openxmlformats.org/markup-compatibility/2006">
              <mc:Choice xmlns:v="urn:schemas-microsoft-com:vml" Requires="v">
                <p:oleObj spid="_x0000_s46158" name="VISIO" r:id="rId1" imgW="4480560" imgH="1394460" progId="Visio.Drawing.4">
                  <p:embed/>
                </p:oleObj>
              </mc:Choice>
              <mc:Fallback>
                <p:oleObj name="VISIO" r:id="rId1" imgW="4480560" imgH="139446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776" y="1063066"/>
                        <a:ext cx="5628123" cy="1754044"/>
                      </a:xfrm>
                      <a:prstGeom prst="rect">
                        <a:avLst/>
                      </a:prstGeom>
                      <a:noFill/>
                      <a:ln>
                        <a:noFill/>
                      </a:ln>
                    </p:spPr>
                  </p:pic>
                </p:oleObj>
              </mc:Fallback>
            </mc:AlternateContent>
          </a:graphicData>
        </a:graphic>
      </p:graphicFrame>
      <p:graphicFrame>
        <p:nvGraphicFramePr>
          <p:cNvPr id="6" name="对象 5"/>
          <p:cNvGraphicFramePr>
            <a:graphicFrameLocks noChangeAspect="1"/>
          </p:cNvGraphicFramePr>
          <p:nvPr/>
        </p:nvGraphicFramePr>
        <p:xfrm>
          <a:off x="4010677" y="2817110"/>
          <a:ext cx="4617244" cy="2193131"/>
        </p:xfrm>
        <a:graphic>
          <a:graphicData uri="http://schemas.openxmlformats.org/presentationml/2006/ole">
            <mc:AlternateContent xmlns:mc="http://schemas.openxmlformats.org/markup-compatibility/2006">
              <mc:Choice xmlns:v="urn:schemas-microsoft-com:vml" Requires="v">
                <p:oleObj spid="_x0000_s46159" name="VISIO" r:id="rId3" imgW="3169920" imgH="1508760" progId="Visio.Drawing.11">
                  <p:embed/>
                </p:oleObj>
              </mc:Choice>
              <mc:Fallback>
                <p:oleObj name="VISIO" r:id="rId3" imgW="3169920" imgH="1508760" progId="Visio.Drawing.11">
                  <p:embed/>
                  <p:pic>
                    <p:nvPicPr>
                      <p:cNvPr id="0" name="对象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10677" y="2817110"/>
                        <a:ext cx="4617244" cy="21931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lnSpc>
                <a:spcPct val="100000"/>
              </a:lnSpc>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a:t>2</a:t>
            </a:r>
            <a:r>
              <a:rPr lang="zh-CN" altLang="en-US" dirty="0" smtClean="0"/>
              <a:t>）</a:t>
            </a:r>
            <a:r>
              <a:rPr lang="en-US" altLang="zh-CN" dirty="0" smtClean="0"/>
              <a:t>—RR</a:t>
            </a:r>
            <a:r>
              <a:rPr lang="zh-CN" altLang="en-US" dirty="0" smtClean="0"/>
              <a:t>旋转</a:t>
            </a:r>
            <a:endParaRPr lang="en-US" altLang="zh-CN" dirty="0" smtClean="0"/>
          </a:p>
          <a:p>
            <a:pPr marL="205105" indent="-205105">
              <a:lnSpc>
                <a:spcPct val="100000"/>
              </a:lnSpc>
              <a:spcBef>
                <a:spcPts val="0"/>
              </a:spcBef>
              <a:spcAft>
                <a:spcPts val="0"/>
              </a:spcAft>
            </a:pPr>
            <a:endParaRPr lang="en-US" altLang="zh-CN" dirty="0"/>
          </a:p>
          <a:p>
            <a:pPr marL="205105" indent="-205105">
              <a:lnSpc>
                <a:spcPct val="100000"/>
              </a:lnSpc>
              <a:spcBef>
                <a:spcPts val="0"/>
              </a:spcBef>
              <a:spcAft>
                <a:spcPts val="0"/>
              </a:spcAft>
            </a:pPr>
            <a:endParaRPr lang="en-US" altLang="zh-CN" dirty="0" smtClean="0"/>
          </a:p>
          <a:p>
            <a:pPr marL="205105" indent="-205105">
              <a:lnSpc>
                <a:spcPct val="100000"/>
              </a:lnSpc>
              <a:spcBef>
                <a:spcPts val="0"/>
              </a:spcBef>
              <a:spcAft>
                <a:spcPts val="0"/>
              </a:spcAft>
            </a:pPr>
            <a:endParaRPr lang="en-US" altLang="zh-CN" dirty="0"/>
          </a:p>
          <a:p>
            <a:pPr marL="205105" indent="-205105">
              <a:lnSpc>
                <a:spcPct val="100000"/>
              </a:lnSpc>
              <a:spcBef>
                <a:spcPts val="0"/>
              </a:spcBef>
              <a:spcAft>
                <a:spcPts val="0"/>
              </a:spcAft>
            </a:pPr>
            <a:endParaRPr lang="en-US" altLang="zh-CN" dirty="0" smtClean="0"/>
          </a:p>
          <a:p>
            <a:pPr marL="205105" indent="-205105">
              <a:lnSpc>
                <a:spcPct val="100000"/>
              </a:lnSpc>
              <a:spcBef>
                <a:spcPts val="0"/>
              </a:spcBef>
              <a:spcAft>
                <a:spcPts val="0"/>
              </a:spcAft>
            </a:pPr>
            <a:endParaRPr lang="en-US" altLang="zh-CN" dirty="0"/>
          </a:p>
          <a:p>
            <a:pPr marL="0" lvl="2">
              <a:lnSpc>
                <a:spcPct val="100000"/>
              </a:lnSpc>
            </a:pPr>
            <a:endParaRPr lang="en-US" altLang="zh-CN" dirty="0" smtClean="0"/>
          </a:p>
          <a:p>
            <a:pPr marL="0" lvl="2">
              <a:lnSpc>
                <a:spcPct val="100000"/>
              </a:lnSpc>
            </a:pPr>
            <a:r>
              <a:rPr lang="zh-CN" altLang="en-US" dirty="0" smtClean="0"/>
              <a:t>不平衡点</a:t>
            </a:r>
            <a:r>
              <a:rPr lang="en-US" altLang="zh-CN" dirty="0" smtClean="0">
                <a:solidFill>
                  <a:srgbClr val="C00000"/>
                </a:solidFill>
              </a:rPr>
              <a:t>A</a:t>
            </a:r>
            <a:r>
              <a:rPr lang="zh-CN" altLang="en-US" dirty="0"/>
              <a:t>，插入</a:t>
            </a:r>
            <a:r>
              <a:rPr lang="zh-CN" altLang="en-US" dirty="0" smtClean="0"/>
              <a:t>结点</a:t>
            </a:r>
            <a:r>
              <a:rPr lang="en-US" altLang="zh-CN" dirty="0" smtClean="0">
                <a:solidFill>
                  <a:srgbClr val="C00000"/>
                </a:solidFill>
              </a:rPr>
              <a:t>70</a:t>
            </a:r>
            <a:r>
              <a:rPr lang="zh-CN" altLang="en-US" dirty="0" smtClean="0"/>
              <a:t>在</a:t>
            </a:r>
            <a:r>
              <a:rPr lang="en-US" altLang="zh-CN" dirty="0"/>
              <a:t>A</a:t>
            </a:r>
            <a:r>
              <a:rPr lang="zh-CN" altLang="en-US" dirty="0" smtClean="0"/>
              <a:t>的</a:t>
            </a:r>
            <a:endParaRPr lang="en-US" altLang="zh-CN" dirty="0" smtClean="0"/>
          </a:p>
          <a:p>
            <a:pPr marL="0" lvl="2">
              <a:lnSpc>
                <a:spcPct val="100000"/>
              </a:lnSpc>
            </a:pPr>
            <a:r>
              <a:rPr lang="zh-CN" altLang="en-US" dirty="0">
                <a:solidFill>
                  <a:srgbClr val="C00000"/>
                </a:solidFill>
              </a:rPr>
              <a:t>右</a:t>
            </a:r>
            <a:r>
              <a:rPr lang="zh-CN" altLang="en-US" dirty="0" smtClean="0">
                <a:solidFill>
                  <a:srgbClr val="C00000"/>
                </a:solidFill>
              </a:rPr>
              <a:t>子树</a:t>
            </a:r>
            <a:r>
              <a:rPr lang="zh-CN" altLang="en-US" dirty="0" smtClean="0"/>
              <a:t>的</a:t>
            </a:r>
            <a:r>
              <a:rPr lang="zh-CN" altLang="en-US" dirty="0">
                <a:solidFill>
                  <a:srgbClr val="C00000"/>
                </a:solidFill>
              </a:rPr>
              <a:t>右</a:t>
            </a:r>
            <a:r>
              <a:rPr lang="zh-CN" altLang="en-US" dirty="0" smtClean="0">
                <a:solidFill>
                  <a:srgbClr val="C00000"/>
                </a:solidFill>
              </a:rPr>
              <a:t>边</a:t>
            </a:r>
            <a:r>
              <a:rPr lang="zh-CN" altLang="en-US" dirty="0" smtClean="0"/>
              <a:t>，因而</a:t>
            </a:r>
            <a:r>
              <a:rPr lang="zh-CN" altLang="en-US" dirty="0"/>
              <a:t>叫 </a:t>
            </a:r>
            <a:r>
              <a:rPr lang="en-US" altLang="zh-CN" dirty="0"/>
              <a:t>RR</a:t>
            </a:r>
            <a:r>
              <a:rPr lang="en-US" altLang="zh-CN" dirty="0" smtClean="0"/>
              <a:t> </a:t>
            </a:r>
            <a:r>
              <a:rPr lang="zh-CN" altLang="en-US" dirty="0"/>
              <a:t>插入</a:t>
            </a:r>
            <a:r>
              <a:rPr lang="zh-CN" altLang="en-US" dirty="0" smtClean="0"/>
              <a:t>，</a:t>
            </a:r>
            <a:endParaRPr lang="en-US" altLang="zh-CN" dirty="0" smtClean="0"/>
          </a:p>
          <a:p>
            <a:pPr marL="0" lvl="2">
              <a:lnSpc>
                <a:spcPct val="100000"/>
              </a:lnSpc>
            </a:pPr>
            <a:r>
              <a:rPr lang="zh-CN" altLang="en-US" dirty="0" smtClean="0"/>
              <a:t>需要</a:t>
            </a:r>
            <a:r>
              <a:rPr lang="en-US" altLang="zh-CN" dirty="0">
                <a:solidFill>
                  <a:srgbClr val="FF0000"/>
                </a:solidFill>
              </a:rPr>
              <a:t>RR</a:t>
            </a:r>
            <a:r>
              <a:rPr lang="en-US" altLang="zh-CN" dirty="0" smtClean="0">
                <a:solidFill>
                  <a:srgbClr val="FF0000"/>
                </a:solidFill>
              </a:rPr>
              <a:t> </a:t>
            </a:r>
            <a:r>
              <a:rPr lang="zh-CN" altLang="en-US" dirty="0">
                <a:solidFill>
                  <a:srgbClr val="FF0000"/>
                </a:solidFill>
              </a:rPr>
              <a:t>旋转</a:t>
            </a:r>
            <a:r>
              <a:rPr lang="zh-CN" altLang="en-US" dirty="0" smtClean="0"/>
              <a:t>。</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7" name="Object 6"/>
          <p:cNvGraphicFramePr>
            <a:graphicFrameLocks noChangeAspect="1"/>
          </p:cNvGraphicFramePr>
          <p:nvPr/>
        </p:nvGraphicFramePr>
        <p:xfrm>
          <a:off x="403886" y="948086"/>
          <a:ext cx="5640780" cy="1869024"/>
        </p:xfrm>
        <a:graphic>
          <a:graphicData uri="http://schemas.openxmlformats.org/presentationml/2006/ole">
            <mc:AlternateContent xmlns:mc="http://schemas.openxmlformats.org/markup-compatibility/2006">
              <mc:Choice xmlns:v="urn:schemas-microsoft-com:vml" Requires="v">
                <p:oleObj spid="_x0000_s47180" name="VISIO" r:id="rId1" imgW="4000500" imgH="1325880" progId="Visio.Drawing.4">
                  <p:embed/>
                </p:oleObj>
              </mc:Choice>
              <mc:Fallback>
                <p:oleObj name="VISIO" r:id="rId1" imgW="4000500" imgH="132588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3886" y="948086"/>
                        <a:ext cx="5640780" cy="1869024"/>
                      </a:xfrm>
                      <a:prstGeom prst="rect">
                        <a:avLst/>
                      </a:prstGeom>
                      <a:noFill/>
                      <a:ln>
                        <a:noFill/>
                      </a:ln>
                    </p:spPr>
                  </p:pic>
                </p:oleObj>
              </mc:Fallback>
            </mc:AlternateContent>
          </a:graphicData>
        </a:graphic>
      </p:graphicFrame>
      <p:graphicFrame>
        <p:nvGraphicFramePr>
          <p:cNvPr id="8" name="对象 7"/>
          <p:cNvGraphicFramePr>
            <a:graphicFrameLocks noChangeAspect="1"/>
          </p:cNvGraphicFramePr>
          <p:nvPr/>
        </p:nvGraphicFramePr>
        <p:xfrm>
          <a:off x="4280824" y="2793459"/>
          <a:ext cx="4465632" cy="2240603"/>
        </p:xfrm>
        <a:graphic>
          <a:graphicData uri="http://schemas.openxmlformats.org/presentationml/2006/ole">
            <mc:AlternateContent xmlns:mc="http://schemas.openxmlformats.org/markup-compatibility/2006">
              <mc:Choice xmlns:v="urn:schemas-microsoft-com:vml" Requires="v">
                <p:oleObj spid="_x0000_s47181" name="VISIO" r:id="rId3" imgW="3002280" imgH="1508760" progId="Visio.Drawing.11">
                  <p:embed/>
                </p:oleObj>
              </mc:Choice>
              <mc:Fallback>
                <p:oleObj name="VISIO" r:id="rId3" imgW="3002280" imgH="1508760" progId="Visio.Drawing.11">
                  <p:embed/>
                  <p:pic>
                    <p:nvPicPr>
                      <p:cNvPr id="0" name="对象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0824" y="2793459"/>
                        <a:ext cx="4465632" cy="2240603"/>
                      </a:xfrm>
                      <a:prstGeom prst="rect">
                        <a:avLst/>
                      </a:prstGeom>
                      <a:noFill/>
                      <a:ln>
                        <a:noFill/>
                      </a:ln>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smtClean="0"/>
              <a:t>3</a:t>
            </a:r>
            <a:r>
              <a:rPr lang="zh-CN" altLang="en-US" dirty="0" smtClean="0"/>
              <a:t>）</a:t>
            </a:r>
            <a:r>
              <a:rPr lang="en-US" altLang="zh-CN" dirty="0" smtClean="0"/>
              <a:t>—LR</a:t>
            </a:r>
            <a:r>
              <a:rPr lang="zh-CN" altLang="en-US" dirty="0" smtClean="0"/>
              <a:t>旋转</a:t>
            </a:r>
            <a:endParaRPr lang="en-US" altLang="zh-CN" dirty="0" smtClean="0"/>
          </a:p>
          <a:p>
            <a:pPr marL="0" lvl="2">
              <a:lnSpc>
                <a:spcPts val="3000"/>
              </a:lnSpc>
            </a:pPr>
            <a:r>
              <a:rPr lang="zh-CN" altLang="en-US" sz="2400" dirty="0" smtClean="0"/>
              <a:t>不平衡</a:t>
            </a:r>
            <a:r>
              <a:rPr lang="zh-CN" altLang="en-US" sz="2400" dirty="0"/>
              <a:t>点</a:t>
            </a:r>
            <a:r>
              <a:rPr lang="en-US" altLang="zh-CN" sz="2400" dirty="0">
                <a:solidFill>
                  <a:srgbClr val="C00000"/>
                </a:solidFill>
              </a:rPr>
              <a:t>A</a:t>
            </a:r>
            <a:r>
              <a:rPr lang="zh-CN" altLang="en-US" sz="2400" dirty="0"/>
              <a:t>，插入</a:t>
            </a:r>
            <a:r>
              <a:rPr lang="zh-CN" altLang="en-US" sz="2400" dirty="0" smtClean="0"/>
              <a:t>结点</a:t>
            </a:r>
            <a:r>
              <a:rPr lang="en-US" altLang="zh-CN" sz="2400" dirty="0">
                <a:solidFill>
                  <a:srgbClr val="C00000"/>
                </a:solidFill>
              </a:rPr>
              <a:t>4</a:t>
            </a:r>
            <a:r>
              <a:rPr lang="en-US" altLang="zh-CN" sz="2400" dirty="0" smtClean="0">
                <a:solidFill>
                  <a:srgbClr val="C00000"/>
                </a:solidFill>
              </a:rPr>
              <a:t>5</a:t>
            </a:r>
            <a:r>
              <a:rPr lang="zh-CN" altLang="en-US" sz="2400" dirty="0" smtClean="0"/>
              <a:t>在</a:t>
            </a:r>
            <a:r>
              <a:rPr lang="en-US" altLang="zh-CN" sz="2400" dirty="0"/>
              <a:t>A</a:t>
            </a:r>
            <a:r>
              <a:rPr lang="zh-CN" altLang="en-US" sz="2400" dirty="0"/>
              <a:t>的</a:t>
            </a:r>
            <a:endParaRPr lang="en-US" altLang="zh-CN" sz="2400" dirty="0"/>
          </a:p>
          <a:p>
            <a:pPr marL="0" lvl="2">
              <a:lnSpc>
                <a:spcPts val="3000"/>
              </a:lnSpc>
            </a:pPr>
            <a:r>
              <a:rPr lang="zh-CN" altLang="en-US" sz="2400" dirty="0" smtClean="0">
                <a:solidFill>
                  <a:srgbClr val="C00000"/>
                </a:solidFill>
              </a:rPr>
              <a:t>左子树</a:t>
            </a:r>
            <a:r>
              <a:rPr lang="zh-CN" altLang="en-US" sz="2400" dirty="0"/>
              <a:t>的</a:t>
            </a:r>
            <a:r>
              <a:rPr lang="zh-CN" altLang="en-US" sz="2400" dirty="0">
                <a:solidFill>
                  <a:srgbClr val="C00000"/>
                </a:solidFill>
              </a:rPr>
              <a:t>右边</a:t>
            </a:r>
            <a:r>
              <a:rPr lang="zh-CN" altLang="en-US" sz="2400" dirty="0"/>
              <a:t>，因而叫 </a:t>
            </a:r>
            <a:r>
              <a:rPr lang="en-US" altLang="zh-CN" sz="2400" dirty="0" smtClean="0"/>
              <a:t>LR </a:t>
            </a:r>
            <a:r>
              <a:rPr lang="zh-CN" altLang="en-US" sz="2400" dirty="0"/>
              <a:t>插入，</a:t>
            </a:r>
            <a:endParaRPr lang="en-US" altLang="zh-CN" sz="2400" dirty="0"/>
          </a:p>
          <a:p>
            <a:pPr marL="0" lvl="2">
              <a:lnSpc>
                <a:spcPts val="3000"/>
              </a:lnSpc>
            </a:pPr>
            <a:r>
              <a:rPr lang="zh-CN" altLang="en-US" sz="2400" dirty="0" smtClean="0"/>
              <a:t>需要</a:t>
            </a:r>
            <a:r>
              <a:rPr lang="en-US" altLang="zh-CN" sz="2400" dirty="0" smtClean="0">
                <a:solidFill>
                  <a:srgbClr val="FF0000"/>
                </a:solidFill>
              </a:rPr>
              <a:t>LR </a:t>
            </a:r>
            <a:r>
              <a:rPr lang="zh-CN" altLang="en-US" sz="2400" dirty="0">
                <a:solidFill>
                  <a:srgbClr val="FF0000"/>
                </a:solidFill>
              </a:rPr>
              <a:t>旋转</a:t>
            </a:r>
            <a:r>
              <a:rPr lang="zh-CN" altLang="en-US" sz="2400" dirty="0" smtClean="0"/>
              <a:t>。</a:t>
            </a:r>
            <a:endParaRPr lang="en-US" altLang="zh-CN" sz="2400" dirty="0" smtClean="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6" name="Object 5"/>
          <p:cNvGraphicFramePr>
            <a:graphicFrameLocks noChangeAspect="1"/>
          </p:cNvGraphicFramePr>
          <p:nvPr/>
        </p:nvGraphicFramePr>
        <p:xfrm>
          <a:off x="4180387" y="1042795"/>
          <a:ext cx="4817269" cy="3636169"/>
        </p:xfrm>
        <a:graphic>
          <a:graphicData uri="http://schemas.openxmlformats.org/presentationml/2006/ole">
            <mc:AlternateContent xmlns:mc="http://schemas.openxmlformats.org/markup-compatibility/2006">
              <mc:Choice xmlns:v="urn:schemas-microsoft-com:vml" Requires="v">
                <p:oleObj spid="_x0000_s48167" name="VISIO" r:id="rId1" imgW="4297680" imgH="3246120" progId="Visio.Drawing.4">
                  <p:embed/>
                </p:oleObj>
              </mc:Choice>
              <mc:Fallback>
                <p:oleObj name="VISIO" r:id="rId1" imgW="4297680" imgH="324612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0387" y="1042795"/>
                        <a:ext cx="4817269" cy="3636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smtClean="0"/>
              <a:t>3</a:t>
            </a:r>
            <a:r>
              <a:rPr lang="zh-CN" altLang="en-US" dirty="0" smtClean="0"/>
              <a:t>）</a:t>
            </a:r>
            <a:r>
              <a:rPr lang="en-US" altLang="zh-CN" dirty="0" smtClean="0"/>
              <a:t>—LR</a:t>
            </a:r>
            <a:r>
              <a:rPr lang="zh-CN" altLang="en-US" dirty="0" smtClean="0"/>
              <a:t>旋转</a:t>
            </a:r>
            <a:endParaRPr lang="en-US" altLang="zh-CN" dirty="0" smtClean="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Object 6"/>
          <p:cNvGraphicFramePr>
            <a:graphicFrameLocks noChangeAspect="1"/>
          </p:cNvGraphicFramePr>
          <p:nvPr/>
        </p:nvGraphicFramePr>
        <p:xfrm>
          <a:off x="996817" y="1251398"/>
          <a:ext cx="6400800" cy="3064669"/>
        </p:xfrm>
        <a:graphic>
          <a:graphicData uri="http://schemas.openxmlformats.org/presentationml/2006/ole">
            <mc:AlternateContent xmlns:mc="http://schemas.openxmlformats.org/markup-compatibility/2006">
              <mc:Choice xmlns:v="urn:schemas-microsoft-com:vml" Requires="v">
                <p:oleObj spid="_x0000_s49191" name="VISIO" r:id="rId1" imgW="3672840" imgH="1760220" progId="Visio.Drawing.11">
                  <p:embed/>
                </p:oleObj>
              </mc:Choice>
              <mc:Fallback>
                <p:oleObj name="VISIO" r:id="rId1" imgW="3672840" imgH="1760220" progId="Visio.Drawing.11">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817" y="1251398"/>
                        <a:ext cx="6400800" cy="30646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a:t>4</a:t>
            </a:r>
            <a:r>
              <a:rPr lang="zh-CN" altLang="en-US" dirty="0" smtClean="0"/>
              <a:t>）</a:t>
            </a:r>
            <a:r>
              <a:rPr lang="en-US" altLang="zh-CN" dirty="0" smtClean="0"/>
              <a:t>—RL</a:t>
            </a:r>
            <a:r>
              <a:rPr lang="zh-CN" altLang="en-US" dirty="0" smtClean="0"/>
              <a:t>旋转</a:t>
            </a:r>
            <a:endParaRPr lang="en-US" altLang="zh-CN" dirty="0" smtClean="0"/>
          </a:p>
          <a:p>
            <a:pPr marL="0" lvl="2">
              <a:lnSpc>
                <a:spcPts val="3000"/>
              </a:lnSpc>
            </a:pPr>
            <a:r>
              <a:rPr lang="zh-CN" altLang="en-US" sz="2400" dirty="0"/>
              <a:t>不平衡点</a:t>
            </a:r>
            <a:r>
              <a:rPr lang="en-US" altLang="zh-CN" sz="2400" dirty="0">
                <a:solidFill>
                  <a:srgbClr val="C00000"/>
                </a:solidFill>
              </a:rPr>
              <a:t>A</a:t>
            </a:r>
            <a:r>
              <a:rPr lang="zh-CN" altLang="en-US" sz="2400" dirty="0"/>
              <a:t>，插入</a:t>
            </a:r>
            <a:r>
              <a:rPr lang="zh-CN" altLang="en-US" sz="2400" dirty="0" smtClean="0"/>
              <a:t>结点</a:t>
            </a:r>
            <a:r>
              <a:rPr lang="en-US" altLang="zh-CN" sz="2400" dirty="0" smtClean="0">
                <a:solidFill>
                  <a:srgbClr val="C00000"/>
                </a:solidFill>
              </a:rPr>
              <a:t>55</a:t>
            </a:r>
            <a:r>
              <a:rPr lang="zh-CN" altLang="en-US" sz="2400" dirty="0" smtClean="0"/>
              <a:t>在</a:t>
            </a:r>
            <a:r>
              <a:rPr lang="en-US" altLang="zh-CN" sz="2400" dirty="0"/>
              <a:t>A</a:t>
            </a:r>
            <a:r>
              <a:rPr lang="zh-CN" altLang="en-US" sz="2400" dirty="0"/>
              <a:t>的</a:t>
            </a:r>
            <a:endParaRPr lang="en-US" altLang="zh-CN" sz="2400" dirty="0"/>
          </a:p>
          <a:p>
            <a:pPr marL="0" lvl="2">
              <a:lnSpc>
                <a:spcPts val="3000"/>
              </a:lnSpc>
            </a:pPr>
            <a:r>
              <a:rPr lang="zh-CN" altLang="en-US" sz="2400" dirty="0">
                <a:solidFill>
                  <a:srgbClr val="C00000"/>
                </a:solidFill>
              </a:rPr>
              <a:t>右</a:t>
            </a:r>
            <a:r>
              <a:rPr lang="zh-CN" altLang="en-US" sz="2400" dirty="0" smtClean="0">
                <a:solidFill>
                  <a:srgbClr val="C00000"/>
                </a:solidFill>
              </a:rPr>
              <a:t>子树</a:t>
            </a:r>
            <a:r>
              <a:rPr lang="zh-CN" altLang="en-US" sz="2400" dirty="0" smtClean="0"/>
              <a:t>的</a:t>
            </a:r>
            <a:r>
              <a:rPr lang="zh-CN" altLang="en-US" sz="2400" dirty="0" smtClean="0">
                <a:solidFill>
                  <a:srgbClr val="C00000"/>
                </a:solidFill>
              </a:rPr>
              <a:t>左边</a:t>
            </a:r>
            <a:r>
              <a:rPr lang="zh-CN" altLang="en-US" sz="2400" dirty="0" smtClean="0"/>
              <a:t>，叫 </a:t>
            </a:r>
            <a:r>
              <a:rPr lang="en-US" altLang="zh-CN" sz="2400" dirty="0" smtClean="0"/>
              <a:t>RL </a:t>
            </a:r>
            <a:r>
              <a:rPr lang="zh-CN" altLang="en-US" sz="2400" dirty="0"/>
              <a:t>插入，</a:t>
            </a:r>
            <a:endParaRPr lang="en-US" altLang="zh-CN" sz="2400" dirty="0"/>
          </a:p>
          <a:p>
            <a:pPr marL="0" lvl="2">
              <a:lnSpc>
                <a:spcPts val="3000"/>
              </a:lnSpc>
            </a:pPr>
            <a:r>
              <a:rPr lang="zh-CN" altLang="en-US" sz="2400" dirty="0" smtClean="0"/>
              <a:t>需要</a:t>
            </a:r>
            <a:r>
              <a:rPr lang="en-US" altLang="zh-CN" sz="2400" dirty="0" smtClean="0">
                <a:solidFill>
                  <a:srgbClr val="FF0000"/>
                </a:solidFill>
              </a:rPr>
              <a:t>RL </a:t>
            </a:r>
            <a:r>
              <a:rPr lang="zh-CN" altLang="en-US" sz="2400" dirty="0">
                <a:solidFill>
                  <a:srgbClr val="FF0000"/>
                </a:solidFill>
              </a:rPr>
              <a:t>旋转</a:t>
            </a:r>
            <a:r>
              <a:rPr lang="zh-CN" altLang="en-US" sz="2400" dirty="0" smtClean="0"/>
              <a:t>。</a:t>
            </a:r>
            <a:endParaRPr lang="en-US" altLang="zh-CN" sz="2400" dirty="0" smtClean="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对象 1"/>
          <p:cNvGraphicFramePr>
            <a:graphicFrameLocks noChangeAspect="1"/>
          </p:cNvGraphicFramePr>
          <p:nvPr/>
        </p:nvGraphicFramePr>
        <p:xfrm>
          <a:off x="4029602" y="1127319"/>
          <a:ext cx="4972050" cy="3725466"/>
        </p:xfrm>
        <a:graphic>
          <a:graphicData uri="http://schemas.openxmlformats.org/presentationml/2006/ole">
            <mc:AlternateContent xmlns:mc="http://schemas.openxmlformats.org/markup-compatibility/2006">
              <mc:Choice xmlns:v="urn:schemas-microsoft-com:vml" Requires="v">
                <p:oleObj spid="_x0000_s50215" name="VISIO" r:id="rId1" imgW="4290060" imgH="3215640" progId="Visio.Drawing.11">
                  <p:embed/>
                </p:oleObj>
              </mc:Choice>
              <mc:Fallback>
                <p:oleObj name="VISIO" r:id="rId1" imgW="4290060" imgH="3215640" progId="Visio.Drawing.11">
                  <p:embed/>
                  <p:pic>
                    <p:nvPicPr>
                      <p:cNvPr id="0" name="对象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9602" y="1127319"/>
                        <a:ext cx="4972050" cy="37254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spcBef>
                <a:spcPts val="0"/>
              </a:spcBef>
              <a:spcAft>
                <a:spcPts val="0"/>
              </a:spcAft>
            </a:pPr>
            <a:r>
              <a:rPr lang="zh-CN" altLang="en-US" dirty="0" smtClean="0"/>
              <a:t>平衡</a:t>
            </a:r>
            <a:r>
              <a:rPr lang="zh-CN" altLang="en-US" dirty="0"/>
              <a:t>二叉排序树的</a:t>
            </a:r>
            <a:r>
              <a:rPr lang="zh-CN" altLang="en-US" dirty="0" smtClean="0"/>
              <a:t>调整（</a:t>
            </a:r>
            <a:r>
              <a:rPr lang="en-US" altLang="zh-CN" dirty="0"/>
              <a:t>4</a:t>
            </a:r>
            <a:r>
              <a:rPr lang="zh-CN" altLang="en-US" dirty="0" smtClean="0"/>
              <a:t>）</a:t>
            </a:r>
            <a:r>
              <a:rPr lang="en-US" altLang="zh-CN" dirty="0" smtClean="0"/>
              <a:t>—RL</a:t>
            </a:r>
            <a:r>
              <a:rPr lang="zh-CN" altLang="en-US" dirty="0" smtClean="0"/>
              <a:t>旋转</a:t>
            </a:r>
            <a:endParaRPr lang="en-US" altLang="zh-CN" dirty="0" smtClean="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6" name="Object 6"/>
          <p:cNvGraphicFramePr>
            <a:graphicFrameLocks noChangeAspect="1"/>
          </p:cNvGraphicFramePr>
          <p:nvPr/>
        </p:nvGraphicFramePr>
        <p:xfrm>
          <a:off x="960120" y="1075160"/>
          <a:ext cx="6858000" cy="3498056"/>
        </p:xfrm>
        <a:graphic>
          <a:graphicData uri="http://schemas.openxmlformats.org/presentationml/2006/ole">
            <mc:AlternateContent xmlns:mc="http://schemas.openxmlformats.org/markup-compatibility/2006">
              <mc:Choice xmlns:v="urn:schemas-microsoft-com:vml" Requires="v">
                <p:oleObj spid="_x0000_s51239" name="VISIO" r:id="rId1" imgW="3444240" imgH="1760220" progId="Visio.Drawing.4">
                  <p:embed/>
                </p:oleObj>
              </mc:Choice>
              <mc:Fallback>
                <p:oleObj name="VISIO" r:id="rId1" imgW="3444240" imgH="176022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0120" y="1075160"/>
                        <a:ext cx="6858000" cy="34980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ts val="3100"/>
              </a:lnSpc>
              <a:spcBef>
                <a:spcPts val="0"/>
              </a:spcBef>
            </a:pPr>
            <a:r>
              <a:rPr lang="zh-CN" altLang="en-US" dirty="0" smtClean="0"/>
              <a:t>综上所述</a:t>
            </a:r>
            <a:r>
              <a:rPr lang="zh-CN" altLang="en-US" dirty="0"/>
              <a:t>，在一个平衡二叉排序树上插入一个新结点</a:t>
            </a:r>
            <a:r>
              <a:rPr lang="en-US" altLang="zh-CN" dirty="0"/>
              <a:t>S</a:t>
            </a:r>
            <a:r>
              <a:rPr lang="zh-CN" altLang="en-US" dirty="0"/>
              <a:t>时，主要包括以下三</a:t>
            </a:r>
            <a:r>
              <a:rPr lang="zh-CN" altLang="en-US" dirty="0" smtClean="0"/>
              <a:t>步：</a:t>
            </a:r>
            <a:endParaRPr lang="en-US" altLang="zh-CN" dirty="0" smtClean="0"/>
          </a:p>
          <a:p>
            <a:pPr lvl="2">
              <a:lnSpc>
                <a:spcPts val="3100"/>
              </a:lnSpc>
            </a:pPr>
            <a:r>
              <a:rPr lang="zh-CN" altLang="en-US" dirty="0" smtClean="0"/>
              <a:t>（</a:t>
            </a:r>
            <a:r>
              <a:rPr lang="en-US" altLang="zh-CN" dirty="0" smtClean="0"/>
              <a:t>1</a:t>
            </a:r>
            <a:r>
              <a:rPr lang="zh-CN" altLang="en-US" dirty="0"/>
              <a:t>） 查找应插位置，同时记录离插入位置最近的可能失衡结点</a:t>
            </a:r>
            <a:r>
              <a:rPr lang="en-US" altLang="zh-CN" dirty="0"/>
              <a:t>A</a:t>
            </a:r>
            <a:r>
              <a:rPr lang="zh-CN" altLang="en-US" dirty="0"/>
              <a:t>（</a:t>
            </a:r>
            <a:r>
              <a:rPr lang="en-US" altLang="zh-CN" dirty="0"/>
              <a:t>A</a:t>
            </a:r>
            <a:r>
              <a:rPr lang="zh-CN" altLang="en-US" dirty="0"/>
              <a:t>的平衡因子不等于</a:t>
            </a:r>
            <a:r>
              <a:rPr lang="en-US" altLang="zh-CN" dirty="0"/>
              <a:t>0</a:t>
            </a:r>
            <a:r>
              <a:rPr lang="zh-CN" altLang="en-US" dirty="0"/>
              <a:t>）。 </a:t>
            </a:r>
            <a:endParaRPr lang="en-US" altLang="zh-CN" dirty="0" smtClean="0"/>
          </a:p>
          <a:p>
            <a:pPr lvl="2">
              <a:lnSpc>
                <a:spcPts val="3100"/>
              </a:lnSpc>
            </a:pPr>
            <a:r>
              <a:rPr lang="zh-CN" altLang="en-US" dirty="0" smtClean="0"/>
              <a:t>（</a:t>
            </a:r>
            <a:r>
              <a:rPr lang="en-US" altLang="zh-CN" dirty="0"/>
              <a:t>2</a:t>
            </a:r>
            <a:r>
              <a:rPr lang="zh-CN" altLang="en-US" dirty="0"/>
              <a:t>） 插入新结点</a:t>
            </a:r>
            <a:r>
              <a:rPr lang="en-US" altLang="zh-CN" dirty="0"/>
              <a:t>S</a:t>
            </a:r>
            <a:r>
              <a:rPr lang="zh-CN" altLang="en-US" dirty="0"/>
              <a:t>，并修改从</a:t>
            </a:r>
            <a:r>
              <a:rPr lang="en-US" altLang="zh-CN" dirty="0"/>
              <a:t>A</a:t>
            </a:r>
            <a:r>
              <a:rPr lang="zh-CN" altLang="en-US" dirty="0"/>
              <a:t>到</a:t>
            </a:r>
            <a:r>
              <a:rPr lang="en-US" altLang="zh-CN" dirty="0"/>
              <a:t>S</a:t>
            </a:r>
            <a:r>
              <a:rPr lang="zh-CN" altLang="en-US" dirty="0"/>
              <a:t>路径上各结点的平衡</a:t>
            </a:r>
            <a:r>
              <a:rPr lang="zh-CN" altLang="en-US" dirty="0" smtClean="0"/>
              <a:t>因子。</a:t>
            </a:r>
            <a:endParaRPr lang="en-US" altLang="zh-CN" dirty="0" smtClean="0"/>
          </a:p>
          <a:p>
            <a:pPr lvl="2">
              <a:lnSpc>
                <a:spcPts val="3100"/>
              </a:lnSpc>
            </a:pPr>
            <a:r>
              <a:rPr lang="zh-CN" altLang="en-US" dirty="0" smtClean="0"/>
              <a:t>（</a:t>
            </a:r>
            <a:r>
              <a:rPr lang="en-US" altLang="zh-CN" dirty="0"/>
              <a:t>3</a:t>
            </a:r>
            <a:r>
              <a:rPr lang="zh-CN" altLang="en-US" dirty="0"/>
              <a:t>） 根据</a:t>
            </a:r>
            <a:r>
              <a:rPr lang="en-US" altLang="zh-CN" dirty="0"/>
              <a:t>A</a:t>
            </a:r>
            <a:r>
              <a:rPr lang="zh-CN" altLang="en-US" dirty="0"/>
              <a:t>、</a:t>
            </a:r>
            <a:r>
              <a:rPr lang="en-US" altLang="zh-CN" dirty="0"/>
              <a:t>B</a:t>
            </a:r>
            <a:r>
              <a:rPr lang="zh-CN" altLang="en-US" dirty="0"/>
              <a:t>的平衡因子，判断是否失衡以及失衡类型，并做相应处理。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spcBef>
                <a:spcPct val="0"/>
              </a:spcBef>
            </a:pPr>
            <a:r>
              <a:rPr lang="en-US" altLang="zh-CN" sz="2400" dirty="0">
                <a:ea typeface="宋体" panose="02010600030101010101" pitchFamily="2" charset="-122"/>
              </a:rPr>
              <a:t>8.2.2  </a:t>
            </a:r>
            <a:r>
              <a:rPr lang="en-US" altLang="zh-CN" sz="2400" dirty="0" smtClean="0">
                <a:ea typeface="宋体" panose="02010600030101010101" pitchFamily="2" charset="-122"/>
              </a:rPr>
              <a:t>B-</a:t>
            </a:r>
            <a:r>
              <a:rPr lang="zh-CN" altLang="en-US" sz="2400" dirty="0">
                <a:latin typeface="宋体" panose="02010600030101010101" pitchFamily="2" charset="-122"/>
                <a:ea typeface="宋体" panose="02010600030101010101" pitchFamily="2" charset="-122"/>
              </a:rPr>
              <a:t>树和</a:t>
            </a:r>
            <a:r>
              <a:rPr lang="en-US" altLang="zh-CN" sz="2400" dirty="0">
                <a:ea typeface="宋体" panose="02010600030101010101" pitchFamily="2" charset="-122"/>
              </a:rPr>
              <a:t>B+</a:t>
            </a:r>
            <a:r>
              <a:rPr lang="zh-CN" altLang="en-US" sz="2400" dirty="0">
                <a:latin typeface="宋体" panose="02010600030101010101" pitchFamily="2" charset="-122"/>
                <a:ea typeface="宋体" panose="02010600030101010101" pitchFamily="2" charset="-122"/>
              </a:rPr>
              <a:t>树</a:t>
            </a:r>
            <a:r>
              <a:rPr lang="zh-CN" altLang="en-US" sz="2400" dirty="0">
                <a:ea typeface="宋体" panose="02010600030101010101" pitchFamily="2" charset="-122"/>
              </a:rPr>
              <a:t> </a:t>
            </a:r>
            <a:endParaRPr lang="zh-CN" altLang="en-US" sz="2400" dirty="0">
              <a:ea typeface="宋体" panose="02010600030101010101" pitchFamily="2" charset="-122"/>
            </a:endParaRPr>
          </a:p>
          <a:p>
            <a:pPr algn="just" eaLnBrk="1" hangingPunct="1">
              <a:lnSpc>
                <a:spcPts val="3000"/>
              </a:lnSpc>
            </a:pPr>
            <a:r>
              <a:rPr lang="en-US" altLang="zh-CN" sz="2400" dirty="0">
                <a:ea typeface="宋体" panose="02010600030101010101" pitchFamily="2" charset="-122"/>
              </a:rPr>
              <a:t>1. m路查找树</a:t>
            </a:r>
            <a:endParaRPr lang="en-US" altLang="zh-CN" sz="2400" dirty="0">
              <a:ea typeface="宋体" panose="02010600030101010101" pitchFamily="2" charset="-122"/>
            </a:endParaRPr>
          </a:p>
          <a:p>
            <a:pPr algn="just" eaLnBrk="1" hangingPunct="1">
              <a:spcBef>
                <a:spcPts val="0"/>
              </a:spcBef>
            </a:pPr>
            <a:r>
              <a:rPr lang="en-US" altLang="zh-CN" sz="2400" dirty="0">
                <a:ea typeface="宋体" panose="02010600030101010101" pitchFamily="2" charset="-122"/>
              </a:rPr>
              <a:t>      </a:t>
            </a:r>
            <a:r>
              <a:rPr sz="2000" dirty="0">
                <a:solidFill>
                  <a:srgbClr val="00194C"/>
                </a:solidFill>
                <a:latin typeface="华文楷体" panose="02010600040101010101" pitchFamily="2" charset="-122"/>
                <a:ea typeface="宋体" panose="02010600030101010101" pitchFamily="2" charset="-122"/>
              </a:rPr>
              <a:t>与二叉排序树类似，可以定义一种“m叉排序树”，通常称为m路查找树。</a:t>
            </a:r>
            <a:endParaRPr sz="2000" dirty="0">
              <a:solidFill>
                <a:srgbClr val="00194C"/>
              </a:solidFill>
              <a:latin typeface="华文楷体" panose="02010600040101010101" pitchFamily="2" charset="-122"/>
              <a:ea typeface="宋体" panose="02010600030101010101" pitchFamily="2" charset="-122"/>
            </a:endParaRPr>
          </a:p>
          <a:p>
            <a:pPr algn="just" eaLnBrk="1" hangingPunct="1">
              <a:spcBef>
                <a:spcPts val="0"/>
              </a:spcBef>
            </a:pPr>
            <a:r>
              <a:rPr sz="2000" dirty="0">
                <a:solidFill>
                  <a:srgbClr val="00194C"/>
                </a:solidFill>
                <a:latin typeface="华文楷体" panose="02010600040101010101" pitchFamily="2" charset="-122"/>
                <a:ea typeface="宋体" panose="02010600030101010101" pitchFamily="2" charset="-122"/>
              </a:rPr>
              <a:t>      一棵m路查找树，或者是一棵空树，或者是满足如下性质的树：</a:t>
            </a:r>
            <a:endParaRPr lang="zh-CN" altLang="en-US" sz="2000" dirty="0">
              <a:solidFill>
                <a:srgbClr val="00194C"/>
              </a:solidFill>
              <a:latin typeface="华文楷体" panose="02010600040101010101" pitchFamily="2" charset="-122"/>
              <a:ea typeface="宋体" panose="02010600030101010101" pitchFamily="2" charset="-122"/>
            </a:endParaRPr>
          </a:p>
          <a:p>
            <a:pPr lvl="2">
              <a:lnSpc>
                <a:spcPts val="2500"/>
              </a:lnSpc>
            </a:pPr>
            <a:r>
              <a:rPr lang="zh-CN" altLang="en-US" sz="2000" dirty="0">
                <a:ea typeface="宋体" panose="02010600030101010101" pitchFamily="2" charset="-122"/>
              </a:rPr>
              <a:t> </a:t>
            </a:r>
            <a:r>
              <a:rPr lang="zh-CN" altLang="en-US" sz="2000" dirty="0">
                <a:effectLst/>
                <a:ea typeface="宋体" panose="02010600030101010101" pitchFamily="2" charset="-122"/>
              </a:rPr>
              <a:t>(1) 每个结点最多有m棵子树、 m-1个关键字，其结构如下：</a:t>
            </a:r>
            <a:endParaRPr lang="zh-CN" altLang="en-US" sz="2000" dirty="0">
              <a:effectLst/>
              <a:ea typeface="宋体" panose="02010600030101010101" pitchFamily="2" charset="-122"/>
            </a:endParaRPr>
          </a:p>
          <a:p>
            <a:pPr lvl="2">
              <a:lnSpc>
                <a:spcPts val="2500"/>
              </a:lnSpc>
            </a:pPr>
            <a:endParaRPr lang="en-US" altLang="zh-CN" sz="2000" dirty="0">
              <a:ea typeface="宋体" panose="02010600030101010101" pitchFamily="2" charset="-122"/>
            </a:endParaRPr>
          </a:p>
          <a:p>
            <a:pPr lvl="2">
              <a:lnSpc>
                <a:spcPts val="2500"/>
              </a:lnSpc>
            </a:pPr>
            <a:endParaRPr lang="en-US" altLang="zh-CN" sz="2000" dirty="0" smtClean="0">
              <a:ea typeface="宋体" panose="02010600030101010101" pitchFamily="2" charset="-122"/>
            </a:endParaRPr>
          </a:p>
          <a:p>
            <a:pPr lvl="2">
              <a:lnSpc>
                <a:spcPts val="2500"/>
              </a:lnSpc>
            </a:pPr>
            <a:endParaRPr lang="en-US" altLang="zh-CN" sz="2000" dirty="0">
              <a:ea typeface="宋体" panose="02010600030101010101" pitchFamily="2" charset="-122"/>
            </a:endParaRPr>
          </a:p>
          <a:p>
            <a:pPr lvl="2">
              <a:lnSpc>
                <a:spcPts val="2500"/>
              </a:lnSpc>
            </a:pPr>
            <a:r>
              <a:rPr lang="zh-CN" altLang="en-US" sz="2000" dirty="0">
                <a:ea typeface="宋体" panose="02010600030101010101" pitchFamily="2" charset="-122"/>
              </a:rPr>
              <a:t>其中</a:t>
            </a:r>
            <a:r>
              <a:rPr lang="en-US" altLang="zh-CN" sz="2000" dirty="0">
                <a:ea typeface="宋体" panose="02010600030101010101" pitchFamily="2" charset="-122"/>
              </a:rPr>
              <a:t>n</a:t>
            </a:r>
            <a:r>
              <a:rPr lang="zh-CN" altLang="en-US" sz="2000" dirty="0">
                <a:ea typeface="宋体" panose="02010600030101010101" pitchFamily="2" charset="-122"/>
              </a:rPr>
              <a:t>为关键字个数，</a:t>
            </a:r>
            <a:r>
              <a:rPr lang="en-US" altLang="zh-CN" sz="2000" dirty="0">
                <a:ea typeface="宋体" panose="02010600030101010101" pitchFamily="2" charset="-122"/>
              </a:rPr>
              <a:t>P</a:t>
            </a:r>
            <a:r>
              <a:rPr lang="en-US" altLang="zh-CN" sz="2000" baseline="-25000" dirty="0">
                <a:ea typeface="宋体" panose="02010600030101010101" pitchFamily="2" charset="-122"/>
              </a:rPr>
              <a:t>i</a:t>
            </a:r>
            <a:r>
              <a:rPr lang="en-US" altLang="zh-CN" sz="2000" dirty="0">
                <a:ea typeface="宋体" panose="02010600030101010101" pitchFamily="2" charset="-122"/>
              </a:rPr>
              <a:t>(0≤i≤n)</a:t>
            </a:r>
            <a:r>
              <a:rPr lang="zh-CN" altLang="en-US" sz="2000" dirty="0">
                <a:ea typeface="宋体" panose="02010600030101010101" pitchFamily="2" charset="-122"/>
              </a:rPr>
              <a:t>为指向子树根结点的指针， </a:t>
            </a:r>
            <a:r>
              <a:rPr lang="en-US" altLang="zh-CN" sz="2000" dirty="0">
                <a:ea typeface="宋体" panose="02010600030101010101" pitchFamily="2" charset="-122"/>
              </a:rPr>
              <a:t>K</a:t>
            </a:r>
            <a:r>
              <a:rPr lang="en-US" altLang="zh-CN" sz="2000" baseline="-25000" dirty="0">
                <a:ea typeface="宋体" panose="02010600030101010101" pitchFamily="2" charset="-122"/>
              </a:rPr>
              <a:t>i</a:t>
            </a:r>
            <a:r>
              <a:rPr lang="en-US" altLang="zh-CN" sz="2000" dirty="0">
                <a:ea typeface="宋体" panose="02010600030101010101" pitchFamily="2" charset="-122"/>
              </a:rPr>
              <a:t>(1≤i≤n)</a:t>
            </a:r>
            <a:r>
              <a:rPr lang="zh-CN" altLang="en-US" sz="2000" dirty="0">
                <a:ea typeface="宋体" panose="02010600030101010101" pitchFamily="2" charset="-122"/>
              </a:rPr>
              <a:t>为关键字</a:t>
            </a:r>
            <a:r>
              <a:rPr lang="zh-CN" altLang="en-US" sz="2000" dirty="0" smtClean="0">
                <a:ea typeface="宋体" panose="02010600030101010101" pitchFamily="2" charset="-122"/>
              </a:rPr>
              <a:t>。</a:t>
            </a:r>
            <a:endParaRPr lang="zh-CN" altLang="en-US" sz="20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Group 29"/>
          <p:cNvGraphicFramePr>
            <a:graphicFrameLocks noGrp="1"/>
          </p:cNvGraphicFramePr>
          <p:nvPr/>
        </p:nvGraphicFramePr>
        <p:xfrm>
          <a:off x="1289043" y="3070125"/>
          <a:ext cx="6572253" cy="495300"/>
        </p:xfrm>
        <a:graphic>
          <a:graphicData uri="http://schemas.openxmlformats.org/drawingml/2006/table">
            <a:tbl>
              <a:tblPr/>
              <a:tblGrid>
                <a:gridCol w="731044"/>
                <a:gridCol w="728663"/>
                <a:gridCol w="731044"/>
                <a:gridCol w="731044"/>
                <a:gridCol w="728663"/>
                <a:gridCol w="731044"/>
                <a:gridCol w="731044"/>
                <a:gridCol w="728663"/>
                <a:gridCol w="731044"/>
              </a:tblGrid>
              <a:tr h="495300">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n</a:t>
                      </a:r>
                      <a:endPar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P</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0</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K</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1</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P</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1</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K</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2</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P</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2</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a:t>
                      </a:r>
                      <a:endPar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K</a:t>
                      </a:r>
                      <a:r>
                        <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rPr>
                        <a:t>n</a:t>
                      </a:r>
                      <a:endParaRPr kumimoji="1" lang="en-US" altLang="zh-CN" sz="2100" b="0" i="0" u="none" strike="noStrike" cap="none" normalizeH="0" baseline="-2500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2800">
                          <a:solidFill>
                            <a:schemeClr val="tx1"/>
                          </a:solidFill>
                          <a:latin typeface="Franklin Gothic Book" panose="020B0503020102020204" pitchFamily="34" charset="0"/>
                          <a:ea typeface="华文楷体" panose="02010600040101010101" pitchFamily="2" charset="-122"/>
                        </a:defRPr>
                      </a:lvl1pPr>
                      <a:lvl2pPr marL="742950" indent="-285750" eaLnBrk="0" hangingPunct="0">
                        <a:spcBef>
                          <a:spcPct val="20000"/>
                        </a:spcBef>
                        <a:defRPr kumimoji="1" sz="2400">
                          <a:solidFill>
                            <a:schemeClr val="tx1"/>
                          </a:solidFill>
                          <a:latin typeface="Franklin Gothic Book" panose="020B0503020102020204" pitchFamily="34" charset="0"/>
                          <a:ea typeface="华文楷体" panose="02010600040101010101" pitchFamily="2" charset="-122"/>
                        </a:defRPr>
                      </a:lvl2pPr>
                      <a:lvl3pPr marL="1143000" indent="-228600" eaLnBrk="0" hangingPunct="0">
                        <a:spcBef>
                          <a:spcPct val="20000"/>
                        </a:spcBef>
                        <a:defRPr kumimoji="1" sz="2000">
                          <a:solidFill>
                            <a:schemeClr val="tx1"/>
                          </a:solidFill>
                          <a:latin typeface="Franklin Gothic Book" panose="020B0503020102020204" pitchFamily="34" charset="0"/>
                          <a:ea typeface="华文楷体" panose="02010600040101010101" pitchFamily="2" charset="-122"/>
                        </a:defRPr>
                      </a:lvl3pPr>
                      <a:lvl4pPr marL="16002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4pPr>
                      <a:lvl5pPr marL="2057400" indent="-228600" eaLnBrk="0" hangingPunct="0">
                        <a:spcBef>
                          <a:spcPct val="20000"/>
                        </a:spcBef>
                        <a:defRPr kumimoji="1">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defRPr kumimoji="1">
                          <a:solidFill>
                            <a:schemeClr val="tx1"/>
                          </a:solidFill>
                          <a:latin typeface="Franklin Gothic Book" panose="020B0503020102020204" pitchFamily="34" charset="0"/>
                          <a:ea typeface="华文楷体" panose="02010600040101010101" pitchFamily="2" charset="-122"/>
                        </a:defRPr>
                      </a:lvl9p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2100" b="0" i="0" u="none" strike="noStrike" cap="none" normalizeH="0" baseline="0" dirty="0" err="1" smtClean="0">
                          <a:ln>
                            <a:noFill/>
                          </a:ln>
                          <a:solidFill>
                            <a:schemeClr val="tx1"/>
                          </a:solidFill>
                          <a:effectLst/>
                          <a:latin typeface="Times New Roman" panose="02020603050405020304" pitchFamily="18" charset="0"/>
                          <a:ea typeface="宋体" panose="02010600030101010101" pitchFamily="2" charset="-122"/>
                        </a:rPr>
                        <a:t>P</a:t>
                      </a:r>
                      <a:r>
                        <a:rPr kumimoji="1" lang="en-US" altLang="zh-CN" sz="2100" b="0" i="0" u="none" strike="noStrike" cap="none" normalizeH="0" baseline="-25000" dirty="0" err="1" smtClean="0">
                          <a:ln>
                            <a:noFill/>
                          </a:ln>
                          <a:solidFill>
                            <a:schemeClr val="tx1"/>
                          </a:solidFill>
                          <a:effectLst/>
                          <a:latin typeface="Times New Roman" panose="02020603050405020304" pitchFamily="18" charset="0"/>
                          <a:ea typeface="宋体" panose="02010600030101010101" pitchFamily="2" charset="-122"/>
                        </a:rPr>
                        <a:t>n</a:t>
                      </a:r>
                      <a:endParaRPr kumimoji="1" lang="en-US" altLang="zh-CN" sz="2100" b="0" i="0" u="none" strike="noStrike" cap="none" normalizeH="0" baseline="-25000" dirty="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45000"/>
              </a:lnSpc>
              <a:spcBef>
                <a:spcPct val="50000"/>
              </a:spcBef>
            </a:pPr>
            <a:r>
              <a:rPr lang="zh-CN" altLang="en-US" sz="2000" dirty="0">
                <a:solidFill>
                  <a:srgbClr val="00194C"/>
                </a:solidFill>
                <a:latin typeface="华文楷体" panose="02010600040101010101" pitchFamily="2" charset="-122"/>
                <a:ea typeface="宋体" panose="02010600030101010101" pitchFamily="2" charset="-122"/>
              </a:rPr>
              <a:t>（</a:t>
            </a:r>
            <a:r>
              <a:rPr lang="en-US" altLang="zh-CN" sz="2000" dirty="0" smtClean="0">
                <a:solidFill>
                  <a:srgbClr val="00194C"/>
                </a:solidFill>
                <a:latin typeface="华文楷体" panose="02010600040101010101" pitchFamily="2" charset="-122"/>
                <a:ea typeface="宋体" panose="02010600030101010101" pitchFamily="2" charset="-122"/>
              </a:rPr>
              <a:t>2</a:t>
            </a:r>
            <a:r>
              <a:rPr lang="zh-CN" altLang="en-US" sz="2000" dirty="0" smtClean="0">
                <a:solidFill>
                  <a:srgbClr val="00194C"/>
                </a:solidFill>
                <a:latin typeface="华文楷体" panose="02010600040101010101" pitchFamily="2" charset="-122"/>
                <a:ea typeface="宋体" panose="02010600030101010101" pitchFamily="2" charset="-122"/>
              </a:rPr>
              <a:t>）</a:t>
            </a:r>
            <a:r>
              <a:rPr lang="en-US" altLang="zh-CN" sz="2000" dirty="0" smtClean="0">
                <a:solidFill>
                  <a:srgbClr val="00194C"/>
                </a:solidFill>
                <a:latin typeface="华文楷体" panose="02010600040101010101" pitchFamily="2" charset="-122"/>
                <a:ea typeface="宋体" panose="02010600030101010101" pitchFamily="2" charset="-122"/>
              </a:rPr>
              <a:t>K</a:t>
            </a:r>
            <a:r>
              <a:rPr lang="en-US" altLang="zh-CN" sz="2000" baseline="-25000" dirty="0" smtClean="0">
                <a:solidFill>
                  <a:srgbClr val="00194C"/>
                </a:solidFill>
                <a:latin typeface="华文楷体" panose="02010600040101010101" pitchFamily="2" charset="-122"/>
                <a:ea typeface="宋体" panose="02010600030101010101" pitchFamily="2" charset="-122"/>
              </a:rPr>
              <a:t>i</a:t>
            </a:r>
            <a:r>
              <a:rPr lang="en-US" altLang="zh-CN" sz="2000" dirty="0" smtClean="0">
                <a:solidFill>
                  <a:srgbClr val="00194C"/>
                </a:solidFill>
                <a:latin typeface="华文楷体" panose="02010600040101010101" pitchFamily="2" charset="-122"/>
                <a:ea typeface="宋体" panose="02010600030101010101" pitchFamily="2" charset="-122"/>
              </a:rPr>
              <a:t>&lt;K</a:t>
            </a:r>
            <a:r>
              <a:rPr lang="en-US" altLang="zh-CN" sz="2000" baseline="-25000" dirty="0">
                <a:solidFill>
                  <a:srgbClr val="00194C"/>
                </a:solidFill>
                <a:latin typeface="华文楷体" panose="02010600040101010101" pitchFamily="2" charset="-122"/>
                <a:ea typeface="宋体" panose="02010600030101010101" pitchFamily="2" charset="-122"/>
              </a:rPr>
              <a:t>i+1</a:t>
            </a:r>
            <a:r>
              <a:rPr lang="zh-CN" altLang="en-US" sz="2000" dirty="0">
                <a:solidFill>
                  <a:srgbClr val="00194C"/>
                </a:solidFill>
                <a:latin typeface="华文楷体" panose="02010600040101010101" pitchFamily="2" charset="-122"/>
                <a:ea typeface="宋体" panose="02010600030101010101" pitchFamily="2" charset="-122"/>
              </a:rPr>
              <a:t>，</a:t>
            </a:r>
            <a:r>
              <a:rPr lang="en-US" altLang="zh-CN" sz="2000" dirty="0">
                <a:solidFill>
                  <a:srgbClr val="00194C"/>
                </a:solidFill>
                <a:latin typeface="华文楷体" panose="02010600040101010101" pitchFamily="2" charset="-122"/>
                <a:ea typeface="宋体" panose="02010600030101010101" pitchFamily="2" charset="-122"/>
              </a:rPr>
              <a:t>1≤i≤n-1</a:t>
            </a:r>
            <a:r>
              <a:rPr lang="zh-CN" altLang="en-US" sz="2000" dirty="0">
                <a:solidFill>
                  <a:srgbClr val="00194C"/>
                </a:solidFill>
                <a:latin typeface="华文楷体" panose="02010600040101010101" pitchFamily="2" charset="-122"/>
                <a:ea typeface="宋体" panose="02010600030101010101" pitchFamily="2" charset="-122"/>
              </a:rPr>
              <a:t>。</a:t>
            </a:r>
            <a:endParaRPr lang="zh-CN" altLang="en-US" sz="2000" dirty="0">
              <a:solidFill>
                <a:srgbClr val="00194C"/>
              </a:solidFill>
              <a:latin typeface="华文楷体" panose="02010600040101010101" pitchFamily="2" charset="-122"/>
              <a:ea typeface="宋体" panose="02010600030101010101" pitchFamily="2" charset="-122"/>
            </a:endParaRPr>
          </a:p>
          <a:p>
            <a:pPr eaLnBrk="1" hangingPunct="1">
              <a:lnSpc>
                <a:spcPct val="145000"/>
              </a:lnSpc>
              <a:spcBef>
                <a:spcPct val="50000"/>
              </a:spcBef>
            </a:pPr>
            <a:r>
              <a:rPr lang="zh-CN" altLang="en-US" sz="2000" dirty="0" smtClean="0">
                <a:solidFill>
                  <a:srgbClr val="00194C"/>
                </a:solidFill>
                <a:latin typeface="华文楷体" panose="02010600040101010101" pitchFamily="2" charset="-122"/>
                <a:ea typeface="宋体" panose="02010600030101010101" pitchFamily="2" charset="-122"/>
              </a:rPr>
              <a:t>（</a:t>
            </a:r>
            <a:r>
              <a:rPr lang="en-US" altLang="zh-CN" sz="2000" dirty="0" smtClean="0">
                <a:solidFill>
                  <a:srgbClr val="00194C"/>
                </a:solidFill>
                <a:latin typeface="华文楷体" panose="02010600040101010101" pitchFamily="2" charset="-122"/>
                <a:ea typeface="宋体" panose="02010600030101010101" pitchFamily="2" charset="-122"/>
              </a:rPr>
              <a:t>3</a:t>
            </a:r>
            <a:r>
              <a:rPr lang="zh-CN" altLang="en-US" sz="2000" dirty="0" smtClean="0">
                <a:solidFill>
                  <a:srgbClr val="00194C"/>
                </a:solidFill>
                <a:latin typeface="华文楷体" panose="02010600040101010101" pitchFamily="2" charset="-122"/>
                <a:ea typeface="宋体" panose="02010600030101010101" pitchFamily="2" charset="-122"/>
              </a:rPr>
              <a:t>）子</a:t>
            </a:r>
            <a:r>
              <a:rPr lang="zh-CN" altLang="en-US" sz="2000" dirty="0">
                <a:solidFill>
                  <a:srgbClr val="00194C"/>
                </a:solidFill>
                <a:latin typeface="华文楷体" panose="02010600040101010101" pitchFamily="2" charset="-122"/>
                <a:ea typeface="宋体" panose="02010600030101010101" pitchFamily="2" charset="-122"/>
              </a:rPr>
              <a:t>树</a:t>
            </a:r>
            <a:r>
              <a:rPr lang="en-US" altLang="zh-CN" sz="2000" dirty="0">
                <a:solidFill>
                  <a:srgbClr val="00194C"/>
                </a:solidFill>
                <a:latin typeface="华文楷体" panose="02010600040101010101" pitchFamily="2" charset="-122"/>
                <a:ea typeface="宋体" panose="02010600030101010101" pitchFamily="2" charset="-122"/>
              </a:rPr>
              <a:t>P</a:t>
            </a:r>
            <a:r>
              <a:rPr lang="en-US" altLang="zh-CN" sz="2000" baseline="-25000" dirty="0">
                <a:solidFill>
                  <a:srgbClr val="00194C"/>
                </a:solidFill>
                <a:latin typeface="华文楷体" panose="02010600040101010101" pitchFamily="2" charset="-122"/>
                <a:ea typeface="宋体" panose="02010600030101010101" pitchFamily="2" charset="-122"/>
              </a:rPr>
              <a:t>i</a:t>
            </a:r>
            <a:r>
              <a:rPr lang="zh-CN" altLang="en-US" sz="2000" dirty="0">
                <a:solidFill>
                  <a:srgbClr val="00194C"/>
                </a:solidFill>
                <a:latin typeface="华文楷体" panose="02010600040101010101" pitchFamily="2" charset="-122"/>
                <a:ea typeface="宋体" panose="02010600030101010101" pitchFamily="2" charset="-122"/>
              </a:rPr>
              <a:t>中的所有关键字均大于</a:t>
            </a:r>
            <a:r>
              <a:rPr lang="en-US" altLang="zh-CN" sz="2000" dirty="0">
                <a:solidFill>
                  <a:srgbClr val="00194C"/>
                </a:solidFill>
                <a:latin typeface="华文楷体" panose="02010600040101010101" pitchFamily="2" charset="-122"/>
                <a:ea typeface="宋体" panose="02010600030101010101" pitchFamily="2" charset="-122"/>
              </a:rPr>
              <a:t>K</a:t>
            </a:r>
            <a:r>
              <a:rPr lang="en-US" altLang="zh-CN" sz="2000" baseline="-25000" dirty="0">
                <a:solidFill>
                  <a:srgbClr val="00194C"/>
                </a:solidFill>
                <a:latin typeface="华文楷体" panose="02010600040101010101" pitchFamily="2" charset="-122"/>
                <a:ea typeface="宋体" panose="02010600030101010101" pitchFamily="2" charset="-122"/>
              </a:rPr>
              <a:t>i</a:t>
            </a:r>
            <a:r>
              <a:rPr lang="zh-CN" altLang="en-US" sz="2000" dirty="0">
                <a:solidFill>
                  <a:srgbClr val="00194C"/>
                </a:solidFill>
                <a:latin typeface="华文楷体" panose="02010600040101010101" pitchFamily="2" charset="-122"/>
                <a:ea typeface="宋体" panose="02010600030101010101" pitchFamily="2" charset="-122"/>
              </a:rPr>
              <a:t>、小于</a:t>
            </a:r>
            <a:r>
              <a:rPr lang="en-US" altLang="zh-CN" sz="2000" dirty="0">
                <a:solidFill>
                  <a:srgbClr val="00194C"/>
                </a:solidFill>
                <a:latin typeface="华文楷体" panose="02010600040101010101" pitchFamily="2" charset="-122"/>
                <a:ea typeface="宋体" panose="02010600030101010101" pitchFamily="2" charset="-122"/>
              </a:rPr>
              <a:t>K</a:t>
            </a:r>
            <a:r>
              <a:rPr lang="en-US" altLang="zh-CN" sz="2000" baseline="-25000" dirty="0">
                <a:solidFill>
                  <a:srgbClr val="00194C"/>
                </a:solidFill>
                <a:latin typeface="华文楷体" panose="02010600040101010101" pitchFamily="2" charset="-122"/>
                <a:ea typeface="宋体" panose="02010600030101010101" pitchFamily="2" charset="-122"/>
              </a:rPr>
              <a:t>i+1</a:t>
            </a:r>
            <a:r>
              <a:rPr lang="zh-CN" altLang="en-US" sz="2000" dirty="0">
                <a:solidFill>
                  <a:srgbClr val="00194C"/>
                </a:solidFill>
                <a:latin typeface="华文楷体" panose="02010600040101010101" pitchFamily="2" charset="-122"/>
                <a:ea typeface="宋体" panose="02010600030101010101" pitchFamily="2" charset="-122"/>
              </a:rPr>
              <a:t>，</a:t>
            </a:r>
            <a:r>
              <a:rPr lang="en-US" altLang="zh-CN" sz="2000" dirty="0">
                <a:solidFill>
                  <a:srgbClr val="00194C"/>
                </a:solidFill>
                <a:latin typeface="华文楷体" panose="02010600040101010101" pitchFamily="2" charset="-122"/>
                <a:ea typeface="宋体" panose="02010600030101010101" pitchFamily="2" charset="-122"/>
              </a:rPr>
              <a:t>1≤i≤n-1</a:t>
            </a:r>
            <a:r>
              <a:rPr lang="zh-CN" altLang="en-US" sz="2000" dirty="0">
                <a:solidFill>
                  <a:srgbClr val="00194C"/>
                </a:solidFill>
                <a:latin typeface="华文楷体" panose="02010600040101010101" pitchFamily="2" charset="-122"/>
                <a:ea typeface="宋体" panose="02010600030101010101" pitchFamily="2" charset="-122"/>
              </a:rPr>
              <a:t>。</a:t>
            </a:r>
            <a:endParaRPr lang="zh-CN" altLang="en-US" sz="2000" dirty="0">
              <a:solidFill>
                <a:srgbClr val="00194C"/>
              </a:solidFill>
              <a:latin typeface="华文楷体" panose="02010600040101010101" pitchFamily="2" charset="-122"/>
              <a:ea typeface="宋体" panose="02010600030101010101" pitchFamily="2" charset="-122"/>
            </a:endParaRPr>
          </a:p>
          <a:p>
            <a:pPr eaLnBrk="1" hangingPunct="1">
              <a:lnSpc>
                <a:spcPct val="145000"/>
              </a:lnSpc>
              <a:spcBef>
                <a:spcPct val="50000"/>
              </a:spcBef>
            </a:pPr>
            <a:r>
              <a:rPr lang="zh-CN" altLang="en-US" sz="2000" dirty="0" smtClean="0">
                <a:solidFill>
                  <a:srgbClr val="00194C"/>
                </a:solidFill>
                <a:latin typeface="华文楷体" panose="02010600040101010101" pitchFamily="2" charset="-122"/>
                <a:ea typeface="宋体" panose="02010600030101010101" pitchFamily="2" charset="-122"/>
              </a:rPr>
              <a:t>（</a:t>
            </a:r>
            <a:r>
              <a:rPr lang="en-US" altLang="zh-CN" sz="2000" dirty="0" smtClean="0">
                <a:solidFill>
                  <a:srgbClr val="00194C"/>
                </a:solidFill>
                <a:latin typeface="华文楷体" panose="02010600040101010101" pitchFamily="2" charset="-122"/>
                <a:ea typeface="宋体" panose="02010600030101010101" pitchFamily="2" charset="-122"/>
              </a:rPr>
              <a:t>4</a:t>
            </a:r>
            <a:r>
              <a:rPr lang="zh-CN" altLang="en-US" sz="2000" dirty="0" smtClean="0">
                <a:solidFill>
                  <a:srgbClr val="00194C"/>
                </a:solidFill>
                <a:latin typeface="华文楷体" panose="02010600040101010101" pitchFamily="2" charset="-122"/>
                <a:ea typeface="宋体" panose="02010600030101010101" pitchFamily="2" charset="-122"/>
              </a:rPr>
              <a:t>）子</a:t>
            </a:r>
            <a:r>
              <a:rPr lang="zh-CN" altLang="en-US" sz="2000" dirty="0">
                <a:solidFill>
                  <a:srgbClr val="00194C"/>
                </a:solidFill>
                <a:latin typeface="华文楷体" panose="02010600040101010101" pitchFamily="2" charset="-122"/>
                <a:ea typeface="宋体" panose="02010600030101010101" pitchFamily="2" charset="-122"/>
              </a:rPr>
              <a:t>树</a:t>
            </a:r>
            <a:r>
              <a:rPr lang="en-US" altLang="zh-CN" sz="2000" dirty="0">
                <a:solidFill>
                  <a:srgbClr val="00194C"/>
                </a:solidFill>
                <a:latin typeface="华文楷体" panose="02010600040101010101" pitchFamily="2" charset="-122"/>
                <a:ea typeface="宋体" panose="02010600030101010101" pitchFamily="2" charset="-122"/>
              </a:rPr>
              <a:t>P</a:t>
            </a:r>
            <a:r>
              <a:rPr lang="en-US" altLang="zh-CN" sz="2000" baseline="-25000" dirty="0">
                <a:solidFill>
                  <a:srgbClr val="00194C"/>
                </a:solidFill>
                <a:latin typeface="华文楷体" panose="02010600040101010101" pitchFamily="2" charset="-122"/>
                <a:ea typeface="宋体" panose="02010600030101010101" pitchFamily="2" charset="-122"/>
              </a:rPr>
              <a:t>0</a:t>
            </a:r>
            <a:r>
              <a:rPr lang="zh-CN" altLang="en-US" sz="2000" dirty="0">
                <a:solidFill>
                  <a:srgbClr val="00194C"/>
                </a:solidFill>
                <a:latin typeface="华文楷体" panose="02010600040101010101" pitchFamily="2" charset="-122"/>
                <a:ea typeface="宋体" panose="02010600030101010101" pitchFamily="2" charset="-122"/>
              </a:rPr>
              <a:t>中的关键字均小于</a:t>
            </a:r>
            <a:r>
              <a:rPr lang="en-US" altLang="zh-CN" sz="2000" dirty="0">
                <a:solidFill>
                  <a:srgbClr val="00194C"/>
                </a:solidFill>
                <a:latin typeface="华文楷体" panose="02010600040101010101" pitchFamily="2" charset="-122"/>
                <a:ea typeface="宋体" panose="02010600030101010101" pitchFamily="2" charset="-122"/>
              </a:rPr>
              <a:t>K</a:t>
            </a:r>
            <a:r>
              <a:rPr lang="en-US" altLang="zh-CN" sz="2000" baseline="-25000" dirty="0">
                <a:solidFill>
                  <a:srgbClr val="00194C"/>
                </a:solidFill>
                <a:latin typeface="华文楷体" panose="02010600040101010101" pitchFamily="2" charset="-122"/>
                <a:ea typeface="宋体" panose="02010600030101010101" pitchFamily="2" charset="-122"/>
              </a:rPr>
              <a:t>1</a:t>
            </a:r>
            <a:r>
              <a:rPr lang="zh-CN" altLang="en-US" sz="2000" dirty="0">
                <a:solidFill>
                  <a:srgbClr val="00194C"/>
                </a:solidFill>
                <a:latin typeface="华文楷体" panose="02010600040101010101" pitchFamily="2" charset="-122"/>
                <a:ea typeface="宋体" panose="02010600030101010101" pitchFamily="2" charset="-122"/>
              </a:rPr>
              <a:t>，而子树</a:t>
            </a:r>
            <a:r>
              <a:rPr lang="en-US" altLang="zh-CN" sz="2000" dirty="0" err="1">
                <a:solidFill>
                  <a:srgbClr val="00194C"/>
                </a:solidFill>
                <a:latin typeface="华文楷体" panose="02010600040101010101" pitchFamily="2" charset="-122"/>
                <a:ea typeface="宋体" panose="02010600030101010101" pitchFamily="2" charset="-122"/>
              </a:rPr>
              <a:t>P</a:t>
            </a:r>
            <a:r>
              <a:rPr lang="en-US" altLang="zh-CN" sz="2000" baseline="-25000" dirty="0" err="1">
                <a:solidFill>
                  <a:srgbClr val="00194C"/>
                </a:solidFill>
                <a:latin typeface="华文楷体" panose="02010600040101010101" pitchFamily="2" charset="-122"/>
                <a:ea typeface="宋体" panose="02010600030101010101" pitchFamily="2" charset="-122"/>
              </a:rPr>
              <a:t>n</a:t>
            </a:r>
            <a:r>
              <a:rPr lang="zh-CN" altLang="en-US" sz="2000" dirty="0">
                <a:solidFill>
                  <a:srgbClr val="00194C"/>
                </a:solidFill>
                <a:latin typeface="华文楷体" panose="02010600040101010101" pitchFamily="2" charset="-122"/>
                <a:ea typeface="宋体" panose="02010600030101010101" pitchFamily="2" charset="-122"/>
              </a:rPr>
              <a:t>中的所有关键字均大于</a:t>
            </a:r>
            <a:r>
              <a:rPr lang="en-US" altLang="zh-CN" sz="2000" dirty="0" err="1">
                <a:solidFill>
                  <a:srgbClr val="00194C"/>
                </a:solidFill>
                <a:latin typeface="华文楷体" panose="02010600040101010101" pitchFamily="2" charset="-122"/>
                <a:ea typeface="宋体" panose="02010600030101010101" pitchFamily="2" charset="-122"/>
              </a:rPr>
              <a:t>K</a:t>
            </a:r>
            <a:r>
              <a:rPr lang="en-US" altLang="zh-CN" sz="2000" baseline="-25000" dirty="0" err="1">
                <a:solidFill>
                  <a:srgbClr val="00194C"/>
                </a:solidFill>
                <a:latin typeface="华文楷体" panose="02010600040101010101" pitchFamily="2" charset="-122"/>
                <a:ea typeface="宋体" panose="02010600030101010101" pitchFamily="2" charset="-122"/>
              </a:rPr>
              <a:t>n</a:t>
            </a:r>
            <a:r>
              <a:rPr lang="zh-CN" altLang="en-US" sz="2000" dirty="0" smtClean="0">
                <a:solidFill>
                  <a:srgbClr val="00194C"/>
                </a:solidFill>
                <a:latin typeface="华文楷体" panose="02010600040101010101" pitchFamily="2" charset="-122"/>
                <a:ea typeface="宋体" panose="02010600030101010101" pitchFamily="2" charset="-122"/>
              </a:rPr>
              <a:t>。</a:t>
            </a:r>
            <a:endParaRPr lang="en-US" altLang="zh-CN" sz="2000" dirty="0" smtClean="0">
              <a:solidFill>
                <a:srgbClr val="00194C"/>
              </a:solidFill>
              <a:latin typeface="华文楷体" panose="02010600040101010101" pitchFamily="2" charset="-122"/>
              <a:ea typeface="宋体" panose="02010600030101010101" pitchFamily="2" charset="-122"/>
            </a:endParaRPr>
          </a:p>
          <a:p>
            <a:pPr eaLnBrk="1" hangingPunct="1">
              <a:lnSpc>
                <a:spcPct val="145000"/>
              </a:lnSpc>
              <a:spcBef>
                <a:spcPct val="50000"/>
              </a:spcBef>
            </a:pPr>
            <a:r>
              <a:rPr lang="zh-CN" altLang="en-US" sz="2000" dirty="0" smtClean="0">
                <a:solidFill>
                  <a:srgbClr val="00194C"/>
                </a:solidFill>
                <a:latin typeface="华文楷体" panose="02010600040101010101" pitchFamily="2" charset="-122"/>
                <a:ea typeface="宋体" panose="02010600030101010101" pitchFamily="2" charset="-122"/>
              </a:rPr>
              <a:t>（</a:t>
            </a:r>
            <a:r>
              <a:rPr lang="en-US" altLang="zh-CN" sz="2000" dirty="0" smtClean="0">
                <a:solidFill>
                  <a:srgbClr val="00194C"/>
                </a:solidFill>
                <a:latin typeface="华文楷体" panose="02010600040101010101" pitchFamily="2" charset="-122"/>
                <a:ea typeface="宋体" panose="02010600030101010101" pitchFamily="2" charset="-122"/>
              </a:rPr>
              <a:t>5</a:t>
            </a:r>
            <a:r>
              <a:rPr lang="zh-CN" altLang="en-US" sz="2000" dirty="0" smtClean="0">
                <a:solidFill>
                  <a:srgbClr val="00194C"/>
                </a:solidFill>
                <a:latin typeface="华文楷体" panose="02010600040101010101" pitchFamily="2" charset="-122"/>
                <a:ea typeface="宋体" panose="02010600030101010101" pitchFamily="2" charset="-122"/>
              </a:rPr>
              <a:t>）子</a:t>
            </a:r>
            <a:r>
              <a:rPr lang="zh-CN" altLang="en-US" sz="2000" dirty="0">
                <a:solidFill>
                  <a:srgbClr val="00194C"/>
                </a:solidFill>
                <a:latin typeface="华文楷体" panose="02010600040101010101" pitchFamily="2" charset="-122"/>
                <a:ea typeface="宋体" panose="02010600030101010101" pitchFamily="2" charset="-122"/>
              </a:rPr>
              <a:t>树</a:t>
            </a:r>
            <a:r>
              <a:rPr lang="en-US" altLang="zh-CN" sz="2000" dirty="0">
                <a:solidFill>
                  <a:srgbClr val="00194C"/>
                </a:solidFill>
                <a:latin typeface="华文楷体" panose="02010600040101010101" pitchFamily="2" charset="-122"/>
                <a:ea typeface="宋体" panose="02010600030101010101" pitchFamily="2" charset="-122"/>
              </a:rPr>
              <a:t>P</a:t>
            </a:r>
            <a:r>
              <a:rPr lang="en-US" altLang="zh-CN" sz="2000" baseline="-25000" dirty="0">
                <a:solidFill>
                  <a:srgbClr val="00194C"/>
                </a:solidFill>
                <a:latin typeface="华文楷体" panose="02010600040101010101" pitchFamily="2" charset="-122"/>
                <a:ea typeface="宋体" panose="02010600030101010101" pitchFamily="2" charset="-122"/>
              </a:rPr>
              <a:t>i</a:t>
            </a:r>
            <a:r>
              <a:rPr lang="zh-CN" altLang="en-US" sz="2000" dirty="0">
                <a:solidFill>
                  <a:srgbClr val="00194C"/>
                </a:solidFill>
                <a:latin typeface="华文楷体" panose="02010600040101010101" pitchFamily="2" charset="-122"/>
                <a:ea typeface="宋体" panose="02010600030101010101" pitchFamily="2" charset="-122"/>
              </a:rPr>
              <a:t>也是</a:t>
            </a:r>
            <a:r>
              <a:rPr lang="en-US" altLang="zh-CN" sz="2000" dirty="0">
                <a:solidFill>
                  <a:srgbClr val="00194C"/>
                </a:solidFill>
                <a:latin typeface="华文楷体" panose="02010600040101010101" pitchFamily="2" charset="-122"/>
                <a:ea typeface="宋体" panose="02010600030101010101" pitchFamily="2" charset="-122"/>
              </a:rPr>
              <a:t>m</a:t>
            </a:r>
            <a:r>
              <a:rPr lang="zh-CN" altLang="en-US" sz="2000" dirty="0">
                <a:solidFill>
                  <a:srgbClr val="00194C"/>
                </a:solidFill>
                <a:latin typeface="华文楷体" panose="02010600040101010101" pitchFamily="2" charset="-122"/>
                <a:ea typeface="宋体" panose="02010600030101010101" pitchFamily="2" charset="-122"/>
              </a:rPr>
              <a:t>路查找树，</a:t>
            </a:r>
            <a:r>
              <a:rPr lang="en-US" altLang="zh-CN" sz="2000" dirty="0">
                <a:solidFill>
                  <a:srgbClr val="00194C"/>
                </a:solidFill>
                <a:latin typeface="华文楷体" panose="02010600040101010101" pitchFamily="2" charset="-122"/>
                <a:ea typeface="宋体" panose="02010600030101010101" pitchFamily="2" charset="-122"/>
              </a:rPr>
              <a:t>0≤i≤n</a:t>
            </a:r>
            <a:r>
              <a:rPr lang="zh-CN" altLang="en-US" sz="2000" dirty="0">
                <a:solidFill>
                  <a:srgbClr val="00194C"/>
                </a:solidFill>
                <a:latin typeface="华文楷体" panose="02010600040101010101" pitchFamily="2" charset="-122"/>
                <a:ea typeface="宋体" panose="02010600030101010101" pitchFamily="2" charset="-122"/>
              </a:rPr>
              <a:t>。</a:t>
            </a:r>
            <a:endParaRPr lang="zh-CN" altLang="en-US" sz="2000" dirty="0">
              <a:solidFill>
                <a:srgbClr val="00194C"/>
              </a:solidFill>
              <a:latin typeface="华文楷体" panose="02010600040101010101" pitchFamily="2" charset="-122"/>
              <a:ea typeface="宋体" panose="02010600030101010101" pitchFamily="2" charset="-122"/>
            </a:endParaRPr>
          </a:p>
          <a:p>
            <a:pPr eaLnBrk="1" hangingPunct="1">
              <a:lnSpc>
                <a:spcPct val="145000"/>
              </a:lnSpc>
              <a:spcBef>
                <a:spcPct val="50000"/>
              </a:spcBef>
            </a:pPr>
            <a:r>
              <a:rPr lang="zh-CN" altLang="en-US" sz="2000" dirty="0">
                <a:solidFill>
                  <a:srgbClr val="00194C"/>
                </a:solidFill>
                <a:latin typeface="华文楷体" panose="02010600040101010101" pitchFamily="2" charset="-122"/>
                <a:ea typeface="宋体" panose="02010600030101010101" pitchFamily="2" charset="-122"/>
              </a:rPr>
              <a:t>       从上述定义可以看出，对任一关键字</a:t>
            </a:r>
            <a:r>
              <a:rPr lang="en-US" altLang="zh-CN" sz="2000" dirty="0">
                <a:solidFill>
                  <a:srgbClr val="00194C"/>
                </a:solidFill>
                <a:latin typeface="华文楷体" panose="02010600040101010101" pitchFamily="2" charset="-122"/>
                <a:ea typeface="宋体" panose="02010600030101010101" pitchFamily="2" charset="-122"/>
              </a:rPr>
              <a:t>K</a:t>
            </a:r>
            <a:r>
              <a:rPr lang="en-US" altLang="zh-CN" sz="2000" baseline="-25000" dirty="0">
                <a:solidFill>
                  <a:srgbClr val="00194C"/>
                </a:solidFill>
                <a:latin typeface="华文楷体" panose="02010600040101010101" pitchFamily="2" charset="-122"/>
                <a:ea typeface="宋体" panose="02010600030101010101" pitchFamily="2" charset="-122"/>
              </a:rPr>
              <a:t>i</a:t>
            </a:r>
            <a:r>
              <a:rPr lang="zh-CN" altLang="en-US" sz="2000" dirty="0">
                <a:solidFill>
                  <a:srgbClr val="00194C"/>
                </a:solidFill>
                <a:latin typeface="华文楷体" panose="02010600040101010101" pitchFamily="2" charset="-122"/>
                <a:ea typeface="宋体" panose="02010600030101010101" pitchFamily="2" charset="-122"/>
              </a:rPr>
              <a:t>而言，</a:t>
            </a:r>
            <a:r>
              <a:rPr lang="en-US" altLang="zh-CN" sz="2000" dirty="0">
                <a:solidFill>
                  <a:srgbClr val="00194C"/>
                </a:solidFill>
                <a:latin typeface="华文楷体" panose="02010600040101010101" pitchFamily="2" charset="-122"/>
                <a:ea typeface="宋体" panose="02010600030101010101" pitchFamily="2" charset="-122"/>
              </a:rPr>
              <a:t>P</a:t>
            </a:r>
            <a:r>
              <a:rPr lang="en-US" altLang="zh-CN" sz="2000" baseline="-25000" dirty="0">
                <a:solidFill>
                  <a:srgbClr val="00194C"/>
                </a:solidFill>
                <a:latin typeface="华文楷体" panose="02010600040101010101" pitchFamily="2" charset="-122"/>
                <a:ea typeface="宋体" panose="02010600030101010101" pitchFamily="2" charset="-122"/>
              </a:rPr>
              <a:t>i-1</a:t>
            </a:r>
            <a:r>
              <a:rPr lang="zh-CN" altLang="en-US" sz="2000" dirty="0">
                <a:solidFill>
                  <a:srgbClr val="00194C"/>
                </a:solidFill>
                <a:latin typeface="华文楷体" panose="02010600040101010101" pitchFamily="2" charset="-122"/>
                <a:ea typeface="宋体" panose="02010600030101010101" pitchFamily="2" charset="-122"/>
              </a:rPr>
              <a:t>相当于其“左子树”，</a:t>
            </a:r>
            <a:r>
              <a:rPr lang="en-US" altLang="zh-CN" sz="2000" dirty="0">
                <a:solidFill>
                  <a:srgbClr val="00194C"/>
                </a:solidFill>
                <a:latin typeface="华文楷体" panose="02010600040101010101" pitchFamily="2" charset="-122"/>
                <a:ea typeface="宋体" panose="02010600030101010101" pitchFamily="2" charset="-122"/>
              </a:rPr>
              <a:t>P</a:t>
            </a:r>
            <a:r>
              <a:rPr lang="en-US" altLang="zh-CN" sz="2000" baseline="-25000" dirty="0">
                <a:solidFill>
                  <a:srgbClr val="00194C"/>
                </a:solidFill>
                <a:latin typeface="华文楷体" panose="02010600040101010101" pitchFamily="2" charset="-122"/>
                <a:ea typeface="宋体" panose="02010600030101010101" pitchFamily="2" charset="-122"/>
              </a:rPr>
              <a:t>i</a:t>
            </a:r>
            <a:r>
              <a:rPr lang="zh-CN" altLang="en-US" sz="2000" dirty="0">
                <a:solidFill>
                  <a:srgbClr val="00194C"/>
                </a:solidFill>
                <a:latin typeface="华文楷体" panose="02010600040101010101" pitchFamily="2" charset="-122"/>
                <a:ea typeface="宋体" panose="02010600030101010101" pitchFamily="2" charset="-122"/>
              </a:rPr>
              <a:t>相当于其“右子树”，</a:t>
            </a:r>
            <a:r>
              <a:rPr lang="en-US" altLang="zh-CN" sz="2000" dirty="0">
                <a:solidFill>
                  <a:srgbClr val="00194C"/>
                </a:solidFill>
                <a:latin typeface="华文楷体" panose="02010600040101010101" pitchFamily="2" charset="-122"/>
                <a:ea typeface="宋体" panose="02010600030101010101" pitchFamily="2" charset="-122"/>
              </a:rPr>
              <a:t>1≤i≤n </a:t>
            </a:r>
            <a:r>
              <a:rPr lang="zh-CN" altLang="en-US" sz="2000" dirty="0">
                <a:solidFill>
                  <a:srgbClr val="00194C"/>
                </a:solidFill>
                <a:latin typeface="华文楷体" panose="02010600040101010101" pitchFamily="2" charset="-122"/>
                <a:ea typeface="宋体" panose="02010600030101010101" pitchFamily="2" charset="-122"/>
              </a:rPr>
              <a:t>。</a:t>
            </a:r>
            <a:endParaRPr lang="zh-CN" altLang="en-US" sz="2000" dirty="0">
              <a:solidFill>
                <a:srgbClr val="00194C"/>
              </a:solidFill>
              <a:latin typeface="华文楷体" panose="02010600040101010101" pitchFamily="2" charset="-122"/>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Object 5"/>
          <p:cNvGraphicFramePr>
            <a:graphicFrameLocks noChangeAspect="1"/>
          </p:cNvGraphicFramePr>
          <p:nvPr/>
        </p:nvGraphicFramePr>
        <p:xfrm>
          <a:off x="931244" y="1274746"/>
          <a:ext cx="6858000" cy="1968104"/>
        </p:xfrm>
        <a:graphic>
          <a:graphicData uri="http://schemas.openxmlformats.org/presentationml/2006/ole">
            <mc:AlternateContent xmlns:mc="http://schemas.openxmlformats.org/markup-compatibility/2006">
              <mc:Choice xmlns:v="urn:schemas-microsoft-com:vml" Requires="v">
                <p:oleObj spid="_x0000_s52261" name="VISIO" r:id="rId1" imgW="3992880" imgH="1143000" progId="Visio.Drawing.4">
                  <p:embed/>
                </p:oleObj>
              </mc:Choice>
              <mc:Fallback>
                <p:oleObj name="VISIO" r:id="rId1" imgW="3992880" imgH="114300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1244" y="1274746"/>
                        <a:ext cx="6858000" cy="1968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 name="Text Box 4"/>
          <p:cNvSpPr txBox="1">
            <a:spLocks noChangeArrowheads="1"/>
          </p:cNvSpPr>
          <p:nvPr/>
        </p:nvSpPr>
        <p:spPr bwMode="auto">
          <a:xfrm>
            <a:off x="3588984" y="3622708"/>
            <a:ext cx="139653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dirty="0" smtClean="0">
                <a:latin typeface="Times New Roman" panose="02020603050405020304" pitchFamily="18" charset="0"/>
                <a:ea typeface="宋体" panose="02010600030101010101" pitchFamily="2" charset="-122"/>
              </a:rPr>
              <a:t>  </a:t>
            </a:r>
            <a:r>
              <a:rPr lang="en-US" altLang="zh-CN" sz="1800" dirty="0">
                <a:latin typeface="Times New Roman" panose="02020603050405020304" pitchFamily="18" charset="0"/>
                <a:ea typeface="宋体" panose="02010600030101010101" pitchFamily="2" charset="-122"/>
              </a:rPr>
              <a:t>3</a:t>
            </a:r>
            <a:r>
              <a:rPr lang="zh-CN" altLang="en-US" sz="1800" dirty="0">
                <a:latin typeface="Times New Roman" panose="02020603050405020304" pitchFamily="18" charset="0"/>
                <a:ea typeface="宋体" panose="02010600030101010101" pitchFamily="2" charset="-122"/>
              </a:rPr>
              <a:t>路查找树 </a:t>
            </a:r>
            <a:endParaRPr lang="zh-CN" altLang="en-US" sz="1800" dirty="0">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sz="2200" dirty="0" smtClean="0">
                <a:ea typeface="宋体" panose="02010600030101010101" pitchFamily="2" charset="-122"/>
              </a:rPr>
              <a:t>2</a:t>
            </a:r>
            <a:r>
              <a:rPr lang="en-US" altLang="zh-CN" sz="2200" dirty="0">
                <a:ea typeface="宋体" panose="02010600030101010101" pitchFamily="2" charset="-122"/>
              </a:rPr>
              <a:t>.  B-</a:t>
            </a:r>
            <a:r>
              <a:rPr lang="zh-CN" altLang="en-US" sz="2200" dirty="0">
                <a:ea typeface="宋体" panose="02010600030101010101" pitchFamily="2" charset="-122"/>
              </a:rPr>
              <a:t>树及其查找</a:t>
            </a:r>
            <a:endParaRPr lang="zh-CN" altLang="en-US" sz="2200" dirty="0">
              <a:ea typeface="宋体" panose="02010600030101010101" pitchFamily="2" charset="-122"/>
            </a:endParaRPr>
          </a:p>
          <a:p>
            <a:pPr lvl="2">
              <a:lnSpc>
                <a:spcPts val="3000"/>
              </a:lnSpc>
            </a:pPr>
            <a:r>
              <a:rPr lang="zh-CN" altLang="en-US" sz="2000" dirty="0">
                <a:ea typeface="宋体" panose="02010600030101010101" pitchFamily="2" charset="-122"/>
              </a:rPr>
              <a:t>        一棵</a:t>
            </a:r>
            <a:r>
              <a:rPr lang="en-US" altLang="zh-CN" sz="2000" dirty="0">
                <a:ea typeface="宋体" panose="02010600030101010101" pitchFamily="2" charset="-122"/>
              </a:rPr>
              <a:t>B-</a:t>
            </a:r>
            <a:r>
              <a:rPr lang="zh-CN" altLang="en-US" sz="2000" dirty="0">
                <a:ea typeface="宋体" panose="02010600030101010101" pitchFamily="2" charset="-122"/>
              </a:rPr>
              <a:t>树是一棵平衡的</a:t>
            </a:r>
            <a:r>
              <a:rPr lang="en-US" altLang="zh-CN" sz="2000" dirty="0">
                <a:ea typeface="宋体" panose="02010600030101010101" pitchFamily="2" charset="-122"/>
              </a:rPr>
              <a:t>m</a:t>
            </a:r>
            <a:r>
              <a:rPr lang="zh-CN" altLang="en-US" sz="2000" dirty="0">
                <a:ea typeface="宋体" panose="02010600030101010101" pitchFamily="2" charset="-122"/>
              </a:rPr>
              <a:t>路查找树，它或者是空树，或者是满足如下性质的树：</a:t>
            </a:r>
            <a:endParaRPr lang="zh-CN" altLang="en-US" sz="2000" dirty="0">
              <a:ea typeface="宋体" panose="02010600030101010101" pitchFamily="2" charset="-122"/>
            </a:endParaRPr>
          </a:p>
          <a:p>
            <a:pPr lvl="2">
              <a:lnSpc>
                <a:spcPts val="3000"/>
              </a:lnSpc>
            </a:pPr>
            <a:r>
              <a:rPr lang="zh-CN" altLang="en-US" sz="2000" dirty="0">
                <a:ea typeface="宋体" panose="02010600030101010101" pitchFamily="2" charset="-122"/>
              </a:rPr>
              <a:t>（</a:t>
            </a:r>
            <a:r>
              <a:rPr lang="en-US" altLang="zh-CN" sz="2000" dirty="0">
                <a:ea typeface="宋体" panose="02010600030101010101" pitchFamily="2" charset="-122"/>
              </a:rPr>
              <a:t>1</a:t>
            </a:r>
            <a:r>
              <a:rPr lang="zh-CN" altLang="en-US" sz="2000" dirty="0">
                <a:ea typeface="宋体" panose="02010600030101010101" pitchFamily="2" charset="-122"/>
              </a:rPr>
              <a:t>） 树中每个结点</a:t>
            </a:r>
            <a:r>
              <a:rPr lang="zh-CN" altLang="en-US" sz="2000" dirty="0">
                <a:solidFill>
                  <a:srgbClr val="FF0000"/>
                </a:solidFill>
                <a:ea typeface="宋体" panose="02010600030101010101" pitchFamily="2" charset="-122"/>
              </a:rPr>
              <a:t>最多有</a:t>
            </a:r>
            <a:r>
              <a:rPr lang="en-US" altLang="zh-CN" sz="2000" dirty="0">
                <a:solidFill>
                  <a:srgbClr val="FF0000"/>
                </a:solidFill>
                <a:ea typeface="宋体" panose="02010600030101010101" pitchFamily="2" charset="-122"/>
              </a:rPr>
              <a:t>m</a:t>
            </a:r>
            <a:r>
              <a:rPr lang="zh-CN" altLang="en-US" sz="2000" dirty="0">
                <a:solidFill>
                  <a:srgbClr val="FF0000"/>
                </a:solidFill>
                <a:ea typeface="宋体" panose="02010600030101010101" pitchFamily="2" charset="-122"/>
              </a:rPr>
              <a:t>棵子树</a:t>
            </a:r>
            <a:r>
              <a:rPr lang="zh-CN" altLang="en-US" sz="2000" dirty="0">
                <a:ea typeface="宋体" panose="02010600030101010101" pitchFamily="2" charset="-122"/>
              </a:rPr>
              <a:t>；</a:t>
            </a:r>
            <a:endParaRPr lang="zh-CN" altLang="en-US" sz="2000" dirty="0">
              <a:ea typeface="宋体" panose="02010600030101010101" pitchFamily="2" charset="-122"/>
            </a:endParaRPr>
          </a:p>
          <a:p>
            <a:pPr lvl="2">
              <a:lnSpc>
                <a:spcPts val="3000"/>
              </a:lnSpc>
            </a:pPr>
            <a:r>
              <a:rPr lang="zh-CN" altLang="en-US" sz="2000" dirty="0">
                <a:ea typeface="宋体" panose="02010600030101010101" pitchFamily="2" charset="-122"/>
              </a:rPr>
              <a:t>（</a:t>
            </a:r>
            <a:r>
              <a:rPr lang="en-US" altLang="zh-CN" sz="2000" dirty="0">
                <a:ea typeface="宋体" panose="02010600030101010101" pitchFamily="2" charset="-122"/>
              </a:rPr>
              <a:t>2</a:t>
            </a:r>
            <a:r>
              <a:rPr lang="zh-CN" altLang="en-US" sz="2000" dirty="0">
                <a:ea typeface="宋体" panose="02010600030101010101" pitchFamily="2" charset="-122"/>
              </a:rPr>
              <a:t>）</a:t>
            </a:r>
            <a:r>
              <a:rPr lang="zh-CN" altLang="en-US" sz="2000" dirty="0">
                <a:latin typeface="宋体" panose="02010600030101010101" pitchFamily="2" charset="-122"/>
                <a:ea typeface="宋体" panose="02010600030101010101" pitchFamily="2" charset="-122"/>
              </a:rPr>
              <a:t>若根结点不是叶子结点，则至少有两棵子树</a:t>
            </a:r>
            <a:r>
              <a:rPr lang="zh-CN" altLang="en-US" sz="2000" dirty="0">
                <a:ea typeface="宋体" panose="02010600030101010101" pitchFamily="2" charset="-122"/>
              </a:rPr>
              <a:t> ；</a:t>
            </a:r>
            <a:endParaRPr lang="zh-CN" altLang="en-US" sz="2000" dirty="0">
              <a:ea typeface="宋体" panose="02010600030101010101" pitchFamily="2" charset="-122"/>
            </a:endParaRPr>
          </a:p>
          <a:p>
            <a:pPr lvl="2">
              <a:lnSpc>
                <a:spcPts val="3000"/>
              </a:lnSpc>
            </a:pPr>
            <a:r>
              <a:rPr lang="zh-CN" altLang="en-US" sz="2000" dirty="0">
                <a:ea typeface="宋体" panose="02010600030101010101" pitchFamily="2" charset="-122"/>
              </a:rPr>
              <a:t>（</a:t>
            </a:r>
            <a:r>
              <a:rPr lang="en-US" altLang="zh-CN" sz="2000" dirty="0">
                <a:ea typeface="宋体" panose="02010600030101010101" pitchFamily="2" charset="-122"/>
              </a:rPr>
              <a:t>3</a:t>
            </a:r>
            <a:r>
              <a:rPr lang="zh-CN" altLang="en-US" sz="2000" dirty="0">
                <a:ea typeface="宋体" panose="02010600030101010101" pitchFamily="2" charset="-122"/>
              </a:rPr>
              <a:t>） 除根结点之外的所有非叶子结点至少有［</a:t>
            </a:r>
            <a:r>
              <a:rPr lang="en-US" altLang="zh-CN" sz="2000" dirty="0">
                <a:ea typeface="宋体" panose="02010600030101010101" pitchFamily="2" charset="-122"/>
              </a:rPr>
              <a:t>m/2</a:t>
            </a:r>
            <a:r>
              <a:rPr lang="zh-CN" altLang="en-US" sz="2000" dirty="0">
                <a:ea typeface="宋体" panose="02010600030101010101" pitchFamily="2" charset="-122"/>
              </a:rPr>
              <a:t>］棵子树； </a:t>
            </a:r>
            <a:endParaRPr lang="zh-CN" altLang="en-US" sz="2000" dirty="0">
              <a:ea typeface="宋体" panose="02010600030101010101" pitchFamily="2" charset="-122"/>
            </a:endParaRPr>
          </a:p>
          <a:p>
            <a:pPr lvl="2">
              <a:lnSpc>
                <a:spcPts val="3000"/>
              </a:lnSpc>
            </a:pPr>
            <a:r>
              <a:rPr lang="zh-CN" altLang="en-US" sz="2000" dirty="0" smtClean="0">
                <a:ea typeface="宋体" panose="02010600030101010101" pitchFamily="2" charset="-122"/>
              </a:rPr>
              <a:t>（</a:t>
            </a:r>
            <a:r>
              <a:rPr lang="en-US" altLang="zh-CN" sz="2000" dirty="0">
                <a:ea typeface="宋体" panose="02010600030101010101" pitchFamily="2" charset="-122"/>
              </a:rPr>
              <a:t>4</a:t>
            </a:r>
            <a:r>
              <a:rPr lang="zh-CN" altLang="en-US" sz="2000" dirty="0">
                <a:ea typeface="宋体" panose="02010600030101010101" pitchFamily="2" charset="-122"/>
              </a:rPr>
              <a:t>）</a:t>
            </a:r>
            <a:r>
              <a:rPr lang="zh-CN" altLang="en-US" sz="2000" dirty="0">
                <a:solidFill>
                  <a:srgbClr val="FF0000"/>
                </a:solidFill>
                <a:ea typeface="宋体" panose="02010600030101010101" pitchFamily="2" charset="-122"/>
              </a:rPr>
              <a:t>所有叶子结点出现在同一层上</a:t>
            </a:r>
            <a:r>
              <a:rPr lang="zh-CN" altLang="en-US" sz="2000" dirty="0">
                <a:ea typeface="宋体" panose="02010600030101010101" pitchFamily="2" charset="-122"/>
              </a:rPr>
              <a:t>，并且不含信息，通常称为失败结点。失败结点为虚结点，在</a:t>
            </a:r>
            <a:r>
              <a:rPr lang="en-US" altLang="zh-CN" sz="2000" dirty="0">
                <a:ea typeface="宋体" panose="02010600030101010101" pitchFamily="2" charset="-122"/>
              </a:rPr>
              <a:t>B-</a:t>
            </a:r>
            <a:r>
              <a:rPr lang="zh-CN" altLang="en-US" sz="2000" dirty="0">
                <a:ea typeface="宋体" panose="02010600030101010101" pitchFamily="2" charset="-122"/>
              </a:rPr>
              <a:t>树中并不存在，指向它们的指针为空指针。引入失败结点是为了便于分析</a:t>
            </a:r>
            <a:r>
              <a:rPr lang="en-US" altLang="zh-CN" sz="2000" dirty="0">
                <a:ea typeface="宋体" panose="02010600030101010101" pitchFamily="2" charset="-122"/>
              </a:rPr>
              <a:t>B-</a:t>
            </a:r>
            <a:r>
              <a:rPr lang="zh-CN" altLang="en-US" sz="2000" dirty="0">
                <a:ea typeface="宋体" panose="02010600030101010101" pitchFamily="2" charset="-122"/>
              </a:rPr>
              <a:t>树的查找性能。</a:t>
            </a:r>
            <a:r>
              <a:rPr lang="zh-CN" altLang="en-US" sz="2200" dirty="0">
                <a:ea typeface="宋体" panose="02010600030101010101" pitchFamily="2" charset="-122"/>
              </a:rPr>
              <a:t> </a:t>
            </a:r>
            <a:endParaRPr lang="zh-CN" altLang="en-US" sz="22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
        <p:nvSpPr>
          <p:cNvPr id="5" name="Text Box 4"/>
          <p:cNvSpPr txBox="1">
            <a:spLocks noChangeArrowheads="1"/>
          </p:cNvSpPr>
          <p:nvPr/>
        </p:nvSpPr>
        <p:spPr bwMode="auto">
          <a:xfrm>
            <a:off x="3854318" y="3928911"/>
            <a:ext cx="11079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dirty="0">
                <a:latin typeface="Times New Roman" panose="02020603050405020304" pitchFamily="18" charset="0"/>
                <a:ea typeface="宋体" panose="02010600030101010101" pitchFamily="2" charset="-122"/>
              </a:rPr>
              <a:t> </a:t>
            </a:r>
            <a:r>
              <a:rPr lang="en-US" altLang="zh-CN" sz="1800" dirty="0" smtClean="0">
                <a:latin typeface="Times New Roman" panose="02020603050405020304" pitchFamily="18" charset="0"/>
                <a:ea typeface="宋体" panose="02010600030101010101" pitchFamily="2" charset="-122"/>
              </a:rPr>
              <a:t>4</a:t>
            </a:r>
            <a:r>
              <a:rPr lang="zh-CN" altLang="en-US" sz="1800" dirty="0">
                <a:latin typeface="Times New Roman" panose="02020603050405020304" pitchFamily="18" charset="0"/>
                <a:ea typeface="宋体" panose="02010600030101010101" pitchFamily="2" charset="-122"/>
              </a:rPr>
              <a:t>阶</a:t>
            </a:r>
            <a:r>
              <a:rPr lang="en-US" altLang="zh-CN" sz="1800" dirty="0">
                <a:latin typeface="Times New Roman" panose="02020603050405020304" pitchFamily="18" charset="0"/>
                <a:ea typeface="宋体" panose="02010600030101010101" pitchFamily="2" charset="-122"/>
              </a:rPr>
              <a:t>B-</a:t>
            </a:r>
            <a:r>
              <a:rPr lang="zh-CN" altLang="en-US" sz="1800" dirty="0">
                <a:latin typeface="Times New Roman" panose="02020603050405020304" pitchFamily="18" charset="0"/>
                <a:ea typeface="宋体" panose="02010600030101010101" pitchFamily="2" charset="-122"/>
              </a:rPr>
              <a:t>树 </a:t>
            </a:r>
            <a:endParaRPr lang="zh-CN" altLang="en-US" sz="1800" dirty="0">
              <a:latin typeface="Times New Roman" panose="02020603050405020304" pitchFamily="18" charset="0"/>
              <a:ea typeface="宋体" panose="02010600030101010101" pitchFamily="2" charset="-122"/>
            </a:endParaRPr>
          </a:p>
        </p:txBody>
      </p:sp>
      <p:graphicFrame>
        <p:nvGraphicFramePr>
          <p:cNvPr id="6" name="Object 5"/>
          <p:cNvGraphicFramePr>
            <a:graphicFrameLocks noChangeAspect="1"/>
          </p:cNvGraphicFramePr>
          <p:nvPr/>
        </p:nvGraphicFramePr>
        <p:xfrm>
          <a:off x="921619" y="759794"/>
          <a:ext cx="6858000" cy="2655094"/>
        </p:xfrm>
        <a:graphic>
          <a:graphicData uri="http://schemas.openxmlformats.org/presentationml/2006/ole">
            <mc:AlternateContent xmlns:mc="http://schemas.openxmlformats.org/markup-compatibility/2006">
              <mc:Choice xmlns:v="urn:schemas-microsoft-com:vml" Requires="v">
                <p:oleObj spid="_x0000_s53284" name="VISIO" r:id="rId1" imgW="4442460" imgH="1722120" progId="Visio.Drawing.4">
                  <p:embed/>
                </p:oleObj>
              </mc:Choice>
              <mc:Fallback>
                <p:oleObj name="VISIO" r:id="rId1" imgW="4442460" imgH="172212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1619" y="759794"/>
                        <a:ext cx="6858000" cy="26550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spcBef>
                <a:spcPct val="0"/>
              </a:spcBef>
            </a:pPr>
            <a:endParaRPr lang="en-US" altLang="zh-CN" sz="2200" dirty="0" smtClean="0">
              <a:ea typeface="宋体" panose="02010600030101010101" pitchFamily="2" charset="-122"/>
            </a:endParaRPr>
          </a:p>
          <a:p>
            <a:pPr eaLnBrk="1" hangingPunct="1">
              <a:spcBef>
                <a:spcPct val="0"/>
              </a:spcBef>
            </a:pPr>
            <a:endParaRPr lang="en-US" altLang="zh-CN" sz="2200" dirty="0">
              <a:ea typeface="宋体" panose="02010600030101010101" pitchFamily="2" charset="-122"/>
            </a:endParaRPr>
          </a:p>
          <a:p>
            <a:pPr eaLnBrk="1" hangingPunct="1">
              <a:spcBef>
                <a:spcPct val="0"/>
              </a:spcBef>
            </a:pPr>
            <a:endParaRPr lang="en-US" altLang="zh-CN" sz="2200" dirty="0" smtClean="0">
              <a:ea typeface="宋体" panose="02010600030101010101" pitchFamily="2" charset="-122"/>
            </a:endParaRPr>
          </a:p>
          <a:p>
            <a:pPr eaLnBrk="1" hangingPunct="1">
              <a:spcBef>
                <a:spcPct val="0"/>
              </a:spcBef>
            </a:pPr>
            <a:endParaRPr lang="en-US" altLang="zh-CN" sz="2200" dirty="0">
              <a:ea typeface="宋体" panose="02010600030101010101" pitchFamily="2" charset="-122"/>
            </a:endParaRPr>
          </a:p>
          <a:p>
            <a:pPr eaLnBrk="1" hangingPunct="1">
              <a:spcBef>
                <a:spcPct val="0"/>
              </a:spcBef>
            </a:pPr>
            <a:endParaRPr lang="en-US" altLang="zh-CN" sz="2200" dirty="0" smtClean="0">
              <a:ea typeface="宋体" panose="02010600030101010101" pitchFamily="2" charset="-122"/>
            </a:endParaRPr>
          </a:p>
          <a:p>
            <a:pPr lvl="2">
              <a:lnSpc>
                <a:spcPts val="3000"/>
              </a:lnSpc>
              <a:spcBef>
                <a:spcPct val="0"/>
              </a:spcBef>
            </a:pPr>
            <a:endParaRPr lang="en-US" altLang="zh-CN" sz="1800" dirty="0" smtClean="0">
              <a:ea typeface="宋体" panose="02010600030101010101" pitchFamily="2" charset="-122"/>
            </a:endParaRPr>
          </a:p>
          <a:p>
            <a:pPr lvl="2">
              <a:lnSpc>
                <a:spcPts val="2600"/>
              </a:lnSpc>
              <a:spcBef>
                <a:spcPct val="0"/>
              </a:spcBef>
            </a:pPr>
            <a:r>
              <a:rPr lang="zh-CN" altLang="en-US" sz="1800" dirty="0" smtClean="0">
                <a:ea typeface="宋体" panose="02010600030101010101" pitchFamily="2" charset="-122"/>
              </a:rPr>
              <a:t>例：查找</a:t>
            </a:r>
            <a:r>
              <a:rPr lang="en-US" altLang="zh-CN" sz="1800" dirty="0" smtClean="0">
                <a:ea typeface="宋体" panose="02010600030101010101" pitchFamily="2" charset="-122"/>
              </a:rPr>
              <a:t>58</a:t>
            </a:r>
            <a:r>
              <a:rPr lang="zh-CN" altLang="en-US" sz="1800" dirty="0" smtClean="0">
                <a:ea typeface="宋体" panose="02010600030101010101" pitchFamily="2" charset="-122"/>
              </a:rPr>
              <a:t>、</a:t>
            </a:r>
            <a:r>
              <a:rPr lang="en-US" altLang="zh-CN" sz="1800" dirty="0" smtClean="0">
                <a:ea typeface="宋体" panose="02010600030101010101" pitchFamily="2" charset="-122"/>
              </a:rPr>
              <a:t>32</a:t>
            </a:r>
            <a:r>
              <a:rPr lang="zh-CN" altLang="en-US" sz="1800" dirty="0" smtClean="0">
                <a:ea typeface="宋体" panose="02010600030101010101" pitchFamily="2" charset="-122"/>
              </a:rPr>
              <a:t>。</a:t>
            </a:r>
            <a:endParaRPr lang="en-US" altLang="zh-CN" sz="1800" dirty="0" smtClean="0">
              <a:ea typeface="宋体" panose="02010600030101010101" pitchFamily="2" charset="-122"/>
            </a:endParaRPr>
          </a:p>
          <a:p>
            <a:pPr lvl="2">
              <a:lnSpc>
                <a:spcPts val="2600"/>
              </a:lnSpc>
              <a:spcBef>
                <a:spcPct val="0"/>
              </a:spcBef>
            </a:pPr>
            <a:r>
              <a:rPr lang="zh-CN" altLang="en-US" sz="1800" dirty="0" smtClean="0">
                <a:ea typeface="宋体" panose="02010600030101010101" pitchFamily="2" charset="-122"/>
              </a:rPr>
              <a:t>（</a:t>
            </a:r>
            <a:r>
              <a:rPr lang="en-US" altLang="zh-CN" sz="1800" dirty="0" smtClean="0">
                <a:ea typeface="宋体" panose="02010600030101010101" pitchFamily="2" charset="-122"/>
              </a:rPr>
              <a:t>1</a:t>
            </a:r>
            <a:r>
              <a:rPr lang="zh-CN" altLang="en-US" sz="1800" dirty="0" smtClean="0">
                <a:ea typeface="宋体" panose="02010600030101010101" pitchFamily="2" charset="-122"/>
              </a:rPr>
              <a:t>）由</a:t>
            </a:r>
            <a:r>
              <a:rPr lang="zh-CN" altLang="en-US" sz="1800" dirty="0">
                <a:ea typeface="宋体" panose="02010600030101010101" pitchFamily="2" charset="-122"/>
              </a:rPr>
              <a:t>根指针</a:t>
            </a:r>
            <a:r>
              <a:rPr lang="en-US" altLang="zh-CN" sz="1800" dirty="0" err="1">
                <a:ea typeface="宋体" panose="02010600030101010101" pitchFamily="2" charset="-122"/>
              </a:rPr>
              <a:t>mbt</a:t>
            </a:r>
            <a:r>
              <a:rPr lang="zh-CN" altLang="en-US" sz="1800" dirty="0">
                <a:ea typeface="宋体" panose="02010600030101010101" pitchFamily="2" charset="-122"/>
              </a:rPr>
              <a:t>找到根结点</a:t>
            </a:r>
            <a:r>
              <a:rPr lang="en-US" altLang="zh-CN" sz="1800" dirty="0">
                <a:ea typeface="宋体" panose="02010600030101010101" pitchFamily="2" charset="-122"/>
              </a:rPr>
              <a:t>A</a:t>
            </a:r>
            <a:r>
              <a:rPr lang="zh-CN" altLang="en-US" sz="1800" dirty="0">
                <a:ea typeface="宋体" panose="02010600030101010101" pitchFamily="2" charset="-122"/>
              </a:rPr>
              <a:t>，因为</a:t>
            </a:r>
            <a:r>
              <a:rPr lang="en-US" altLang="zh-CN" sz="1800" dirty="0">
                <a:ea typeface="宋体" panose="02010600030101010101" pitchFamily="2" charset="-122"/>
              </a:rPr>
              <a:t>58&gt;37</a:t>
            </a:r>
            <a:r>
              <a:rPr lang="zh-CN" altLang="en-US" sz="1800" dirty="0">
                <a:ea typeface="宋体" panose="02010600030101010101" pitchFamily="2" charset="-122"/>
              </a:rPr>
              <a:t>，所以找到结点</a:t>
            </a:r>
            <a:r>
              <a:rPr lang="en-US" altLang="zh-CN" sz="1800" dirty="0">
                <a:ea typeface="宋体" panose="02010600030101010101" pitchFamily="2" charset="-122"/>
              </a:rPr>
              <a:t>C</a:t>
            </a:r>
            <a:r>
              <a:rPr lang="zh-CN" altLang="en-US" sz="1800" dirty="0">
                <a:ea typeface="宋体" panose="02010600030101010101" pitchFamily="2" charset="-122"/>
              </a:rPr>
              <a:t>，又因为</a:t>
            </a:r>
            <a:r>
              <a:rPr lang="en-US" altLang="zh-CN" sz="1800" dirty="0">
                <a:ea typeface="宋体" panose="02010600030101010101" pitchFamily="2" charset="-122"/>
              </a:rPr>
              <a:t>40&lt;58&lt;85</a:t>
            </a:r>
            <a:r>
              <a:rPr lang="zh-CN" altLang="en-US" sz="1800" dirty="0">
                <a:ea typeface="宋体" panose="02010600030101010101" pitchFamily="2" charset="-122"/>
              </a:rPr>
              <a:t>，所以找到结点</a:t>
            </a:r>
            <a:r>
              <a:rPr lang="en-US" altLang="zh-CN" sz="1800" dirty="0">
                <a:ea typeface="宋体" panose="02010600030101010101" pitchFamily="2" charset="-122"/>
              </a:rPr>
              <a:t>G</a:t>
            </a:r>
            <a:r>
              <a:rPr lang="zh-CN" altLang="en-US" sz="1800" dirty="0">
                <a:ea typeface="宋体" panose="02010600030101010101" pitchFamily="2" charset="-122"/>
              </a:rPr>
              <a:t>，最后在结点</a:t>
            </a:r>
            <a:r>
              <a:rPr lang="en-US" altLang="zh-CN" sz="1800" dirty="0">
                <a:ea typeface="宋体" panose="02010600030101010101" pitchFamily="2" charset="-122"/>
              </a:rPr>
              <a:t>G</a:t>
            </a:r>
            <a:r>
              <a:rPr lang="zh-CN" altLang="en-US" sz="1800" dirty="0">
                <a:ea typeface="宋体" panose="02010600030101010101" pitchFamily="2" charset="-122"/>
              </a:rPr>
              <a:t>中找到</a:t>
            </a:r>
            <a:r>
              <a:rPr lang="en-US" altLang="zh-CN" sz="1800" dirty="0">
                <a:ea typeface="宋体" panose="02010600030101010101" pitchFamily="2" charset="-122"/>
              </a:rPr>
              <a:t>58</a:t>
            </a:r>
            <a:r>
              <a:rPr lang="zh-CN" altLang="en-US" sz="1800" dirty="0" smtClean="0">
                <a:ea typeface="宋体" panose="02010600030101010101" pitchFamily="2" charset="-122"/>
              </a:rPr>
              <a:t>。</a:t>
            </a:r>
            <a:endParaRPr lang="en-US" altLang="zh-CN" sz="1800" dirty="0" smtClean="0">
              <a:ea typeface="宋体" panose="02010600030101010101" pitchFamily="2" charset="-122"/>
            </a:endParaRPr>
          </a:p>
          <a:p>
            <a:pPr lvl="2">
              <a:lnSpc>
                <a:spcPts val="2600"/>
              </a:lnSpc>
              <a:spcBef>
                <a:spcPct val="0"/>
              </a:spcBef>
            </a:pPr>
            <a:r>
              <a:rPr lang="zh-CN" altLang="en-US" sz="1800" dirty="0" smtClean="0">
                <a:ea typeface="宋体" panose="02010600030101010101" pitchFamily="2" charset="-122"/>
              </a:rPr>
              <a:t>（</a:t>
            </a:r>
            <a:r>
              <a:rPr lang="en-US" altLang="zh-CN" sz="1800" dirty="0" smtClean="0">
                <a:ea typeface="宋体" panose="02010600030101010101" pitchFamily="2" charset="-122"/>
              </a:rPr>
              <a:t>2</a:t>
            </a:r>
            <a:r>
              <a:rPr lang="zh-CN" altLang="en-US" sz="1800" dirty="0" smtClean="0">
                <a:ea typeface="宋体" panose="02010600030101010101" pitchFamily="2" charset="-122"/>
              </a:rPr>
              <a:t>）查找</a:t>
            </a:r>
            <a:r>
              <a:rPr lang="en-US" altLang="zh-CN" sz="1800" dirty="0">
                <a:ea typeface="宋体" panose="02010600030101010101" pitchFamily="2" charset="-122"/>
              </a:rPr>
              <a:t>32</a:t>
            </a:r>
            <a:r>
              <a:rPr lang="zh-CN" altLang="en-US" sz="1800" dirty="0">
                <a:ea typeface="宋体" panose="02010600030101010101" pitchFamily="2" charset="-122"/>
              </a:rPr>
              <a:t>，首先由根指针</a:t>
            </a:r>
            <a:r>
              <a:rPr lang="en-US" altLang="zh-CN" sz="1800" dirty="0" err="1">
                <a:ea typeface="宋体" panose="02010600030101010101" pitchFamily="2" charset="-122"/>
              </a:rPr>
              <a:t>mbt</a:t>
            </a:r>
            <a:r>
              <a:rPr lang="zh-CN" altLang="en-US" sz="1800" dirty="0">
                <a:ea typeface="宋体" panose="02010600030101010101" pitchFamily="2" charset="-122"/>
              </a:rPr>
              <a:t>找到根结点</a:t>
            </a:r>
            <a:r>
              <a:rPr lang="en-US" altLang="zh-CN" sz="1800" dirty="0">
                <a:ea typeface="宋体" panose="02010600030101010101" pitchFamily="2" charset="-122"/>
              </a:rPr>
              <a:t>A</a:t>
            </a:r>
            <a:r>
              <a:rPr lang="zh-CN" altLang="en-US" sz="1800" dirty="0">
                <a:ea typeface="宋体" panose="02010600030101010101" pitchFamily="2" charset="-122"/>
              </a:rPr>
              <a:t>，因为</a:t>
            </a:r>
            <a:r>
              <a:rPr lang="en-US" altLang="zh-CN" sz="1800" dirty="0">
                <a:ea typeface="宋体" panose="02010600030101010101" pitchFamily="2" charset="-122"/>
              </a:rPr>
              <a:t>32&lt;37</a:t>
            </a:r>
            <a:r>
              <a:rPr lang="zh-CN" altLang="en-US" sz="1800" dirty="0">
                <a:ea typeface="宋体" panose="02010600030101010101" pitchFamily="2" charset="-122"/>
              </a:rPr>
              <a:t>，所以找到结点</a:t>
            </a:r>
            <a:r>
              <a:rPr lang="en-US" altLang="zh-CN" sz="1800" dirty="0">
                <a:ea typeface="宋体" panose="02010600030101010101" pitchFamily="2" charset="-122"/>
              </a:rPr>
              <a:t>B</a:t>
            </a:r>
            <a:r>
              <a:rPr lang="zh-CN" altLang="en-US" sz="1800" dirty="0">
                <a:ea typeface="宋体" panose="02010600030101010101" pitchFamily="2" charset="-122"/>
              </a:rPr>
              <a:t>，因为</a:t>
            </a:r>
            <a:r>
              <a:rPr lang="en-US" altLang="zh-CN" sz="1800" dirty="0">
                <a:ea typeface="宋体" panose="02010600030101010101" pitchFamily="2" charset="-122"/>
              </a:rPr>
              <a:t>32&gt;25</a:t>
            </a:r>
            <a:r>
              <a:rPr lang="zh-CN" altLang="en-US" sz="1800" dirty="0">
                <a:ea typeface="宋体" panose="02010600030101010101" pitchFamily="2" charset="-122"/>
              </a:rPr>
              <a:t>，所以找到结点</a:t>
            </a:r>
            <a:r>
              <a:rPr lang="en-US" altLang="zh-CN" sz="1800" dirty="0">
                <a:ea typeface="宋体" panose="02010600030101010101" pitchFamily="2" charset="-122"/>
              </a:rPr>
              <a:t>E</a:t>
            </a:r>
            <a:r>
              <a:rPr lang="zh-CN" altLang="en-US" sz="1800" dirty="0">
                <a:ea typeface="宋体" panose="02010600030101010101" pitchFamily="2" charset="-122"/>
              </a:rPr>
              <a:t>，又因为</a:t>
            </a:r>
            <a:r>
              <a:rPr lang="en-US" altLang="zh-CN" sz="1800" dirty="0">
                <a:ea typeface="宋体" panose="02010600030101010101" pitchFamily="2" charset="-122"/>
              </a:rPr>
              <a:t>30&lt;32&lt;35</a:t>
            </a:r>
            <a:r>
              <a:rPr lang="zh-CN" altLang="en-US" sz="1800" dirty="0">
                <a:ea typeface="宋体" panose="02010600030101010101" pitchFamily="2" charset="-122"/>
              </a:rPr>
              <a:t>，所以最后找到失败结点</a:t>
            </a:r>
            <a:r>
              <a:rPr lang="en-US" altLang="zh-CN" sz="1800" dirty="0">
                <a:ea typeface="宋体" panose="02010600030101010101" pitchFamily="2" charset="-122"/>
              </a:rPr>
              <a:t>f</a:t>
            </a:r>
            <a:r>
              <a:rPr lang="zh-CN" altLang="en-US" sz="1800" dirty="0">
                <a:ea typeface="宋体" panose="02010600030101010101" pitchFamily="2" charset="-122"/>
              </a:rPr>
              <a:t>，表示</a:t>
            </a:r>
            <a:r>
              <a:rPr lang="en-US" altLang="zh-CN" sz="1800" dirty="0">
                <a:ea typeface="宋体" panose="02010600030101010101" pitchFamily="2" charset="-122"/>
              </a:rPr>
              <a:t>32</a:t>
            </a:r>
            <a:r>
              <a:rPr lang="zh-CN" altLang="en-US" sz="1800" dirty="0">
                <a:ea typeface="宋体" panose="02010600030101010101" pitchFamily="2" charset="-122"/>
              </a:rPr>
              <a:t>不存在，查找失败</a:t>
            </a:r>
            <a:r>
              <a:rPr lang="zh-CN" altLang="en-US" sz="1800" dirty="0" smtClean="0">
                <a:ea typeface="宋体" panose="02010600030101010101" pitchFamily="2" charset="-122"/>
              </a:rPr>
              <a:t>。</a:t>
            </a:r>
            <a:endParaRPr lang="zh-CN" altLang="en-US"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5"/>
          <p:cNvGraphicFramePr>
            <a:graphicFrameLocks noChangeAspect="1"/>
          </p:cNvGraphicFramePr>
          <p:nvPr/>
        </p:nvGraphicFramePr>
        <p:xfrm>
          <a:off x="1146170" y="140307"/>
          <a:ext cx="6858000" cy="2655094"/>
        </p:xfrm>
        <a:graphic>
          <a:graphicData uri="http://schemas.openxmlformats.org/presentationml/2006/ole">
            <mc:AlternateContent xmlns:mc="http://schemas.openxmlformats.org/markup-compatibility/2006">
              <mc:Choice xmlns:v="urn:schemas-microsoft-com:vml" Requires="v">
                <p:oleObj spid="_x0000_s54308" name="VISIO" r:id="rId1" imgW="4442460" imgH="1722120" progId="Visio.Drawing.4">
                  <p:embed/>
                </p:oleObj>
              </mc:Choice>
              <mc:Fallback>
                <p:oleObj name="VISIO" r:id="rId1" imgW="4442460" imgH="172212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6170" y="140307"/>
                        <a:ext cx="6858000" cy="26550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spcBef>
                <a:spcPct val="0"/>
              </a:spcBef>
            </a:pPr>
            <a:r>
              <a:rPr lang="en-US" altLang="zh-CN" sz="2400" dirty="0" smtClean="0">
                <a:ea typeface="宋体" panose="02010600030101010101" pitchFamily="2" charset="-122"/>
              </a:rPr>
              <a:t>3</a:t>
            </a:r>
            <a:r>
              <a:rPr lang="en-US" altLang="zh-CN" sz="2400" dirty="0">
                <a:ea typeface="宋体" panose="02010600030101010101" pitchFamily="2" charset="-122"/>
              </a:rPr>
              <a:t>. B-</a:t>
            </a:r>
            <a:r>
              <a:rPr lang="zh-CN" altLang="en-US" sz="2400" dirty="0">
                <a:ea typeface="宋体" panose="02010600030101010101" pitchFamily="2" charset="-122"/>
              </a:rPr>
              <a:t>树的</a:t>
            </a:r>
            <a:r>
              <a:rPr lang="zh-CN" altLang="en-US" sz="2400" dirty="0" smtClean="0">
                <a:ea typeface="宋体" panose="02010600030101010101" pitchFamily="2" charset="-122"/>
              </a:rPr>
              <a:t>插入</a:t>
            </a:r>
            <a:endParaRPr lang="en-US" altLang="zh-CN" sz="2400" dirty="0" smtClean="0">
              <a:ea typeface="宋体" panose="02010600030101010101" pitchFamily="2" charset="-122"/>
            </a:endParaRPr>
          </a:p>
          <a:p>
            <a:pPr marL="0" lvl="2">
              <a:spcBef>
                <a:spcPct val="0"/>
              </a:spcBef>
            </a:pPr>
            <a:r>
              <a:rPr lang="zh-CN" altLang="en-US" sz="2000" dirty="0">
                <a:ea typeface="宋体" panose="02010600030101010101" pitchFamily="2" charset="-122"/>
              </a:rPr>
              <a:t>已知一棵</a:t>
            </a:r>
            <a:r>
              <a:rPr lang="en-US" altLang="zh-CN" sz="2000" dirty="0">
                <a:ea typeface="宋体" panose="02010600030101010101" pitchFamily="2" charset="-122"/>
              </a:rPr>
              <a:t>3</a:t>
            </a:r>
            <a:r>
              <a:rPr lang="zh-CN" altLang="en-US" sz="2000" dirty="0">
                <a:ea typeface="宋体" panose="02010600030101010101" pitchFamily="2" charset="-122"/>
              </a:rPr>
              <a:t>阶</a:t>
            </a:r>
            <a:r>
              <a:rPr lang="en-US" altLang="zh-CN" sz="2000" dirty="0">
                <a:ea typeface="宋体" panose="02010600030101010101" pitchFamily="2" charset="-122"/>
              </a:rPr>
              <a:t>B-</a:t>
            </a:r>
            <a:r>
              <a:rPr lang="zh-CN" altLang="en-US" sz="2000" dirty="0" smtClean="0">
                <a:ea typeface="宋体" panose="02010600030101010101" pitchFamily="2" charset="-122"/>
              </a:rPr>
              <a:t>树，</a:t>
            </a:r>
            <a:endParaRPr lang="en-US" altLang="zh-CN" sz="2000" dirty="0" smtClean="0">
              <a:ea typeface="宋体" panose="02010600030101010101" pitchFamily="2" charset="-122"/>
            </a:endParaRPr>
          </a:p>
          <a:p>
            <a:pPr marL="0" lvl="2">
              <a:spcBef>
                <a:spcPct val="0"/>
              </a:spcBef>
            </a:pPr>
            <a:r>
              <a:rPr lang="zh-CN" altLang="en-US" sz="2000" dirty="0" smtClean="0">
                <a:ea typeface="宋体" panose="02010600030101010101" pitchFamily="2" charset="-122"/>
              </a:rPr>
              <a:t>要求</a:t>
            </a:r>
            <a:r>
              <a:rPr lang="zh-CN" altLang="en-US" sz="2000" dirty="0">
                <a:ea typeface="宋体" panose="02010600030101010101" pitchFamily="2" charset="-122"/>
              </a:rPr>
              <a:t>插入</a:t>
            </a:r>
            <a:r>
              <a:rPr lang="en-US" altLang="zh-CN" sz="2000" dirty="0">
                <a:ea typeface="宋体" panose="02010600030101010101" pitchFamily="2" charset="-122"/>
              </a:rPr>
              <a:t>52</a:t>
            </a:r>
            <a:r>
              <a:rPr lang="zh-CN" altLang="en-US" sz="2000" dirty="0">
                <a:ea typeface="宋体" panose="02010600030101010101" pitchFamily="2" charset="-122"/>
              </a:rPr>
              <a:t>、</a:t>
            </a:r>
            <a:r>
              <a:rPr lang="en-US" altLang="zh-CN" sz="2000" dirty="0">
                <a:ea typeface="宋体" panose="02010600030101010101" pitchFamily="2" charset="-122"/>
              </a:rPr>
              <a:t>20</a:t>
            </a:r>
            <a:r>
              <a:rPr lang="zh-CN" altLang="en-US" sz="2000" dirty="0">
                <a:ea typeface="宋体" panose="02010600030101010101" pitchFamily="2" charset="-122"/>
              </a:rPr>
              <a:t>、</a:t>
            </a:r>
            <a:r>
              <a:rPr lang="en-US" altLang="zh-CN" sz="2000" dirty="0">
                <a:ea typeface="宋体" panose="02010600030101010101" pitchFamily="2" charset="-122"/>
              </a:rPr>
              <a:t>49</a:t>
            </a:r>
            <a:r>
              <a:rPr lang="zh-CN" altLang="en-US" sz="2000" dirty="0" smtClean="0">
                <a:ea typeface="宋体" panose="02010600030101010101" pitchFamily="2" charset="-122"/>
              </a:rPr>
              <a:t>。 </a:t>
            </a:r>
            <a:endParaRPr lang="zh-CN" altLang="en-US" sz="20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5"/>
          <p:cNvGraphicFramePr>
            <a:graphicFrameLocks noChangeAspect="1"/>
          </p:cNvGraphicFramePr>
          <p:nvPr/>
        </p:nvGraphicFramePr>
        <p:xfrm>
          <a:off x="2479708" y="60822"/>
          <a:ext cx="6457950" cy="5150644"/>
        </p:xfrm>
        <a:graphic>
          <a:graphicData uri="http://schemas.openxmlformats.org/presentationml/2006/ole">
            <mc:AlternateContent xmlns:mc="http://schemas.openxmlformats.org/markup-compatibility/2006">
              <mc:Choice xmlns:v="urn:schemas-microsoft-com:vml" Requires="v">
                <p:oleObj spid="_x0000_s55332" name="VISIO" r:id="rId1" imgW="6050280" imgH="4823460" progId="Visio.Drawing.4">
                  <p:embed/>
                </p:oleObj>
              </mc:Choice>
              <mc:Fallback>
                <p:oleObj name="VISIO" r:id="rId1" imgW="6050280" imgH="482346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9708" y="60822"/>
                        <a:ext cx="6457950" cy="5150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spcBef>
                <a:spcPct val="0"/>
              </a:spcBef>
            </a:pPr>
            <a:r>
              <a:rPr lang="zh-CN" altLang="en-US" sz="2200" dirty="0" smtClean="0">
                <a:ea typeface="宋体" panose="02010600030101010101" pitchFamily="2" charset="-122"/>
              </a:rPr>
              <a:t>    可以</a:t>
            </a:r>
            <a:r>
              <a:rPr lang="zh-CN" altLang="en-US" sz="2200" dirty="0">
                <a:ea typeface="宋体" panose="02010600030101010101" pitchFamily="2" charset="-122"/>
              </a:rPr>
              <a:t>利用</a:t>
            </a:r>
            <a:r>
              <a:rPr lang="en-US" altLang="zh-CN" sz="2200" dirty="0">
                <a:ea typeface="宋体" panose="02010600030101010101" pitchFamily="2" charset="-122"/>
              </a:rPr>
              <a:t>B-</a:t>
            </a:r>
            <a:r>
              <a:rPr lang="zh-CN" altLang="en-US" sz="2200" dirty="0">
                <a:ea typeface="宋体" panose="02010600030101010101" pitchFamily="2" charset="-122"/>
              </a:rPr>
              <a:t>树的插入方法，从空树开始，逐个插入关键字，从而创建一棵</a:t>
            </a:r>
            <a:r>
              <a:rPr lang="en-US" altLang="zh-CN" sz="2200" dirty="0">
                <a:ea typeface="宋体" panose="02010600030101010101" pitchFamily="2" charset="-122"/>
              </a:rPr>
              <a:t>B-</a:t>
            </a:r>
            <a:r>
              <a:rPr lang="zh-CN" altLang="en-US" sz="2200" dirty="0">
                <a:ea typeface="宋体" panose="02010600030101010101" pitchFamily="2" charset="-122"/>
              </a:rPr>
              <a:t>树</a:t>
            </a:r>
            <a:r>
              <a:rPr lang="zh-CN" altLang="en-US" sz="2200" dirty="0" smtClean="0">
                <a:ea typeface="宋体" panose="02010600030101010101" pitchFamily="2" charset="-122"/>
              </a:rPr>
              <a:t>。</a:t>
            </a:r>
            <a:endParaRPr lang="en-US" altLang="zh-CN" sz="2200" dirty="0" smtClean="0">
              <a:ea typeface="宋体" panose="02010600030101010101" pitchFamily="2" charset="-122"/>
            </a:endParaRPr>
          </a:p>
          <a:p>
            <a:pPr lvl="2">
              <a:spcBef>
                <a:spcPct val="0"/>
              </a:spcBef>
            </a:pPr>
            <a:r>
              <a:rPr lang="zh-CN" altLang="en-US" sz="2200" dirty="0" smtClean="0">
                <a:ea typeface="宋体" panose="02010600030101010101" pitchFamily="2" charset="-122"/>
              </a:rPr>
              <a:t>    例如</a:t>
            </a:r>
            <a:r>
              <a:rPr lang="zh-CN" altLang="en-US" sz="2200" dirty="0">
                <a:ea typeface="宋体" panose="02010600030101010101" pitchFamily="2" charset="-122"/>
              </a:rPr>
              <a:t>，已知关键字集为</a:t>
            </a:r>
            <a:r>
              <a:rPr lang="en-US" altLang="zh-CN" sz="2200" dirty="0">
                <a:ea typeface="宋体" panose="02010600030101010101" pitchFamily="2" charset="-122"/>
              </a:rPr>
              <a:t>{37</a:t>
            </a:r>
            <a:r>
              <a:rPr lang="zh-CN" altLang="en-US" sz="2200" dirty="0">
                <a:ea typeface="宋体" panose="02010600030101010101" pitchFamily="2" charset="-122"/>
              </a:rPr>
              <a:t>， </a:t>
            </a:r>
            <a:r>
              <a:rPr lang="en-US" altLang="zh-CN" sz="2200" dirty="0">
                <a:ea typeface="宋体" panose="02010600030101010101" pitchFamily="2" charset="-122"/>
              </a:rPr>
              <a:t>70</a:t>
            </a:r>
            <a:r>
              <a:rPr lang="zh-CN" altLang="en-US" sz="2200" dirty="0">
                <a:ea typeface="宋体" panose="02010600030101010101" pitchFamily="2" charset="-122"/>
              </a:rPr>
              <a:t>， </a:t>
            </a:r>
            <a:r>
              <a:rPr lang="en-US" altLang="zh-CN" sz="2200" dirty="0">
                <a:ea typeface="宋体" panose="02010600030101010101" pitchFamily="2" charset="-122"/>
              </a:rPr>
              <a:t>12</a:t>
            </a:r>
            <a:r>
              <a:rPr lang="zh-CN" altLang="en-US" sz="2200" dirty="0">
                <a:ea typeface="宋体" panose="02010600030101010101" pitchFamily="2" charset="-122"/>
              </a:rPr>
              <a:t>， </a:t>
            </a:r>
            <a:r>
              <a:rPr lang="en-US" altLang="zh-CN" sz="2200" dirty="0">
                <a:ea typeface="宋体" panose="02010600030101010101" pitchFamily="2" charset="-122"/>
              </a:rPr>
              <a:t>45</a:t>
            </a:r>
            <a:r>
              <a:rPr lang="zh-CN" altLang="en-US" sz="2200" dirty="0">
                <a:ea typeface="宋体" panose="02010600030101010101" pitchFamily="2" charset="-122"/>
              </a:rPr>
              <a:t>， </a:t>
            </a:r>
            <a:r>
              <a:rPr lang="en-US" altLang="zh-CN" sz="2200" dirty="0">
                <a:ea typeface="宋体" panose="02010600030101010101" pitchFamily="2" charset="-122"/>
              </a:rPr>
              <a:t>90</a:t>
            </a:r>
            <a:r>
              <a:rPr lang="zh-CN" altLang="en-US" sz="2200" dirty="0">
                <a:ea typeface="宋体" panose="02010600030101010101" pitchFamily="2" charset="-122"/>
              </a:rPr>
              <a:t>， </a:t>
            </a:r>
            <a:r>
              <a:rPr lang="en-US" altLang="zh-CN" sz="2200" dirty="0">
                <a:ea typeface="宋体" panose="02010600030101010101" pitchFamily="2" charset="-122"/>
              </a:rPr>
              <a:t>3</a:t>
            </a:r>
            <a:r>
              <a:rPr lang="zh-CN" altLang="en-US" sz="2200" dirty="0">
                <a:ea typeface="宋体" panose="02010600030101010101" pitchFamily="2" charset="-122"/>
              </a:rPr>
              <a:t>， </a:t>
            </a:r>
            <a:r>
              <a:rPr lang="en-US" altLang="zh-CN" sz="2200" dirty="0">
                <a:ea typeface="宋体" panose="02010600030101010101" pitchFamily="2" charset="-122"/>
              </a:rPr>
              <a:t>24</a:t>
            </a:r>
            <a:r>
              <a:rPr lang="zh-CN" altLang="en-US" sz="2200" dirty="0">
                <a:ea typeface="宋体" panose="02010600030101010101" pitchFamily="2" charset="-122"/>
              </a:rPr>
              <a:t>， </a:t>
            </a:r>
            <a:r>
              <a:rPr lang="en-US" altLang="zh-CN" sz="2200" dirty="0">
                <a:ea typeface="宋体" panose="02010600030101010101" pitchFamily="2" charset="-122"/>
              </a:rPr>
              <a:t>61</a:t>
            </a:r>
            <a:r>
              <a:rPr lang="zh-CN" altLang="en-US" sz="2200" dirty="0">
                <a:ea typeface="宋体" panose="02010600030101010101" pitchFamily="2" charset="-122"/>
              </a:rPr>
              <a:t>， </a:t>
            </a:r>
            <a:r>
              <a:rPr lang="en-US" altLang="zh-CN" sz="2200" dirty="0">
                <a:ea typeface="宋体" panose="02010600030101010101" pitchFamily="2" charset="-122"/>
              </a:rPr>
              <a:t>53}</a:t>
            </a:r>
            <a:r>
              <a:rPr lang="zh-CN" altLang="en-US" sz="2200" dirty="0">
                <a:ea typeface="宋体" panose="02010600030101010101" pitchFamily="2" charset="-122"/>
              </a:rPr>
              <a:t>， 要求从空树开始，逐个插入关键字，创建一棵</a:t>
            </a:r>
            <a:r>
              <a:rPr lang="en-US" altLang="zh-CN" sz="2200" dirty="0">
                <a:ea typeface="宋体" panose="02010600030101010101" pitchFamily="2" charset="-122"/>
              </a:rPr>
              <a:t>3</a:t>
            </a:r>
            <a:r>
              <a:rPr lang="zh-CN" altLang="en-US" sz="2200" dirty="0">
                <a:ea typeface="宋体" panose="02010600030101010101" pitchFamily="2" charset="-122"/>
              </a:rPr>
              <a:t>阶</a:t>
            </a:r>
            <a:r>
              <a:rPr lang="en-US" altLang="zh-CN" sz="2200" dirty="0">
                <a:ea typeface="宋体" panose="02010600030101010101" pitchFamily="2" charset="-122"/>
              </a:rPr>
              <a:t>B-</a:t>
            </a:r>
            <a:r>
              <a:rPr lang="zh-CN" altLang="en-US" sz="2200" dirty="0">
                <a:ea typeface="宋体" panose="02010600030101010101" pitchFamily="2" charset="-122"/>
              </a:rPr>
              <a:t>树</a:t>
            </a:r>
            <a:r>
              <a:rPr lang="zh-CN" altLang="en-US" sz="2200" dirty="0" smtClean="0">
                <a:ea typeface="宋体" panose="02010600030101010101" pitchFamily="2" charset="-122"/>
              </a:rPr>
              <a:t>。</a:t>
            </a:r>
            <a:endParaRPr lang="en-US" altLang="zh-CN" sz="2200" dirty="0" smtClean="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spcBef>
                <a:spcPct val="0"/>
              </a:spcBef>
            </a:pPr>
            <a:r>
              <a:rPr lang="zh-CN" altLang="en-US" sz="2200" dirty="0" smtClean="0">
                <a:ea typeface="宋体" panose="02010600030101010101" pitchFamily="2" charset="-122"/>
              </a:rPr>
              <a:t>关键字</a:t>
            </a:r>
            <a:r>
              <a:rPr lang="zh-CN" altLang="en-US" sz="2200" dirty="0">
                <a:ea typeface="宋体" panose="02010600030101010101" pitchFamily="2" charset="-122"/>
              </a:rPr>
              <a:t>集</a:t>
            </a:r>
            <a:r>
              <a:rPr lang="zh-CN" altLang="en-US" sz="2200" dirty="0" smtClean="0">
                <a:ea typeface="宋体" panose="02010600030101010101" pitchFamily="2" charset="-122"/>
              </a:rPr>
              <a:t>为</a:t>
            </a:r>
            <a:endParaRPr lang="en-US" altLang="zh-CN" sz="2200" dirty="0" smtClean="0">
              <a:ea typeface="宋体" panose="02010600030101010101" pitchFamily="2" charset="-122"/>
            </a:endParaRPr>
          </a:p>
          <a:p>
            <a:pPr marL="0" lvl="2">
              <a:spcBef>
                <a:spcPct val="0"/>
              </a:spcBef>
            </a:pPr>
            <a:r>
              <a:rPr lang="en-US" altLang="zh-CN" sz="2200" dirty="0" smtClean="0">
                <a:ea typeface="宋体" panose="02010600030101010101" pitchFamily="2" charset="-122"/>
              </a:rPr>
              <a:t>{</a:t>
            </a:r>
            <a:r>
              <a:rPr lang="en-US" altLang="zh-CN" sz="2200" dirty="0">
                <a:ea typeface="宋体" panose="02010600030101010101" pitchFamily="2" charset="-122"/>
              </a:rPr>
              <a:t>37</a:t>
            </a:r>
            <a:r>
              <a:rPr lang="zh-CN" altLang="en-US" sz="2200" dirty="0">
                <a:ea typeface="宋体" panose="02010600030101010101" pitchFamily="2" charset="-122"/>
              </a:rPr>
              <a:t>， </a:t>
            </a:r>
            <a:r>
              <a:rPr lang="en-US" altLang="zh-CN" sz="2200" dirty="0">
                <a:ea typeface="宋体" panose="02010600030101010101" pitchFamily="2" charset="-122"/>
              </a:rPr>
              <a:t>70</a:t>
            </a:r>
            <a:r>
              <a:rPr lang="zh-CN" altLang="en-US" sz="2200" dirty="0">
                <a:ea typeface="宋体" panose="02010600030101010101" pitchFamily="2" charset="-122"/>
              </a:rPr>
              <a:t>， </a:t>
            </a:r>
            <a:r>
              <a:rPr lang="en-US" altLang="zh-CN" sz="2200" dirty="0">
                <a:ea typeface="宋体" panose="02010600030101010101" pitchFamily="2" charset="-122"/>
              </a:rPr>
              <a:t>12</a:t>
            </a:r>
            <a:r>
              <a:rPr lang="zh-CN" altLang="en-US" sz="2200" dirty="0">
                <a:ea typeface="宋体" panose="02010600030101010101" pitchFamily="2" charset="-122"/>
              </a:rPr>
              <a:t>， </a:t>
            </a:r>
            <a:endParaRPr lang="en-US" altLang="zh-CN" sz="2200" dirty="0" smtClean="0">
              <a:ea typeface="宋体" panose="02010600030101010101" pitchFamily="2" charset="-122"/>
            </a:endParaRPr>
          </a:p>
          <a:p>
            <a:pPr marL="0" lvl="2">
              <a:spcBef>
                <a:spcPct val="0"/>
              </a:spcBef>
            </a:pPr>
            <a:r>
              <a:rPr lang="en-US" altLang="zh-CN" sz="2200" dirty="0" smtClean="0">
                <a:ea typeface="宋体" panose="02010600030101010101" pitchFamily="2" charset="-122"/>
              </a:rPr>
              <a:t>45</a:t>
            </a:r>
            <a:r>
              <a:rPr lang="zh-CN" altLang="en-US" sz="2200" dirty="0">
                <a:ea typeface="宋体" panose="02010600030101010101" pitchFamily="2" charset="-122"/>
              </a:rPr>
              <a:t>， </a:t>
            </a:r>
            <a:r>
              <a:rPr lang="en-US" altLang="zh-CN" sz="2200" dirty="0">
                <a:ea typeface="宋体" panose="02010600030101010101" pitchFamily="2" charset="-122"/>
              </a:rPr>
              <a:t>90</a:t>
            </a:r>
            <a:r>
              <a:rPr lang="zh-CN" altLang="en-US" sz="2200" dirty="0">
                <a:ea typeface="宋体" panose="02010600030101010101" pitchFamily="2" charset="-122"/>
              </a:rPr>
              <a:t>， </a:t>
            </a:r>
            <a:r>
              <a:rPr lang="en-US" altLang="zh-CN" sz="2200" dirty="0">
                <a:ea typeface="宋体" panose="02010600030101010101" pitchFamily="2" charset="-122"/>
              </a:rPr>
              <a:t>3</a:t>
            </a:r>
            <a:r>
              <a:rPr lang="zh-CN" altLang="en-US" sz="2200" dirty="0">
                <a:ea typeface="宋体" panose="02010600030101010101" pitchFamily="2" charset="-122"/>
              </a:rPr>
              <a:t>， </a:t>
            </a:r>
            <a:endParaRPr lang="en-US" altLang="zh-CN" sz="2200" dirty="0" smtClean="0">
              <a:ea typeface="宋体" panose="02010600030101010101" pitchFamily="2" charset="-122"/>
            </a:endParaRPr>
          </a:p>
          <a:p>
            <a:pPr marL="0" lvl="2">
              <a:spcBef>
                <a:spcPct val="0"/>
              </a:spcBef>
            </a:pPr>
            <a:r>
              <a:rPr lang="en-US" altLang="zh-CN" sz="2200" dirty="0" smtClean="0">
                <a:ea typeface="宋体" panose="02010600030101010101" pitchFamily="2" charset="-122"/>
              </a:rPr>
              <a:t>24</a:t>
            </a:r>
            <a:r>
              <a:rPr lang="zh-CN" altLang="en-US" sz="2200" dirty="0">
                <a:ea typeface="宋体" panose="02010600030101010101" pitchFamily="2" charset="-122"/>
              </a:rPr>
              <a:t>， </a:t>
            </a:r>
            <a:r>
              <a:rPr lang="en-US" altLang="zh-CN" sz="2200" dirty="0">
                <a:ea typeface="宋体" panose="02010600030101010101" pitchFamily="2" charset="-122"/>
              </a:rPr>
              <a:t>61</a:t>
            </a:r>
            <a:r>
              <a:rPr lang="zh-CN" altLang="en-US" sz="2200" dirty="0">
                <a:ea typeface="宋体" panose="02010600030101010101" pitchFamily="2" charset="-122"/>
              </a:rPr>
              <a:t>， </a:t>
            </a:r>
            <a:r>
              <a:rPr lang="en-US" altLang="zh-CN" sz="2200" dirty="0">
                <a:ea typeface="宋体" panose="02010600030101010101" pitchFamily="2" charset="-122"/>
              </a:rPr>
              <a:t>53</a:t>
            </a:r>
            <a:r>
              <a:rPr lang="en-US" altLang="zh-CN" sz="2200" dirty="0" smtClean="0">
                <a:ea typeface="宋体" panose="02010600030101010101" pitchFamily="2" charset="-122"/>
              </a:rPr>
              <a:t>}</a:t>
            </a:r>
            <a:endParaRPr lang="en-US" altLang="zh-CN" sz="2200" dirty="0" smtClean="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5"/>
          <p:cNvGraphicFramePr>
            <a:graphicFrameLocks noChangeAspect="1"/>
          </p:cNvGraphicFramePr>
          <p:nvPr/>
        </p:nvGraphicFramePr>
        <p:xfrm>
          <a:off x="2802757" y="-3572"/>
          <a:ext cx="6057900" cy="5147072"/>
        </p:xfrm>
        <a:graphic>
          <a:graphicData uri="http://schemas.openxmlformats.org/presentationml/2006/ole">
            <mc:AlternateContent xmlns:mc="http://schemas.openxmlformats.org/markup-compatibility/2006">
              <mc:Choice xmlns:v="urn:schemas-microsoft-com:vml" Requires="v">
                <p:oleObj spid="_x0000_s56355" name="VISIO" r:id="rId1" imgW="5402580" imgH="4594860" progId="Visio.Drawing.4">
                  <p:embed/>
                </p:oleObj>
              </mc:Choice>
              <mc:Fallback>
                <p:oleObj name="VISIO" r:id="rId1" imgW="5402580" imgH="459486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2757" y="-3572"/>
                        <a:ext cx="6057900" cy="5147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700"/>
              </a:lnSpc>
            </a:pPr>
            <a:r>
              <a:rPr lang="zh-CN" altLang="en-US" sz="2000" dirty="0" smtClean="0">
                <a:ea typeface="宋体" panose="02010600030101010101" pitchFamily="2" charset="-122"/>
              </a:rPr>
              <a:t>从</a:t>
            </a:r>
            <a:r>
              <a:rPr lang="zh-CN" altLang="en-US" sz="2000" dirty="0">
                <a:ea typeface="宋体" panose="02010600030101010101" pitchFamily="2" charset="-122"/>
              </a:rPr>
              <a:t>上述</a:t>
            </a:r>
            <a:r>
              <a:rPr lang="en-US" altLang="zh-CN" sz="2000" dirty="0">
                <a:ea typeface="宋体" panose="02010600030101010101" pitchFamily="2" charset="-122"/>
              </a:rPr>
              <a:t>B-</a:t>
            </a:r>
            <a:r>
              <a:rPr lang="zh-CN" altLang="en-US" sz="2000" dirty="0">
                <a:ea typeface="宋体" panose="02010600030101010101" pitchFamily="2" charset="-122"/>
              </a:rPr>
              <a:t>树的构造过程可得出以下结论：</a:t>
            </a:r>
            <a:endParaRPr lang="en-US" altLang="zh-CN" sz="2000" dirty="0" smtClean="0">
              <a:ea typeface="宋体" panose="02010600030101010101" pitchFamily="2" charset="-122"/>
            </a:endParaRPr>
          </a:p>
          <a:p>
            <a:pPr lvl="2">
              <a:lnSpc>
                <a:spcPts val="2700"/>
              </a:lnSpc>
            </a:pPr>
            <a:r>
              <a:rPr lang="zh-CN" altLang="en-US" sz="2000" dirty="0" smtClean="0">
                <a:ea typeface="宋体" panose="02010600030101010101" pitchFamily="2" charset="-122"/>
              </a:rPr>
              <a:t>（</a:t>
            </a:r>
            <a:r>
              <a:rPr lang="en-US" altLang="zh-CN" sz="2000" dirty="0">
                <a:ea typeface="宋体" panose="02010600030101010101" pitchFamily="2" charset="-122"/>
              </a:rPr>
              <a:t>1</a:t>
            </a:r>
            <a:r>
              <a:rPr lang="zh-CN" altLang="en-US" sz="2000" dirty="0" smtClean="0">
                <a:ea typeface="宋体" panose="02010600030101010101" pitchFamily="2" charset="-122"/>
              </a:rPr>
              <a:t>）由于</a:t>
            </a:r>
            <a:r>
              <a:rPr lang="en-US" altLang="zh-CN" sz="2000" dirty="0">
                <a:ea typeface="宋体" panose="02010600030101010101" pitchFamily="2" charset="-122"/>
              </a:rPr>
              <a:t>B</a:t>
            </a:r>
            <a:r>
              <a:rPr lang="zh-CN" altLang="en-US" sz="2000" dirty="0">
                <a:ea typeface="宋体" panose="02010600030101010101" pitchFamily="2" charset="-122"/>
              </a:rPr>
              <a:t>树是“从叶往根”长，而根对每个分支是公用的， 所以不论根长到多“深”，</a:t>
            </a:r>
            <a:r>
              <a:rPr lang="zh-CN" altLang="en-US" sz="2000" dirty="0">
                <a:solidFill>
                  <a:srgbClr val="FF0000"/>
                </a:solidFill>
                <a:ea typeface="宋体" panose="02010600030101010101" pitchFamily="2" charset="-122"/>
              </a:rPr>
              <a:t>各分支的长度同步增长</a:t>
            </a:r>
            <a:r>
              <a:rPr lang="zh-CN" altLang="en-US" sz="2000" dirty="0">
                <a:ea typeface="宋体" panose="02010600030101010101" pitchFamily="2" charset="-122"/>
              </a:rPr>
              <a:t>，因而各分支是“平衡”的</a:t>
            </a:r>
            <a:r>
              <a:rPr lang="zh-CN" altLang="en-US" sz="2000" dirty="0" smtClean="0">
                <a:ea typeface="宋体" panose="02010600030101010101" pitchFamily="2" charset="-122"/>
              </a:rPr>
              <a:t>。</a:t>
            </a:r>
            <a:endParaRPr lang="zh-CN" altLang="en-US" sz="2000" dirty="0">
              <a:ea typeface="宋体" panose="02010600030101010101" pitchFamily="2" charset="-122"/>
            </a:endParaRPr>
          </a:p>
          <a:p>
            <a:pPr lvl="2">
              <a:lnSpc>
                <a:spcPts val="2700"/>
              </a:lnSpc>
            </a:pPr>
            <a:r>
              <a:rPr lang="zh-CN" altLang="en-US" sz="2000" dirty="0" smtClean="0">
                <a:ea typeface="宋体" panose="02010600030101010101" pitchFamily="2" charset="-122"/>
              </a:rPr>
              <a:t>（</a:t>
            </a:r>
            <a:r>
              <a:rPr lang="en-US" altLang="zh-CN" sz="2000" dirty="0">
                <a:ea typeface="宋体" panose="02010600030101010101" pitchFamily="2" charset="-122"/>
              </a:rPr>
              <a:t>2</a:t>
            </a:r>
            <a:r>
              <a:rPr lang="zh-CN" altLang="en-US" sz="2000" dirty="0" smtClean="0">
                <a:ea typeface="宋体" panose="02010600030101010101" pitchFamily="2" charset="-122"/>
              </a:rPr>
              <a:t>）生长</a:t>
            </a:r>
            <a:r>
              <a:rPr lang="zh-CN" altLang="en-US" sz="2000" dirty="0">
                <a:ea typeface="宋体" panose="02010600030101010101" pitchFamily="2" charset="-122"/>
              </a:rPr>
              <a:t>的几种</a:t>
            </a:r>
            <a:r>
              <a:rPr lang="zh-CN" altLang="en-US" sz="2000" dirty="0" smtClean="0">
                <a:ea typeface="宋体" panose="02010600030101010101" pitchFamily="2" charset="-122"/>
              </a:rPr>
              <a:t>情况：</a:t>
            </a:r>
            <a:endParaRPr lang="zh-CN" altLang="en-US" sz="2000" dirty="0">
              <a:ea typeface="宋体" panose="02010600030101010101" pitchFamily="2" charset="-122"/>
            </a:endParaRPr>
          </a:p>
          <a:p>
            <a:pPr marL="478155" lvl="2" indent="-342900">
              <a:lnSpc>
                <a:spcPts val="2700"/>
              </a:lnSpc>
              <a:buFont typeface="Wingdings" panose="05000000000000000000" pitchFamily="2" charset="2"/>
              <a:buChar char="Ø"/>
            </a:pPr>
            <a:r>
              <a:rPr lang="zh-CN" altLang="en-US" sz="2000" dirty="0" smtClean="0">
                <a:ea typeface="宋体" panose="02010600030101010101" pitchFamily="2" charset="-122"/>
              </a:rPr>
              <a:t>最</a:t>
            </a:r>
            <a:r>
              <a:rPr lang="zh-CN" altLang="en-US" sz="2000" dirty="0">
                <a:ea typeface="宋体" panose="02010600030101010101" pitchFamily="2" charset="-122"/>
              </a:rPr>
              <a:t>底层某个结点增大，分支数不变且各分支深度也不变。 </a:t>
            </a:r>
            <a:endParaRPr lang="zh-CN" altLang="en-US" sz="2000" dirty="0">
              <a:ea typeface="宋体" panose="02010600030101010101" pitchFamily="2" charset="-122"/>
            </a:endParaRPr>
          </a:p>
          <a:p>
            <a:pPr marL="478155" lvl="2" indent="-342900">
              <a:lnSpc>
                <a:spcPts val="2700"/>
              </a:lnSpc>
              <a:buFont typeface="Wingdings" panose="05000000000000000000" pitchFamily="2" charset="2"/>
              <a:buChar char="Ø"/>
            </a:pPr>
            <a:r>
              <a:rPr lang="zh-CN" altLang="en-US" sz="2000" dirty="0" smtClean="0">
                <a:ea typeface="宋体" panose="02010600030101010101" pitchFamily="2" charset="-122"/>
              </a:rPr>
              <a:t>从</a:t>
            </a:r>
            <a:r>
              <a:rPr lang="zh-CN" altLang="en-US" sz="2000" dirty="0">
                <a:ea typeface="宋体" panose="02010600030101010101" pitchFamily="2" charset="-122"/>
              </a:rPr>
              <a:t>最下层开始，发生单次或连续分裂，但根结点未分裂，此时分支数增</a:t>
            </a:r>
            <a:r>
              <a:rPr lang="en-US" altLang="zh-CN" sz="2000" dirty="0">
                <a:ea typeface="宋体" panose="02010600030101010101" pitchFamily="2" charset="-122"/>
              </a:rPr>
              <a:t>1</a:t>
            </a:r>
            <a:r>
              <a:rPr lang="zh-CN" altLang="en-US" sz="2000" dirty="0">
                <a:ea typeface="宋体" panose="02010600030101010101" pitchFamily="2" charset="-122"/>
              </a:rPr>
              <a:t>（最下层结点增</a:t>
            </a:r>
            <a:r>
              <a:rPr lang="en-US" altLang="zh-CN" sz="2000" dirty="0">
                <a:ea typeface="宋体" panose="02010600030101010101" pitchFamily="2" charset="-122"/>
              </a:rPr>
              <a:t>1</a:t>
            </a:r>
            <a:r>
              <a:rPr lang="zh-CN" altLang="en-US" sz="2000" dirty="0">
                <a:ea typeface="宋体" panose="02010600030101010101" pitchFamily="2" charset="-122"/>
              </a:rPr>
              <a:t>），但原分支深度不变，新分支深度与原分支相同。</a:t>
            </a:r>
            <a:endParaRPr lang="zh-CN" altLang="en-US" sz="2000" dirty="0">
              <a:ea typeface="宋体" panose="02010600030101010101" pitchFamily="2" charset="-122"/>
            </a:endParaRPr>
          </a:p>
          <a:p>
            <a:pPr marL="478155" lvl="2" indent="-342900">
              <a:lnSpc>
                <a:spcPts val="2700"/>
              </a:lnSpc>
              <a:buFont typeface="Wingdings" panose="05000000000000000000" pitchFamily="2" charset="2"/>
              <a:buChar char="Ø"/>
            </a:pPr>
            <a:r>
              <a:rPr lang="zh-CN" altLang="en-US" sz="2000" dirty="0" smtClean="0">
                <a:ea typeface="宋体" panose="02010600030101010101" pitchFamily="2" charset="-122"/>
              </a:rPr>
              <a:t>从</a:t>
            </a:r>
            <a:r>
              <a:rPr lang="zh-CN" altLang="en-US" sz="2000" dirty="0">
                <a:ea typeface="宋体" panose="02010600030101010101" pitchFamily="2" charset="-122"/>
              </a:rPr>
              <a:t>最下层开始，连续分裂，根结点也发生分裂，产生一个新的根结点，此时分支数仍增</a:t>
            </a:r>
            <a:r>
              <a:rPr lang="en-US" altLang="zh-CN" sz="2000" dirty="0">
                <a:ea typeface="宋体" panose="02010600030101010101" pitchFamily="2" charset="-122"/>
              </a:rPr>
              <a:t>1</a:t>
            </a:r>
            <a:r>
              <a:rPr lang="zh-CN" altLang="en-US" sz="2000" dirty="0">
                <a:ea typeface="宋体" panose="02010600030101010101" pitchFamily="2" charset="-122"/>
              </a:rPr>
              <a:t>（最下层结点增</a:t>
            </a:r>
            <a:r>
              <a:rPr lang="en-US" altLang="zh-CN" sz="2000" dirty="0">
                <a:ea typeface="宋体" panose="02010600030101010101" pitchFamily="2" charset="-122"/>
              </a:rPr>
              <a:t>1</a:t>
            </a:r>
            <a:r>
              <a:rPr lang="zh-CN" altLang="en-US" sz="2000" dirty="0">
                <a:ea typeface="宋体" panose="02010600030101010101" pitchFamily="2" charset="-122"/>
              </a:rPr>
              <a:t>），但新、旧分支均为原分支长度加</a:t>
            </a:r>
            <a:r>
              <a:rPr lang="en-US" altLang="zh-CN" sz="2000" dirty="0">
                <a:ea typeface="宋体" panose="02010600030101010101" pitchFamily="2" charset="-122"/>
              </a:rPr>
              <a:t>1</a:t>
            </a:r>
            <a:r>
              <a:rPr lang="zh-CN" altLang="en-US" sz="2200" dirty="0">
                <a:ea typeface="宋体" panose="02010600030101010101" pitchFamily="2" charset="-122"/>
              </a:rPr>
              <a:t>。 </a:t>
            </a:r>
            <a:endParaRPr lang="zh-CN" altLang="en-US" sz="22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sz="2000" dirty="0" smtClean="0">
                <a:ea typeface="宋体" panose="02010600030101010101" pitchFamily="2" charset="-122"/>
              </a:rPr>
              <a:t>（</a:t>
            </a:r>
            <a:r>
              <a:rPr lang="en-US" altLang="zh-CN" sz="2000" dirty="0">
                <a:ea typeface="宋体" panose="02010600030101010101" pitchFamily="2" charset="-122"/>
              </a:rPr>
              <a:t>3</a:t>
            </a:r>
            <a:r>
              <a:rPr lang="zh-CN" altLang="en-US" sz="2000" dirty="0">
                <a:ea typeface="宋体" panose="02010600030101010101" pitchFamily="2" charset="-122"/>
              </a:rPr>
              <a:t>） 根的形成</a:t>
            </a:r>
            <a:r>
              <a:rPr lang="zh-CN" altLang="en-US" sz="2000" dirty="0" smtClean="0">
                <a:ea typeface="宋体" panose="02010600030101010101" pitchFamily="2" charset="-122"/>
              </a:rPr>
              <a:t>过程</a:t>
            </a:r>
            <a:endParaRPr lang="en-US" altLang="zh-CN" sz="1800" dirty="0">
              <a:ea typeface="宋体" panose="02010600030101010101" pitchFamily="2" charset="-122"/>
            </a:endParaRPr>
          </a:p>
          <a:p>
            <a:pPr marL="342900" lvl="2" indent="-342900">
              <a:buFont typeface="Wingdings" panose="05000000000000000000" pitchFamily="2" charset="2"/>
              <a:buChar char="Ø"/>
            </a:pPr>
            <a:r>
              <a:rPr lang="zh-CN" altLang="en-US" sz="2000" dirty="0" smtClean="0">
                <a:ea typeface="宋体" panose="02010600030101010101" pitchFamily="2" charset="-122"/>
              </a:rPr>
              <a:t>初始</a:t>
            </a:r>
            <a:r>
              <a:rPr lang="zh-CN" altLang="en-US" sz="2000" dirty="0">
                <a:ea typeface="宋体" panose="02010600030101010101" pitchFamily="2" charset="-122"/>
              </a:rPr>
              <a:t>未分裂的根：关键字个数为</a:t>
            </a:r>
            <a:r>
              <a:rPr lang="en-US" altLang="zh-CN" sz="2000" dirty="0">
                <a:ea typeface="宋体" panose="02010600030101010101" pitchFamily="2" charset="-122"/>
              </a:rPr>
              <a:t>0~m-1</a:t>
            </a:r>
            <a:r>
              <a:rPr lang="zh-CN" altLang="en-US" sz="2000" dirty="0">
                <a:ea typeface="宋体" panose="02010600030101010101" pitchFamily="2" charset="-122"/>
              </a:rPr>
              <a:t>，分支数</a:t>
            </a:r>
            <a:r>
              <a:rPr lang="zh-CN" altLang="en-US" sz="2000" dirty="0" smtClean="0">
                <a:ea typeface="宋体" panose="02010600030101010101" pitchFamily="2" charset="-122"/>
              </a:rPr>
              <a:t>为</a:t>
            </a:r>
            <a:r>
              <a:rPr lang="en-US" altLang="zh-CN" sz="2000" dirty="0" smtClean="0">
                <a:ea typeface="宋体" panose="02010600030101010101" pitchFamily="2" charset="-122"/>
              </a:rPr>
              <a:t>0</a:t>
            </a:r>
            <a:r>
              <a:rPr lang="en-US" altLang="zh-CN" sz="2000" dirty="0">
                <a:ea typeface="宋体" panose="02010600030101010101" pitchFamily="2" charset="-122"/>
              </a:rPr>
              <a:t>(</a:t>
            </a:r>
            <a:r>
              <a:rPr lang="zh-CN" altLang="en-US" sz="2000" dirty="0">
                <a:ea typeface="宋体" panose="02010600030101010101" pitchFamily="2" charset="-122"/>
              </a:rPr>
              <a:t>空树</a:t>
            </a:r>
            <a:r>
              <a:rPr lang="en-US" altLang="zh-CN" sz="2000" dirty="0" smtClean="0">
                <a:ea typeface="宋体" panose="02010600030101010101" pitchFamily="2" charset="-122"/>
              </a:rPr>
              <a:t>)</a:t>
            </a:r>
            <a:r>
              <a:rPr lang="zh-CN" altLang="en-US" sz="2000" dirty="0" smtClean="0">
                <a:ea typeface="宋体" panose="02010600030101010101" pitchFamily="2" charset="-122"/>
              </a:rPr>
              <a:t>，</a:t>
            </a:r>
            <a:r>
              <a:rPr lang="en-US" altLang="zh-CN" sz="2000" dirty="0" smtClean="0">
                <a:ea typeface="宋体" panose="02010600030101010101" pitchFamily="2" charset="-122"/>
              </a:rPr>
              <a:t>2~m</a:t>
            </a:r>
            <a:r>
              <a:rPr lang="en-US" altLang="zh-CN" sz="2000" dirty="0">
                <a:ea typeface="宋体" panose="02010600030101010101" pitchFamily="2" charset="-122"/>
              </a:rPr>
              <a:t>(</a:t>
            </a:r>
            <a:r>
              <a:rPr lang="zh-CN" altLang="en-US" sz="2000" dirty="0">
                <a:ea typeface="宋体" panose="02010600030101010101" pitchFamily="2" charset="-122"/>
              </a:rPr>
              <a:t>失败结点数</a:t>
            </a:r>
            <a:r>
              <a:rPr lang="en-US" altLang="zh-CN" sz="2000" dirty="0">
                <a:ea typeface="宋体" panose="02010600030101010101" pitchFamily="2" charset="-122"/>
              </a:rPr>
              <a:t>)</a:t>
            </a:r>
            <a:r>
              <a:rPr lang="zh-CN" altLang="en-US" sz="2000" dirty="0" smtClean="0">
                <a:ea typeface="宋体" panose="02010600030101010101" pitchFamily="2" charset="-122"/>
              </a:rPr>
              <a:t>。</a:t>
            </a:r>
            <a:endParaRPr lang="en-US" altLang="zh-CN" sz="2000" dirty="0" smtClean="0">
              <a:ea typeface="宋体" panose="02010600030101010101" pitchFamily="2" charset="-122"/>
            </a:endParaRPr>
          </a:p>
          <a:p>
            <a:pPr marL="342900" lvl="2" indent="-342900">
              <a:buFont typeface="Wingdings" panose="05000000000000000000" pitchFamily="2" charset="2"/>
              <a:buChar char="Ø"/>
            </a:pPr>
            <a:r>
              <a:rPr lang="zh-CN" altLang="en-US" sz="2000" dirty="0" smtClean="0">
                <a:ea typeface="宋体" panose="02010600030101010101" pitchFamily="2" charset="-122"/>
              </a:rPr>
              <a:t>由</a:t>
            </a:r>
            <a:r>
              <a:rPr lang="zh-CN" altLang="en-US" sz="2000" dirty="0">
                <a:ea typeface="宋体" panose="02010600030101010101" pitchFamily="2" charset="-122"/>
              </a:rPr>
              <a:t>分裂形成的根：关键字个数为</a:t>
            </a:r>
            <a:r>
              <a:rPr lang="en-US" altLang="zh-CN" sz="2000" dirty="0">
                <a:ea typeface="宋体" panose="02010600030101010101" pitchFamily="2" charset="-122"/>
              </a:rPr>
              <a:t>1~m-1</a:t>
            </a:r>
            <a:r>
              <a:rPr lang="zh-CN" altLang="en-US" sz="2000" dirty="0">
                <a:ea typeface="宋体" panose="02010600030101010101" pitchFamily="2" charset="-122"/>
              </a:rPr>
              <a:t>，分支数为 </a:t>
            </a:r>
            <a:r>
              <a:rPr lang="en-US" altLang="zh-CN" sz="2000" dirty="0">
                <a:ea typeface="宋体" panose="02010600030101010101" pitchFamily="2" charset="-122"/>
              </a:rPr>
              <a:t>2~m</a:t>
            </a:r>
            <a:r>
              <a:rPr lang="zh-CN" altLang="en-US" sz="2000" dirty="0" smtClean="0">
                <a:ea typeface="宋体" panose="02010600030101010101" pitchFamily="2" charset="-122"/>
              </a:rPr>
              <a:t>。</a:t>
            </a:r>
            <a:endParaRPr lang="en-US" altLang="zh-CN" sz="2000" dirty="0" smtClean="0">
              <a:ea typeface="宋体" panose="02010600030101010101" pitchFamily="2" charset="-122"/>
            </a:endParaRPr>
          </a:p>
          <a:p>
            <a:pPr marL="0" lvl="2"/>
            <a:r>
              <a:rPr lang="zh-CN" altLang="en-US" sz="2000" dirty="0" smtClean="0">
                <a:ea typeface="宋体" panose="02010600030101010101" pitchFamily="2" charset="-122"/>
              </a:rPr>
              <a:t>    显然</a:t>
            </a:r>
            <a:r>
              <a:rPr lang="zh-CN" altLang="en-US" sz="2000" dirty="0">
                <a:ea typeface="宋体" panose="02010600030101010101" pitchFamily="2" charset="-122"/>
              </a:rPr>
              <a:t>，对非空的</a:t>
            </a:r>
            <a:r>
              <a:rPr lang="en-US" altLang="zh-CN" sz="2000" dirty="0">
                <a:ea typeface="宋体" panose="02010600030101010101" pitchFamily="2" charset="-122"/>
              </a:rPr>
              <a:t>B-</a:t>
            </a:r>
            <a:r>
              <a:rPr lang="zh-CN" altLang="en-US" sz="2000" dirty="0">
                <a:ea typeface="宋体" panose="02010600030101010101" pitchFamily="2" charset="-122"/>
              </a:rPr>
              <a:t>树而言，</a:t>
            </a:r>
            <a:r>
              <a:rPr lang="zh-CN" altLang="en-US" sz="2000" dirty="0">
                <a:solidFill>
                  <a:srgbClr val="FF0000"/>
                </a:solidFill>
                <a:ea typeface="宋体" panose="02010600030101010101" pitchFamily="2" charset="-122"/>
              </a:rPr>
              <a:t>根结点至少有两棵子树</a:t>
            </a:r>
            <a:r>
              <a:rPr lang="zh-CN" altLang="en-US" sz="2000" dirty="0">
                <a:ea typeface="宋体" panose="02010600030101010101" pitchFamily="2" charset="-122"/>
              </a:rPr>
              <a:t>（包括由失败结点构成的子树），这就是</a:t>
            </a:r>
            <a:r>
              <a:rPr lang="en-US" altLang="zh-CN" sz="2000" dirty="0">
                <a:ea typeface="宋体" panose="02010600030101010101" pitchFamily="2" charset="-122"/>
              </a:rPr>
              <a:t>B-</a:t>
            </a:r>
            <a:r>
              <a:rPr lang="zh-CN" altLang="en-US" sz="2000" dirty="0">
                <a:ea typeface="宋体" panose="02010600030101010101" pitchFamily="2" charset="-122"/>
              </a:rPr>
              <a:t>树定义中提到的第</a:t>
            </a:r>
            <a:r>
              <a:rPr lang="en-US" altLang="zh-CN" sz="2000" dirty="0">
                <a:ea typeface="宋体" panose="02010600030101010101" pitchFamily="2" charset="-122"/>
              </a:rPr>
              <a:t>2</a:t>
            </a:r>
            <a:r>
              <a:rPr lang="zh-CN" altLang="en-US" sz="2000" dirty="0">
                <a:ea typeface="宋体" panose="02010600030101010101" pitchFamily="2" charset="-122"/>
              </a:rPr>
              <a:t>条性质。 </a:t>
            </a:r>
            <a:endParaRPr lang="zh-CN" altLang="en-US" sz="20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ct val="150000"/>
              </a:lnSpc>
              <a:spcBef>
                <a:spcPct val="50000"/>
              </a:spcBef>
            </a:pPr>
            <a:r>
              <a:rPr lang="zh-CN" altLang="en-US" sz="2000" dirty="0" smtClean="0">
                <a:ea typeface="宋体" panose="02010600030101010101" pitchFamily="2" charset="-122"/>
              </a:rPr>
              <a:t>（</a:t>
            </a:r>
            <a:r>
              <a:rPr lang="en-US" altLang="zh-CN" sz="2000" dirty="0">
                <a:ea typeface="宋体" panose="02010600030101010101" pitchFamily="2" charset="-122"/>
              </a:rPr>
              <a:t>4</a:t>
            </a:r>
            <a:r>
              <a:rPr lang="zh-CN" altLang="en-US" sz="2000" dirty="0" smtClean="0">
                <a:ea typeface="宋体" panose="02010600030101010101" pitchFamily="2" charset="-122"/>
              </a:rPr>
              <a:t>）除根</a:t>
            </a:r>
            <a:r>
              <a:rPr lang="zh-CN" altLang="en-US" sz="2000" dirty="0">
                <a:ea typeface="宋体" panose="02010600030101010101" pitchFamily="2" charset="-122"/>
              </a:rPr>
              <a:t>以外的非终端结点的形成</a:t>
            </a:r>
            <a:r>
              <a:rPr lang="zh-CN" altLang="en-US" sz="2000" dirty="0" smtClean="0">
                <a:ea typeface="宋体" panose="02010600030101010101" pitchFamily="2" charset="-122"/>
              </a:rPr>
              <a:t>过程</a:t>
            </a:r>
            <a:endParaRPr lang="en-US" altLang="zh-CN" sz="2000" dirty="0" smtClean="0">
              <a:ea typeface="宋体" panose="02010600030101010101" pitchFamily="2" charset="-122"/>
            </a:endParaRPr>
          </a:p>
          <a:p>
            <a:pPr marL="0" lvl="2">
              <a:lnSpc>
                <a:spcPct val="150000"/>
              </a:lnSpc>
              <a:spcBef>
                <a:spcPct val="50000"/>
              </a:spcBef>
            </a:pPr>
            <a:r>
              <a:rPr lang="en-US" altLang="zh-CN" sz="2000" dirty="0">
                <a:ea typeface="宋体" panose="02010600030101010101" pitchFamily="2" charset="-122"/>
              </a:rPr>
              <a:t> </a:t>
            </a:r>
            <a:r>
              <a:rPr lang="en-US" altLang="zh-CN" sz="2000" dirty="0" smtClean="0">
                <a:ea typeface="宋体" panose="02010600030101010101" pitchFamily="2" charset="-122"/>
              </a:rPr>
              <a:t>   </a:t>
            </a:r>
            <a:r>
              <a:rPr lang="zh-CN" altLang="en-US" sz="2000" dirty="0" smtClean="0">
                <a:ea typeface="宋体" panose="02010600030101010101" pitchFamily="2" charset="-122"/>
              </a:rPr>
              <a:t>由</a:t>
            </a:r>
            <a:r>
              <a:rPr lang="zh-CN" altLang="en-US" sz="2000" dirty="0">
                <a:ea typeface="宋体" panose="02010600030101010101" pitchFamily="2" charset="-122"/>
              </a:rPr>
              <a:t>“满结点”分裂而得。假设</a:t>
            </a:r>
            <a:r>
              <a:rPr lang="en-US" altLang="zh-CN" sz="2000" dirty="0">
                <a:ea typeface="宋体" panose="02010600030101010101" pitchFamily="2" charset="-122"/>
              </a:rPr>
              <a:t>m</a:t>
            </a:r>
            <a:r>
              <a:rPr lang="zh-CN" altLang="en-US" sz="2000" dirty="0">
                <a:ea typeface="宋体" panose="02010600030101010101" pitchFamily="2" charset="-122"/>
              </a:rPr>
              <a:t>阶</a:t>
            </a:r>
            <a:r>
              <a:rPr lang="en-US" altLang="zh-CN" sz="2000" dirty="0">
                <a:ea typeface="宋体" panose="02010600030101010101" pitchFamily="2" charset="-122"/>
              </a:rPr>
              <a:t>B-</a:t>
            </a:r>
            <a:r>
              <a:rPr lang="zh-CN" altLang="en-US" sz="2000" dirty="0">
                <a:ea typeface="宋体" panose="02010600030101010101" pitchFamily="2" charset="-122"/>
              </a:rPr>
              <a:t>树中</a:t>
            </a:r>
            <a:r>
              <a:rPr lang="en-US" altLang="zh-CN" sz="2000" dirty="0">
                <a:ea typeface="宋体" panose="02010600030101010101" pitchFamily="2" charset="-122"/>
              </a:rPr>
              <a:t>p</a:t>
            </a:r>
            <a:r>
              <a:rPr lang="zh-CN" altLang="en-US" sz="2000" dirty="0">
                <a:ea typeface="宋体" panose="02010600030101010101" pitchFamily="2" charset="-122"/>
              </a:rPr>
              <a:t>结点中已有</a:t>
            </a:r>
            <a:r>
              <a:rPr lang="en-US" altLang="zh-CN" sz="2000" dirty="0">
                <a:ea typeface="宋体" panose="02010600030101010101" pitchFamily="2" charset="-122"/>
              </a:rPr>
              <a:t>m-1</a:t>
            </a:r>
            <a:r>
              <a:rPr lang="zh-CN" altLang="en-US" sz="2000" dirty="0">
                <a:ea typeface="宋体" panose="02010600030101010101" pitchFamily="2" charset="-122"/>
              </a:rPr>
              <a:t>个关键字，当再插入一个关键字后，结点中信息为：</a:t>
            </a:r>
            <a:r>
              <a:rPr lang="en-US" altLang="zh-CN" sz="2000" dirty="0">
                <a:ea typeface="宋体" panose="02010600030101010101" pitchFamily="2" charset="-122"/>
              </a:rPr>
              <a:t>m,  A0,  (k1,  A1),   (k2,  A2), …, </a:t>
            </a:r>
            <a:r>
              <a:rPr lang="zh-CN" altLang="en-US" sz="2000" dirty="0">
                <a:ea typeface="宋体" panose="02010600030101010101" pitchFamily="2" charset="-122"/>
              </a:rPr>
              <a:t>（</a:t>
            </a:r>
            <a:r>
              <a:rPr lang="en-US" altLang="zh-CN" sz="2000" dirty="0">
                <a:ea typeface="宋体" panose="02010600030101010101" pitchFamily="2" charset="-122"/>
              </a:rPr>
              <a:t>km,  Am</a:t>
            </a:r>
            <a:r>
              <a:rPr lang="zh-CN" altLang="en-US" sz="2000" dirty="0">
                <a:ea typeface="宋体" panose="02010600030101010101" pitchFamily="2" charset="-122"/>
              </a:rPr>
              <a:t>），有</a:t>
            </a:r>
            <a:r>
              <a:rPr lang="en-US" altLang="zh-CN" sz="2000" dirty="0">
                <a:ea typeface="宋体" panose="02010600030101010101" pitchFamily="2" charset="-122"/>
              </a:rPr>
              <a:t>m+1</a:t>
            </a:r>
            <a:r>
              <a:rPr lang="zh-CN" altLang="en-US" sz="2000" dirty="0">
                <a:ea typeface="宋体" panose="02010600030101010101" pitchFamily="2" charset="-122"/>
              </a:rPr>
              <a:t>个分支，为保持</a:t>
            </a:r>
            <a:r>
              <a:rPr lang="en-US" altLang="zh-CN" sz="2000" dirty="0">
                <a:ea typeface="宋体" panose="02010600030101010101" pitchFamily="2" charset="-122"/>
              </a:rPr>
              <a:t>m</a:t>
            </a:r>
            <a:r>
              <a:rPr lang="zh-CN" altLang="en-US" sz="2000" dirty="0">
                <a:ea typeface="宋体" panose="02010600030101010101" pitchFamily="2" charset="-122"/>
              </a:rPr>
              <a:t>阶（</a:t>
            </a:r>
            <a:r>
              <a:rPr lang="en-US" altLang="zh-CN" sz="2000" dirty="0">
                <a:ea typeface="宋体" panose="02010600030101010101" pitchFamily="2" charset="-122"/>
              </a:rPr>
              <a:t>m</a:t>
            </a:r>
            <a:r>
              <a:rPr lang="zh-CN" altLang="en-US" sz="2000" dirty="0">
                <a:ea typeface="宋体" panose="02010600030101010101" pitchFamily="2" charset="-122"/>
              </a:rPr>
              <a:t>个分支），应将</a:t>
            </a:r>
            <a:r>
              <a:rPr lang="en-US" altLang="zh-CN" sz="2000" dirty="0">
                <a:ea typeface="宋体" panose="02010600030101010101" pitchFamily="2" charset="-122"/>
              </a:rPr>
              <a:t>p</a:t>
            </a:r>
            <a:r>
              <a:rPr lang="zh-CN" altLang="en-US" sz="2000" dirty="0">
                <a:ea typeface="宋体" panose="02010600030101010101" pitchFamily="2" charset="-122"/>
              </a:rPr>
              <a:t>结点分裂为关键字个数尽量相等的</a:t>
            </a:r>
            <a:r>
              <a:rPr lang="en-US" altLang="zh-CN" sz="2000" dirty="0">
                <a:ea typeface="宋体" panose="02010600030101010101" pitchFamily="2" charset="-122"/>
              </a:rPr>
              <a:t>p</a:t>
            </a:r>
            <a:r>
              <a:rPr lang="zh-CN" altLang="en-US" sz="2000" dirty="0">
                <a:ea typeface="宋体" panose="02010600030101010101" pitchFamily="2" charset="-122"/>
              </a:rPr>
              <a:t>结点和新结点</a:t>
            </a:r>
            <a:r>
              <a:rPr lang="en-US" altLang="zh-CN" sz="2000" dirty="0">
                <a:ea typeface="宋体" panose="02010600030101010101" pitchFamily="2" charset="-122"/>
              </a:rPr>
              <a:t>p1</a:t>
            </a:r>
            <a:r>
              <a:rPr lang="zh-CN" altLang="en-US" sz="2000" dirty="0">
                <a:ea typeface="宋体" panose="02010600030101010101" pitchFamily="2" charset="-122"/>
              </a:rPr>
              <a:t>（或者说从</a:t>
            </a:r>
            <a:r>
              <a:rPr lang="en-US" altLang="zh-CN" sz="2000" dirty="0">
                <a:ea typeface="宋体" panose="02010600030101010101" pitchFamily="2" charset="-122"/>
              </a:rPr>
              <a:t>p</a:t>
            </a:r>
            <a:r>
              <a:rPr lang="zh-CN" altLang="en-US" sz="2000" dirty="0">
                <a:ea typeface="宋体" panose="02010600030101010101" pitchFamily="2" charset="-122"/>
              </a:rPr>
              <a:t>中分出一部分信息构成</a:t>
            </a:r>
            <a:r>
              <a:rPr lang="en-US" altLang="zh-CN" sz="2000" dirty="0">
                <a:ea typeface="宋体" panose="02010600030101010101" pitchFamily="2" charset="-122"/>
              </a:rPr>
              <a:t>p1</a:t>
            </a:r>
            <a:r>
              <a:rPr lang="zh-CN" altLang="en-US" sz="2000" dirty="0">
                <a:ea typeface="宋体" panose="02010600030101010101" pitchFamily="2" charset="-122"/>
              </a:rPr>
              <a:t>）。分裂后</a:t>
            </a:r>
            <a:r>
              <a:rPr lang="en-US" altLang="zh-CN" sz="2000" dirty="0">
                <a:ea typeface="宋体" panose="02010600030101010101" pitchFamily="2" charset="-122"/>
              </a:rPr>
              <a:t>p</a:t>
            </a:r>
            <a:r>
              <a:rPr lang="zh-CN" altLang="en-US" sz="2000" dirty="0">
                <a:ea typeface="宋体" panose="02010600030101010101" pitchFamily="2" charset="-122"/>
              </a:rPr>
              <a:t>中剩余信息为：</a:t>
            </a:r>
            <a:r>
              <a:rPr lang="en-US" altLang="zh-CN" sz="2000" dirty="0">
                <a:ea typeface="宋体" panose="02010600030101010101" pitchFamily="2" charset="-122"/>
              </a:rPr>
              <a:t>[m/2]-1, A0,  (k1,  A1),   (k2,  A2), …, </a:t>
            </a:r>
            <a:r>
              <a:rPr lang="zh-CN" altLang="en-US" sz="2000" dirty="0">
                <a:ea typeface="宋体" panose="02010600030101010101" pitchFamily="2" charset="-122"/>
              </a:rPr>
              <a:t>（</a:t>
            </a:r>
            <a:r>
              <a:rPr lang="en-US" altLang="zh-CN" sz="2000" dirty="0">
                <a:ea typeface="宋体" panose="02010600030101010101" pitchFamily="2" charset="-122"/>
              </a:rPr>
              <a:t>k[m/2]-1, A[m/2]-1</a:t>
            </a:r>
            <a:r>
              <a:rPr lang="zh-CN" altLang="en-US" sz="2000" dirty="0">
                <a:ea typeface="宋体" panose="02010600030101010101" pitchFamily="2" charset="-122"/>
              </a:rPr>
              <a:t>），共有</a:t>
            </a:r>
            <a:r>
              <a:rPr lang="en-US" altLang="zh-CN" sz="2000" dirty="0">
                <a:ea typeface="宋体" panose="02010600030101010101" pitchFamily="2" charset="-122"/>
              </a:rPr>
              <a:t>[m/2]-1</a:t>
            </a:r>
            <a:r>
              <a:rPr lang="zh-CN" altLang="en-US" sz="2000" dirty="0">
                <a:ea typeface="宋体" panose="02010600030101010101" pitchFamily="2" charset="-122"/>
              </a:rPr>
              <a:t>个关键字，及这些关键字的</a:t>
            </a:r>
            <a:r>
              <a:rPr lang="en-US" altLang="zh-CN" sz="2000" dirty="0">
                <a:ea typeface="宋体" panose="02010600030101010101" pitchFamily="2" charset="-122"/>
              </a:rPr>
              <a:t>[m/2]</a:t>
            </a:r>
            <a:r>
              <a:rPr lang="zh-CN" altLang="en-US" sz="2000" dirty="0">
                <a:ea typeface="宋体" panose="02010600030101010101" pitchFamily="2" charset="-122"/>
              </a:rPr>
              <a:t>个左、右相邻分支指针。 </a:t>
            </a:r>
            <a:endParaRPr lang="zh-CN" altLang="en-US" sz="20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sz="1800" dirty="0" smtClean="0">
                <a:ea typeface="宋体" panose="02010600030101010101" pitchFamily="2" charset="-122"/>
              </a:rPr>
              <a:t>    分裂</a:t>
            </a:r>
            <a:r>
              <a:rPr lang="zh-CN" altLang="en-US" sz="1800" dirty="0">
                <a:ea typeface="宋体" panose="02010600030101010101" pitchFamily="2" charset="-122"/>
              </a:rPr>
              <a:t>出去的信息为：（</a:t>
            </a:r>
            <a:r>
              <a:rPr lang="en-US" altLang="zh-CN" sz="1800" dirty="0">
                <a:ea typeface="宋体" panose="02010600030101010101" pitchFamily="2" charset="-122"/>
              </a:rPr>
              <a:t>k[m/2], A[m/2]</a:t>
            </a:r>
            <a:r>
              <a:rPr lang="zh-CN" altLang="en-US" sz="1800" dirty="0">
                <a:ea typeface="宋体" panose="02010600030101010101" pitchFamily="2" charset="-122"/>
              </a:rPr>
              <a:t>）</a:t>
            </a:r>
            <a:r>
              <a:rPr lang="en-US" altLang="zh-CN" sz="1800" dirty="0">
                <a:ea typeface="宋体" panose="02010600030101010101" pitchFamily="2" charset="-122"/>
              </a:rPr>
              <a:t>, </a:t>
            </a:r>
            <a:r>
              <a:rPr lang="zh-CN" altLang="en-US" sz="1800" dirty="0">
                <a:ea typeface="宋体" panose="02010600030101010101" pitchFamily="2" charset="-122"/>
              </a:rPr>
              <a:t>（</a:t>
            </a:r>
            <a:r>
              <a:rPr lang="en-US" altLang="zh-CN" sz="1800" dirty="0">
                <a:ea typeface="宋体" panose="02010600030101010101" pitchFamily="2" charset="-122"/>
              </a:rPr>
              <a:t>k[m/2]+1, A[m/2]+1</a:t>
            </a:r>
            <a:r>
              <a:rPr lang="zh-CN" altLang="en-US" sz="1800" dirty="0">
                <a:ea typeface="宋体" panose="02010600030101010101" pitchFamily="2" charset="-122"/>
              </a:rPr>
              <a:t>）</a:t>
            </a:r>
            <a:r>
              <a:rPr lang="en-US" altLang="zh-CN" sz="1800" dirty="0">
                <a:ea typeface="宋体" panose="02010600030101010101" pitchFamily="2" charset="-122"/>
              </a:rPr>
              <a:t>, …, </a:t>
            </a:r>
            <a:r>
              <a:rPr lang="zh-CN" altLang="en-US" sz="1800" dirty="0">
                <a:ea typeface="宋体" panose="02010600030101010101" pitchFamily="2" charset="-122"/>
              </a:rPr>
              <a:t>（</a:t>
            </a:r>
            <a:r>
              <a:rPr lang="en-US" altLang="zh-CN" sz="1800" dirty="0">
                <a:ea typeface="宋体" panose="02010600030101010101" pitchFamily="2" charset="-122"/>
              </a:rPr>
              <a:t>km, Am</a:t>
            </a:r>
            <a:r>
              <a:rPr lang="zh-CN" altLang="en-US" sz="1800" dirty="0">
                <a:ea typeface="宋体" panose="02010600030101010101" pitchFamily="2" charset="-122"/>
              </a:rPr>
              <a:t>）， 共计</a:t>
            </a:r>
            <a:r>
              <a:rPr lang="en-US" altLang="zh-CN" sz="1800" dirty="0">
                <a:ea typeface="宋体" panose="02010600030101010101" pitchFamily="2" charset="-122"/>
              </a:rPr>
              <a:t>m-([m/2]-1) = m-[m/2]+1</a:t>
            </a:r>
            <a:r>
              <a:rPr lang="zh-CN" altLang="en-US" sz="1800" dirty="0">
                <a:ea typeface="宋体" panose="02010600030101010101" pitchFamily="2" charset="-122"/>
              </a:rPr>
              <a:t>个关键字及其右指针，其中</a:t>
            </a:r>
            <a:r>
              <a:rPr lang="en-US" altLang="zh-CN" sz="1800" dirty="0">
                <a:ea typeface="宋体" panose="02010600030101010101" pitchFamily="2" charset="-122"/>
              </a:rPr>
              <a:t>k</a:t>
            </a:r>
            <a:r>
              <a:rPr lang="zh-CN" altLang="en-US" sz="1800" dirty="0">
                <a:ea typeface="宋体" panose="02010600030101010101" pitchFamily="2" charset="-122"/>
              </a:rPr>
              <a:t>［</a:t>
            </a:r>
            <a:r>
              <a:rPr lang="en-US" altLang="zh-CN" sz="1800" dirty="0">
                <a:ea typeface="宋体" panose="02010600030101010101" pitchFamily="2" charset="-122"/>
              </a:rPr>
              <a:t>m/2</a:t>
            </a:r>
            <a:r>
              <a:rPr lang="zh-CN" altLang="en-US" sz="1800" dirty="0">
                <a:ea typeface="宋体" panose="02010600030101010101" pitchFamily="2" charset="-122"/>
              </a:rPr>
              <a:t>］上移到</a:t>
            </a:r>
            <a:r>
              <a:rPr lang="en-US" altLang="zh-CN" sz="1800" dirty="0">
                <a:ea typeface="宋体" panose="02010600030101010101" pitchFamily="2" charset="-122"/>
              </a:rPr>
              <a:t>p</a:t>
            </a:r>
            <a:r>
              <a:rPr lang="zh-CN" altLang="en-US" sz="1800" dirty="0">
                <a:ea typeface="宋体" panose="02010600030101010101" pitchFamily="2" charset="-122"/>
              </a:rPr>
              <a:t>的父结点中，其余信息存入新结点</a:t>
            </a:r>
            <a:r>
              <a:rPr lang="en-US" altLang="zh-CN" sz="1800" dirty="0">
                <a:ea typeface="宋体" panose="02010600030101010101" pitchFamily="2" charset="-122"/>
              </a:rPr>
              <a:t>p1</a:t>
            </a:r>
            <a:r>
              <a:rPr lang="zh-CN" altLang="en-US" sz="1800" dirty="0">
                <a:ea typeface="宋体" panose="02010600030101010101" pitchFamily="2" charset="-122"/>
              </a:rPr>
              <a:t>中，所以</a:t>
            </a:r>
            <a:r>
              <a:rPr lang="en-US" altLang="zh-CN" sz="1800" dirty="0">
                <a:ea typeface="宋体" panose="02010600030101010101" pitchFamily="2" charset="-122"/>
              </a:rPr>
              <a:t>p1</a:t>
            </a:r>
            <a:r>
              <a:rPr lang="zh-CN" altLang="en-US" sz="1800" dirty="0">
                <a:ea typeface="宋体" panose="02010600030101010101" pitchFamily="2" charset="-122"/>
              </a:rPr>
              <a:t>中信息为：</a:t>
            </a:r>
            <a:r>
              <a:rPr lang="en-US" altLang="zh-CN" sz="1800" dirty="0">
                <a:ea typeface="宋体" panose="02010600030101010101" pitchFamily="2" charset="-122"/>
              </a:rPr>
              <a:t>m-[m/2]</a:t>
            </a:r>
            <a:r>
              <a:rPr lang="zh-CN" altLang="en-US" sz="1800" dirty="0">
                <a:ea typeface="宋体" panose="02010600030101010101" pitchFamily="2" charset="-122"/>
              </a:rPr>
              <a:t>，</a:t>
            </a:r>
            <a:r>
              <a:rPr lang="en-US" altLang="zh-CN" sz="1800" dirty="0">
                <a:ea typeface="宋体" panose="02010600030101010101" pitchFamily="2" charset="-122"/>
              </a:rPr>
              <a:t>A[m/2], </a:t>
            </a:r>
            <a:r>
              <a:rPr lang="zh-CN" altLang="en-US" sz="1800" dirty="0">
                <a:ea typeface="宋体" panose="02010600030101010101" pitchFamily="2" charset="-122"/>
              </a:rPr>
              <a:t>（</a:t>
            </a:r>
            <a:r>
              <a:rPr lang="en-US" altLang="zh-CN" sz="1800" dirty="0">
                <a:ea typeface="宋体" panose="02010600030101010101" pitchFamily="2" charset="-122"/>
              </a:rPr>
              <a:t>k[m/2]+1,  A[m/2]+1</a:t>
            </a:r>
            <a:r>
              <a:rPr lang="zh-CN" altLang="en-US" sz="1800" dirty="0">
                <a:ea typeface="宋体" panose="02010600030101010101" pitchFamily="2" charset="-122"/>
              </a:rPr>
              <a:t>）</a:t>
            </a:r>
            <a:r>
              <a:rPr lang="en-US" altLang="zh-CN" sz="1800" dirty="0">
                <a:ea typeface="宋体" panose="02010600030101010101" pitchFamily="2" charset="-122"/>
              </a:rPr>
              <a:t>, …, </a:t>
            </a:r>
            <a:r>
              <a:rPr lang="zh-CN" altLang="en-US" sz="1800" dirty="0">
                <a:ea typeface="宋体" panose="02010600030101010101" pitchFamily="2" charset="-122"/>
              </a:rPr>
              <a:t>（</a:t>
            </a:r>
            <a:r>
              <a:rPr lang="en-US" altLang="zh-CN" sz="1800" dirty="0">
                <a:ea typeface="宋体" panose="02010600030101010101" pitchFamily="2" charset="-122"/>
              </a:rPr>
              <a:t>km, Am</a:t>
            </a:r>
            <a:r>
              <a:rPr lang="zh-CN" altLang="en-US" sz="1800" dirty="0">
                <a:ea typeface="宋体" panose="02010600030101010101" pitchFamily="2" charset="-122"/>
              </a:rPr>
              <a:t>）。显然，分裂后的非终端结点（除根结点）所含关键字最少，分支也最少，其中</a:t>
            </a:r>
            <a:r>
              <a:rPr lang="en-US" altLang="zh-CN" sz="1800" dirty="0">
                <a:ea typeface="宋体" panose="02010600030101010101" pitchFamily="2" charset="-122"/>
              </a:rPr>
              <a:t>p</a:t>
            </a:r>
            <a:r>
              <a:rPr lang="zh-CN" altLang="en-US" sz="1800" dirty="0">
                <a:ea typeface="宋体" panose="02010600030101010101" pitchFamily="2" charset="-122"/>
              </a:rPr>
              <a:t>的分支数为</a:t>
            </a:r>
            <a:r>
              <a:rPr lang="en-US" altLang="zh-CN" sz="1800" dirty="0">
                <a:ea typeface="宋体" panose="02010600030101010101" pitchFamily="2" charset="-122"/>
              </a:rPr>
              <a:t>B1=[m/2]</a:t>
            </a:r>
            <a:r>
              <a:rPr lang="zh-CN" altLang="en-US" sz="1800" dirty="0">
                <a:ea typeface="宋体" panose="02010600030101010101" pitchFamily="2" charset="-122"/>
              </a:rPr>
              <a:t>，</a:t>
            </a:r>
            <a:r>
              <a:rPr lang="en-US" altLang="zh-CN" sz="1800" dirty="0">
                <a:ea typeface="宋体" panose="02010600030101010101" pitchFamily="2" charset="-122"/>
              </a:rPr>
              <a:t>p1</a:t>
            </a:r>
            <a:r>
              <a:rPr lang="zh-CN" altLang="en-US" sz="1800" dirty="0">
                <a:ea typeface="宋体" panose="02010600030101010101" pitchFamily="2" charset="-122"/>
              </a:rPr>
              <a:t>的分支数为</a:t>
            </a:r>
            <a:r>
              <a:rPr lang="en-US" altLang="zh-CN" sz="1800" dirty="0">
                <a:ea typeface="宋体" panose="02010600030101010101" pitchFamily="2" charset="-122"/>
              </a:rPr>
              <a:t>B2=m-[m/2]+1</a:t>
            </a:r>
            <a:r>
              <a:rPr lang="zh-CN" altLang="en-US" sz="1800" dirty="0">
                <a:ea typeface="宋体" panose="02010600030101010101" pitchFamily="2" charset="-122"/>
              </a:rPr>
              <a:t>。容易证明，</a:t>
            </a:r>
            <a:r>
              <a:rPr lang="en-US" altLang="zh-CN" sz="1800" dirty="0">
                <a:ea typeface="宋体" panose="02010600030101010101" pitchFamily="2" charset="-122"/>
              </a:rPr>
              <a:t>B1≤B2</a:t>
            </a:r>
            <a:r>
              <a:rPr lang="zh-CN" altLang="en-US" sz="1800" dirty="0">
                <a:ea typeface="宋体" panose="02010600030101010101" pitchFamily="2" charset="-122"/>
              </a:rPr>
              <a:t>，所以，除根之外的所有非终端结点至少有</a:t>
            </a:r>
            <a:r>
              <a:rPr lang="en-US" altLang="zh-CN" sz="1800" dirty="0">
                <a:ea typeface="宋体" panose="02010600030101010101" pitchFamily="2" charset="-122"/>
              </a:rPr>
              <a:t>[m/2]</a:t>
            </a:r>
            <a:r>
              <a:rPr lang="zh-CN" altLang="en-US" sz="1800" dirty="0">
                <a:ea typeface="宋体" panose="02010600030101010101" pitchFamily="2" charset="-122"/>
              </a:rPr>
              <a:t>棵子树，这就是</a:t>
            </a:r>
            <a:r>
              <a:rPr lang="en-US" altLang="zh-CN" sz="1800" dirty="0">
                <a:ea typeface="宋体" panose="02010600030101010101" pitchFamily="2" charset="-122"/>
              </a:rPr>
              <a:t>B-</a:t>
            </a:r>
            <a:r>
              <a:rPr lang="zh-CN" altLang="en-US" sz="1800" dirty="0">
                <a:ea typeface="宋体" panose="02010600030101010101" pitchFamily="2" charset="-122"/>
              </a:rPr>
              <a:t>树定义中提到的第</a:t>
            </a:r>
            <a:r>
              <a:rPr lang="en-US" altLang="zh-CN" sz="1800" dirty="0">
                <a:ea typeface="宋体" panose="02010600030101010101" pitchFamily="2" charset="-122"/>
              </a:rPr>
              <a:t>3</a:t>
            </a:r>
            <a:r>
              <a:rPr lang="zh-CN" altLang="en-US" sz="1800" dirty="0">
                <a:ea typeface="宋体" panose="02010600030101010101" pitchFamily="2" charset="-122"/>
              </a:rPr>
              <a:t>条性质。 </a:t>
            </a:r>
            <a:endParaRPr lang="zh-CN" altLang="en-US"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sz="2200" dirty="0" smtClean="0">
                <a:ea typeface="宋体" panose="02010600030101010101" pitchFamily="2" charset="-122"/>
              </a:rPr>
              <a:t>4</a:t>
            </a:r>
            <a:r>
              <a:rPr lang="en-US" altLang="zh-CN" sz="2200" dirty="0">
                <a:ea typeface="宋体" panose="02010600030101010101" pitchFamily="2" charset="-122"/>
              </a:rPr>
              <a:t>. </a:t>
            </a:r>
            <a:r>
              <a:rPr lang="zh-CN" altLang="en-US" sz="2200" dirty="0">
                <a:ea typeface="宋体" panose="02010600030101010101" pitchFamily="2" charset="-122"/>
              </a:rPr>
              <a:t>在</a:t>
            </a:r>
            <a:r>
              <a:rPr lang="en-US" altLang="zh-CN" sz="2200" dirty="0">
                <a:ea typeface="宋体" panose="02010600030101010101" pitchFamily="2" charset="-122"/>
              </a:rPr>
              <a:t>B-</a:t>
            </a:r>
            <a:r>
              <a:rPr lang="zh-CN" altLang="en-US" sz="2200" dirty="0">
                <a:ea typeface="宋体" panose="02010600030101010101" pitchFamily="2" charset="-122"/>
              </a:rPr>
              <a:t>树中删除一个</a:t>
            </a:r>
            <a:r>
              <a:rPr lang="zh-CN" altLang="en-US" sz="2200" dirty="0" smtClean="0">
                <a:ea typeface="宋体" panose="02010600030101010101" pitchFamily="2" charset="-122"/>
              </a:rPr>
              <a:t>关键字</a:t>
            </a:r>
            <a:endParaRPr lang="en-US" altLang="zh-CN" sz="2200" dirty="0">
              <a:ea typeface="宋体" panose="02010600030101010101" pitchFamily="2" charset="-122"/>
            </a:endParaRPr>
          </a:p>
          <a:p>
            <a:pPr lvl="2"/>
            <a:r>
              <a:rPr lang="zh-CN" altLang="en-US" sz="2000" dirty="0" smtClean="0">
                <a:ea typeface="宋体" panose="02010600030101010101" pitchFamily="2" charset="-122"/>
              </a:rPr>
              <a:t>（</a:t>
            </a:r>
            <a:r>
              <a:rPr lang="en-US" altLang="zh-CN" sz="2000" dirty="0" smtClean="0">
                <a:ea typeface="宋体" panose="02010600030101010101" pitchFamily="2" charset="-122"/>
              </a:rPr>
              <a:t>1</a:t>
            </a:r>
            <a:r>
              <a:rPr lang="zh-CN" altLang="en-US" sz="2000" dirty="0" smtClean="0">
                <a:ea typeface="宋体" panose="02010600030101010101" pitchFamily="2" charset="-122"/>
              </a:rPr>
              <a:t>）</a:t>
            </a:r>
            <a:r>
              <a:rPr lang="zh-CN" altLang="en-US" sz="1800" dirty="0" smtClean="0">
                <a:ea typeface="宋体" panose="02010600030101010101" pitchFamily="2" charset="-122"/>
              </a:rPr>
              <a:t>在</a:t>
            </a:r>
            <a:r>
              <a:rPr lang="zh-CN" altLang="en-US" sz="1800" dirty="0">
                <a:ea typeface="宋体" panose="02010600030101010101" pitchFamily="2" charset="-122"/>
              </a:rPr>
              <a:t>最下层结点中删除一个</a:t>
            </a:r>
            <a:r>
              <a:rPr lang="zh-CN" altLang="en-US" sz="1800" dirty="0" smtClean="0">
                <a:ea typeface="宋体" panose="02010600030101010101" pitchFamily="2" charset="-122"/>
              </a:rPr>
              <a:t>关键字</a:t>
            </a:r>
            <a:endParaRPr lang="en-US" altLang="zh-CN" sz="1800" dirty="0" smtClean="0">
              <a:ea typeface="宋体" panose="02010600030101010101" pitchFamily="2" charset="-122"/>
            </a:endParaRPr>
          </a:p>
          <a:p>
            <a:pPr lvl="2"/>
            <a:r>
              <a:rPr lang="zh-CN" altLang="en-US" sz="1800" dirty="0" smtClean="0">
                <a:ea typeface="宋体" panose="02010600030101010101" pitchFamily="2" charset="-122"/>
              </a:rPr>
              <a:t>例：一</a:t>
            </a:r>
            <a:r>
              <a:rPr lang="zh-CN" altLang="en-US" sz="1800" dirty="0">
                <a:ea typeface="宋体" panose="02010600030101010101" pitchFamily="2" charset="-122"/>
              </a:rPr>
              <a:t>棵</a:t>
            </a:r>
            <a:r>
              <a:rPr lang="en-US" altLang="zh-CN" sz="1800" dirty="0">
                <a:ea typeface="宋体" panose="02010600030101010101" pitchFamily="2" charset="-122"/>
              </a:rPr>
              <a:t>4</a:t>
            </a:r>
            <a:r>
              <a:rPr lang="zh-CN" altLang="en-US" sz="1800" dirty="0">
                <a:ea typeface="宋体" panose="02010600030101010101" pitchFamily="2" charset="-122"/>
              </a:rPr>
              <a:t>阶</a:t>
            </a:r>
            <a:r>
              <a:rPr lang="en-US" altLang="zh-CN" sz="1800" dirty="0">
                <a:ea typeface="宋体" panose="02010600030101010101" pitchFamily="2" charset="-122"/>
              </a:rPr>
              <a:t>B-</a:t>
            </a:r>
            <a:r>
              <a:rPr lang="zh-CN" altLang="en-US" sz="1800" dirty="0">
                <a:ea typeface="宋体" panose="02010600030101010101" pitchFamily="2" charset="-122"/>
              </a:rPr>
              <a:t>树</a:t>
            </a:r>
            <a:r>
              <a:rPr lang="en-US" altLang="zh-CN" sz="1800" dirty="0">
                <a:ea typeface="宋体" panose="02010600030101010101" pitchFamily="2" charset="-122"/>
              </a:rPr>
              <a:t>(m = 4)</a:t>
            </a:r>
            <a:r>
              <a:rPr lang="zh-CN" altLang="en-US" sz="1800" dirty="0">
                <a:ea typeface="宋体" panose="02010600030101010101" pitchFamily="2" charset="-122"/>
              </a:rPr>
              <a:t>，要求删除</a:t>
            </a:r>
            <a:r>
              <a:rPr lang="en-US" altLang="zh-CN" sz="1800" dirty="0">
                <a:ea typeface="宋体" panose="02010600030101010101" pitchFamily="2" charset="-122"/>
              </a:rPr>
              <a:t>11</a:t>
            </a:r>
            <a:r>
              <a:rPr lang="zh-CN" altLang="en-US" sz="1800" dirty="0">
                <a:ea typeface="宋体" panose="02010600030101010101" pitchFamily="2" charset="-122"/>
              </a:rPr>
              <a:t>、</a:t>
            </a:r>
            <a:r>
              <a:rPr lang="en-US" altLang="zh-CN" sz="1800" dirty="0">
                <a:ea typeface="宋体" panose="02010600030101010101" pitchFamily="2" charset="-122"/>
              </a:rPr>
              <a:t>53</a:t>
            </a:r>
            <a:r>
              <a:rPr lang="zh-CN" altLang="en-US" sz="1800" dirty="0">
                <a:ea typeface="宋体" panose="02010600030101010101" pitchFamily="2" charset="-122"/>
              </a:rPr>
              <a:t>、</a:t>
            </a:r>
            <a:r>
              <a:rPr lang="en-US" altLang="zh-CN" sz="1800" dirty="0">
                <a:ea typeface="宋体" panose="02010600030101010101" pitchFamily="2" charset="-122"/>
              </a:rPr>
              <a:t>39</a:t>
            </a:r>
            <a:r>
              <a:rPr lang="zh-CN" altLang="en-US" sz="1800" dirty="0">
                <a:ea typeface="宋体" panose="02010600030101010101" pitchFamily="2" charset="-122"/>
              </a:rPr>
              <a:t>、</a:t>
            </a:r>
            <a:r>
              <a:rPr lang="en-US" altLang="zh-CN" sz="1800" dirty="0">
                <a:ea typeface="宋体" panose="02010600030101010101" pitchFamily="2" charset="-122"/>
              </a:rPr>
              <a:t>64</a:t>
            </a:r>
            <a:r>
              <a:rPr lang="zh-CN" altLang="en-US" sz="1800" dirty="0">
                <a:ea typeface="宋体" panose="02010600030101010101" pitchFamily="2" charset="-122"/>
              </a:rPr>
              <a:t>、</a:t>
            </a:r>
            <a:r>
              <a:rPr lang="en-US" altLang="zh-CN" sz="1800" dirty="0">
                <a:ea typeface="宋体" panose="02010600030101010101" pitchFamily="2" charset="-122"/>
              </a:rPr>
              <a:t>27</a:t>
            </a:r>
            <a:r>
              <a:rPr lang="zh-CN" altLang="en-US" sz="1800" dirty="0">
                <a:ea typeface="宋体" panose="02010600030101010101" pitchFamily="2" charset="-122"/>
              </a:rPr>
              <a:t>。</a:t>
            </a:r>
            <a:endParaRPr lang="zh-CN" altLang="en-US"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195336" y="2021781"/>
            <a:ext cx="3143250" cy="1228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endParaRPr lang="en-US" altLang="zh-CN" sz="2200" dirty="0" smtClean="0">
              <a:ea typeface="宋体" panose="02010600030101010101" pitchFamily="2" charset="-122"/>
            </a:endParaRPr>
          </a:p>
          <a:p>
            <a:pPr marL="457200" indent="-457200">
              <a:buAutoNum type="arabicPeriod" startAt="2"/>
            </a:pPr>
            <a:endParaRPr lang="en-US" altLang="zh-CN" sz="2200" dirty="0">
              <a:ea typeface="宋体" panose="02010600030101010101" pitchFamily="2" charset="-122"/>
            </a:endParaRPr>
          </a:p>
          <a:p>
            <a:pPr marL="457200" indent="-457200">
              <a:buAutoNum type="arabicPeriod" startAt="2"/>
            </a:pPr>
            <a:endParaRPr lang="en-US" altLang="zh-CN" sz="2200" dirty="0" smtClean="0">
              <a:ea typeface="宋体" panose="02010600030101010101" pitchFamily="2" charset="-122"/>
            </a:endParaRPr>
          </a:p>
          <a:p>
            <a:pPr marL="457200" indent="-457200">
              <a:buAutoNum type="arabicPeriod" startAt="2"/>
            </a:pPr>
            <a:endParaRPr lang="en-US" altLang="zh-CN" sz="2200" dirty="0">
              <a:ea typeface="宋体" panose="02010600030101010101" pitchFamily="2" charset="-122"/>
            </a:endParaRPr>
          </a:p>
          <a:p>
            <a:pPr marL="457200" indent="-457200">
              <a:buAutoNum type="arabicPeriod" startAt="2"/>
            </a:pPr>
            <a:endParaRPr lang="en-US" altLang="zh-CN" sz="2200" dirty="0" smtClean="0">
              <a:ea typeface="宋体" panose="02010600030101010101" pitchFamily="2" charset="-122"/>
            </a:endParaRPr>
          </a:p>
          <a:p>
            <a:pPr marL="0" lvl="2"/>
            <a:endParaRPr lang="en-US" altLang="zh-CN" sz="2000" dirty="0" smtClean="0">
              <a:ea typeface="宋体" panose="02010600030101010101" pitchFamily="2" charset="-122"/>
            </a:endParaRPr>
          </a:p>
          <a:p>
            <a:pPr marL="0" lvl="2">
              <a:lnSpc>
                <a:spcPts val="3000"/>
              </a:lnSpc>
            </a:pPr>
            <a:r>
              <a:rPr lang="en-US" altLang="zh-CN" sz="2000" dirty="0" smtClean="0">
                <a:ea typeface="宋体" panose="02010600030101010101" pitchFamily="2" charset="-122"/>
              </a:rPr>
              <a:t>(</a:t>
            </a:r>
            <a:r>
              <a:rPr lang="en-US" altLang="zh-CN" sz="2000" dirty="0">
                <a:ea typeface="宋体" panose="02010600030101010101" pitchFamily="2" charset="-122"/>
              </a:rPr>
              <a:t>1) </a:t>
            </a:r>
            <a:r>
              <a:rPr lang="zh-CN" altLang="en-US" sz="2000" dirty="0">
                <a:ea typeface="宋体" panose="02010600030101010101" pitchFamily="2" charset="-122"/>
              </a:rPr>
              <a:t>删除</a:t>
            </a:r>
            <a:r>
              <a:rPr lang="en-US" altLang="zh-CN" sz="2000" dirty="0">
                <a:ea typeface="宋体" panose="02010600030101010101" pitchFamily="2" charset="-122"/>
              </a:rPr>
              <a:t>11</a:t>
            </a:r>
            <a:r>
              <a:rPr lang="zh-CN" altLang="en-US" sz="2000" dirty="0">
                <a:ea typeface="宋体" panose="02010600030101010101" pitchFamily="2" charset="-122"/>
              </a:rPr>
              <a:t>时，</a:t>
            </a:r>
            <a:r>
              <a:rPr lang="en-US" altLang="zh-CN" sz="2000" dirty="0">
                <a:ea typeface="宋体" panose="02010600030101010101" pitchFamily="2" charset="-122"/>
              </a:rPr>
              <a:t>13</a:t>
            </a:r>
            <a:r>
              <a:rPr lang="zh-CN" altLang="en-US" sz="2000" dirty="0">
                <a:ea typeface="宋体" panose="02010600030101010101" pitchFamily="2" charset="-122"/>
              </a:rPr>
              <a:t>与其右的指针左移即可，如</a:t>
            </a:r>
            <a:r>
              <a:rPr lang="zh-CN" altLang="en-US" sz="2000" dirty="0" smtClean="0">
                <a:ea typeface="宋体" panose="02010600030101010101" pitchFamily="2" charset="-122"/>
              </a:rPr>
              <a:t>图</a:t>
            </a:r>
            <a:r>
              <a:rPr lang="en-US" altLang="zh-CN" sz="2000" dirty="0" smtClean="0">
                <a:ea typeface="宋体" panose="02010600030101010101" pitchFamily="2" charset="-122"/>
              </a:rPr>
              <a:t>(b</a:t>
            </a:r>
            <a:r>
              <a:rPr lang="en-US" altLang="zh-CN" sz="2000" dirty="0">
                <a:ea typeface="宋体" panose="02010600030101010101" pitchFamily="2" charset="-122"/>
              </a:rPr>
              <a:t>)</a:t>
            </a:r>
            <a:r>
              <a:rPr lang="zh-CN" altLang="en-US" sz="2000" dirty="0">
                <a:ea typeface="宋体" panose="02010600030101010101" pitchFamily="2" charset="-122"/>
              </a:rPr>
              <a:t>所示。</a:t>
            </a:r>
            <a:endParaRPr lang="zh-CN" altLang="en-US" sz="2000" dirty="0">
              <a:ea typeface="宋体" panose="02010600030101010101" pitchFamily="2" charset="-122"/>
            </a:endParaRPr>
          </a:p>
          <a:p>
            <a:pPr marL="0" lvl="2">
              <a:lnSpc>
                <a:spcPts val="3000"/>
              </a:lnSpc>
            </a:pPr>
            <a:r>
              <a:rPr lang="en-US" altLang="zh-CN" sz="2000" dirty="0" smtClean="0">
                <a:ea typeface="宋体" panose="02010600030101010101" pitchFamily="2" charset="-122"/>
              </a:rPr>
              <a:t>(</a:t>
            </a:r>
            <a:r>
              <a:rPr lang="en-US" altLang="zh-CN" sz="2000" dirty="0">
                <a:ea typeface="宋体" panose="02010600030101010101" pitchFamily="2" charset="-122"/>
              </a:rPr>
              <a:t>2) </a:t>
            </a:r>
            <a:r>
              <a:rPr lang="zh-CN" altLang="en-US" sz="2000" dirty="0">
                <a:ea typeface="宋体" panose="02010600030101010101" pitchFamily="2" charset="-122"/>
              </a:rPr>
              <a:t>删除</a:t>
            </a:r>
            <a:r>
              <a:rPr lang="en-US" altLang="zh-CN" sz="2000" dirty="0">
                <a:ea typeface="宋体" panose="02010600030101010101" pitchFamily="2" charset="-122"/>
              </a:rPr>
              <a:t>53</a:t>
            </a:r>
            <a:r>
              <a:rPr lang="zh-CN" altLang="en-US" sz="2000" dirty="0">
                <a:ea typeface="宋体" panose="02010600030101010101" pitchFamily="2" charset="-122"/>
              </a:rPr>
              <a:t>后，如</a:t>
            </a:r>
            <a:r>
              <a:rPr lang="zh-CN" altLang="en-US" sz="2000" dirty="0" smtClean="0">
                <a:ea typeface="宋体" panose="02010600030101010101" pitchFamily="2" charset="-122"/>
              </a:rPr>
              <a:t>图</a:t>
            </a:r>
            <a:r>
              <a:rPr lang="en-US" altLang="zh-CN" sz="2000" dirty="0" smtClean="0">
                <a:ea typeface="宋体" panose="02010600030101010101" pitchFamily="2" charset="-122"/>
              </a:rPr>
              <a:t>(c</a:t>
            </a:r>
            <a:r>
              <a:rPr lang="en-US" altLang="zh-CN" sz="2000" dirty="0">
                <a:ea typeface="宋体" panose="02010600030101010101" pitchFamily="2" charset="-122"/>
              </a:rPr>
              <a:t>)</a:t>
            </a:r>
            <a:r>
              <a:rPr lang="zh-CN" altLang="en-US" sz="2000" dirty="0">
                <a:ea typeface="宋体" panose="02010600030101010101" pitchFamily="2" charset="-122"/>
              </a:rPr>
              <a:t>所示。</a:t>
            </a:r>
            <a:endParaRPr lang="zh-CN" altLang="en-US" sz="2000" dirty="0">
              <a:ea typeface="宋体" panose="02010600030101010101" pitchFamily="2" charset="-122"/>
            </a:endParaRPr>
          </a:p>
          <a:p>
            <a:pPr marL="0" lvl="2">
              <a:lnSpc>
                <a:spcPts val="3000"/>
              </a:lnSpc>
            </a:pPr>
            <a:r>
              <a:rPr lang="zh-CN" altLang="en-US" sz="2000" dirty="0">
                <a:ea typeface="宋体" panose="02010600030101010101" pitchFamily="2" charset="-122"/>
              </a:rPr>
              <a:t>       结论：</a:t>
            </a:r>
            <a:r>
              <a:rPr lang="zh-CN" altLang="en-US" sz="2000" dirty="0">
                <a:solidFill>
                  <a:srgbClr val="FF0000"/>
                </a:solidFill>
                <a:ea typeface="宋体" panose="02010600030101010101" pitchFamily="2" charset="-122"/>
              </a:rPr>
              <a:t>被删关键字所在结点中关键字数目不小于</a:t>
            </a:r>
            <a:r>
              <a:rPr lang="en-US" altLang="zh-CN" sz="2000" dirty="0">
                <a:solidFill>
                  <a:srgbClr val="FF0000"/>
                </a:solidFill>
                <a:ea typeface="宋体" panose="02010600030101010101" pitchFamily="2" charset="-122"/>
              </a:rPr>
              <a:t>[m/2]</a:t>
            </a:r>
            <a:r>
              <a:rPr lang="zh-CN" altLang="en-US" sz="2000" dirty="0">
                <a:solidFill>
                  <a:srgbClr val="FF0000"/>
                </a:solidFill>
                <a:ea typeface="宋体" panose="02010600030101010101" pitchFamily="2" charset="-122"/>
              </a:rPr>
              <a:t>，则只需从该结点中删去关键字</a:t>
            </a:r>
            <a:r>
              <a:rPr lang="en-US" altLang="zh-CN" sz="2000" dirty="0">
                <a:solidFill>
                  <a:srgbClr val="FF0000"/>
                </a:solidFill>
                <a:ea typeface="宋体" panose="02010600030101010101" pitchFamily="2" charset="-122"/>
              </a:rPr>
              <a:t>Ki</a:t>
            </a:r>
            <a:r>
              <a:rPr lang="zh-CN" altLang="en-US" sz="2000" dirty="0">
                <a:solidFill>
                  <a:srgbClr val="FF0000"/>
                </a:solidFill>
                <a:ea typeface="宋体" panose="02010600030101010101" pitchFamily="2" charset="-122"/>
              </a:rPr>
              <a:t>和相应指针</a:t>
            </a:r>
            <a:r>
              <a:rPr lang="en-US" altLang="zh-CN" sz="2000" dirty="0">
                <a:solidFill>
                  <a:srgbClr val="FF0000"/>
                </a:solidFill>
                <a:ea typeface="宋体" panose="02010600030101010101" pitchFamily="2" charset="-122"/>
              </a:rPr>
              <a:t>Ai</a:t>
            </a:r>
            <a:r>
              <a:rPr lang="zh-CN" altLang="en-US" sz="2000" dirty="0">
                <a:solidFill>
                  <a:srgbClr val="FF0000"/>
                </a:solidFill>
                <a:ea typeface="宋体" panose="02010600030101010101" pitchFamily="2" charset="-122"/>
              </a:rPr>
              <a:t>，树的其他部分不变。 </a:t>
            </a:r>
            <a:endParaRPr lang="zh-CN" altLang="en-US" sz="2000" dirty="0">
              <a:solidFill>
                <a:srgbClr val="FF0000"/>
              </a:solidFill>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4"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74784" y="593325"/>
            <a:ext cx="6336506" cy="25788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endParaRPr lang="en-US" altLang="zh-CN" sz="2200" dirty="0" smtClean="0">
              <a:ea typeface="宋体" panose="02010600030101010101" pitchFamily="2" charset="-122"/>
            </a:endParaRPr>
          </a:p>
          <a:p>
            <a:pPr marL="457200" indent="-457200">
              <a:buAutoNum type="arabicPeriod" startAt="2"/>
            </a:pPr>
            <a:endParaRPr lang="en-US" altLang="zh-CN" sz="2200" dirty="0">
              <a:ea typeface="宋体" panose="02010600030101010101" pitchFamily="2" charset="-122"/>
            </a:endParaRPr>
          </a:p>
          <a:p>
            <a:endParaRPr lang="en-US" altLang="zh-CN" sz="2200" dirty="0" smtClean="0">
              <a:ea typeface="宋体" panose="02010600030101010101" pitchFamily="2" charset="-122"/>
            </a:endParaRPr>
          </a:p>
          <a:p>
            <a:pPr lvl="2">
              <a:lnSpc>
                <a:spcPts val="2800"/>
              </a:lnSpc>
            </a:pPr>
            <a:r>
              <a:rPr lang="en-US" altLang="zh-CN" sz="2000" dirty="0">
                <a:ea typeface="宋体" panose="02010600030101010101" pitchFamily="2" charset="-122"/>
              </a:rPr>
              <a:t> (3) </a:t>
            </a:r>
            <a:r>
              <a:rPr lang="zh-CN" altLang="en-US" sz="2000" dirty="0">
                <a:ea typeface="宋体" panose="02010600030101010101" pitchFamily="2" charset="-122"/>
              </a:rPr>
              <a:t>删除</a:t>
            </a:r>
            <a:r>
              <a:rPr lang="en-US" altLang="zh-CN" sz="2000" dirty="0">
                <a:ea typeface="宋体" panose="02010600030101010101" pitchFamily="2" charset="-122"/>
              </a:rPr>
              <a:t>39</a:t>
            </a:r>
            <a:r>
              <a:rPr lang="zh-CN" altLang="en-US" sz="2000" dirty="0">
                <a:ea typeface="宋体" panose="02010600030101010101" pitchFamily="2" charset="-122"/>
              </a:rPr>
              <a:t>时，为保持其</a:t>
            </a:r>
            <a:r>
              <a:rPr lang="zh-CN" altLang="en-US" sz="2000" dirty="0">
                <a:latin typeface="Courier New" panose="02070309020205020404" pitchFamily="49" charset="0"/>
                <a:ea typeface="宋体" panose="02010600030101010101" pitchFamily="2" charset="-122"/>
              </a:rPr>
              <a:t>“</a:t>
            </a:r>
            <a:r>
              <a:rPr lang="zh-CN" altLang="en-US" sz="2000" dirty="0">
                <a:ea typeface="宋体" panose="02010600030101010101" pitchFamily="2" charset="-122"/>
              </a:rPr>
              <a:t>中序有序</a:t>
            </a:r>
            <a:r>
              <a:rPr lang="zh-CN" altLang="en-US" sz="2000" dirty="0">
                <a:latin typeface="Courier New" panose="02070309020205020404" pitchFamily="49" charset="0"/>
                <a:ea typeface="宋体" panose="02010600030101010101" pitchFamily="2" charset="-122"/>
              </a:rPr>
              <a:t>”</a:t>
            </a:r>
            <a:r>
              <a:rPr lang="zh-CN" altLang="en-US" sz="2000" dirty="0">
                <a:ea typeface="宋体" panose="02010600030101010101" pitchFamily="2" charset="-122"/>
              </a:rPr>
              <a:t>，可将父结点中</a:t>
            </a:r>
            <a:r>
              <a:rPr lang="en-US" altLang="zh-CN" sz="2000" dirty="0">
                <a:ea typeface="宋体" panose="02010600030101010101" pitchFamily="2" charset="-122"/>
              </a:rPr>
              <a:t>43</a:t>
            </a:r>
            <a:r>
              <a:rPr lang="zh-CN" altLang="en-US" sz="2000" dirty="0">
                <a:ea typeface="宋体" panose="02010600030101010101" pitchFamily="2" charset="-122"/>
              </a:rPr>
              <a:t>下移至</a:t>
            </a:r>
            <a:r>
              <a:rPr lang="en-US" altLang="zh-CN" sz="2000" dirty="0">
                <a:ea typeface="宋体" panose="02010600030101010101" pitchFamily="2" charset="-122"/>
              </a:rPr>
              <a:t>39</a:t>
            </a:r>
            <a:r>
              <a:rPr lang="zh-CN" altLang="en-US" sz="2000" dirty="0">
                <a:ea typeface="宋体" panose="02010600030101010101" pitchFamily="2" charset="-122"/>
              </a:rPr>
              <a:t>处，而将右兄弟中最左边的</a:t>
            </a:r>
            <a:r>
              <a:rPr lang="en-US" altLang="zh-CN" sz="2000" dirty="0">
                <a:ea typeface="宋体" panose="02010600030101010101" pitchFamily="2" charset="-122"/>
              </a:rPr>
              <a:t>47</a:t>
            </a:r>
            <a:r>
              <a:rPr lang="zh-CN" altLang="en-US" sz="2000" dirty="0">
                <a:ea typeface="宋体" panose="02010600030101010101" pitchFamily="2" charset="-122"/>
              </a:rPr>
              <a:t>上移至原</a:t>
            </a:r>
            <a:r>
              <a:rPr lang="en-US" altLang="zh-CN" sz="2000" dirty="0">
                <a:ea typeface="宋体" panose="02010600030101010101" pitchFamily="2" charset="-122"/>
              </a:rPr>
              <a:t>43</a:t>
            </a:r>
            <a:r>
              <a:rPr lang="zh-CN" altLang="en-US" sz="2000" dirty="0">
                <a:ea typeface="宋体" panose="02010600030101010101" pitchFamily="2" charset="-122"/>
              </a:rPr>
              <a:t>处，如</a:t>
            </a:r>
            <a:r>
              <a:rPr lang="zh-CN" altLang="en-US" sz="2000" dirty="0" smtClean="0">
                <a:ea typeface="宋体" panose="02010600030101010101" pitchFamily="2" charset="-122"/>
              </a:rPr>
              <a:t>图</a:t>
            </a:r>
            <a:r>
              <a:rPr lang="en-US" altLang="zh-CN" sz="2000" dirty="0" smtClean="0">
                <a:ea typeface="宋体" panose="02010600030101010101" pitchFamily="2" charset="-122"/>
              </a:rPr>
              <a:t>(d</a:t>
            </a:r>
            <a:r>
              <a:rPr lang="en-US" altLang="zh-CN" sz="2000" dirty="0">
                <a:ea typeface="宋体" panose="02010600030101010101" pitchFamily="2" charset="-122"/>
              </a:rPr>
              <a:t>)</a:t>
            </a:r>
            <a:r>
              <a:rPr lang="zh-CN" altLang="en-US" sz="2000" dirty="0">
                <a:ea typeface="宋体" panose="02010600030101010101" pitchFamily="2" charset="-122"/>
              </a:rPr>
              <a:t>所示。</a:t>
            </a:r>
            <a:endParaRPr lang="zh-CN" altLang="en-US" sz="2000" dirty="0">
              <a:ea typeface="宋体" panose="02010600030101010101" pitchFamily="2" charset="-122"/>
            </a:endParaRPr>
          </a:p>
          <a:p>
            <a:pPr lvl="2">
              <a:lnSpc>
                <a:spcPts val="2800"/>
              </a:lnSpc>
            </a:pPr>
            <a:r>
              <a:rPr lang="zh-CN" altLang="en-US" sz="2000" dirty="0">
                <a:ea typeface="宋体" panose="02010600030101010101" pitchFamily="2" charset="-122"/>
              </a:rPr>
              <a:t>       结论：</a:t>
            </a:r>
            <a:r>
              <a:rPr lang="zh-CN" altLang="en-US" sz="2000" dirty="0">
                <a:latin typeface="宋体" panose="02010600030101010101" pitchFamily="2" charset="-122"/>
                <a:ea typeface="宋体" panose="02010600030101010101" pitchFamily="2" charset="-122"/>
              </a:rPr>
              <a:t>被删关键字所在结点中关键字数目等于</a:t>
            </a:r>
            <a:r>
              <a:rPr lang="en-US" altLang="zh-CN" sz="2000" dirty="0">
                <a:latin typeface="宋体" panose="02010600030101010101" pitchFamily="2" charset="-122"/>
                <a:ea typeface="宋体" panose="02010600030101010101" pitchFamily="2" charset="-122"/>
              </a:rPr>
              <a:t>[m/2]-1</a:t>
            </a:r>
            <a:r>
              <a:rPr lang="zh-CN" altLang="en-US" sz="2000" dirty="0">
                <a:latin typeface="宋体" panose="02010600030101010101" pitchFamily="2" charset="-122"/>
                <a:ea typeface="宋体" panose="02010600030101010101" pitchFamily="2" charset="-122"/>
              </a:rPr>
              <a:t>，而与该结点相邻的右兄弟（左兄弟）结点的关键字数目大于</a:t>
            </a:r>
            <a:r>
              <a:rPr lang="en-US" altLang="zh-CN" sz="2000" dirty="0">
                <a:latin typeface="宋体" panose="02010600030101010101" pitchFamily="2" charset="-122"/>
                <a:ea typeface="宋体" panose="02010600030101010101" pitchFamily="2" charset="-122"/>
              </a:rPr>
              <a:t>[m/2]-1</a:t>
            </a:r>
            <a:r>
              <a:rPr lang="zh-CN" altLang="en-US" sz="2000" dirty="0">
                <a:latin typeface="宋体" panose="02010600030101010101" pitchFamily="2" charset="-122"/>
                <a:ea typeface="宋体" panose="02010600030101010101" pitchFamily="2" charset="-122"/>
              </a:rPr>
              <a:t>，则需将</a:t>
            </a:r>
            <a:r>
              <a:rPr lang="zh-CN" altLang="en-US" sz="2000" dirty="0">
                <a:solidFill>
                  <a:srgbClr val="FF0000"/>
                </a:solidFill>
                <a:latin typeface="宋体" panose="02010600030101010101" pitchFamily="2" charset="-122"/>
                <a:ea typeface="宋体" panose="02010600030101010101" pitchFamily="2" charset="-122"/>
              </a:rPr>
              <a:t>右兄弟的最小（左兄弟的最大）关键字</a:t>
            </a:r>
            <a:r>
              <a:rPr lang="zh-CN" altLang="en-US" sz="2000" dirty="0">
                <a:latin typeface="宋体" panose="02010600030101010101" pitchFamily="2" charset="-122"/>
                <a:ea typeface="宋体" panose="02010600030101010101" pitchFamily="2" charset="-122"/>
              </a:rPr>
              <a:t>移至双亲结点中，而将</a:t>
            </a:r>
            <a:r>
              <a:rPr lang="zh-CN" altLang="en-US" sz="2000" dirty="0">
                <a:solidFill>
                  <a:srgbClr val="FF0000"/>
                </a:solidFill>
                <a:latin typeface="宋体" panose="02010600030101010101" pitchFamily="2" charset="-122"/>
                <a:ea typeface="宋体" panose="02010600030101010101" pitchFamily="2" charset="-122"/>
              </a:rPr>
              <a:t>双亲结点中小于（或大于）且紧靠该上移关键字的关键字</a:t>
            </a:r>
            <a:r>
              <a:rPr lang="zh-CN" altLang="en-US" sz="2000" dirty="0">
                <a:latin typeface="宋体" panose="02010600030101010101" pitchFamily="2" charset="-122"/>
                <a:ea typeface="宋体" panose="02010600030101010101" pitchFamily="2" charset="-122"/>
              </a:rPr>
              <a:t>移至被删关键字所在结点中。</a:t>
            </a:r>
            <a:endParaRPr lang="en-US" altLang="zh-CN" sz="2000" dirty="0" smtClean="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46301" y="593325"/>
            <a:ext cx="6279356" cy="1378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endParaRPr lang="en-US" altLang="zh-CN" sz="2200" dirty="0" smtClean="0">
              <a:ea typeface="宋体" panose="02010600030101010101" pitchFamily="2" charset="-122"/>
            </a:endParaRPr>
          </a:p>
          <a:p>
            <a:pPr marL="457200" indent="-457200">
              <a:buAutoNum type="arabicPeriod" startAt="2"/>
            </a:pPr>
            <a:endParaRPr lang="en-US" altLang="zh-CN" sz="2200" dirty="0">
              <a:ea typeface="宋体" panose="02010600030101010101" pitchFamily="2" charset="-122"/>
            </a:endParaRPr>
          </a:p>
          <a:p>
            <a:endParaRPr lang="en-US" altLang="zh-CN" sz="2200" dirty="0" smtClean="0">
              <a:ea typeface="宋体" panose="02010600030101010101" pitchFamily="2" charset="-122"/>
            </a:endParaRPr>
          </a:p>
          <a:p>
            <a:pPr marL="0" lvl="2">
              <a:lnSpc>
                <a:spcPts val="3000"/>
              </a:lnSpc>
            </a:pPr>
            <a:r>
              <a:rPr lang="en-US" altLang="zh-CN" sz="1800" dirty="0">
                <a:ea typeface="宋体" panose="02010600030101010101" pitchFamily="2" charset="-122"/>
              </a:rPr>
              <a:t> (4) </a:t>
            </a:r>
            <a:r>
              <a:rPr lang="zh-CN" altLang="en-US" sz="1800" dirty="0">
                <a:ea typeface="宋体" panose="02010600030101010101" pitchFamily="2" charset="-122"/>
              </a:rPr>
              <a:t>删除</a:t>
            </a:r>
            <a:r>
              <a:rPr lang="en-US" altLang="zh-CN" sz="1800" dirty="0">
                <a:ea typeface="宋体" panose="02010600030101010101" pitchFamily="2" charset="-122"/>
              </a:rPr>
              <a:t>64</a:t>
            </a:r>
            <a:r>
              <a:rPr lang="zh-CN" altLang="en-US" sz="1800" dirty="0">
                <a:ea typeface="宋体" panose="02010600030101010101" pitchFamily="2" charset="-122"/>
              </a:rPr>
              <a:t>后，为保持各分支等长（平衡），将删除</a:t>
            </a:r>
            <a:r>
              <a:rPr lang="en-US" altLang="zh-CN" sz="1800" dirty="0">
                <a:ea typeface="宋体" panose="02010600030101010101" pitchFamily="2" charset="-122"/>
              </a:rPr>
              <a:t>64</a:t>
            </a:r>
            <a:r>
              <a:rPr lang="zh-CN" altLang="en-US" sz="1800" dirty="0">
                <a:ea typeface="宋体" panose="02010600030101010101" pitchFamily="2" charset="-122"/>
              </a:rPr>
              <a:t>后的剩余信息</a:t>
            </a:r>
            <a:r>
              <a:rPr lang="en-US" altLang="zh-CN" sz="1800" dirty="0">
                <a:ea typeface="宋体" panose="02010600030101010101" pitchFamily="2" charset="-122"/>
              </a:rPr>
              <a:t>(</a:t>
            </a:r>
            <a:r>
              <a:rPr lang="zh-CN" altLang="en-US" sz="1800" dirty="0">
                <a:ea typeface="宋体" panose="02010600030101010101" pitchFamily="2" charset="-122"/>
              </a:rPr>
              <a:t>在此为空指针</a:t>
            </a:r>
            <a:r>
              <a:rPr lang="en-US" altLang="zh-CN" sz="1800" dirty="0">
                <a:ea typeface="宋体" panose="02010600030101010101" pitchFamily="2" charset="-122"/>
              </a:rPr>
              <a:t>)</a:t>
            </a:r>
            <a:r>
              <a:rPr lang="zh-CN" altLang="en-US" sz="1800" dirty="0">
                <a:ea typeface="宋体" panose="02010600030101010101" pitchFamily="2" charset="-122"/>
              </a:rPr>
              <a:t>及</a:t>
            </a:r>
            <a:r>
              <a:rPr lang="en-US" altLang="zh-CN" sz="1800" dirty="0">
                <a:ea typeface="宋体" panose="02010600030101010101" pitchFamily="2" charset="-122"/>
              </a:rPr>
              <a:t>78</a:t>
            </a:r>
            <a:r>
              <a:rPr lang="zh-CN" altLang="en-US" sz="1800" dirty="0">
                <a:ea typeface="宋体" panose="02010600030101010101" pitchFamily="2" charset="-122"/>
              </a:rPr>
              <a:t>合并入右兄弟，如</a:t>
            </a:r>
            <a:r>
              <a:rPr lang="zh-CN" altLang="en-US" sz="1800" dirty="0" smtClean="0">
                <a:ea typeface="宋体" panose="02010600030101010101" pitchFamily="2" charset="-122"/>
              </a:rPr>
              <a:t>图</a:t>
            </a:r>
            <a:r>
              <a:rPr lang="en-US" altLang="zh-CN" sz="1800" dirty="0" smtClean="0">
                <a:ea typeface="宋体" panose="02010600030101010101" pitchFamily="2" charset="-122"/>
              </a:rPr>
              <a:t>(e</a:t>
            </a:r>
            <a:r>
              <a:rPr lang="en-US" altLang="zh-CN" sz="1800" dirty="0">
                <a:ea typeface="宋体" panose="02010600030101010101" pitchFamily="2" charset="-122"/>
              </a:rPr>
              <a:t>)</a:t>
            </a:r>
            <a:r>
              <a:rPr lang="zh-CN" altLang="en-US" sz="1800" dirty="0">
                <a:ea typeface="宋体" panose="02010600030101010101" pitchFamily="2" charset="-122"/>
              </a:rPr>
              <a:t>所示。也可将删除</a:t>
            </a:r>
            <a:r>
              <a:rPr lang="en-US" altLang="zh-CN" sz="1800" dirty="0">
                <a:ea typeface="宋体" panose="02010600030101010101" pitchFamily="2" charset="-122"/>
              </a:rPr>
              <a:t>64</a:t>
            </a:r>
            <a:r>
              <a:rPr lang="zh-CN" altLang="en-US" sz="1800" dirty="0">
                <a:ea typeface="宋体" panose="02010600030101010101" pitchFamily="2" charset="-122"/>
              </a:rPr>
              <a:t>后的剩余信息及</a:t>
            </a:r>
            <a:r>
              <a:rPr lang="en-US" altLang="zh-CN" sz="1800" dirty="0">
                <a:ea typeface="宋体" panose="02010600030101010101" pitchFamily="2" charset="-122"/>
              </a:rPr>
              <a:t>47</a:t>
            </a:r>
            <a:r>
              <a:rPr lang="zh-CN" altLang="en-US" sz="1800" dirty="0">
                <a:ea typeface="宋体" panose="02010600030101010101" pitchFamily="2" charset="-122"/>
              </a:rPr>
              <a:t>与左兄弟合并。</a:t>
            </a:r>
            <a:endParaRPr lang="zh-CN" altLang="en-US" sz="1800" dirty="0">
              <a:ea typeface="宋体" panose="02010600030101010101" pitchFamily="2" charset="-122"/>
            </a:endParaRPr>
          </a:p>
          <a:p>
            <a:pPr marL="0" lvl="2">
              <a:lnSpc>
                <a:spcPts val="3000"/>
              </a:lnSpc>
            </a:pPr>
            <a:r>
              <a:rPr lang="zh-CN" altLang="en-US" sz="1800" dirty="0">
                <a:ea typeface="宋体" panose="02010600030101010101" pitchFamily="2" charset="-122"/>
              </a:rPr>
              <a:t>        结论：</a:t>
            </a:r>
            <a:r>
              <a:rPr lang="zh-CN" altLang="en-US" sz="1800" dirty="0">
                <a:latin typeface="宋体" panose="02010600030101010101" pitchFamily="2" charset="-122"/>
                <a:ea typeface="宋体" panose="02010600030101010101" pitchFamily="2" charset="-122"/>
              </a:rPr>
              <a:t>被删关键字所在结点和其相邻的兄弟结点中的关键字数目均等于</a:t>
            </a:r>
            <a:r>
              <a:rPr lang="en-US" altLang="zh-CN" sz="1800" dirty="0">
                <a:latin typeface="宋体" panose="02010600030101010101" pitchFamily="2" charset="-122"/>
                <a:ea typeface="宋体" panose="02010600030101010101" pitchFamily="2" charset="-122"/>
              </a:rPr>
              <a:t>[m/2]-1</a:t>
            </a:r>
            <a:r>
              <a:rPr lang="zh-CN" altLang="en-US" sz="1800" dirty="0">
                <a:latin typeface="宋体" panose="02010600030101010101" pitchFamily="2" charset="-122"/>
                <a:ea typeface="宋体" panose="02010600030101010101" pitchFamily="2" charset="-122"/>
              </a:rPr>
              <a:t>，</a:t>
            </a:r>
            <a:r>
              <a:rPr lang="zh-CN" altLang="en-US" sz="1800" dirty="0">
                <a:solidFill>
                  <a:srgbClr val="FF0000"/>
                </a:solidFill>
                <a:latin typeface="宋体" panose="02010600030101010101" pitchFamily="2" charset="-122"/>
                <a:ea typeface="宋体" panose="02010600030101010101" pitchFamily="2" charset="-122"/>
              </a:rPr>
              <a:t>设该结点有右兄弟且所在结点中剩余的关键字和指针，加上双亲中的</a:t>
            </a:r>
            <a:r>
              <a:rPr lang="en-US" altLang="zh-CN" sz="1800" dirty="0">
                <a:solidFill>
                  <a:srgbClr val="FF0000"/>
                </a:solidFill>
                <a:latin typeface="宋体" panose="02010600030101010101" pitchFamily="2" charset="-122"/>
                <a:ea typeface="宋体" panose="02010600030101010101" pitchFamily="2" charset="-122"/>
              </a:rPr>
              <a:t>K</a:t>
            </a:r>
            <a:r>
              <a:rPr lang="en-US" altLang="zh-CN" sz="1800" baseline="-25000" dirty="0">
                <a:solidFill>
                  <a:srgbClr val="FF0000"/>
                </a:solidFill>
                <a:latin typeface="宋体" panose="02010600030101010101" pitchFamily="2" charset="-122"/>
                <a:ea typeface="宋体" panose="02010600030101010101" pitchFamily="2" charset="-122"/>
              </a:rPr>
              <a:t>i</a:t>
            </a:r>
            <a:r>
              <a:rPr lang="zh-CN" altLang="en-US" sz="1800" dirty="0">
                <a:solidFill>
                  <a:srgbClr val="FF0000"/>
                </a:solidFill>
                <a:latin typeface="宋体" panose="02010600030101010101" pitchFamily="2" charset="-122"/>
                <a:ea typeface="宋体" panose="02010600030101010101" pitchFamily="2" charset="-122"/>
              </a:rPr>
              <a:t>一起，合并到</a:t>
            </a:r>
            <a:r>
              <a:rPr lang="en-US" altLang="zh-CN" sz="1800" dirty="0">
                <a:solidFill>
                  <a:srgbClr val="FF0000"/>
                </a:solidFill>
                <a:latin typeface="宋体" panose="02010600030101010101" pitchFamily="2" charset="-122"/>
                <a:ea typeface="宋体" panose="02010600030101010101" pitchFamily="2" charset="-122"/>
              </a:rPr>
              <a:t>A</a:t>
            </a:r>
            <a:r>
              <a:rPr lang="en-US" altLang="zh-CN" sz="1800" baseline="-25000" dirty="0">
                <a:solidFill>
                  <a:srgbClr val="FF0000"/>
                </a:solidFill>
                <a:latin typeface="宋体" panose="02010600030101010101" pitchFamily="2" charset="-122"/>
                <a:ea typeface="宋体" panose="02010600030101010101" pitchFamily="2" charset="-122"/>
              </a:rPr>
              <a:t>i</a:t>
            </a:r>
            <a:r>
              <a:rPr lang="zh-CN" altLang="en-US" sz="1800" dirty="0">
                <a:solidFill>
                  <a:srgbClr val="FF0000"/>
                </a:solidFill>
                <a:latin typeface="宋体" panose="02010600030101010101" pitchFamily="2" charset="-122"/>
                <a:ea typeface="宋体" panose="02010600030101010101" pitchFamily="2" charset="-122"/>
              </a:rPr>
              <a:t>所指兄弟结点中。</a:t>
            </a:r>
            <a:r>
              <a:rPr lang="zh-CN" altLang="en-US" sz="1800" dirty="0">
                <a:solidFill>
                  <a:srgbClr val="FF0000"/>
                </a:solidFill>
                <a:ea typeface="宋体" panose="02010600030101010101" pitchFamily="2" charset="-122"/>
              </a:rPr>
              <a:t> </a:t>
            </a:r>
            <a:endParaRPr lang="en-US" altLang="zh-CN" sz="2000" dirty="0" smtClean="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6"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95363" y="556336"/>
            <a:ext cx="3064669" cy="1264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26628" y="548557"/>
            <a:ext cx="2964656" cy="127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spcBef>
                <a:spcPts val="0"/>
              </a:spcBef>
              <a:spcAft>
                <a:spcPts val="0"/>
              </a:spcAft>
            </a:pPr>
            <a:endParaRPr lang="en-US" altLang="zh-CN" sz="2200" dirty="0" smtClean="0">
              <a:ea typeface="宋体" panose="02010600030101010101" pitchFamily="2" charset="-122"/>
            </a:endParaRPr>
          </a:p>
          <a:p>
            <a:pPr marL="457200" indent="-457200">
              <a:spcBef>
                <a:spcPts val="0"/>
              </a:spcBef>
              <a:spcAft>
                <a:spcPts val="0"/>
              </a:spcAft>
              <a:buAutoNum type="arabicPeriod" startAt="2"/>
            </a:pPr>
            <a:endParaRPr lang="en-US" altLang="zh-CN" sz="2200" dirty="0">
              <a:ea typeface="宋体" panose="02010600030101010101" pitchFamily="2" charset="-122"/>
            </a:endParaRPr>
          </a:p>
          <a:p>
            <a:pPr>
              <a:spcBef>
                <a:spcPts val="0"/>
              </a:spcBef>
              <a:spcAft>
                <a:spcPts val="0"/>
              </a:spcAft>
            </a:pPr>
            <a:endParaRPr lang="en-US" altLang="zh-CN" sz="2200" dirty="0" smtClean="0">
              <a:ea typeface="宋体" panose="02010600030101010101" pitchFamily="2" charset="-122"/>
            </a:endParaRPr>
          </a:p>
          <a:p>
            <a:pPr marL="0" lvl="2">
              <a:lnSpc>
                <a:spcPts val="3000"/>
              </a:lnSpc>
            </a:pPr>
            <a:endParaRPr lang="en-US" altLang="zh-CN" sz="1800" dirty="0" smtClean="0">
              <a:ea typeface="宋体" panose="02010600030101010101" pitchFamily="2" charset="-122"/>
            </a:endParaRPr>
          </a:p>
          <a:p>
            <a:pPr marL="0" lvl="2">
              <a:lnSpc>
                <a:spcPts val="3000"/>
              </a:lnSpc>
            </a:pPr>
            <a:endParaRPr lang="en-US" altLang="zh-CN" sz="1800" dirty="0" smtClean="0">
              <a:ea typeface="宋体" panose="02010600030101010101" pitchFamily="2" charset="-122"/>
            </a:endParaRPr>
          </a:p>
          <a:p>
            <a:pPr marL="0" lvl="2">
              <a:lnSpc>
                <a:spcPts val="3000"/>
              </a:lnSpc>
            </a:pPr>
            <a:endParaRPr lang="en-US" altLang="zh-CN" sz="1800" dirty="0" smtClean="0">
              <a:ea typeface="宋体" panose="02010600030101010101" pitchFamily="2" charset="-122"/>
            </a:endParaRPr>
          </a:p>
          <a:p>
            <a:pPr marL="0" lvl="2">
              <a:lnSpc>
                <a:spcPts val="3000"/>
              </a:lnSpc>
            </a:pPr>
            <a:r>
              <a:rPr lang="en-US" altLang="zh-CN" sz="1800" dirty="0" smtClean="0">
                <a:latin typeface="Times New Roman" panose="02020603050405020304" pitchFamily="18" charset="0"/>
                <a:ea typeface="宋体" panose="02010600030101010101" pitchFamily="2" charset="-122"/>
              </a:rPr>
              <a:t>(</a:t>
            </a:r>
            <a:r>
              <a:rPr lang="en-US" altLang="zh-CN" sz="1800" dirty="0">
                <a:latin typeface="Times New Roman" panose="02020603050405020304" pitchFamily="18" charset="0"/>
                <a:ea typeface="宋体" panose="02010600030101010101" pitchFamily="2" charset="-122"/>
              </a:rPr>
              <a:t>5) </a:t>
            </a:r>
            <a:r>
              <a:rPr lang="zh-CN" altLang="en-US" sz="1800" dirty="0">
                <a:latin typeface="Times New Roman" panose="02020603050405020304" pitchFamily="18" charset="0"/>
                <a:ea typeface="宋体" panose="02010600030101010101" pitchFamily="2" charset="-122"/>
              </a:rPr>
              <a:t>删除</a:t>
            </a:r>
            <a:r>
              <a:rPr lang="en-US" altLang="zh-CN" sz="1800" dirty="0">
                <a:latin typeface="Times New Roman" panose="02020603050405020304" pitchFamily="18" charset="0"/>
                <a:ea typeface="宋体" panose="02010600030101010101" pitchFamily="2" charset="-122"/>
              </a:rPr>
              <a:t>27</a:t>
            </a:r>
            <a:r>
              <a:rPr lang="zh-CN" altLang="en-US" sz="1800" dirty="0">
                <a:latin typeface="Times New Roman" panose="02020603050405020304" pitchFamily="18" charset="0"/>
                <a:ea typeface="宋体" panose="02010600030101010101" pitchFamily="2" charset="-122"/>
              </a:rPr>
              <a:t>时，首先将剩余信息</a:t>
            </a:r>
            <a:r>
              <a:rPr lang="en-US" altLang="zh-CN" sz="1800" dirty="0">
                <a:latin typeface="Times New Roman" panose="02020603050405020304" pitchFamily="18" charset="0"/>
                <a:ea typeface="宋体" panose="02010600030101010101" pitchFamily="2" charset="-122"/>
              </a:rPr>
              <a:t>(</a:t>
            </a:r>
            <a:r>
              <a:rPr lang="zh-CN" altLang="en-US" sz="1800" dirty="0">
                <a:latin typeface="Times New Roman" panose="02020603050405020304" pitchFamily="18" charset="0"/>
                <a:ea typeface="宋体" panose="02010600030101010101" pitchFamily="2" charset="-122"/>
              </a:rPr>
              <a:t>在此为空指针</a:t>
            </a:r>
            <a:r>
              <a:rPr lang="en-US" altLang="zh-CN" sz="1800" dirty="0">
                <a:latin typeface="Times New Roman" panose="02020603050405020304" pitchFamily="18" charset="0"/>
                <a:ea typeface="宋体" panose="02010600030101010101" pitchFamily="2" charset="-122"/>
              </a:rPr>
              <a:t>)</a:t>
            </a:r>
            <a:r>
              <a:rPr lang="zh-CN" altLang="en-US" sz="1800" dirty="0">
                <a:latin typeface="Times New Roman" panose="02020603050405020304" pitchFamily="18" charset="0"/>
                <a:ea typeface="宋体" panose="02010600030101010101" pitchFamily="2" charset="-122"/>
              </a:rPr>
              <a:t>与父结点中的</a:t>
            </a:r>
            <a:r>
              <a:rPr lang="en-US" altLang="zh-CN" sz="1800" dirty="0">
                <a:latin typeface="Times New Roman" panose="02020603050405020304" pitchFamily="18" charset="0"/>
                <a:ea typeface="宋体" panose="02010600030101010101" pitchFamily="2" charset="-122"/>
              </a:rPr>
              <a:t>18</a:t>
            </a:r>
            <a:r>
              <a:rPr lang="zh-CN" altLang="en-US" sz="1800" dirty="0">
                <a:latin typeface="Times New Roman" panose="02020603050405020304" pitchFamily="18" charset="0"/>
                <a:ea typeface="宋体" panose="02010600030101010101" pitchFamily="2" charset="-122"/>
              </a:rPr>
              <a:t>并入左兄弟，并释放空结点，结果如</a:t>
            </a:r>
            <a:r>
              <a:rPr lang="zh-CN" altLang="en-US" sz="1800" dirty="0" smtClean="0">
                <a:latin typeface="Times New Roman" panose="02020603050405020304" pitchFamily="18" charset="0"/>
                <a:ea typeface="宋体" panose="02010600030101010101" pitchFamily="2" charset="-122"/>
              </a:rPr>
              <a:t>图</a:t>
            </a:r>
            <a:r>
              <a:rPr lang="en-US" altLang="zh-CN" sz="1800" dirty="0" smtClean="0">
                <a:latin typeface="Times New Roman" panose="02020603050405020304" pitchFamily="18" charset="0"/>
                <a:ea typeface="宋体" panose="02010600030101010101" pitchFamily="2" charset="-122"/>
              </a:rPr>
              <a:t>(f</a:t>
            </a:r>
            <a:r>
              <a:rPr lang="en-US" altLang="zh-CN" sz="1800" dirty="0">
                <a:latin typeface="Times New Roman" panose="02020603050405020304" pitchFamily="18" charset="0"/>
                <a:ea typeface="宋体" panose="02010600030101010101" pitchFamily="2" charset="-122"/>
              </a:rPr>
              <a:t>)</a:t>
            </a:r>
            <a:r>
              <a:rPr lang="zh-CN" altLang="en-US" sz="1800" dirty="0">
                <a:latin typeface="Times New Roman" panose="02020603050405020304" pitchFamily="18" charset="0"/>
                <a:ea typeface="宋体" panose="02010600030101010101" pitchFamily="2" charset="-122"/>
              </a:rPr>
              <a:t>所示。再将父结点中的剩余信息与祖父结点中的</a:t>
            </a:r>
            <a:r>
              <a:rPr lang="en-US" altLang="zh-CN" sz="1800" dirty="0">
                <a:latin typeface="Times New Roman" panose="02020603050405020304" pitchFamily="18" charset="0"/>
                <a:ea typeface="宋体" panose="02010600030101010101" pitchFamily="2" charset="-122"/>
              </a:rPr>
              <a:t>35</a:t>
            </a:r>
            <a:r>
              <a:rPr lang="zh-CN" altLang="en-US" sz="1800" dirty="0">
                <a:latin typeface="Times New Roman" panose="02020603050405020304" pitchFamily="18" charset="0"/>
                <a:ea typeface="宋体" panose="02010600030101010101" pitchFamily="2" charset="-122"/>
              </a:rPr>
              <a:t>并入</a:t>
            </a:r>
            <a:r>
              <a:rPr lang="en-US" altLang="zh-CN" sz="1800" dirty="0">
                <a:latin typeface="Times New Roman" panose="02020603050405020304" pitchFamily="18" charset="0"/>
                <a:ea typeface="宋体" panose="02010600030101010101" pitchFamily="2" charset="-122"/>
              </a:rPr>
              <a:t>47</a:t>
            </a:r>
            <a:r>
              <a:rPr lang="zh-CN" altLang="en-US" sz="1800" dirty="0">
                <a:latin typeface="Times New Roman" panose="02020603050405020304" pitchFamily="18" charset="0"/>
                <a:ea typeface="宋体" panose="02010600030101010101" pitchFamily="2" charset="-122"/>
              </a:rPr>
              <a:t>左端，释放空结点后的结果如</a:t>
            </a:r>
            <a:r>
              <a:rPr lang="zh-CN" altLang="en-US" sz="1800" dirty="0" smtClean="0">
                <a:latin typeface="Times New Roman" panose="02020603050405020304" pitchFamily="18" charset="0"/>
                <a:ea typeface="宋体" panose="02010600030101010101" pitchFamily="2" charset="-122"/>
              </a:rPr>
              <a:t>图</a:t>
            </a:r>
            <a:r>
              <a:rPr lang="en-US" altLang="zh-CN" sz="1800" dirty="0" smtClean="0">
                <a:latin typeface="Times New Roman" panose="02020603050405020304" pitchFamily="18" charset="0"/>
                <a:ea typeface="宋体" panose="02010600030101010101" pitchFamily="2" charset="-122"/>
              </a:rPr>
              <a:t>(g</a:t>
            </a:r>
            <a:r>
              <a:rPr lang="en-US" altLang="zh-CN" sz="1800" dirty="0">
                <a:latin typeface="Times New Roman" panose="02020603050405020304" pitchFamily="18" charset="0"/>
                <a:ea typeface="宋体" panose="02010600030101010101" pitchFamily="2" charset="-122"/>
              </a:rPr>
              <a:t>)</a:t>
            </a:r>
            <a:r>
              <a:rPr lang="zh-CN" altLang="en-US" sz="1800" dirty="0">
                <a:latin typeface="Times New Roman" panose="02020603050405020304" pitchFamily="18" charset="0"/>
                <a:ea typeface="宋体" panose="02010600030101010101" pitchFamily="2" charset="-122"/>
              </a:rPr>
              <a:t>所示。至此，祖父结点仍需要合并，但由于待合并结点的父指针为</a:t>
            </a:r>
            <a:r>
              <a:rPr lang="en-US" altLang="zh-CN" sz="1800" dirty="0">
                <a:latin typeface="Times New Roman" panose="02020603050405020304" pitchFamily="18" charset="0"/>
                <a:ea typeface="宋体" panose="02010600030101010101" pitchFamily="2" charset="-122"/>
              </a:rPr>
              <a:t>NULL</a:t>
            </a:r>
            <a:r>
              <a:rPr lang="zh-CN" altLang="en-US" sz="1800" dirty="0">
                <a:latin typeface="Times New Roman" panose="02020603050405020304" pitchFamily="18" charset="0"/>
                <a:ea typeface="宋体" panose="02010600030101010101" pitchFamily="2" charset="-122"/>
              </a:rPr>
              <a:t>，故停止合并，直接将根指针</a:t>
            </a:r>
            <a:r>
              <a:rPr lang="en-US" altLang="zh-CN" sz="1800" dirty="0" err="1">
                <a:latin typeface="Times New Roman" panose="02020603050405020304" pitchFamily="18" charset="0"/>
                <a:ea typeface="宋体" panose="02010600030101010101" pitchFamily="2" charset="-122"/>
              </a:rPr>
              <a:t>bt</a:t>
            </a:r>
            <a:r>
              <a:rPr lang="zh-CN" altLang="en-US" sz="1800" dirty="0">
                <a:latin typeface="Times New Roman" panose="02020603050405020304" pitchFamily="18" charset="0"/>
                <a:ea typeface="宋体" panose="02010600030101010101" pitchFamily="2" charset="-122"/>
              </a:rPr>
              <a:t>置为指针</a:t>
            </a:r>
            <a:r>
              <a:rPr lang="en-US" altLang="zh-CN" sz="1800" dirty="0">
                <a:latin typeface="Times New Roman" panose="02020603050405020304" pitchFamily="18" charset="0"/>
                <a:ea typeface="宋体" panose="02010600030101010101" pitchFamily="2" charset="-122"/>
              </a:rPr>
              <a:t>p2</a:t>
            </a:r>
            <a:r>
              <a:rPr lang="zh-CN" altLang="en-US" sz="1800" dirty="0">
                <a:latin typeface="Times New Roman" panose="02020603050405020304" pitchFamily="18" charset="0"/>
                <a:ea typeface="宋体" panose="02010600030101010101" pitchFamily="2" charset="-122"/>
              </a:rPr>
              <a:t>的值，释放空结点后的结果如</a:t>
            </a:r>
            <a:r>
              <a:rPr lang="zh-CN" altLang="en-US" sz="1800" dirty="0" smtClean="0">
                <a:latin typeface="Times New Roman" panose="02020603050405020304" pitchFamily="18" charset="0"/>
                <a:ea typeface="宋体" panose="02010600030101010101" pitchFamily="2" charset="-122"/>
              </a:rPr>
              <a:t>图</a:t>
            </a:r>
            <a:r>
              <a:rPr lang="en-US" altLang="zh-CN" sz="1800" dirty="0" smtClean="0">
                <a:latin typeface="Times New Roman" panose="02020603050405020304" pitchFamily="18" charset="0"/>
                <a:ea typeface="宋体" panose="02010600030101010101" pitchFamily="2" charset="-122"/>
              </a:rPr>
              <a:t>(h</a:t>
            </a:r>
            <a:r>
              <a:rPr lang="en-US" altLang="zh-CN" sz="1800" dirty="0">
                <a:latin typeface="Times New Roman" panose="02020603050405020304" pitchFamily="18" charset="0"/>
                <a:ea typeface="宋体" panose="02010600030101010101" pitchFamily="2" charset="-122"/>
              </a:rPr>
              <a:t>)</a:t>
            </a:r>
            <a:r>
              <a:rPr lang="zh-CN" altLang="en-US" sz="1800" dirty="0">
                <a:latin typeface="Times New Roman" panose="02020603050405020304" pitchFamily="18" charset="0"/>
                <a:ea typeface="宋体" panose="02010600030101010101" pitchFamily="2" charset="-122"/>
              </a:rPr>
              <a:t>所示。 </a:t>
            </a:r>
            <a:endParaRPr lang="en-US" altLang="zh-CN"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pic>
        <p:nvPicPr>
          <p:cNvPr id="8"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96202" y="295361"/>
            <a:ext cx="6329363" cy="2607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000" dirty="0" smtClean="0">
                <a:ea typeface="宋体" panose="02010600030101010101" pitchFamily="2" charset="-122"/>
              </a:rPr>
              <a:t>（</a:t>
            </a:r>
            <a:r>
              <a:rPr lang="en-US" altLang="zh-CN" sz="2000" dirty="0" smtClean="0">
                <a:ea typeface="宋体" panose="02010600030101010101" pitchFamily="2" charset="-122"/>
              </a:rPr>
              <a:t>2</a:t>
            </a:r>
            <a:r>
              <a:rPr lang="zh-CN" altLang="en-US" sz="2000" dirty="0" smtClean="0">
                <a:ea typeface="宋体" panose="02010600030101010101" pitchFamily="2" charset="-122"/>
              </a:rPr>
              <a:t>）在</a:t>
            </a:r>
            <a:r>
              <a:rPr lang="zh-CN" altLang="en-US" sz="2000" dirty="0">
                <a:ea typeface="宋体" panose="02010600030101010101" pitchFamily="2" charset="-122"/>
              </a:rPr>
              <a:t>非最下层结点中删除一个</a:t>
            </a:r>
            <a:r>
              <a:rPr lang="zh-CN" altLang="en-US" sz="2000" dirty="0" smtClean="0">
                <a:ea typeface="宋体" panose="02010600030101010101" pitchFamily="2" charset="-122"/>
              </a:rPr>
              <a:t>关键字</a:t>
            </a:r>
            <a:endParaRPr lang="zh-CN" altLang="en-US" sz="20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4" name="Object 6"/>
          <p:cNvGraphicFramePr>
            <a:graphicFrameLocks noChangeAspect="1"/>
          </p:cNvGraphicFramePr>
          <p:nvPr/>
        </p:nvGraphicFramePr>
        <p:xfrm>
          <a:off x="941070" y="1185600"/>
          <a:ext cx="6858000" cy="3131344"/>
        </p:xfrm>
        <a:graphic>
          <a:graphicData uri="http://schemas.openxmlformats.org/presentationml/2006/ole">
            <mc:AlternateContent xmlns:mc="http://schemas.openxmlformats.org/markup-compatibility/2006">
              <mc:Choice xmlns:v="urn:schemas-microsoft-com:vml" Requires="v">
                <p:oleObj spid="_x0000_s57377" name="VISIO" r:id="rId1" imgW="5189220" imgH="2369820" progId="Visio.Drawing.4">
                  <p:embed/>
                </p:oleObj>
              </mc:Choice>
              <mc:Fallback>
                <p:oleObj name="VISIO" r:id="rId1" imgW="5189220" imgH="236982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1070" y="1185600"/>
                        <a:ext cx="6858000" cy="31313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ts val="3000"/>
              </a:lnSpc>
            </a:pPr>
            <a:r>
              <a:rPr lang="zh-CN" altLang="en-US" sz="1800" dirty="0" smtClean="0">
                <a:latin typeface="宋体" panose="02010600030101010101" pitchFamily="2" charset="-122"/>
                <a:ea typeface="宋体" panose="02010600030101010101" pitchFamily="2" charset="-122"/>
              </a:rPr>
              <a:t>四</a:t>
            </a:r>
            <a:r>
              <a:rPr lang="zh-CN" altLang="en-US" sz="1800" dirty="0">
                <a:latin typeface="宋体" panose="02010600030101010101" pitchFamily="2" charset="-122"/>
                <a:ea typeface="宋体" panose="02010600030101010101" pitchFamily="2" charset="-122"/>
              </a:rPr>
              <a:t>．</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    </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树是应文件系统所需而出的一种</a:t>
            </a:r>
            <a:r>
              <a:rPr lang="en-US" altLang="zh-CN" sz="1800" dirty="0">
                <a:ea typeface="宋体" panose="02010600030101010101" pitchFamily="2" charset="-122"/>
              </a:rPr>
              <a:t>B-</a:t>
            </a:r>
            <a:r>
              <a:rPr lang="zh-CN" altLang="en-US" sz="1800" dirty="0">
                <a:ea typeface="宋体" panose="02010600030101010101" pitchFamily="2" charset="-122"/>
              </a:rPr>
              <a:t>树的变型。一棵</a:t>
            </a:r>
            <a:r>
              <a:rPr lang="en-US" altLang="zh-CN" sz="1800" dirty="0">
                <a:ea typeface="宋体" panose="02010600030101010101" pitchFamily="2" charset="-122"/>
              </a:rPr>
              <a:t>m</a:t>
            </a:r>
            <a:r>
              <a:rPr lang="zh-CN" altLang="en-US" sz="1800" dirty="0">
                <a:ea typeface="宋体" panose="02010600030101010101" pitchFamily="2" charset="-122"/>
              </a:rPr>
              <a:t>阶的</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树和</a:t>
            </a:r>
            <a:r>
              <a:rPr lang="zh-CN" altLang="en-US" sz="1800" dirty="0">
                <a:ea typeface="宋体" panose="02010600030101010101" pitchFamily="2" charset="-122"/>
              </a:rPr>
              <a:t>一棵</a:t>
            </a:r>
            <a:r>
              <a:rPr lang="en-US" altLang="zh-CN" sz="1800" dirty="0">
                <a:ea typeface="宋体" panose="02010600030101010101" pitchFamily="2" charset="-122"/>
              </a:rPr>
              <a:t>m</a:t>
            </a:r>
            <a:r>
              <a:rPr lang="zh-CN" altLang="en-US" sz="1800" dirty="0">
                <a:ea typeface="宋体" panose="02010600030101010101" pitchFamily="2" charset="-122"/>
              </a:rPr>
              <a:t>阶的</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树的差异在于：</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① 有</a:t>
            </a:r>
            <a:r>
              <a:rPr lang="en-US" altLang="zh-CN" sz="1800" dirty="0">
                <a:latin typeface="宋体" panose="02010600030101010101" pitchFamily="2" charset="-122"/>
                <a:ea typeface="宋体" panose="02010600030101010101" pitchFamily="2" charset="-122"/>
              </a:rPr>
              <a:t>n</a:t>
            </a:r>
            <a:r>
              <a:rPr lang="zh-CN" altLang="en-US" sz="1800" dirty="0">
                <a:latin typeface="宋体" panose="02010600030101010101" pitchFamily="2" charset="-122"/>
                <a:ea typeface="宋体" panose="02010600030101010101" pitchFamily="2" charset="-122"/>
              </a:rPr>
              <a:t>棵子树的结点中含有</a:t>
            </a:r>
            <a:r>
              <a:rPr lang="en-US" altLang="zh-CN" sz="1800" dirty="0">
                <a:latin typeface="宋体" panose="02010600030101010101" pitchFamily="2" charset="-122"/>
                <a:ea typeface="宋体" panose="02010600030101010101" pitchFamily="2" charset="-122"/>
              </a:rPr>
              <a:t>n</a:t>
            </a:r>
            <a:r>
              <a:rPr lang="zh-CN" altLang="en-US" sz="1800" dirty="0">
                <a:latin typeface="宋体" panose="02010600030101010101" pitchFamily="2" charset="-122"/>
                <a:ea typeface="宋体" panose="02010600030101010101" pitchFamily="2" charset="-122"/>
              </a:rPr>
              <a:t>个关键字。</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② 所有的叶子结点中包含了全部关键字信息，及指向含这些关键字记录的指针，且叶子结点本身依关键字的大小自小而大顺序连接。</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③ 所有的非终端结点可以看成是索引部分，结点中仅含有其子树（根结点）中的最大（或最小）关键字。</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   </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树可以进行两种查找运算。</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   注：若从根开始查找时，若非终端结点等于该关键字，并不停止，继续到叶子。</a:t>
            </a:r>
            <a:r>
              <a:rPr lang="zh-CN" altLang="en-US" sz="1800" dirty="0">
                <a:ea typeface="宋体" panose="02010600030101010101" pitchFamily="2" charset="-122"/>
              </a:rPr>
              <a:t> </a:t>
            </a:r>
            <a:endParaRPr lang="zh-CN" altLang="en-US"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ts val="3000"/>
              </a:lnSpc>
            </a:pPr>
            <a:r>
              <a:rPr lang="zh-CN" altLang="en-US" sz="1800" dirty="0" smtClean="0">
                <a:latin typeface="宋体" panose="02010600030101010101" pitchFamily="2" charset="-122"/>
                <a:ea typeface="宋体" panose="02010600030101010101" pitchFamily="2" charset="-122"/>
              </a:rPr>
              <a:t>四</a:t>
            </a:r>
            <a:r>
              <a:rPr lang="zh-CN" altLang="en-US" sz="1800" dirty="0">
                <a:latin typeface="宋体" panose="02010600030101010101" pitchFamily="2" charset="-122"/>
                <a:ea typeface="宋体" panose="02010600030101010101" pitchFamily="2" charset="-122"/>
              </a:rPr>
              <a:t>．</a:t>
            </a:r>
            <a:r>
              <a:rPr lang="en-US" altLang="zh-CN" sz="1800" dirty="0">
                <a:latin typeface="宋体" panose="02010600030101010101" pitchFamily="2" charset="-122"/>
                <a:ea typeface="宋体" panose="02010600030101010101" pitchFamily="2" charset="-122"/>
              </a:rPr>
              <a:t>B+</a:t>
            </a:r>
            <a:r>
              <a:rPr lang="zh-CN" altLang="en-US" sz="1800" dirty="0">
                <a:latin typeface="宋体" panose="02010600030101010101" pitchFamily="2" charset="-122"/>
                <a:ea typeface="宋体" panose="02010600030101010101" pitchFamily="2" charset="-122"/>
              </a:rPr>
              <a:t>树</a:t>
            </a:r>
            <a:endParaRPr lang="zh-CN" altLang="en-US" sz="1800" dirty="0">
              <a:ea typeface="宋体" panose="02010600030101010101" pitchFamily="2" charset="-122"/>
            </a:endParaRPr>
          </a:p>
          <a:p>
            <a:pPr marL="0" lvl="2">
              <a:lnSpc>
                <a:spcPts val="3000"/>
              </a:lnSpc>
            </a:pPr>
            <a:r>
              <a:rPr lang="zh-CN" altLang="en-US" sz="1800" dirty="0">
                <a:latin typeface="宋体" panose="02010600030101010101" pitchFamily="2" charset="-122"/>
                <a:ea typeface="宋体" panose="02010600030101010101" pitchFamily="2" charset="-122"/>
              </a:rPr>
              <a:t>  </a:t>
            </a:r>
            <a:endParaRPr lang="zh-CN" altLang="en-US" sz="1800" dirty="0">
              <a:ea typeface="宋体" panose="0201060003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smtClean="0"/>
              <a:t>8.2 </a:t>
            </a:r>
            <a:r>
              <a:rPr lang="zh-CN" altLang="en-US" dirty="0" smtClean="0"/>
              <a:t>动态查找表</a:t>
            </a:r>
            <a:endParaRPr lang="zh-CN" altLang="en-US" dirty="0"/>
          </a:p>
        </p:txBody>
      </p:sp>
      <p:graphicFrame>
        <p:nvGraphicFramePr>
          <p:cNvPr id="5" name="对象 4"/>
          <p:cNvGraphicFramePr/>
          <p:nvPr>
            <p:custDataLst>
              <p:tags r:id="rId1"/>
            </p:custDataLst>
          </p:nvPr>
        </p:nvGraphicFramePr>
        <p:xfrm>
          <a:off x="1745615" y="1134745"/>
          <a:ext cx="5652770" cy="3002915"/>
        </p:xfrm>
        <a:graphic>
          <a:graphicData uri="http://schemas.openxmlformats.org/presentationml/2006/ole">
            <mc:AlternateContent xmlns:mc="http://schemas.openxmlformats.org/markup-compatibility/2006">
              <mc:Choice xmlns:v="urn:schemas-microsoft-com:vml" Requires="v">
                <p:oleObj spid="_x0000_s6" name="" r:id="rId2" imgW="5648325" imgH="3000375" progId="Paint.Picture">
                  <p:embed/>
                </p:oleObj>
              </mc:Choice>
              <mc:Fallback>
                <p:oleObj name="" r:id="rId2" imgW="5648325" imgH="3000375" progId="Paint.Picture">
                  <p:embed/>
                  <p:pic>
                    <p:nvPicPr>
                      <p:cNvPr id="0" name="图片 5"/>
                      <p:cNvPicPr/>
                      <p:nvPr/>
                    </p:nvPicPr>
                    <p:blipFill>
                      <a:blip r:embed="rId3"/>
                      <a:stretch>
                        <a:fillRect/>
                      </a:stretch>
                    </p:blipFill>
                    <p:spPr>
                      <a:xfrm>
                        <a:off x="1745615" y="1134745"/>
                        <a:ext cx="5652770" cy="3002915"/>
                      </a:xfrm>
                      <a:prstGeom prst="rect">
                        <a:avLst/>
                      </a:prstGeom>
                    </p:spPr>
                  </p:pic>
                </p:oleObj>
              </mc:Fallback>
            </mc:AlternateContent>
          </a:graphicData>
        </a:graphic>
      </p:graphicFrame>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pt-BR" dirty="0" smtClean="0"/>
              <a:t>已知</a:t>
            </a:r>
            <a:r>
              <a:rPr lang="zh-CN" altLang="pt-BR" dirty="0"/>
              <a:t>的几种查找方法：</a:t>
            </a:r>
            <a:endParaRPr lang="pt-BR" altLang="zh-CN" dirty="0"/>
          </a:p>
          <a:p>
            <a:pPr marL="342900" lvl="3" indent="-342900"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顺序查找                         </a:t>
            </a:r>
            <a:r>
              <a:rPr lang="en-US" altLang="zh-CN" sz="2100" dirty="0">
                <a:solidFill>
                  <a:srgbClr val="00194C"/>
                </a:solidFill>
                <a:latin typeface="华文楷体" panose="02010600040101010101" pitchFamily="2" charset="-122"/>
                <a:ea typeface="华文楷体" panose="02010600040101010101" pitchFamily="2" charset="-122"/>
              </a:rPr>
              <a:t>O(N) </a:t>
            </a:r>
            <a:endParaRPr lang="zh-CN" altLang="en-US" sz="2100" dirty="0">
              <a:solidFill>
                <a:srgbClr val="00194C"/>
              </a:solidFill>
              <a:latin typeface="华文楷体" panose="02010600040101010101" pitchFamily="2" charset="-122"/>
              <a:ea typeface="华文楷体" panose="02010600040101010101" pitchFamily="2" charset="-122"/>
            </a:endParaRPr>
          </a:p>
          <a:p>
            <a:pPr marL="342900" lvl="3" indent="-342900"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二分查找（静态查找） </a:t>
            </a:r>
            <a:r>
              <a:rPr lang="pt-BR" altLang="zh-CN" sz="2100" dirty="0">
                <a:solidFill>
                  <a:srgbClr val="00194C"/>
                </a:solidFill>
                <a:latin typeface="华文楷体" panose="02010600040101010101" pitchFamily="2" charset="-122"/>
                <a:ea typeface="华文楷体" panose="02010600040101010101" pitchFamily="2" charset="-122"/>
              </a:rPr>
              <a:t>O (log </a:t>
            </a:r>
            <a:r>
              <a:rPr lang="pt-BR" altLang="zh-CN" sz="2100" baseline="-25000" dirty="0">
                <a:solidFill>
                  <a:srgbClr val="00194C"/>
                </a:solidFill>
                <a:latin typeface="华文楷体" panose="02010600040101010101" pitchFamily="2" charset="-122"/>
                <a:ea typeface="华文楷体" panose="02010600040101010101" pitchFamily="2" charset="-122"/>
              </a:rPr>
              <a:t>2</a:t>
            </a:r>
            <a:r>
              <a:rPr lang="pt-BR" altLang="zh-CN" sz="2100" dirty="0">
                <a:solidFill>
                  <a:srgbClr val="00194C"/>
                </a:solidFill>
                <a:latin typeface="华文楷体" panose="02010600040101010101" pitchFamily="2" charset="-122"/>
                <a:ea typeface="华文楷体" panose="02010600040101010101" pitchFamily="2" charset="-122"/>
              </a:rPr>
              <a:t> N)</a:t>
            </a:r>
            <a:endParaRPr lang="zh-CN" altLang="en-US" sz="2100" dirty="0">
              <a:solidFill>
                <a:srgbClr val="00194C"/>
              </a:solidFill>
              <a:latin typeface="华文楷体" panose="02010600040101010101" pitchFamily="2" charset="-122"/>
              <a:ea typeface="华文楷体" panose="02010600040101010101" pitchFamily="2" charset="-122"/>
            </a:endParaRPr>
          </a:p>
          <a:p>
            <a:pPr marL="342900" lvl="3" indent="-342900"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二叉排序树                     </a:t>
            </a:r>
            <a:r>
              <a:rPr lang="en-US" altLang="zh-CN" sz="2100" dirty="0">
                <a:solidFill>
                  <a:srgbClr val="00194C"/>
                </a:solidFill>
                <a:latin typeface="华文楷体" panose="02010600040101010101" pitchFamily="2" charset="-122"/>
                <a:ea typeface="华文楷体" panose="02010600040101010101" pitchFamily="2" charset="-122"/>
              </a:rPr>
              <a:t>O(</a:t>
            </a:r>
            <a:r>
              <a:rPr lang="pt-BR" altLang="zh-CN" sz="2100" dirty="0">
                <a:solidFill>
                  <a:srgbClr val="00194C"/>
                </a:solidFill>
                <a:latin typeface="华文楷体" panose="02010600040101010101" pitchFamily="2" charset="-122"/>
                <a:ea typeface="华文楷体" panose="02010600040101010101" pitchFamily="2" charset="-122"/>
              </a:rPr>
              <a:t>h</a:t>
            </a:r>
            <a:r>
              <a:rPr lang="en-US" altLang="zh-CN" sz="2100" dirty="0">
                <a:solidFill>
                  <a:srgbClr val="00194C"/>
                </a:solidFill>
                <a:latin typeface="华文楷体" panose="02010600040101010101" pitchFamily="2" charset="-122"/>
                <a:ea typeface="华文楷体" panose="02010600040101010101" pitchFamily="2" charset="-122"/>
              </a:rPr>
              <a:t>) </a:t>
            </a:r>
            <a:endParaRPr lang="zh-CN" altLang="en-US" sz="2100" dirty="0">
              <a:solidFill>
                <a:srgbClr val="00194C"/>
              </a:solidFill>
              <a:latin typeface="华文楷体" panose="02010600040101010101" pitchFamily="2" charset="-122"/>
              <a:ea typeface="华文楷体" panose="02010600040101010101" pitchFamily="2" charset="-122"/>
            </a:endParaRPr>
          </a:p>
          <a:p>
            <a:pPr marL="342900" lvl="3" indent="-342900"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平衡二叉排序树 	</a:t>
            </a:r>
            <a:r>
              <a:rPr lang="pt-BR" altLang="zh-CN" sz="2100" dirty="0">
                <a:solidFill>
                  <a:srgbClr val="00194C"/>
                </a:solidFill>
                <a:latin typeface="华文楷体" panose="02010600040101010101" pitchFamily="2" charset="-122"/>
                <a:ea typeface="华文楷体" panose="02010600040101010101" pitchFamily="2" charset="-122"/>
              </a:rPr>
              <a:t>     O (log </a:t>
            </a:r>
            <a:r>
              <a:rPr lang="pt-BR" altLang="zh-CN" sz="2100" baseline="-25000" dirty="0">
                <a:solidFill>
                  <a:srgbClr val="00194C"/>
                </a:solidFill>
                <a:latin typeface="华文楷体" panose="02010600040101010101" pitchFamily="2" charset="-122"/>
                <a:ea typeface="华文楷体" panose="02010600040101010101" pitchFamily="2" charset="-122"/>
              </a:rPr>
              <a:t>2</a:t>
            </a:r>
            <a:r>
              <a:rPr lang="pt-BR" altLang="zh-CN" sz="2100" dirty="0">
                <a:solidFill>
                  <a:srgbClr val="00194C"/>
                </a:solidFill>
                <a:latin typeface="华文楷体" panose="02010600040101010101" pitchFamily="2" charset="-122"/>
                <a:ea typeface="华文楷体" panose="02010600040101010101" pitchFamily="2" charset="-122"/>
              </a:rPr>
              <a:t> N)</a:t>
            </a:r>
            <a:endParaRPr lang="pt-BR" altLang="zh-CN" sz="2100" dirty="0">
              <a:solidFill>
                <a:srgbClr val="00194C"/>
              </a:solidFill>
              <a:latin typeface="华文楷体" panose="02010600040101010101" pitchFamily="2" charset="-122"/>
              <a:ea typeface="华文楷体" panose="02010600040101010101" pitchFamily="2" charset="-122"/>
            </a:endParaRPr>
          </a:p>
          <a:p>
            <a:pPr marL="342900" indent="-342900">
              <a:buFont typeface="Wingdings" panose="05000000000000000000" charset="0"/>
              <a:buChar char="Ø"/>
            </a:pPr>
            <a:r>
              <a:rPr sz="2100" dirty="0">
                <a:solidFill>
                  <a:srgbClr val="00194C"/>
                </a:solidFill>
                <a:latin typeface="华文楷体" panose="02010600040101010101" pitchFamily="2" charset="-122"/>
                <a:ea typeface="华文楷体" panose="02010600040101010101" pitchFamily="2" charset="-122"/>
              </a:rPr>
              <a:t>B树                                  </a:t>
            </a:r>
            <a:r>
              <a:rPr lang="en-US" altLang="zh-CN" sz="2100">
                <a:solidFill>
                  <a:srgbClr val="00194C"/>
                </a:solidFill>
                <a:latin typeface="华文楷体" panose="02010600040101010101" pitchFamily="2" charset="-122"/>
                <a:ea typeface="华文楷体" panose="02010600040101010101" pitchFamily="2" charset="-122"/>
                <a:sym typeface="+mn-ea"/>
              </a:rPr>
              <a:t>O(</a:t>
            </a:r>
            <a:r>
              <a:rPr lang="pt-BR" altLang="zh-CN" sz="2100">
                <a:solidFill>
                  <a:srgbClr val="00194C"/>
                </a:solidFill>
                <a:latin typeface="华文楷体" panose="02010600040101010101" pitchFamily="2" charset="-122"/>
                <a:ea typeface="华文楷体" panose="02010600040101010101" pitchFamily="2" charset="-122"/>
                <a:sym typeface="+mn-ea"/>
              </a:rPr>
              <a:t>h</a:t>
            </a:r>
            <a:r>
              <a:rPr lang="en-US" altLang="zh-CN" sz="2100">
                <a:solidFill>
                  <a:srgbClr val="00194C"/>
                </a:solidFill>
                <a:latin typeface="华文楷体" panose="02010600040101010101" pitchFamily="2" charset="-122"/>
                <a:ea typeface="华文楷体" panose="02010600040101010101" pitchFamily="2" charset="-122"/>
                <a:sym typeface="+mn-ea"/>
              </a:rPr>
              <a:t>) </a:t>
            </a:r>
            <a:endParaRPr lang="en-US" altLang="zh-CN" sz="2100">
              <a:solidFill>
                <a:srgbClr val="00194C"/>
              </a:solidFill>
              <a:latin typeface="华文楷体" panose="02010600040101010101" pitchFamily="2" charset="-122"/>
              <a:ea typeface="华文楷体" panose="02010600040101010101" pitchFamily="2" charset="-122"/>
              <a:sym typeface="+mn-ea"/>
            </a:endParaRPr>
          </a:p>
          <a:p>
            <a:pPr marL="342900" indent="-342900">
              <a:buFont typeface="Wingdings" panose="05000000000000000000" charset="0"/>
              <a:buChar char="Ø"/>
            </a:pPr>
            <a:endParaRPr sz="2100" dirty="0">
              <a:solidFill>
                <a:srgbClr val="00194C"/>
              </a:solidFill>
              <a:latin typeface="华文楷体" panose="02010600040101010101" pitchFamily="2" charset="-122"/>
              <a:ea typeface="华文楷体" panose="02010600040101010101" pitchFamily="2" charset="-122"/>
            </a:endParaRPr>
          </a:p>
          <a:p>
            <a:r>
              <a:rPr lang="zh-CN" altLang="en-US" dirty="0"/>
              <a:t>还有其他方法吗</a:t>
            </a:r>
            <a:r>
              <a:rPr lang="en-US" altLang="zh-CN" dirty="0"/>
              <a:t>? </a:t>
            </a:r>
            <a:endParaRPr lang="zh-CN" altLang="en-US" dirty="0"/>
          </a:p>
          <a:p>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en-US" altLang="zh-CN" dirty="0" smtClean="0"/>
              <a:t>【</a:t>
            </a:r>
            <a:r>
              <a:rPr lang="zh-CN" altLang="en-US" dirty="0" smtClean="0"/>
              <a:t>例</a:t>
            </a:r>
            <a:r>
              <a:rPr lang="en-US" altLang="zh-CN" dirty="0" smtClean="0"/>
              <a:t>】</a:t>
            </a:r>
            <a:r>
              <a:rPr lang="zh-CN" altLang="en-US" dirty="0" smtClean="0"/>
              <a:t>在</a:t>
            </a:r>
            <a:r>
              <a:rPr lang="zh-CN" altLang="en-US" dirty="0"/>
              <a:t>登录</a:t>
            </a:r>
            <a:r>
              <a:rPr lang="en-US" altLang="zh-CN" dirty="0"/>
              <a:t>QQ</a:t>
            </a:r>
            <a:r>
              <a:rPr lang="zh-CN" altLang="en-US" dirty="0"/>
              <a:t>的时候，</a:t>
            </a:r>
            <a:r>
              <a:rPr lang="en-US" altLang="zh-CN" dirty="0"/>
              <a:t>QQ</a:t>
            </a:r>
            <a:r>
              <a:rPr lang="zh-CN" altLang="en-US" dirty="0"/>
              <a:t>服务器是如何核对你的身份？面对庞大的用户</a:t>
            </a:r>
            <a:r>
              <a:rPr lang="zh-CN" altLang="en-US" dirty="0" smtClean="0"/>
              <a:t>群，如何</a:t>
            </a:r>
            <a:r>
              <a:rPr lang="zh-CN" altLang="en-US" dirty="0"/>
              <a:t>快速找到用户</a:t>
            </a:r>
            <a:r>
              <a:rPr lang="zh-CN" altLang="en-US" dirty="0" smtClean="0"/>
              <a:t>信息？</a:t>
            </a:r>
            <a:r>
              <a:rPr lang="en-US" altLang="zh-CN" dirty="0" smtClean="0"/>
              <a:t> </a:t>
            </a:r>
            <a:endParaRPr lang="en-US" altLang="zh-CN" dirty="0"/>
          </a:p>
          <a:p>
            <a:pPr lvl="2"/>
            <a:endParaRPr lang="en-US" altLang="zh-CN" dirty="0"/>
          </a:p>
          <a:p>
            <a:pPr lvl="2"/>
            <a:r>
              <a:rPr lang="en-US" altLang="zh-CN" dirty="0"/>
              <a:t>【</a:t>
            </a:r>
            <a:r>
              <a:rPr lang="zh-CN" altLang="en-US" dirty="0"/>
              <a:t>分析</a:t>
            </a:r>
            <a:r>
              <a:rPr lang="en-US" altLang="zh-CN" dirty="0"/>
              <a:t>】</a:t>
            </a:r>
            <a:r>
              <a:rPr lang="zh-CN" altLang="en-US" dirty="0"/>
              <a:t>看看是否可以用</a:t>
            </a:r>
            <a:r>
              <a:rPr lang="zh-CN" altLang="en-US" dirty="0">
                <a:solidFill>
                  <a:srgbClr val="C00000"/>
                </a:solidFill>
              </a:rPr>
              <a:t>二分法</a:t>
            </a:r>
            <a:r>
              <a:rPr lang="zh-CN" altLang="en-US" dirty="0"/>
              <a:t>查找。 </a:t>
            </a:r>
            <a:endParaRPr lang="zh-CN" altLang="en-US" dirty="0"/>
          </a:p>
          <a:p>
            <a:pPr lvl="2"/>
            <a:r>
              <a:rPr lang="zh-CN" altLang="en-US" dirty="0"/>
              <a:t> 十亿（</a:t>
            </a:r>
            <a:r>
              <a:rPr lang="en-US" altLang="zh-CN" dirty="0"/>
              <a:t>10</a:t>
            </a:r>
            <a:r>
              <a:rPr lang="en-US" altLang="zh-CN" baseline="30000" dirty="0"/>
              <a:t>9</a:t>
            </a:r>
            <a:r>
              <a:rPr lang="en-US" altLang="zh-CN" dirty="0"/>
              <a:t> </a:t>
            </a:r>
            <a:r>
              <a:rPr lang="zh-CN" altLang="en-US" dirty="0"/>
              <a:t>≈ </a:t>
            </a:r>
            <a:r>
              <a:rPr lang="en-US" altLang="zh-CN" dirty="0"/>
              <a:t>2</a:t>
            </a:r>
            <a:r>
              <a:rPr lang="en-US" altLang="zh-CN" baseline="30000" dirty="0"/>
              <a:t>30</a:t>
            </a:r>
            <a:r>
              <a:rPr lang="zh-CN" altLang="en-US" dirty="0"/>
              <a:t>）有效用户，用二分查找</a:t>
            </a:r>
            <a:r>
              <a:rPr lang="en-US" altLang="zh-CN" dirty="0">
                <a:solidFill>
                  <a:srgbClr val="C00000"/>
                </a:solidFill>
              </a:rPr>
              <a:t>30</a:t>
            </a:r>
            <a:r>
              <a:rPr lang="zh-CN" altLang="en-US" dirty="0"/>
              <a:t>次。 </a:t>
            </a:r>
            <a:endParaRPr lang="zh-CN" altLang="en-US" dirty="0"/>
          </a:p>
          <a:p>
            <a:pPr lvl="2"/>
            <a:r>
              <a:rPr lang="zh-CN" altLang="en-US" dirty="0"/>
              <a:t> 十亿（</a:t>
            </a:r>
            <a:r>
              <a:rPr lang="en-US" altLang="zh-CN" dirty="0"/>
              <a:t>10</a:t>
            </a:r>
            <a:r>
              <a:rPr lang="en-US" altLang="zh-CN" baseline="30000" dirty="0"/>
              <a:t>9 </a:t>
            </a:r>
            <a:r>
              <a:rPr lang="zh-CN" altLang="en-US" dirty="0"/>
              <a:t>≈ </a:t>
            </a:r>
            <a:r>
              <a:rPr lang="en-US" altLang="zh-CN" dirty="0"/>
              <a:t>2</a:t>
            </a:r>
            <a:r>
              <a:rPr lang="en-US" altLang="zh-CN" baseline="30000" dirty="0"/>
              <a:t>30</a:t>
            </a:r>
            <a:r>
              <a:rPr lang="zh-CN" altLang="en-US" dirty="0"/>
              <a:t>） </a:t>
            </a:r>
            <a:r>
              <a:rPr lang="en-US" altLang="zh-CN" dirty="0"/>
              <a:t>× 1K ≈ 1024G</a:t>
            </a:r>
            <a:r>
              <a:rPr lang="zh-CN" altLang="en-US" dirty="0"/>
              <a:t>，</a:t>
            </a:r>
            <a:r>
              <a:rPr lang="en-US" altLang="zh-CN" dirty="0">
                <a:solidFill>
                  <a:srgbClr val="C00000"/>
                </a:solidFill>
              </a:rPr>
              <a:t>1T</a:t>
            </a:r>
            <a:r>
              <a:rPr lang="zh-CN" altLang="en-US" dirty="0"/>
              <a:t>连续空间。 </a:t>
            </a:r>
            <a:endParaRPr lang="zh-CN" altLang="en-US" dirty="0"/>
          </a:p>
          <a:p>
            <a:pPr lvl="2"/>
            <a:r>
              <a:rPr lang="zh-CN" altLang="en-US" dirty="0"/>
              <a:t> 按有效</a:t>
            </a:r>
            <a:r>
              <a:rPr lang="en-US" altLang="zh-CN" dirty="0"/>
              <a:t>QQ</a:t>
            </a:r>
            <a:r>
              <a:rPr lang="zh-CN" altLang="en-US" dirty="0"/>
              <a:t>号大小有序存储：在连续存储空间中，</a:t>
            </a:r>
            <a:r>
              <a:rPr lang="zh-CN" altLang="en-US" dirty="0">
                <a:solidFill>
                  <a:srgbClr val="C00000"/>
                </a:solidFill>
              </a:rPr>
              <a:t>插入</a:t>
            </a:r>
            <a:r>
              <a:rPr lang="zh-CN" altLang="en-US" dirty="0"/>
              <a:t>和</a:t>
            </a:r>
            <a:r>
              <a:rPr lang="zh-CN" altLang="en-US" dirty="0">
                <a:solidFill>
                  <a:srgbClr val="C00000"/>
                </a:solidFill>
              </a:rPr>
              <a:t>删除</a:t>
            </a:r>
            <a:r>
              <a:rPr lang="zh-CN" altLang="en-US" dirty="0"/>
              <a:t>一个新</a:t>
            </a:r>
            <a:r>
              <a:rPr lang="en-US" altLang="zh-CN" dirty="0"/>
              <a:t>QQ</a:t>
            </a:r>
            <a:r>
              <a:rPr lang="zh-CN" altLang="en-US" dirty="0"/>
              <a:t>号码将需要</a:t>
            </a:r>
            <a:r>
              <a:rPr lang="zh-CN" altLang="en-US" dirty="0">
                <a:solidFill>
                  <a:srgbClr val="C00000"/>
                </a:solidFill>
              </a:rPr>
              <a:t>移动大量数据</a:t>
            </a:r>
            <a:r>
              <a:rPr lang="zh-CN" altLang="en-US" dirty="0" smtClean="0"/>
              <a:t>。</a:t>
            </a:r>
            <a:r>
              <a:rPr lang="zh-CN" altLang="en-US" dirty="0" smtClean="0">
                <a:solidFill>
                  <a:srgbClr val="FF0000"/>
                </a:solidFill>
              </a:rPr>
              <a:t>（</a:t>
            </a:r>
            <a:r>
              <a:rPr lang="zh-CN" altLang="en-US" dirty="0">
                <a:solidFill>
                  <a:srgbClr val="FF0000"/>
                </a:solidFill>
              </a:rPr>
              <a:t>不合适）</a:t>
            </a:r>
            <a:endParaRPr lang="zh-CN" altLang="en-US" dirty="0">
              <a:solidFill>
                <a:srgbClr val="FF0000"/>
              </a:solidFill>
            </a:endParaRPr>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en-US" altLang="zh-CN" dirty="0" smtClean="0"/>
              <a:t>【</a:t>
            </a:r>
            <a:r>
              <a:rPr lang="zh-CN" altLang="en-US" dirty="0"/>
              <a:t>问题</a:t>
            </a:r>
            <a:r>
              <a:rPr lang="en-US" altLang="zh-CN" dirty="0"/>
              <a:t>】</a:t>
            </a:r>
            <a:r>
              <a:rPr lang="zh-CN" altLang="en-US" dirty="0"/>
              <a:t>如何快速搜索到需要的关键词？如果关键词不方便比较怎么办？ </a:t>
            </a:r>
            <a:endParaRPr lang="zh-CN" altLang="en-US" dirty="0"/>
          </a:p>
          <a:p>
            <a:pPr marL="342900" lvl="2" indent="-342900">
              <a:buFont typeface="Wingdings" panose="05000000000000000000" pitchFamily="2" charset="2"/>
              <a:buChar char="p"/>
            </a:pPr>
            <a:r>
              <a:rPr lang="zh-CN" altLang="en-US" dirty="0" smtClean="0">
                <a:solidFill>
                  <a:srgbClr val="FF0000"/>
                </a:solidFill>
              </a:rPr>
              <a:t>查找</a:t>
            </a:r>
            <a:r>
              <a:rPr lang="zh-CN" altLang="en-US" dirty="0">
                <a:solidFill>
                  <a:srgbClr val="FF0000"/>
                </a:solidFill>
              </a:rPr>
              <a:t>的本质</a:t>
            </a:r>
            <a:r>
              <a:rPr lang="en-US" altLang="zh-CN" dirty="0"/>
              <a:t>: </a:t>
            </a:r>
            <a:r>
              <a:rPr lang="zh-CN" altLang="en-US" dirty="0"/>
              <a:t>已知对象找位置。 </a:t>
            </a:r>
            <a:endParaRPr lang="zh-CN" altLang="en-US" dirty="0"/>
          </a:p>
          <a:p>
            <a:pPr marL="342900" lvl="3" indent="-73025"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有序安排对象：全序、半序 </a:t>
            </a:r>
            <a:endParaRPr lang="zh-CN" altLang="en-US" sz="2100" dirty="0">
              <a:solidFill>
                <a:srgbClr val="00194C"/>
              </a:solidFill>
              <a:latin typeface="华文楷体" panose="02010600040101010101" pitchFamily="2" charset="-122"/>
              <a:ea typeface="华文楷体" panose="02010600040101010101" pitchFamily="2" charset="-122"/>
            </a:endParaRPr>
          </a:p>
          <a:p>
            <a:pPr marL="342900" lvl="3" indent="-73025" eaLnBrk="0" fontAlgn="base" hangingPunct="0">
              <a:spcBef>
                <a:spcPts val="600"/>
              </a:spcBef>
              <a:spcAft>
                <a:spcPct val="0"/>
              </a:spcAft>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直接“算出”对象位置：</a:t>
            </a:r>
            <a:r>
              <a:rPr lang="zh-CN" altLang="en-US" sz="2100" dirty="0">
                <a:solidFill>
                  <a:srgbClr val="FF0000"/>
                </a:solidFill>
                <a:latin typeface="华文楷体" panose="02010600040101010101" pitchFamily="2" charset="-122"/>
                <a:ea typeface="华文楷体" panose="02010600040101010101" pitchFamily="2" charset="-122"/>
              </a:rPr>
              <a:t>散</a:t>
            </a:r>
            <a:r>
              <a:rPr lang="zh-CN" altLang="en-US" sz="2100" dirty="0" smtClean="0">
                <a:solidFill>
                  <a:srgbClr val="FF0000"/>
                </a:solidFill>
                <a:latin typeface="华文楷体" panose="02010600040101010101" pitchFamily="2" charset="-122"/>
                <a:ea typeface="华文楷体" panose="02010600040101010101" pitchFamily="2" charset="-122"/>
              </a:rPr>
              <a:t>列（哈希）</a:t>
            </a:r>
            <a:r>
              <a:rPr lang="zh-CN" altLang="en-US" sz="2100" dirty="0" smtClean="0">
                <a:solidFill>
                  <a:srgbClr val="00194C"/>
                </a:solidFill>
                <a:latin typeface="华文楷体" panose="02010600040101010101" pitchFamily="2" charset="-122"/>
                <a:ea typeface="华文楷体" panose="02010600040101010101" pitchFamily="2" charset="-122"/>
              </a:rPr>
              <a:t> </a:t>
            </a:r>
            <a:endParaRPr lang="zh-CN" altLang="en-US" sz="2100" dirty="0" smtClean="0">
              <a:solidFill>
                <a:srgbClr val="00194C"/>
              </a:solidFill>
              <a:latin typeface="华文楷体" panose="02010600040101010101" pitchFamily="2" charset="-122"/>
              <a:ea typeface="华文楷体" panose="02010600040101010101" pitchFamily="2" charset="-122"/>
            </a:endParaRPr>
          </a:p>
          <a:p>
            <a:pPr marL="342900" lvl="2" indent="-342900">
              <a:buFont typeface="Wingdings" panose="05000000000000000000" pitchFamily="2" charset="2"/>
              <a:buChar char="p"/>
            </a:pPr>
            <a:r>
              <a:rPr lang="zh-CN" altLang="en-US" dirty="0" smtClean="0"/>
              <a:t>散列（哈希）查找法的两项基本工作： </a:t>
            </a:r>
            <a:endParaRPr lang="zh-CN" altLang="en-US" dirty="0" smtClean="0"/>
          </a:p>
          <a:p>
            <a:pPr marL="342900" lvl="3" indent="-73025" eaLnBrk="0" fontAlgn="base" hangingPunct="0">
              <a:spcBef>
                <a:spcPts val="600"/>
              </a:spcBef>
              <a:spcAft>
                <a:spcPct val="0"/>
              </a:spcAft>
              <a:buFont typeface="Wingdings" panose="05000000000000000000" pitchFamily="2" charset="2"/>
              <a:buChar char="Ø"/>
            </a:pPr>
            <a:r>
              <a:rPr lang="zh-CN" altLang="en-US" sz="2100" dirty="0">
                <a:solidFill>
                  <a:srgbClr val="FF0000"/>
                </a:solidFill>
                <a:latin typeface="华文楷体" panose="02010600040101010101" pitchFamily="2" charset="-122"/>
                <a:ea typeface="华文楷体" panose="02010600040101010101" pitchFamily="2" charset="-122"/>
              </a:rPr>
              <a:t>计算位置</a:t>
            </a:r>
            <a:r>
              <a:rPr lang="zh-CN" altLang="en-US" sz="2100" dirty="0">
                <a:solidFill>
                  <a:srgbClr val="00194C"/>
                </a:solidFill>
                <a:latin typeface="华文楷体" panose="02010600040101010101" pitchFamily="2" charset="-122"/>
                <a:ea typeface="华文楷体" panose="02010600040101010101" pitchFamily="2" charset="-122"/>
              </a:rPr>
              <a:t>：构造散列函数确定关键词存储位置； </a:t>
            </a:r>
            <a:endParaRPr lang="zh-CN" altLang="en-US" sz="2100" dirty="0">
              <a:solidFill>
                <a:srgbClr val="00194C"/>
              </a:solidFill>
              <a:latin typeface="华文楷体" panose="02010600040101010101" pitchFamily="2" charset="-122"/>
              <a:ea typeface="华文楷体" panose="02010600040101010101" pitchFamily="2" charset="-122"/>
            </a:endParaRPr>
          </a:p>
          <a:p>
            <a:pPr marL="342900" lvl="3" indent="-73025" eaLnBrk="0" fontAlgn="base" hangingPunct="0">
              <a:spcBef>
                <a:spcPts val="600"/>
              </a:spcBef>
              <a:spcAft>
                <a:spcPct val="0"/>
              </a:spcAft>
              <a:buFont typeface="Wingdings" panose="05000000000000000000" pitchFamily="2" charset="2"/>
              <a:buChar char="Ø"/>
            </a:pPr>
            <a:r>
              <a:rPr lang="zh-CN" altLang="en-US" sz="2100" dirty="0">
                <a:solidFill>
                  <a:srgbClr val="FF0000"/>
                </a:solidFill>
                <a:latin typeface="华文楷体" panose="02010600040101010101" pitchFamily="2" charset="-122"/>
                <a:ea typeface="华文楷体" panose="02010600040101010101" pitchFamily="2" charset="-122"/>
              </a:rPr>
              <a:t>解决冲突</a:t>
            </a:r>
            <a:r>
              <a:rPr lang="zh-CN" altLang="en-US" sz="2100" dirty="0">
                <a:solidFill>
                  <a:srgbClr val="00194C"/>
                </a:solidFill>
                <a:latin typeface="华文楷体" panose="02010600040101010101" pitchFamily="2" charset="-122"/>
                <a:ea typeface="华文楷体" panose="02010600040101010101" pitchFamily="2" charset="-122"/>
              </a:rPr>
              <a:t>：应用某种策略解决多个关键词位置相同的问题 </a:t>
            </a:r>
            <a:endParaRPr lang="zh-CN" altLang="en-US" sz="2100" dirty="0">
              <a:solidFill>
                <a:srgbClr val="00194C"/>
              </a:solidFill>
              <a:latin typeface="华文楷体" panose="02010600040101010101" pitchFamily="2" charset="-122"/>
              <a:ea typeface="华文楷体" panose="02010600040101010101" pitchFamily="2" charset="-122"/>
            </a:endParaRPr>
          </a:p>
          <a:p>
            <a:pPr lvl="2"/>
            <a:r>
              <a:rPr lang="zh-CN" altLang="en-US" dirty="0" smtClean="0"/>
              <a:t>时间</a:t>
            </a:r>
            <a:r>
              <a:rPr lang="zh-CN" altLang="en-US" dirty="0"/>
              <a:t>复杂度几乎是常量：</a:t>
            </a:r>
            <a:r>
              <a:rPr lang="en-US" altLang="zh-CN" dirty="0">
                <a:solidFill>
                  <a:srgbClr val="FF0000"/>
                </a:solidFill>
              </a:rPr>
              <a:t>O(1)</a:t>
            </a:r>
            <a:r>
              <a:rPr lang="zh-CN" altLang="en-US" dirty="0"/>
              <a:t>，即查找时间与问题规模无关！ </a:t>
            </a:r>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0"/>
              </a:spcBef>
            </a:pPr>
            <a:r>
              <a:rPr lang="en-US" altLang="zh-CN" dirty="0" smtClean="0"/>
              <a:t>8.3.1</a:t>
            </a:r>
            <a:r>
              <a:rPr lang="zh-CN" altLang="en-US" dirty="0"/>
              <a:t>什么是哈希表</a:t>
            </a:r>
            <a:endParaRPr lang="zh-CN" altLang="en-US" dirty="0"/>
          </a:p>
          <a:p>
            <a:pPr lvl="2">
              <a:lnSpc>
                <a:spcPct val="130000"/>
              </a:lnSpc>
              <a:spcBef>
                <a:spcPct val="0"/>
              </a:spcBef>
            </a:pPr>
            <a:r>
              <a:rPr lang="zh-CN" altLang="en-US" dirty="0" smtClean="0"/>
              <a:t>哈希</a:t>
            </a:r>
            <a:r>
              <a:rPr lang="zh-CN" altLang="en-US" dirty="0"/>
              <a:t>表又称散列表。</a:t>
            </a:r>
            <a:endParaRPr lang="zh-CN" altLang="en-US" dirty="0"/>
          </a:p>
          <a:p>
            <a:pPr lvl="2">
              <a:lnSpc>
                <a:spcPct val="130000"/>
              </a:lnSpc>
              <a:spcBef>
                <a:spcPct val="0"/>
              </a:spcBef>
            </a:pPr>
            <a:r>
              <a:rPr lang="zh-CN" altLang="en-US" dirty="0" smtClean="0"/>
              <a:t>“</a:t>
            </a:r>
            <a:r>
              <a:rPr lang="zh-CN" altLang="en-US" dirty="0"/>
              <a:t>散列（</a:t>
            </a:r>
            <a:r>
              <a:rPr lang="en-US" altLang="zh-CN" dirty="0"/>
              <a:t>Hashing</a:t>
            </a:r>
            <a:r>
              <a:rPr lang="zh-CN" altLang="en-US" dirty="0"/>
              <a:t>）”的基本思想是： </a:t>
            </a:r>
            <a:endParaRPr lang="zh-CN" altLang="en-US" dirty="0"/>
          </a:p>
          <a:p>
            <a:pPr lvl="2">
              <a:lnSpc>
                <a:spcPct val="130000"/>
              </a:lnSpc>
              <a:spcBef>
                <a:spcPct val="0"/>
              </a:spcBef>
            </a:pPr>
            <a:r>
              <a:rPr lang="zh-CN" altLang="en-US" dirty="0"/>
              <a:t>（</a:t>
            </a:r>
            <a:r>
              <a:rPr lang="en-US" altLang="zh-CN" dirty="0"/>
              <a:t>1</a:t>
            </a:r>
            <a:r>
              <a:rPr lang="zh-CN" altLang="en-US" dirty="0"/>
              <a:t>）以关键字</a:t>
            </a:r>
            <a:r>
              <a:rPr lang="en-US" altLang="zh-CN" dirty="0">
                <a:solidFill>
                  <a:srgbClr val="FF0000"/>
                </a:solidFill>
              </a:rPr>
              <a:t>key</a:t>
            </a:r>
            <a:r>
              <a:rPr lang="zh-CN" altLang="en-US" dirty="0"/>
              <a:t>为自变量，通过一个确定的</a:t>
            </a:r>
            <a:r>
              <a:rPr lang="zh-CN" altLang="en-US" dirty="0" smtClean="0"/>
              <a:t>函数</a:t>
            </a:r>
            <a:r>
              <a:rPr lang="en-US" altLang="zh-CN" dirty="0" smtClean="0"/>
              <a:t>h</a:t>
            </a:r>
            <a:r>
              <a:rPr lang="zh-CN" altLang="en-US" dirty="0"/>
              <a:t>（散列函数），计算出对应的函数值</a:t>
            </a:r>
            <a:r>
              <a:rPr lang="en-US" altLang="zh-CN" dirty="0">
                <a:solidFill>
                  <a:srgbClr val="FF0000"/>
                </a:solidFill>
              </a:rPr>
              <a:t>h(key)</a:t>
            </a:r>
            <a:r>
              <a:rPr lang="zh-CN" altLang="en-US" dirty="0"/>
              <a:t>，作为数据对象的存储地址。 </a:t>
            </a:r>
            <a:endParaRPr lang="zh-CN" altLang="en-US" dirty="0"/>
          </a:p>
          <a:p>
            <a:pPr lvl="2">
              <a:lnSpc>
                <a:spcPct val="130000"/>
              </a:lnSpc>
              <a:spcBef>
                <a:spcPct val="0"/>
              </a:spcBef>
            </a:pPr>
            <a:r>
              <a:rPr lang="zh-CN" altLang="en-US" dirty="0"/>
              <a:t>（</a:t>
            </a:r>
            <a:r>
              <a:rPr lang="en-US" altLang="zh-CN" dirty="0"/>
              <a:t>2</a:t>
            </a:r>
            <a:r>
              <a:rPr lang="zh-CN" altLang="en-US" dirty="0"/>
              <a:t>）可能不同的关键字会映射到同一个散列地址上， </a:t>
            </a:r>
            <a:endParaRPr lang="zh-CN" altLang="en-US" dirty="0"/>
          </a:p>
          <a:p>
            <a:pPr lvl="2">
              <a:lnSpc>
                <a:spcPct val="130000"/>
              </a:lnSpc>
              <a:spcBef>
                <a:spcPct val="0"/>
              </a:spcBef>
            </a:pPr>
            <a:r>
              <a:rPr lang="zh-CN" altLang="en-US" dirty="0"/>
              <a:t>  即</a:t>
            </a:r>
            <a:r>
              <a:rPr lang="en-US" altLang="zh-CN" dirty="0"/>
              <a:t>h(</a:t>
            </a:r>
            <a:r>
              <a:rPr lang="en-US" altLang="zh-CN" dirty="0" err="1"/>
              <a:t>key</a:t>
            </a:r>
            <a:r>
              <a:rPr lang="en-US" altLang="zh-CN" baseline="-25000" dirty="0" err="1"/>
              <a:t>i</a:t>
            </a:r>
            <a:r>
              <a:rPr lang="en-US" altLang="zh-CN" dirty="0"/>
              <a:t>) = h(</a:t>
            </a:r>
            <a:r>
              <a:rPr lang="en-US" altLang="zh-CN" dirty="0" err="1"/>
              <a:t>key</a:t>
            </a:r>
            <a:r>
              <a:rPr lang="en-US" altLang="zh-CN" baseline="-25000" dirty="0" err="1"/>
              <a:t>j</a:t>
            </a:r>
            <a:r>
              <a:rPr lang="en-US" altLang="zh-CN" dirty="0"/>
              <a:t>)</a:t>
            </a:r>
            <a:r>
              <a:rPr lang="zh-CN" altLang="en-US" dirty="0"/>
              <a:t>（当</a:t>
            </a:r>
            <a:r>
              <a:rPr lang="en-US" altLang="zh-CN" dirty="0" err="1"/>
              <a:t>key</a:t>
            </a:r>
            <a:r>
              <a:rPr lang="en-US" altLang="zh-CN" baseline="-25000" dirty="0" err="1"/>
              <a:t>i</a:t>
            </a:r>
            <a:r>
              <a:rPr lang="en-US" altLang="zh-CN" dirty="0"/>
              <a:t> ≠</a:t>
            </a:r>
            <a:r>
              <a:rPr lang="en-US" altLang="zh-CN" dirty="0" err="1"/>
              <a:t>key</a:t>
            </a:r>
            <a:r>
              <a:rPr lang="en-US" altLang="zh-CN" baseline="-25000" dirty="0" err="1"/>
              <a:t>j</a:t>
            </a:r>
            <a:r>
              <a:rPr lang="zh-CN" altLang="en-US" dirty="0"/>
              <a:t>），称为</a:t>
            </a:r>
            <a:r>
              <a:rPr lang="zh-CN" altLang="en-US" dirty="0">
                <a:solidFill>
                  <a:srgbClr val="FF0000"/>
                </a:solidFill>
              </a:rPr>
              <a:t>“冲突</a:t>
            </a:r>
            <a:r>
              <a:rPr lang="en-US" altLang="zh-CN" dirty="0">
                <a:solidFill>
                  <a:srgbClr val="FF0000"/>
                </a:solidFill>
              </a:rPr>
              <a:t>(Collision)”</a:t>
            </a:r>
            <a:r>
              <a:rPr lang="zh-CN" altLang="en-US" dirty="0"/>
              <a:t>。 </a:t>
            </a:r>
            <a:endParaRPr lang="zh-CN" altLang="en-US" dirty="0"/>
          </a:p>
          <a:p>
            <a:pPr lvl="2">
              <a:lnSpc>
                <a:spcPct val="130000"/>
              </a:lnSpc>
              <a:spcBef>
                <a:spcPct val="0"/>
              </a:spcBef>
            </a:pPr>
            <a:r>
              <a:rPr lang="en-US" altLang="zh-CN" dirty="0"/>
              <a:t>    ----</a:t>
            </a:r>
            <a:r>
              <a:rPr lang="zh-CN" altLang="en-US" dirty="0"/>
              <a:t>需要某种冲突解决策略 </a:t>
            </a:r>
            <a:endParaRPr lang="en-US" altLang="zh-CN" dirty="0"/>
          </a:p>
          <a:p>
            <a:pPr lvl="2">
              <a:lnSpc>
                <a:spcPct val="130000"/>
              </a:lnSpc>
              <a:spcBef>
                <a:spcPct val="0"/>
              </a:spcBef>
            </a:pPr>
            <a:r>
              <a:rPr lang="zh-CN" altLang="en-US" dirty="0"/>
              <a:t>    实际中，冲突是不可避免的，只能通过改进哈希函数的性能来减少冲突。</a:t>
            </a:r>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spcBef>
                <a:spcPts val="0"/>
              </a:spcBef>
              <a:spcAft>
                <a:spcPts val="0"/>
              </a:spcAft>
            </a:pPr>
            <a:r>
              <a:rPr lang="zh-CN" altLang="en-US" dirty="0" smtClean="0"/>
              <a:t>实际</a:t>
            </a:r>
            <a:r>
              <a:rPr lang="zh-CN" altLang="en-US" dirty="0"/>
              <a:t>工作中，需视不同的情况采用不同的哈希函数。考虑的因素有</a:t>
            </a:r>
            <a:r>
              <a:rPr lang="zh-CN" altLang="en-US" dirty="0" smtClean="0"/>
              <a:t>：</a:t>
            </a:r>
            <a:endParaRPr lang="en-US" altLang="zh-CN" dirty="0" smtClean="0"/>
          </a:p>
          <a:p>
            <a:pPr lvl="2">
              <a:lnSpc>
                <a:spcPts val="3000"/>
              </a:lnSpc>
            </a:pPr>
            <a:r>
              <a:rPr lang="en-US" altLang="zh-CN" sz="2000" dirty="0" smtClean="0">
                <a:latin typeface="华文楷体" panose="02010600040101010101" pitchFamily="2" charset="-122"/>
                <a:ea typeface="华文楷体" panose="02010600040101010101" pitchFamily="2" charset="-122"/>
              </a:rPr>
              <a:t>① </a:t>
            </a:r>
            <a:r>
              <a:rPr lang="zh-CN" altLang="en-US" sz="2000" dirty="0">
                <a:latin typeface="华文楷体" panose="02010600040101010101" pitchFamily="2" charset="-122"/>
                <a:ea typeface="华文楷体" panose="02010600040101010101" pitchFamily="2" charset="-122"/>
              </a:rPr>
              <a:t>执行速度（即计算哈希函数所需时间）；</a:t>
            </a:r>
            <a:endParaRPr lang="zh-CN" altLang="en-US" sz="2000" dirty="0">
              <a:latin typeface="华文楷体" panose="02010600040101010101" pitchFamily="2" charset="-122"/>
              <a:ea typeface="华文楷体" panose="02010600040101010101" pitchFamily="2" charset="-122"/>
            </a:endParaRPr>
          </a:p>
          <a:p>
            <a:pPr lvl="2">
              <a:lnSpc>
                <a:spcPts val="3000"/>
              </a:lnSpc>
            </a:pPr>
            <a:r>
              <a:rPr lang="en-US" altLang="zh-CN" sz="2000" dirty="0">
                <a:latin typeface="华文楷体" panose="02010600040101010101" pitchFamily="2" charset="-122"/>
                <a:ea typeface="华文楷体" panose="02010600040101010101" pitchFamily="2" charset="-122"/>
              </a:rPr>
              <a:t>② </a:t>
            </a:r>
            <a:r>
              <a:rPr lang="zh-CN" altLang="en-US" sz="2000" dirty="0">
                <a:latin typeface="华文楷体" panose="02010600040101010101" pitchFamily="2" charset="-122"/>
                <a:ea typeface="华文楷体" panose="02010600040101010101" pitchFamily="2" charset="-122"/>
              </a:rPr>
              <a:t>关键字的长度；</a:t>
            </a:r>
            <a:endParaRPr lang="zh-CN" altLang="en-US" sz="2000" dirty="0">
              <a:latin typeface="华文楷体" panose="02010600040101010101" pitchFamily="2" charset="-122"/>
              <a:ea typeface="华文楷体" panose="02010600040101010101" pitchFamily="2" charset="-122"/>
            </a:endParaRPr>
          </a:p>
          <a:p>
            <a:pPr lvl="2">
              <a:lnSpc>
                <a:spcPts val="3000"/>
              </a:lnSpc>
            </a:pPr>
            <a:r>
              <a:rPr lang="en-US" altLang="zh-CN" sz="2000" dirty="0">
                <a:latin typeface="华文楷体" panose="02010600040101010101" pitchFamily="2" charset="-122"/>
                <a:ea typeface="华文楷体" panose="02010600040101010101" pitchFamily="2" charset="-122"/>
              </a:rPr>
              <a:t>③ </a:t>
            </a:r>
            <a:r>
              <a:rPr lang="zh-CN" altLang="en-US" sz="2000" dirty="0">
                <a:latin typeface="华文楷体" panose="02010600040101010101" pitchFamily="2" charset="-122"/>
                <a:ea typeface="华文楷体" panose="02010600040101010101" pitchFamily="2" charset="-122"/>
              </a:rPr>
              <a:t>哈希表的大小；</a:t>
            </a:r>
            <a:endParaRPr lang="zh-CN" altLang="en-US" sz="2000" dirty="0">
              <a:latin typeface="华文楷体" panose="02010600040101010101" pitchFamily="2" charset="-122"/>
              <a:ea typeface="华文楷体" panose="02010600040101010101" pitchFamily="2" charset="-122"/>
            </a:endParaRPr>
          </a:p>
          <a:p>
            <a:pPr lvl="2">
              <a:lnSpc>
                <a:spcPts val="3000"/>
              </a:lnSpc>
            </a:pPr>
            <a:r>
              <a:rPr lang="en-US" altLang="zh-CN" sz="2000" dirty="0">
                <a:latin typeface="华文楷体" panose="02010600040101010101" pitchFamily="2" charset="-122"/>
                <a:ea typeface="华文楷体" panose="02010600040101010101" pitchFamily="2" charset="-122"/>
              </a:rPr>
              <a:t>④ </a:t>
            </a:r>
            <a:r>
              <a:rPr lang="zh-CN" altLang="en-US" sz="2000" dirty="0">
                <a:latin typeface="华文楷体" panose="02010600040101010101" pitchFamily="2" charset="-122"/>
                <a:ea typeface="华文楷体" panose="02010600040101010101" pitchFamily="2" charset="-122"/>
              </a:rPr>
              <a:t>关键字的分布情况；</a:t>
            </a:r>
            <a:endParaRPr lang="zh-CN" altLang="en-US" sz="2000" dirty="0">
              <a:latin typeface="华文楷体" panose="02010600040101010101" pitchFamily="2" charset="-122"/>
              <a:ea typeface="华文楷体" panose="02010600040101010101" pitchFamily="2" charset="-122"/>
            </a:endParaRPr>
          </a:p>
          <a:p>
            <a:pPr lvl="2">
              <a:lnSpc>
                <a:spcPts val="3000"/>
              </a:lnSpc>
            </a:pPr>
            <a:r>
              <a:rPr lang="en-US" altLang="zh-CN" sz="2000" dirty="0">
                <a:latin typeface="华文楷体" panose="02010600040101010101" pitchFamily="2" charset="-122"/>
                <a:ea typeface="华文楷体" panose="02010600040101010101" pitchFamily="2" charset="-122"/>
              </a:rPr>
              <a:t>⑤ </a:t>
            </a:r>
            <a:r>
              <a:rPr lang="zh-CN" altLang="en-US" sz="2000" dirty="0">
                <a:latin typeface="华文楷体" panose="02010600040101010101" pitchFamily="2" charset="-122"/>
                <a:ea typeface="华文楷体" panose="02010600040101010101" pitchFamily="2" charset="-122"/>
              </a:rPr>
              <a:t>查找频率</a:t>
            </a:r>
            <a:r>
              <a:rPr lang="zh-CN" altLang="en-US" sz="2000" dirty="0" smtClean="0">
                <a:latin typeface="华文楷体" panose="02010600040101010101" pitchFamily="2" charset="-122"/>
                <a:ea typeface="华文楷体" panose="02010600040101010101" pitchFamily="2" charset="-122"/>
              </a:rPr>
              <a:t>。</a:t>
            </a:r>
            <a:endParaRPr lang="en-US" altLang="zh-CN" sz="2000" dirty="0" smtClean="0">
              <a:latin typeface="华文楷体" panose="02010600040101010101" pitchFamily="2" charset="-122"/>
              <a:ea typeface="华文楷体" panose="02010600040101010101" pitchFamily="2" charset="-122"/>
            </a:endParaRPr>
          </a:p>
          <a:p>
            <a:pPr>
              <a:spcBef>
                <a:spcPts val="0"/>
              </a:spcBef>
              <a:spcAft>
                <a:spcPts val="0"/>
              </a:spcAft>
              <a:defRPr/>
            </a:pPr>
            <a:r>
              <a:rPr lang="zh-CN" altLang="en-US" dirty="0"/>
              <a:t>一个“好”的散列函数一般应考虑下列两个因素： </a:t>
            </a:r>
            <a:endParaRPr lang="zh-CN" altLang="en-US" dirty="0"/>
          </a:p>
          <a:p>
            <a:pPr marL="478155" lvl="2" indent="-342900">
              <a:lnSpc>
                <a:spcPts val="3000"/>
              </a:lnSpc>
              <a:buFont typeface="Wingdings" panose="05000000000000000000" pitchFamily="2" charset="2"/>
              <a:buChar char="Ø"/>
              <a:defRPr/>
            </a:pPr>
            <a:r>
              <a:rPr lang="zh-CN" altLang="en-US" dirty="0"/>
              <a:t>计算简单，以便提高转换速度； </a:t>
            </a:r>
            <a:endParaRPr lang="zh-CN" altLang="en-US" dirty="0"/>
          </a:p>
          <a:p>
            <a:pPr marL="478155" lvl="2" indent="-342900">
              <a:lnSpc>
                <a:spcPts val="3000"/>
              </a:lnSpc>
              <a:buFont typeface="Wingdings" panose="05000000000000000000" pitchFamily="2" charset="2"/>
              <a:buChar char="Ø"/>
              <a:defRPr/>
            </a:pPr>
            <a:r>
              <a:rPr lang="zh-CN" altLang="en-US" dirty="0"/>
              <a:t>关键词对应的地址空间分布均匀，以尽量减少冲突</a:t>
            </a:r>
            <a:r>
              <a:rPr lang="zh-CN" altLang="en-US" dirty="0" smtClean="0"/>
              <a:t>。</a:t>
            </a:r>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defRPr/>
            </a:pPr>
            <a:r>
              <a:rPr lang="en-US" altLang="zh-CN" sz="2400" dirty="0" smtClean="0"/>
              <a:t>1.</a:t>
            </a:r>
            <a:r>
              <a:rPr lang="zh-CN" altLang="en-US" sz="2400" dirty="0" smtClean="0"/>
              <a:t>直接</a:t>
            </a:r>
            <a:r>
              <a:rPr lang="zh-CN" altLang="en-US" sz="2400" dirty="0"/>
              <a:t>定址法</a:t>
            </a:r>
            <a:endParaRPr lang="zh-CN" altLang="en-US" sz="2400" dirty="0"/>
          </a:p>
          <a:p>
            <a:pPr lvl="2">
              <a:lnSpc>
                <a:spcPct val="130000"/>
              </a:lnSpc>
              <a:spcBef>
                <a:spcPct val="20000"/>
              </a:spcBef>
              <a:defRPr/>
            </a:pPr>
            <a:r>
              <a:rPr lang="zh-CN" altLang="en-US" sz="2200" dirty="0"/>
              <a:t>取关键字的某个线性函数值为哈希地址。即：</a:t>
            </a:r>
            <a:endParaRPr lang="zh-CN" altLang="en-US" sz="2200" dirty="0"/>
          </a:p>
          <a:p>
            <a:pPr lvl="2">
              <a:lnSpc>
                <a:spcPct val="130000"/>
              </a:lnSpc>
              <a:spcBef>
                <a:spcPct val="20000"/>
              </a:spcBef>
              <a:defRPr/>
            </a:pPr>
            <a:r>
              <a:rPr lang="zh-CN" altLang="en-US" sz="2200" dirty="0"/>
              <a:t>           </a:t>
            </a:r>
            <a:r>
              <a:rPr lang="en-US" altLang="zh-CN" sz="2200" dirty="0">
                <a:solidFill>
                  <a:srgbClr val="FF0000"/>
                </a:solidFill>
              </a:rPr>
              <a:t>H(key)= a</a:t>
            </a:r>
            <a:r>
              <a:rPr lang="zh-CN" altLang="en-US" sz="2200" dirty="0">
                <a:solidFill>
                  <a:srgbClr val="FF0000"/>
                </a:solidFill>
              </a:rPr>
              <a:t>*</a:t>
            </a:r>
            <a:r>
              <a:rPr lang="en-US" altLang="zh-CN" sz="2200" dirty="0" err="1">
                <a:solidFill>
                  <a:srgbClr val="FF0000"/>
                </a:solidFill>
              </a:rPr>
              <a:t>key+b</a:t>
            </a:r>
            <a:r>
              <a:rPr lang="en-US" altLang="zh-CN" sz="2200" dirty="0">
                <a:solidFill>
                  <a:srgbClr val="FF0000"/>
                </a:solidFill>
              </a:rPr>
              <a:t>    </a:t>
            </a:r>
            <a:r>
              <a:rPr lang="zh-CN" altLang="en-US" sz="2200" dirty="0"/>
              <a:t>其中 </a:t>
            </a:r>
            <a:r>
              <a:rPr lang="en-US" altLang="zh-CN" sz="2200" dirty="0"/>
              <a:t>a</a:t>
            </a:r>
            <a:r>
              <a:rPr lang="zh-CN" altLang="en-US" sz="2200" dirty="0"/>
              <a:t>、</a:t>
            </a:r>
            <a:r>
              <a:rPr lang="en-US" altLang="zh-CN" sz="2200" dirty="0"/>
              <a:t>b</a:t>
            </a:r>
            <a:r>
              <a:rPr lang="zh-CN" altLang="en-US" sz="2200" dirty="0"/>
              <a:t>为常数。</a:t>
            </a:r>
            <a:endParaRPr lang="zh-CN" altLang="en-US" sz="2200" dirty="0"/>
          </a:p>
          <a:p>
            <a:pPr lvl="2">
              <a:lnSpc>
                <a:spcPct val="130000"/>
              </a:lnSpc>
              <a:spcBef>
                <a:spcPct val="20000"/>
              </a:spcBef>
              <a:defRPr/>
            </a:pPr>
            <a:r>
              <a:rPr lang="zh-CN" altLang="en-US" sz="2200" dirty="0" smtClean="0"/>
              <a:t>例：</a:t>
            </a:r>
            <a:r>
              <a:rPr lang="en-US" altLang="zh-CN" sz="2200" dirty="0"/>
              <a:t>1—100</a:t>
            </a:r>
            <a:r>
              <a:rPr lang="zh-CN" altLang="en-US" sz="2200" dirty="0"/>
              <a:t>岁的人口统计表，年龄为关键字，</a:t>
            </a:r>
            <a:r>
              <a:rPr lang="en-US" altLang="zh-CN" sz="2200" dirty="0"/>
              <a:t>H(key)=</a:t>
            </a:r>
            <a:r>
              <a:rPr lang="en-US" altLang="zh-CN" sz="2200" dirty="0" smtClean="0"/>
              <a:t>key</a:t>
            </a:r>
            <a:endParaRPr lang="en-US" altLang="zh-CN" sz="2200" dirty="0" smtClean="0"/>
          </a:p>
          <a:p>
            <a:pPr lvl="2">
              <a:lnSpc>
                <a:spcPct val="130000"/>
              </a:lnSpc>
              <a:spcBef>
                <a:spcPct val="20000"/>
              </a:spcBef>
              <a:defRPr/>
            </a:pPr>
            <a:r>
              <a:rPr lang="zh-CN" altLang="en-US" sz="2200" dirty="0" smtClean="0"/>
              <a:t>解放后</a:t>
            </a:r>
            <a:r>
              <a:rPr lang="zh-CN" altLang="en-US" sz="2200" dirty="0"/>
              <a:t>出生的人口调查表，关键字为年份，</a:t>
            </a:r>
            <a:r>
              <a:rPr lang="en-US" altLang="zh-CN" sz="2200" dirty="0"/>
              <a:t>H(key)=key-1948</a:t>
            </a:r>
            <a:endParaRPr lang="en-US" altLang="zh-CN" sz="2200" dirty="0"/>
          </a:p>
          <a:p>
            <a:pPr marL="0" lvl="2">
              <a:lnSpc>
                <a:spcPct val="130000"/>
              </a:lnSpc>
              <a:spcBef>
                <a:spcPct val="20000"/>
              </a:spcBef>
              <a:defRPr/>
            </a:pPr>
            <a:r>
              <a:rPr lang="zh-CN" altLang="en-US" sz="2200" dirty="0">
                <a:latin typeface="宋体" panose="02010600030101010101" pitchFamily="2" charset="-122"/>
              </a:rPr>
              <a:t>    这种方法适用于</a:t>
            </a:r>
            <a:r>
              <a:rPr lang="zh-CN" altLang="en-US" sz="2200" dirty="0">
                <a:solidFill>
                  <a:srgbClr val="FF0000"/>
                </a:solidFill>
                <a:latin typeface="宋体" panose="02010600030101010101" pitchFamily="2" charset="-122"/>
              </a:rPr>
              <a:t>关键字集合与地址集合大小相同</a:t>
            </a:r>
            <a:r>
              <a:rPr lang="zh-CN" altLang="en-US" sz="2200" dirty="0">
                <a:latin typeface="宋体" panose="02010600030101010101" pitchFamily="2" charset="-122"/>
              </a:rPr>
              <a:t>的情况，对其它情况冲突较少很少使用。</a:t>
            </a:r>
            <a:r>
              <a:rPr lang="zh-CN" altLang="en-US" sz="2200" dirty="0"/>
              <a:t> </a:t>
            </a:r>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2700"/>
              </a:lnSpc>
            </a:pPr>
            <a:r>
              <a:rPr lang="en-US" altLang="zh-CN" sz="2400" dirty="0"/>
              <a:t>2. </a:t>
            </a:r>
            <a:r>
              <a:rPr lang="zh-CN" altLang="en-US" sz="2400" dirty="0"/>
              <a:t>数字分析法</a:t>
            </a:r>
            <a:endParaRPr lang="en-US" altLang="zh-CN" sz="2400" dirty="0" smtClean="0">
              <a:ea typeface="宋体" panose="02010600030101010101" pitchFamily="2" charset="-122"/>
            </a:endParaRPr>
          </a:p>
          <a:p>
            <a:pPr lvl="2">
              <a:lnSpc>
                <a:spcPts val="2700"/>
              </a:lnSpc>
            </a:pPr>
            <a:r>
              <a:rPr lang="zh-CN" altLang="en-US" sz="2000" dirty="0" smtClean="0">
                <a:ea typeface="宋体" panose="02010600030101010101" pitchFamily="2" charset="-122"/>
              </a:rPr>
              <a:t>分析</a:t>
            </a:r>
            <a:r>
              <a:rPr lang="zh-CN" altLang="en-US" sz="2000" dirty="0">
                <a:ea typeface="宋体" panose="02010600030101010101" pitchFamily="2" charset="-122"/>
              </a:rPr>
              <a:t>数字关键字在各位上的变化情况，取比较随机的位作为散列地址。</a:t>
            </a:r>
            <a:endParaRPr lang="en-US" altLang="zh-CN" sz="2000" dirty="0">
              <a:ea typeface="宋体" panose="02010600030101010101" pitchFamily="2" charset="-122"/>
            </a:endParaRPr>
          </a:p>
          <a:p>
            <a:pPr lvl="2">
              <a:lnSpc>
                <a:spcPts val="2700"/>
              </a:lnSpc>
            </a:pPr>
            <a:r>
              <a:rPr lang="zh-CN" altLang="en-US" sz="2000" dirty="0">
                <a:ea typeface="宋体" panose="02010600030101010101" pitchFamily="2" charset="-122"/>
              </a:rPr>
              <a:t>例</a:t>
            </a:r>
            <a:r>
              <a:rPr lang="zh-CN" altLang="en-US" sz="2000" dirty="0" smtClean="0">
                <a:ea typeface="宋体" panose="02010600030101010101" pitchFamily="2" charset="-122"/>
              </a:rPr>
              <a:t>如</a:t>
            </a:r>
            <a:r>
              <a:rPr lang="zh-CN" altLang="en-US" sz="2000" dirty="0">
                <a:ea typeface="宋体" panose="02010600030101010101" pitchFamily="2" charset="-122"/>
              </a:rPr>
              <a:t>：取</a:t>
            </a:r>
            <a:r>
              <a:rPr lang="en-US" altLang="zh-CN" sz="2000" dirty="0">
                <a:ea typeface="宋体" panose="02010600030101010101" pitchFamily="2" charset="-122"/>
              </a:rPr>
              <a:t>11</a:t>
            </a:r>
            <a:r>
              <a:rPr lang="zh-CN" altLang="en-US" sz="2000" dirty="0">
                <a:ea typeface="宋体" panose="02010600030101010101" pitchFamily="2" charset="-122"/>
              </a:rPr>
              <a:t>位手机号码</a:t>
            </a:r>
            <a:r>
              <a:rPr lang="en-US" altLang="zh-CN" sz="2000" dirty="0">
                <a:ea typeface="宋体" panose="02010600030101010101" pitchFamily="2" charset="-122"/>
              </a:rPr>
              <a:t>key</a:t>
            </a:r>
            <a:r>
              <a:rPr lang="zh-CN" altLang="en-US" sz="2000" dirty="0">
                <a:ea typeface="宋体" panose="02010600030101010101" pitchFamily="2" charset="-122"/>
              </a:rPr>
              <a:t>的后</a:t>
            </a:r>
            <a:r>
              <a:rPr lang="en-US" altLang="zh-CN" sz="2000" dirty="0">
                <a:ea typeface="宋体" panose="02010600030101010101" pitchFamily="2" charset="-122"/>
              </a:rPr>
              <a:t>4</a:t>
            </a:r>
            <a:r>
              <a:rPr lang="zh-CN" altLang="en-US" sz="2000" dirty="0">
                <a:ea typeface="宋体" panose="02010600030101010101" pitchFamily="2" charset="-122"/>
              </a:rPr>
              <a:t>位作为地址： </a:t>
            </a:r>
            <a:endParaRPr lang="zh-CN" altLang="en-US" sz="2000" dirty="0">
              <a:ea typeface="宋体" panose="02010600030101010101" pitchFamily="2" charset="-122"/>
            </a:endParaRPr>
          </a:p>
          <a:p>
            <a:pPr lvl="2">
              <a:lnSpc>
                <a:spcPts val="2700"/>
              </a:lnSpc>
            </a:pPr>
            <a:r>
              <a:rPr lang="zh-CN" altLang="en-US" sz="2000" dirty="0">
                <a:ea typeface="宋体" panose="02010600030101010101" pitchFamily="2" charset="-122"/>
              </a:rPr>
              <a:t>    哈希函数为：</a:t>
            </a:r>
            <a:r>
              <a:rPr lang="en-US" altLang="zh-CN" sz="2000" dirty="0">
                <a:solidFill>
                  <a:srgbClr val="FF0000"/>
                </a:solidFill>
                <a:ea typeface="宋体" panose="02010600030101010101" pitchFamily="2" charset="-122"/>
              </a:rPr>
              <a:t>h(key) = </a:t>
            </a:r>
            <a:r>
              <a:rPr lang="en-US" altLang="zh-CN" sz="2000" dirty="0" err="1">
                <a:solidFill>
                  <a:srgbClr val="FF0000"/>
                </a:solidFill>
                <a:ea typeface="宋体" panose="02010600030101010101" pitchFamily="2" charset="-122"/>
              </a:rPr>
              <a:t>atoi</a:t>
            </a:r>
            <a:r>
              <a:rPr lang="en-US" altLang="zh-CN" sz="2000" dirty="0">
                <a:solidFill>
                  <a:srgbClr val="FF0000"/>
                </a:solidFill>
                <a:ea typeface="宋体" panose="02010600030101010101" pitchFamily="2" charset="-122"/>
              </a:rPr>
              <a:t>(key+7) </a:t>
            </a:r>
            <a:r>
              <a:rPr lang="zh-CN" altLang="en-US" sz="2000" dirty="0">
                <a:solidFill>
                  <a:srgbClr val="FF0000"/>
                </a:solidFill>
                <a:ea typeface="宋体" panose="02010600030101010101" pitchFamily="2" charset="-122"/>
              </a:rPr>
              <a:t> </a:t>
            </a:r>
            <a:r>
              <a:rPr lang="zh-CN" altLang="en-US" sz="2000" dirty="0" smtClean="0">
                <a:solidFill>
                  <a:srgbClr val="FF0000"/>
                </a:solidFill>
                <a:ea typeface="宋体" panose="02010600030101010101" pitchFamily="2" charset="-122"/>
              </a:rPr>
              <a:t>   </a:t>
            </a:r>
            <a:r>
              <a:rPr lang="en-US" altLang="zh-CN" sz="2000" dirty="0">
                <a:ea typeface="宋体" panose="02010600030101010101" pitchFamily="2" charset="-122"/>
              </a:rPr>
              <a:t>(char *key)</a:t>
            </a:r>
            <a:endParaRPr lang="en-US" altLang="zh-CN" sz="2000" dirty="0">
              <a:ea typeface="宋体" panose="02010600030101010101" pitchFamily="2" charset="-122"/>
            </a:endParaRPr>
          </a:p>
          <a:p>
            <a:pPr marL="0" lvl="2" eaLnBrk="0" fontAlgn="base" hangingPunct="0">
              <a:lnSpc>
                <a:spcPts val="3000"/>
              </a:lnSpc>
              <a:spcBef>
                <a:spcPts val="600"/>
              </a:spcBef>
              <a:spcAft>
                <a:spcPct val="0"/>
              </a:spcAft>
              <a:buClrTx/>
              <a:buSzTx/>
              <a:defRPr/>
            </a:pPr>
            <a:r>
              <a:rPr lang="en-US" altLang="zh-CN" sz="2400" dirty="0">
                <a:solidFill>
                  <a:srgbClr val="800000"/>
                </a:solidFill>
                <a:latin typeface="Times New Roman" panose="02020603050405020304" pitchFamily="18" charset="0"/>
                <a:ea typeface="黑体" panose="02010609060101010101" pitchFamily="49" charset="-122"/>
              </a:rPr>
              <a:t>3. </a:t>
            </a:r>
            <a:r>
              <a:rPr lang="zh-CN" altLang="en-US" sz="2400" dirty="0">
                <a:solidFill>
                  <a:srgbClr val="800000"/>
                </a:solidFill>
                <a:latin typeface="Times New Roman" panose="02020603050405020304" pitchFamily="18" charset="0"/>
                <a:ea typeface="黑体" panose="02010609060101010101" pitchFamily="49" charset="-122"/>
              </a:rPr>
              <a:t>平方取中</a:t>
            </a:r>
            <a:r>
              <a:rPr lang="zh-CN" altLang="en-US" sz="2400" dirty="0" smtClean="0">
                <a:solidFill>
                  <a:srgbClr val="800000"/>
                </a:solidFill>
                <a:latin typeface="Times New Roman" panose="02020603050405020304" pitchFamily="18" charset="0"/>
                <a:ea typeface="黑体" panose="02010609060101010101" pitchFamily="49" charset="-122"/>
              </a:rPr>
              <a:t>法</a:t>
            </a:r>
            <a:endParaRPr lang="en-US" altLang="zh-CN" sz="2400" dirty="0" smtClean="0">
              <a:solidFill>
                <a:srgbClr val="800000"/>
              </a:solidFill>
              <a:latin typeface="Times New Roman" panose="02020603050405020304" pitchFamily="18" charset="0"/>
              <a:ea typeface="黑体" panose="02010609060101010101" pitchFamily="49" charset="-122"/>
            </a:endParaRPr>
          </a:p>
          <a:p>
            <a:pPr marL="0" lvl="2" eaLnBrk="0" fontAlgn="base" hangingPunct="0">
              <a:lnSpc>
                <a:spcPts val="3000"/>
              </a:lnSpc>
              <a:spcBef>
                <a:spcPts val="600"/>
              </a:spcBef>
              <a:spcAft>
                <a:spcPct val="0"/>
              </a:spcAft>
              <a:buClrTx/>
              <a:buSzTx/>
              <a:defRPr/>
            </a:pPr>
            <a:r>
              <a:rPr lang="en-US" altLang="zh-CN" sz="2400" dirty="0">
                <a:solidFill>
                  <a:srgbClr val="800000"/>
                </a:solidFill>
                <a:latin typeface="Times New Roman" panose="02020603050405020304" pitchFamily="18" charset="0"/>
                <a:ea typeface="黑体" panose="02010609060101010101" pitchFamily="49" charset="-122"/>
              </a:rPr>
              <a:t> </a:t>
            </a:r>
            <a:r>
              <a:rPr lang="en-US" altLang="zh-CN" sz="2400" dirty="0" smtClean="0">
                <a:solidFill>
                  <a:srgbClr val="800000"/>
                </a:solidFill>
                <a:latin typeface="Times New Roman" panose="02020603050405020304" pitchFamily="18" charset="0"/>
                <a:ea typeface="黑体" panose="02010609060101010101" pitchFamily="49" charset="-122"/>
              </a:rPr>
              <a:t> </a:t>
            </a:r>
            <a:r>
              <a:rPr lang="zh-CN" altLang="en-US" sz="2000" dirty="0" smtClean="0">
                <a:ea typeface="宋体" panose="02010600030101010101" pitchFamily="2" charset="-122"/>
              </a:rPr>
              <a:t>当</a:t>
            </a:r>
            <a:r>
              <a:rPr lang="zh-CN" altLang="en-US" sz="2000" dirty="0">
                <a:ea typeface="宋体" panose="02010600030101010101" pitchFamily="2" charset="-122"/>
              </a:rPr>
              <a:t>无法确定关键字中哪几位分布较均匀时，可以先求出关键字的平方值，然后按需要取平方值的中间几位作为哈希地址。这是因为：平方后中间几位和关键字中每一位都相关，故不同关键字会以较高的概率产生不同的哈希地址</a:t>
            </a:r>
            <a:r>
              <a:rPr lang="zh-CN" altLang="en-US" sz="2000" dirty="0" smtClean="0">
                <a:ea typeface="宋体" panose="02010600030101010101" pitchFamily="2" charset="-122"/>
              </a:rPr>
              <a:t>。</a:t>
            </a:r>
            <a:endParaRPr lang="en-US" altLang="zh-CN" sz="2000" dirty="0">
              <a:ea typeface="宋体" panose="02010600030101010101" pitchFamily="2" charset="-122"/>
            </a:endParaRPr>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4</a:t>
            </a:r>
            <a:r>
              <a:rPr lang="en-US" altLang="zh-CN" dirty="0"/>
              <a:t>. </a:t>
            </a:r>
            <a:r>
              <a:rPr lang="zh-CN" altLang="en-US" dirty="0"/>
              <a:t>分段</a:t>
            </a:r>
            <a:r>
              <a:rPr lang="zh-CN" altLang="en-US" dirty="0" smtClean="0"/>
              <a:t>叠加法</a:t>
            </a:r>
            <a:endParaRPr lang="en-US" altLang="zh-CN" dirty="0" smtClean="0"/>
          </a:p>
          <a:p>
            <a:pPr lvl="2">
              <a:spcBef>
                <a:spcPct val="0"/>
              </a:spcBef>
            </a:pPr>
            <a:r>
              <a:rPr lang="zh-CN" altLang="en-US" sz="2000" dirty="0">
                <a:ea typeface="宋体" panose="02010600030101010101" pitchFamily="2" charset="-122"/>
              </a:rPr>
              <a:t>把关键词分割成位数相同的几个部分，然后叠加</a:t>
            </a:r>
            <a:endParaRPr lang="en-US" altLang="zh-CN" sz="2000" dirty="0">
              <a:ea typeface="宋体" panose="02010600030101010101" pitchFamily="2" charset="-122"/>
            </a:endParaRPr>
          </a:p>
          <a:p>
            <a:pPr lvl="2">
              <a:spcBef>
                <a:spcPct val="0"/>
              </a:spcBef>
            </a:pPr>
            <a:r>
              <a:rPr lang="zh-CN" altLang="en-US" sz="2000" dirty="0">
                <a:ea typeface="宋体" panose="02010600030101010101" pitchFamily="2" charset="-122"/>
              </a:rPr>
              <a:t>例如：关键字 </a:t>
            </a:r>
            <a:r>
              <a:rPr lang="en-US" altLang="zh-CN" sz="2000" dirty="0" smtClean="0">
                <a:ea typeface="宋体" panose="02010600030101010101" pitchFamily="2" charset="-122"/>
              </a:rPr>
              <a:t>123603247112020</a:t>
            </a:r>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grpSp>
        <p:nvGrpSpPr>
          <p:cNvPr id="4" name="组合 2"/>
          <p:cNvGrpSpPr/>
          <p:nvPr/>
        </p:nvGrpSpPr>
        <p:grpSpPr bwMode="auto">
          <a:xfrm>
            <a:off x="1502744" y="1852782"/>
            <a:ext cx="4865124" cy="2883932"/>
            <a:chOff x="762000" y="1447800"/>
            <a:chExt cx="6486832" cy="3845243"/>
          </a:xfrm>
        </p:grpSpPr>
        <p:sp>
          <p:nvSpPr>
            <p:cNvPr id="5" name="Text Box 8"/>
            <p:cNvSpPr txBox="1">
              <a:spLocks noChangeArrowheads="1"/>
            </p:cNvSpPr>
            <p:nvPr/>
          </p:nvSpPr>
          <p:spPr bwMode="auto">
            <a:xfrm>
              <a:off x="1736725" y="1447800"/>
              <a:ext cx="1169551" cy="2708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457200" indent="-457200">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1   2   </a:t>
              </a:r>
              <a:r>
                <a:rPr lang="en-US" altLang="zh-CN" sz="1800" dirty="0">
                  <a:latin typeface="Times New Roman" panose="02020603050405020304" pitchFamily="18" charset="0"/>
                  <a:ea typeface="宋体" panose="02010600030101010101" pitchFamily="2" charset="-122"/>
                </a:rPr>
                <a:t>3</a:t>
              </a:r>
              <a:endParaRPr lang="en-US" altLang="zh-CN" sz="1800" dirty="0">
                <a:latin typeface="Times New Roman" panose="02020603050405020304" pitchFamily="18" charset="0"/>
                <a:ea typeface="宋体" panose="02010600030101010101" pitchFamily="2" charset="-122"/>
              </a:endParaRPr>
            </a:p>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6   0   </a:t>
              </a:r>
              <a:r>
                <a:rPr lang="en-US" altLang="zh-CN" sz="1800" dirty="0">
                  <a:latin typeface="Times New Roman" panose="02020603050405020304" pitchFamily="18" charset="0"/>
                  <a:ea typeface="宋体" panose="02010600030101010101" pitchFamily="2" charset="-122"/>
                </a:rPr>
                <a:t>3</a:t>
              </a:r>
              <a:endParaRPr lang="en-US" altLang="zh-CN" sz="1800" dirty="0">
                <a:latin typeface="Times New Roman" panose="02020603050405020304" pitchFamily="18" charset="0"/>
                <a:ea typeface="宋体" panose="02010600030101010101" pitchFamily="2" charset="-122"/>
              </a:endParaRPr>
            </a:p>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2   4   </a:t>
              </a:r>
              <a:r>
                <a:rPr lang="en-US" altLang="zh-CN" sz="1800" dirty="0">
                  <a:latin typeface="Times New Roman" panose="02020603050405020304" pitchFamily="18" charset="0"/>
                  <a:ea typeface="宋体" panose="02010600030101010101" pitchFamily="2" charset="-122"/>
                </a:rPr>
                <a:t>7</a:t>
              </a:r>
              <a:endParaRPr lang="en-US" altLang="zh-CN" sz="1800" dirty="0">
                <a:latin typeface="Times New Roman" panose="02020603050405020304" pitchFamily="18" charset="0"/>
                <a:ea typeface="宋体" panose="02010600030101010101" pitchFamily="2" charset="-122"/>
              </a:endParaRPr>
            </a:p>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1   1   </a:t>
              </a:r>
              <a:r>
                <a:rPr lang="en-US" altLang="zh-CN" sz="1800" dirty="0">
                  <a:latin typeface="Times New Roman" panose="02020603050405020304" pitchFamily="18" charset="0"/>
                  <a:ea typeface="宋体" panose="02010600030101010101" pitchFamily="2" charset="-122"/>
                </a:rPr>
                <a:t>2</a:t>
              </a:r>
              <a:endParaRPr lang="en-US" altLang="zh-CN" sz="1800" dirty="0">
                <a:latin typeface="Times New Roman" panose="02020603050405020304" pitchFamily="18" charset="0"/>
                <a:ea typeface="宋体" panose="02010600030101010101" pitchFamily="2" charset="-122"/>
              </a:endParaRPr>
            </a:p>
            <a:p>
              <a:pPr eaLnBrk="1" hangingPunct="1">
                <a:lnSpc>
                  <a:spcPct val="140000"/>
                </a:lnSpc>
                <a:spcBef>
                  <a:spcPct val="0"/>
                </a:spcBef>
                <a:buFontTx/>
                <a:buNone/>
              </a:pPr>
              <a:r>
                <a:rPr lang="en-US" altLang="zh-CN" sz="1800" dirty="0" smtClean="0">
                  <a:latin typeface="Times New Roman" panose="02020603050405020304" pitchFamily="18" charset="0"/>
                  <a:ea typeface="宋体" panose="02010600030101010101" pitchFamily="2" charset="-122"/>
                </a:rPr>
                <a:t>0   2   </a:t>
              </a:r>
              <a:r>
                <a:rPr lang="en-US" altLang="zh-CN" sz="1800" dirty="0">
                  <a:latin typeface="Times New Roman" panose="02020603050405020304" pitchFamily="18" charset="0"/>
                  <a:ea typeface="宋体" panose="02010600030101010101" pitchFamily="2" charset="-122"/>
                </a:rPr>
                <a:t>0</a:t>
              </a:r>
              <a:endParaRPr lang="en-US" altLang="zh-CN" sz="1800" dirty="0">
                <a:latin typeface="Times New Roman" panose="02020603050405020304" pitchFamily="18" charset="0"/>
                <a:ea typeface="宋体" panose="02010600030101010101" pitchFamily="2" charset="-122"/>
              </a:endParaRPr>
            </a:p>
          </p:txBody>
        </p:sp>
        <p:sp>
          <p:nvSpPr>
            <p:cNvPr id="6" name="Text Box 9"/>
            <p:cNvSpPr txBox="1">
              <a:spLocks noChangeArrowheads="1"/>
            </p:cNvSpPr>
            <p:nvPr/>
          </p:nvSpPr>
          <p:spPr bwMode="auto">
            <a:xfrm>
              <a:off x="1219200" y="3657600"/>
              <a:ext cx="521939"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a:latin typeface="Times New Roman" panose="02020603050405020304" pitchFamily="18" charset="0"/>
                  <a:ea typeface="宋体" panose="02010600030101010101" pitchFamily="2" charset="-122"/>
                </a:rPr>
                <a:t>+)</a:t>
              </a:r>
              <a:endParaRPr lang="en-US" altLang="zh-CN" sz="1800">
                <a:latin typeface="Times New Roman" panose="02020603050405020304" pitchFamily="18" charset="0"/>
                <a:ea typeface="宋体" panose="02010600030101010101" pitchFamily="2" charset="-122"/>
              </a:endParaRPr>
            </a:p>
          </p:txBody>
        </p:sp>
        <p:sp>
          <p:nvSpPr>
            <p:cNvPr id="7" name="Line 10"/>
            <p:cNvSpPr>
              <a:spLocks noChangeShapeType="1"/>
            </p:cNvSpPr>
            <p:nvPr/>
          </p:nvSpPr>
          <p:spPr bwMode="auto">
            <a:xfrm>
              <a:off x="762000" y="4191000"/>
              <a:ext cx="243840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sz="1015"/>
            </a:p>
          </p:txBody>
        </p:sp>
        <p:sp>
          <p:nvSpPr>
            <p:cNvPr id="8" name="Text Box 12"/>
            <p:cNvSpPr txBox="1">
              <a:spLocks noChangeArrowheads="1"/>
            </p:cNvSpPr>
            <p:nvPr/>
          </p:nvSpPr>
          <p:spPr bwMode="auto">
            <a:xfrm>
              <a:off x="1447800" y="4191000"/>
              <a:ext cx="1477328"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dirty="0">
                  <a:latin typeface="Times New Roman" panose="02020603050405020304" pitchFamily="18" charset="0"/>
                  <a:ea typeface="宋体" panose="02010600030101010101" pitchFamily="2" charset="-122"/>
                </a:rPr>
                <a:t>1  1   </a:t>
              </a:r>
              <a:r>
                <a:rPr lang="en-US" altLang="zh-CN" sz="1800" dirty="0" smtClean="0">
                  <a:latin typeface="Times New Roman" panose="02020603050405020304" pitchFamily="18" charset="0"/>
                  <a:ea typeface="宋体" panose="02010600030101010101" pitchFamily="2" charset="-122"/>
                </a:rPr>
                <a:t>0   </a:t>
              </a:r>
              <a:r>
                <a:rPr lang="en-US" altLang="zh-CN" sz="1800" dirty="0">
                  <a:latin typeface="Times New Roman" panose="02020603050405020304" pitchFamily="18" charset="0"/>
                  <a:ea typeface="宋体" panose="02010600030101010101" pitchFamily="2" charset="-122"/>
                </a:rPr>
                <a:t>5</a:t>
              </a:r>
              <a:endParaRPr lang="en-US" altLang="zh-CN" sz="1800" dirty="0">
                <a:latin typeface="Times New Roman" panose="02020603050405020304" pitchFamily="18" charset="0"/>
                <a:ea typeface="宋体" panose="02010600030101010101" pitchFamily="2" charset="-122"/>
              </a:endParaRPr>
            </a:p>
          </p:txBody>
        </p:sp>
        <p:sp>
          <p:nvSpPr>
            <p:cNvPr id="9" name="Text Box 13"/>
            <p:cNvSpPr txBox="1">
              <a:spLocks noChangeArrowheads="1"/>
            </p:cNvSpPr>
            <p:nvPr/>
          </p:nvSpPr>
          <p:spPr bwMode="auto">
            <a:xfrm>
              <a:off x="5546725" y="1447800"/>
              <a:ext cx="1169551" cy="2708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457200" indent="-457200">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1   2   </a:t>
              </a:r>
              <a:r>
                <a:rPr lang="en-US" altLang="zh-CN" sz="1800" dirty="0">
                  <a:latin typeface="Times New Roman" panose="02020603050405020304" pitchFamily="18" charset="0"/>
                  <a:ea typeface="宋体" panose="02010600030101010101" pitchFamily="2" charset="-122"/>
                </a:rPr>
                <a:t>3</a:t>
              </a:r>
              <a:endParaRPr lang="en-US" altLang="zh-CN" sz="1800" dirty="0">
                <a:latin typeface="Times New Roman" panose="02020603050405020304" pitchFamily="18" charset="0"/>
                <a:ea typeface="宋体" panose="02010600030101010101" pitchFamily="2" charset="-122"/>
              </a:endParaRPr>
            </a:p>
            <a:p>
              <a:pPr eaLnBrk="1" hangingPunct="1">
                <a:lnSpc>
                  <a:spcPct val="140000"/>
                </a:lnSpc>
                <a:spcBef>
                  <a:spcPct val="0"/>
                </a:spcBef>
                <a:buFontTx/>
                <a:buNone/>
              </a:pPr>
              <a:r>
                <a:rPr lang="en-US" altLang="zh-CN" sz="1800" dirty="0">
                  <a:latin typeface="Times New Roman" panose="02020603050405020304" pitchFamily="18" charset="0"/>
                  <a:ea typeface="宋体" panose="02010600030101010101" pitchFamily="2" charset="-122"/>
                </a:rPr>
                <a:t>3   </a:t>
              </a:r>
              <a:r>
                <a:rPr lang="en-US" altLang="zh-CN" sz="1800" dirty="0" smtClean="0">
                  <a:latin typeface="Times New Roman" panose="02020603050405020304" pitchFamily="18" charset="0"/>
                  <a:ea typeface="宋体" panose="02010600030101010101" pitchFamily="2" charset="-122"/>
                </a:rPr>
                <a:t>0   </a:t>
              </a:r>
              <a:r>
                <a:rPr lang="en-US" altLang="zh-CN" sz="1800" dirty="0">
                  <a:latin typeface="Times New Roman" panose="02020603050405020304" pitchFamily="18" charset="0"/>
                  <a:ea typeface="宋体" panose="02010600030101010101" pitchFamily="2" charset="-122"/>
                </a:rPr>
                <a:t>6</a:t>
              </a:r>
              <a:endParaRPr lang="en-US" altLang="zh-CN" sz="1800" dirty="0">
                <a:latin typeface="Times New Roman" panose="02020603050405020304" pitchFamily="18" charset="0"/>
                <a:ea typeface="宋体" panose="02010600030101010101" pitchFamily="2" charset="-122"/>
              </a:endParaRPr>
            </a:p>
            <a:p>
              <a:pPr marL="0" indent="0" eaLnBrk="1" hangingPunct="1">
                <a:lnSpc>
                  <a:spcPct val="140000"/>
                </a:lnSpc>
                <a:spcBef>
                  <a:spcPct val="0"/>
                </a:spcBef>
                <a:buNone/>
              </a:pPr>
              <a:r>
                <a:rPr lang="en-US" altLang="zh-CN" sz="1800" dirty="0" smtClean="0">
                  <a:latin typeface="Times New Roman" panose="02020603050405020304" pitchFamily="18" charset="0"/>
                  <a:ea typeface="宋体" panose="02010600030101010101" pitchFamily="2" charset="-122"/>
                </a:rPr>
                <a:t>2   4   </a:t>
              </a:r>
              <a:r>
                <a:rPr lang="en-US" altLang="zh-CN" sz="1800" dirty="0">
                  <a:latin typeface="Times New Roman" panose="02020603050405020304" pitchFamily="18" charset="0"/>
                  <a:ea typeface="宋体" panose="02010600030101010101" pitchFamily="2" charset="-122"/>
                </a:rPr>
                <a:t>7</a:t>
              </a:r>
              <a:endParaRPr lang="en-US" altLang="zh-CN" sz="1800" dirty="0">
                <a:latin typeface="Times New Roman" panose="02020603050405020304" pitchFamily="18" charset="0"/>
                <a:ea typeface="宋体" panose="02010600030101010101" pitchFamily="2" charset="-122"/>
              </a:endParaRPr>
            </a:p>
            <a:p>
              <a:pPr eaLnBrk="1" hangingPunct="1">
                <a:lnSpc>
                  <a:spcPct val="140000"/>
                </a:lnSpc>
                <a:spcBef>
                  <a:spcPct val="0"/>
                </a:spcBef>
                <a:buFontTx/>
                <a:buNone/>
              </a:pPr>
              <a:r>
                <a:rPr lang="en-US" altLang="zh-CN" sz="1800" dirty="0">
                  <a:latin typeface="Times New Roman" panose="02020603050405020304" pitchFamily="18" charset="0"/>
                  <a:ea typeface="宋体" panose="02010600030101010101" pitchFamily="2" charset="-122"/>
                </a:rPr>
                <a:t>2   </a:t>
              </a:r>
              <a:r>
                <a:rPr lang="en-US" altLang="zh-CN" sz="1800" dirty="0" smtClean="0">
                  <a:latin typeface="Times New Roman" panose="02020603050405020304" pitchFamily="18" charset="0"/>
                  <a:ea typeface="宋体" panose="02010600030101010101" pitchFamily="2" charset="-122"/>
                </a:rPr>
                <a:t>1   </a:t>
              </a:r>
              <a:r>
                <a:rPr lang="en-US" altLang="zh-CN" sz="1800" dirty="0">
                  <a:latin typeface="Times New Roman" panose="02020603050405020304" pitchFamily="18" charset="0"/>
                  <a:ea typeface="宋体" panose="02010600030101010101" pitchFamily="2" charset="-122"/>
                </a:rPr>
                <a:t>1</a:t>
              </a:r>
              <a:endParaRPr lang="en-US" altLang="zh-CN" sz="1800" dirty="0">
                <a:latin typeface="Times New Roman" panose="02020603050405020304" pitchFamily="18" charset="0"/>
                <a:ea typeface="宋体" panose="02010600030101010101" pitchFamily="2" charset="-122"/>
              </a:endParaRPr>
            </a:p>
            <a:p>
              <a:pPr eaLnBrk="1" hangingPunct="1">
                <a:lnSpc>
                  <a:spcPct val="140000"/>
                </a:lnSpc>
                <a:spcBef>
                  <a:spcPct val="0"/>
                </a:spcBef>
                <a:buFontTx/>
                <a:buNone/>
              </a:pPr>
              <a:r>
                <a:rPr lang="en-US" altLang="zh-CN" sz="1800" dirty="0">
                  <a:latin typeface="Times New Roman" panose="02020603050405020304" pitchFamily="18" charset="0"/>
                  <a:ea typeface="宋体" panose="02010600030101010101" pitchFamily="2" charset="-122"/>
                </a:rPr>
                <a:t>0   </a:t>
              </a:r>
              <a:r>
                <a:rPr lang="en-US" altLang="zh-CN" sz="1800" dirty="0" smtClean="0">
                  <a:latin typeface="Times New Roman" panose="02020603050405020304" pitchFamily="18" charset="0"/>
                  <a:ea typeface="宋体" panose="02010600030101010101" pitchFamily="2" charset="-122"/>
                </a:rPr>
                <a:t>2   </a:t>
              </a:r>
              <a:r>
                <a:rPr lang="en-US" altLang="zh-CN" sz="1800" dirty="0">
                  <a:latin typeface="Times New Roman" panose="02020603050405020304" pitchFamily="18" charset="0"/>
                  <a:ea typeface="宋体" panose="02010600030101010101" pitchFamily="2" charset="-122"/>
                </a:rPr>
                <a:t>0</a:t>
              </a:r>
              <a:endParaRPr lang="en-US" altLang="zh-CN" sz="1800" dirty="0">
                <a:latin typeface="Times New Roman" panose="02020603050405020304" pitchFamily="18" charset="0"/>
                <a:ea typeface="宋体" panose="02010600030101010101" pitchFamily="2" charset="-122"/>
              </a:endParaRPr>
            </a:p>
          </p:txBody>
        </p:sp>
        <p:sp>
          <p:nvSpPr>
            <p:cNvPr id="10" name="Text Box 14"/>
            <p:cNvSpPr txBox="1">
              <a:spLocks noChangeArrowheads="1"/>
            </p:cNvSpPr>
            <p:nvPr/>
          </p:nvSpPr>
          <p:spPr bwMode="auto">
            <a:xfrm>
              <a:off x="5029200" y="3657600"/>
              <a:ext cx="521939"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a:latin typeface="Times New Roman" panose="02020603050405020304" pitchFamily="18" charset="0"/>
                  <a:ea typeface="宋体" panose="02010600030101010101" pitchFamily="2" charset="-122"/>
                </a:rPr>
                <a:t>+)</a:t>
              </a:r>
              <a:endParaRPr lang="en-US" altLang="zh-CN" sz="1800">
                <a:latin typeface="Times New Roman" panose="02020603050405020304" pitchFamily="18" charset="0"/>
                <a:ea typeface="宋体" panose="02010600030101010101" pitchFamily="2" charset="-122"/>
              </a:endParaRPr>
            </a:p>
          </p:txBody>
        </p:sp>
        <p:sp>
          <p:nvSpPr>
            <p:cNvPr id="11" name="Line 15"/>
            <p:cNvSpPr>
              <a:spLocks noChangeShapeType="1"/>
            </p:cNvSpPr>
            <p:nvPr/>
          </p:nvSpPr>
          <p:spPr bwMode="auto">
            <a:xfrm>
              <a:off x="4572000" y="4191000"/>
              <a:ext cx="243840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sz="1015"/>
            </a:p>
          </p:txBody>
        </p:sp>
        <p:sp>
          <p:nvSpPr>
            <p:cNvPr id="12" name="Text Box 16"/>
            <p:cNvSpPr txBox="1">
              <a:spLocks noChangeArrowheads="1"/>
            </p:cNvSpPr>
            <p:nvPr/>
          </p:nvSpPr>
          <p:spPr bwMode="auto">
            <a:xfrm>
              <a:off x="5257800" y="4191000"/>
              <a:ext cx="1477328"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dirty="0">
                  <a:latin typeface="Times New Roman" panose="02020603050405020304" pitchFamily="18" charset="0"/>
                  <a:ea typeface="宋体" panose="02010600030101010101" pitchFamily="2" charset="-122"/>
                </a:rPr>
                <a:t>    9   </a:t>
              </a:r>
              <a:r>
                <a:rPr lang="en-US" altLang="zh-CN" sz="1800" dirty="0" smtClean="0">
                  <a:latin typeface="Times New Roman" panose="02020603050405020304" pitchFamily="18" charset="0"/>
                  <a:ea typeface="宋体" panose="02010600030101010101" pitchFamily="2" charset="-122"/>
                </a:rPr>
                <a:t>0   </a:t>
              </a:r>
              <a:r>
                <a:rPr lang="en-US" altLang="zh-CN" sz="1800" dirty="0">
                  <a:latin typeface="Times New Roman" panose="02020603050405020304" pitchFamily="18" charset="0"/>
                  <a:ea typeface="宋体" panose="02010600030101010101" pitchFamily="2" charset="-122"/>
                </a:rPr>
                <a:t>7</a:t>
              </a:r>
              <a:endParaRPr lang="en-US" altLang="zh-CN" sz="1800" dirty="0">
                <a:latin typeface="Times New Roman" panose="02020603050405020304" pitchFamily="18" charset="0"/>
                <a:ea typeface="宋体" panose="02010600030101010101" pitchFamily="2" charset="-122"/>
              </a:endParaRPr>
            </a:p>
          </p:txBody>
        </p:sp>
        <p:sp>
          <p:nvSpPr>
            <p:cNvPr id="13" name="Text Box 17"/>
            <p:cNvSpPr txBox="1">
              <a:spLocks noChangeArrowheads="1"/>
            </p:cNvSpPr>
            <p:nvPr/>
          </p:nvSpPr>
          <p:spPr bwMode="auto">
            <a:xfrm>
              <a:off x="1219200" y="4800600"/>
              <a:ext cx="1973189"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a:latin typeface="Times New Roman" panose="02020603050405020304" pitchFamily="18" charset="0"/>
                  <a:ea typeface="宋体" panose="02010600030101010101" pitchFamily="2" charset="-122"/>
                </a:rPr>
                <a:t>(a) </a:t>
              </a:r>
              <a:r>
                <a:rPr lang="zh-CN" altLang="en-US" sz="1800">
                  <a:latin typeface="Times New Roman" panose="02020603050405020304" pitchFamily="18" charset="0"/>
                  <a:ea typeface="宋体" panose="02010600030101010101" pitchFamily="2" charset="-122"/>
                </a:rPr>
                <a:t>移位叠加 </a:t>
              </a:r>
              <a:endParaRPr lang="zh-CN" altLang="en-US" sz="1800">
                <a:latin typeface="Times New Roman" panose="02020603050405020304" pitchFamily="18" charset="0"/>
                <a:ea typeface="宋体" panose="02010600030101010101" pitchFamily="2" charset="-122"/>
              </a:endParaRPr>
            </a:p>
          </p:txBody>
        </p:sp>
        <p:sp>
          <p:nvSpPr>
            <p:cNvPr id="14" name="Text Box 18"/>
            <p:cNvSpPr txBox="1">
              <a:spLocks noChangeArrowheads="1"/>
            </p:cNvSpPr>
            <p:nvPr/>
          </p:nvSpPr>
          <p:spPr bwMode="auto">
            <a:xfrm>
              <a:off x="5181600" y="4800600"/>
              <a:ext cx="2067232"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a:latin typeface="Times New Roman" panose="02020603050405020304" pitchFamily="18" charset="0"/>
                  <a:ea typeface="宋体" panose="02010600030101010101" pitchFamily="2" charset="-122"/>
                </a:rPr>
                <a:t>(b) </a:t>
              </a:r>
              <a:r>
                <a:rPr lang="zh-CN" altLang="en-US" sz="1800">
                  <a:latin typeface="Times New Roman" panose="02020603050405020304" pitchFamily="18" charset="0"/>
                  <a:ea typeface="宋体" panose="02010600030101010101" pitchFamily="2" charset="-122"/>
                </a:rPr>
                <a:t>折叠叠加  </a:t>
              </a:r>
              <a:endParaRPr lang="zh-CN" altLang="en-US" sz="1800">
                <a:latin typeface="Times New Roman" panose="02020603050405020304" pitchFamily="18" charset="0"/>
                <a:ea typeface="宋体" panose="02010600030101010101" pitchFamily="2" charset="-122"/>
              </a:endParaRPr>
            </a:p>
          </p:txBody>
        </p:sp>
      </p:gr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5</a:t>
            </a:r>
            <a:r>
              <a:rPr lang="en-US" altLang="zh-CN" dirty="0"/>
              <a:t>. </a:t>
            </a:r>
            <a:r>
              <a:rPr lang="zh-CN" altLang="en-US" dirty="0"/>
              <a:t>除留余数</a:t>
            </a:r>
            <a:r>
              <a:rPr lang="zh-CN" altLang="en-US" dirty="0" smtClean="0"/>
              <a:t>法</a:t>
            </a:r>
            <a:endParaRPr lang="en-US" altLang="zh-CN" dirty="0" smtClean="0"/>
          </a:p>
          <a:p>
            <a:pPr lvl="2">
              <a:lnSpc>
                <a:spcPct val="155000"/>
              </a:lnSpc>
              <a:spcBef>
                <a:spcPct val="0"/>
              </a:spcBef>
            </a:pPr>
            <a:r>
              <a:rPr lang="zh-CN" altLang="en-US" sz="2000" dirty="0">
                <a:ea typeface="宋体" panose="02010600030101010101" pitchFamily="2" charset="-122"/>
              </a:rPr>
              <a:t>假设哈希表长为</a:t>
            </a:r>
            <a:r>
              <a:rPr lang="en-US" altLang="zh-CN" sz="2000" dirty="0">
                <a:ea typeface="宋体" panose="02010600030101010101" pitchFamily="2" charset="-122"/>
              </a:rPr>
              <a:t>m</a:t>
            </a:r>
            <a:r>
              <a:rPr lang="zh-CN" altLang="en-US" sz="2000" dirty="0">
                <a:ea typeface="宋体" panose="02010600030101010101" pitchFamily="2" charset="-122"/>
              </a:rPr>
              <a:t>，</a:t>
            </a:r>
            <a:r>
              <a:rPr lang="en-US" altLang="zh-CN" sz="2000" dirty="0">
                <a:ea typeface="宋体" panose="02010600030101010101" pitchFamily="2" charset="-122"/>
              </a:rPr>
              <a:t>p</a:t>
            </a:r>
            <a:r>
              <a:rPr lang="zh-CN" altLang="en-US" sz="2000" dirty="0">
                <a:ea typeface="宋体" panose="02010600030101010101" pitchFamily="2" charset="-122"/>
              </a:rPr>
              <a:t>为小于等于</a:t>
            </a:r>
            <a:r>
              <a:rPr lang="en-US" altLang="zh-CN" sz="2000" dirty="0">
                <a:ea typeface="宋体" panose="02010600030101010101" pitchFamily="2" charset="-122"/>
              </a:rPr>
              <a:t>m</a:t>
            </a:r>
            <a:r>
              <a:rPr lang="zh-CN" altLang="en-US" sz="2000" dirty="0">
                <a:ea typeface="宋体" panose="02010600030101010101" pitchFamily="2" charset="-122"/>
              </a:rPr>
              <a:t>的</a:t>
            </a:r>
            <a:r>
              <a:rPr lang="zh-CN" altLang="en-US" sz="2000" dirty="0" smtClean="0">
                <a:ea typeface="宋体" panose="02010600030101010101" pitchFamily="2" charset="-122"/>
              </a:rPr>
              <a:t>最大</a:t>
            </a:r>
            <a:r>
              <a:rPr lang="zh-CN" altLang="en-US" sz="2000" dirty="0" smtClean="0">
                <a:solidFill>
                  <a:srgbClr val="FF0000"/>
                </a:solidFill>
                <a:ea typeface="宋体" panose="02010600030101010101" pitchFamily="2" charset="-122"/>
              </a:rPr>
              <a:t>质数</a:t>
            </a:r>
            <a:r>
              <a:rPr lang="zh-CN" altLang="en-US" sz="2000" dirty="0" smtClean="0">
                <a:ea typeface="宋体" panose="02010600030101010101" pitchFamily="2" charset="-122"/>
              </a:rPr>
              <a:t>，</a:t>
            </a:r>
            <a:r>
              <a:rPr lang="zh-CN" altLang="en-US" sz="2000" dirty="0">
                <a:ea typeface="宋体" panose="02010600030101010101" pitchFamily="2" charset="-122"/>
              </a:rPr>
              <a:t>则哈希函数为</a:t>
            </a:r>
            <a:endParaRPr lang="zh-CN" altLang="en-US" sz="2000" dirty="0">
              <a:ea typeface="宋体" panose="02010600030101010101" pitchFamily="2" charset="-122"/>
            </a:endParaRPr>
          </a:p>
          <a:p>
            <a:pPr lvl="2">
              <a:lnSpc>
                <a:spcPct val="155000"/>
              </a:lnSpc>
              <a:spcBef>
                <a:spcPct val="0"/>
              </a:spcBef>
            </a:pPr>
            <a:r>
              <a:rPr lang="zh-CN" altLang="en-US" sz="2000" dirty="0">
                <a:ea typeface="宋体" panose="02010600030101010101" pitchFamily="2" charset="-122"/>
              </a:rPr>
              <a:t>       </a:t>
            </a:r>
            <a:r>
              <a:rPr lang="en-US" altLang="zh-CN" sz="2000" dirty="0">
                <a:solidFill>
                  <a:srgbClr val="FF0000"/>
                </a:solidFill>
                <a:ea typeface="宋体" panose="02010600030101010101" pitchFamily="2" charset="-122"/>
              </a:rPr>
              <a:t>H(key) =key % p</a:t>
            </a:r>
            <a:r>
              <a:rPr lang="zh-CN" altLang="en-US" sz="2000" dirty="0">
                <a:solidFill>
                  <a:srgbClr val="FF0000"/>
                </a:solidFill>
                <a:ea typeface="宋体" panose="02010600030101010101" pitchFamily="2" charset="-122"/>
              </a:rPr>
              <a:t> </a:t>
            </a:r>
            <a:endParaRPr lang="en-US" altLang="zh-CN" sz="2000" dirty="0">
              <a:ea typeface="宋体" panose="02010600030101010101" pitchFamily="2" charset="-122"/>
            </a:endParaRPr>
          </a:p>
          <a:p>
            <a:pPr lvl="2">
              <a:lnSpc>
                <a:spcPct val="155000"/>
              </a:lnSpc>
              <a:spcBef>
                <a:spcPct val="0"/>
              </a:spcBef>
            </a:pPr>
            <a:r>
              <a:rPr lang="zh-CN" altLang="en-US" sz="2000" dirty="0">
                <a:ea typeface="宋体" panose="02010600030101010101" pitchFamily="2" charset="-122"/>
              </a:rPr>
              <a:t>例：</a:t>
            </a:r>
            <a:r>
              <a:rPr lang="en-US" altLang="zh-CN" sz="2000" dirty="0">
                <a:ea typeface="宋体" panose="02010600030101010101" pitchFamily="2" charset="-122"/>
              </a:rPr>
              <a:t> H(key) =key % </a:t>
            </a:r>
            <a:r>
              <a:rPr lang="en-US" altLang="zh-CN" sz="2000" dirty="0" smtClean="0">
                <a:ea typeface="宋体" panose="02010600030101010101" pitchFamily="2" charset="-122"/>
              </a:rPr>
              <a:t>13</a:t>
            </a:r>
            <a:endParaRPr lang="zh-CN" altLang="en-US" sz="2000"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graphicFrame>
        <p:nvGraphicFramePr>
          <p:cNvPr id="4" name="Group 38"/>
          <p:cNvGraphicFramePr>
            <a:graphicFrameLocks noGrp="1"/>
          </p:cNvGraphicFramePr>
          <p:nvPr/>
        </p:nvGraphicFramePr>
        <p:xfrm>
          <a:off x="746301" y="2916354"/>
          <a:ext cx="6515105" cy="438150"/>
        </p:xfrm>
        <a:graphic>
          <a:graphicData uri="http://schemas.openxmlformats.org/drawingml/2006/table">
            <a:tbl>
              <a:tblPr/>
              <a:tblGrid>
                <a:gridCol w="500063"/>
                <a:gridCol w="502444"/>
                <a:gridCol w="501254"/>
                <a:gridCol w="501253"/>
                <a:gridCol w="501254"/>
                <a:gridCol w="500063"/>
                <a:gridCol w="502444"/>
                <a:gridCol w="500063"/>
                <a:gridCol w="501253"/>
                <a:gridCol w="501254"/>
                <a:gridCol w="501253"/>
                <a:gridCol w="502444"/>
                <a:gridCol w="500063"/>
              </a:tblGrid>
              <a:tr h="438150">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54</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43</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18</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46</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60</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rPr>
                        <a:t>75</a:t>
                      </a:r>
                      <a:endParaRPr kumimoji="1" lang="en-US"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endParaRPr kumimoji="1" lang="zh-CN" altLang="zh-CN" sz="1500" b="0" i="0" u="none" strike="noStrike" cap="none" normalizeH="0" baseline="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pPr>
                      <a:r>
                        <a:rPr kumimoji="1" lang="en-US" altLang="zh-CN" sz="1500" b="0"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rPr>
                        <a:t>90</a:t>
                      </a:r>
                      <a:endParaRPr kumimoji="1" lang="en-US" altLang="zh-CN" sz="1500" b="0" i="0" u="none" strike="noStrike" cap="none" normalizeH="0" baseline="0" dirty="0" smtClean="0">
                        <a:ln>
                          <a:noFill/>
                        </a:ln>
                        <a:solidFill>
                          <a:schemeClr val="tx1"/>
                        </a:solidFill>
                        <a:effectLst/>
                        <a:latin typeface="Times New Roman" panose="02020603050405020304" pitchFamily="18" charset="0"/>
                        <a:ea typeface="宋体" panose="02010600030101010101" pitchFamily="2" charset="-122"/>
                      </a:endParaRPr>
                    </a:p>
                  </a:txBody>
                  <a:tcPr marL="68580" marR="68580" marT="34290" marB="3429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5" name="Text Box 39"/>
          <p:cNvSpPr txBox="1">
            <a:spLocks noChangeArrowheads="1"/>
          </p:cNvSpPr>
          <p:nvPr/>
        </p:nvSpPr>
        <p:spPr bwMode="auto">
          <a:xfrm>
            <a:off x="848695" y="2573454"/>
            <a:ext cx="64085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en-US" altLang="zh-CN" sz="1800" dirty="0">
                <a:latin typeface="Times New Roman" panose="02020603050405020304" pitchFamily="18" charset="0"/>
                <a:ea typeface="宋体" panose="02010600030101010101" pitchFamily="2" charset="-122"/>
              </a:rPr>
              <a:t>0      1       2       3       4      5       6        7      8       9     10     11    12 </a:t>
            </a:r>
            <a:endParaRPr lang="en-US" altLang="zh-CN" sz="1800" dirty="0">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8.3.3 </a:t>
            </a:r>
            <a:r>
              <a:rPr lang="zh-CN" altLang="en-US" dirty="0"/>
              <a:t>处理冲突的</a:t>
            </a:r>
            <a:r>
              <a:rPr lang="zh-CN" altLang="en-US" dirty="0" smtClean="0"/>
              <a:t>方法</a:t>
            </a:r>
            <a:endParaRPr lang="en-US" altLang="zh-CN" dirty="0" smtClean="0"/>
          </a:p>
          <a:p>
            <a:r>
              <a:rPr lang="zh-CN" altLang="en-US" sz="2400" dirty="0">
                <a:solidFill>
                  <a:srgbClr val="FF0000"/>
                </a:solidFill>
                <a:latin typeface="华文楷体" panose="02010600040101010101" pitchFamily="2" charset="-122"/>
                <a:ea typeface="华文楷体" panose="02010600040101010101" pitchFamily="2" charset="-122"/>
              </a:rPr>
              <a:t>冲突是不可能避免</a:t>
            </a:r>
            <a:r>
              <a:rPr lang="zh-CN" altLang="en-US" sz="2400" dirty="0" smtClean="0">
                <a:solidFill>
                  <a:srgbClr val="FF0000"/>
                </a:solidFill>
                <a:latin typeface="华文楷体" panose="02010600040101010101" pitchFamily="2" charset="-122"/>
                <a:ea typeface="华文楷体" panose="02010600040101010101" pitchFamily="2" charset="-122"/>
              </a:rPr>
              <a:t>的</a:t>
            </a:r>
            <a:endParaRPr lang="en-US" altLang="zh-CN" sz="2400" dirty="0" smtClean="0">
              <a:solidFill>
                <a:srgbClr val="FF0000"/>
              </a:solidFill>
              <a:latin typeface="华文楷体" panose="02010600040101010101" pitchFamily="2" charset="-122"/>
              <a:ea typeface="华文楷体" panose="02010600040101010101" pitchFamily="2" charset="-122"/>
            </a:endParaRPr>
          </a:p>
          <a:p>
            <a:pPr marL="27305" lvl="2" indent="-27305" eaLnBrk="0" fontAlgn="base" hangingPunct="0">
              <a:lnSpc>
                <a:spcPts val="3000"/>
              </a:lnSpc>
              <a:spcBef>
                <a:spcPts val="600"/>
              </a:spcBef>
              <a:spcAft>
                <a:spcPct val="0"/>
              </a:spcAft>
              <a:defRPr/>
            </a:pPr>
            <a:r>
              <a:rPr lang="zh-CN" altLang="en-US" sz="2000" dirty="0">
                <a:ea typeface="宋体" panose="02010600030101010101" pitchFamily="2" charset="-122"/>
              </a:rPr>
              <a:t>常用处理冲突的思路： </a:t>
            </a:r>
            <a:endParaRPr lang="zh-CN" altLang="en-US" sz="2000" dirty="0">
              <a:ea typeface="宋体" panose="02010600030101010101" pitchFamily="2" charset="-122"/>
            </a:endParaRPr>
          </a:p>
          <a:p>
            <a:pPr marL="342900" lvl="2" indent="-342900" eaLnBrk="0" fontAlgn="base" hangingPunct="0">
              <a:lnSpc>
                <a:spcPts val="3000"/>
              </a:lnSpc>
              <a:spcBef>
                <a:spcPts val="600"/>
              </a:spcBef>
              <a:spcAft>
                <a:spcPct val="0"/>
              </a:spcAft>
              <a:buFont typeface="Wingdings" panose="05000000000000000000" pitchFamily="2" charset="2"/>
              <a:buChar char="Ø"/>
              <a:defRPr/>
            </a:pPr>
            <a:r>
              <a:rPr lang="zh-CN" altLang="en-US" sz="2000" dirty="0">
                <a:ea typeface="宋体" panose="02010600030101010101" pitchFamily="2" charset="-122"/>
              </a:rPr>
              <a:t>换个</a:t>
            </a:r>
            <a:r>
              <a:rPr lang="zh-CN" altLang="en-US" sz="2000" dirty="0" smtClean="0">
                <a:ea typeface="宋体" panose="02010600030101010101" pitchFamily="2" charset="-122"/>
              </a:rPr>
              <a:t>位置：</a:t>
            </a:r>
            <a:r>
              <a:rPr lang="zh-CN" altLang="en-US" sz="2000" dirty="0" smtClean="0">
                <a:solidFill>
                  <a:srgbClr val="FF0000"/>
                </a:solidFill>
                <a:ea typeface="宋体" panose="02010600030101010101" pitchFamily="2" charset="-122"/>
              </a:rPr>
              <a:t>开放</a:t>
            </a:r>
            <a:r>
              <a:rPr lang="zh-CN" altLang="en-US" sz="2000" dirty="0">
                <a:solidFill>
                  <a:srgbClr val="FF0000"/>
                </a:solidFill>
                <a:ea typeface="宋体" panose="02010600030101010101" pitchFamily="2" charset="-122"/>
              </a:rPr>
              <a:t>定址法 </a:t>
            </a:r>
            <a:endParaRPr lang="zh-CN" altLang="en-US" sz="2000" dirty="0">
              <a:solidFill>
                <a:srgbClr val="FF0000"/>
              </a:solidFill>
              <a:ea typeface="宋体" panose="02010600030101010101" pitchFamily="2" charset="-122"/>
            </a:endParaRPr>
          </a:p>
          <a:p>
            <a:pPr marL="342900" lvl="2" indent="-342900" eaLnBrk="0" fontAlgn="base" hangingPunct="0">
              <a:lnSpc>
                <a:spcPts val="3000"/>
              </a:lnSpc>
              <a:spcBef>
                <a:spcPts val="600"/>
              </a:spcBef>
              <a:spcAft>
                <a:spcPct val="0"/>
              </a:spcAft>
              <a:buFont typeface="Wingdings" panose="05000000000000000000" pitchFamily="2" charset="2"/>
              <a:buChar char="Ø"/>
              <a:defRPr/>
            </a:pPr>
            <a:r>
              <a:rPr lang="zh-CN" altLang="en-US" sz="2000" dirty="0">
                <a:ea typeface="宋体" panose="02010600030101010101" pitchFamily="2" charset="-122"/>
              </a:rPr>
              <a:t>同一位置的冲突对象组织在</a:t>
            </a:r>
            <a:r>
              <a:rPr lang="zh-CN" altLang="en-US" sz="2000" dirty="0" smtClean="0">
                <a:ea typeface="宋体" panose="02010600030101010101" pitchFamily="2" charset="-122"/>
              </a:rPr>
              <a:t>一起：</a:t>
            </a:r>
            <a:r>
              <a:rPr lang="zh-CN" altLang="en-US" sz="2000" dirty="0" smtClean="0">
                <a:solidFill>
                  <a:srgbClr val="FF0000"/>
                </a:solidFill>
                <a:ea typeface="宋体" panose="02010600030101010101" pitchFamily="2" charset="-122"/>
              </a:rPr>
              <a:t>链</a:t>
            </a:r>
            <a:r>
              <a:rPr lang="zh-CN" altLang="en-US" sz="2000" dirty="0">
                <a:solidFill>
                  <a:srgbClr val="FF0000"/>
                </a:solidFill>
                <a:ea typeface="宋体" panose="02010600030101010101" pitchFamily="2" charset="-122"/>
              </a:rPr>
              <a:t>地址法 </a:t>
            </a:r>
            <a:endParaRPr lang="zh-CN" altLang="en-US" sz="2000" dirty="0">
              <a:solidFill>
                <a:srgbClr val="FF0000"/>
              </a:solidFill>
              <a:ea typeface="宋体" panose="02010600030101010101" pitchFamily="2" charset="-122"/>
            </a:endParaRPr>
          </a:p>
          <a:p>
            <a:endParaRPr lang="zh-CN" altLang="en-US" dirty="0"/>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1</a:t>
            </a:r>
            <a:r>
              <a:rPr lang="en-US" altLang="zh-CN" dirty="0"/>
              <a:t>.</a:t>
            </a:r>
            <a:r>
              <a:rPr lang="zh-CN" altLang="en-US" dirty="0"/>
              <a:t>开放定址法（开地址法</a:t>
            </a:r>
            <a:r>
              <a:rPr lang="zh-CN" altLang="en-US" dirty="0" smtClean="0"/>
              <a:t>）</a:t>
            </a:r>
            <a:endParaRPr lang="en-US" altLang="zh-CN" dirty="0" smtClean="0"/>
          </a:p>
          <a:p>
            <a:pPr lvl="2"/>
            <a:r>
              <a:rPr lang="zh-CN" altLang="en-US" sz="2200" dirty="0">
                <a:latin typeface="华文楷体" panose="02010600040101010101" pitchFamily="2" charset="-122"/>
                <a:ea typeface="华文楷体" panose="02010600040101010101" pitchFamily="2" charset="-122"/>
              </a:rPr>
              <a:t>基本思想：</a:t>
            </a:r>
            <a:r>
              <a:rPr lang="zh-CN" altLang="en-US" sz="2200" dirty="0">
                <a:solidFill>
                  <a:srgbClr val="FF0000"/>
                </a:solidFill>
                <a:latin typeface="华文楷体" panose="02010600040101010101" pitchFamily="2" charset="-122"/>
                <a:ea typeface="华文楷体" panose="02010600040101010101" pitchFamily="2" charset="-122"/>
              </a:rPr>
              <a:t>有冲突时就去寻找下一个空的哈希地址</a:t>
            </a:r>
            <a:r>
              <a:rPr lang="zh-CN" altLang="en-US" sz="2200" dirty="0">
                <a:latin typeface="华文楷体" panose="02010600040101010101" pitchFamily="2" charset="-122"/>
                <a:ea typeface="华文楷体" panose="02010600040101010101" pitchFamily="2" charset="-122"/>
              </a:rPr>
              <a:t>，只要哈希表足够大，空的哈希地址总能找到，并将数据元素存入。 </a:t>
            </a:r>
            <a:endParaRPr lang="zh-CN" altLang="en-US" sz="2200" dirty="0">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smtClean="0"/>
              <a:t>8.3 </a:t>
            </a:r>
            <a:r>
              <a:rPr lang="zh-CN" altLang="en-US" dirty="0" smtClean="0"/>
              <a:t>哈希表</a:t>
            </a:r>
            <a:endParaRPr lang="zh-CN" altLang="en-US" dirty="0"/>
          </a:p>
        </p:txBody>
      </p:sp>
      <p:grpSp>
        <p:nvGrpSpPr>
          <p:cNvPr id="4" name="组合 3"/>
          <p:cNvGrpSpPr/>
          <p:nvPr/>
        </p:nvGrpSpPr>
        <p:grpSpPr>
          <a:xfrm>
            <a:off x="3221831" y="2230041"/>
            <a:ext cx="2484835" cy="1495425"/>
            <a:chOff x="1746" y="1525"/>
            <a:chExt cx="2087" cy="1256"/>
          </a:xfrm>
        </p:grpSpPr>
        <p:sp>
          <p:nvSpPr>
            <p:cNvPr id="5" name="矩形 4"/>
            <p:cNvSpPr/>
            <p:nvPr/>
          </p:nvSpPr>
          <p:spPr>
            <a:xfrm>
              <a:off x="1746" y="1525"/>
              <a:ext cx="2087" cy="349"/>
            </a:xfrm>
            <a:prstGeom prst="rect">
              <a:avLst/>
            </a:prstGeom>
            <a:solidFill>
              <a:schemeClr val="bg1">
                <a:alpha val="0"/>
              </a:schemeClr>
            </a:solidFill>
            <a:ln w="9525" cap="flat" cmpd="sng">
              <a:solidFill>
                <a:schemeClr val="tx1"/>
              </a:solidFill>
              <a:prstDash val="solid"/>
              <a:miter/>
              <a:headEnd type="none" w="med" len="med"/>
              <a:tailEnd type="none" w="med" len="med"/>
            </a:ln>
            <a:effectLst>
              <a:outerShdw dist="107763" dir="2699999" algn="ctr" rotWithShape="0">
                <a:schemeClr val="bg2"/>
              </a:outerShdw>
            </a:effectLst>
          </p:spPr>
          <p:txBody>
            <a:bodyPr>
              <a:spAutoFit/>
            </a:bodyPr>
            <a:lstStyle/>
            <a:p>
              <a:pPr algn="ctr" eaLnBrk="1" hangingPunct="1">
                <a:spcBef>
                  <a:spcPct val="50000"/>
                </a:spcBef>
              </a:pPr>
              <a:r>
                <a:rPr lang="zh-CN" altLang="en-US" sz="2100" b="1" dirty="0">
                  <a:latin typeface="华文楷体" panose="02010600040101010101" pitchFamily="2" charset="-122"/>
                  <a:ea typeface="华文楷体" panose="02010600040101010101" pitchFamily="2" charset="-122"/>
                </a:rPr>
                <a:t>线性探测法</a:t>
              </a:r>
              <a:endParaRPr lang="zh-CN" altLang="en-US" sz="2100" b="1" dirty="0">
                <a:latin typeface="华文楷体" panose="02010600040101010101" pitchFamily="2" charset="-122"/>
                <a:ea typeface="华文楷体" panose="02010600040101010101" pitchFamily="2" charset="-122"/>
              </a:endParaRPr>
            </a:p>
          </p:txBody>
        </p:sp>
        <p:sp>
          <p:nvSpPr>
            <p:cNvPr id="6" name="矩形 5"/>
            <p:cNvSpPr/>
            <p:nvPr/>
          </p:nvSpPr>
          <p:spPr>
            <a:xfrm>
              <a:off x="1746" y="1994"/>
              <a:ext cx="2087" cy="349"/>
            </a:xfrm>
            <a:prstGeom prst="rect">
              <a:avLst/>
            </a:prstGeom>
            <a:solidFill>
              <a:schemeClr val="bg1">
                <a:alpha val="0"/>
              </a:schemeClr>
            </a:solidFill>
            <a:ln w="9525" cap="flat" cmpd="sng">
              <a:solidFill>
                <a:schemeClr val="tx1"/>
              </a:solidFill>
              <a:prstDash val="solid"/>
              <a:miter/>
              <a:headEnd type="none" w="med" len="med"/>
              <a:tailEnd type="none" w="med" len="med"/>
            </a:ln>
            <a:effectLst>
              <a:outerShdw dist="107763" dir="2699999" algn="ctr" rotWithShape="0">
                <a:schemeClr val="bg2"/>
              </a:outerShdw>
            </a:effectLst>
          </p:spPr>
          <p:txBody>
            <a:bodyPr>
              <a:spAutoFit/>
            </a:bodyPr>
            <a:lstStyle/>
            <a:p>
              <a:pPr algn="ctr" eaLnBrk="1" hangingPunct="1">
                <a:spcBef>
                  <a:spcPct val="50000"/>
                </a:spcBef>
              </a:pPr>
              <a:r>
                <a:rPr lang="zh-CN" altLang="en-US" sz="2100" b="1" dirty="0">
                  <a:latin typeface="华文楷体" panose="02010600040101010101" pitchFamily="2" charset="-122"/>
                  <a:ea typeface="华文楷体" panose="02010600040101010101" pitchFamily="2" charset="-122"/>
                </a:rPr>
                <a:t>二次探测法</a:t>
              </a:r>
              <a:endParaRPr lang="zh-CN" altLang="en-US" sz="2100" b="1" dirty="0">
                <a:latin typeface="华文楷体" panose="02010600040101010101" pitchFamily="2" charset="-122"/>
                <a:ea typeface="华文楷体" panose="02010600040101010101" pitchFamily="2" charset="-122"/>
              </a:endParaRPr>
            </a:p>
          </p:txBody>
        </p:sp>
        <p:sp>
          <p:nvSpPr>
            <p:cNvPr id="7" name="矩形 6"/>
            <p:cNvSpPr/>
            <p:nvPr/>
          </p:nvSpPr>
          <p:spPr>
            <a:xfrm>
              <a:off x="1746" y="2432"/>
              <a:ext cx="2087" cy="349"/>
            </a:xfrm>
            <a:prstGeom prst="rect">
              <a:avLst/>
            </a:prstGeom>
            <a:solidFill>
              <a:schemeClr val="bg1">
                <a:alpha val="0"/>
              </a:schemeClr>
            </a:solidFill>
            <a:ln w="9525" cap="flat" cmpd="sng">
              <a:solidFill>
                <a:schemeClr val="tx1"/>
              </a:solidFill>
              <a:prstDash val="solid"/>
              <a:miter/>
              <a:headEnd type="none" w="med" len="med"/>
              <a:tailEnd type="none" w="med" len="med"/>
            </a:ln>
            <a:effectLst>
              <a:outerShdw dist="107763" dir="2699999" algn="ctr" rotWithShape="0">
                <a:schemeClr val="bg2"/>
              </a:outerShdw>
            </a:effectLst>
          </p:spPr>
          <p:txBody>
            <a:bodyPr>
              <a:spAutoFit/>
            </a:bodyPr>
            <a:lstStyle/>
            <a:p>
              <a:pPr algn="ctr" eaLnBrk="1" hangingPunct="1">
                <a:spcBef>
                  <a:spcPct val="50000"/>
                </a:spcBef>
              </a:pPr>
              <a:r>
                <a:rPr lang="zh-CN" altLang="en-US" sz="2100" b="1" dirty="0">
                  <a:latin typeface="华文楷体" panose="02010600040101010101" pitchFamily="2" charset="-122"/>
                  <a:ea typeface="华文楷体" panose="02010600040101010101" pitchFamily="2" charset="-122"/>
                </a:rPr>
                <a:t>伪随机探测法</a:t>
              </a:r>
              <a:endParaRPr lang="zh-CN" altLang="en-US" sz="2100" b="1" dirty="0">
                <a:latin typeface="华文楷体" panose="02010600040101010101" pitchFamily="2" charset="-122"/>
                <a:ea typeface="华文楷体" panose="0201060004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dirty="0" smtClean="0"/>
              <a:t>（</a:t>
            </a:r>
            <a:r>
              <a:rPr lang="en-US" altLang="zh-CN" dirty="0" smtClean="0"/>
              <a:t>1</a:t>
            </a:r>
            <a:r>
              <a:rPr lang="zh-CN" altLang="en-US" dirty="0" smtClean="0"/>
              <a:t>）</a:t>
            </a:r>
            <a:r>
              <a:rPr lang="zh-CN" altLang="en-US" dirty="0"/>
              <a:t>线性探测</a:t>
            </a:r>
            <a:r>
              <a:rPr lang="zh-CN" altLang="en-US" dirty="0" smtClean="0"/>
              <a:t>法</a:t>
            </a:r>
            <a:endParaRPr lang="en-US" altLang="zh-CN" dirty="0" smtClean="0"/>
          </a:p>
          <a:p>
            <a:pPr lvl="2">
              <a:spcBef>
                <a:spcPct val="0"/>
              </a:spcBef>
            </a:pPr>
            <a:r>
              <a:rPr lang="en-US" altLang="zh-CN" sz="2000" dirty="0" smtClean="0">
                <a:solidFill>
                  <a:srgbClr val="FF0000"/>
                </a:solidFill>
                <a:latin typeface="华文楷体" panose="02010600040101010101" pitchFamily="2" charset="-122"/>
                <a:ea typeface="华文楷体" panose="02010600040101010101" pitchFamily="2" charset="-122"/>
              </a:rPr>
              <a:t>   H</a:t>
            </a:r>
            <a:r>
              <a:rPr lang="en-US" altLang="zh-CN" sz="2000" baseline="-30000" dirty="0" smtClean="0">
                <a:solidFill>
                  <a:srgbClr val="FF0000"/>
                </a:solidFill>
                <a:latin typeface="华文楷体" panose="02010600040101010101" pitchFamily="2" charset="-122"/>
                <a:ea typeface="华文楷体" panose="02010600040101010101" pitchFamily="2" charset="-122"/>
              </a:rPr>
              <a:t>i</a:t>
            </a:r>
            <a:r>
              <a:rPr lang="en-US" altLang="zh-CN" sz="2000" dirty="0">
                <a:solidFill>
                  <a:srgbClr val="FF0000"/>
                </a:solidFill>
                <a:latin typeface="华文楷体" panose="02010600040101010101" pitchFamily="2" charset="-122"/>
                <a:ea typeface="华文楷体" panose="02010600040101010101" pitchFamily="2" charset="-122"/>
              </a:rPr>
              <a:t>=(Hash(key)+d</a:t>
            </a:r>
            <a:r>
              <a:rPr lang="en-US" altLang="zh-CN" sz="2000" baseline="-30000" dirty="0">
                <a:solidFill>
                  <a:srgbClr val="FF0000"/>
                </a:solidFill>
                <a:latin typeface="华文楷体" panose="02010600040101010101" pitchFamily="2" charset="-122"/>
                <a:ea typeface="华文楷体" panose="02010600040101010101" pitchFamily="2" charset="-122"/>
              </a:rPr>
              <a:t>i</a:t>
            </a:r>
            <a:r>
              <a:rPr lang="en-US" altLang="zh-CN" sz="2000" dirty="0">
                <a:solidFill>
                  <a:srgbClr val="FF0000"/>
                </a:solidFill>
                <a:latin typeface="华文楷体" panose="02010600040101010101" pitchFamily="2" charset="-122"/>
                <a:ea typeface="华文楷体" panose="02010600040101010101" pitchFamily="2" charset="-122"/>
              </a:rPr>
              <a:t>) mod m       ( 1≤i &lt; m )</a:t>
            </a:r>
            <a:endParaRPr lang="en-US" altLang="zh-CN" sz="2000" dirty="0">
              <a:solidFill>
                <a:srgbClr val="FF0000"/>
              </a:solidFill>
              <a:latin typeface="华文楷体" panose="02010600040101010101" pitchFamily="2" charset="-122"/>
              <a:ea typeface="华文楷体" panose="02010600040101010101" pitchFamily="2" charset="-122"/>
            </a:endParaRPr>
          </a:p>
          <a:p>
            <a:pPr lvl="2">
              <a:spcBef>
                <a:spcPct val="0"/>
              </a:spcBef>
            </a:pPr>
            <a:r>
              <a:rPr lang="en-US" altLang="zh-CN" sz="2000" dirty="0">
                <a:latin typeface="华文楷体" panose="02010600040101010101" pitchFamily="2" charset="-122"/>
                <a:ea typeface="华文楷体" panose="02010600040101010101" pitchFamily="2" charset="-122"/>
              </a:rPr>
              <a:t>  </a:t>
            </a:r>
            <a:r>
              <a:rPr lang="zh-CN" altLang="en-US" sz="2000" dirty="0">
                <a:latin typeface="华文楷体" panose="02010600040101010101" pitchFamily="2" charset="-122"/>
                <a:ea typeface="华文楷体" panose="02010600040101010101" pitchFamily="2" charset="-122"/>
              </a:rPr>
              <a:t>其中：</a:t>
            </a:r>
            <a:r>
              <a:rPr lang="en-US" altLang="zh-CN" sz="2000" dirty="0">
                <a:latin typeface="华文楷体" panose="02010600040101010101" pitchFamily="2" charset="-122"/>
                <a:ea typeface="华文楷体" panose="02010600040101010101" pitchFamily="2" charset="-122"/>
              </a:rPr>
              <a:t>m</a:t>
            </a:r>
            <a:r>
              <a:rPr lang="zh-CN" altLang="en-US" sz="2000" dirty="0">
                <a:latin typeface="华文楷体" panose="02010600040101010101" pitchFamily="2" charset="-122"/>
                <a:ea typeface="华文楷体" panose="02010600040101010101" pitchFamily="2" charset="-122"/>
              </a:rPr>
              <a:t>为哈希表长度</a:t>
            </a:r>
            <a:endParaRPr lang="zh-CN" altLang="en-US" sz="2000" dirty="0">
              <a:latin typeface="华文楷体" panose="02010600040101010101" pitchFamily="2" charset="-122"/>
              <a:ea typeface="华文楷体" panose="02010600040101010101" pitchFamily="2" charset="-122"/>
            </a:endParaRPr>
          </a:p>
          <a:p>
            <a:pPr lvl="2">
              <a:spcBef>
                <a:spcPct val="0"/>
              </a:spcBef>
            </a:pPr>
            <a:r>
              <a:rPr lang="zh-CN" altLang="en-US" sz="2000" dirty="0">
                <a:latin typeface="华文楷体" panose="02010600040101010101" pitchFamily="2" charset="-122"/>
                <a:ea typeface="华文楷体" panose="02010600040101010101" pitchFamily="2" charset="-122"/>
              </a:rPr>
              <a:t>     </a:t>
            </a:r>
            <a:r>
              <a:rPr lang="zh-CN" altLang="en-US" sz="2000" dirty="0" smtClean="0">
                <a:latin typeface="华文楷体" panose="02010600040101010101" pitchFamily="2" charset="-122"/>
                <a:ea typeface="华文楷体" panose="02010600040101010101" pitchFamily="2" charset="-122"/>
              </a:rPr>
              <a:t>         </a:t>
            </a:r>
            <a:r>
              <a:rPr lang="en-US" altLang="zh-CN" sz="2000" dirty="0" smtClean="0">
                <a:latin typeface="华文楷体" panose="02010600040101010101" pitchFamily="2" charset="-122"/>
                <a:ea typeface="华文楷体" panose="02010600040101010101" pitchFamily="2" charset="-122"/>
              </a:rPr>
              <a:t>d</a:t>
            </a:r>
            <a:r>
              <a:rPr lang="en-US" altLang="zh-CN" sz="2000" baseline="-30000" dirty="0" smtClean="0">
                <a:latin typeface="华文楷体" panose="02010600040101010101" pitchFamily="2" charset="-122"/>
                <a:ea typeface="华文楷体" panose="02010600040101010101" pitchFamily="2" charset="-122"/>
              </a:rPr>
              <a:t>i</a:t>
            </a:r>
            <a:r>
              <a:rPr lang="en-US" altLang="zh-CN" sz="2000" dirty="0" smtClean="0">
                <a:latin typeface="华文楷体" panose="02010600040101010101" pitchFamily="2" charset="-122"/>
                <a:ea typeface="华文楷体" panose="02010600040101010101" pitchFamily="2" charset="-122"/>
              </a:rPr>
              <a:t> </a:t>
            </a:r>
            <a:r>
              <a:rPr lang="zh-CN" altLang="en-US" sz="2000" dirty="0">
                <a:latin typeface="华文楷体" panose="02010600040101010101" pitchFamily="2" charset="-122"/>
                <a:ea typeface="华文楷体" panose="02010600040101010101" pitchFamily="2" charset="-122"/>
              </a:rPr>
              <a:t>为增量序列 </a:t>
            </a:r>
            <a:r>
              <a:rPr lang="en-US" altLang="zh-CN" sz="2000" dirty="0">
                <a:latin typeface="华文楷体" panose="02010600040101010101" pitchFamily="2" charset="-122"/>
                <a:ea typeface="华文楷体" panose="02010600040101010101" pitchFamily="2" charset="-122"/>
              </a:rPr>
              <a:t>1</a:t>
            </a:r>
            <a:r>
              <a:rPr lang="zh-CN" altLang="en-US" sz="2000" dirty="0">
                <a:latin typeface="华文楷体" panose="02010600040101010101" pitchFamily="2" charset="-122"/>
                <a:ea typeface="华文楷体" panose="02010600040101010101" pitchFamily="2" charset="-122"/>
              </a:rPr>
              <a:t>，</a:t>
            </a:r>
            <a:r>
              <a:rPr lang="en-US" altLang="zh-CN" sz="2000" dirty="0">
                <a:latin typeface="华文楷体" panose="02010600040101010101" pitchFamily="2" charset="-122"/>
                <a:ea typeface="华文楷体" panose="02010600040101010101" pitchFamily="2" charset="-122"/>
              </a:rPr>
              <a:t>2</a:t>
            </a:r>
            <a:r>
              <a:rPr lang="zh-CN" altLang="en-US" sz="2000" dirty="0">
                <a:latin typeface="华文楷体" panose="02010600040101010101" pitchFamily="2" charset="-122"/>
                <a:ea typeface="华文楷体" panose="02010600040101010101" pitchFamily="2" charset="-122"/>
              </a:rPr>
              <a:t>，</a:t>
            </a:r>
            <a:r>
              <a:rPr lang="en-US" altLang="zh-CN" sz="2000" dirty="0">
                <a:latin typeface="华文楷体" panose="02010600040101010101" pitchFamily="2" charset="-122"/>
                <a:ea typeface="华文楷体" panose="02010600040101010101" pitchFamily="2" charset="-122"/>
              </a:rPr>
              <a:t>…m-1</a:t>
            </a:r>
            <a:r>
              <a:rPr lang="zh-CN" altLang="en-US" sz="2000" dirty="0">
                <a:latin typeface="华文楷体" panose="02010600040101010101" pitchFamily="2" charset="-122"/>
                <a:ea typeface="华文楷体" panose="02010600040101010101" pitchFamily="2" charset="-122"/>
              </a:rPr>
              <a:t>，且</a:t>
            </a:r>
            <a:r>
              <a:rPr lang="en-US" altLang="zh-CN" sz="2000" dirty="0" smtClean="0">
                <a:latin typeface="华文楷体" panose="02010600040101010101" pitchFamily="2" charset="-122"/>
                <a:ea typeface="华文楷体" panose="02010600040101010101" pitchFamily="2" charset="-122"/>
              </a:rPr>
              <a:t>d</a:t>
            </a:r>
            <a:r>
              <a:rPr lang="en-US" altLang="zh-CN" sz="2000" baseline="-30000" dirty="0" smtClean="0">
                <a:latin typeface="华文楷体" panose="02010600040101010101" pitchFamily="2" charset="-122"/>
                <a:ea typeface="华文楷体" panose="02010600040101010101" pitchFamily="2" charset="-122"/>
              </a:rPr>
              <a:t>i</a:t>
            </a:r>
            <a:r>
              <a:rPr lang="en-US" altLang="zh-CN" sz="2000" dirty="0" smtClean="0">
                <a:latin typeface="华文楷体" panose="02010600040101010101" pitchFamily="2" charset="-122"/>
                <a:ea typeface="华文楷体" panose="02010600040101010101" pitchFamily="2" charset="-122"/>
              </a:rPr>
              <a:t>=</a:t>
            </a:r>
            <a:r>
              <a:rPr lang="en-US" altLang="zh-CN" sz="2000" dirty="0" err="1" smtClean="0">
                <a:latin typeface="华文楷体" panose="02010600040101010101" pitchFamily="2" charset="-122"/>
                <a:ea typeface="华文楷体" panose="02010600040101010101" pitchFamily="2" charset="-122"/>
              </a:rPr>
              <a:t>i</a:t>
            </a:r>
            <a:endParaRPr lang="zh-CN" altLang="en-US" sz="2400"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
        <p:nvSpPr>
          <p:cNvPr id="4" name="圆角矩形标注 3"/>
          <p:cNvSpPr/>
          <p:nvPr/>
        </p:nvSpPr>
        <p:spPr>
          <a:xfrm>
            <a:off x="1336942" y="3029752"/>
            <a:ext cx="4324985" cy="457200"/>
          </a:xfrm>
          <a:prstGeom prst="wedgeRoundRectCallout">
            <a:avLst>
              <a:gd name="adj1" fmla="val 7886"/>
              <a:gd name="adj2" fmla="val -217190"/>
              <a:gd name="adj3" fmla="val 16667"/>
            </a:avLst>
          </a:prstGeom>
          <a:solidFill>
            <a:srgbClr val="CCFFFF">
              <a:alpha val="0"/>
            </a:srgbClr>
          </a:solidFill>
          <a:ln w="9525" cap="flat" cmpd="sng">
            <a:solidFill>
              <a:srgbClr val="FF6600"/>
            </a:solidFill>
            <a:prstDash val="solid"/>
            <a:miter/>
            <a:headEnd type="none" w="med" len="med"/>
            <a:tailEnd type="none" w="med" len="med"/>
          </a:ln>
        </p:spPr>
        <p:txBody>
          <a:bodyPr/>
          <a:lstStyle/>
          <a:p>
            <a:pPr eaLnBrk="1" hangingPunct="1">
              <a:spcBef>
                <a:spcPct val="0"/>
              </a:spcBef>
            </a:pPr>
            <a:r>
              <a:rPr lang="zh-CN" altLang="en-US" sz="2100" b="1" dirty="0">
                <a:latin typeface="华文楷体" panose="02010600040101010101" pitchFamily="2" charset="-122"/>
                <a:ea typeface="华文楷体" panose="02010600040101010101" pitchFamily="2" charset="-122"/>
              </a:rPr>
              <a:t>一旦冲突，就找下一个空地址存入</a:t>
            </a:r>
            <a:endParaRPr lang="zh-CN" altLang="en-US" sz="2100" b="1" dirty="0">
              <a:latin typeface="华文楷体" panose="02010600040101010101" pitchFamily="2" charset="-122"/>
              <a:ea typeface="华文楷体" panose="0201060004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5"/>
                                  </p:iterate>
                                  <p:childTnLst>
                                    <p:set>
                                      <p:cBhvr>
                                        <p:cTn id="6" dur="1" fill="hold">
                                          <p:stCondLst>
                                            <p:cond delay="74"/>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spcBef>
                <a:spcPct val="0"/>
              </a:spcBef>
            </a:pPr>
            <a:r>
              <a:rPr lang="zh-CN" altLang="en-US" dirty="0" smtClean="0"/>
              <a:t>例：关</a:t>
            </a:r>
            <a:r>
              <a:rPr lang="zh-CN" altLang="en-US" dirty="0"/>
              <a:t>键码集为 </a:t>
            </a:r>
            <a:r>
              <a:rPr lang="en-US" altLang="zh-CN" dirty="0"/>
              <a:t>{47</a:t>
            </a:r>
            <a:r>
              <a:rPr lang="zh-CN" altLang="en-US" dirty="0"/>
              <a:t>，</a:t>
            </a:r>
            <a:r>
              <a:rPr lang="en-US" altLang="zh-CN" dirty="0"/>
              <a:t>7</a:t>
            </a:r>
            <a:r>
              <a:rPr lang="zh-CN" altLang="en-US" dirty="0"/>
              <a:t>，</a:t>
            </a:r>
            <a:r>
              <a:rPr lang="en-US" altLang="zh-CN" dirty="0"/>
              <a:t>29</a:t>
            </a:r>
            <a:r>
              <a:rPr lang="zh-CN" altLang="en-US" dirty="0"/>
              <a:t>，</a:t>
            </a:r>
            <a:r>
              <a:rPr lang="en-US" altLang="zh-CN" dirty="0"/>
              <a:t>11</a:t>
            </a:r>
            <a:r>
              <a:rPr lang="zh-CN" altLang="en-US" dirty="0"/>
              <a:t>，</a:t>
            </a:r>
            <a:r>
              <a:rPr lang="en-US" altLang="zh-CN" dirty="0"/>
              <a:t>16</a:t>
            </a:r>
            <a:r>
              <a:rPr lang="zh-CN" altLang="en-US" dirty="0"/>
              <a:t>，</a:t>
            </a:r>
            <a:r>
              <a:rPr lang="en-US" altLang="zh-CN" dirty="0"/>
              <a:t>92</a:t>
            </a:r>
            <a:r>
              <a:rPr lang="zh-CN" altLang="en-US" dirty="0"/>
              <a:t>，</a:t>
            </a:r>
            <a:r>
              <a:rPr lang="en-US" altLang="zh-CN" dirty="0"/>
              <a:t>22</a:t>
            </a:r>
            <a:r>
              <a:rPr lang="zh-CN" altLang="en-US" dirty="0"/>
              <a:t>，</a:t>
            </a:r>
            <a:r>
              <a:rPr lang="en-US" altLang="zh-CN" dirty="0"/>
              <a:t>8</a:t>
            </a:r>
            <a:r>
              <a:rPr lang="zh-CN" altLang="en-US" dirty="0"/>
              <a:t>，</a:t>
            </a:r>
            <a:r>
              <a:rPr lang="en-US" altLang="zh-CN" dirty="0"/>
              <a:t>3</a:t>
            </a:r>
            <a:r>
              <a:rPr lang="en-US" altLang="zh-CN" dirty="0" smtClean="0"/>
              <a:t>}</a:t>
            </a:r>
            <a:r>
              <a:rPr lang="zh-CN" altLang="en-US" dirty="0" smtClean="0"/>
              <a:t>，表</a:t>
            </a:r>
            <a:r>
              <a:rPr lang="zh-CN" altLang="en-US" dirty="0"/>
              <a:t>长为</a:t>
            </a:r>
            <a:r>
              <a:rPr lang="en-US" altLang="zh-CN" dirty="0"/>
              <a:t>m=11</a:t>
            </a:r>
            <a:r>
              <a:rPr lang="zh-CN" altLang="en-US" dirty="0"/>
              <a:t>；    </a:t>
            </a:r>
            <a:r>
              <a:rPr lang="zh-CN" altLang="en-US" dirty="0" smtClean="0"/>
              <a:t>    哈希</a:t>
            </a:r>
            <a:r>
              <a:rPr lang="zh-CN" altLang="en-US" dirty="0"/>
              <a:t>函数为</a:t>
            </a:r>
            <a:r>
              <a:rPr lang="en-US" altLang="zh-CN" dirty="0">
                <a:solidFill>
                  <a:srgbClr val="FF0000"/>
                </a:solidFill>
              </a:rPr>
              <a:t>Hash(key)=key mod 11    </a:t>
            </a:r>
            <a:endParaRPr lang="en-US" altLang="zh-CN" dirty="0">
              <a:solidFill>
                <a:srgbClr val="FF0000"/>
              </a:solidFill>
            </a:endParaRPr>
          </a:p>
          <a:p>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
        <p:nvSpPr>
          <p:cNvPr id="4" name="矩形 3"/>
          <p:cNvSpPr/>
          <p:nvPr/>
        </p:nvSpPr>
        <p:spPr>
          <a:xfrm>
            <a:off x="1685736" y="1656333"/>
            <a:ext cx="4000500" cy="368300"/>
          </a:xfrm>
          <a:prstGeom prst="rect">
            <a:avLst/>
          </a:prstGeom>
          <a:noFill/>
          <a:ln w="38100">
            <a:noFill/>
          </a:ln>
        </p:spPr>
        <p:txBody>
          <a:bodyPr>
            <a:spAutoFit/>
          </a:bodyPr>
          <a:lstStyle/>
          <a:p>
            <a:pPr eaLnBrk="1" hangingPunct="1">
              <a:spcBef>
                <a:spcPct val="0"/>
              </a:spcBef>
            </a:pPr>
            <a:r>
              <a:rPr lang="en-US" altLang="zh-CN" sz="1800" dirty="0">
                <a:latin typeface="Times New Roman" panose="02020603050405020304" pitchFamily="18" charset="0"/>
                <a:ea typeface="宋体" panose="02010600030101010101" pitchFamily="2" charset="-122"/>
              </a:rPr>
              <a:t>0    1    2     3     4    5    6    7     8    9   10</a:t>
            </a:r>
            <a:endParaRPr lang="en-US" altLang="zh-CN" sz="1800" dirty="0">
              <a:latin typeface="Times New Roman" panose="02020603050405020304" pitchFamily="18" charset="0"/>
              <a:ea typeface="宋体" panose="02010600030101010101" pitchFamily="2" charset="-122"/>
            </a:endParaRPr>
          </a:p>
        </p:txBody>
      </p:sp>
      <p:graphicFrame>
        <p:nvGraphicFramePr>
          <p:cNvPr id="5" name="表格 4"/>
          <p:cNvGraphicFramePr/>
          <p:nvPr/>
        </p:nvGraphicFramePr>
        <p:xfrm>
          <a:off x="1685736" y="1999233"/>
          <a:ext cx="3943350" cy="323850"/>
        </p:xfrm>
        <a:graphic>
          <a:graphicData uri="http://schemas.openxmlformats.org/drawingml/2006/table">
            <a:tbl>
              <a:tblPr/>
              <a:tblGrid>
                <a:gridCol w="342900"/>
                <a:gridCol w="374015"/>
                <a:gridCol w="358775"/>
                <a:gridCol w="358140"/>
                <a:gridCol w="356870"/>
                <a:gridCol w="361950"/>
                <a:gridCol w="357505"/>
                <a:gridCol w="358140"/>
                <a:gridCol w="389255"/>
                <a:gridCol w="327660"/>
                <a:gridCol w="358140"/>
              </a:tblGrid>
              <a:tr h="323850">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p>
                  </a:txBody>
                  <a:tcPr marL="68580" marR="68580" marT="34290" marB="34290">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solidFill>
                          <a:srgbClr val="FF33CC"/>
                        </a:solidFill>
                      </a:endParaRPr>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solidFill>
                          <a:srgbClr val="FF33CC"/>
                        </a:solidFill>
                      </a:endParaRPr>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50000"/>
                        </a:spcBef>
                        <a:buNone/>
                      </a:pPr>
                      <a:r>
                        <a:rPr lang="en-US" altLang="zh-CN" sz="1500" b="1"/>
                        <a:t>47</a:t>
                      </a:r>
                      <a:endParaRPr lang="zh-CN" altLang="en-US" sz="1500" b="1"/>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solidFill>
                          <a:schemeClr val="tx2"/>
                        </a:solidFill>
                      </a:endParaRPr>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r>
                        <a:rPr lang="en-US" altLang="zh-CN" sz="1500" b="1"/>
                        <a:t>7</a:t>
                      </a:r>
                      <a:endParaRPr lang="zh-CN" altLang="en-US" sz="1500" b="1"/>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solidFill>
                          <a:srgbClr val="FF33CC"/>
                        </a:solidFill>
                      </a:endParaRPr>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spcBef>
                          <a:spcPct val="30000"/>
                        </a:spcBef>
                        <a:buNone/>
                      </a:pPr>
                      <a:endParaRPr lang="zh-CN" altLang="en-US" sz="1500" b="1" dirty="0">
                        <a:solidFill>
                          <a:schemeClr val="tx2"/>
                        </a:solidFill>
                      </a:endParaRPr>
                    </a:p>
                  </a:txBody>
                  <a:tcPr marL="68580" marR="68580" marT="34290" marB="34290">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endParaRPr lang="zh-CN" altLang="en-US" sz="1500" dirty="0"/>
                    </a:p>
                  </a:txBody>
                  <a:tcPr marL="68580" marR="68580" marT="34290" marB="34290">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r>
            </a:tbl>
          </a:graphicData>
        </a:graphic>
      </p:graphicFrame>
      <p:sp>
        <p:nvSpPr>
          <p:cNvPr id="6" name="矩形 5"/>
          <p:cNvSpPr/>
          <p:nvPr/>
        </p:nvSpPr>
        <p:spPr>
          <a:xfrm>
            <a:off x="2028636" y="2284983"/>
            <a:ext cx="3240405" cy="229870"/>
          </a:xfrm>
          <a:prstGeom prst="rect">
            <a:avLst/>
          </a:prstGeom>
          <a:noFill/>
          <a:ln w="38100">
            <a:noFill/>
          </a:ln>
        </p:spPr>
        <p:txBody>
          <a:bodyPr wrap="none" anchor="t">
            <a:spAutoFit/>
          </a:bodyPr>
          <a:lstStyle/>
          <a:p>
            <a:pPr eaLnBrk="1" hangingPunct="1">
              <a:spcBef>
                <a:spcPct val="0"/>
              </a:spcBef>
            </a:pPr>
            <a:r>
              <a:rPr lang="en-US" altLang="zh-CN" sz="900" b="0">
                <a:solidFill>
                  <a:srgbClr val="FF0000"/>
                </a:solidFill>
                <a:latin typeface="Times New Roman" panose="02020603050405020304" pitchFamily="18" charset="0"/>
                <a:ea typeface="宋体" panose="02010600030101010101" pitchFamily="2" charset="-122"/>
              </a:rPr>
              <a:t> △                                                            ▲                      △        △</a:t>
            </a:r>
            <a:endParaRPr lang="en-US" altLang="zh-CN" sz="900" b="0">
              <a:solidFill>
                <a:srgbClr val="FF0000"/>
              </a:solidFill>
              <a:latin typeface="Times New Roman" panose="02020603050405020304" pitchFamily="18" charset="0"/>
              <a:ea typeface="宋体" panose="02010600030101010101" pitchFamily="2" charset="-122"/>
            </a:endParaRPr>
          </a:p>
        </p:txBody>
      </p:sp>
      <p:sp>
        <p:nvSpPr>
          <p:cNvPr id="7" name="矩形 6"/>
          <p:cNvSpPr/>
          <p:nvPr/>
        </p:nvSpPr>
        <p:spPr>
          <a:xfrm>
            <a:off x="4557523" y="1952798"/>
            <a:ext cx="373380" cy="414020"/>
          </a:xfrm>
          <a:prstGeom prst="rect">
            <a:avLst/>
          </a:prstGeom>
          <a:noFill/>
          <a:ln w="9525">
            <a:noFill/>
          </a:ln>
        </p:spPr>
        <p:txBody>
          <a:bodyPr wrap="none" anchor="t">
            <a:spAutoFit/>
          </a:bodyPr>
          <a:lstStyle/>
          <a:p>
            <a:pPr eaLnBrk="1" hangingPunct="1">
              <a:lnSpc>
                <a:spcPct val="140000"/>
              </a:lnSpc>
            </a:pPr>
            <a:r>
              <a:rPr lang="en-US" altLang="zh-CN" sz="1500">
                <a:solidFill>
                  <a:schemeClr val="tx2"/>
                </a:solidFill>
                <a:latin typeface="Times New Roman" panose="02020603050405020304" pitchFamily="18" charset="0"/>
                <a:ea typeface="宋体" panose="02010600030101010101" pitchFamily="2" charset="-122"/>
              </a:rPr>
              <a:t>29</a:t>
            </a:r>
            <a:endParaRPr lang="en-US" altLang="zh-CN" sz="1500">
              <a:solidFill>
                <a:schemeClr val="tx2"/>
              </a:solidFill>
              <a:latin typeface="Times New Roman" panose="02020603050405020304" pitchFamily="18" charset="0"/>
              <a:ea typeface="宋体" panose="02010600030101010101" pitchFamily="2" charset="-122"/>
            </a:endParaRPr>
          </a:p>
        </p:txBody>
      </p:sp>
      <p:grpSp>
        <p:nvGrpSpPr>
          <p:cNvPr id="8" name="组合 7"/>
          <p:cNvGrpSpPr/>
          <p:nvPr/>
        </p:nvGrpSpPr>
        <p:grpSpPr>
          <a:xfrm>
            <a:off x="1700023" y="1942083"/>
            <a:ext cx="2145506" cy="425053"/>
            <a:chOff x="1212" y="1392"/>
            <a:chExt cx="1802" cy="357"/>
          </a:xfrm>
        </p:grpSpPr>
        <p:sp>
          <p:nvSpPr>
            <p:cNvPr id="9" name="矩形 8"/>
            <p:cNvSpPr/>
            <p:nvPr/>
          </p:nvSpPr>
          <p:spPr>
            <a:xfrm>
              <a:off x="1212" y="1392"/>
              <a:ext cx="307" cy="348"/>
            </a:xfrm>
            <a:prstGeom prst="rect">
              <a:avLst/>
            </a:prstGeom>
            <a:noFill/>
            <a:ln w="9525">
              <a:noFill/>
            </a:ln>
          </p:spPr>
          <p:txBody>
            <a:bodyPr wrap="none" anchor="t">
              <a:spAutoFit/>
            </a:bodyPr>
            <a:lstStyle/>
            <a:p>
              <a:pPr eaLnBrk="1" hangingPunct="1">
                <a:lnSpc>
                  <a:spcPct val="140000"/>
                </a:lnSpc>
              </a:pPr>
              <a:r>
                <a:rPr lang="en-US" altLang="zh-CN" sz="1500">
                  <a:latin typeface="Times New Roman" panose="02020603050405020304" pitchFamily="18" charset="0"/>
                  <a:ea typeface="宋体" panose="02010600030101010101" pitchFamily="2" charset="-122"/>
                </a:rPr>
                <a:t>11</a:t>
              </a:r>
              <a:endParaRPr lang="en-US" altLang="zh-CN" sz="1500">
                <a:latin typeface="Times New Roman" panose="02020603050405020304" pitchFamily="18" charset="0"/>
                <a:ea typeface="宋体" panose="02010600030101010101" pitchFamily="2" charset="-122"/>
              </a:endParaRPr>
            </a:p>
          </p:txBody>
        </p:sp>
        <p:sp>
          <p:nvSpPr>
            <p:cNvPr id="10" name="矩形 9"/>
            <p:cNvSpPr/>
            <p:nvPr/>
          </p:nvSpPr>
          <p:spPr>
            <a:xfrm>
              <a:off x="2700" y="1392"/>
              <a:ext cx="314" cy="348"/>
            </a:xfrm>
            <a:prstGeom prst="rect">
              <a:avLst/>
            </a:prstGeom>
            <a:noFill/>
            <a:ln w="9525">
              <a:noFill/>
            </a:ln>
          </p:spPr>
          <p:txBody>
            <a:bodyPr wrap="none" anchor="t">
              <a:spAutoFit/>
            </a:bodyPr>
            <a:lstStyle/>
            <a:p>
              <a:pPr eaLnBrk="1" hangingPunct="1">
                <a:lnSpc>
                  <a:spcPct val="140000"/>
                </a:lnSpc>
              </a:pPr>
              <a:r>
                <a:rPr lang="en-US" altLang="zh-CN" sz="1500">
                  <a:latin typeface="Times New Roman" panose="02020603050405020304" pitchFamily="18" charset="0"/>
                  <a:ea typeface="宋体" panose="02010600030101010101" pitchFamily="2" charset="-122"/>
                </a:rPr>
                <a:t>16</a:t>
              </a:r>
              <a:endParaRPr lang="en-US" altLang="zh-CN" sz="1500">
                <a:latin typeface="Times New Roman" panose="02020603050405020304" pitchFamily="18" charset="0"/>
                <a:ea typeface="宋体" panose="02010600030101010101" pitchFamily="2" charset="-122"/>
              </a:endParaRPr>
            </a:p>
          </p:txBody>
        </p:sp>
        <p:sp>
          <p:nvSpPr>
            <p:cNvPr id="11" name="矩形 10"/>
            <p:cNvSpPr/>
            <p:nvPr/>
          </p:nvSpPr>
          <p:spPr>
            <a:xfrm>
              <a:off x="2400" y="1401"/>
              <a:ext cx="314" cy="348"/>
            </a:xfrm>
            <a:prstGeom prst="rect">
              <a:avLst/>
            </a:prstGeom>
            <a:noFill/>
            <a:ln w="9525">
              <a:noFill/>
            </a:ln>
          </p:spPr>
          <p:txBody>
            <a:bodyPr wrap="none" anchor="t">
              <a:spAutoFit/>
            </a:bodyPr>
            <a:lstStyle/>
            <a:p>
              <a:pPr eaLnBrk="1" hangingPunct="1">
                <a:lnSpc>
                  <a:spcPct val="140000"/>
                </a:lnSpc>
              </a:pPr>
              <a:r>
                <a:rPr lang="en-US" altLang="zh-CN" sz="1500">
                  <a:latin typeface="Times New Roman" panose="02020603050405020304" pitchFamily="18" charset="0"/>
                  <a:ea typeface="宋体" panose="02010600030101010101" pitchFamily="2" charset="-122"/>
                </a:rPr>
                <a:t>92</a:t>
              </a:r>
              <a:endParaRPr lang="en-US" altLang="zh-CN" sz="1500">
                <a:latin typeface="Times New Roman" panose="02020603050405020304" pitchFamily="18" charset="0"/>
                <a:ea typeface="宋体" panose="02010600030101010101" pitchFamily="2" charset="-122"/>
              </a:endParaRPr>
            </a:p>
          </p:txBody>
        </p:sp>
      </p:grpSp>
      <p:sp>
        <p:nvSpPr>
          <p:cNvPr id="12" name="矩形 11"/>
          <p:cNvSpPr/>
          <p:nvPr/>
        </p:nvSpPr>
        <p:spPr>
          <a:xfrm>
            <a:off x="2028636" y="1942083"/>
            <a:ext cx="400050" cy="414020"/>
          </a:xfrm>
          <a:prstGeom prst="rect">
            <a:avLst/>
          </a:prstGeom>
          <a:noFill/>
          <a:ln w="9525">
            <a:noFill/>
          </a:ln>
        </p:spPr>
        <p:txBody>
          <a:bodyPr>
            <a:spAutoFit/>
          </a:bodyPr>
          <a:lstStyle/>
          <a:p>
            <a:pPr eaLnBrk="1" hangingPunct="1">
              <a:lnSpc>
                <a:spcPct val="140000"/>
              </a:lnSpc>
            </a:pPr>
            <a:r>
              <a:rPr lang="en-US" altLang="zh-CN" sz="1500">
                <a:solidFill>
                  <a:schemeClr val="tx2"/>
                </a:solidFill>
                <a:latin typeface="Times New Roman" panose="02020603050405020304" pitchFamily="18" charset="0"/>
                <a:ea typeface="宋体" panose="02010600030101010101" pitchFamily="2" charset="-122"/>
              </a:rPr>
              <a:t>22</a:t>
            </a:r>
            <a:endParaRPr lang="en-US" altLang="zh-CN" sz="1500">
              <a:solidFill>
                <a:schemeClr val="tx2"/>
              </a:solidFill>
              <a:latin typeface="Times New Roman" panose="02020603050405020304" pitchFamily="18" charset="0"/>
              <a:ea typeface="宋体" panose="02010600030101010101" pitchFamily="2" charset="-122"/>
            </a:endParaRPr>
          </a:p>
        </p:txBody>
      </p:sp>
      <p:sp>
        <p:nvSpPr>
          <p:cNvPr id="13" name="矩形 12"/>
          <p:cNvSpPr/>
          <p:nvPr/>
        </p:nvSpPr>
        <p:spPr>
          <a:xfrm>
            <a:off x="4995673" y="1942083"/>
            <a:ext cx="278130" cy="414020"/>
          </a:xfrm>
          <a:prstGeom prst="rect">
            <a:avLst/>
          </a:prstGeom>
          <a:noFill/>
          <a:ln w="9525">
            <a:noFill/>
          </a:ln>
        </p:spPr>
        <p:txBody>
          <a:bodyPr wrap="none" anchor="t">
            <a:spAutoFit/>
          </a:bodyPr>
          <a:lstStyle/>
          <a:p>
            <a:pPr eaLnBrk="1" hangingPunct="1">
              <a:lnSpc>
                <a:spcPct val="140000"/>
              </a:lnSpc>
            </a:pPr>
            <a:r>
              <a:rPr lang="en-US" altLang="zh-CN" sz="1500">
                <a:solidFill>
                  <a:schemeClr val="tx2"/>
                </a:solidFill>
                <a:latin typeface="Times New Roman" panose="02020603050405020304" pitchFamily="18" charset="0"/>
                <a:ea typeface="宋体" panose="02010600030101010101" pitchFamily="2" charset="-122"/>
              </a:rPr>
              <a:t>8</a:t>
            </a:r>
            <a:endParaRPr lang="en-US" altLang="zh-CN" sz="1500">
              <a:solidFill>
                <a:schemeClr val="tx2"/>
              </a:solidFill>
              <a:latin typeface="Times New Roman" panose="02020603050405020304" pitchFamily="18" charset="0"/>
              <a:ea typeface="宋体" panose="02010600030101010101" pitchFamily="2" charset="-122"/>
            </a:endParaRPr>
          </a:p>
        </p:txBody>
      </p:sp>
      <p:sp>
        <p:nvSpPr>
          <p:cNvPr id="14" name="矩形 13"/>
          <p:cNvSpPr/>
          <p:nvPr/>
        </p:nvSpPr>
        <p:spPr>
          <a:xfrm>
            <a:off x="3909823" y="1952798"/>
            <a:ext cx="278130" cy="414020"/>
          </a:xfrm>
          <a:prstGeom prst="rect">
            <a:avLst/>
          </a:prstGeom>
          <a:noFill/>
          <a:ln w="9525">
            <a:noFill/>
          </a:ln>
        </p:spPr>
        <p:txBody>
          <a:bodyPr wrap="none" anchor="t">
            <a:spAutoFit/>
          </a:bodyPr>
          <a:lstStyle/>
          <a:p>
            <a:pPr eaLnBrk="1" hangingPunct="1">
              <a:lnSpc>
                <a:spcPct val="140000"/>
              </a:lnSpc>
            </a:pPr>
            <a:r>
              <a:rPr lang="en-US" altLang="zh-CN" sz="1500">
                <a:solidFill>
                  <a:schemeClr val="tx2"/>
                </a:solidFill>
                <a:latin typeface="Times New Roman" panose="02020603050405020304" pitchFamily="18" charset="0"/>
                <a:ea typeface="宋体" panose="02010600030101010101" pitchFamily="2" charset="-122"/>
              </a:rPr>
              <a:t>3</a:t>
            </a:r>
            <a:endParaRPr lang="en-US" altLang="zh-CN" sz="1500">
              <a:solidFill>
                <a:schemeClr val="tx2"/>
              </a:solidFill>
              <a:latin typeface="Times New Roman" panose="02020603050405020304" pitchFamily="18" charset="0"/>
              <a:ea typeface="宋体" panose="02010600030101010101" pitchFamily="2" charset="-122"/>
            </a:endParaRPr>
          </a:p>
        </p:txBody>
      </p:sp>
      <p:sp>
        <p:nvSpPr>
          <p:cNvPr id="15" name="矩形 14"/>
          <p:cNvSpPr/>
          <p:nvPr/>
        </p:nvSpPr>
        <p:spPr>
          <a:xfrm>
            <a:off x="667751" y="2580258"/>
            <a:ext cx="6000750" cy="415498"/>
          </a:xfrm>
          <a:prstGeom prst="rect">
            <a:avLst/>
          </a:prstGeom>
          <a:solidFill>
            <a:schemeClr val="bg1">
              <a:alpha val="0"/>
            </a:schemeClr>
          </a:solidFill>
          <a:ln w="9525">
            <a:noFill/>
          </a:ln>
        </p:spPr>
        <p:txBody>
          <a:bodyPr>
            <a:spAutoFit/>
          </a:bodyPr>
          <a:lstStyle/>
          <a:p>
            <a:pPr indent="-476250">
              <a:spcBef>
                <a:spcPct val="50000"/>
              </a:spcBef>
            </a:pPr>
            <a:r>
              <a:rPr lang="en-US" altLang="zh-CN" sz="2100" b="1" dirty="0">
                <a:solidFill>
                  <a:srgbClr val="00194C"/>
                </a:solidFill>
                <a:latin typeface="华文楷体" panose="02010600040101010101" pitchFamily="2" charset="-122"/>
                <a:ea typeface="华文楷体" panose="02010600040101010101" pitchFamily="2" charset="-122"/>
              </a:rPr>
              <a:t>① 47</a:t>
            </a:r>
            <a:r>
              <a:rPr lang="zh-CN" altLang="en-US" sz="2100" b="1" dirty="0">
                <a:solidFill>
                  <a:srgbClr val="00194C"/>
                </a:solidFill>
                <a:latin typeface="华文楷体" panose="02010600040101010101" pitchFamily="2" charset="-122"/>
                <a:ea typeface="华文楷体" panose="02010600040101010101" pitchFamily="2" charset="-122"/>
              </a:rPr>
              <a:t>、</a:t>
            </a:r>
            <a:r>
              <a:rPr lang="en-US" altLang="zh-CN" sz="2100" b="1" dirty="0">
                <a:solidFill>
                  <a:srgbClr val="00194C"/>
                </a:solidFill>
                <a:latin typeface="华文楷体" panose="02010600040101010101" pitchFamily="2" charset="-122"/>
                <a:ea typeface="华文楷体" panose="02010600040101010101" pitchFamily="2" charset="-122"/>
              </a:rPr>
              <a:t>7</a:t>
            </a:r>
            <a:r>
              <a:rPr lang="zh-CN" altLang="en-US" sz="2100" b="1" dirty="0">
                <a:solidFill>
                  <a:srgbClr val="00194C"/>
                </a:solidFill>
                <a:latin typeface="华文楷体" panose="02010600040101010101" pitchFamily="2" charset="-122"/>
                <a:ea typeface="华文楷体" panose="02010600040101010101" pitchFamily="2" charset="-122"/>
              </a:rPr>
              <a:t>、</a:t>
            </a:r>
            <a:r>
              <a:rPr lang="en-US" altLang="zh-CN" sz="2100" b="1" dirty="0">
                <a:solidFill>
                  <a:srgbClr val="00194C"/>
                </a:solidFill>
                <a:latin typeface="华文楷体" panose="02010600040101010101" pitchFamily="2" charset="-122"/>
                <a:ea typeface="华文楷体" panose="02010600040101010101" pitchFamily="2" charset="-122"/>
              </a:rPr>
              <a:t>11</a:t>
            </a:r>
            <a:r>
              <a:rPr lang="zh-CN" altLang="en-US" sz="2100" b="1" dirty="0">
                <a:solidFill>
                  <a:srgbClr val="00194C"/>
                </a:solidFill>
                <a:latin typeface="华文楷体" panose="02010600040101010101" pitchFamily="2" charset="-122"/>
                <a:ea typeface="华文楷体" panose="02010600040101010101" pitchFamily="2" charset="-122"/>
              </a:rPr>
              <a:t>、</a:t>
            </a:r>
            <a:r>
              <a:rPr lang="en-US" altLang="zh-CN" sz="2100" b="1" dirty="0">
                <a:solidFill>
                  <a:srgbClr val="00194C"/>
                </a:solidFill>
                <a:latin typeface="华文楷体" panose="02010600040101010101" pitchFamily="2" charset="-122"/>
                <a:ea typeface="华文楷体" panose="02010600040101010101" pitchFamily="2" charset="-122"/>
              </a:rPr>
              <a:t>16</a:t>
            </a:r>
            <a:r>
              <a:rPr lang="zh-CN" altLang="en-US" sz="2100" b="1" dirty="0">
                <a:solidFill>
                  <a:srgbClr val="00194C"/>
                </a:solidFill>
                <a:latin typeface="华文楷体" panose="02010600040101010101" pitchFamily="2" charset="-122"/>
                <a:ea typeface="华文楷体" panose="02010600040101010101" pitchFamily="2" charset="-122"/>
              </a:rPr>
              <a:t>、</a:t>
            </a:r>
            <a:r>
              <a:rPr lang="en-US" altLang="zh-CN" sz="2100" b="1" dirty="0">
                <a:solidFill>
                  <a:srgbClr val="00194C"/>
                </a:solidFill>
                <a:latin typeface="华文楷体" panose="02010600040101010101" pitchFamily="2" charset="-122"/>
                <a:ea typeface="华文楷体" panose="02010600040101010101" pitchFamily="2" charset="-122"/>
              </a:rPr>
              <a:t>92</a:t>
            </a:r>
            <a:r>
              <a:rPr lang="zh-CN" altLang="en-US" sz="2100" b="1" dirty="0">
                <a:solidFill>
                  <a:srgbClr val="00194C"/>
                </a:solidFill>
                <a:latin typeface="华文楷体" panose="02010600040101010101" pitchFamily="2" charset="-122"/>
                <a:ea typeface="华文楷体" panose="02010600040101010101" pitchFamily="2" charset="-122"/>
              </a:rPr>
              <a:t>没有冲突</a:t>
            </a:r>
            <a:endParaRPr lang="zh-CN" altLang="en-US" sz="2100" b="1" dirty="0">
              <a:solidFill>
                <a:srgbClr val="00194C"/>
              </a:solidFill>
              <a:latin typeface="华文楷体" panose="02010600040101010101" pitchFamily="2" charset="-122"/>
              <a:ea typeface="华文楷体" panose="02010600040101010101" pitchFamily="2" charset="-122"/>
            </a:endParaRPr>
          </a:p>
        </p:txBody>
      </p:sp>
      <p:sp>
        <p:nvSpPr>
          <p:cNvPr id="16" name="矩形 15"/>
          <p:cNvSpPr/>
          <p:nvPr/>
        </p:nvSpPr>
        <p:spPr>
          <a:xfrm>
            <a:off x="667750" y="3050555"/>
            <a:ext cx="8062363" cy="738664"/>
          </a:xfrm>
          <a:prstGeom prst="rect">
            <a:avLst/>
          </a:prstGeom>
          <a:solidFill>
            <a:schemeClr val="bg1">
              <a:alpha val="0"/>
            </a:schemeClr>
          </a:solidFill>
          <a:ln w="9525">
            <a:noFill/>
          </a:ln>
        </p:spPr>
        <p:txBody>
          <a:bodyPr wrap="square">
            <a:spAutoFit/>
          </a:bodyPr>
          <a:lstStyle/>
          <a:p>
            <a:pPr eaLnBrk="1" hangingPunct="1">
              <a:spcBef>
                <a:spcPct val="50000"/>
              </a:spcBef>
            </a:pPr>
            <a:r>
              <a:rPr lang="en-US" altLang="zh-CN" sz="2100" b="1" dirty="0">
                <a:solidFill>
                  <a:srgbClr val="00194C"/>
                </a:solidFill>
                <a:latin typeface="华文楷体" panose="02010600040101010101" pitchFamily="2" charset="-122"/>
                <a:ea typeface="华文楷体" panose="02010600040101010101" pitchFamily="2" charset="-122"/>
              </a:rPr>
              <a:t>② Hash(29)=7</a:t>
            </a:r>
            <a:r>
              <a:rPr lang="zh-CN" altLang="en-US" sz="2100" b="1" dirty="0">
                <a:solidFill>
                  <a:srgbClr val="00194C"/>
                </a:solidFill>
                <a:latin typeface="华文楷体" panose="02010600040101010101" pitchFamily="2" charset="-122"/>
                <a:ea typeface="华文楷体" panose="02010600040101010101" pitchFamily="2" charset="-122"/>
              </a:rPr>
              <a:t>，有冲突</a:t>
            </a:r>
            <a:r>
              <a:rPr lang="zh-CN" altLang="en-US" sz="2100" b="1" dirty="0" smtClean="0">
                <a:solidFill>
                  <a:srgbClr val="00194C"/>
                </a:solidFill>
                <a:latin typeface="华文楷体" panose="02010600040101010101" pitchFamily="2" charset="-122"/>
                <a:ea typeface="华文楷体" panose="02010600040101010101" pitchFamily="2" charset="-122"/>
              </a:rPr>
              <a:t>，</a:t>
            </a:r>
            <a:r>
              <a:rPr lang="en-US" altLang="zh-CN" sz="2100" b="1" dirty="0" smtClean="0">
                <a:solidFill>
                  <a:srgbClr val="00194C"/>
                </a:solidFill>
                <a:latin typeface="华文楷体" panose="02010600040101010101" pitchFamily="2" charset="-122"/>
                <a:ea typeface="华文楷体" panose="02010600040101010101" pitchFamily="2" charset="-122"/>
              </a:rPr>
              <a:t>H</a:t>
            </a:r>
            <a:r>
              <a:rPr lang="en-US" altLang="zh-CN" sz="2100" b="1" baseline="-25000" dirty="0" smtClean="0">
                <a:solidFill>
                  <a:srgbClr val="00194C"/>
                </a:solidFill>
                <a:latin typeface="华文楷体" panose="02010600040101010101" pitchFamily="2" charset="-122"/>
                <a:ea typeface="华文楷体" panose="02010600040101010101" pitchFamily="2" charset="-122"/>
              </a:rPr>
              <a:t>1</a:t>
            </a:r>
            <a:r>
              <a:rPr lang="en-US" altLang="zh-CN" sz="2100" b="1" dirty="0">
                <a:solidFill>
                  <a:srgbClr val="00194C"/>
                </a:solidFill>
                <a:latin typeface="华文楷体" panose="02010600040101010101" pitchFamily="2" charset="-122"/>
                <a:ea typeface="华文楷体" panose="02010600040101010101" pitchFamily="2" charset="-122"/>
              </a:rPr>
              <a:t>=(Hash(29)+1) mod 11=8</a:t>
            </a:r>
            <a:r>
              <a:rPr lang="zh-CN" altLang="en-US" sz="2100" b="1" dirty="0">
                <a:solidFill>
                  <a:srgbClr val="00194C"/>
                </a:solidFill>
                <a:latin typeface="华文楷体" panose="02010600040101010101" pitchFamily="2" charset="-122"/>
                <a:ea typeface="华文楷体" panose="02010600040101010101" pitchFamily="2" charset="-122"/>
              </a:rPr>
              <a:t>，哈希地址</a:t>
            </a:r>
            <a:r>
              <a:rPr lang="en-US" altLang="zh-CN" sz="2100" b="1" dirty="0">
                <a:solidFill>
                  <a:srgbClr val="00194C"/>
                </a:solidFill>
                <a:latin typeface="华文楷体" panose="02010600040101010101" pitchFamily="2" charset="-122"/>
                <a:ea typeface="华文楷体" panose="02010600040101010101" pitchFamily="2" charset="-122"/>
              </a:rPr>
              <a:t>8</a:t>
            </a:r>
            <a:r>
              <a:rPr lang="zh-CN" altLang="en-US" sz="2100" b="1" dirty="0">
                <a:solidFill>
                  <a:srgbClr val="00194C"/>
                </a:solidFill>
                <a:latin typeface="华文楷体" panose="02010600040101010101" pitchFamily="2" charset="-122"/>
                <a:ea typeface="华文楷体" panose="02010600040101010101" pitchFamily="2" charset="-122"/>
              </a:rPr>
              <a:t>为空，因此将</a:t>
            </a:r>
            <a:r>
              <a:rPr lang="en-US" altLang="zh-CN" sz="2100" b="1" dirty="0">
                <a:solidFill>
                  <a:srgbClr val="00194C"/>
                </a:solidFill>
                <a:latin typeface="华文楷体" panose="02010600040101010101" pitchFamily="2" charset="-122"/>
                <a:ea typeface="华文楷体" panose="02010600040101010101" pitchFamily="2" charset="-122"/>
              </a:rPr>
              <a:t>29</a:t>
            </a:r>
            <a:r>
              <a:rPr lang="zh-CN" altLang="en-US" sz="2100" b="1" dirty="0">
                <a:solidFill>
                  <a:srgbClr val="00194C"/>
                </a:solidFill>
                <a:latin typeface="华文楷体" panose="02010600040101010101" pitchFamily="2" charset="-122"/>
                <a:ea typeface="华文楷体" panose="02010600040101010101" pitchFamily="2" charset="-122"/>
              </a:rPr>
              <a:t>存入</a:t>
            </a:r>
            <a:endParaRPr lang="zh-CN" altLang="en-US" sz="2100" b="1" dirty="0">
              <a:solidFill>
                <a:srgbClr val="00194C"/>
              </a:solidFill>
              <a:latin typeface="华文楷体" panose="02010600040101010101" pitchFamily="2" charset="-122"/>
              <a:ea typeface="华文楷体" panose="02010600040101010101" pitchFamily="2" charset="-122"/>
            </a:endParaRPr>
          </a:p>
        </p:txBody>
      </p:sp>
      <p:sp>
        <p:nvSpPr>
          <p:cNvPr id="17" name="矩形 16"/>
          <p:cNvSpPr/>
          <p:nvPr/>
        </p:nvSpPr>
        <p:spPr>
          <a:xfrm>
            <a:off x="667751" y="3806602"/>
            <a:ext cx="6057900" cy="415498"/>
          </a:xfrm>
          <a:prstGeom prst="rect">
            <a:avLst/>
          </a:prstGeom>
          <a:solidFill>
            <a:schemeClr val="bg1">
              <a:alpha val="0"/>
            </a:schemeClr>
          </a:solidFill>
          <a:ln w="9525">
            <a:noFill/>
          </a:ln>
        </p:spPr>
        <p:txBody>
          <a:bodyPr>
            <a:spAutoFit/>
          </a:bodyPr>
          <a:lstStyle/>
          <a:p>
            <a:pPr indent="-476250">
              <a:spcBef>
                <a:spcPct val="50000"/>
              </a:spcBef>
            </a:pPr>
            <a:r>
              <a:rPr lang="en-US" altLang="zh-CN" sz="2100" b="1" dirty="0">
                <a:solidFill>
                  <a:srgbClr val="00194C"/>
                </a:solidFill>
                <a:latin typeface="华文楷体" panose="02010600040101010101" pitchFamily="2" charset="-122"/>
                <a:ea typeface="华文楷体" panose="02010600040101010101" pitchFamily="2" charset="-122"/>
              </a:rPr>
              <a:t>③ 3 </a:t>
            </a:r>
            <a:r>
              <a:rPr lang="zh-CN" altLang="en-US" sz="2100" b="1" dirty="0">
                <a:solidFill>
                  <a:srgbClr val="00194C"/>
                </a:solidFill>
                <a:latin typeface="华文楷体" panose="02010600040101010101" pitchFamily="2" charset="-122"/>
                <a:ea typeface="华文楷体" panose="02010600040101010101" pitchFamily="2" charset="-122"/>
              </a:rPr>
              <a:t>连续移动了三次</a:t>
            </a:r>
            <a:endParaRPr lang="zh-CN" altLang="en-US" sz="2100" b="1" dirty="0">
              <a:solidFill>
                <a:srgbClr val="00194C"/>
              </a:solidFill>
              <a:latin typeface="华文楷体" panose="02010600040101010101" pitchFamily="2" charset="-122"/>
              <a:ea typeface="华文楷体" panose="0201060004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499"/>
                                          </p:stCondLst>
                                        </p:cTn>
                                        <p:tgtEl>
                                          <p:spTgt spid="12"/>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499"/>
                                          </p:stCondLst>
                                        </p:cTn>
                                        <p:tgtEl>
                                          <p:spTgt spid="14"/>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wipe(left)">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12" grpId="0"/>
      <p:bldP spid="13" grpId="0"/>
      <p:bldP spid="14" grpId="0"/>
      <p:bldP spid="15" grpId="0" bldLvl="0" animBg="1"/>
      <p:bldP spid="16" grpId="0" bldLvl="0" animBg="1"/>
      <p:bldP spid="17" grpId="0" bldLvl="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spcBef>
                <a:spcPct val="0"/>
              </a:spcBef>
            </a:pPr>
            <a:r>
              <a:rPr lang="zh-CN" altLang="en-US" dirty="0" smtClean="0">
                <a:solidFill>
                  <a:srgbClr val="FF0000"/>
                </a:solidFill>
              </a:rPr>
              <a:t>优点</a:t>
            </a:r>
            <a:r>
              <a:rPr lang="zh-CN" altLang="en-US" dirty="0">
                <a:solidFill>
                  <a:srgbClr val="FF0000"/>
                </a:solidFill>
              </a:rPr>
              <a:t>：</a:t>
            </a:r>
            <a:r>
              <a:rPr lang="zh-CN" altLang="en-US" dirty="0"/>
              <a:t>只要哈希表未被填满，</a:t>
            </a:r>
            <a:r>
              <a:rPr lang="zh-CN" altLang="en-US" dirty="0">
                <a:solidFill>
                  <a:srgbClr val="FF0000"/>
                </a:solidFill>
              </a:rPr>
              <a:t>保证能找到</a:t>
            </a:r>
            <a:r>
              <a:rPr lang="zh-CN" altLang="en-US" dirty="0"/>
              <a:t>一个空地址单元存放有冲突的元素。</a:t>
            </a:r>
            <a:endParaRPr lang="zh-CN" altLang="en-US" dirty="0"/>
          </a:p>
          <a:p>
            <a:pPr marL="0" lvl="2">
              <a:spcBef>
                <a:spcPct val="50000"/>
              </a:spcBef>
            </a:pPr>
            <a:r>
              <a:rPr lang="zh-CN" altLang="en-US" dirty="0">
                <a:solidFill>
                  <a:srgbClr val="FF0000"/>
                </a:solidFill>
              </a:rPr>
              <a:t>缺点：</a:t>
            </a:r>
            <a:r>
              <a:rPr lang="zh-CN" altLang="en-US" dirty="0"/>
              <a:t>可能使第</a:t>
            </a:r>
            <a:r>
              <a:rPr lang="en-US" altLang="zh-CN" dirty="0" err="1"/>
              <a:t>i</a:t>
            </a:r>
            <a:r>
              <a:rPr lang="zh-CN" altLang="en-US" dirty="0"/>
              <a:t>个哈希地址的同义词存入第</a:t>
            </a:r>
            <a:r>
              <a:rPr lang="en-US" altLang="zh-CN" dirty="0"/>
              <a:t>i+1</a:t>
            </a:r>
            <a:r>
              <a:rPr lang="zh-CN" altLang="en-US" dirty="0"/>
              <a:t>个地址，这样本应存入第</a:t>
            </a:r>
            <a:r>
              <a:rPr lang="en-US" altLang="zh-CN" dirty="0"/>
              <a:t>i+1</a:t>
            </a:r>
            <a:r>
              <a:rPr lang="zh-CN" altLang="en-US" dirty="0"/>
              <a:t>个哈希地址的元素变成了第</a:t>
            </a:r>
            <a:r>
              <a:rPr lang="en-US" altLang="zh-CN" dirty="0"/>
              <a:t>i+2</a:t>
            </a:r>
            <a:r>
              <a:rPr lang="zh-CN" altLang="en-US" dirty="0"/>
              <a:t>个哈希地址的同义词，</a:t>
            </a:r>
            <a:r>
              <a:rPr lang="en-US" altLang="zh-CN" dirty="0"/>
              <a:t>……</a:t>
            </a:r>
            <a:r>
              <a:rPr lang="zh-CN" altLang="en-US" dirty="0"/>
              <a:t>，产生“</a:t>
            </a:r>
            <a:r>
              <a:rPr lang="zh-CN" altLang="en-US" dirty="0">
                <a:solidFill>
                  <a:srgbClr val="FF0000"/>
                </a:solidFill>
              </a:rPr>
              <a:t>聚集”</a:t>
            </a:r>
            <a:r>
              <a:rPr lang="zh-CN" altLang="en-US" dirty="0"/>
              <a:t>现象，降低查找效率。</a:t>
            </a:r>
            <a:endParaRPr lang="zh-CN" altLang="en-US" dirty="0"/>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pSp>
        <p:nvGrpSpPr>
          <p:cNvPr id="4" name="组合 3"/>
          <p:cNvGrpSpPr/>
          <p:nvPr/>
        </p:nvGrpSpPr>
        <p:grpSpPr>
          <a:xfrm>
            <a:off x="1656160" y="3213484"/>
            <a:ext cx="5417344" cy="1104900"/>
            <a:chOff x="431" y="2243"/>
            <a:chExt cx="4550" cy="928"/>
          </a:xfrm>
        </p:grpSpPr>
        <p:sp>
          <p:nvSpPr>
            <p:cNvPr id="5" name="矩形 4"/>
            <p:cNvSpPr/>
            <p:nvPr/>
          </p:nvSpPr>
          <p:spPr>
            <a:xfrm>
              <a:off x="431" y="2822"/>
              <a:ext cx="4550" cy="349"/>
            </a:xfrm>
            <a:prstGeom prst="rect">
              <a:avLst/>
            </a:prstGeom>
            <a:noFill/>
            <a:ln w="38100">
              <a:noFill/>
            </a:ln>
          </p:spPr>
          <p:txBody>
            <a:bodyPr wrap="square">
              <a:spAutoFit/>
            </a:bodyPr>
            <a:lstStyle/>
            <a:p>
              <a:pPr marL="762000" indent="-762000" eaLnBrk="1" hangingPunct="1">
                <a:spcBef>
                  <a:spcPct val="50000"/>
                </a:spcBef>
              </a:pPr>
              <a:r>
                <a:rPr lang="zh-CN" altLang="en-US" sz="2100" b="1" dirty="0">
                  <a:solidFill>
                    <a:schemeClr val="hlink"/>
                  </a:solidFill>
                  <a:latin typeface="华文楷体" panose="02010600040101010101" pitchFamily="2" charset="-122"/>
                  <a:ea typeface="华文楷体" panose="02010600040101010101" pitchFamily="2" charset="-122"/>
                </a:rPr>
                <a:t>解决方案：</a:t>
              </a:r>
              <a:r>
                <a:rPr lang="zh-CN" altLang="en-US" sz="2100" b="1" dirty="0">
                  <a:solidFill>
                    <a:srgbClr val="FF3300"/>
                  </a:solidFill>
                  <a:latin typeface="华文楷体" panose="02010600040101010101" pitchFamily="2" charset="-122"/>
                  <a:ea typeface="华文楷体" panose="02010600040101010101" pitchFamily="2" charset="-122"/>
                </a:rPr>
                <a:t>二次探测法</a:t>
              </a:r>
              <a:r>
                <a:rPr lang="zh-CN" altLang="en-US" sz="2100" b="1" dirty="0">
                  <a:effectLst>
                    <a:outerShdw blurRad="38100" dist="38100" dir="2700000">
                      <a:srgbClr val="C0C0C0"/>
                    </a:outerShdw>
                  </a:effectLst>
                  <a:latin typeface="华文楷体" panose="02010600040101010101" pitchFamily="2" charset="-122"/>
                  <a:ea typeface="华文楷体" panose="02010600040101010101" pitchFamily="2" charset="-122"/>
                </a:rPr>
                <a:t>或</a:t>
              </a:r>
              <a:r>
                <a:rPr lang="zh-CN" altLang="en-US" sz="2100" b="1" dirty="0">
                  <a:solidFill>
                    <a:srgbClr val="FF3300"/>
                  </a:solidFill>
                  <a:latin typeface="华文楷体" panose="02010600040101010101" pitchFamily="2" charset="-122"/>
                  <a:ea typeface="华文楷体" panose="02010600040101010101" pitchFamily="2" charset="-122"/>
                </a:rPr>
                <a:t>伪随机探测法</a:t>
              </a:r>
              <a:endParaRPr lang="zh-CN" altLang="en-US" sz="2100" b="1" dirty="0">
                <a:latin typeface="华文楷体" panose="02010600040101010101" pitchFamily="2" charset="-122"/>
                <a:ea typeface="华文楷体" panose="02010600040101010101" pitchFamily="2" charset="-122"/>
              </a:endParaRPr>
            </a:p>
          </p:txBody>
        </p:sp>
        <p:sp>
          <p:nvSpPr>
            <p:cNvPr id="6" name="下箭头 5"/>
            <p:cNvSpPr/>
            <p:nvPr/>
          </p:nvSpPr>
          <p:spPr>
            <a:xfrm>
              <a:off x="2562" y="2243"/>
              <a:ext cx="273" cy="579"/>
            </a:xfrm>
            <a:prstGeom prst="downArrow">
              <a:avLst>
                <a:gd name="adj1" fmla="val 50000"/>
                <a:gd name="adj2" fmla="val 53021"/>
              </a:avLst>
            </a:prstGeom>
            <a:solidFill>
              <a:schemeClr val="accent1"/>
            </a:solidFill>
            <a:ln w="9525">
              <a:noFill/>
            </a:ln>
          </p:spPr>
          <p:txBody>
            <a:bodyPr/>
            <a:lstStyle/>
            <a:p>
              <a:endParaRPr lang="zh-CN" altLang="en-US" sz="1015"/>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smtClean="0"/>
              <a:t>（</a:t>
            </a:r>
            <a:r>
              <a:rPr lang="en-US" altLang="zh-CN" dirty="0" smtClean="0"/>
              <a:t>2</a:t>
            </a:r>
            <a:r>
              <a:rPr lang="zh-CN" altLang="en-US" dirty="0" smtClean="0"/>
              <a:t>）</a:t>
            </a:r>
            <a:r>
              <a:rPr lang="zh-CN" altLang="en-US" dirty="0"/>
              <a:t>二次</a:t>
            </a:r>
            <a:r>
              <a:rPr lang="zh-CN" altLang="en-US" dirty="0" smtClean="0"/>
              <a:t>探测再散列</a:t>
            </a:r>
            <a:endParaRPr lang="en-US" altLang="zh-CN" dirty="0" smtClean="0"/>
          </a:p>
          <a:p>
            <a:pPr lvl="2">
              <a:lnSpc>
                <a:spcPts val="2800"/>
              </a:lnSpc>
              <a:spcBef>
                <a:spcPct val="0"/>
              </a:spcBef>
            </a:pPr>
            <a:r>
              <a:rPr lang="en-US" altLang="zh-CN" sz="2000" dirty="0">
                <a:solidFill>
                  <a:srgbClr val="FF0000"/>
                </a:solidFill>
              </a:rPr>
              <a:t>H</a:t>
            </a:r>
            <a:r>
              <a:rPr lang="en-US" altLang="zh-CN" sz="2000" baseline="-30000" dirty="0">
                <a:solidFill>
                  <a:srgbClr val="FF0000"/>
                </a:solidFill>
              </a:rPr>
              <a:t>i</a:t>
            </a:r>
            <a:r>
              <a:rPr lang="en-US" altLang="zh-CN" sz="2000" dirty="0">
                <a:solidFill>
                  <a:srgbClr val="FF0000"/>
                </a:solidFill>
              </a:rPr>
              <a:t>=(Hash(key)±d</a:t>
            </a:r>
            <a:r>
              <a:rPr lang="en-US" altLang="zh-CN" sz="2000" baseline="-30000" dirty="0">
                <a:solidFill>
                  <a:srgbClr val="FF0000"/>
                </a:solidFill>
              </a:rPr>
              <a:t>i</a:t>
            </a:r>
            <a:r>
              <a:rPr lang="en-US" altLang="zh-CN" sz="2000" dirty="0">
                <a:solidFill>
                  <a:srgbClr val="FF0000"/>
                </a:solidFill>
              </a:rPr>
              <a:t>) mod m</a:t>
            </a:r>
            <a:endParaRPr lang="en-US" altLang="zh-CN" sz="2000" dirty="0">
              <a:solidFill>
                <a:srgbClr val="FF0000"/>
              </a:solidFill>
            </a:endParaRPr>
          </a:p>
          <a:p>
            <a:pPr lvl="2">
              <a:lnSpc>
                <a:spcPts val="2800"/>
              </a:lnSpc>
              <a:spcBef>
                <a:spcPct val="0"/>
              </a:spcBef>
            </a:pPr>
            <a:r>
              <a:rPr lang="zh-CN" altLang="en-US" sz="2000" dirty="0"/>
              <a:t>其中：</a:t>
            </a:r>
            <a:r>
              <a:rPr lang="en-US" altLang="zh-CN" sz="2000" dirty="0"/>
              <a:t>m</a:t>
            </a:r>
            <a:r>
              <a:rPr lang="zh-CN" altLang="en-US" sz="2000" dirty="0"/>
              <a:t>为哈希表长度，</a:t>
            </a:r>
            <a:r>
              <a:rPr lang="en-US" altLang="zh-CN" sz="2000" dirty="0"/>
              <a:t>m</a:t>
            </a:r>
            <a:r>
              <a:rPr lang="zh-CN" altLang="en-US" sz="2000" dirty="0"/>
              <a:t>要求是某个</a:t>
            </a:r>
            <a:r>
              <a:rPr lang="en-US" altLang="zh-CN" sz="2000" dirty="0"/>
              <a:t>4k+3</a:t>
            </a:r>
            <a:r>
              <a:rPr lang="zh-CN" altLang="en-US" sz="2000" dirty="0"/>
              <a:t>的质数；</a:t>
            </a:r>
            <a:endParaRPr lang="zh-CN" altLang="en-US" sz="2000" dirty="0"/>
          </a:p>
          <a:p>
            <a:pPr lvl="2">
              <a:lnSpc>
                <a:spcPts val="2800"/>
              </a:lnSpc>
              <a:spcBef>
                <a:spcPct val="0"/>
              </a:spcBef>
            </a:pPr>
            <a:r>
              <a:rPr lang="zh-CN" altLang="en-US" sz="2000" dirty="0"/>
              <a:t>      </a:t>
            </a:r>
            <a:r>
              <a:rPr lang="zh-CN" altLang="en-US" sz="2000" dirty="0" smtClean="0"/>
              <a:t>      </a:t>
            </a:r>
            <a:r>
              <a:rPr lang="en-US" altLang="zh-CN" sz="2000" dirty="0" smtClean="0"/>
              <a:t>d</a:t>
            </a:r>
            <a:r>
              <a:rPr lang="en-US" altLang="zh-CN" sz="2000" baseline="-30000" dirty="0" smtClean="0"/>
              <a:t>i</a:t>
            </a:r>
            <a:r>
              <a:rPr lang="zh-CN" altLang="en-US" sz="2000" dirty="0"/>
              <a:t>为增量序列 </a:t>
            </a:r>
            <a:r>
              <a:rPr lang="en-US" altLang="zh-CN" sz="2000" dirty="0"/>
              <a:t>1</a:t>
            </a:r>
            <a:r>
              <a:rPr lang="en-US" altLang="zh-CN" sz="2000" baseline="30000" dirty="0"/>
              <a:t>2</a:t>
            </a:r>
            <a:r>
              <a:rPr lang="zh-CN" altLang="en-US" sz="2000" dirty="0"/>
              <a:t>，</a:t>
            </a:r>
            <a:r>
              <a:rPr lang="en-US" altLang="zh-CN" sz="2000" dirty="0"/>
              <a:t>-1</a:t>
            </a:r>
            <a:r>
              <a:rPr lang="en-US" altLang="zh-CN" sz="2000" baseline="30000" dirty="0"/>
              <a:t>2</a:t>
            </a:r>
            <a:r>
              <a:rPr lang="zh-CN" altLang="en-US" sz="2000" dirty="0"/>
              <a:t>，</a:t>
            </a:r>
            <a:r>
              <a:rPr lang="en-US" altLang="zh-CN" sz="2000" dirty="0"/>
              <a:t>2</a:t>
            </a:r>
            <a:r>
              <a:rPr lang="en-US" altLang="zh-CN" sz="2000" baseline="30000" dirty="0"/>
              <a:t>2</a:t>
            </a:r>
            <a:r>
              <a:rPr lang="zh-CN" altLang="en-US" sz="2000" dirty="0"/>
              <a:t>，</a:t>
            </a:r>
            <a:r>
              <a:rPr lang="en-US" altLang="zh-CN" sz="2000" dirty="0"/>
              <a:t>-2</a:t>
            </a:r>
            <a:r>
              <a:rPr lang="en-US" altLang="zh-CN" sz="2000" baseline="30000" dirty="0"/>
              <a:t>2</a:t>
            </a:r>
            <a:r>
              <a:rPr lang="zh-CN" altLang="en-US" sz="2000" dirty="0"/>
              <a:t>，</a:t>
            </a:r>
            <a:r>
              <a:rPr lang="en-US" altLang="zh-CN" sz="2000" dirty="0"/>
              <a:t>…</a:t>
            </a:r>
            <a:r>
              <a:rPr lang="zh-CN" altLang="en-US" sz="2000" dirty="0"/>
              <a:t>，</a:t>
            </a:r>
            <a:r>
              <a:rPr lang="en-US" altLang="zh-CN" sz="2000" dirty="0"/>
              <a:t>q</a:t>
            </a:r>
            <a:r>
              <a:rPr lang="en-US" altLang="zh-CN" sz="2000" baseline="30000" dirty="0"/>
              <a:t>2</a:t>
            </a:r>
            <a:r>
              <a:rPr lang="en-US" altLang="zh-CN" sz="2000" dirty="0"/>
              <a:t> </a:t>
            </a:r>
            <a:endParaRPr lang="en-US" altLang="zh-CN" sz="2000" dirty="0" smtClean="0"/>
          </a:p>
          <a:p>
            <a:pPr lvl="2">
              <a:lnSpc>
                <a:spcPts val="2800"/>
              </a:lnSpc>
              <a:spcBef>
                <a:spcPct val="0"/>
              </a:spcBef>
            </a:pPr>
            <a:r>
              <a:rPr lang="zh-CN" altLang="en-US" sz="2000" dirty="0" smtClean="0"/>
              <a:t>例：关</a:t>
            </a:r>
            <a:r>
              <a:rPr lang="zh-CN" altLang="en-US" sz="2000" dirty="0"/>
              <a:t>键码集为 </a:t>
            </a:r>
            <a:r>
              <a:rPr lang="en-US" altLang="zh-CN" sz="2000" dirty="0"/>
              <a:t>{47</a:t>
            </a:r>
            <a:r>
              <a:rPr lang="zh-CN" altLang="en-US" sz="2000" dirty="0"/>
              <a:t>，</a:t>
            </a:r>
            <a:r>
              <a:rPr lang="en-US" altLang="zh-CN" sz="2000" dirty="0"/>
              <a:t>7</a:t>
            </a:r>
            <a:r>
              <a:rPr lang="zh-CN" altLang="en-US" sz="2000" dirty="0"/>
              <a:t>，</a:t>
            </a:r>
            <a:r>
              <a:rPr lang="en-US" altLang="zh-CN" sz="2000" dirty="0"/>
              <a:t>29</a:t>
            </a:r>
            <a:r>
              <a:rPr lang="zh-CN" altLang="en-US" sz="2000" dirty="0"/>
              <a:t>，</a:t>
            </a:r>
            <a:r>
              <a:rPr lang="en-US" altLang="zh-CN" sz="2000" dirty="0"/>
              <a:t>11</a:t>
            </a:r>
            <a:r>
              <a:rPr lang="zh-CN" altLang="en-US" sz="2000" dirty="0"/>
              <a:t>，</a:t>
            </a:r>
            <a:r>
              <a:rPr lang="en-US" altLang="zh-CN" sz="2000" dirty="0"/>
              <a:t>16</a:t>
            </a:r>
            <a:r>
              <a:rPr lang="zh-CN" altLang="en-US" sz="2000" dirty="0"/>
              <a:t>，</a:t>
            </a:r>
            <a:r>
              <a:rPr lang="en-US" altLang="zh-CN" sz="2000" dirty="0"/>
              <a:t>92</a:t>
            </a:r>
            <a:r>
              <a:rPr lang="zh-CN" altLang="en-US" sz="2000" dirty="0"/>
              <a:t>，</a:t>
            </a:r>
            <a:r>
              <a:rPr lang="en-US" altLang="zh-CN" sz="2000" dirty="0"/>
              <a:t>22</a:t>
            </a:r>
            <a:r>
              <a:rPr lang="zh-CN" altLang="en-US" sz="2000" dirty="0"/>
              <a:t>，</a:t>
            </a:r>
            <a:r>
              <a:rPr lang="en-US" altLang="zh-CN" sz="2000" dirty="0"/>
              <a:t>8</a:t>
            </a:r>
            <a:r>
              <a:rPr lang="zh-CN" altLang="en-US" sz="2000" dirty="0"/>
              <a:t>，</a:t>
            </a:r>
            <a:r>
              <a:rPr lang="en-US" altLang="zh-CN" sz="2000" dirty="0"/>
              <a:t>3}</a:t>
            </a:r>
            <a:r>
              <a:rPr lang="zh-CN" altLang="en-US" sz="2000" dirty="0"/>
              <a:t>，</a:t>
            </a:r>
            <a:endParaRPr lang="zh-CN" altLang="en-US" sz="2000" dirty="0"/>
          </a:p>
          <a:p>
            <a:pPr lvl="2">
              <a:lnSpc>
                <a:spcPts val="2800"/>
              </a:lnSpc>
              <a:spcBef>
                <a:spcPct val="0"/>
              </a:spcBef>
            </a:pPr>
            <a:r>
              <a:rPr lang="zh-CN" altLang="en-US" sz="2000" dirty="0"/>
              <a:t>设：    哈希函数</a:t>
            </a:r>
            <a:r>
              <a:rPr lang="zh-CN" altLang="en-US" sz="2000" dirty="0" smtClean="0"/>
              <a:t>为 </a:t>
            </a:r>
            <a:r>
              <a:rPr lang="en-US" altLang="zh-CN" sz="2000" dirty="0" smtClean="0"/>
              <a:t>Hash(key</a:t>
            </a:r>
            <a:r>
              <a:rPr lang="en-US" altLang="zh-CN" sz="2000" dirty="0"/>
              <a:t>)=key mod 11    </a:t>
            </a:r>
            <a:endParaRPr lang="en-US" altLang="zh-CN" sz="2000" dirty="0"/>
          </a:p>
          <a:p>
            <a:pPr lvl="2">
              <a:spcBef>
                <a:spcPct val="0"/>
              </a:spcBef>
            </a:pPr>
            <a:endParaRPr lang="en-US" altLang="zh-CN" sz="2200" dirty="0">
              <a:effectLst>
                <a:outerShdw blurRad="38100" dist="38100" dir="2700000">
                  <a:srgbClr val="FFFFFF"/>
                </a:outerShdw>
              </a:effectLst>
              <a:latin typeface="华文楷体" panose="02010600040101010101" pitchFamily="2" charset="-122"/>
              <a:ea typeface="华文楷体" panose="02010600040101010101" pitchFamily="2" charset="-122"/>
            </a:endParaRPr>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pSp>
        <p:nvGrpSpPr>
          <p:cNvPr id="4" name="组合 3"/>
          <p:cNvGrpSpPr/>
          <p:nvPr/>
        </p:nvGrpSpPr>
        <p:grpSpPr>
          <a:xfrm>
            <a:off x="1680210" y="2892994"/>
            <a:ext cx="4649859" cy="972820"/>
            <a:chOff x="960" y="2429"/>
            <a:chExt cx="3467" cy="817"/>
          </a:xfrm>
        </p:grpSpPr>
        <p:sp>
          <p:nvSpPr>
            <p:cNvPr id="5" name="矩形 4"/>
            <p:cNvSpPr/>
            <p:nvPr/>
          </p:nvSpPr>
          <p:spPr>
            <a:xfrm>
              <a:off x="1008" y="2429"/>
              <a:ext cx="3419" cy="309"/>
            </a:xfrm>
            <a:prstGeom prst="rect">
              <a:avLst/>
            </a:prstGeom>
            <a:noFill/>
            <a:ln w="38100">
              <a:noFill/>
            </a:ln>
          </p:spPr>
          <p:txBody>
            <a:bodyPr wrap="square">
              <a:spAutoFit/>
            </a:bodyPr>
            <a:lstStyle/>
            <a:p>
              <a:pPr eaLnBrk="1" hangingPunct="1">
                <a:spcBef>
                  <a:spcPct val="0"/>
                </a:spcBef>
              </a:pPr>
              <a:r>
                <a:rPr lang="en-US" altLang="zh-CN" sz="1800">
                  <a:latin typeface="Times New Roman" panose="02020603050405020304" pitchFamily="18" charset="0"/>
                  <a:ea typeface="宋体" panose="02010600030101010101" pitchFamily="2" charset="-122"/>
                </a:rPr>
                <a:t>0    1      2     3     4     5    6      7     8     9    10</a:t>
              </a:r>
              <a:endParaRPr lang="en-US" altLang="zh-CN" sz="1800">
                <a:latin typeface="Times New Roman" panose="02020603050405020304" pitchFamily="18" charset="0"/>
                <a:ea typeface="宋体" panose="02010600030101010101" pitchFamily="2" charset="-122"/>
              </a:endParaRPr>
            </a:p>
          </p:txBody>
        </p:sp>
        <p:grpSp>
          <p:nvGrpSpPr>
            <p:cNvPr id="6" name="组合 5"/>
            <p:cNvGrpSpPr/>
            <p:nvPr/>
          </p:nvGrpSpPr>
          <p:grpSpPr>
            <a:xfrm>
              <a:off x="960" y="2717"/>
              <a:ext cx="3312" cy="320"/>
              <a:chOff x="960" y="2717"/>
              <a:chExt cx="3312" cy="320"/>
            </a:xfrm>
          </p:grpSpPr>
          <p:sp>
            <p:nvSpPr>
              <p:cNvPr id="8" name="矩形 7"/>
              <p:cNvSpPr/>
              <p:nvPr/>
            </p:nvSpPr>
            <p:spPr>
              <a:xfrm>
                <a:off x="3971"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endParaRPr sz="1500" b="1" dirty="0"/>
              </a:p>
            </p:txBody>
          </p:sp>
          <p:sp>
            <p:nvSpPr>
              <p:cNvPr id="9" name="矩形 8"/>
              <p:cNvSpPr/>
              <p:nvPr/>
            </p:nvSpPr>
            <p:spPr>
              <a:xfrm>
                <a:off x="3670"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solidFill>
                      <a:schemeClr val="tx2"/>
                    </a:solidFill>
                  </a:rPr>
                  <a:t>8</a:t>
                </a:r>
                <a:endParaRPr lang="en-US" altLang="zh-CN" sz="1500" b="1">
                  <a:solidFill>
                    <a:schemeClr val="tx2"/>
                  </a:solidFill>
                </a:endParaRPr>
              </a:p>
            </p:txBody>
          </p:sp>
          <p:sp>
            <p:nvSpPr>
              <p:cNvPr id="10" name="矩形 9"/>
              <p:cNvSpPr/>
              <p:nvPr/>
            </p:nvSpPr>
            <p:spPr>
              <a:xfrm>
                <a:off x="3369"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solidFill>
                      <a:schemeClr val="tx2"/>
                    </a:solidFill>
                  </a:rPr>
                  <a:t>29</a:t>
                </a:r>
                <a:endParaRPr lang="en-US" altLang="zh-CN" sz="1500" b="1">
                  <a:solidFill>
                    <a:schemeClr val="tx2"/>
                  </a:solidFill>
                </a:endParaRPr>
              </a:p>
            </p:txBody>
          </p:sp>
          <p:sp>
            <p:nvSpPr>
              <p:cNvPr id="11" name="矩形 10"/>
              <p:cNvSpPr/>
              <p:nvPr/>
            </p:nvSpPr>
            <p:spPr>
              <a:xfrm>
                <a:off x="3068"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t>7</a:t>
                </a:r>
                <a:endParaRPr lang="en-US" altLang="zh-CN" sz="1500" b="1"/>
              </a:p>
            </p:txBody>
          </p:sp>
          <p:sp>
            <p:nvSpPr>
              <p:cNvPr id="12" name="矩形 11"/>
              <p:cNvSpPr/>
              <p:nvPr/>
            </p:nvSpPr>
            <p:spPr>
              <a:xfrm>
                <a:off x="2768" y="2717"/>
                <a:ext cx="300"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endParaRPr sz="1500" b="1" dirty="0"/>
              </a:p>
            </p:txBody>
          </p:sp>
          <p:sp>
            <p:nvSpPr>
              <p:cNvPr id="13" name="矩形 12"/>
              <p:cNvSpPr/>
              <p:nvPr/>
            </p:nvSpPr>
            <p:spPr>
              <a:xfrm>
                <a:off x="2464" y="2717"/>
                <a:ext cx="304"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t>16</a:t>
                </a:r>
                <a:endParaRPr lang="en-US" altLang="zh-CN" sz="1500" b="1"/>
              </a:p>
            </p:txBody>
          </p:sp>
          <p:sp>
            <p:nvSpPr>
              <p:cNvPr id="14" name="矩形 13"/>
              <p:cNvSpPr/>
              <p:nvPr/>
            </p:nvSpPr>
            <p:spPr>
              <a:xfrm>
                <a:off x="2164" y="2717"/>
                <a:ext cx="300"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t>92</a:t>
                </a:r>
                <a:endParaRPr lang="en-US" altLang="zh-CN" sz="1500" b="1"/>
              </a:p>
            </p:txBody>
          </p:sp>
          <p:sp>
            <p:nvSpPr>
              <p:cNvPr id="15" name="矩形 14"/>
              <p:cNvSpPr/>
              <p:nvPr/>
            </p:nvSpPr>
            <p:spPr>
              <a:xfrm>
                <a:off x="1882" y="2717"/>
                <a:ext cx="282"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t>47</a:t>
                </a:r>
                <a:endParaRPr lang="en-US" altLang="zh-CN" sz="1500" b="1"/>
              </a:p>
            </p:txBody>
          </p:sp>
          <p:sp>
            <p:nvSpPr>
              <p:cNvPr id="16" name="矩形 15"/>
              <p:cNvSpPr/>
              <p:nvPr/>
            </p:nvSpPr>
            <p:spPr>
              <a:xfrm>
                <a:off x="1562" y="2717"/>
                <a:ext cx="320"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2100" b="1">
                    <a:solidFill>
                      <a:srgbClr val="FF3300"/>
                    </a:solidFill>
                  </a:rPr>
                  <a:t>3</a:t>
                </a:r>
                <a:endParaRPr lang="en-US" altLang="zh-CN" sz="2100" b="1">
                  <a:solidFill>
                    <a:srgbClr val="FF3300"/>
                  </a:solidFill>
                </a:endParaRPr>
              </a:p>
            </p:txBody>
          </p:sp>
          <p:sp>
            <p:nvSpPr>
              <p:cNvPr id="17" name="矩形 16"/>
              <p:cNvSpPr/>
              <p:nvPr/>
            </p:nvSpPr>
            <p:spPr>
              <a:xfrm>
                <a:off x="1261"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solidFill>
                      <a:schemeClr val="tx2"/>
                    </a:solidFill>
                  </a:rPr>
                  <a:t>22</a:t>
                </a:r>
                <a:endParaRPr lang="en-US" altLang="zh-CN" sz="1500" b="1">
                  <a:solidFill>
                    <a:schemeClr val="tx2"/>
                  </a:solidFill>
                </a:endParaRPr>
              </a:p>
            </p:txBody>
          </p:sp>
          <p:sp>
            <p:nvSpPr>
              <p:cNvPr id="18" name="矩形 17"/>
              <p:cNvSpPr/>
              <p:nvPr/>
            </p:nvSpPr>
            <p:spPr>
              <a:xfrm>
                <a:off x="960" y="2717"/>
                <a:ext cx="301" cy="320"/>
              </a:xfrm>
              <a:prstGeom prst="rect">
                <a:avLst/>
              </a:prstGeom>
              <a:noFill/>
              <a:ln w="38100">
                <a:noFill/>
              </a:ln>
            </p:spPr>
            <p:txBody>
              <a:bodyPr/>
              <a:lstStyle>
                <a:lvl1pPr marL="342900" lvl="0" indent="-342900" algn="l" defTabSz="914400" rtl="0" eaLnBrk="0" fontAlgn="base" latinLnBrk="0" hangingPunct="0">
                  <a:lnSpc>
                    <a:spcPct val="100000"/>
                  </a:lnSpc>
                  <a:spcBef>
                    <a:spcPct val="20000"/>
                  </a:spcBef>
                  <a:spcAft>
                    <a:spcPct val="0"/>
                  </a:spcAft>
                  <a:buChar char="•"/>
                  <a:defRPr sz="2800" u="none" kern="1200" baseline="0">
                    <a:solidFill>
                      <a:schemeClr val="tx1"/>
                    </a:solidFill>
                    <a:latin typeface="Times New Roman" panose="02020603050405020304" pitchFamily="18" charset="0"/>
                    <a:ea typeface="仿宋_GB2312" pitchFamily="49" charset="-122"/>
                  </a:defRPr>
                </a:lvl1pPr>
                <a:lvl2pPr marL="742950" lvl="1" indent="-285750" algn="l" defTabSz="914400" rtl="0" eaLnBrk="0" fontAlgn="base" latinLnBrk="0" hangingPunct="0">
                  <a:lnSpc>
                    <a:spcPct val="100000"/>
                  </a:lnSpc>
                  <a:spcBef>
                    <a:spcPct val="20000"/>
                  </a:spcBef>
                  <a:spcAft>
                    <a:spcPct val="0"/>
                  </a:spcAft>
                  <a:buChar char="–"/>
                  <a:defRPr sz="2400" b="0" i="0" u="none" kern="1200" baseline="0">
                    <a:solidFill>
                      <a:schemeClr val="tx1"/>
                    </a:solidFill>
                    <a:latin typeface="Times New Roman" panose="02020603050405020304" pitchFamily="18" charset="0"/>
                    <a:ea typeface="仿宋_GB2312" pitchFamily="49" charset="-122"/>
                  </a:defRPr>
                </a:lvl2pPr>
                <a:lvl3pPr marL="1143000" lvl="2" indent="-228600" algn="l" defTabSz="914400" rtl="0" eaLnBrk="0" fontAlgn="base" latinLnBrk="0" hangingPunct="0">
                  <a:lnSpc>
                    <a:spcPct val="100000"/>
                  </a:lnSpc>
                  <a:spcBef>
                    <a:spcPct val="20000"/>
                  </a:spcBef>
                  <a:spcAft>
                    <a:spcPct val="0"/>
                  </a:spcAft>
                  <a:buChar char="•"/>
                  <a:defRPr sz="2000" b="0" i="0" u="none" kern="1200" baseline="0">
                    <a:solidFill>
                      <a:schemeClr val="tx1"/>
                    </a:solidFill>
                    <a:latin typeface="Times New Roman" panose="02020603050405020304" pitchFamily="18" charset="0"/>
                    <a:ea typeface="仿宋_GB2312" pitchFamily="49" charset="-122"/>
                  </a:defRPr>
                </a:lvl3pPr>
                <a:lvl4pPr marL="1600200" lvl="3"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4pPr>
                <a:lvl5pPr marL="2057400" lvl="4" indent="-228600" algn="l" defTabSz="914400" rtl="0" eaLnBrk="0" fontAlgn="base" latinLnBrk="0" hangingPunct="0">
                  <a:lnSpc>
                    <a:spcPct val="100000"/>
                  </a:lnSpc>
                  <a:spcBef>
                    <a:spcPct val="20000"/>
                  </a:spcBef>
                  <a:spcAft>
                    <a:spcPct val="0"/>
                  </a:spcAft>
                  <a:buChar char="»"/>
                  <a:defRPr sz="1800" b="0" i="0" u="none" kern="1200" baseline="0">
                    <a:solidFill>
                      <a:schemeClr val="tx1"/>
                    </a:solidFill>
                    <a:latin typeface="Times New Roman" panose="02020603050405020304" pitchFamily="18" charset="0"/>
                    <a:ea typeface="仿宋_GB2312" pitchFamily="49" charset="-122"/>
                  </a:defRPr>
                </a:lvl5pPr>
              </a:lstStyle>
              <a:p>
                <a:pPr marL="0" lvl="0" indent="0" algn="ctr">
                  <a:buNone/>
                </a:pPr>
                <a:r>
                  <a:rPr lang="en-US" altLang="zh-CN" sz="1500" b="1"/>
                  <a:t>11</a:t>
                </a:r>
                <a:endParaRPr lang="en-US" altLang="zh-CN" sz="1500" b="1"/>
              </a:p>
            </p:txBody>
          </p:sp>
          <p:sp>
            <p:nvSpPr>
              <p:cNvPr id="19" name="直接连接符 18"/>
              <p:cNvSpPr/>
              <p:nvPr/>
            </p:nvSpPr>
            <p:spPr>
              <a:xfrm>
                <a:off x="960" y="2717"/>
                <a:ext cx="3312" cy="0"/>
              </a:xfrm>
              <a:prstGeom prst="line">
                <a:avLst/>
              </a:prstGeom>
              <a:ln w="28575" cap="sq" cmpd="sng">
                <a:solidFill>
                  <a:schemeClr val="tx1"/>
                </a:solidFill>
                <a:prstDash val="solid"/>
                <a:headEnd type="none" w="med" len="med"/>
                <a:tailEnd type="none" w="med" len="med"/>
              </a:ln>
            </p:spPr>
          </p:sp>
          <p:sp>
            <p:nvSpPr>
              <p:cNvPr id="20" name="直接连接符 19"/>
              <p:cNvSpPr/>
              <p:nvPr/>
            </p:nvSpPr>
            <p:spPr>
              <a:xfrm>
                <a:off x="960" y="3037"/>
                <a:ext cx="3312" cy="0"/>
              </a:xfrm>
              <a:prstGeom prst="line">
                <a:avLst/>
              </a:prstGeom>
              <a:ln w="28575" cap="sq" cmpd="sng">
                <a:solidFill>
                  <a:schemeClr val="tx1"/>
                </a:solidFill>
                <a:prstDash val="solid"/>
                <a:headEnd type="none" w="med" len="med"/>
                <a:tailEnd type="none" w="med" len="med"/>
              </a:ln>
            </p:spPr>
          </p:sp>
          <p:sp>
            <p:nvSpPr>
              <p:cNvPr id="21" name="直接连接符 20"/>
              <p:cNvSpPr/>
              <p:nvPr/>
            </p:nvSpPr>
            <p:spPr>
              <a:xfrm>
                <a:off x="960" y="2717"/>
                <a:ext cx="0" cy="320"/>
              </a:xfrm>
              <a:prstGeom prst="line">
                <a:avLst/>
              </a:prstGeom>
              <a:ln w="28575" cap="sq" cmpd="sng">
                <a:solidFill>
                  <a:schemeClr val="tx1"/>
                </a:solidFill>
                <a:prstDash val="solid"/>
                <a:headEnd type="none" w="med" len="med"/>
                <a:tailEnd type="none" w="med" len="med"/>
              </a:ln>
            </p:spPr>
          </p:sp>
          <p:sp>
            <p:nvSpPr>
              <p:cNvPr id="22" name="直接连接符 21"/>
              <p:cNvSpPr/>
              <p:nvPr/>
            </p:nvSpPr>
            <p:spPr>
              <a:xfrm>
                <a:off x="1261" y="2717"/>
                <a:ext cx="0" cy="320"/>
              </a:xfrm>
              <a:prstGeom prst="line">
                <a:avLst/>
              </a:prstGeom>
              <a:ln w="12700" cap="flat" cmpd="sng">
                <a:solidFill>
                  <a:schemeClr val="tx1"/>
                </a:solidFill>
                <a:prstDash val="solid"/>
                <a:headEnd type="none" w="med" len="med"/>
                <a:tailEnd type="none" w="med" len="med"/>
              </a:ln>
            </p:spPr>
          </p:sp>
          <p:sp>
            <p:nvSpPr>
              <p:cNvPr id="23" name="直接连接符 22"/>
              <p:cNvSpPr/>
              <p:nvPr/>
            </p:nvSpPr>
            <p:spPr>
              <a:xfrm>
                <a:off x="1562" y="2717"/>
                <a:ext cx="0" cy="320"/>
              </a:xfrm>
              <a:prstGeom prst="line">
                <a:avLst/>
              </a:prstGeom>
              <a:ln w="12700" cap="flat" cmpd="sng">
                <a:solidFill>
                  <a:schemeClr val="tx1"/>
                </a:solidFill>
                <a:prstDash val="solid"/>
                <a:headEnd type="none" w="med" len="med"/>
                <a:tailEnd type="none" w="med" len="med"/>
              </a:ln>
            </p:spPr>
          </p:sp>
          <p:sp>
            <p:nvSpPr>
              <p:cNvPr id="24" name="直接连接符 23"/>
              <p:cNvSpPr/>
              <p:nvPr/>
            </p:nvSpPr>
            <p:spPr>
              <a:xfrm>
                <a:off x="1882" y="2717"/>
                <a:ext cx="0" cy="320"/>
              </a:xfrm>
              <a:prstGeom prst="line">
                <a:avLst/>
              </a:prstGeom>
              <a:ln w="12700" cap="flat" cmpd="sng">
                <a:solidFill>
                  <a:schemeClr val="tx1"/>
                </a:solidFill>
                <a:prstDash val="solid"/>
                <a:headEnd type="none" w="med" len="med"/>
                <a:tailEnd type="none" w="med" len="med"/>
              </a:ln>
            </p:spPr>
          </p:sp>
          <p:sp>
            <p:nvSpPr>
              <p:cNvPr id="25" name="直接连接符 24"/>
              <p:cNvSpPr/>
              <p:nvPr/>
            </p:nvSpPr>
            <p:spPr>
              <a:xfrm>
                <a:off x="2164" y="2717"/>
                <a:ext cx="0" cy="320"/>
              </a:xfrm>
              <a:prstGeom prst="line">
                <a:avLst/>
              </a:prstGeom>
              <a:ln w="12700" cap="flat" cmpd="sng">
                <a:solidFill>
                  <a:schemeClr val="tx1"/>
                </a:solidFill>
                <a:prstDash val="solid"/>
                <a:headEnd type="none" w="med" len="med"/>
                <a:tailEnd type="none" w="med" len="med"/>
              </a:ln>
            </p:spPr>
          </p:sp>
          <p:sp>
            <p:nvSpPr>
              <p:cNvPr id="26" name="直接连接符 25"/>
              <p:cNvSpPr/>
              <p:nvPr/>
            </p:nvSpPr>
            <p:spPr>
              <a:xfrm>
                <a:off x="2464" y="2717"/>
                <a:ext cx="0" cy="320"/>
              </a:xfrm>
              <a:prstGeom prst="line">
                <a:avLst/>
              </a:prstGeom>
              <a:ln w="12700" cap="flat" cmpd="sng">
                <a:solidFill>
                  <a:schemeClr val="tx1"/>
                </a:solidFill>
                <a:prstDash val="solid"/>
                <a:headEnd type="none" w="med" len="med"/>
                <a:tailEnd type="none" w="med" len="med"/>
              </a:ln>
            </p:spPr>
          </p:sp>
          <p:sp>
            <p:nvSpPr>
              <p:cNvPr id="27" name="直接连接符 26"/>
              <p:cNvSpPr/>
              <p:nvPr/>
            </p:nvSpPr>
            <p:spPr>
              <a:xfrm>
                <a:off x="2768" y="2717"/>
                <a:ext cx="0" cy="320"/>
              </a:xfrm>
              <a:prstGeom prst="line">
                <a:avLst/>
              </a:prstGeom>
              <a:ln w="12700" cap="flat" cmpd="sng">
                <a:solidFill>
                  <a:schemeClr val="tx1"/>
                </a:solidFill>
                <a:prstDash val="solid"/>
                <a:headEnd type="none" w="med" len="med"/>
                <a:tailEnd type="none" w="med" len="med"/>
              </a:ln>
            </p:spPr>
          </p:sp>
          <p:sp>
            <p:nvSpPr>
              <p:cNvPr id="28" name="直接连接符 27"/>
              <p:cNvSpPr/>
              <p:nvPr/>
            </p:nvSpPr>
            <p:spPr>
              <a:xfrm>
                <a:off x="3068" y="2717"/>
                <a:ext cx="0" cy="320"/>
              </a:xfrm>
              <a:prstGeom prst="line">
                <a:avLst/>
              </a:prstGeom>
              <a:ln w="12700" cap="flat" cmpd="sng">
                <a:solidFill>
                  <a:schemeClr val="tx1"/>
                </a:solidFill>
                <a:prstDash val="solid"/>
                <a:headEnd type="none" w="med" len="med"/>
                <a:tailEnd type="none" w="med" len="med"/>
              </a:ln>
            </p:spPr>
          </p:sp>
          <p:sp>
            <p:nvSpPr>
              <p:cNvPr id="29" name="直接连接符 28"/>
              <p:cNvSpPr/>
              <p:nvPr/>
            </p:nvSpPr>
            <p:spPr>
              <a:xfrm>
                <a:off x="3369" y="2717"/>
                <a:ext cx="0" cy="320"/>
              </a:xfrm>
              <a:prstGeom prst="line">
                <a:avLst/>
              </a:prstGeom>
              <a:ln w="12700" cap="flat" cmpd="sng">
                <a:solidFill>
                  <a:schemeClr val="tx1"/>
                </a:solidFill>
                <a:prstDash val="solid"/>
                <a:headEnd type="none" w="med" len="med"/>
                <a:tailEnd type="none" w="med" len="med"/>
              </a:ln>
            </p:spPr>
          </p:sp>
          <p:sp>
            <p:nvSpPr>
              <p:cNvPr id="30" name="直接连接符 29"/>
              <p:cNvSpPr/>
              <p:nvPr/>
            </p:nvSpPr>
            <p:spPr>
              <a:xfrm>
                <a:off x="3670" y="2717"/>
                <a:ext cx="0" cy="320"/>
              </a:xfrm>
              <a:prstGeom prst="line">
                <a:avLst/>
              </a:prstGeom>
              <a:ln w="12700" cap="flat" cmpd="sng">
                <a:solidFill>
                  <a:schemeClr val="tx1"/>
                </a:solidFill>
                <a:prstDash val="solid"/>
                <a:headEnd type="none" w="med" len="med"/>
                <a:tailEnd type="none" w="med" len="med"/>
              </a:ln>
            </p:spPr>
          </p:sp>
          <p:sp>
            <p:nvSpPr>
              <p:cNvPr id="31" name="直接连接符 30"/>
              <p:cNvSpPr/>
              <p:nvPr/>
            </p:nvSpPr>
            <p:spPr>
              <a:xfrm>
                <a:off x="3971" y="2717"/>
                <a:ext cx="0" cy="320"/>
              </a:xfrm>
              <a:prstGeom prst="line">
                <a:avLst/>
              </a:prstGeom>
              <a:ln w="12700" cap="flat" cmpd="sng">
                <a:solidFill>
                  <a:schemeClr val="tx1"/>
                </a:solidFill>
                <a:prstDash val="solid"/>
                <a:headEnd type="none" w="med" len="med"/>
                <a:tailEnd type="none" w="med" len="med"/>
              </a:ln>
            </p:spPr>
          </p:sp>
          <p:sp>
            <p:nvSpPr>
              <p:cNvPr id="32" name="直接连接符 31"/>
              <p:cNvSpPr/>
              <p:nvPr/>
            </p:nvSpPr>
            <p:spPr>
              <a:xfrm>
                <a:off x="4272" y="2717"/>
                <a:ext cx="0" cy="320"/>
              </a:xfrm>
              <a:prstGeom prst="line">
                <a:avLst/>
              </a:prstGeom>
              <a:ln w="28575" cap="sq" cmpd="sng">
                <a:solidFill>
                  <a:schemeClr val="tx1"/>
                </a:solidFill>
                <a:prstDash val="solid"/>
                <a:headEnd type="none" w="med" len="med"/>
                <a:tailEnd type="none" w="med" len="med"/>
              </a:ln>
            </p:spPr>
          </p:sp>
        </p:grpSp>
        <p:sp>
          <p:nvSpPr>
            <p:cNvPr id="7" name="矩形 6"/>
            <p:cNvSpPr/>
            <p:nvPr/>
          </p:nvSpPr>
          <p:spPr>
            <a:xfrm>
              <a:off x="1296" y="3053"/>
              <a:ext cx="2976" cy="193"/>
            </a:xfrm>
            <a:prstGeom prst="rect">
              <a:avLst/>
            </a:prstGeom>
            <a:noFill/>
            <a:ln w="38100">
              <a:noFill/>
            </a:ln>
          </p:spPr>
          <p:txBody>
            <a:bodyPr wrap="square" anchor="t">
              <a:spAutoFit/>
            </a:bodyPr>
            <a:lstStyle/>
            <a:p>
              <a:pPr eaLnBrk="1" hangingPunct="1">
                <a:spcBef>
                  <a:spcPct val="0"/>
                </a:spcBef>
              </a:pPr>
              <a:r>
                <a:rPr lang="en-US" altLang="zh-CN" sz="900" b="0">
                  <a:solidFill>
                    <a:srgbClr val="FF0000"/>
                  </a:solidFill>
                  <a:latin typeface="Times New Roman" panose="02020603050405020304" pitchFamily="18" charset="0"/>
                  <a:ea typeface="宋体" panose="02010600030101010101" pitchFamily="2" charset="-122"/>
                </a:rPr>
                <a:t> △        ▲                                                                                  △         △</a:t>
              </a:r>
              <a:endParaRPr lang="en-US" altLang="zh-CN" sz="900" b="0">
                <a:solidFill>
                  <a:srgbClr val="FF0000"/>
                </a:solidFill>
                <a:latin typeface="Times New Roman" panose="02020603050405020304" pitchFamily="18" charset="0"/>
                <a:ea typeface="宋体" panose="0201060003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32"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amond(ou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smtClean="0"/>
              <a:t>（</a:t>
            </a:r>
            <a:r>
              <a:rPr lang="en-US" altLang="zh-CN" dirty="0" smtClean="0"/>
              <a:t>3</a:t>
            </a:r>
            <a:r>
              <a:rPr lang="zh-CN" altLang="en-US" dirty="0" smtClean="0"/>
              <a:t>）</a:t>
            </a:r>
            <a:r>
              <a:rPr lang="zh-CN" altLang="en-US" dirty="0"/>
              <a:t>伪随机探测</a:t>
            </a:r>
            <a:r>
              <a:rPr lang="zh-CN" altLang="en-US" dirty="0" smtClean="0"/>
              <a:t>法</a:t>
            </a:r>
            <a:endParaRPr lang="en-US" altLang="zh-CN" dirty="0" smtClean="0"/>
          </a:p>
          <a:p>
            <a:pPr lvl="2">
              <a:spcBef>
                <a:spcPct val="0"/>
              </a:spcBef>
            </a:pPr>
            <a:r>
              <a:rPr lang="en-US" altLang="zh-CN" sz="2200" dirty="0">
                <a:latin typeface="华文楷体" panose="02010600040101010101" pitchFamily="2" charset="-122"/>
                <a:ea typeface="华文楷体" panose="02010600040101010101" pitchFamily="2" charset="-122"/>
              </a:rPr>
              <a:t>H</a:t>
            </a:r>
            <a:r>
              <a:rPr lang="en-US" altLang="zh-CN" sz="2200" baseline="-30000" dirty="0">
                <a:latin typeface="华文楷体" panose="02010600040101010101" pitchFamily="2" charset="-122"/>
                <a:ea typeface="华文楷体" panose="02010600040101010101" pitchFamily="2" charset="-122"/>
              </a:rPr>
              <a:t>i</a:t>
            </a:r>
            <a:r>
              <a:rPr lang="en-US" altLang="zh-CN" sz="2200" dirty="0">
                <a:latin typeface="华文楷体" panose="02010600040101010101" pitchFamily="2" charset="-122"/>
                <a:ea typeface="华文楷体" panose="02010600040101010101" pitchFamily="2" charset="-122"/>
              </a:rPr>
              <a:t>=(Hash(key)+d</a:t>
            </a:r>
            <a:r>
              <a:rPr lang="en-US" altLang="zh-CN" sz="2200" baseline="-30000" dirty="0">
                <a:latin typeface="华文楷体" panose="02010600040101010101" pitchFamily="2" charset="-122"/>
                <a:ea typeface="华文楷体" panose="02010600040101010101" pitchFamily="2" charset="-122"/>
              </a:rPr>
              <a:t>i</a:t>
            </a:r>
            <a:r>
              <a:rPr lang="en-US" altLang="zh-CN" sz="2200" dirty="0">
                <a:latin typeface="华文楷体" panose="02010600040101010101" pitchFamily="2" charset="-122"/>
                <a:ea typeface="华文楷体" panose="02010600040101010101" pitchFamily="2" charset="-122"/>
              </a:rPr>
              <a:t>) mod m       ( 1≤i &lt; m )</a:t>
            </a:r>
            <a:endParaRPr lang="en-US" altLang="zh-CN" sz="2200" dirty="0">
              <a:latin typeface="华文楷体" panose="02010600040101010101" pitchFamily="2" charset="-122"/>
              <a:ea typeface="华文楷体" panose="02010600040101010101" pitchFamily="2" charset="-122"/>
            </a:endParaRPr>
          </a:p>
          <a:p>
            <a:pPr lvl="2">
              <a:spcBef>
                <a:spcPct val="0"/>
              </a:spcBef>
            </a:pPr>
            <a:r>
              <a:rPr lang="en-US" altLang="zh-CN" sz="2200" dirty="0">
                <a:latin typeface="华文楷体" panose="02010600040101010101" pitchFamily="2" charset="-122"/>
                <a:ea typeface="华文楷体" panose="02010600040101010101" pitchFamily="2" charset="-122"/>
              </a:rPr>
              <a:t>  </a:t>
            </a:r>
            <a:r>
              <a:rPr lang="zh-CN" altLang="en-US" sz="2200" dirty="0">
                <a:latin typeface="华文楷体" panose="02010600040101010101" pitchFamily="2" charset="-122"/>
                <a:ea typeface="华文楷体" panose="02010600040101010101" pitchFamily="2" charset="-122"/>
              </a:rPr>
              <a:t>其中：</a:t>
            </a:r>
            <a:r>
              <a:rPr lang="en-US" altLang="zh-CN" sz="2200" dirty="0">
                <a:latin typeface="华文楷体" panose="02010600040101010101" pitchFamily="2" charset="-122"/>
                <a:ea typeface="华文楷体" panose="02010600040101010101" pitchFamily="2" charset="-122"/>
              </a:rPr>
              <a:t>m</a:t>
            </a:r>
            <a:r>
              <a:rPr lang="zh-CN" altLang="en-US" sz="2200" dirty="0">
                <a:latin typeface="华文楷体" panose="02010600040101010101" pitchFamily="2" charset="-122"/>
                <a:ea typeface="华文楷体" panose="02010600040101010101" pitchFamily="2" charset="-122"/>
              </a:rPr>
              <a:t>为哈希表</a:t>
            </a:r>
            <a:r>
              <a:rPr lang="zh-CN" altLang="en-US" sz="2200" dirty="0" smtClean="0">
                <a:latin typeface="华文楷体" panose="02010600040101010101" pitchFamily="2" charset="-122"/>
                <a:ea typeface="华文楷体" panose="02010600040101010101" pitchFamily="2" charset="-122"/>
              </a:rPr>
              <a:t>长度，</a:t>
            </a:r>
            <a:r>
              <a:rPr lang="en-US" altLang="zh-CN" sz="2200" dirty="0" smtClean="0">
                <a:latin typeface="华文楷体" panose="02010600040101010101" pitchFamily="2" charset="-122"/>
                <a:ea typeface="华文楷体" panose="02010600040101010101" pitchFamily="2" charset="-122"/>
              </a:rPr>
              <a:t>d</a:t>
            </a:r>
            <a:r>
              <a:rPr lang="en-US" altLang="zh-CN" sz="2200" baseline="-30000" dirty="0" smtClean="0">
                <a:latin typeface="华文楷体" panose="02010600040101010101" pitchFamily="2" charset="-122"/>
                <a:ea typeface="华文楷体" panose="02010600040101010101" pitchFamily="2" charset="-122"/>
              </a:rPr>
              <a:t>i</a:t>
            </a:r>
            <a:r>
              <a:rPr lang="en-US" altLang="zh-CN" sz="2200" dirty="0" smtClean="0">
                <a:latin typeface="华文楷体" panose="02010600040101010101" pitchFamily="2" charset="-122"/>
                <a:ea typeface="华文楷体" panose="02010600040101010101" pitchFamily="2" charset="-122"/>
              </a:rPr>
              <a:t> </a:t>
            </a:r>
            <a:r>
              <a:rPr lang="zh-CN" altLang="en-US" sz="2200" dirty="0">
                <a:latin typeface="华文楷体" panose="02010600040101010101" pitchFamily="2" charset="-122"/>
                <a:ea typeface="华文楷体" panose="02010600040101010101" pitchFamily="2" charset="-122"/>
              </a:rPr>
              <a:t>为</a:t>
            </a:r>
            <a:r>
              <a:rPr lang="zh-CN" altLang="en-US" sz="2200" dirty="0" smtClean="0">
                <a:latin typeface="华文楷体" panose="02010600040101010101" pitchFamily="2" charset="-122"/>
                <a:ea typeface="华文楷体" panose="02010600040101010101" pitchFamily="2" charset="-122"/>
              </a:rPr>
              <a:t>随机数</a:t>
            </a:r>
            <a:endParaRPr lang="zh-CN" altLang="en-US" sz="2200" dirty="0">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spcBef>
                <a:spcPct val="0"/>
              </a:spcBef>
            </a:pPr>
            <a:r>
              <a:rPr lang="zh-CN" altLang="en-US" dirty="0" smtClean="0"/>
              <a:t>在</a:t>
            </a:r>
            <a:r>
              <a:rPr lang="zh-CN" altLang="en-US" dirty="0"/>
              <a:t>开放地址散列表中，删除操作要很小心。 </a:t>
            </a:r>
            <a:endParaRPr lang="zh-CN" altLang="en-US" dirty="0"/>
          </a:p>
          <a:p>
            <a:pPr lvl="2">
              <a:spcBef>
                <a:spcPct val="0"/>
              </a:spcBef>
            </a:pPr>
            <a:r>
              <a:rPr lang="zh-CN" altLang="en-US" dirty="0"/>
              <a:t>通常只能“</a:t>
            </a:r>
            <a:r>
              <a:rPr lang="zh-CN" altLang="en-US" dirty="0">
                <a:solidFill>
                  <a:srgbClr val="FF0000"/>
                </a:solidFill>
              </a:rPr>
              <a:t>懒惰删除</a:t>
            </a:r>
            <a:r>
              <a:rPr lang="zh-CN" altLang="en-US" dirty="0"/>
              <a:t>”，即需要增加一个“删除标记</a:t>
            </a:r>
            <a:r>
              <a:rPr lang="en-US" altLang="zh-CN" dirty="0"/>
              <a:t>(Deleted)”</a:t>
            </a:r>
            <a:r>
              <a:rPr lang="zh-CN" altLang="en-US" dirty="0"/>
              <a:t>，而并不是真正删除它。 </a:t>
            </a:r>
            <a:endParaRPr lang="zh-CN" altLang="en-US" dirty="0"/>
          </a:p>
          <a:p>
            <a:pPr lvl="2">
              <a:spcBef>
                <a:spcPct val="0"/>
              </a:spcBef>
            </a:pPr>
            <a:r>
              <a:rPr lang="zh-CN" altLang="en-US" dirty="0"/>
              <a:t>以便查找时不会“断链”。其空间可以在下次插入时重用。 </a:t>
            </a:r>
            <a:endParaRPr lang="zh-CN" altLang="en-US" dirty="0"/>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
        <p:nvSpPr>
          <p:cNvPr id="4" name="TextBox 2"/>
          <p:cNvSpPr txBox="1">
            <a:spLocks noChangeArrowheads="1"/>
          </p:cNvSpPr>
          <p:nvPr/>
        </p:nvSpPr>
        <p:spPr bwMode="auto">
          <a:xfrm>
            <a:off x="746301" y="2756335"/>
            <a:ext cx="6098144"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2700" b="1" dirty="0">
                <a:solidFill>
                  <a:srgbClr val="FF0000"/>
                </a:solidFill>
                <a:latin typeface="Times New Roman" panose="02020603050405020304" pitchFamily="18" charset="0"/>
                <a:ea typeface="宋体" panose="02010600030101010101" pitchFamily="2" charset="-122"/>
              </a:rPr>
              <a:t>请思考如果真正删除会造成什么后果？</a:t>
            </a:r>
            <a:endParaRPr lang="zh-CN" altLang="en-US" sz="2700" b="1" dirty="0">
              <a:solidFill>
                <a:srgbClr val="FF0000"/>
              </a:solidFill>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2.</a:t>
            </a:r>
            <a:r>
              <a:rPr lang="zh-CN" altLang="en-US" dirty="0"/>
              <a:t>再哈希</a:t>
            </a:r>
            <a:r>
              <a:rPr lang="zh-CN" altLang="en-US" dirty="0" smtClean="0"/>
              <a:t>法</a:t>
            </a:r>
            <a:endParaRPr lang="en-US" altLang="zh-CN" dirty="0" smtClean="0"/>
          </a:p>
          <a:p>
            <a:pPr lvl="2">
              <a:lnSpc>
                <a:spcPts val="2800"/>
              </a:lnSpc>
            </a:pPr>
            <a:r>
              <a:rPr lang="en-US" altLang="zh-CN" sz="2200" dirty="0">
                <a:latin typeface="华文楷体" panose="02010600040101010101" pitchFamily="2" charset="-122"/>
                <a:ea typeface="华文楷体" panose="02010600040101010101" pitchFamily="2" charset="-122"/>
              </a:rPr>
              <a:t>H</a:t>
            </a:r>
            <a:r>
              <a:rPr lang="en-US" altLang="zh-CN" sz="2200" baseline="-25000" dirty="0">
                <a:latin typeface="华文楷体" panose="02010600040101010101" pitchFamily="2" charset="-122"/>
                <a:ea typeface="华文楷体" panose="02010600040101010101" pitchFamily="2" charset="-122"/>
              </a:rPr>
              <a:t>i</a:t>
            </a:r>
            <a:r>
              <a:rPr lang="en-US" altLang="zh-CN" sz="2200" dirty="0">
                <a:latin typeface="华文楷体" panose="02010600040101010101" pitchFamily="2" charset="-122"/>
                <a:ea typeface="华文楷体" panose="02010600040101010101" pitchFamily="2" charset="-122"/>
              </a:rPr>
              <a:t>=</a:t>
            </a:r>
            <a:r>
              <a:rPr lang="en-US" altLang="zh-CN" sz="2200" dirty="0" err="1">
                <a:latin typeface="华文楷体" panose="02010600040101010101" pitchFamily="2" charset="-122"/>
                <a:ea typeface="华文楷体" panose="02010600040101010101" pitchFamily="2" charset="-122"/>
              </a:rPr>
              <a:t>RH</a:t>
            </a:r>
            <a:r>
              <a:rPr lang="en-US" altLang="zh-CN" sz="2200" baseline="-25000" dirty="0" err="1">
                <a:latin typeface="华文楷体" panose="02010600040101010101" pitchFamily="2" charset="-122"/>
                <a:ea typeface="华文楷体" panose="02010600040101010101" pitchFamily="2" charset="-122"/>
              </a:rPr>
              <a:t>i</a:t>
            </a:r>
            <a:r>
              <a:rPr lang="en-US" altLang="zh-CN" sz="2200" dirty="0">
                <a:latin typeface="华文楷体" panose="02010600040101010101" pitchFamily="2" charset="-122"/>
                <a:ea typeface="华文楷体" panose="02010600040101010101" pitchFamily="2" charset="-122"/>
              </a:rPr>
              <a:t>(key)       </a:t>
            </a:r>
            <a:r>
              <a:rPr lang="en-US" altLang="zh-CN" sz="2200" dirty="0" err="1">
                <a:latin typeface="华文楷体" panose="02010600040101010101" pitchFamily="2" charset="-122"/>
                <a:ea typeface="华文楷体" panose="02010600040101010101" pitchFamily="2" charset="-122"/>
              </a:rPr>
              <a:t>i</a:t>
            </a:r>
            <a:r>
              <a:rPr lang="en-US" altLang="zh-CN" sz="2200" dirty="0">
                <a:latin typeface="华文楷体" panose="02010600040101010101" pitchFamily="2" charset="-122"/>
                <a:ea typeface="华文楷体" panose="02010600040101010101" pitchFamily="2" charset="-122"/>
              </a:rPr>
              <a:t>=1, 2,  …</a:t>
            </a:r>
            <a:r>
              <a:rPr lang="zh-CN" altLang="en-US" sz="2200" dirty="0">
                <a:latin typeface="华文楷体" panose="02010600040101010101" pitchFamily="2" charset="-122"/>
                <a:ea typeface="华文楷体" panose="02010600040101010101" pitchFamily="2" charset="-122"/>
              </a:rPr>
              <a:t>，</a:t>
            </a:r>
            <a:r>
              <a:rPr lang="en-US" altLang="zh-CN" sz="2200" dirty="0">
                <a:latin typeface="华文楷体" panose="02010600040101010101" pitchFamily="2" charset="-122"/>
                <a:ea typeface="华文楷体" panose="02010600040101010101" pitchFamily="2" charset="-122"/>
              </a:rPr>
              <a:t>k</a:t>
            </a:r>
            <a:endParaRPr lang="en-US" altLang="zh-CN" sz="2200" dirty="0">
              <a:latin typeface="华文楷体" panose="02010600040101010101" pitchFamily="2" charset="-122"/>
              <a:ea typeface="华文楷体" panose="02010600040101010101" pitchFamily="2" charset="-122"/>
            </a:endParaRPr>
          </a:p>
          <a:p>
            <a:pPr lvl="2">
              <a:lnSpc>
                <a:spcPts val="2800"/>
              </a:lnSpc>
            </a:pPr>
            <a:r>
              <a:rPr lang="en-US" altLang="zh-CN" sz="2200" dirty="0" err="1">
                <a:latin typeface="华文楷体" panose="02010600040101010101" pitchFamily="2" charset="-122"/>
                <a:ea typeface="华文楷体" panose="02010600040101010101" pitchFamily="2" charset="-122"/>
              </a:rPr>
              <a:t>RH</a:t>
            </a:r>
            <a:r>
              <a:rPr lang="en-US" altLang="zh-CN" sz="2200" baseline="-25000" dirty="0" err="1">
                <a:latin typeface="华文楷体" panose="02010600040101010101" pitchFamily="2" charset="-122"/>
                <a:ea typeface="华文楷体" panose="02010600040101010101" pitchFamily="2" charset="-122"/>
              </a:rPr>
              <a:t>i</a:t>
            </a:r>
            <a:r>
              <a:rPr lang="zh-CN" altLang="en-US" sz="2200" dirty="0">
                <a:latin typeface="华文楷体" panose="02010600040101010101" pitchFamily="2" charset="-122"/>
                <a:ea typeface="华文楷体" panose="02010600040101010101" pitchFamily="2" charset="-122"/>
              </a:rPr>
              <a:t>均是不同的哈希函数，当产生冲突时就计算另一个哈希函数，直到冲突不再发生。</a:t>
            </a:r>
            <a:endParaRPr lang="zh-CN" altLang="en-US" sz="2200" dirty="0">
              <a:latin typeface="华文楷体" panose="02010600040101010101" pitchFamily="2" charset="-122"/>
              <a:ea typeface="华文楷体" panose="02010600040101010101" pitchFamily="2" charset="-122"/>
            </a:endParaRPr>
          </a:p>
          <a:p>
            <a:pPr lvl="2">
              <a:lnSpc>
                <a:spcPts val="2800"/>
              </a:lnSpc>
            </a:pPr>
            <a:r>
              <a:rPr lang="zh-CN" altLang="en-US" sz="2200" dirty="0">
                <a:latin typeface="华文楷体" panose="02010600040101010101" pitchFamily="2" charset="-122"/>
                <a:ea typeface="华文楷体" panose="02010600040101010101" pitchFamily="2" charset="-122"/>
              </a:rPr>
              <a:t>优点：不易产生聚集；</a:t>
            </a:r>
            <a:endParaRPr lang="zh-CN" altLang="en-US" sz="2200" dirty="0">
              <a:latin typeface="华文楷体" panose="02010600040101010101" pitchFamily="2" charset="-122"/>
              <a:ea typeface="华文楷体" panose="02010600040101010101" pitchFamily="2" charset="-122"/>
            </a:endParaRPr>
          </a:p>
          <a:p>
            <a:pPr lvl="2">
              <a:lnSpc>
                <a:spcPts val="2800"/>
              </a:lnSpc>
            </a:pPr>
            <a:r>
              <a:rPr lang="zh-CN" altLang="en-US" sz="2200" dirty="0">
                <a:latin typeface="华文楷体" panose="02010600040101010101" pitchFamily="2" charset="-122"/>
                <a:ea typeface="华文楷体" panose="02010600040101010101" pitchFamily="2" charset="-122"/>
              </a:rPr>
              <a:t>缺点：增加了计算时间</a:t>
            </a:r>
            <a:r>
              <a:rPr lang="zh-CN" altLang="en-US" sz="2200" dirty="0" smtClean="0">
                <a:latin typeface="华文楷体" panose="02010600040101010101" pitchFamily="2" charset="-122"/>
                <a:ea typeface="华文楷体" panose="02010600040101010101" pitchFamily="2" charset="-122"/>
              </a:rPr>
              <a:t>。</a:t>
            </a:r>
            <a:endParaRPr lang="zh-CN" altLang="en-US" sz="2200" dirty="0">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3.</a:t>
            </a:r>
            <a:r>
              <a:rPr lang="zh-CN" altLang="en-US" dirty="0"/>
              <a:t>链地址</a:t>
            </a:r>
            <a:r>
              <a:rPr lang="zh-CN" altLang="en-US" dirty="0" smtClean="0"/>
              <a:t>法</a:t>
            </a:r>
            <a:endParaRPr lang="en-US" altLang="zh-CN" dirty="0" smtClean="0"/>
          </a:p>
          <a:p>
            <a:pPr lvl="2">
              <a:lnSpc>
                <a:spcPts val="3000"/>
              </a:lnSpc>
            </a:pPr>
            <a:r>
              <a:rPr lang="zh-CN" altLang="en-US" sz="2000" dirty="0">
                <a:latin typeface="华文楷体" panose="02010600040101010101" pitchFamily="2" charset="-122"/>
                <a:ea typeface="华文楷体" panose="02010600040101010101" pitchFamily="2" charset="-122"/>
              </a:rPr>
              <a:t>基本思想：</a:t>
            </a:r>
            <a:r>
              <a:rPr lang="zh-CN" altLang="en-US" sz="2000" dirty="0">
                <a:solidFill>
                  <a:srgbClr val="FF0000"/>
                </a:solidFill>
                <a:latin typeface="华文楷体" panose="02010600040101010101" pitchFamily="2" charset="-122"/>
                <a:ea typeface="华文楷体" panose="02010600040101010101" pitchFamily="2" charset="-122"/>
              </a:rPr>
              <a:t>相同哈希地址的</a:t>
            </a:r>
            <a:r>
              <a:rPr lang="zh-CN" altLang="en-US" sz="2000" dirty="0" smtClean="0">
                <a:solidFill>
                  <a:srgbClr val="FF0000"/>
                </a:solidFill>
                <a:latin typeface="华文楷体" panose="02010600040101010101" pitchFamily="2" charset="-122"/>
                <a:ea typeface="华文楷体" panose="02010600040101010101" pitchFamily="2" charset="-122"/>
              </a:rPr>
              <a:t>记录构成一个单</a:t>
            </a:r>
            <a:r>
              <a:rPr lang="zh-CN" altLang="en-US" sz="2000" dirty="0">
                <a:solidFill>
                  <a:srgbClr val="FF0000"/>
                </a:solidFill>
                <a:latin typeface="华文楷体" panose="02010600040101010101" pitchFamily="2" charset="-122"/>
                <a:ea typeface="华文楷体" panose="02010600040101010101" pitchFamily="2" charset="-122"/>
              </a:rPr>
              <a:t>链表</a:t>
            </a:r>
            <a:r>
              <a:rPr lang="zh-CN" altLang="en-US" sz="2000" dirty="0">
                <a:latin typeface="华文楷体" panose="02010600040101010101" pitchFamily="2" charset="-122"/>
                <a:ea typeface="华文楷体" panose="02010600040101010101" pitchFamily="2" charset="-122"/>
              </a:rPr>
              <a:t>，</a:t>
            </a:r>
            <a:r>
              <a:rPr lang="en-US" altLang="zh-CN" sz="2000" dirty="0">
                <a:latin typeface="华文楷体" panose="02010600040101010101" pitchFamily="2" charset="-122"/>
                <a:ea typeface="华文楷体" panose="02010600040101010101" pitchFamily="2" charset="-122"/>
              </a:rPr>
              <a:t>m</a:t>
            </a:r>
            <a:r>
              <a:rPr lang="zh-CN" altLang="en-US" sz="2000" dirty="0">
                <a:latin typeface="华文楷体" panose="02010600040101010101" pitchFamily="2" charset="-122"/>
                <a:ea typeface="华文楷体" panose="02010600040101010101" pitchFamily="2" charset="-122"/>
              </a:rPr>
              <a:t>个哈希地址就设</a:t>
            </a:r>
            <a:r>
              <a:rPr sz="2000" dirty="0">
                <a:latin typeface="华文楷体" panose="02010600040101010101" pitchFamily="2" charset="-122"/>
                <a:ea typeface="华文楷体" panose="02010600040101010101" pitchFamily="2" charset="-122"/>
              </a:rPr>
              <a:t>m</a:t>
            </a:r>
            <a:endParaRPr sz="2000" dirty="0">
              <a:latin typeface="华文楷体" panose="02010600040101010101" pitchFamily="2" charset="-122"/>
              <a:ea typeface="华文楷体" panose="02010600040101010101" pitchFamily="2" charset="-122"/>
            </a:endParaRPr>
          </a:p>
          <a:p>
            <a:pPr lvl="2">
              <a:lnSpc>
                <a:spcPts val="3000"/>
              </a:lnSpc>
            </a:pPr>
            <a:r>
              <a:rPr lang="zh-CN" altLang="en-US" sz="2000" dirty="0">
                <a:latin typeface="华文楷体" panose="02010600040101010101" pitchFamily="2" charset="-122"/>
                <a:ea typeface="华文楷体" panose="02010600040101010101" pitchFamily="2" charset="-122"/>
              </a:rPr>
              <a:t>个单链表，</a:t>
            </a:r>
            <a:r>
              <a:rPr lang="zh-CN" altLang="en-US" sz="2000" dirty="0" smtClean="0">
                <a:latin typeface="华文楷体" panose="02010600040101010101" pitchFamily="2" charset="-122"/>
                <a:ea typeface="华文楷体" panose="02010600040101010101" pitchFamily="2" charset="-122"/>
              </a:rPr>
              <a:t>然后用</a:t>
            </a:r>
            <a:r>
              <a:rPr lang="zh-CN" altLang="en-US" sz="2000" dirty="0">
                <a:latin typeface="华文楷体" panose="02010600040101010101" pitchFamily="2" charset="-122"/>
                <a:ea typeface="华文楷体" panose="02010600040101010101" pitchFamily="2" charset="-122"/>
              </a:rPr>
              <a:t>一个数组将</a:t>
            </a:r>
            <a:r>
              <a:rPr lang="en-US" altLang="zh-CN" sz="2000" dirty="0">
                <a:latin typeface="华文楷体" panose="02010600040101010101" pitchFamily="2" charset="-122"/>
                <a:ea typeface="华文楷体" panose="02010600040101010101" pitchFamily="2" charset="-122"/>
              </a:rPr>
              <a:t>m</a:t>
            </a:r>
            <a:r>
              <a:rPr lang="zh-CN" altLang="en-US" sz="2000" dirty="0">
                <a:latin typeface="华文楷体" panose="02010600040101010101" pitchFamily="2" charset="-122"/>
                <a:ea typeface="华文楷体" panose="02010600040101010101" pitchFamily="2" charset="-122"/>
              </a:rPr>
              <a:t>个单链表的表头指针存储起来，形成一个动态的</a:t>
            </a:r>
            <a:r>
              <a:rPr lang="zh-CN" altLang="en-US" sz="2000" dirty="0" smtClean="0">
                <a:latin typeface="华文楷体" panose="02010600040101010101" pitchFamily="2" charset="-122"/>
                <a:ea typeface="华文楷体" panose="02010600040101010101" pitchFamily="2" charset="-122"/>
              </a:rPr>
              <a:t>结构</a:t>
            </a:r>
            <a:r>
              <a:rPr lang="zh-CN" altLang="en-US" sz="2000" dirty="0" smtClean="0"/>
              <a:t>。</a:t>
            </a:r>
            <a:endParaRPr lang="zh-CN" altLang="en-US" sz="2000" dirty="0">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pSp>
        <p:nvGrpSpPr>
          <p:cNvPr id="4" name="组合 3"/>
          <p:cNvGrpSpPr/>
          <p:nvPr/>
        </p:nvGrpSpPr>
        <p:grpSpPr>
          <a:xfrm>
            <a:off x="2946560" y="1835857"/>
            <a:ext cx="4412455" cy="3133725"/>
            <a:chOff x="1020" y="1448"/>
            <a:chExt cx="3706" cy="2632"/>
          </a:xfrm>
        </p:grpSpPr>
        <p:grpSp>
          <p:nvGrpSpPr>
            <p:cNvPr id="5" name="组合 4"/>
            <p:cNvGrpSpPr/>
            <p:nvPr/>
          </p:nvGrpSpPr>
          <p:grpSpPr>
            <a:xfrm>
              <a:off x="1303" y="1448"/>
              <a:ext cx="373" cy="2576"/>
              <a:chOff x="1303" y="1448"/>
              <a:chExt cx="373" cy="2576"/>
            </a:xfrm>
          </p:grpSpPr>
          <p:sp>
            <p:nvSpPr>
              <p:cNvPr id="68" name="矩形 67"/>
              <p:cNvSpPr/>
              <p:nvPr/>
            </p:nvSpPr>
            <p:spPr>
              <a:xfrm>
                <a:off x="1303" y="1448"/>
                <a:ext cx="373" cy="2576"/>
              </a:xfrm>
              <a:prstGeom prst="rect">
                <a:avLst/>
              </a:prstGeom>
              <a:noFill/>
              <a:ln w="9525" cap="flat" cmpd="sng">
                <a:solidFill>
                  <a:schemeClr val="tx1"/>
                </a:solidFill>
                <a:prstDash val="solid"/>
                <a:miter/>
                <a:headEnd type="none" w="med" len="med"/>
                <a:tailEnd type="none" w="med" len="med"/>
              </a:ln>
            </p:spPr>
            <p:txBody>
              <a:bodyPr/>
              <a:lstStyle/>
              <a:p>
                <a:endParaRPr lang="zh-CN" altLang="en-US" sz="1015"/>
              </a:p>
            </p:txBody>
          </p:sp>
          <p:sp>
            <p:nvSpPr>
              <p:cNvPr id="69" name="直接连接符 68"/>
              <p:cNvSpPr/>
              <p:nvPr/>
            </p:nvSpPr>
            <p:spPr>
              <a:xfrm>
                <a:off x="1303" y="1645"/>
                <a:ext cx="373" cy="0"/>
              </a:xfrm>
              <a:prstGeom prst="line">
                <a:avLst/>
              </a:prstGeom>
              <a:ln w="9525" cap="flat" cmpd="sng">
                <a:solidFill>
                  <a:schemeClr val="tx1"/>
                </a:solidFill>
                <a:prstDash val="solid"/>
                <a:headEnd type="none" w="med" len="med"/>
                <a:tailEnd type="none" w="med" len="med"/>
              </a:ln>
            </p:spPr>
          </p:sp>
          <p:sp>
            <p:nvSpPr>
              <p:cNvPr id="70" name="直接连接符 69"/>
              <p:cNvSpPr/>
              <p:nvPr/>
            </p:nvSpPr>
            <p:spPr>
              <a:xfrm>
                <a:off x="1303" y="1842"/>
                <a:ext cx="373" cy="0"/>
              </a:xfrm>
              <a:prstGeom prst="line">
                <a:avLst/>
              </a:prstGeom>
              <a:ln w="9525" cap="flat" cmpd="sng">
                <a:solidFill>
                  <a:schemeClr val="tx1"/>
                </a:solidFill>
                <a:prstDash val="solid"/>
                <a:headEnd type="none" w="med" len="med"/>
                <a:tailEnd type="none" w="med" len="med"/>
              </a:ln>
            </p:spPr>
          </p:sp>
          <p:sp>
            <p:nvSpPr>
              <p:cNvPr id="71" name="直接连接符 70"/>
              <p:cNvSpPr/>
              <p:nvPr/>
            </p:nvSpPr>
            <p:spPr>
              <a:xfrm>
                <a:off x="1303" y="2040"/>
                <a:ext cx="373" cy="0"/>
              </a:xfrm>
              <a:prstGeom prst="line">
                <a:avLst/>
              </a:prstGeom>
              <a:ln w="9525" cap="flat" cmpd="sng">
                <a:solidFill>
                  <a:schemeClr val="tx1"/>
                </a:solidFill>
                <a:prstDash val="solid"/>
                <a:headEnd type="none" w="med" len="med"/>
                <a:tailEnd type="none" w="med" len="med"/>
              </a:ln>
            </p:spPr>
          </p:sp>
          <p:sp>
            <p:nvSpPr>
              <p:cNvPr id="72" name="直接连接符 71"/>
              <p:cNvSpPr/>
              <p:nvPr/>
            </p:nvSpPr>
            <p:spPr>
              <a:xfrm>
                <a:off x="1303" y="2237"/>
                <a:ext cx="373" cy="0"/>
              </a:xfrm>
              <a:prstGeom prst="line">
                <a:avLst/>
              </a:prstGeom>
              <a:ln w="9525" cap="flat" cmpd="sng">
                <a:solidFill>
                  <a:schemeClr val="tx1"/>
                </a:solidFill>
                <a:prstDash val="solid"/>
                <a:headEnd type="none" w="med" len="med"/>
                <a:tailEnd type="none" w="med" len="med"/>
              </a:ln>
            </p:spPr>
          </p:sp>
          <p:sp>
            <p:nvSpPr>
              <p:cNvPr id="73" name="直接连接符 72"/>
              <p:cNvSpPr/>
              <p:nvPr/>
            </p:nvSpPr>
            <p:spPr>
              <a:xfrm>
                <a:off x="1303" y="2435"/>
                <a:ext cx="373" cy="0"/>
              </a:xfrm>
              <a:prstGeom prst="line">
                <a:avLst/>
              </a:prstGeom>
              <a:ln w="9525" cap="flat" cmpd="sng">
                <a:solidFill>
                  <a:schemeClr val="tx1"/>
                </a:solidFill>
                <a:prstDash val="solid"/>
                <a:headEnd type="none" w="med" len="med"/>
                <a:tailEnd type="none" w="med" len="med"/>
              </a:ln>
            </p:spPr>
          </p:sp>
          <p:sp>
            <p:nvSpPr>
              <p:cNvPr id="74" name="直接连接符 73"/>
              <p:cNvSpPr/>
              <p:nvPr/>
            </p:nvSpPr>
            <p:spPr>
              <a:xfrm>
                <a:off x="1303" y="2632"/>
                <a:ext cx="373" cy="0"/>
              </a:xfrm>
              <a:prstGeom prst="line">
                <a:avLst/>
              </a:prstGeom>
              <a:ln w="9525" cap="flat" cmpd="sng">
                <a:solidFill>
                  <a:schemeClr val="tx1"/>
                </a:solidFill>
                <a:prstDash val="solid"/>
                <a:headEnd type="none" w="med" len="med"/>
                <a:tailEnd type="none" w="med" len="med"/>
              </a:ln>
            </p:spPr>
          </p:sp>
          <p:sp>
            <p:nvSpPr>
              <p:cNvPr id="75" name="直接连接符 74"/>
              <p:cNvSpPr/>
              <p:nvPr/>
            </p:nvSpPr>
            <p:spPr>
              <a:xfrm>
                <a:off x="1303" y="2830"/>
                <a:ext cx="373" cy="0"/>
              </a:xfrm>
              <a:prstGeom prst="line">
                <a:avLst/>
              </a:prstGeom>
              <a:ln w="9525" cap="flat" cmpd="sng">
                <a:solidFill>
                  <a:schemeClr val="tx1"/>
                </a:solidFill>
                <a:prstDash val="solid"/>
                <a:headEnd type="none" w="med" len="med"/>
                <a:tailEnd type="none" w="med" len="med"/>
              </a:ln>
            </p:spPr>
          </p:sp>
          <p:sp>
            <p:nvSpPr>
              <p:cNvPr id="76" name="直接连接符 75"/>
              <p:cNvSpPr/>
              <p:nvPr/>
            </p:nvSpPr>
            <p:spPr>
              <a:xfrm>
                <a:off x="1303" y="3027"/>
                <a:ext cx="373" cy="0"/>
              </a:xfrm>
              <a:prstGeom prst="line">
                <a:avLst/>
              </a:prstGeom>
              <a:ln w="9525" cap="flat" cmpd="sng">
                <a:solidFill>
                  <a:schemeClr val="tx1"/>
                </a:solidFill>
                <a:prstDash val="solid"/>
                <a:headEnd type="none" w="med" len="med"/>
                <a:tailEnd type="none" w="med" len="med"/>
              </a:ln>
            </p:spPr>
          </p:sp>
          <p:sp>
            <p:nvSpPr>
              <p:cNvPr id="77" name="直接连接符 76"/>
              <p:cNvSpPr/>
              <p:nvPr/>
            </p:nvSpPr>
            <p:spPr>
              <a:xfrm>
                <a:off x="1303" y="3225"/>
                <a:ext cx="373" cy="0"/>
              </a:xfrm>
              <a:prstGeom prst="line">
                <a:avLst/>
              </a:prstGeom>
              <a:ln w="9525" cap="flat" cmpd="sng">
                <a:solidFill>
                  <a:schemeClr val="tx1"/>
                </a:solidFill>
                <a:prstDash val="solid"/>
                <a:headEnd type="none" w="med" len="med"/>
                <a:tailEnd type="none" w="med" len="med"/>
              </a:ln>
            </p:spPr>
          </p:sp>
          <p:sp>
            <p:nvSpPr>
              <p:cNvPr id="78" name="直接连接符 77"/>
              <p:cNvSpPr/>
              <p:nvPr/>
            </p:nvSpPr>
            <p:spPr>
              <a:xfrm>
                <a:off x="1303" y="3422"/>
                <a:ext cx="373" cy="0"/>
              </a:xfrm>
              <a:prstGeom prst="line">
                <a:avLst/>
              </a:prstGeom>
              <a:ln w="9525" cap="flat" cmpd="sng">
                <a:solidFill>
                  <a:schemeClr val="tx1"/>
                </a:solidFill>
                <a:prstDash val="solid"/>
                <a:headEnd type="none" w="med" len="med"/>
                <a:tailEnd type="none" w="med" len="med"/>
              </a:ln>
            </p:spPr>
          </p:sp>
          <p:sp>
            <p:nvSpPr>
              <p:cNvPr id="79" name="直接连接符 78"/>
              <p:cNvSpPr/>
              <p:nvPr/>
            </p:nvSpPr>
            <p:spPr>
              <a:xfrm>
                <a:off x="1303" y="3620"/>
                <a:ext cx="373" cy="0"/>
              </a:xfrm>
              <a:prstGeom prst="line">
                <a:avLst/>
              </a:prstGeom>
              <a:ln w="9525" cap="flat" cmpd="sng">
                <a:solidFill>
                  <a:schemeClr val="tx1"/>
                </a:solidFill>
                <a:prstDash val="solid"/>
                <a:headEnd type="none" w="med" len="med"/>
                <a:tailEnd type="none" w="med" len="med"/>
              </a:ln>
            </p:spPr>
          </p:sp>
          <p:sp>
            <p:nvSpPr>
              <p:cNvPr id="80" name="直接连接符 79"/>
              <p:cNvSpPr/>
              <p:nvPr/>
            </p:nvSpPr>
            <p:spPr>
              <a:xfrm>
                <a:off x="1303" y="3818"/>
                <a:ext cx="373" cy="0"/>
              </a:xfrm>
              <a:prstGeom prst="line">
                <a:avLst/>
              </a:prstGeom>
              <a:ln w="9525" cap="flat" cmpd="sng">
                <a:solidFill>
                  <a:schemeClr val="tx1"/>
                </a:solidFill>
                <a:prstDash val="solid"/>
                <a:headEnd type="none" w="med" len="med"/>
                <a:tailEnd type="none" w="med" len="med"/>
              </a:ln>
            </p:spPr>
          </p:sp>
        </p:grpSp>
        <p:sp>
          <p:nvSpPr>
            <p:cNvPr id="6" name="文本框 5"/>
            <p:cNvSpPr txBox="1"/>
            <p:nvPr/>
          </p:nvSpPr>
          <p:spPr>
            <a:xfrm>
              <a:off x="1020" y="1454"/>
              <a:ext cx="371" cy="2598"/>
            </a:xfrm>
            <a:prstGeom prst="rect">
              <a:avLst/>
            </a:prstGeom>
            <a:noFill/>
            <a:ln w="9525">
              <a:noFill/>
            </a:ln>
          </p:spPr>
          <p:txBody>
            <a:bodyPr vert="horz" wrap="none" anchor="t">
              <a:spAutoFit/>
            </a:bodyPr>
            <a:lstStyle/>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0</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1</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2</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3</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4</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5</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6</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7</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8</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9</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10</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11</a:t>
              </a:r>
              <a:endParaRPr lang="en-US" altLang="zh-CN" sz="1600" dirty="0" smtClean="0">
                <a:latin typeface="Times New Roman" panose="02020603050405020304" pitchFamily="18" charset="0"/>
                <a:ea typeface="宋体" panose="02010600030101010101" pitchFamily="2" charset="-122"/>
              </a:endParaRPr>
            </a:p>
            <a:p>
              <a:pPr eaLnBrk="1" hangingPunct="1">
                <a:lnSpc>
                  <a:spcPts val="1800"/>
                </a:lnSpc>
                <a:spcBef>
                  <a:spcPct val="0"/>
                </a:spcBef>
              </a:pPr>
              <a:r>
                <a:rPr lang="en-US" altLang="zh-CN" sz="1600" dirty="0" smtClean="0">
                  <a:latin typeface="Times New Roman" panose="02020603050405020304" pitchFamily="18" charset="0"/>
                  <a:ea typeface="宋体" panose="02010600030101010101" pitchFamily="2" charset="-122"/>
                </a:rPr>
                <a:t>12 </a:t>
              </a:r>
              <a:endParaRPr lang="en-US" altLang="zh-CN" sz="1600" dirty="0">
                <a:latin typeface="Times New Roman" panose="02020603050405020304" pitchFamily="18" charset="0"/>
                <a:ea typeface="宋体" panose="02010600030101010101" pitchFamily="2" charset="-122"/>
              </a:endParaRPr>
            </a:p>
          </p:txBody>
        </p:sp>
        <p:grpSp>
          <p:nvGrpSpPr>
            <p:cNvPr id="7" name="组合 6"/>
            <p:cNvGrpSpPr/>
            <p:nvPr/>
          </p:nvGrpSpPr>
          <p:grpSpPr>
            <a:xfrm>
              <a:off x="1552" y="1623"/>
              <a:ext cx="869" cy="218"/>
              <a:chOff x="1976" y="2813"/>
              <a:chExt cx="869" cy="218"/>
            </a:xfrm>
          </p:grpSpPr>
          <p:sp>
            <p:nvSpPr>
              <p:cNvPr id="65" name="矩形 64"/>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14</a:t>
                </a:r>
                <a:endParaRPr lang="en-US" altLang="zh-CN" sz="1500">
                  <a:latin typeface="Times New Roman" panose="02020603050405020304" pitchFamily="18" charset="0"/>
                  <a:ea typeface="宋体" panose="02010600030101010101" pitchFamily="2" charset="-122"/>
                </a:endParaRPr>
              </a:p>
            </p:txBody>
          </p:sp>
          <p:sp>
            <p:nvSpPr>
              <p:cNvPr id="66" name="直接连接符 65"/>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67" name="直接连接符 66"/>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sp>
          <p:nvSpPr>
            <p:cNvPr id="8" name="文本框 7"/>
            <p:cNvSpPr txBox="1"/>
            <p:nvPr/>
          </p:nvSpPr>
          <p:spPr>
            <a:xfrm>
              <a:off x="1362" y="1448"/>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grpSp>
          <p:nvGrpSpPr>
            <p:cNvPr id="9" name="组合 8"/>
            <p:cNvGrpSpPr/>
            <p:nvPr/>
          </p:nvGrpSpPr>
          <p:grpSpPr>
            <a:xfrm>
              <a:off x="2317" y="1623"/>
              <a:ext cx="869" cy="218"/>
              <a:chOff x="1976" y="2813"/>
              <a:chExt cx="869" cy="218"/>
            </a:xfrm>
          </p:grpSpPr>
          <p:sp>
            <p:nvSpPr>
              <p:cNvPr id="62" name="矩形 61"/>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1</a:t>
                </a:r>
                <a:endParaRPr lang="en-US" altLang="zh-CN" sz="1500">
                  <a:latin typeface="Times New Roman" panose="02020603050405020304" pitchFamily="18" charset="0"/>
                  <a:ea typeface="宋体" panose="02010600030101010101" pitchFamily="2" charset="-122"/>
                </a:endParaRPr>
              </a:p>
            </p:txBody>
          </p:sp>
          <p:sp>
            <p:nvSpPr>
              <p:cNvPr id="63" name="直接连接符 62"/>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64" name="直接连接符 63"/>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0" name="组合 9"/>
            <p:cNvGrpSpPr/>
            <p:nvPr/>
          </p:nvGrpSpPr>
          <p:grpSpPr>
            <a:xfrm>
              <a:off x="3094" y="1622"/>
              <a:ext cx="869" cy="218"/>
              <a:chOff x="1976" y="2813"/>
              <a:chExt cx="869" cy="218"/>
            </a:xfrm>
          </p:grpSpPr>
          <p:sp>
            <p:nvSpPr>
              <p:cNvPr id="59" name="矩形 58"/>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27</a:t>
                </a:r>
                <a:endParaRPr lang="en-US" altLang="zh-CN" sz="1500">
                  <a:latin typeface="Times New Roman" panose="02020603050405020304" pitchFamily="18" charset="0"/>
                  <a:ea typeface="宋体" panose="02010600030101010101" pitchFamily="2" charset="-122"/>
                </a:endParaRPr>
              </a:p>
            </p:txBody>
          </p:sp>
          <p:sp>
            <p:nvSpPr>
              <p:cNvPr id="60" name="直接连接符 59"/>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61" name="直接连接符 60"/>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1" name="组合 10"/>
            <p:cNvGrpSpPr/>
            <p:nvPr/>
          </p:nvGrpSpPr>
          <p:grpSpPr>
            <a:xfrm>
              <a:off x="3849" y="1624"/>
              <a:ext cx="869" cy="218"/>
              <a:chOff x="1976" y="2813"/>
              <a:chExt cx="869" cy="218"/>
            </a:xfrm>
          </p:grpSpPr>
          <p:sp>
            <p:nvSpPr>
              <p:cNvPr id="56" name="矩形 55"/>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79</a:t>
                </a:r>
                <a:endParaRPr lang="en-US" altLang="zh-CN" sz="1500">
                  <a:latin typeface="Times New Roman" panose="02020603050405020304" pitchFamily="18" charset="0"/>
                  <a:ea typeface="宋体" panose="02010600030101010101" pitchFamily="2" charset="-122"/>
                </a:endParaRPr>
              </a:p>
            </p:txBody>
          </p:sp>
          <p:sp>
            <p:nvSpPr>
              <p:cNvPr id="57" name="直接连接符 56"/>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58" name="直接连接符 57"/>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2" name="组合 11"/>
            <p:cNvGrpSpPr/>
            <p:nvPr/>
          </p:nvGrpSpPr>
          <p:grpSpPr>
            <a:xfrm>
              <a:off x="1563" y="2007"/>
              <a:ext cx="869" cy="218"/>
              <a:chOff x="1976" y="2813"/>
              <a:chExt cx="869" cy="218"/>
            </a:xfrm>
          </p:grpSpPr>
          <p:sp>
            <p:nvSpPr>
              <p:cNvPr id="53" name="矩形 52"/>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68</a:t>
                </a:r>
                <a:endParaRPr lang="en-US" altLang="zh-CN" sz="1500">
                  <a:latin typeface="Times New Roman" panose="02020603050405020304" pitchFamily="18" charset="0"/>
                  <a:ea typeface="宋体" panose="02010600030101010101" pitchFamily="2" charset="-122"/>
                </a:endParaRPr>
              </a:p>
            </p:txBody>
          </p:sp>
          <p:sp>
            <p:nvSpPr>
              <p:cNvPr id="54" name="直接连接符 53"/>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55" name="直接连接符 54"/>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3" name="组合 12"/>
            <p:cNvGrpSpPr/>
            <p:nvPr/>
          </p:nvGrpSpPr>
          <p:grpSpPr>
            <a:xfrm>
              <a:off x="2338" y="2006"/>
              <a:ext cx="869" cy="218"/>
              <a:chOff x="1976" y="2813"/>
              <a:chExt cx="869" cy="218"/>
            </a:xfrm>
          </p:grpSpPr>
          <p:sp>
            <p:nvSpPr>
              <p:cNvPr id="50" name="矩形 49"/>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55</a:t>
                </a:r>
                <a:endParaRPr lang="en-US" altLang="zh-CN" sz="1500">
                  <a:latin typeface="Times New Roman" panose="02020603050405020304" pitchFamily="18" charset="0"/>
                  <a:ea typeface="宋体" panose="02010600030101010101" pitchFamily="2" charset="-122"/>
                </a:endParaRPr>
              </a:p>
            </p:txBody>
          </p:sp>
          <p:sp>
            <p:nvSpPr>
              <p:cNvPr id="51" name="直接连接符 50"/>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52" name="直接连接符 51"/>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4" name="组合 13"/>
            <p:cNvGrpSpPr/>
            <p:nvPr/>
          </p:nvGrpSpPr>
          <p:grpSpPr>
            <a:xfrm>
              <a:off x="1573" y="2617"/>
              <a:ext cx="869" cy="218"/>
              <a:chOff x="1976" y="2813"/>
              <a:chExt cx="869" cy="218"/>
            </a:xfrm>
          </p:grpSpPr>
          <p:sp>
            <p:nvSpPr>
              <p:cNvPr id="47" name="矩形 46"/>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19</a:t>
                </a:r>
                <a:endParaRPr lang="en-US" altLang="zh-CN" sz="1500">
                  <a:latin typeface="Times New Roman" panose="02020603050405020304" pitchFamily="18" charset="0"/>
                  <a:ea typeface="宋体" panose="02010600030101010101" pitchFamily="2" charset="-122"/>
                </a:endParaRPr>
              </a:p>
            </p:txBody>
          </p:sp>
          <p:sp>
            <p:nvSpPr>
              <p:cNvPr id="48" name="直接连接符 47"/>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49" name="直接连接符 48"/>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5" name="组合 14"/>
            <p:cNvGrpSpPr/>
            <p:nvPr/>
          </p:nvGrpSpPr>
          <p:grpSpPr>
            <a:xfrm>
              <a:off x="2338" y="2617"/>
              <a:ext cx="869" cy="218"/>
              <a:chOff x="1976" y="2813"/>
              <a:chExt cx="869" cy="218"/>
            </a:xfrm>
          </p:grpSpPr>
          <p:sp>
            <p:nvSpPr>
              <p:cNvPr id="44" name="矩形 43"/>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84</a:t>
                </a:r>
                <a:endParaRPr lang="en-US" altLang="zh-CN" sz="1500">
                  <a:latin typeface="Times New Roman" panose="02020603050405020304" pitchFamily="18" charset="0"/>
                  <a:ea typeface="宋体" panose="02010600030101010101" pitchFamily="2" charset="-122"/>
                </a:endParaRPr>
              </a:p>
            </p:txBody>
          </p:sp>
          <p:sp>
            <p:nvSpPr>
              <p:cNvPr id="45" name="直接连接符 44"/>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46" name="直接连接符 45"/>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6" name="组合 15"/>
            <p:cNvGrpSpPr/>
            <p:nvPr/>
          </p:nvGrpSpPr>
          <p:grpSpPr>
            <a:xfrm>
              <a:off x="1572" y="2875"/>
              <a:ext cx="869" cy="218"/>
              <a:chOff x="1976" y="2813"/>
              <a:chExt cx="869" cy="218"/>
            </a:xfrm>
          </p:grpSpPr>
          <p:sp>
            <p:nvSpPr>
              <p:cNvPr id="41" name="矩形 40"/>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20</a:t>
                </a:r>
                <a:endParaRPr lang="en-US" altLang="zh-CN" sz="1500">
                  <a:latin typeface="Times New Roman" panose="02020603050405020304" pitchFamily="18" charset="0"/>
                  <a:ea typeface="宋体" panose="02010600030101010101" pitchFamily="2" charset="-122"/>
                </a:endParaRPr>
              </a:p>
            </p:txBody>
          </p:sp>
          <p:sp>
            <p:nvSpPr>
              <p:cNvPr id="42" name="直接连接符 41"/>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43" name="直接连接符 42"/>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7" name="组合 16"/>
            <p:cNvGrpSpPr/>
            <p:nvPr/>
          </p:nvGrpSpPr>
          <p:grpSpPr>
            <a:xfrm>
              <a:off x="1583" y="3382"/>
              <a:ext cx="869" cy="218"/>
              <a:chOff x="1976" y="2813"/>
              <a:chExt cx="869" cy="218"/>
            </a:xfrm>
          </p:grpSpPr>
          <p:sp>
            <p:nvSpPr>
              <p:cNvPr id="38" name="矩形 37"/>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23</a:t>
                </a:r>
                <a:endParaRPr lang="en-US" altLang="zh-CN" sz="1500">
                  <a:latin typeface="Times New Roman" panose="02020603050405020304" pitchFamily="18" charset="0"/>
                  <a:ea typeface="宋体" panose="02010600030101010101" pitchFamily="2" charset="-122"/>
                </a:endParaRPr>
              </a:p>
            </p:txBody>
          </p:sp>
          <p:sp>
            <p:nvSpPr>
              <p:cNvPr id="39" name="直接连接符 38"/>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40" name="直接连接符 39"/>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8" name="组合 17"/>
            <p:cNvGrpSpPr/>
            <p:nvPr/>
          </p:nvGrpSpPr>
          <p:grpSpPr>
            <a:xfrm>
              <a:off x="2338" y="3382"/>
              <a:ext cx="869" cy="218"/>
              <a:chOff x="1976" y="2813"/>
              <a:chExt cx="869" cy="218"/>
            </a:xfrm>
          </p:grpSpPr>
          <p:sp>
            <p:nvSpPr>
              <p:cNvPr id="35" name="矩形 34"/>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10</a:t>
                </a:r>
                <a:endParaRPr lang="en-US" altLang="zh-CN" sz="1500">
                  <a:latin typeface="Times New Roman" panose="02020603050405020304" pitchFamily="18" charset="0"/>
                  <a:ea typeface="宋体" panose="02010600030101010101" pitchFamily="2" charset="-122"/>
                </a:endParaRPr>
              </a:p>
            </p:txBody>
          </p:sp>
          <p:sp>
            <p:nvSpPr>
              <p:cNvPr id="36" name="直接连接符 35"/>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37" name="直接连接符 36"/>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grpSp>
          <p:nvGrpSpPr>
            <p:cNvPr id="19" name="组合 18"/>
            <p:cNvGrpSpPr/>
            <p:nvPr/>
          </p:nvGrpSpPr>
          <p:grpSpPr>
            <a:xfrm>
              <a:off x="1583" y="3630"/>
              <a:ext cx="869" cy="218"/>
              <a:chOff x="1976" y="2813"/>
              <a:chExt cx="869" cy="218"/>
            </a:xfrm>
          </p:grpSpPr>
          <p:sp>
            <p:nvSpPr>
              <p:cNvPr id="32" name="矩形 31"/>
              <p:cNvSpPr/>
              <p:nvPr/>
            </p:nvSpPr>
            <p:spPr>
              <a:xfrm>
                <a:off x="2234" y="2813"/>
                <a:ext cx="611" cy="218"/>
              </a:xfrm>
              <a:prstGeom prst="rect">
                <a:avLst/>
              </a:prstGeom>
              <a:noFill/>
              <a:ln w="9525" cap="flat" cmpd="sng">
                <a:solidFill>
                  <a:schemeClr val="tx1"/>
                </a:solidFill>
                <a:prstDash val="solid"/>
                <a:miter/>
                <a:headEnd type="none" w="med" len="med"/>
                <a:tailEnd type="none" w="med" len="med"/>
              </a:ln>
            </p:spPr>
            <p:txBody>
              <a:bodyPr wrap="none" anchor="ctr"/>
              <a:lstStyle/>
              <a:p>
                <a:pPr eaLnBrk="1" hangingPunct="1">
                  <a:spcBef>
                    <a:spcPct val="0"/>
                  </a:spcBef>
                </a:pPr>
                <a:r>
                  <a:rPr lang="en-US" altLang="zh-CN" sz="1500">
                    <a:latin typeface="Times New Roman" panose="02020603050405020304" pitchFamily="18" charset="0"/>
                    <a:ea typeface="宋体" panose="02010600030101010101" pitchFamily="2" charset="-122"/>
                  </a:rPr>
                  <a:t>11</a:t>
                </a:r>
                <a:endParaRPr lang="en-US" altLang="zh-CN" sz="1500">
                  <a:latin typeface="Times New Roman" panose="02020603050405020304" pitchFamily="18" charset="0"/>
                  <a:ea typeface="宋体" panose="02010600030101010101" pitchFamily="2" charset="-122"/>
                </a:endParaRPr>
              </a:p>
            </p:txBody>
          </p:sp>
          <p:sp>
            <p:nvSpPr>
              <p:cNvPr id="33" name="直接连接符 32"/>
              <p:cNvSpPr/>
              <p:nvPr/>
            </p:nvSpPr>
            <p:spPr>
              <a:xfrm>
                <a:off x="2555" y="2813"/>
                <a:ext cx="0" cy="218"/>
              </a:xfrm>
              <a:prstGeom prst="line">
                <a:avLst/>
              </a:prstGeom>
              <a:ln w="9525" cap="flat" cmpd="sng">
                <a:solidFill>
                  <a:schemeClr val="tx1"/>
                </a:solidFill>
                <a:prstDash val="solid"/>
                <a:headEnd type="none" w="med" len="med"/>
                <a:tailEnd type="none" w="med" len="med"/>
              </a:ln>
            </p:spPr>
          </p:sp>
          <p:sp>
            <p:nvSpPr>
              <p:cNvPr id="34" name="直接连接符 33"/>
              <p:cNvSpPr/>
              <p:nvPr/>
            </p:nvSpPr>
            <p:spPr>
              <a:xfrm>
                <a:off x="1976" y="2927"/>
                <a:ext cx="258" cy="0"/>
              </a:xfrm>
              <a:prstGeom prst="line">
                <a:avLst/>
              </a:prstGeom>
              <a:ln w="9525" cap="flat" cmpd="sng">
                <a:solidFill>
                  <a:schemeClr val="tx1"/>
                </a:solidFill>
                <a:prstDash val="solid"/>
                <a:headEnd type="none" w="med" len="med"/>
                <a:tailEnd type="triangle" w="med" len="med"/>
              </a:ln>
            </p:spPr>
          </p:sp>
        </p:grpSp>
        <p:sp>
          <p:nvSpPr>
            <p:cNvPr id="20" name="文本框 19"/>
            <p:cNvSpPr txBox="1"/>
            <p:nvPr/>
          </p:nvSpPr>
          <p:spPr>
            <a:xfrm>
              <a:off x="1362" y="1844"/>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1" name="文本框 20"/>
            <p:cNvSpPr txBox="1"/>
            <p:nvPr/>
          </p:nvSpPr>
          <p:spPr>
            <a:xfrm>
              <a:off x="1362" y="2216"/>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2" name="文本框 21"/>
            <p:cNvSpPr txBox="1"/>
            <p:nvPr/>
          </p:nvSpPr>
          <p:spPr>
            <a:xfrm>
              <a:off x="1362" y="2423"/>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3" name="文本框 22"/>
            <p:cNvSpPr txBox="1"/>
            <p:nvPr/>
          </p:nvSpPr>
          <p:spPr>
            <a:xfrm>
              <a:off x="1362" y="3034"/>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4" name="文本框 23"/>
            <p:cNvSpPr txBox="1"/>
            <p:nvPr/>
          </p:nvSpPr>
          <p:spPr>
            <a:xfrm>
              <a:off x="1362" y="3231"/>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5" name="文本框 24"/>
            <p:cNvSpPr txBox="1"/>
            <p:nvPr/>
          </p:nvSpPr>
          <p:spPr>
            <a:xfrm>
              <a:off x="1362" y="3810"/>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6" name="文本框 25"/>
            <p:cNvSpPr txBox="1"/>
            <p:nvPr/>
          </p:nvSpPr>
          <p:spPr>
            <a:xfrm>
              <a:off x="4497" y="1616"/>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7" name="文本框 26"/>
            <p:cNvSpPr txBox="1"/>
            <p:nvPr/>
          </p:nvSpPr>
          <p:spPr>
            <a:xfrm>
              <a:off x="2967" y="2010"/>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8" name="文本框 27"/>
            <p:cNvSpPr txBox="1"/>
            <p:nvPr/>
          </p:nvSpPr>
          <p:spPr>
            <a:xfrm>
              <a:off x="2956" y="2599"/>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29" name="文本框 28"/>
            <p:cNvSpPr txBox="1"/>
            <p:nvPr/>
          </p:nvSpPr>
          <p:spPr>
            <a:xfrm>
              <a:off x="2201" y="2868"/>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30" name="文本框 29"/>
            <p:cNvSpPr txBox="1"/>
            <p:nvPr/>
          </p:nvSpPr>
          <p:spPr>
            <a:xfrm>
              <a:off x="2956" y="3374"/>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sp>
          <p:nvSpPr>
            <p:cNvPr id="31" name="文本框 30"/>
            <p:cNvSpPr txBox="1"/>
            <p:nvPr/>
          </p:nvSpPr>
          <p:spPr>
            <a:xfrm>
              <a:off x="2211" y="3624"/>
              <a:ext cx="229" cy="270"/>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a:t>
              </a:r>
              <a:endParaRPr lang="en-US" altLang="zh-CN" sz="1500">
                <a:latin typeface="Times New Roman" panose="02020603050405020304" pitchFamily="18" charset="0"/>
                <a:ea typeface="宋体" panose="02010600030101010101" pitchFamily="2"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smtClean="0"/>
              <a:t>优点：</a:t>
            </a:r>
            <a:endParaRPr lang="en-US" altLang="zh-CN" dirty="0" smtClean="0"/>
          </a:p>
          <a:p>
            <a:pPr marL="478155" lvl="2" indent="-342900">
              <a:spcBef>
                <a:spcPct val="10000"/>
              </a:spcBef>
              <a:buFont typeface="Wingdings" panose="05000000000000000000" pitchFamily="2" charset="2"/>
              <a:buChar char="Ø"/>
            </a:pPr>
            <a:r>
              <a:rPr lang="zh-CN" altLang="en-US" sz="2200" dirty="0">
                <a:latin typeface="华文楷体" panose="02010600040101010101" pitchFamily="2" charset="-122"/>
                <a:ea typeface="华文楷体" panose="02010600040101010101" pitchFamily="2" charset="-122"/>
              </a:rPr>
              <a:t>非同义词不会冲突，无“聚集”现象</a:t>
            </a:r>
            <a:endParaRPr lang="zh-CN" altLang="en-US" sz="2200" dirty="0">
              <a:latin typeface="华文楷体" panose="02010600040101010101" pitchFamily="2" charset="-122"/>
              <a:ea typeface="华文楷体" panose="02010600040101010101" pitchFamily="2" charset="-122"/>
            </a:endParaRPr>
          </a:p>
          <a:p>
            <a:pPr marL="478155" lvl="2" indent="-342900">
              <a:spcBef>
                <a:spcPct val="10000"/>
              </a:spcBef>
              <a:buFont typeface="Wingdings" panose="05000000000000000000" pitchFamily="2" charset="2"/>
              <a:buChar char="Ø"/>
            </a:pPr>
            <a:r>
              <a:rPr lang="zh-CN" altLang="en-US" sz="2200" dirty="0">
                <a:latin typeface="华文楷体" panose="02010600040101010101" pitchFamily="2" charset="-122"/>
                <a:ea typeface="华文楷体" panose="02010600040101010101" pitchFamily="2" charset="-122"/>
              </a:rPr>
              <a:t>链表上结点空间动态申请，更适合于表长不确定的情况</a:t>
            </a:r>
            <a:endParaRPr lang="zh-CN" altLang="en-US" sz="2200" i="1" dirty="0">
              <a:latin typeface="华文楷体" panose="02010600040101010101" pitchFamily="2" charset="-122"/>
              <a:ea typeface="华文楷体" panose="02010600040101010101" pitchFamily="2" charset="-122"/>
            </a:endParaRPr>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sym typeface="+mn-ea"/>
              </a:rPr>
              <a:t>4</a:t>
            </a:r>
            <a:r>
              <a:rPr lang="en-US" altLang="zh-CN" dirty="0">
                <a:sym typeface="+mn-ea"/>
              </a:rPr>
              <a:t>.</a:t>
            </a:r>
            <a:r>
              <a:rPr lang="zh-CN" altLang="en-US" dirty="0">
                <a:sym typeface="+mn-ea"/>
              </a:rPr>
              <a:t>建立一个公共溢出</a:t>
            </a:r>
            <a:r>
              <a:rPr lang="zh-CN" altLang="en-US" dirty="0" smtClean="0">
                <a:sym typeface="+mn-ea"/>
              </a:rPr>
              <a:t>区</a:t>
            </a:r>
            <a:endParaRPr lang="en-US" altLang="zh-CN" dirty="0" smtClean="0">
              <a:sym typeface="+mn-ea"/>
            </a:endParaRPr>
          </a:p>
          <a:p>
            <a:pPr lvl="2"/>
            <a:r>
              <a:rPr lang="zh-CN" altLang="en-US" sz="2200" dirty="0">
                <a:latin typeface="华文楷体" panose="02010600040101010101" pitchFamily="2" charset="-122"/>
                <a:ea typeface="华文楷体" panose="02010600040101010101" pitchFamily="2" charset="-122"/>
              </a:rPr>
              <a:t>基本思想：除设立哈希基本表外，另设立一个溢出向量表。所有为同义词的记录，不管它们由哈希函数得到的地址是什么，一旦发生冲突，都填入溢出表</a:t>
            </a:r>
            <a:r>
              <a:rPr lang="zh-CN" altLang="en-US" sz="2200" dirty="0" smtClean="0">
                <a:latin typeface="华文楷体" panose="02010600040101010101" pitchFamily="2" charset="-122"/>
                <a:ea typeface="华文楷体" panose="02010600040101010101" pitchFamily="2" charset="-122"/>
              </a:rPr>
              <a:t>。</a:t>
            </a:r>
            <a:endParaRPr lang="zh-CN" altLang="en-US" sz="2200" dirty="0">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
        <p:nvSpPr>
          <p:cNvPr id="6" name="矩形 5"/>
          <p:cNvSpPr/>
          <p:nvPr/>
        </p:nvSpPr>
        <p:spPr>
          <a:xfrm>
            <a:off x="3180080" y="2515235"/>
            <a:ext cx="1454785" cy="857250"/>
          </a:xfrm>
          <a:prstGeom prst="rect">
            <a:avLst/>
          </a:prstGeom>
          <a:solidFill>
            <a:schemeClr val="accent1"/>
          </a:solidFill>
          <a:ln w="9525" cap="flat" cmpd="sng">
            <a:solidFill>
              <a:schemeClr val="tx1"/>
            </a:solidFill>
            <a:prstDash val="solid"/>
            <a:miter/>
            <a:headEnd type="none" w="med" len="med"/>
            <a:tailEnd type="none" w="med" len="med"/>
          </a:ln>
        </p:spPr>
        <p:txBody>
          <a:bodyPr/>
          <a:lstStyle/>
          <a:p>
            <a:endParaRPr lang="zh-CN" altLang="en-US" sz="1015"/>
          </a:p>
        </p:txBody>
      </p:sp>
      <p:sp>
        <p:nvSpPr>
          <p:cNvPr id="7" name="文本框 6"/>
          <p:cNvSpPr txBox="1"/>
          <p:nvPr/>
        </p:nvSpPr>
        <p:spPr>
          <a:xfrm>
            <a:off x="3387725" y="2744470"/>
            <a:ext cx="1038860" cy="398780"/>
          </a:xfrm>
          <a:prstGeom prst="rect">
            <a:avLst/>
          </a:prstGeom>
          <a:noFill/>
          <a:ln w="9525">
            <a:noFill/>
          </a:ln>
        </p:spPr>
        <p:txBody>
          <a:bodyPr wrap="square">
            <a:spAutoFit/>
          </a:bodyPr>
          <a:lstStyle/>
          <a:p>
            <a:pPr eaLnBrk="1" hangingPunct="1">
              <a:spcBef>
                <a:spcPct val="50000"/>
              </a:spcBef>
            </a:pPr>
            <a:r>
              <a:rPr lang="zh-CN" altLang="en-US" sz="2000" b="1" dirty="0">
                <a:latin typeface="楷体_GB2312" pitchFamily="49" charset="-122"/>
                <a:ea typeface="楷体_GB2312" pitchFamily="49" charset="-122"/>
              </a:rPr>
              <a:t>基本表</a:t>
            </a:r>
            <a:endParaRPr lang="zh-CN" altLang="en-US" sz="2000" b="1" dirty="0">
              <a:latin typeface="楷体_GB2312" pitchFamily="49" charset="-122"/>
              <a:ea typeface="楷体_GB2312" pitchFamily="49" charset="-122"/>
            </a:endParaRPr>
          </a:p>
        </p:txBody>
      </p:sp>
      <p:sp>
        <p:nvSpPr>
          <p:cNvPr id="8" name="文本框 7"/>
          <p:cNvSpPr txBox="1"/>
          <p:nvPr/>
        </p:nvSpPr>
        <p:spPr>
          <a:xfrm>
            <a:off x="4990069" y="2514997"/>
            <a:ext cx="1028700" cy="400110"/>
          </a:xfrm>
          <a:prstGeom prst="rect">
            <a:avLst/>
          </a:prstGeom>
          <a:solidFill>
            <a:schemeClr val="accent1"/>
          </a:solidFill>
          <a:ln w="9525" cap="flat" cmpd="sng">
            <a:solidFill>
              <a:schemeClr val="tx1"/>
            </a:solidFill>
            <a:prstDash val="solid"/>
            <a:miter/>
            <a:headEnd type="none" w="med" len="med"/>
            <a:tailEnd type="none" w="med" len="med"/>
          </a:ln>
        </p:spPr>
        <p:txBody>
          <a:bodyPr>
            <a:spAutoFit/>
          </a:bodyPr>
          <a:lstStyle/>
          <a:p>
            <a:pPr eaLnBrk="1" hangingPunct="1">
              <a:spcBef>
                <a:spcPct val="50000"/>
              </a:spcBef>
            </a:pPr>
            <a:r>
              <a:rPr lang="zh-CN" altLang="en-US" sz="2000" b="1" dirty="0" smtClean="0">
                <a:latin typeface="楷体_GB2312" pitchFamily="49" charset="-122"/>
                <a:ea typeface="楷体_GB2312" pitchFamily="49" charset="-122"/>
              </a:rPr>
              <a:t>溢出</a:t>
            </a:r>
            <a:r>
              <a:rPr lang="zh-CN" altLang="en-US" sz="2000" b="1" dirty="0">
                <a:latin typeface="楷体_GB2312" pitchFamily="49" charset="-122"/>
                <a:ea typeface="楷体_GB2312" pitchFamily="49" charset="-122"/>
              </a:rPr>
              <a:t>表</a:t>
            </a:r>
            <a:endParaRPr lang="zh-CN" altLang="en-US" sz="2000" b="1" dirty="0">
              <a:latin typeface="楷体_GB2312" pitchFamily="49" charset="-122"/>
              <a:ea typeface="楷体_GB2312" pitchFamily="49" charset="-122"/>
            </a:endParaRPr>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pSp>
        <p:nvGrpSpPr>
          <p:cNvPr id="4" name="组合 3"/>
          <p:cNvGrpSpPr/>
          <p:nvPr/>
        </p:nvGrpSpPr>
        <p:grpSpPr>
          <a:xfrm>
            <a:off x="1781509" y="420518"/>
            <a:ext cx="5227320" cy="4297045"/>
            <a:chOff x="927" y="859"/>
            <a:chExt cx="2559" cy="2813"/>
          </a:xfrm>
        </p:grpSpPr>
        <p:grpSp>
          <p:nvGrpSpPr>
            <p:cNvPr id="5" name="组合 4"/>
            <p:cNvGrpSpPr/>
            <p:nvPr/>
          </p:nvGrpSpPr>
          <p:grpSpPr>
            <a:xfrm>
              <a:off x="927" y="859"/>
              <a:ext cx="2559" cy="2813"/>
              <a:chOff x="699" y="1200"/>
              <a:chExt cx="2559" cy="2813"/>
            </a:xfrm>
          </p:grpSpPr>
          <p:sp>
            <p:nvSpPr>
              <p:cNvPr id="10" name="流程图: 过程 9"/>
              <p:cNvSpPr/>
              <p:nvPr/>
            </p:nvSpPr>
            <p:spPr>
              <a:xfrm>
                <a:off x="1769" y="1407"/>
                <a:ext cx="807" cy="238"/>
              </a:xfrm>
              <a:prstGeom prst="flowChartProcess">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给定</a:t>
                </a:r>
                <a:r>
                  <a:rPr lang="zh-CN" altLang="zh-CN" sz="1600" b="1" dirty="0">
                    <a:latin typeface="楷体_GB2312" pitchFamily="49" charset="-122"/>
                    <a:ea typeface="楷体_GB2312" pitchFamily="49" charset="-122"/>
                  </a:rPr>
                  <a:t>k值</a:t>
                </a:r>
                <a:endParaRPr lang="zh-CN" altLang="en-US" sz="1600" b="1" dirty="0">
                  <a:latin typeface="楷体_GB2312" pitchFamily="49" charset="-122"/>
                  <a:ea typeface="楷体_GB2312" pitchFamily="49" charset="-122"/>
                </a:endParaRPr>
              </a:p>
            </p:txBody>
          </p:sp>
          <p:sp>
            <p:nvSpPr>
              <p:cNvPr id="11" name="流程图: 过程 10"/>
              <p:cNvSpPr/>
              <p:nvPr/>
            </p:nvSpPr>
            <p:spPr>
              <a:xfrm>
                <a:off x="1782" y="1844"/>
                <a:ext cx="807" cy="238"/>
              </a:xfrm>
              <a:prstGeom prst="flowChartProcess">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计算</a:t>
                </a:r>
                <a:r>
                  <a:rPr lang="en-US" altLang="zh-CN" sz="1600" b="1" dirty="0">
                    <a:latin typeface="楷体_GB2312" pitchFamily="49" charset="-122"/>
                    <a:ea typeface="楷体_GB2312" pitchFamily="49" charset="-122"/>
                  </a:rPr>
                  <a:t>H(k)</a:t>
                </a:r>
                <a:endParaRPr lang="en-US" altLang="zh-CN" sz="1600" b="1" dirty="0">
                  <a:latin typeface="楷体_GB2312" pitchFamily="49" charset="-122"/>
                  <a:ea typeface="楷体_GB2312" pitchFamily="49" charset="-122"/>
                </a:endParaRPr>
              </a:p>
            </p:txBody>
          </p:sp>
          <p:sp>
            <p:nvSpPr>
              <p:cNvPr id="12" name="流程图: 决策 11"/>
              <p:cNvSpPr/>
              <p:nvPr/>
            </p:nvSpPr>
            <p:spPr>
              <a:xfrm>
                <a:off x="1492" y="2279"/>
                <a:ext cx="1381" cy="365"/>
              </a:xfrm>
              <a:prstGeom prst="flowChartDecision">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此地址为空</a:t>
                </a:r>
                <a:endParaRPr lang="zh-CN" altLang="en-US" sz="1600" b="1" dirty="0">
                  <a:latin typeface="楷体_GB2312" pitchFamily="49" charset="-122"/>
                  <a:ea typeface="楷体_GB2312" pitchFamily="49" charset="-122"/>
                </a:endParaRPr>
              </a:p>
            </p:txBody>
          </p:sp>
          <p:sp>
            <p:nvSpPr>
              <p:cNvPr id="13" name="流程图: 决策 12"/>
              <p:cNvSpPr/>
              <p:nvPr/>
            </p:nvSpPr>
            <p:spPr>
              <a:xfrm>
                <a:off x="1506" y="2831"/>
                <a:ext cx="1381" cy="365"/>
              </a:xfrm>
              <a:prstGeom prst="flowChartDecision">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关键字</a:t>
                </a:r>
                <a:r>
                  <a:rPr lang="en-US" altLang="zh-CN" sz="1600" b="1" dirty="0">
                    <a:latin typeface="楷体_GB2312" pitchFamily="49" charset="-122"/>
                    <a:ea typeface="楷体_GB2312" pitchFamily="49" charset="-122"/>
                  </a:rPr>
                  <a:t>==k</a:t>
                </a:r>
                <a:endParaRPr lang="en-US" altLang="zh-CN" sz="1600" b="1" dirty="0">
                  <a:latin typeface="楷体_GB2312" pitchFamily="49" charset="-122"/>
                  <a:ea typeface="楷体_GB2312" pitchFamily="49" charset="-122"/>
                </a:endParaRPr>
              </a:p>
            </p:txBody>
          </p:sp>
          <p:sp>
            <p:nvSpPr>
              <p:cNvPr id="14" name="流程图: 过程 13"/>
              <p:cNvSpPr/>
              <p:nvPr/>
            </p:nvSpPr>
            <p:spPr>
              <a:xfrm>
                <a:off x="699" y="2603"/>
                <a:ext cx="807" cy="238"/>
              </a:xfrm>
              <a:prstGeom prst="flowChartProcess">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查找失败</a:t>
                </a:r>
                <a:endParaRPr lang="zh-CN" altLang="en-US" sz="1600" b="1" dirty="0">
                  <a:latin typeface="楷体_GB2312" pitchFamily="49" charset="-122"/>
                  <a:ea typeface="楷体_GB2312" pitchFamily="49" charset="-122"/>
                </a:endParaRPr>
              </a:p>
            </p:txBody>
          </p:sp>
          <p:sp>
            <p:nvSpPr>
              <p:cNvPr id="15" name="流程图: 过程 14"/>
              <p:cNvSpPr/>
              <p:nvPr/>
            </p:nvSpPr>
            <p:spPr>
              <a:xfrm>
                <a:off x="722" y="3163"/>
                <a:ext cx="807" cy="238"/>
              </a:xfrm>
              <a:prstGeom prst="flowChartProcess">
                <a:avLst/>
              </a:prstGeom>
              <a:noFill/>
              <a:ln w="9525" cap="flat" cmpd="sng">
                <a:solidFill>
                  <a:schemeClr val="tx1"/>
                </a:solidFill>
                <a:prstDash val="solid"/>
                <a:miter/>
                <a:headEnd type="none" w="med" len="med"/>
                <a:tailEnd type="none" w="med" len="med"/>
              </a:ln>
            </p:spPr>
            <p:txBody>
              <a:bodyPr wrap="none" anchor="ctr"/>
              <a:lstStyle/>
              <a:p>
                <a:pPr algn="ctr" eaLnBrk="1" hangingPunct="1">
                  <a:spcBef>
                    <a:spcPct val="0"/>
                  </a:spcBef>
                </a:pPr>
                <a:r>
                  <a:rPr lang="zh-CN" altLang="en-US" sz="1600" b="1" dirty="0">
                    <a:latin typeface="楷体_GB2312" pitchFamily="49" charset="-122"/>
                    <a:ea typeface="楷体_GB2312" pitchFamily="49" charset="-122"/>
                  </a:rPr>
                  <a:t>查找成功</a:t>
                </a:r>
                <a:endParaRPr lang="zh-CN" altLang="en-US" sz="1600" b="1" dirty="0">
                  <a:latin typeface="楷体_GB2312" pitchFamily="49" charset="-122"/>
                  <a:ea typeface="楷体_GB2312" pitchFamily="49" charset="-122"/>
                </a:endParaRPr>
              </a:p>
            </p:txBody>
          </p:sp>
          <p:sp>
            <p:nvSpPr>
              <p:cNvPr id="16" name="流程图: 过程 15"/>
              <p:cNvSpPr/>
              <p:nvPr/>
            </p:nvSpPr>
            <p:spPr>
              <a:xfrm>
                <a:off x="1879" y="3413"/>
                <a:ext cx="694" cy="383"/>
              </a:xfrm>
              <a:prstGeom prst="flowChartProcess">
                <a:avLst/>
              </a:prstGeom>
              <a:noFill/>
              <a:ln w="9525" cap="flat" cmpd="sng">
                <a:solidFill>
                  <a:schemeClr val="tx1"/>
                </a:solidFill>
                <a:prstDash val="solid"/>
                <a:miter/>
                <a:headEnd type="none" w="med" len="med"/>
                <a:tailEnd type="none" w="med" len="med"/>
              </a:ln>
            </p:spPr>
            <p:txBody>
              <a:bodyPr anchor="ctr">
                <a:spAutoFit/>
              </a:bodyPr>
              <a:lstStyle/>
              <a:p>
                <a:pPr algn="ctr" eaLnBrk="1" hangingPunct="1">
                  <a:spcBef>
                    <a:spcPct val="0"/>
                  </a:spcBef>
                </a:pPr>
                <a:r>
                  <a:rPr lang="zh-CN" altLang="en-US" sz="1600" b="1" dirty="0">
                    <a:latin typeface="楷体_GB2312" pitchFamily="49" charset="-122"/>
                    <a:ea typeface="楷体_GB2312" pitchFamily="49" charset="-122"/>
                  </a:rPr>
                  <a:t>按处理冲突</a:t>
                </a:r>
                <a:endParaRPr lang="zh-CN" altLang="en-US" sz="1600" b="1" dirty="0">
                  <a:latin typeface="楷体_GB2312" pitchFamily="49" charset="-122"/>
                  <a:ea typeface="楷体_GB2312" pitchFamily="49" charset="-122"/>
                </a:endParaRPr>
              </a:p>
              <a:p>
                <a:pPr algn="ctr" eaLnBrk="1" hangingPunct="1">
                  <a:spcBef>
                    <a:spcPct val="0"/>
                  </a:spcBef>
                </a:pPr>
                <a:r>
                  <a:rPr lang="zh-CN" altLang="en-US" sz="1600" b="1" dirty="0">
                    <a:latin typeface="楷体_GB2312" pitchFamily="49" charset="-122"/>
                    <a:ea typeface="楷体_GB2312" pitchFamily="49" charset="-122"/>
                  </a:rPr>
                  <a:t>方法计算</a:t>
                </a:r>
                <a:r>
                  <a:rPr lang="en-US" altLang="zh-CN" sz="1600" b="1" dirty="0">
                    <a:latin typeface="楷体_GB2312" pitchFamily="49" charset="-122"/>
                    <a:ea typeface="楷体_GB2312" pitchFamily="49" charset="-122"/>
                  </a:rPr>
                  <a:t>Hi</a:t>
                </a:r>
                <a:endParaRPr lang="en-US" altLang="zh-CN" sz="1600" b="1" dirty="0">
                  <a:latin typeface="楷体_GB2312" pitchFamily="49" charset="-122"/>
                  <a:ea typeface="楷体_GB2312" pitchFamily="49" charset="-122"/>
                </a:endParaRPr>
              </a:p>
            </p:txBody>
          </p:sp>
          <p:sp>
            <p:nvSpPr>
              <p:cNvPr id="17" name="直接连接符 16"/>
              <p:cNvSpPr/>
              <p:nvPr/>
            </p:nvSpPr>
            <p:spPr>
              <a:xfrm>
                <a:off x="2152" y="1200"/>
                <a:ext cx="0" cy="207"/>
              </a:xfrm>
              <a:prstGeom prst="line">
                <a:avLst/>
              </a:prstGeom>
              <a:ln w="9525" cap="flat" cmpd="sng">
                <a:solidFill>
                  <a:schemeClr val="tx1"/>
                </a:solidFill>
                <a:prstDash val="solid"/>
                <a:headEnd type="none" w="med" len="med"/>
                <a:tailEnd type="triangle" w="med" len="med"/>
              </a:ln>
            </p:spPr>
          </p:sp>
          <p:sp>
            <p:nvSpPr>
              <p:cNvPr id="18" name="直接连接符 17"/>
              <p:cNvSpPr/>
              <p:nvPr/>
            </p:nvSpPr>
            <p:spPr>
              <a:xfrm>
                <a:off x="2172" y="1645"/>
                <a:ext cx="0" cy="196"/>
              </a:xfrm>
              <a:prstGeom prst="line">
                <a:avLst/>
              </a:prstGeom>
              <a:ln w="9525" cap="flat" cmpd="sng">
                <a:solidFill>
                  <a:schemeClr val="tx1"/>
                </a:solidFill>
                <a:prstDash val="solid"/>
                <a:headEnd type="none" w="med" len="med"/>
                <a:tailEnd type="triangle" w="med" len="med"/>
              </a:ln>
            </p:spPr>
          </p:sp>
          <p:sp>
            <p:nvSpPr>
              <p:cNvPr id="19" name="直接连接符 18"/>
              <p:cNvSpPr/>
              <p:nvPr/>
            </p:nvSpPr>
            <p:spPr>
              <a:xfrm>
                <a:off x="2183" y="2079"/>
                <a:ext cx="0" cy="196"/>
              </a:xfrm>
              <a:prstGeom prst="line">
                <a:avLst/>
              </a:prstGeom>
              <a:ln w="9525" cap="flat" cmpd="sng">
                <a:solidFill>
                  <a:schemeClr val="tx1"/>
                </a:solidFill>
                <a:prstDash val="solid"/>
                <a:headEnd type="none" w="med" len="med"/>
                <a:tailEnd type="triangle" w="med" len="med"/>
              </a:ln>
            </p:spPr>
          </p:sp>
          <p:sp>
            <p:nvSpPr>
              <p:cNvPr id="20" name="直接连接符 19"/>
              <p:cNvSpPr/>
              <p:nvPr/>
            </p:nvSpPr>
            <p:spPr>
              <a:xfrm>
                <a:off x="2193" y="2648"/>
                <a:ext cx="0" cy="186"/>
              </a:xfrm>
              <a:prstGeom prst="line">
                <a:avLst/>
              </a:prstGeom>
              <a:ln w="9525" cap="flat" cmpd="sng">
                <a:solidFill>
                  <a:schemeClr val="tx1"/>
                </a:solidFill>
                <a:prstDash val="solid"/>
                <a:headEnd type="none" w="med" len="med"/>
                <a:tailEnd type="triangle" w="med" len="med"/>
              </a:ln>
            </p:spPr>
          </p:sp>
          <p:sp>
            <p:nvSpPr>
              <p:cNvPr id="21" name="直接连接符 20"/>
              <p:cNvSpPr/>
              <p:nvPr/>
            </p:nvSpPr>
            <p:spPr>
              <a:xfrm>
                <a:off x="2193" y="3196"/>
                <a:ext cx="0" cy="197"/>
              </a:xfrm>
              <a:prstGeom prst="line">
                <a:avLst/>
              </a:prstGeom>
              <a:ln w="9525" cap="flat" cmpd="sng">
                <a:solidFill>
                  <a:schemeClr val="tx1"/>
                </a:solidFill>
                <a:prstDash val="solid"/>
                <a:headEnd type="none" w="med" len="med"/>
                <a:tailEnd type="triangle" w="med" len="med"/>
              </a:ln>
            </p:spPr>
          </p:sp>
          <p:sp>
            <p:nvSpPr>
              <p:cNvPr id="22" name="直接连接符 21"/>
              <p:cNvSpPr/>
              <p:nvPr/>
            </p:nvSpPr>
            <p:spPr>
              <a:xfrm flipH="1">
                <a:off x="1076" y="2462"/>
                <a:ext cx="393" cy="0"/>
              </a:xfrm>
              <a:prstGeom prst="line">
                <a:avLst/>
              </a:prstGeom>
              <a:ln w="9525" cap="flat" cmpd="sng">
                <a:solidFill>
                  <a:schemeClr val="tx1"/>
                </a:solidFill>
                <a:prstDash val="solid"/>
                <a:headEnd type="none" w="med" len="med"/>
                <a:tailEnd type="none" w="med" len="med"/>
              </a:ln>
            </p:spPr>
          </p:sp>
          <p:sp>
            <p:nvSpPr>
              <p:cNvPr id="23" name="直接连接符 22"/>
              <p:cNvSpPr/>
              <p:nvPr/>
            </p:nvSpPr>
            <p:spPr>
              <a:xfrm>
                <a:off x="1086" y="2462"/>
                <a:ext cx="0" cy="165"/>
              </a:xfrm>
              <a:prstGeom prst="line">
                <a:avLst/>
              </a:prstGeom>
              <a:ln w="9525" cap="flat" cmpd="sng">
                <a:solidFill>
                  <a:schemeClr val="tx1"/>
                </a:solidFill>
                <a:prstDash val="solid"/>
                <a:headEnd type="none" w="med" len="med"/>
                <a:tailEnd type="triangle" w="med" len="med"/>
              </a:ln>
            </p:spPr>
          </p:sp>
          <p:sp>
            <p:nvSpPr>
              <p:cNvPr id="24" name="直接连接符 23"/>
              <p:cNvSpPr/>
              <p:nvPr/>
            </p:nvSpPr>
            <p:spPr>
              <a:xfrm flipH="1">
                <a:off x="1107" y="3010"/>
                <a:ext cx="403" cy="0"/>
              </a:xfrm>
              <a:prstGeom prst="line">
                <a:avLst/>
              </a:prstGeom>
              <a:ln w="9525" cap="flat" cmpd="sng">
                <a:solidFill>
                  <a:schemeClr val="tx1"/>
                </a:solidFill>
                <a:prstDash val="solid"/>
                <a:headEnd type="none" w="med" len="med"/>
                <a:tailEnd type="none" w="med" len="med"/>
              </a:ln>
            </p:spPr>
          </p:sp>
          <p:sp>
            <p:nvSpPr>
              <p:cNvPr id="25" name="直接连接符 24"/>
              <p:cNvSpPr/>
              <p:nvPr/>
            </p:nvSpPr>
            <p:spPr>
              <a:xfrm>
                <a:off x="1107" y="3020"/>
                <a:ext cx="0" cy="155"/>
              </a:xfrm>
              <a:prstGeom prst="line">
                <a:avLst/>
              </a:prstGeom>
              <a:ln w="9525" cap="flat" cmpd="sng">
                <a:solidFill>
                  <a:schemeClr val="tx1"/>
                </a:solidFill>
                <a:prstDash val="solid"/>
                <a:headEnd type="none" w="med" len="med"/>
                <a:tailEnd type="triangle" w="med" len="med"/>
              </a:ln>
            </p:spPr>
          </p:sp>
          <p:sp>
            <p:nvSpPr>
              <p:cNvPr id="26" name="直接连接符 25"/>
              <p:cNvSpPr/>
              <p:nvPr/>
            </p:nvSpPr>
            <p:spPr>
              <a:xfrm>
                <a:off x="2203" y="3827"/>
                <a:ext cx="0" cy="186"/>
              </a:xfrm>
              <a:prstGeom prst="line">
                <a:avLst/>
              </a:prstGeom>
              <a:ln w="9525" cap="flat" cmpd="sng">
                <a:solidFill>
                  <a:schemeClr val="tx1"/>
                </a:solidFill>
                <a:prstDash val="solid"/>
                <a:headEnd type="none" w="med" len="med"/>
                <a:tailEnd type="none" w="med" len="med"/>
              </a:ln>
            </p:spPr>
          </p:sp>
          <p:sp>
            <p:nvSpPr>
              <p:cNvPr id="27" name="直接连接符 26"/>
              <p:cNvSpPr/>
              <p:nvPr/>
            </p:nvSpPr>
            <p:spPr>
              <a:xfrm>
                <a:off x="2214" y="4013"/>
                <a:ext cx="1044" cy="0"/>
              </a:xfrm>
              <a:prstGeom prst="line">
                <a:avLst/>
              </a:prstGeom>
              <a:ln w="9525" cap="flat" cmpd="sng">
                <a:solidFill>
                  <a:schemeClr val="tx1"/>
                </a:solidFill>
                <a:prstDash val="solid"/>
                <a:headEnd type="none" w="med" len="med"/>
                <a:tailEnd type="none" w="med" len="med"/>
              </a:ln>
            </p:spPr>
          </p:sp>
          <p:sp>
            <p:nvSpPr>
              <p:cNvPr id="28" name="直接连接符 27"/>
              <p:cNvSpPr/>
              <p:nvPr/>
            </p:nvSpPr>
            <p:spPr>
              <a:xfrm flipV="1">
                <a:off x="3258" y="2203"/>
                <a:ext cx="0" cy="1810"/>
              </a:xfrm>
              <a:prstGeom prst="line">
                <a:avLst/>
              </a:prstGeom>
              <a:ln w="9525" cap="flat" cmpd="sng">
                <a:solidFill>
                  <a:schemeClr val="tx1"/>
                </a:solidFill>
                <a:prstDash val="solid"/>
                <a:headEnd type="none" w="med" len="med"/>
                <a:tailEnd type="none" w="med" len="med"/>
              </a:ln>
            </p:spPr>
          </p:sp>
          <p:sp>
            <p:nvSpPr>
              <p:cNvPr id="29" name="直接连接符 28"/>
              <p:cNvSpPr/>
              <p:nvPr/>
            </p:nvSpPr>
            <p:spPr>
              <a:xfrm flipH="1">
                <a:off x="2183" y="2203"/>
                <a:ext cx="1075" cy="0"/>
              </a:xfrm>
              <a:prstGeom prst="line">
                <a:avLst/>
              </a:prstGeom>
              <a:ln w="9525" cap="flat" cmpd="sng">
                <a:solidFill>
                  <a:schemeClr val="tx1"/>
                </a:solidFill>
                <a:prstDash val="solid"/>
                <a:headEnd type="none" w="med" len="med"/>
                <a:tailEnd type="triangle" w="med" len="med"/>
              </a:ln>
            </p:spPr>
          </p:sp>
        </p:grpSp>
        <p:sp>
          <p:nvSpPr>
            <p:cNvPr id="6" name="文本框 5"/>
            <p:cNvSpPr txBox="1"/>
            <p:nvPr/>
          </p:nvSpPr>
          <p:spPr>
            <a:xfrm>
              <a:off x="1620" y="1856"/>
              <a:ext cx="159" cy="222"/>
            </a:xfrm>
            <a:prstGeom prst="rect">
              <a:avLst/>
            </a:prstGeom>
            <a:noFill/>
            <a:ln w="9525">
              <a:noFill/>
            </a:ln>
          </p:spPr>
          <p:txBody>
            <a:bodyPr wrap="square" anchor="t">
              <a:spAutoFit/>
            </a:bodyPr>
            <a:lstStyle/>
            <a:p>
              <a:pPr eaLnBrk="1" hangingPunct="1">
                <a:spcBef>
                  <a:spcPct val="0"/>
                </a:spcBef>
              </a:pPr>
              <a:r>
                <a:rPr lang="en-US" altLang="zh-CN" sz="1600" b="1" dirty="0">
                  <a:latin typeface="楷体_GB2312" pitchFamily="49" charset="-122"/>
                  <a:ea typeface="楷体_GB2312" pitchFamily="49" charset="-122"/>
                </a:rPr>
                <a:t>Y</a:t>
              </a:r>
              <a:endParaRPr lang="en-US" altLang="zh-CN" sz="1600" b="1" dirty="0">
                <a:latin typeface="楷体_GB2312" pitchFamily="49" charset="-122"/>
                <a:ea typeface="楷体_GB2312" pitchFamily="49" charset="-122"/>
              </a:endParaRPr>
            </a:p>
          </p:txBody>
        </p:sp>
        <p:sp>
          <p:nvSpPr>
            <p:cNvPr id="7" name="文本框 6"/>
            <p:cNvSpPr txBox="1"/>
            <p:nvPr/>
          </p:nvSpPr>
          <p:spPr>
            <a:xfrm>
              <a:off x="2431" y="2237"/>
              <a:ext cx="159" cy="222"/>
            </a:xfrm>
            <a:prstGeom prst="rect">
              <a:avLst/>
            </a:prstGeom>
            <a:noFill/>
            <a:ln w="9525">
              <a:noFill/>
            </a:ln>
          </p:spPr>
          <p:txBody>
            <a:bodyPr wrap="square" anchor="t">
              <a:spAutoFit/>
            </a:bodyPr>
            <a:lstStyle/>
            <a:p>
              <a:pPr eaLnBrk="1" hangingPunct="1">
                <a:spcBef>
                  <a:spcPct val="0"/>
                </a:spcBef>
              </a:pPr>
              <a:r>
                <a:rPr lang="en-US" altLang="zh-CN" sz="1600" b="1" dirty="0">
                  <a:latin typeface="楷体_GB2312" pitchFamily="49" charset="-122"/>
                  <a:ea typeface="楷体_GB2312" pitchFamily="49" charset="-122"/>
                </a:rPr>
                <a:t>N</a:t>
              </a:r>
              <a:endParaRPr lang="en-US" altLang="zh-CN" sz="1600" b="1" dirty="0">
                <a:latin typeface="楷体_GB2312" pitchFamily="49" charset="-122"/>
                <a:ea typeface="楷体_GB2312" pitchFamily="49" charset="-122"/>
              </a:endParaRPr>
            </a:p>
          </p:txBody>
        </p:sp>
        <p:sp>
          <p:nvSpPr>
            <p:cNvPr id="8" name="文本框 7"/>
            <p:cNvSpPr txBox="1"/>
            <p:nvPr/>
          </p:nvSpPr>
          <p:spPr>
            <a:xfrm>
              <a:off x="1617" y="2464"/>
              <a:ext cx="159" cy="222"/>
            </a:xfrm>
            <a:prstGeom prst="rect">
              <a:avLst/>
            </a:prstGeom>
            <a:noFill/>
            <a:ln w="9525">
              <a:noFill/>
            </a:ln>
          </p:spPr>
          <p:txBody>
            <a:bodyPr wrap="square" anchor="t">
              <a:spAutoFit/>
            </a:bodyPr>
            <a:lstStyle/>
            <a:p>
              <a:pPr eaLnBrk="1" hangingPunct="1">
                <a:spcBef>
                  <a:spcPct val="0"/>
                </a:spcBef>
              </a:pPr>
              <a:r>
                <a:rPr lang="en-US" altLang="zh-CN" sz="1600" b="1" dirty="0">
                  <a:latin typeface="楷体_GB2312" pitchFamily="49" charset="-122"/>
                  <a:ea typeface="楷体_GB2312" pitchFamily="49" charset="-122"/>
                </a:rPr>
                <a:t>Y</a:t>
              </a:r>
              <a:endParaRPr lang="en-US" altLang="zh-CN" sz="1600" b="1" dirty="0">
                <a:latin typeface="楷体_GB2312" pitchFamily="49" charset="-122"/>
                <a:ea typeface="楷体_GB2312" pitchFamily="49" charset="-122"/>
              </a:endParaRPr>
            </a:p>
          </p:txBody>
        </p:sp>
        <p:sp>
          <p:nvSpPr>
            <p:cNvPr id="9" name="文本框 8"/>
            <p:cNvSpPr txBox="1"/>
            <p:nvPr/>
          </p:nvSpPr>
          <p:spPr>
            <a:xfrm>
              <a:off x="2421" y="2791"/>
              <a:ext cx="159" cy="222"/>
            </a:xfrm>
            <a:prstGeom prst="rect">
              <a:avLst/>
            </a:prstGeom>
            <a:noFill/>
            <a:ln w="9525">
              <a:noFill/>
            </a:ln>
          </p:spPr>
          <p:txBody>
            <a:bodyPr wrap="square" anchor="t">
              <a:spAutoFit/>
            </a:bodyPr>
            <a:lstStyle/>
            <a:p>
              <a:pPr eaLnBrk="1" hangingPunct="1">
                <a:spcBef>
                  <a:spcPct val="0"/>
                </a:spcBef>
              </a:pPr>
              <a:r>
                <a:rPr lang="en-US" altLang="zh-CN" sz="1600" b="1" dirty="0">
                  <a:latin typeface="楷体_GB2312" pitchFamily="49" charset="-122"/>
                  <a:ea typeface="楷体_GB2312" pitchFamily="49" charset="-122"/>
                </a:rPr>
                <a:t>N</a:t>
              </a:r>
              <a:endParaRPr lang="en-US" altLang="zh-CN" sz="1600" b="1" dirty="0">
                <a:latin typeface="楷体_GB2312" pitchFamily="49" charset="-122"/>
                <a:ea typeface="楷体_GB2312" pitchFamily="49" charset="-122"/>
              </a:endParaRPr>
            </a:p>
          </p:txBody>
        </p:sp>
      </p:gr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p:nvPr>
        </p:nvSpPr>
        <p:spPr>
          <a:xfrm>
            <a:off x="746299" y="171217"/>
            <a:ext cx="3126455" cy="250190"/>
          </a:xfrm>
        </p:spPr>
        <p:txBody>
          <a:bodyPr/>
          <a:lstStyle/>
          <a:p>
            <a:r>
              <a:rPr lang="en-US" altLang="zh-CN" dirty="0"/>
              <a:t>8.3 </a:t>
            </a:r>
            <a:r>
              <a:rPr lang="zh-CN" altLang="en-US" dirty="0"/>
              <a:t>哈希表</a:t>
            </a:r>
            <a:endParaRPr lang="zh-CN" altLang="en-US" dirty="0"/>
          </a:p>
        </p:txBody>
      </p:sp>
      <p:sp>
        <p:nvSpPr>
          <p:cNvPr id="846977" name="文本框 846976"/>
          <p:cNvSpPr txBox="1"/>
          <p:nvPr/>
        </p:nvSpPr>
        <p:spPr>
          <a:xfrm>
            <a:off x="780971" y="944166"/>
            <a:ext cx="7064755" cy="1061829"/>
          </a:xfrm>
          <a:prstGeom prst="rect">
            <a:avLst/>
          </a:prstGeom>
          <a:noFill/>
          <a:ln w="28575" cap="flat" cmpd="sng">
            <a:solidFill>
              <a:srgbClr val="FF0000"/>
            </a:solidFill>
            <a:prstDash val="solid"/>
            <a:miter/>
            <a:headEnd type="none" w="med" len="med"/>
            <a:tailEnd type="none" w="med" len="med"/>
          </a:ln>
        </p:spPr>
        <p:txBody>
          <a:bodyPr wrap="none" anchor="t">
            <a:spAutoFit/>
          </a:bodyPr>
          <a:lstStyle/>
          <a:p>
            <a:pPr eaLnBrk="1" hangingPunct="1">
              <a:spcBef>
                <a:spcPct val="0"/>
              </a:spcBef>
            </a:pPr>
            <a:r>
              <a:rPr lang="zh-CN" altLang="en-US" sz="2100" b="1" dirty="0" smtClean="0">
                <a:latin typeface="华文楷体" panose="02010600040101010101" pitchFamily="2" charset="-122"/>
                <a:ea typeface="华文楷体" panose="02010600040101010101" pitchFamily="2" charset="-122"/>
              </a:rPr>
              <a:t>例</a:t>
            </a:r>
            <a:r>
              <a:rPr lang="en-US" altLang="zh-CN" sz="2100" b="1" dirty="0" smtClean="0">
                <a:latin typeface="华文楷体" panose="02010600040101010101" pitchFamily="2" charset="-122"/>
                <a:ea typeface="华文楷体" panose="02010600040101010101" pitchFamily="2" charset="-122"/>
              </a:rPr>
              <a:t>: </a:t>
            </a:r>
            <a:r>
              <a:rPr lang="zh-CN" altLang="en-US" sz="2100" b="1" dirty="0">
                <a:latin typeface="华文楷体" panose="02010600040101010101" pitchFamily="2" charset="-122"/>
                <a:ea typeface="华文楷体" panose="02010600040101010101" pitchFamily="2" charset="-122"/>
              </a:rPr>
              <a:t>已知一组关键字</a:t>
            </a:r>
            <a:r>
              <a:rPr lang="en-US" altLang="zh-CN" sz="2100" b="1" dirty="0">
                <a:latin typeface="华文楷体" panose="02010600040101010101" pitchFamily="2" charset="-122"/>
                <a:ea typeface="华文楷体" panose="02010600040101010101" pitchFamily="2" charset="-122"/>
              </a:rPr>
              <a:t>(19,14,23,1,68,20,84,27,55,11,10,79)</a:t>
            </a:r>
            <a:endParaRPr lang="en-US" altLang="zh-CN" sz="2100" b="1" dirty="0">
              <a:latin typeface="华文楷体" panose="02010600040101010101" pitchFamily="2" charset="-122"/>
              <a:ea typeface="华文楷体" panose="02010600040101010101" pitchFamily="2" charset="-122"/>
            </a:endParaRPr>
          </a:p>
          <a:p>
            <a:pPr eaLnBrk="1" hangingPunct="1">
              <a:spcBef>
                <a:spcPct val="0"/>
              </a:spcBef>
            </a:pPr>
            <a:r>
              <a:rPr lang="en-US" altLang="zh-CN" sz="2100" b="1" dirty="0">
                <a:latin typeface="华文楷体" panose="02010600040101010101" pitchFamily="2" charset="-122"/>
                <a:ea typeface="华文楷体" panose="02010600040101010101" pitchFamily="2" charset="-122"/>
              </a:rPr>
              <a:t>         </a:t>
            </a:r>
            <a:r>
              <a:rPr lang="zh-CN" altLang="en-US" sz="2100" b="1" dirty="0">
                <a:latin typeface="华文楷体" panose="02010600040101010101" pitchFamily="2" charset="-122"/>
                <a:ea typeface="华文楷体" panose="02010600040101010101" pitchFamily="2" charset="-122"/>
              </a:rPr>
              <a:t>哈希函数为：</a:t>
            </a:r>
            <a:r>
              <a:rPr lang="zh-CN" altLang="zh-CN" sz="2100" b="1" dirty="0">
                <a:latin typeface="华文楷体" panose="02010600040101010101" pitchFamily="2" charset="-122"/>
                <a:ea typeface="华文楷体" panose="02010600040101010101" pitchFamily="2" charset="-122"/>
              </a:rPr>
              <a:t>H(key)=key MOD 13, 哈希表长为</a:t>
            </a:r>
            <a:r>
              <a:rPr lang="en-US" altLang="zh-CN" sz="2100" b="1" dirty="0" smtClean="0">
                <a:latin typeface="华文楷体" panose="02010600040101010101" pitchFamily="2" charset="-122"/>
                <a:ea typeface="华文楷体" panose="02010600040101010101" pitchFamily="2" charset="-122"/>
              </a:rPr>
              <a:t>m=15</a:t>
            </a:r>
            <a:r>
              <a:rPr lang="zh-CN" altLang="en-US" sz="2100" b="1" dirty="0" smtClean="0">
                <a:latin typeface="华文楷体" panose="02010600040101010101" pitchFamily="2" charset="-122"/>
                <a:ea typeface="华文楷体" panose="02010600040101010101" pitchFamily="2" charset="-122"/>
              </a:rPr>
              <a:t>，</a:t>
            </a:r>
            <a:endParaRPr lang="zh-CN" altLang="en-US" sz="2100" b="1" dirty="0">
              <a:latin typeface="华文楷体" panose="02010600040101010101" pitchFamily="2" charset="-122"/>
              <a:ea typeface="华文楷体" panose="02010600040101010101" pitchFamily="2" charset="-122"/>
            </a:endParaRPr>
          </a:p>
          <a:p>
            <a:pPr eaLnBrk="1" hangingPunct="1">
              <a:spcBef>
                <a:spcPct val="0"/>
              </a:spcBef>
            </a:pPr>
            <a:r>
              <a:rPr lang="zh-CN" altLang="zh-CN" sz="2100" b="1" dirty="0">
                <a:latin typeface="华文楷体" panose="02010600040101010101" pitchFamily="2" charset="-122"/>
                <a:ea typeface="华文楷体" panose="02010600040101010101" pitchFamily="2" charset="-122"/>
              </a:rPr>
              <a:t>         设每个记录的查找概率相等</a:t>
            </a:r>
            <a:endParaRPr lang="zh-CN" altLang="en-US" sz="2100" b="1" dirty="0">
              <a:latin typeface="华文楷体" panose="02010600040101010101" pitchFamily="2" charset="-122"/>
              <a:ea typeface="华文楷体" panose="02010600040101010101" pitchFamily="2" charset="-122"/>
            </a:endParaRPr>
          </a:p>
        </p:txBody>
      </p:sp>
      <p:sp>
        <p:nvSpPr>
          <p:cNvPr id="846978" name="文本框 846977"/>
          <p:cNvSpPr txBox="1"/>
          <p:nvPr/>
        </p:nvSpPr>
        <p:spPr>
          <a:xfrm>
            <a:off x="952580" y="1988344"/>
            <a:ext cx="7050328" cy="415498"/>
          </a:xfrm>
          <a:prstGeom prst="rect">
            <a:avLst/>
          </a:prstGeom>
          <a:noFill/>
          <a:ln w="9525">
            <a:noFill/>
          </a:ln>
        </p:spPr>
        <p:txBody>
          <a:bodyPr wrap="none" anchor="t">
            <a:spAutoFit/>
          </a:bodyPr>
          <a:lstStyle/>
          <a:p>
            <a:pPr eaLnBrk="1" hangingPunct="1">
              <a:spcBef>
                <a:spcPct val="0"/>
              </a:spcBef>
            </a:pPr>
            <a:r>
              <a:rPr lang="en-US" altLang="zh-CN" sz="2100" b="1" dirty="0">
                <a:latin typeface="华文楷体" panose="02010600040101010101" pitchFamily="2" charset="-122"/>
                <a:ea typeface="华文楷体" panose="02010600040101010101" pitchFamily="2" charset="-122"/>
              </a:rPr>
              <a:t>(1)  </a:t>
            </a:r>
            <a:r>
              <a:rPr lang="zh-CN" altLang="en-US" sz="2100" b="1" dirty="0">
                <a:latin typeface="华文楷体" panose="02010600040101010101" pitchFamily="2" charset="-122"/>
                <a:ea typeface="华文楷体" panose="02010600040101010101" pitchFamily="2" charset="-122"/>
              </a:rPr>
              <a:t>用线性探测再散列处理冲突，即</a:t>
            </a:r>
            <a:r>
              <a:rPr lang="en-US" altLang="zh-CN" sz="2100" b="1" dirty="0">
                <a:latin typeface="华文楷体" panose="02010600040101010101" pitchFamily="2" charset="-122"/>
                <a:ea typeface="华文楷体" panose="02010600040101010101" pitchFamily="2" charset="-122"/>
              </a:rPr>
              <a:t>Hi=(H(key)+</a:t>
            </a:r>
            <a:r>
              <a:rPr lang="en-US" altLang="zh-CN" sz="2100" b="1" dirty="0" err="1">
                <a:latin typeface="华文楷体" panose="02010600040101010101" pitchFamily="2" charset="-122"/>
                <a:ea typeface="华文楷体" panose="02010600040101010101" pitchFamily="2" charset="-122"/>
              </a:rPr>
              <a:t>di</a:t>
            </a:r>
            <a:r>
              <a:rPr lang="en-US" altLang="zh-CN" sz="2100" b="1" dirty="0">
                <a:latin typeface="华文楷体" panose="02010600040101010101" pitchFamily="2" charset="-122"/>
                <a:ea typeface="华文楷体" panose="02010600040101010101" pitchFamily="2" charset="-122"/>
              </a:rPr>
              <a:t>) MOD m</a:t>
            </a:r>
            <a:endParaRPr lang="en-US" altLang="zh-CN" sz="2100" b="1" dirty="0">
              <a:latin typeface="华文楷体" panose="02010600040101010101" pitchFamily="2" charset="-122"/>
              <a:ea typeface="华文楷体" panose="02010600040101010101" pitchFamily="2" charset="-122"/>
            </a:endParaRPr>
          </a:p>
        </p:txBody>
      </p:sp>
      <p:grpSp>
        <p:nvGrpSpPr>
          <p:cNvPr id="846979" name="组合 846978"/>
          <p:cNvGrpSpPr/>
          <p:nvPr/>
        </p:nvGrpSpPr>
        <p:grpSpPr>
          <a:xfrm>
            <a:off x="1502410" y="2356485"/>
            <a:ext cx="4723130" cy="513080"/>
            <a:chOff x="1261" y="1173"/>
            <a:chExt cx="3901" cy="431"/>
          </a:xfrm>
        </p:grpSpPr>
        <p:sp>
          <p:nvSpPr>
            <p:cNvPr id="846980" name="文本框 846979"/>
            <p:cNvSpPr txBox="1"/>
            <p:nvPr/>
          </p:nvSpPr>
          <p:spPr>
            <a:xfrm>
              <a:off x="1295" y="1173"/>
              <a:ext cx="3867" cy="270"/>
            </a:xfrm>
            <a:prstGeom prst="rect">
              <a:avLst/>
            </a:prstGeom>
            <a:noFill/>
            <a:ln w="9525">
              <a:noFill/>
            </a:ln>
          </p:spPr>
          <p:txBody>
            <a:bodyPr wrap="square" anchor="t">
              <a:spAutoFit/>
            </a:bodyPr>
            <a:lstStyle/>
            <a:p>
              <a:pPr eaLnBrk="1" hangingPunct="1">
                <a:spcBef>
                  <a:spcPct val="0"/>
                </a:spcBef>
              </a:pPr>
              <a:r>
                <a:rPr lang="en-US" altLang="zh-CN" sz="1500" dirty="0">
                  <a:latin typeface="Times New Roman" panose="02020603050405020304" pitchFamily="18" charset="0"/>
                  <a:ea typeface="宋体" panose="02010600030101010101" pitchFamily="2" charset="-122"/>
                </a:rPr>
                <a:t>0    1    2    3    4    5    6    7    8    9   10   11 12  13  </a:t>
              </a:r>
              <a:r>
                <a:rPr lang="en-US" altLang="zh-CN" sz="1500" dirty="0" smtClean="0">
                  <a:latin typeface="Times New Roman" panose="02020603050405020304" pitchFamily="18" charset="0"/>
                  <a:ea typeface="宋体" panose="02010600030101010101" pitchFamily="2" charset="-122"/>
                </a:rPr>
                <a:t>14</a:t>
              </a:r>
              <a:endParaRPr lang="en-US" altLang="zh-CN" sz="1500" dirty="0">
                <a:latin typeface="Times New Roman" panose="02020603050405020304" pitchFamily="18" charset="0"/>
                <a:ea typeface="宋体" panose="02010600030101010101" pitchFamily="2" charset="-122"/>
              </a:endParaRPr>
            </a:p>
          </p:txBody>
        </p:sp>
        <p:grpSp>
          <p:nvGrpSpPr>
            <p:cNvPr id="846981" name="组合 846980"/>
            <p:cNvGrpSpPr/>
            <p:nvPr/>
          </p:nvGrpSpPr>
          <p:grpSpPr>
            <a:xfrm>
              <a:off x="1261" y="1365"/>
              <a:ext cx="3601" cy="239"/>
              <a:chOff x="1261" y="1365"/>
              <a:chExt cx="3601" cy="239"/>
            </a:xfrm>
          </p:grpSpPr>
          <p:sp>
            <p:nvSpPr>
              <p:cNvPr id="846982" name="矩形 846981"/>
              <p:cNvSpPr/>
              <p:nvPr/>
            </p:nvSpPr>
            <p:spPr>
              <a:xfrm>
                <a:off x="1261" y="1366"/>
                <a:ext cx="3601" cy="238"/>
              </a:xfrm>
              <a:prstGeom prst="rect">
                <a:avLst/>
              </a:prstGeom>
              <a:noFill/>
              <a:ln w="9525" cap="flat" cmpd="sng">
                <a:solidFill>
                  <a:schemeClr val="tx1"/>
                </a:solidFill>
                <a:prstDash val="solid"/>
                <a:miter/>
                <a:headEnd type="none" w="med" len="med"/>
                <a:tailEnd type="none" w="med" len="med"/>
              </a:ln>
            </p:spPr>
            <p:txBody>
              <a:bodyPr/>
              <a:lstStyle/>
              <a:p>
                <a:endParaRPr lang="zh-CN" altLang="en-US" sz="1015"/>
              </a:p>
            </p:txBody>
          </p:sp>
          <p:sp>
            <p:nvSpPr>
              <p:cNvPr id="846983" name="直接连接符 846982"/>
              <p:cNvSpPr/>
              <p:nvPr/>
            </p:nvSpPr>
            <p:spPr>
              <a:xfrm>
                <a:off x="1498" y="1366"/>
                <a:ext cx="0" cy="238"/>
              </a:xfrm>
              <a:prstGeom prst="line">
                <a:avLst/>
              </a:prstGeom>
              <a:ln w="9525" cap="flat" cmpd="sng">
                <a:solidFill>
                  <a:schemeClr val="tx1"/>
                </a:solidFill>
                <a:prstDash val="solid"/>
                <a:headEnd type="none" w="med" len="med"/>
                <a:tailEnd type="none" w="med" len="med"/>
              </a:ln>
            </p:spPr>
          </p:sp>
          <p:sp>
            <p:nvSpPr>
              <p:cNvPr id="846984" name="直接连接符 846983"/>
              <p:cNvSpPr/>
              <p:nvPr/>
            </p:nvSpPr>
            <p:spPr>
              <a:xfrm>
                <a:off x="1738" y="1366"/>
                <a:ext cx="0" cy="238"/>
              </a:xfrm>
              <a:prstGeom prst="line">
                <a:avLst/>
              </a:prstGeom>
              <a:ln w="9525" cap="flat" cmpd="sng">
                <a:solidFill>
                  <a:schemeClr val="tx1"/>
                </a:solidFill>
                <a:prstDash val="solid"/>
                <a:headEnd type="none" w="med" len="med"/>
                <a:tailEnd type="none" w="med" len="med"/>
              </a:ln>
            </p:spPr>
          </p:sp>
          <p:sp>
            <p:nvSpPr>
              <p:cNvPr id="846985" name="直接连接符 846984"/>
              <p:cNvSpPr/>
              <p:nvPr/>
            </p:nvSpPr>
            <p:spPr>
              <a:xfrm>
                <a:off x="1978" y="1366"/>
                <a:ext cx="0" cy="238"/>
              </a:xfrm>
              <a:prstGeom prst="line">
                <a:avLst/>
              </a:prstGeom>
              <a:ln w="9525" cap="flat" cmpd="sng">
                <a:solidFill>
                  <a:schemeClr val="tx1"/>
                </a:solidFill>
                <a:prstDash val="solid"/>
                <a:headEnd type="none" w="med" len="med"/>
                <a:tailEnd type="none" w="med" len="med"/>
              </a:ln>
            </p:spPr>
          </p:sp>
          <p:sp>
            <p:nvSpPr>
              <p:cNvPr id="846986" name="直接连接符 846985"/>
              <p:cNvSpPr/>
              <p:nvPr/>
            </p:nvSpPr>
            <p:spPr>
              <a:xfrm>
                <a:off x="2218" y="1366"/>
                <a:ext cx="0" cy="238"/>
              </a:xfrm>
              <a:prstGeom prst="line">
                <a:avLst/>
              </a:prstGeom>
              <a:ln w="9525" cap="flat" cmpd="sng">
                <a:solidFill>
                  <a:schemeClr val="tx1"/>
                </a:solidFill>
                <a:prstDash val="solid"/>
                <a:headEnd type="none" w="med" len="med"/>
                <a:tailEnd type="none" w="med" len="med"/>
              </a:ln>
            </p:spPr>
          </p:sp>
          <p:sp>
            <p:nvSpPr>
              <p:cNvPr id="846987" name="直接连接符 846986"/>
              <p:cNvSpPr/>
              <p:nvPr/>
            </p:nvSpPr>
            <p:spPr>
              <a:xfrm>
                <a:off x="2459" y="1366"/>
                <a:ext cx="0" cy="238"/>
              </a:xfrm>
              <a:prstGeom prst="line">
                <a:avLst/>
              </a:prstGeom>
              <a:ln w="9525" cap="flat" cmpd="sng">
                <a:solidFill>
                  <a:schemeClr val="tx1"/>
                </a:solidFill>
                <a:prstDash val="solid"/>
                <a:headEnd type="none" w="med" len="med"/>
                <a:tailEnd type="none" w="med" len="med"/>
              </a:ln>
            </p:spPr>
          </p:sp>
          <p:sp>
            <p:nvSpPr>
              <p:cNvPr id="846988" name="直接连接符 846987"/>
              <p:cNvSpPr/>
              <p:nvPr/>
            </p:nvSpPr>
            <p:spPr>
              <a:xfrm>
                <a:off x="2699" y="1366"/>
                <a:ext cx="0" cy="238"/>
              </a:xfrm>
              <a:prstGeom prst="line">
                <a:avLst/>
              </a:prstGeom>
              <a:ln w="9525" cap="flat" cmpd="sng">
                <a:solidFill>
                  <a:schemeClr val="tx1"/>
                </a:solidFill>
                <a:prstDash val="solid"/>
                <a:headEnd type="none" w="med" len="med"/>
                <a:tailEnd type="none" w="med" len="med"/>
              </a:ln>
            </p:spPr>
          </p:sp>
          <p:sp>
            <p:nvSpPr>
              <p:cNvPr id="846989" name="直接连接符 846988"/>
              <p:cNvSpPr/>
              <p:nvPr/>
            </p:nvSpPr>
            <p:spPr>
              <a:xfrm>
                <a:off x="2939" y="1366"/>
                <a:ext cx="0" cy="238"/>
              </a:xfrm>
              <a:prstGeom prst="line">
                <a:avLst/>
              </a:prstGeom>
              <a:ln w="9525" cap="flat" cmpd="sng">
                <a:solidFill>
                  <a:schemeClr val="tx1"/>
                </a:solidFill>
                <a:prstDash val="solid"/>
                <a:headEnd type="none" w="med" len="med"/>
                <a:tailEnd type="none" w="med" len="med"/>
              </a:ln>
            </p:spPr>
          </p:sp>
          <p:sp>
            <p:nvSpPr>
              <p:cNvPr id="846990" name="直接连接符 846989"/>
              <p:cNvSpPr/>
              <p:nvPr/>
            </p:nvSpPr>
            <p:spPr>
              <a:xfrm>
                <a:off x="3180" y="1366"/>
                <a:ext cx="0" cy="238"/>
              </a:xfrm>
              <a:prstGeom prst="line">
                <a:avLst/>
              </a:prstGeom>
              <a:ln w="9525" cap="flat" cmpd="sng">
                <a:solidFill>
                  <a:schemeClr val="tx1"/>
                </a:solidFill>
                <a:prstDash val="solid"/>
                <a:headEnd type="none" w="med" len="med"/>
                <a:tailEnd type="none" w="med" len="med"/>
              </a:ln>
            </p:spPr>
          </p:sp>
          <p:sp>
            <p:nvSpPr>
              <p:cNvPr id="846991" name="直接连接符 846990"/>
              <p:cNvSpPr/>
              <p:nvPr/>
            </p:nvSpPr>
            <p:spPr>
              <a:xfrm>
                <a:off x="3420" y="1366"/>
                <a:ext cx="0" cy="238"/>
              </a:xfrm>
              <a:prstGeom prst="line">
                <a:avLst/>
              </a:prstGeom>
              <a:ln w="9525" cap="flat" cmpd="sng">
                <a:solidFill>
                  <a:schemeClr val="tx1"/>
                </a:solidFill>
                <a:prstDash val="solid"/>
                <a:headEnd type="none" w="med" len="med"/>
                <a:tailEnd type="none" w="med" len="med"/>
              </a:ln>
            </p:spPr>
          </p:sp>
          <p:sp>
            <p:nvSpPr>
              <p:cNvPr id="846992" name="直接连接符 846991"/>
              <p:cNvSpPr/>
              <p:nvPr/>
            </p:nvSpPr>
            <p:spPr>
              <a:xfrm>
                <a:off x="3660" y="1366"/>
                <a:ext cx="0" cy="238"/>
              </a:xfrm>
              <a:prstGeom prst="line">
                <a:avLst/>
              </a:prstGeom>
              <a:ln w="9525" cap="flat" cmpd="sng">
                <a:solidFill>
                  <a:schemeClr val="tx1"/>
                </a:solidFill>
                <a:prstDash val="solid"/>
                <a:headEnd type="none" w="med" len="med"/>
                <a:tailEnd type="none" w="med" len="med"/>
              </a:ln>
            </p:spPr>
          </p:sp>
          <p:sp>
            <p:nvSpPr>
              <p:cNvPr id="846993" name="直接连接符 846992"/>
              <p:cNvSpPr/>
              <p:nvPr/>
            </p:nvSpPr>
            <p:spPr>
              <a:xfrm>
                <a:off x="3900" y="1365"/>
                <a:ext cx="0" cy="238"/>
              </a:xfrm>
              <a:prstGeom prst="line">
                <a:avLst/>
              </a:prstGeom>
              <a:ln w="9525" cap="flat" cmpd="sng">
                <a:solidFill>
                  <a:schemeClr val="tx1"/>
                </a:solidFill>
                <a:prstDash val="solid"/>
                <a:headEnd type="none" w="med" len="med"/>
                <a:tailEnd type="none" w="med" len="med"/>
              </a:ln>
            </p:spPr>
          </p:sp>
          <p:sp>
            <p:nvSpPr>
              <p:cNvPr id="846994" name="直接连接符 846993"/>
              <p:cNvSpPr/>
              <p:nvPr/>
            </p:nvSpPr>
            <p:spPr>
              <a:xfrm>
                <a:off x="4141" y="1365"/>
                <a:ext cx="0" cy="238"/>
              </a:xfrm>
              <a:prstGeom prst="line">
                <a:avLst/>
              </a:prstGeom>
              <a:ln w="9525" cap="flat" cmpd="sng">
                <a:solidFill>
                  <a:schemeClr val="tx1"/>
                </a:solidFill>
                <a:prstDash val="solid"/>
                <a:headEnd type="none" w="med" len="med"/>
                <a:tailEnd type="none" w="med" len="med"/>
              </a:ln>
            </p:spPr>
          </p:sp>
          <p:sp>
            <p:nvSpPr>
              <p:cNvPr id="846995" name="直接连接符 846994"/>
              <p:cNvSpPr/>
              <p:nvPr/>
            </p:nvSpPr>
            <p:spPr>
              <a:xfrm>
                <a:off x="4381" y="1365"/>
                <a:ext cx="0" cy="238"/>
              </a:xfrm>
              <a:prstGeom prst="line">
                <a:avLst/>
              </a:prstGeom>
              <a:ln w="9525" cap="flat" cmpd="sng">
                <a:solidFill>
                  <a:schemeClr val="tx1"/>
                </a:solidFill>
                <a:prstDash val="solid"/>
                <a:headEnd type="none" w="med" len="med"/>
                <a:tailEnd type="none" w="med" len="med"/>
              </a:ln>
            </p:spPr>
          </p:sp>
          <p:sp>
            <p:nvSpPr>
              <p:cNvPr id="846996" name="直接连接符 846995"/>
              <p:cNvSpPr/>
              <p:nvPr/>
            </p:nvSpPr>
            <p:spPr>
              <a:xfrm>
                <a:off x="4621" y="1365"/>
                <a:ext cx="0" cy="238"/>
              </a:xfrm>
              <a:prstGeom prst="line">
                <a:avLst/>
              </a:prstGeom>
              <a:ln w="9525" cap="flat" cmpd="sng">
                <a:solidFill>
                  <a:schemeClr val="tx1"/>
                </a:solidFill>
                <a:prstDash val="solid"/>
                <a:headEnd type="none" w="med" len="med"/>
                <a:tailEnd type="none" w="med" len="med"/>
              </a:ln>
            </p:spPr>
          </p:sp>
        </p:grpSp>
      </p:grpSp>
      <p:sp>
        <p:nvSpPr>
          <p:cNvPr id="846998" name="文本框 846997"/>
          <p:cNvSpPr txBox="1"/>
          <p:nvPr/>
        </p:nvSpPr>
        <p:spPr>
          <a:xfrm>
            <a:off x="1746647"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14</a:t>
            </a:r>
            <a:endParaRPr lang="en-US" altLang="zh-CN" sz="1500">
              <a:latin typeface="Times New Roman" panose="02020603050405020304" pitchFamily="18" charset="0"/>
              <a:ea typeface="宋体" panose="02010600030101010101" pitchFamily="2" charset="-122"/>
            </a:endParaRPr>
          </a:p>
        </p:txBody>
      </p:sp>
      <p:sp>
        <p:nvSpPr>
          <p:cNvPr id="846999" name="文本框 846998"/>
          <p:cNvSpPr txBox="1"/>
          <p:nvPr/>
        </p:nvSpPr>
        <p:spPr>
          <a:xfrm>
            <a:off x="2033588" y="2558653"/>
            <a:ext cx="325755"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 1</a:t>
            </a:r>
            <a:endParaRPr lang="en-US" altLang="zh-CN" sz="1500">
              <a:latin typeface="Times New Roman" panose="02020603050405020304" pitchFamily="18" charset="0"/>
              <a:ea typeface="宋体" panose="02010600030101010101" pitchFamily="2" charset="-122"/>
            </a:endParaRPr>
          </a:p>
        </p:txBody>
      </p:sp>
      <p:sp>
        <p:nvSpPr>
          <p:cNvPr id="847000" name="文本框 846999"/>
          <p:cNvSpPr txBox="1"/>
          <p:nvPr/>
        </p:nvSpPr>
        <p:spPr>
          <a:xfrm>
            <a:off x="2319338"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68</a:t>
            </a:r>
            <a:endParaRPr lang="en-US" altLang="zh-CN" sz="1500">
              <a:latin typeface="Times New Roman" panose="02020603050405020304" pitchFamily="18" charset="0"/>
              <a:ea typeface="宋体" panose="02010600030101010101" pitchFamily="2" charset="-122"/>
            </a:endParaRPr>
          </a:p>
        </p:txBody>
      </p:sp>
      <p:sp>
        <p:nvSpPr>
          <p:cNvPr id="847001" name="文本框 847000"/>
          <p:cNvSpPr txBox="1"/>
          <p:nvPr/>
        </p:nvSpPr>
        <p:spPr>
          <a:xfrm>
            <a:off x="2606278"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27</a:t>
            </a:r>
            <a:endParaRPr lang="en-US" altLang="zh-CN" sz="1500">
              <a:latin typeface="Times New Roman" panose="02020603050405020304" pitchFamily="18" charset="0"/>
              <a:ea typeface="宋体" panose="02010600030101010101" pitchFamily="2" charset="-122"/>
            </a:endParaRPr>
          </a:p>
        </p:txBody>
      </p:sp>
      <p:sp>
        <p:nvSpPr>
          <p:cNvPr id="847002" name="文本框 847001"/>
          <p:cNvSpPr txBox="1"/>
          <p:nvPr/>
        </p:nvSpPr>
        <p:spPr>
          <a:xfrm>
            <a:off x="2892028"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55</a:t>
            </a:r>
            <a:endParaRPr lang="en-US" altLang="zh-CN" sz="1500">
              <a:latin typeface="Times New Roman" panose="02020603050405020304" pitchFamily="18" charset="0"/>
              <a:ea typeface="宋体" panose="02010600030101010101" pitchFamily="2" charset="-122"/>
            </a:endParaRPr>
          </a:p>
        </p:txBody>
      </p:sp>
      <p:sp>
        <p:nvSpPr>
          <p:cNvPr id="847003" name="文本框 847002"/>
          <p:cNvSpPr txBox="1"/>
          <p:nvPr/>
        </p:nvSpPr>
        <p:spPr>
          <a:xfrm>
            <a:off x="3178969"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19</a:t>
            </a:r>
            <a:endParaRPr lang="en-US" altLang="zh-CN" sz="1500">
              <a:latin typeface="Times New Roman" panose="02020603050405020304" pitchFamily="18" charset="0"/>
              <a:ea typeface="宋体" panose="02010600030101010101" pitchFamily="2" charset="-122"/>
            </a:endParaRPr>
          </a:p>
        </p:txBody>
      </p:sp>
      <p:sp>
        <p:nvSpPr>
          <p:cNvPr id="847004" name="文本框 847003"/>
          <p:cNvSpPr txBox="1"/>
          <p:nvPr/>
        </p:nvSpPr>
        <p:spPr>
          <a:xfrm>
            <a:off x="3464719"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20</a:t>
            </a:r>
            <a:endParaRPr lang="en-US" altLang="zh-CN" sz="1500">
              <a:latin typeface="Times New Roman" panose="02020603050405020304" pitchFamily="18" charset="0"/>
              <a:ea typeface="宋体" panose="02010600030101010101" pitchFamily="2" charset="-122"/>
            </a:endParaRPr>
          </a:p>
        </p:txBody>
      </p:sp>
      <p:sp>
        <p:nvSpPr>
          <p:cNvPr id="847005" name="文本框 847004"/>
          <p:cNvSpPr txBox="1"/>
          <p:nvPr/>
        </p:nvSpPr>
        <p:spPr>
          <a:xfrm>
            <a:off x="3751660"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84</a:t>
            </a:r>
            <a:endParaRPr lang="en-US" altLang="zh-CN" sz="1500">
              <a:latin typeface="Times New Roman" panose="02020603050405020304" pitchFamily="18" charset="0"/>
              <a:ea typeface="宋体" panose="02010600030101010101" pitchFamily="2" charset="-122"/>
            </a:endParaRPr>
          </a:p>
        </p:txBody>
      </p:sp>
      <p:sp>
        <p:nvSpPr>
          <p:cNvPr id="847006" name="文本框 847005"/>
          <p:cNvSpPr txBox="1"/>
          <p:nvPr/>
        </p:nvSpPr>
        <p:spPr>
          <a:xfrm>
            <a:off x="4037410"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79</a:t>
            </a:r>
            <a:endParaRPr lang="en-US" altLang="zh-CN" sz="1500">
              <a:latin typeface="Times New Roman" panose="02020603050405020304" pitchFamily="18" charset="0"/>
              <a:ea typeface="宋体" panose="02010600030101010101" pitchFamily="2" charset="-122"/>
            </a:endParaRPr>
          </a:p>
        </p:txBody>
      </p:sp>
      <p:sp>
        <p:nvSpPr>
          <p:cNvPr id="847007" name="文本框 847006"/>
          <p:cNvSpPr txBox="1"/>
          <p:nvPr/>
        </p:nvSpPr>
        <p:spPr>
          <a:xfrm>
            <a:off x="4324350"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23</a:t>
            </a:r>
            <a:endParaRPr lang="en-US" altLang="zh-CN" sz="1500">
              <a:latin typeface="Times New Roman" panose="02020603050405020304" pitchFamily="18" charset="0"/>
              <a:ea typeface="宋体" panose="02010600030101010101" pitchFamily="2" charset="-122"/>
            </a:endParaRPr>
          </a:p>
        </p:txBody>
      </p:sp>
      <p:sp>
        <p:nvSpPr>
          <p:cNvPr id="847008" name="文本框 847007"/>
          <p:cNvSpPr txBox="1"/>
          <p:nvPr/>
        </p:nvSpPr>
        <p:spPr>
          <a:xfrm>
            <a:off x="4610100" y="2558653"/>
            <a:ext cx="36576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11</a:t>
            </a:r>
            <a:endParaRPr lang="en-US" altLang="zh-CN" sz="1500">
              <a:latin typeface="Times New Roman" panose="02020603050405020304" pitchFamily="18" charset="0"/>
              <a:ea typeface="宋体" panose="02010600030101010101" pitchFamily="2" charset="-122"/>
            </a:endParaRPr>
          </a:p>
        </p:txBody>
      </p:sp>
      <p:sp>
        <p:nvSpPr>
          <p:cNvPr id="847009" name="文本框 847008"/>
          <p:cNvSpPr txBox="1"/>
          <p:nvPr/>
        </p:nvSpPr>
        <p:spPr>
          <a:xfrm>
            <a:off x="4895850" y="2558653"/>
            <a:ext cx="373380" cy="321945"/>
          </a:xfrm>
          <a:prstGeom prst="rect">
            <a:avLst/>
          </a:prstGeom>
          <a:noFill/>
          <a:ln w="9525">
            <a:noFill/>
          </a:ln>
        </p:spPr>
        <p:txBody>
          <a:bodyPr wrap="none" anchor="t">
            <a:spAutoFit/>
          </a:bodyPr>
          <a:lstStyle/>
          <a:p>
            <a:pPr eaLnBrk="1" hangingPunct="1">
              <a:spcBef>
                <a:spcPct val="0"/>
              </a:spcBef>
            </a:pPr>
            <a:r>
              <a:rPr lang="en-US" altLang="zh-CN" sz="1500">
                <a:latin typeface="Times New Roman" panose="02020603050405020304" pitchFamily="18" charset="0"/>
                <a:ea typeface="宋体" panose="02010600030101010101" pitchFamily="2" charset="-122"/>
              </a:rPr>
              <a:t>10</a:t>
            </a:r>
            <a:endParaRPr lang="en-US" altLang="zh-CN" sz="1500">
              <a:latin typeface="Times New Roman" panose="02020603050405020304" pitchFamily="18" charset="0"/>
              <a:ea typeface="宋体" panose="02010600030101010101" pitchFamily="2" charset="-122"/>
            </a:endParaRPr>
          </a:p>
        </p:txBody>
      </p:sp>
      <p:sp>
        <p:nvSpPr>
          <p:cNvPr id="847020" name="文本框 847019"/>
          <p:cNvSpPr txBox="1"/>
          <p:nvPr/>
        </p:nvSpPr>
        <p:spPr>
          <a:xfrm>
            <a:off x="1127601" y="3400266"/>
            <a:ext cx="4392216" cy="398780"/>
          </a:xfrm>
          <a:prstGeom prst="rect">
            <a:avLst/>
          </a:prstGeom>
          <a:noFill/>
          <a:ln w="9525">
            <a:noFill/>
          </a:ln>
        </p:spPr>
        <p:txBody>
          <a:bodyPr>
            <a:spAutoFit/>
          </a:bodyPr>
          <a:lstStyle/>
          <a:p>
            <a:pPr marL="342900" indent="-342900">
              <a:spcBef>
                <a:spcPct val="50000"/>
              </a:spcBef>
            </a:pPr>
            <a:endParaRPr sz="2000" dirty="0">
              <a:latin typeface="Times New Roman" panose="02020603050405020304" pitchFamily="18" charset="0"/>
              <a:ea typeface="楷体_GB2312" pitchFamily="49" charset="-122"/>
            </a:endParaRPr>
          </a:p>
        </p:txBody>
      </p:sp>
      <p:sp>
        <p:nvSpPr>
          <p:cNvPr id="847021" name="文本框 847020"/>
          <p:cNvSpPr txBox="1"/>
          <p:nvPr/>
        </p:nvSpPr>
        <p:spPr>
          <a:xfrm>
            <a:off x="1707356" y="2869406"/>
            <a:ext cx="3784997" cy="398780"/>
          </a:xfrm>
          <a:prstGeom prst="rect">
            <a:avLst/>
          </a:prstGeom>
          <a:noFill/>
          <a:ln w="9525">
            <a:noFill/>
          </a:ln>
        </p:spPr>
        <p:txBody>
          <a:bodyPr>
            <a:spAutoFit/>
          </a:bodyPr>
          <a:lstStyle/>
          <a:p>
            <a:pPr marL="342900" indent="-342900">
              <a:spcBef>
                <a:spcPct val="50000"/>
              </a:spcBef>
            </a:pPr>
            <a:r>
              <a:rPr lang="en-US" altLang="zh-CN" sz="2000">
                <a:solidFill>
                  <a:srgbClr val="FF3300"/>
                </a:solidFill>
                <a:latin typeface="Times New Roman" panose="02020603050405020304" pitchFamily="18" charset="0"/>
                <a:ea typeface="楷体_GB2312" pitchFamily="49" charset="-122"/>
              </a:rPr>
              <a:t> 1   2  1  4   3   1  1  3   9   1   1  3   </a:t>
            </a:r>
            <a:endParaRPr lang="en-US" altLang="zh-CN" sz="2000">
              <a:solidFill>
                <a:srgbClr val="FF3300"/>
              </a:solidFill>
              <a:latin typeface="Times New Roman" panose="02020603050405020304" pitchFamily="18" charset="0"/>
              <a:ea typeface="楷体_GB2312" pitchFamily="49" charset="-122"/>
            </a:endParaRPr>
          </a:p>
        </p:txBody>
      </p:sp>
      <p:sp>
        <p:nvSpPr>
          <p:cNvPr id="847022" name="文本框 847021"/>
          <p:cNvSpPr txBox="1"/>
          <p:nvPr/>
        </p:nvSpPr>
        <p:spPr>
          <a:xfrm>
            <a:off x="952580" y="3268107"/>
            <a:ext cx="1059815" cy="398780"/>
          </a:xfrm>
          <a:prstGeom prst="rect">
            <a:avLst/>
          </a:prstGeom>
          <a:noFill/>
          <a:ln w="9525">
            <a:noFill/>
          </a:ln>
        </p:spPr>
        <p:txBody>
          <a:bodyPr wrap="none" anchor="t">
            <a:spAutoFit/>
          </a:bodyPr>
          <a:lstStyle/>
          <a:p>
            <a:pPr eaLnBrk="1" hangingPunct="1">
              <a:spcBef>
                <a:spcPct val="0"/>
              </a:spcBef>
            </a:pPr>
            <a:r>
              <a:rPr lang="en-US" altLang="zh-CN" sz="2000" dirty="0">
                <a:latin typeface="Times New Roman" panose="02020603050405020304" pitchFamily="18" charset="0"/>
                <a:ea typeface="宋体" panose="02010600030101010101" pitchFamily="2" charset="-122"/>
              </a:rPr>
              <a:t>H(19)=6</a:t>
            </a:r>
            <a:endParaRPr lang="en-US" altLang="zh-CN" sz="2000" dirty="0">
              <a:latin typeface="Times New Roman" panose="02020603050405020304" pitchFamily="18" charset="0"/>
              <a:ea typeface="宋体" panose="02010600030101010101" pitchFamily="2" charset="-122"/>
            </a:endParaRPr>
          </a:p>
        </p:txBody>
      </p:sp>
      <p:sp>
        <p:nvSpPr>
          <p:cNvPr id="847023" name="文本框 847022"/>
          <p:cNvSpPr txBox="1"/>
          <p:nvPr/>
        </p:nvSpPr>
        <p:spPr>
          <a:xfrm>
            <a:off x="952580" y="3501470"/>
            <a:ext cx="1059815" cy="398780"/>
          </a:xfrm>
          <a:prstGeom prst="rect">
            <a:avLst/>
          </a:prstGeom>
          <a:noFill/>
          <a:ln w="9525">
            <a:noFill/>
          </a:ln>
        </p:spPr>
        <p:txBody>
          <a:bodyPr wrap="none" anchor="t">
            <a:spAutoFit/>
          </a:bodyPr>
          <a:lstStyle/>
          <a:p>
            <a:pPr eaLnBrk="1" hangingPunct="1">
              <a:spcBef>
                <a:spcPct val="0"/>
              </a:spcBef>
            </a:pPr>
            <a:r>
              <a:rPr lang="en-US" altLang="zh-CN" sz="2000">
                <a:latin typeface="Times New Roman" panose="02020603050405020304" pitchFamily="18" charset="0"/>
                <a:ea typeface="宋体" panose="02010600030101010101" pitchFamily="2" charset="-122"/>
              </a:rPr>
              <a:t>H(14)=1</a:t>
            </a:r>
            <a:endParaRPr lang="en-US" altLang="zh-CN" sz="2000">
              <a:latin typeface="Times New Roman" panose="02020603050405020304" pitchFamily="18" charset="0"/>
              <a:ea typeface="宋体" panose="02010600030101010101" pitchFamily="2" charset="-122"/>
            </a:endParaRPr>
          </a:p>
        </p:txBody>
      </p:sp>
      <p:sp>
        <p:nvSpPr>
          <p:cNvPr id="847024" name="文本框 847023"/>
          <p:cNvSpPr txBox="1"/>
          <p:nvPr/>
        </p:nvSpPr>
        <p:spPr>
          <a:xfrm>
            <a:off x="952580" y="3733641"/>
            <a:ext cx="1186815" cy="398780"/>
          </a:xfrm>
          <a:prstGeom prst="rect">
            <a:avLst/>
          </a:prstGeom>
          <a:noFill/>
          <a:ln w="9525">
            <a:noFill/>
          </a:ln>
        </p:spPr>
        <p:txBody>
          <a:bodyPr wrap="none" anchor="t">
            <a:spAutoFit/>
          </a:bodyPr>
          <a:lstStyle/>
          <a:p>
            <a:pPr eaLnBrk="1" hangingPunct="1">
              <a:spcBef>
                <a:spcPct val="0"/>
              </a:spcBef>
            </a:pPr>
            <a:r>
              <a:rPr lang="en-US" altLang="zh-CN" sz="2000">
                <a:latin typeface="Times New Roman" panose="02020603050405020304" pitchFamily="18" charset="0"/>
                <a:ea typeface="宋体" panose="02010600030101010101" pitchFamily="2" charset="-122"/>
              </a:rPr>
              <a:t>H(23)=10</a:t>
            </a:r>
            <a:endParaRPr lang="en-US" altLang="zh-CN" sz="2000">
              <a:latin typeface="Times New Roman" panose="02020603050405020304" pitchFamily="18" charset="0"/>
              <a:ea typeface="宋体" panose="02010600030101010101" pitchFamily="2" charset="-122"/>
            </a:endParaRPr>
          </a:p>
        </p:txBody>
      </p:sp>
      <p:sp>
        <p:nvSpPr>
          <p:cNvPr id="847025" name="文本框 847024"/>
          <p:cNvSpPr txBox="1"/>
          <p:nvPr/>
        </p:nvSpPr>
        <p:spPr>
          <a:xfrm>
            <a:off x="952580" y="3967004"/>
            <a:ext cx="3973830" cy="398780"/>
          </a:xfrm>
          <a:prstGeom prst="rect">
            <a:avLst/>
          </a:prstGeom>
          <a:noFill/>
          <a:ln w="9525">
            <a:noFill/>
          </a:ln>
        </p:spPr>
        <p:txBody>
          <a:bodyPr wrap="none" anchor="t">
            <a:spAutoFit/>
          </a:bodyPr>
          <a:lstStyle/>
          <a:p>
            <a:pPr eaLnBrk="1" hangingPunct="1">
              <a:spcBef>
                <a:spcPct val="0"/>
              </a:spcBef>
            </a:pPr>
            <a:r>
              <a:rPr lang="zh-CN" altLang="zh-CN" sz="2000" dirty="0">
                <a:latin typeface="Times New Roman" panose="02020603050405020304" pitchFamily="18" charset="0"/>
                <a:ea typeface="宋体" panose="02010600030101010101" pitchFamily="2" charset="-122"/>
              </a:rPr>
              <a:t>H(1)=1     </a:t>
            </a:r>
            <a:r>
              <a:rPr lang="zh-CN" altLang="zh-CN" sz="1800" dirty="0">
                <a:latin typeface="Times New Roman" panose="02020603050405020304" pitchFamily="18" charset="0"/>
                <a:ea typeface="宋体" panose="02010600030101010101" pitchFamily="2" charset="-122"/>
              </a:rPr>
              <a:t>冲突，</a:t>
            </a:r>
            <a:r>
              <a:rPr lang="en-US" altLang="zh-CN" sz="1800" dirty="0">
                <a:latin typeface="Times New Roman" panose="02020603050405020304" pitchFamily="18" charset="0"/>
                <a:ea typeface="宋体" panose="02010600030101010101" pitchFamily="2" charset="-122"/>
              </a:rPr>
              <a:t>H1=(1+1) MOD 15=2</a:t>
            </a:r>
            <a:endParaRPr lang="en-US" altLang="zh-CN" sz="2000" dirty="0">
              <a:latin typeface="Times New Roman" panose="02020603050405020304" pitchFamily="18" charset="0"/>
              <a:ea typeface="宋体" panose="02010600030101010101" pitchFamily="2" charset="-122"/>
            </a:endParaRPr>
          </a:p>
        </p:txBody>
      </p:sp>
      <p:sp>
        <p:nvSpPr>
          <p:cNvPr id="847026" name="文本框 847025"/>
          <p:cNvSpPr txBox="1"/>
          <p:nvPr/>
        </p:nvSpPr>
        <p:spPr>
          <a:xfrm>
            <a:off x="952580" y="4199176"/>
            <a:ext cx="1059815" cy="398780"/>
          </a:xfrm>
          <a:prstGeom prst="rect">
            <a:avLst/>
          </a:prstGeom>
          <a:noFill/>
          <a:ln w="9525">
            <a:noFill/>
          </a:ln>
        </p:spPr>
        <p:txBody>
          <a:bodyPr wrap="none" anchor="t">
            <a:spAutoFit/>
          </a:bodyPr>
          <a:lstStyle/>
          <a:p>
            <a:pPr eaLnBrk="1" hangingPunct="1">
              <a:spcBef>
                <a:spcPct val="0"/>
              </a:spcBef>
            </a:pPr>
            <a:r>
              <a:rPr lang="en-US" altLang="zh-CN" sz="2000">
                <a:latin typeface="Times New Roman" panose="02020603050405020304" pitchFamily="18" charset="0"/>
                <a:ea typeface="宋体" panose="02010600030101010101" pitchFamily="2" charset="-122"/>
              </a:rPr>
              <a:t>H(68)=3</a:t>
            </a:r>
            <a:endParaRPr lang="en-US" altLang="zh-CN" sz="2000">
              <a:latin typeface="Times New Roman" panose="02020603050405020304" pitchFamily="18" charset="0"/>
              <a:ea typeface="宋体" panose="02010600030101010101" pitchFamily="2" charset="-122"/>
            </a:endParaRPr>
          </a:p>
        </p:txBody>
      </p:sp>
      <p:sp>
        <p:nvSpPr>
          <p:cNvPr id="847027" name="文本框 847026"/>
          <p:cNvSpPr txBox="1"/>
          <p:nvPr/>
        </p:nvSpPr>
        <p:spPr>
          <a:xfrm>
            <a:off x="952580" y="4519613"/>
            <a:ext cx="1059815" cy="398780"/>
          </a:xfrm>
          <a:prstGeom prst="rect">
            <a:avLst/>
          </a:prstGeom>
          <a:noFill/>
          <a:ln w="9525">
            <a:noFill/>
          </a:ln>
        </p:spPr>
        <p:txBody>
          <a:bodyPr wrap="none" anchor="t">
            <a:spAutoFit/>
          </a:bodyPr>
          <a:lstStyle/>
          <a:p>
            <a:pPr eaLnBrk="1" hangingPunct="1">
              <a:spcBef>
                <a:spcPct val="0"/>
              </a:spcBef>
            </a:pPr>
            <a:r>
              <a:rPr lang="en-US" altLang="zh-CN" sz="2000">
                <a:latin typeface="Times New Roman" panose="02020603050405020304" pitchFamily="18" charset="0"/>
                <a:ea typeface="宋体" panose="02010600030101010101" pitchFamily="2" charset="-122"/>
              </a:rPr>
              <a:t>H(20)=7</a:t>
            </a:r>
            <a:endParaRPr lang="en-US" altLang="zh-CN" sz="2000">
              <a:latin typeface="Times New Roman" panose="02020603050405020304" pitchFamily="18" charset="0"/>
              <a:ea typeface="宋体" panose="02010600030101010101" pitchFamily="2" charset="-122"/>
            </a:endParaRPr>
          </a:p>
        </p:txBody>
      </p:sp>
      <p:sp>
        <p:nvSpPr>
          <p:cNvPr id="847028" name="文本框 847027"/>
          <p:cNvSpPr txBox="1"/>
          <p:nvPr/>
        </p:nvSpPr>
        <p:spPr>
          <a:xfrm>
            <a:off x="4410949" y="3268504"/>
            <a:ext cx="3877945" cy="953135"/>
          </a:xfrm>
          <a:prstGeom prst="rect">
            <a:avLst/>
          </a:prstGeom>
          <a:noFill/>
          <a:ln w="9525">
            <a:noFill/>
          </a:ln>
        </p:spPr>
        <p:txBody>
          <a:bodyPr wrap="none" anchor="t">
            <a:spAutoFit/>
          </a:bodyPr>
          <a:lstStyle/>
          <a:p>
            <a:pPr eaLnBrk="1" hangingPunct="1">
              <a:spcBef>
                <a:spcPct val="0"/>
              </a:spcBef>
            </a:pPr>
            <a:r>
              <a:rPr lang="zh-CN" altLang="zh-CN" sz="2000" dirty="0">
                <a:latin typeface="Times New Roman" panose="02020603050405020304" pitchFamily="18" charset="0"/>
                <a:ea typeface="宋体" panose="02010600030101010101" pitchFamily="2" charset="-122"/>
              </a:rPr>
              <a:t>H(27)=1   </a:t>
            </a:r>
            <a:r>
              <a:rPr lang="zh-CN" altLang="zh-CN" sz="1800" dirty="0">
                <a:latin typeface="Times New Roman" panose="02020603050405020304" pitchFamily="18" charset="0"/>
                <a:ea typeface="宋体" panose="02010600030101010101" pitchFamily="2" charset="-122"/>
              </a:rPr>
              <a:t>冲突，</a:t>
            </a:r>
            <a:r>
              <a:rPr lang="en-US" altLang="zh-CN" sz="1800" dirty="0">
                <a:latin typeface="Times New Roman" panose="02020603050405020304" pitchFamily="18" charset="0"/>
                <a:ea typeface="宋体" panose="02010600030101010101" pitchFamily="2" charset="-122"/>
              </a:rPr>
              <a:t>H1=(1+1)MOD15=2</a:t>
            </a:r>
            <a:endParaRPr lang="en-US" altLang="zh-CN" sz="1800" dirty="0">
              <a:latin typeface="Times New Roman" panose="02020603050405020304" pitchFamily="18" charset="0"/>
              <a:ea typeface="宋体" panose="02010600030101010101" pitchFamily="2" charset="-122"/>
            </a:endParaRPr>
          </a:p>
          <a:p>
            <a:pPr eaLnBrk="1" hangingPunct="1">
              <a:spcBef>
                <a:spcPct val="0"/>
              </a:spcBef>
            </a:pPr>
            <a:r>
              <a:rPr lang="zh-CN" altLang="zh-CN" sz="1800" dirty="0">
                <a:latin typeface="Times New Roman" panose="02020603050405020304" pitchFamily="18" charset="0"/>
                <a:ea typeface="宋体" panose="02010600030101010101" pitchFamily="2" charset="-122"/>
              </a:rPr>
              <a:t>                 </a:t>
            </a:r>
            <a:r>
              <a:rPr lang="en-US" altLang="zh-CN" sz="1800" dirty="0" smtClean="0">
                <a:latin typeface="Times New Roman" panose="02020603050405020304" pitchFamily="18" charset="0"/>
                <a:ea typeface="宋体" panose="02010600030101010101" pitchFamily="2" charset="-122"/>
              </a:rPr>
              <a:t>  </a:t>
            </a:r>
            <a:r>
              <a:rPr lang="zh-CN" altLang="zh-CN" sz="1800" dirty="0" smtClean="0">
                <a:latin typeface="Times New Roman" panose="02020603050405020304" pitchFamily="18" charset="0"/>
                <a:ea typeface="宋体" panose="02010600030101010101" pitchFamily="2" charset="-122"/>
              </a:rPr>
              <a:t>冲突</a:t>
            </a:r>
            <a:r>
              <a:rPr lang="zh-CN" altLang="zh-CN" sz="1800" dirty="0">
                <a:latin typeface="Times New Roman" panose="02020603050405020304" pitchFamily="18" charset="0"/>
                <a:ea typeface="宋体" panose="02010600030101010101" pitchFamily="2" charset="-122"/>
              </a:rPr>
              <a:t>，</a:t>
            </a:r>
            <a:r>
              <a:rPr lang="en-US" altLang="zh-CN" sz="1800" dirty="0">
                <a:latin typeface="Times New Roman" panose="02020603050405020304" pitchFamily="18" charset="0"/>
                <a:ea typeface="宋体" panose="02010600030101010101" pitchFamily="2" charset="-122"/>
              </a:rPr>
              <a:t>H2=(1+2)MOD15=3</a:t>
            </a:r>
            <a:endParaRPr lang="en-US" altLang="zh-CN" sz="1800" dirty="0">
              <a:latin typeface="Times New Roman" panose="02020603050405020304" pitchFamily="18" charset="0"/>
              <a:ea typeface="宋体" panose="02010600030101010101" pitchFamily="2" charset="-122"/>
            </a:endParaRPr>
          </a:p>
          <a:p>
            <a:pPr eaLnBrk="1" hangingPunct="1">
              <a:spcBef>
                <a:spcPct val="0"/>
              </a:spcBef>
            </a:pPr>
            <a:r>
              <a:rPr lang="zh-CN" altLang="zh-CN" sz="1800" dirty="0">
                <a:latin typeface="Times New Roman" panose="02020603050405020304" pitchFamily="18" charset="0"/>
                <a:ea typeface="宋体" panose="02010600030101010101" pitchFamily="2" charset="-122"/>
              </a:rPr>
              <a:t>                 </a:t>
            </a:r>
            <a:r>
              <a:rPr lang="en-US" altLang="zh-CN" sz="1800" dirty="0" smtClean="0">
                <a:latin typeface="Times New Roman" panose="02020603050405020304" pitchFamily="18" charset="0"/>
                <a:ea typeface="宋体" panose="02010600030101010101" pitchFamily="2" charset="-122"/>
              </a:rPr>
              <a:t>  </a:t>
            </a:r>
            <a:r>
              <a:rPr lang="zh-CN" altLang="zh-CN" sz="1800" dirty="0" smtClean="0">
                <a:latin typeface="Times New Roman" panose="02020603050405020304" pitchFamily="18" charset="0"/>
                <a:ea typeface="宋体" panose="02010600030101010101" pitchFamily="2" charset="-122"/>
              </a:rPr>
              <a:t>冲突</a:t>
            </a:r>
            <a:r>
              <a:rPr lang="zh-CN" altLang="zh-CN" sz="1800" dirty="0">
                <a:latin typeface="Times New Roman" panose="02020603050405020304" pitchFamily="18" charset="0"/>
                <a:ea typeface="宋体" panose="02010600030101010101" pitchFamily="2" charset="-122"/>
              </a:rPr>
              <a:t>，</a:t>
            </a:r>
            <a:r>
              <a:rPr lang="en-US" altLang="zh-CN" sz="1800" dirty="0">
                <a:latin typeface="Times New Roman" panose="02020603050405020304" pitchFamily="18" charset="0"/>
                <a:ea typeface="宋体" panose="02010600030101010101" pitchFamily="2" charset="-122"/>
              </a:rPr>
              <a:t>H3=(1+3)MOD15=4</a:t>
            </a:r>
            <a:endParaRPr lang="en-US" altLang="zh-CN" sz="1800" dirty="0">
              <a:latin typeface="Times New Roman" panose="02020603050405020304" pitchFamily="18" charset="0"/>
              <a:ea typeface="宋体" panose="02010600030101010101" pitchFamily="2" charset="-122"/>
            </a:endParaRPr>
          </a:p>
        </p:txBody>
      </p:sp>
      <p:sp>
        <p:nvSpPr>
          <p:cNvPr id="847029" name="文本框 847028"/>
          <p:cNvSpPr txBox="1"/>
          <p:nvPr/>
        </p:nvSpPr>
        <p:spPr>
          <a:xfrm>
            <a:off x="3444002" y="443071"/>
            <a:ext cx="4136390" cy="460375"/>
          </a:xfrm>
          <a:prstGeom prst="rect">
            <a:avLst/>
          </a:prstGeom>
          <a:solidFill>
            <a:srgbClr val="CCFFCC"/>
          </a:solidFill>
          <a:ln w="9525">
            <a:noFill/>
          </a:ln>
        </p:spPr>
        <p:txBody>
          <a:bodyPr wrap="none" anchor="t">
            <a:spAutoFit/>
          </a:bodyPr>
          <a:lstStyle/>
          <a:p>
            <a:pPr eaLnBrk="1" hangingPunct="1">
              <a:spcBef>
                <a:spcPct val="0"/>
              </a:spcBef>
            </a:pPr>
            <a:r>
              <a:rPr lang="en-US" altLang="zh-CN" sz="2400" dirty="0">
                <a:solidFill>
                  <a:srgbClr val="FF3300"/>
                </a:solidFill>
                <a:latin typeface="Times New Roman" panose="02020603050405020304" pitchFamily="18" charset="0"/>
                <a:ea typeface="宋体" panose="02010600030101010101" pitchFamily="2" charset="-122"/>
              </a:rPr>
              <a:t>ASL=(1*6+2+3*3+4+9)/12=2.5</a:t>
            </a:r>
            <a:endParaRPr lang="en-US" altLang="zh-CN" sz="2400" dirty="0">
              <a:solidFill>
                <a:srgbClr val="FF3300"/>
              </a:solidFill>
              <a:latin typeface="Times New Roman" panose="02020603050405020304" pitchFamily="18" charset="0"/>
              <a:ea typeface="宋体" panose="02010600030101010101" pitchFamily="2"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32" fill="hold" grpId="0" nodeType="clickEffect">
                                  <p:stCondLst>
                                    <p:cond delay="0"/>
                                  </p:stCondLst>
                                  <p:childTnLst>
                                    <p:set>
                                      <p:cBhvr>
                                        <p:cTn id="6" dur="1" fill="hold">
                                          <p:stCondLst>
                                            <p:cond delay="0"/>
                                          </p:stCondLst>
                                        </p:cTn>
                                        <p:tgtEl>
                                          <p:spTgt spid="847022">
                                            <p:txEl>
                                              <p:pRg st="0" end="0"/>
                                            </p:txEl>
                                          </p:spTgt>
                                        </p:tgtEl>
                                        <p:attrNameLst>
                                          <p:attrName>style.visibility</p:attrName>
                                        </p:attrNameLst>
                                      </p:cBhvr>
                                      <p:to>
                                        <p:strVal val="visible"/>
                                      </p:to>
                                    </p:set>
                                    <p:animEffect transition="in" filter="box(out)">
                                      <p:cBhvr>
                                        <p:cTn id="7" dur="500"/>
                                        <p:tgtEl>
                                          <p:spTgt spid="84702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32" fill="hold" grpId="0" nodeType="clickEffect">
                                  <p:stCondLst>
                                    <p:cond delay="0"/>
                                  </p:stCondLst>
                                  <p:childTnLst>
                                    <p:set>
                                      <p:cBhvr>
                                        <p:cTn id="11" dur="1" fill="hold">
                                          <p:stCondLst>
                                            <p:cond delay="0"/>
                                          </p:stCondLst>
                                        </p:cTn>
                                        <p:tgtEl>
                                          <p:spTgt spid="847023">
                                            <p:txEl>
                                              <p:pRg st="0" end="0"/>
                                            </p:txEl>
                                          </p:spTgt>
                                        </p:tgtEl>
                                        <p:attrNameLst>
                                          <p:attrName>style.visibility</p:attrName>
                                        </p:attrNameLst>
                                      </p:cBhvr>
                                      <p:to>
                                        <p:strVal val="visible"/>
                                      </p:to>
                                    </p:set>
                                    <p:animEffect transition="in" filter="box(out)">
                                      <p:cBhvr>
                                        <p:cTn id="12" dur="500"/>
                                        <p:tgtEl>
                                          <p:spTgt spid="84702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4" presetClass="entr" presetSubtype="32" fill="hold" grpId="0" nodeType="clickEffect">
                                  <p:stCondLst>
                                    <p:cond delay="0"/>
                                  </p:stCondLst>
                                  <p:childTnLst>
                                    <p:set>
                                      <p:cBhvr>
                                        <p:cTn id="16" dur="1" fill="hold">
                                          <p:stCondLst>
                                            <p:cond delay="0"/>
                                          </p:stCondLst>
                                        </p:cTn>
                                        <p:tgtEl>
                                          <p:spTgt spid="847024">
                                            <p:txEl>
                                              <p:pRg st="0" end="0"/>
                                            </p:txEl>
                                          </p:spTgt>
                                        </p:tgtEl>
                                        <p:attrNameLst>
                                          <p:attrName>style.visibility</p:attrName>
                                        </p:attrNameLst>
                                      </p:cBhvr>
                                      <p:to>
                                        <p:strVal val="visible"/>
                                      </p:to>
                                    </p:set>
                                    <p:animEffect transition="in" filter="box(out)">
                                      <p:cBhvr>
                                        <p:cTn id="17" dur="500"/>
                                        <p:tgtEl>
                                          <p:spTgt spid="84702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4" presetClass="entr" presetSubtype="32" fill="hold" grpId="0" nodeType="clickEffect">
                                  <p:stCondLst>
                                    <p:cond delay="0"/>
                                  </p:stCondLst>
                                  <p:childTnLst>
                                    <p:set>
                                      <p:cBhvr>
                                        <p:cTn id="21" dur="1" fill="hold">
                                          <p:stCondLst>
                                            <p:cond delay="0"/>
                                          </p:stCondLst>
                                        </p:cTn>
                                        <p:tgtEl>
                                          <p:spTgt spid="847025">
                                            <p:txEl>
                                              <p:pRg st="0" end="0"/>
                                            </p:txEl>
                                          </p:spTgt>
                                        </p:tgtEl>
                                        <p:attrNameLst>
                                          <p:attrName>style.visibility</p:attrName>
                                        </p:attrNameLst>
                                      </p:cBhvr>
                                      <p:to>
                                        <p:strVal val="visible"/>
                                      </p:to>
                                    </p:set>
                                    <p:animEffect transition="in" filter="box(out)">
                                      <p:cBhvr>
                                        <p:cTn id="22" dur="500"/>
                                        <p:tgtEl>
                                          <p:spTgt spid="847025">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4" presetClass="entr" presetSubtype="32" fill="hold" grpId="0" nodeType="clickEffect">
                                  <p:stCondLst>
                                    <p:cond delay="0"/>
                                  </p:stCondLst>
                                  <p:childTnLst>
                                    <p:set>
                                      <p:cBhvr>
                                        <p:cTn id="26" dur="1" fill="hold">
                                          <p:stCondLst>
                                            <p:cond delay="0"/>
                                          </p:stCondLst>
                                        </p:cTn>
                                        <p:tgtEl>
                                          <p:spTgt spid="847026">
                                            <p:txEl>
                                              <p:pRg st="0" end="0"/>
                                            </p:txEl>
                                          </p:spTgt>
                                        </p:tgtEl>
                                        <p:attrNameLst>
                                          <p:attrName>style.visibility</p:attrName>
                                        </p:attrNameLst>
                                      </p:cBhvr>
                                      <p:to>
                                        <p:strVal val="visible"/>
                                      </p:to>
                                    </p:set>
                                    <p:animEffect transition="in" filter="box(out)">
                                      <p:cBhvr>
                                        <p:cTn id="27" dur="500"/>
                                        <p:tgtEl>
                                          <p:spTgt spid="84702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4" presetClass="entr" presetSubtype="32" fill="hold" grpId="0" nodeType="clickEffect">
                                  <p:stCondLst>
                                    <p:cond delay="0"/>
                                  </p:stCondLst>
                                  <p:childTnLst>
                                    <p:set>
                                      <p:cBhvr>
                                        <p:cTn id="31" dur="1" fill="hold">
                                          <p:stCondLst>
                                            <p:cond delay="0"/>
                                          </p:stCondLst>
                                        </p:cTn>
                                        <p:tgtEl>
                                          <p:spTgt spid="847027">
                                            <p:txEl>
                                              <p:pRg st="0" end="0"/>
                                            </p:txEl>
                                          </p:spTgt>
                                        </p:tgtEl>
                                        <p:attrNameLst>
                                          <p:attrName>style.visibility</p:attrName>
                                        </p:attrNameLst>
                                      </p:cBhvr>
                                      <p:to>
                                        <p:strVal val="visible"/>
                                      </p:to>
                                    </p:set>
                                    <p:animEffect transition="in" filter="box(out)">
                                      <p:cBhvr>
                                        <p:cTn id="32" dur="500"/>
                                        <p:tgtEl>
                                          <p:spTgt spid="84702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4" presetClass="entr" presetSubtype="32" fill="hold" grpId="0" nodeType="clickEffect">
                                  <p:stCondLst>
                                    <p:cond delay="0"/>
                                  </p:stCondLst>
                                  <p:childTnLst>
                                    <p:set>
                                      <p:cBhvr>
                                        <p:cTn id="36" dur="1" fill="hold">
                                          <p:stCondLst>
                                            <p:cond delay="0"/>
                                          </p:stCondLst>
                                        </p:cTn>
                                        <p:tgtEl>
                                          <p:spTgt spid="847028">
                                            <p:txEl>
                                              <p:pRg st="0" end="0"/>
                                            </p:txEl>
                                          </p:spTgt>
                                        </p:tgtEl>
                                        <p:attrNameLst>
                                          <p:attrName>style.visibility</p:attrName>
                                        </p:attrNameLst>
                                      </p:cBhvr>
                                      <p:to>
                                        <p:strVal val="visible"/>
                                      </p:to>
                                    </p:set>
                                    <p:animEffect transition="in" filter="box(out)">
                                      <p:cBhvr>
                                        <p:cTn id="37" dur="500"/>
                                        <p:tgtEl>
                                          <p:spTgt spid="847028">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4" presetClass="entr" presetSubtype="32" fill="hold" grpId="0" nodeType="clickEffect">
                                  <p:stCondLst>
                                    <p:cond delay="0"/>
                                  </p:stCondLst>
                                  <p:childTnLst>
                                    <p:set>
                                      <p:cBhvr>
                                        <p:cTn id="41" dur="1" fill="hold">
                                          <p:stCondLst>
                                            <p:cond delay="0"/>
                                          </p:stCondLst>
                                        </p:cTn>
                                        <p:tgtEl>
                                          <p:spTgt spid="847028">
                                            <p:txEl>
                                              <p:pRg st="1" end="1"/>
                                            </p:txEl>
                                          </p:spTgt>
                                        </p:tgtEl>
                                        <p:attrNameLst>
                                          <p:attrName>style.visibility</p:attrName>
                                        </p:attrNameLst>
                                      </p:cBhvr>
                                      <p:to>
                                        <p:strVal val="visible"/>
                                      </p:to>
                                    </p:set>
                                    <p:animEffect transition="in" filter="box(out)">
                                      <p:cBhvr>
                                        <p:cTn id="42" dur="500"/>
                                        <p:tgtEl>
                                          <p:spTgt spid="847028">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4" presetClass="entr" presetSubtype="32" fill="hold" grpId="0" nodeType="clickEffect">
                                  <p:stCondLst>
                                    <p:cond delay="0"/>
                                  </p:stCondLst>
                                  <p:childTnLst>
                                    <p:set>
                                      <p:cBhvr>
                                        <p:cTn id="46" dur="1" fill="hold">
                                          <p:stCondLst>
                                            <p:cond delay="0"/>
                                          </p:stCondLst>
                                        </p:cTn>
                                        <p:tgtEl>
                                          <p:spTgt spid="847028">
                                            <p:txEl>
                                              <p:pRg st="2" end="2"/>
                                            </p:txEl>
                                          </p:spTgt>
                                        </p:tgtEl>
                                        <p:attrNameLst>
                                          <p:attrName>style.visibility</p:attrName>
                                        </p:attrNameLst>
                                      </p:cBhvr>
                                      <p:to>
                                        <p:strVal val="visible"/>
                                      </p:to>
                                    </p:set>
                                    <p:animEffect transition="in" filter="box(out)">
                                      <p:cBhvr>
                                        <p:cTn id="47" dur="500"/>
                                        <p:tgtEl>
                                          <p:spTgt spid="847028">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8" presetClass="entr" presetSubtype="16" fill="hold" grpId="0" nodeType="clickEffect">
                                  <p:stCondLst>
                                    <p:cond delay="0"/>
                                  </p:stCondLst>
                                  <p:childTnLst>
                                    <p:set>
                                      <p:cBhvr>
                                        <p:cTn id="51" dur="1" fill="hold">
                                          <p:stCondLst>
                                            <p:cond delay="0"/>
                                          </p:stCondLst>
                                        </p:cTn>
                                        <p:tgtEl>
                                          <p:spTgt spid="847021"/>
                                        </p:tgtEl>
                                        <p:attrNameLst>
                                          <p:attrName>style.visibility</p:attrName>
                                        </p:attrNameLst>
                                      </p:cBhvr>
                                      <p:to>
                                        <p:strVal val="visible"/>
                                      </p:to>
                                    </p:set>
                                    <p:animEffect transition="in" filter="diamond(in)">
                                      <p:cBhvr>
                                        <p:cTn id="52" dur="2000"/>
                                        <p:tgtEl>
                                          <p:spTgt spid="847021"/>
                                        </p:tgtEl>
                                      </p:cBhvr>
                                    </p:animEffec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847029"/>
                                        </p:tgtEl>
                                        <p:attrNameLst>
                                          <p:attrName>style.visibility</p:attrName>
                                        </p:attrNameLst>
                                      </p:cBhvr>
                                      <p:to>
                                        <p:strVal val="visible"/>
                                      </p:to>
                                    </p:set>
                                    <p:anim calcmode="lin" valueType="num">
                                      <p:cBhvr additive="base">
                                        <p:cTn id="57" dur="500" fill="hold"/>
                                        <p:tgtEl>
                                          <p:spTgt spid="847029"/>
                                        </p:tgtEl>
                                        <p:attrNameLst>
                                          <p:attrName>ppt_x</p:attrName>
                                        </p:attrNameLst>
                                      </p:cBhvr>
                                      <p:tavLst>
                                        <p:tav tm="0">
                                          <p:val>
                                            <p:strVal val="#ppt_x"/>
                                          </p:val>
                                        </p:tav>
                                        <p:tav tm="100000">
                                          <p:val>
                                            <p:strVal val="#ppt_x"/>
                                          </p:val>
                                        </p:tav>
                                      </p:tavLst>
                                    </p:anim>
                                    <p:anim calcmode="lin" valueType="num">
                                      <p:cBhvr additive="base">
                                        <p:cTn id="58" dur="500" fill="hold"/>
                                        <p:tgtEl>
                                          <p:spTgt spid="8470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7021" grpId="0"/>
      <p:bldP spid="847022" grpId="0" build="p"/>
      <p:bldP spid="847023" grpId="0" build="p"/>
      <p:bldP spid="847024" grpId="0" build="p"/>
      <p:bldP spid="847025" grpId="0" build="p"/>
      <p:bldP spid="847026" grpId="0" build="p"/>
      <p:bldP spid="847027" grpId="0" build="p"/>
      <p:bldP spid="847028" grpId="0" uiExpand="1" build="p"/>
      <p:bldP spid="847029" grpId="0" bldLvl="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dirty="0" smtClean="0"/>
              <a:t>（</a:t>
            </a:r>
            <a:r>
              <a:rPr lang="en-US" altLang="zh-CN" dirty="0" smtClean="0"/>
              <a:t>2</a:t>
            </a:r>
            <a:r>
              <a:rPr lang="zh-CN" altLang="en-US" dirty="0" smtClean="0"/>
              <a:t>）链</a:t>
            </a:r>
            <a:r>
              <a:rPr lang="zh-CN" altLang="en-US" dirty="0"/>
              <a:t>地址法处理</a:t>
            </a:r>
            <a:r>
              <a:rPr lang="zh-CN" altLang="en-US" dirty="0" smtClean="0"/>
              <a:t>冲突</a:t>
            </a:r>
            <a:endParaRPr lang="en-US" altLang="zh-CN" dirty="0" smtClean="0"/>
          </a:p>
          <a:p>
            <a:pPr marL="0" lvl="2"/>
            <a:r>
              <a:rPr lang="zh-CN" altLang="en-US" dirty="0" smtClean="0"/>
              <a:t>关键词</a:t>
            </a:r>
            <a:r>
              <a:rPr lang="zh-CN" altLang="en-US" dirty="0"/>
              <a:t>序列为 </a:t>
            </a:r>
            <a:endParaRPr lang="en-US" altLang="zh-CN" dirty="0" smtClean="0"/>
          </a:p>
          <a:p>
            <a:pPr marL="0" lvl="2"/>
            <a:r>
              <a:rPr lang="en-US" altLang="zh-CN" dirty="0" smtClean="0"/>
              <a:t>{</a:t>
            </a:r>
            <a:r>
              <a:rPr lang="en-US" altLang="zh-CN" dirty="0"/>
              <a:t>19, 14, 23,</a:t>
            </a:r>
            <a:r>
              <a:rPr lang="zh-CN" altLang="en-US" dirty="0"/>
              <a:t> </a:t>
            </a:r>
            <a:r>
              <a:rPr lang="en-US" altLang="zh-CN" dirty="0"/>
              <a:t>01, 68, 20,</a:t>
            </a:r>
            <a:r>
              <a:rPr lang="zh-CN" altLang="en-US" dirty="0"/>
              <a:t> </a:t>
            </a:r>
            <a:endParaRPr lang="en-US" altLang="zh-CN" dirty="0" smtClean="0"/>
          </a:p>
          <a:p>
            <a:pPr marL="0" lvl="2"/>
            <a:r>
              <a:rPr lang="en-US" altLang="zh-CN" dirty="0" smtClean="0"/>
              <a:t>84</a:t>
            </a:r>
            <a:r>
              <a:rPr lang="en-US" altLang="zh-CN" dirty="0"/>
              <a:t>,</a:t>
            </a:r>
            <a:r>
              <a:rPr lang="zh-CN" altLang="en-US" dirty="0"/>
              <a:t> </a:t>
            </a:r>
            <a:r>
              <a:rPr lang="en-US" altLang="zh-CN" dirty="0"/>
              <a:t>27,</a:t>
            </a:r>
            <a:r>
              <a:rPr lang="zh-CN" altLang="en-US" dirty="0"/>
              <a:t> </a:t>
            </a:r>
            <a:r>
              <a:rPr lang="en-US" altLang="zh-CN" dirty="0"/>
              <a:t>55,</a:t>
            </a:r>
            <a:r>
              <a:rPr lang="zh-CN" altLang="en-US" dirty="0"/>
              <a:t> </a:t>
            </a:r>
            <a:r>
              <a:rPr lang="en-US" altLang="zh-CN" dirty="0"/>
              <a:t>11,</a:t>
            </a:r>
            <a:r>
              <a:rPr lang="zh-CN" altLang="en-US" dirty="0"/>
              <a:t> </a:t>
            </a:r>
            <a:r>
              <a:rPr lang="en-US" altLang="zh-CN" dirty="0"/>
              <a:t>10,</a:t>
            </a:r>
            <a:r>
              <a:rPr lang="zh-CN" altLang="en-US" dirty="0"/>
              <a:t> </a:t>
            </a:r>
            <a:r>
              <a:rPr lang="en-US" altLang="zh-CN" dirty="0"/>
              <a:t>79</a:t>
            </a:r>
            <a:r>
              <a:rPr lang="en-US" altLang="zh-CN" dirty="0" smtClean="0"/>
              <a:t>}</a:t>
            </a:r>
            <a:endParaRPr lang="en-US" altLang="zh-CN" dirty="0" smtClean="0"/>
          </a:p>
          <a:p>
            <a:pPr marL="0" lvl="2"/>
            <a:r>
              <a:rPr lang="zh-CN" altLang="en-US" dirty="0"/>
              <a:t>哈希函数为</a:t>
            </a:r>
            <a:r>
              <a:rPr lang="zh-CN" altLang="en-US" dirty="0" smtClean="0"/>
              <a:t>：</a:t>
            </a:r>
            <a:endParaRPr lang="en-US" altLang="zh-CN" dirty="0" smtClean="0"/>
          </a:p>
          <a:p>
            <a:pPr marL="0" lvl="2"/>
            <a:r>
              <a:rPr lang="zh-CN" altLang="zh-CN" dirty="0" smtClean="0"/>
              <a:t>H</a:t>
            </a:r>
            <a:r>
              <a:rPr lang="zh-CN" altLang="zh-CN" dirty="0"/>
              <a:t>(key)=key MOD 13, </a:t>
            </a:r>
            <a:endParaRPr lang="en-US" altLang="zh-CN" dirty="0" smtClean="0"/>
          </a:p>
          <a:p>
            <a:pPr marL="0" lvl="2"/>
            <a:r>
              <a:rPr lang="zh-CN" altLang="zh-CN" dirty="0" smtClean="0"/>
              <a:t>哈希</a:t>
            </a:r>
            <a:r>
              <a:rPr lang="zh-CN" altLang="zh-CN" dirty="0"/>
              <a:t>表长为</a:t>
            </a:r>
            <a:r>
              <a:rPr lang="en-US" altLang="zh-CN" dirty="0"/>
              <a:t>m=15</a:t>
            </a:r>
            <a:endParaRPr lang="zh-CN" altLang="en-US" dirty="0"/>
          </a:p>
          <a:p>
            <a:pPr marL="0" lvl="2"/>
            <a:endParaRPr lang="zh-CN" altLang="en-US" dirty="0"/>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aphicFrame>
        <p:nvGraphicFramePr>
          <p:cNvPr id="4" name="表格 3"/>
          <p:cNvGraphicFramePr>
            <a:graphicFrameLocks noGrp="1"/>
          </p:cNvGraphicFramePr>
          <p:nvPr/>
        </p:nvGraphicFramePr>
        <p:xfrm>
          <a:off x="4041522" y="631632"/>
          <a:ext cx="863203" cy="4171950"/>
        </p:xfrm>
        <a:graphic>
          <a:graphicData uri="http://schemas.openxmlformats.org/drawingml/2006/table">
            <a:tbl>
              <a:tblPr firstRow="1" bandRow="1">
                <a:tableStyleId>{F5AB1C69-6EDB-4FF4-983F-18BD219EF322}</a:tableStyleId>
              </a:tblPr>
              <a:tblGrid>
                <a:gridCol w="449874"/>
                <a:gridCol w="413329"/>
              </a:tblGrid>
              <a:tr h="278130">
                <a:tc>
                  <a:txBody>
                    <a:bodyPr/>
                    <a:lstStyle/>
                    <a:p>
                      <a:pPr algn="ctr"/>
                      <a:r>
                        <a:rPr lang="en-US" altLang="zh-CN" sz="1000" b="1" dirty="0" smtClean="0">
                          <a:solidFill>
                            <a:schemeClr val="tx1"/>
                          </a:solidFill>
                        </a:rPr>
                        <a:t>0</a:t>
                      </a:r>
                      <a:endParaRPr lang="zh-CN" altLang="en-US" sz="1000" b="1" dirty="0">
                        <a:solidFill>
                          <a:schemeClr val="tx1"/>
                        </a:solidFill>
                      </a:endParaRPr>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solidFill>
                          <a:schemeClr val="tx1"/>
                        </a:solidFill>
                      </a:endParaRPr>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2</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3</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4</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5</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6</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7</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8</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9</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zh-CN" altLang="en-US" sz="1000" b="1" dirty="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10</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sz="1000" b="1" dirty="0" smtClean="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11</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sz="1000" b="1" dirty="0" smtClean="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12</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sz="1000" b="1" dirty="0" smtClean="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13</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sz="1000" b="1" dirty="0" smtClean="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278130">
                <a:tc>
                  <a:txBody>
                    <a:bodyPr/>
                    <a:lstStyle/>
                    <a:p>
                      <a:pPr algn="ctr"/>
                      <a:r>
                        <a:rPr lang="en-US" altLang="zh-CN" sz="1000" b="1" dirty="0" smtClean="0"/>
                        <a:t>14</a:t>
                      </a:r>
                      <a:endParaRPr lang="zh-CN" altLang="en-US" sz="1000" b="1" dirty="0"/>
                    </a:p>
                  </a:txBody>
                  <a:tcPr marL="68592" marR="68592" marT="34290" marB="34290">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defRPr/>
                      </a:pPr>
                      <a:endParaRPr lang="zh-CN" altLang="en-US" sz="1000" b="1" dirty="0" smtClean="0"/>
                    </a:p>
                  </a:txBody>
                  <a:tcPr marL="68592" marR="68592"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 name="矩形 4"/>
          <p:cNvSpPr>
            <a:spLocks noChangeArrowheads="1"/>
          </p:cNvSpPr>
          <p:nvPr/>
        </p:nvSpPr>
        <p:spPr bwMode="auto">
          <a:xfrm>
            <a:off x="4527297" y="901905"/>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6" name="矩形 6"/>
          <p:cNvSpPr>
            <a:spLocks noChangeArrowheads="1"/>
          </p:cNvSpPr>
          <p:nvPr/>
        </p:nvSpPr>
        <p:spPr bwMode="auto">
          <a:xfrm>
            <a:off x="4527297" y="576864"/>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7" name="矩形 7"/>
          <p:cNvSpPr>
            <a:spLocks noChangeArrowheads="1"/>
          </p:cNvSpPr>
          <p:nvPr/>
        </p:nvSpPr>
        <p:spPr bwMode="auto">
          <a:xfrm>
            <a:off x="4527297" y="1149555"/>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8" name="矩形 7"/>
          <p:cNvSpPr>
            <a:spLocks noChangeArrowheads="1"/>
          </p:cNvSpPr>
          <p:nvPr/>
        </p:nvSpPr>
        <p:spPr bwMode="auto">
          <a:xfrm>
            <a:off x="4527297" y="1418636"/>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9" name="矩形 9"/>
          <p:cNvSpPr>
            <a:spLocks noChangeArrowheads="1"/>
          </p:cNvSpPr>
          <p:nvPr/>
        </p:nvSpPr>
        <p:spPr bwMode="auto">
          <a:xfrm>
            <a:off x="4527297" y="1688907"/>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0" name="矩形 9"/>
          <p:cNvSpPr>
            <a:spLocks noChangeArrowheads="1"/>
          </p:cNvSpPr>
          <p:nvPr/>
        </p:nvSpPr>
        <p:spPr bwMode="auto">
          <a:xfrm>
            <a:off x="4527297" y="2305651"/>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1" name="矩形 11"/>
          <p:cNvSpPr>
            <a:spLocks noChangeArrowheads="1"/>
          </p:cNvSpPr>
          <p:nvPr/>
        </p:nvSpPr>
        <p:spPr bwMode="auto">
          <a:xfrm>
            <a:off x="4527297" y="1981801"/>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2" name="矩形 11"/>
          <p:cNvSpPr>
            <a:spLocks noChangeArrowheads="1"/>
          </p:cNvSpPr>
          <p:nvPr/>
        </p:nvSpPr>
        <p:spPr bwMode="auto">
          <a:xfrm>
            <a:off x="4527297" y="2553301"/>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3" name="矩形 13"/>
          <p:cNvSpPr>
            <a:spLocks noChangeArrowheads="1"/>
          </p:cNvSpPr>
          <p:nvPr/>
        </p:nvSpPr>
        <p:spPr bwMode="auto">
          <a:xfrm>
            <a:off x="4527297" y="2823573"/>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4" name="矩形 14"/>
          <p:cNvSpPr>
            <a:spLocks noChangeArrowheads="1"/>
          </p:cNvSpPr>
          <p:nvPr/>
        </p:nvSpPr>
        <p:spPr bwMode="auto">
          <a:xfrm>
            <a:off x="4527297" y="3093845"/>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5" name="矩形 15"/>
          <p:cNvSpPr>
            <a:spLocks noChangeArrowheads="1"/>
          </p:cNvSpPr>
          <p:nvPr/>
        </p:nvSpPr>
        <p:spPr bwMode="auto">
          <a:xfrm>
            <a:off x="4527297" y="3709398"/>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6" name="矩形 15"/>
          <p:cNvSpPr>
            <a:spLocks noChangeArrowheads="1"/>
          </p:cNvSpPr>
          <p:nvPr/>
        </p:nvSpPr>
        <p:spPr bwMode="auto">
          <a:xfrm>
            <a:off x="4527297" y="3385548"/>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7" name="矩形 17"/>
          <p:cNvSpPr>
            <a:spLocks noChangeArrowheads="1"/>
          </p:cNvSpPr>
          <p:nvPr/>
        </p:nvSpPr>
        <p:spPr bwMode="auto">
          <a:xfrm>
            <a:off x="4527297" y="3957048"/>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a:latin typeface="Times New Roman" panose="02020603050405020304" pitchFamily="18" charset="0"/>
                <a:ea typeface="宋体" panose="02010600030101010101" pitchFamily="2" charset="-122"/>
              </a:rPr>
              <a:t>˄</a:t>
            </a:r>
            <a:endParaRPr lang="zh-CN" altLang="en-US" sz="1800">
              <a:latin typeface="Times New Roman" panose="02020603050405020304" pitchFamily="18" charset="0"/>
              <a:ea typeface="宋体" panose="02010600030101010101" pitchFamily="2" charset="-122"/>
            </a:endParaRPr>
          </a:p>
        </p:txBody>
      </p:sp>
      <p:sp>
        <p:nvSpPr>
          <p:cNvPr id="18" name="矩形 18"/>
          <p:cNvSpPr>
            <a:spLocks noChangeArrowheads="1"/>
          </p:cNvSpPr>
          <p:nvPr/>
        </p:nvSpPr>
        <p:spPr bwMode="auto">
          <a:xfrm>
            <a:off x="4527297" y="4227320"/>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宋体" panose="02010600030101010101" pitchFamily="2" charset="-122"/>
              </a:rPr>
              <a:t>˄</a:t>
            </a:r>
            <a:endParaRPr lang="zh-CN" altLang="en-US" sz="1800" dirty="0">
              <a:latin typeface="Times New Roman" panose="02020603050405020304" pitchFamily="18" charset="0"/>
              <a:ea typeface="宋体" panose="02010600030101010101" pitchFamily="2" charset="-122"/>
            </a:endParaRPr>
          </a:p>
        </p:txBody>
      </p:sp>
      <p:cxnSp>
        <p:nvCxnSpPr>
          <p:cNvPr id="19" name="直接箭头连接符 18"/>
          <p:cNvCxnSpPr>
            <a:cxnSpLocks noChangeShapeType="1"/>
          </p:cNvCxnSpPr>
          <p:nvPr/>
        </p:nvCxnSpPr>
        <p:spPr bwMode="auto">
          <a:xfrm>
            <a:off x="4689222" y="1063830"/>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graphicFrame>
        <p:nvGraphicFramePr>
          <p:cNvPr id="20" name="表格 19"/>
          <p:cNvGraphicFramePr>
            <a:graphicFrameLocks noGrp="1"/>
          </p:cNvGraphicFramePr>
          <p:nvPr/>
        </p:nvGraphicFramePr>
        <p:xfrm>
          <a:off x="5229765" y="947149"/>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14</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1" name="表格 20"/>
          <p:cNvGraphicFramePr>
            <a:graphicFrameLocks noGrp="1"/>
          </p:cNvGraphicFramePr>
          <p:nvPr/>
        </p:nvGraphicFramePr>
        <p:xfrm>
          <a:off x="5229765" y="2305652"/>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19</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2" name="表格 21"/>
          <p:cNvGraphicFramePr>
            <a:graphicFrameLocks noGrp="1"/>
          </p:cNvGraphicFramePr>
          <p:nvPr/>
        </p:nvGraphicFramePr>
        <p:xfrm>
          <a:off x="5229765" y="3439127"/>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23</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3" name="表格 22"/>
          <p:cNvGraphicFramePr>
            <a:graphicFrameLocks noGrp="1"/>
          </p:cNvGraphicFramePr>
          <p:nvPr/>
        </p:nvGraphicFramePr>
        <p:xfrm>
          <a:off x="6254893" y="947149"/>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01</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4" name="表格 23"/>
          <p:cNvGraphicFramePr>
            <a:graphicFrameLocks noGrp="1"/>
          </p:cNvGraphicFramePr>
          <p:nvPr/>
        </p:nvGraphicFramePr>
        <p:xfrm>
          <a:off x="5229765" y="1487693"/>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68</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5" name="表格 24"/>
          <p:cNvGraphicFramePr>
            <a:graphicFrameLocks noGrp="1"/>
          </p:cNvGraphicFramePr>
          <p:nvPr/>
        </p:nvGraphicFramePr>
        <p:xfrm>
          <a:off x="5229765" y="2683080"/>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20</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6" name="表格 25"/>
          <p:cNvGraphicFramePr>
            <a:graphicFrameLocks noGrp="1"/>
          </p:cNvGraphicFramePr>
          <p:nvPr/>
        </p:nvGraphicFramePr>
        <p:xfrm>
          <a:off x="6254893" y="2305652"/>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84</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7" name="表格 26"/>
          <p:cNvGraphicFramePr>
            <a:graphicFrameLocks noGrp="1"/>
          </p:cNvGraphicFramePr>
          <p:nvPr/>
        </p:nvGraphicFramePr>
        <p:xfrm>
          <a:off x="7281212" y="947149"/>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27</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8" name="表格 27"/>
          <p:cNvGraphicFramePr>
            <a:graphicFrameLocks noGrp="1"/>
          </p:cNvGraphicFramePr>
          <p:nvPr/>
        </p:nvGraphicFramePr>
        <p:xfrm>
          <a:off x="6254893" y="1494836"/>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55</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29" name="表格 28"/>
          <p:cNvGraphicFramePr>
            <a:graphicFrameLocks noGrp="1"/>
          </p:cNvGraphicFramePr>
          <p:nvPr/>
        </p:nvGraphicFramePr>
        <p:xfrm>
          <a:off x="5229765" y="3764168"/>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11</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30" name="表格 29"/>
          <p:cNvGraphicFramePr>
            <a:graphicFrameLocks noGrp="1"/>
          </p:cNvGraphicFramePr>
          <p:nvPr/>
        </p:nvGraphicFramePr>
        <p:xfrm>
          <a:off x="8307531" y="955483"/>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79</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graphicFrame>
        <p:nvGraphicFramePr>
          <p:cNvPr id="31" name="表格 30"/>
          <p:cNvGraphicFramePr>
            <a:graphicFrameLocks noGrp="1"/>
          </p:cNvGraphicFramePr>
          <p:nvPr/>
        </p:nvGraphicFramePr>
        <p:xfrm>
          <a:off x="6254893" y="3439127"/>
          <a:ext cx="702470" cy="282058"/>
        </p:xfrm>
        <a:graphic>
          <a:graphicData uri="http://schemas.openxmlformats.org/drawingml/2006/table">
            <a:tbl>
              <a:tblPr firstRow="1" bandRow="1">
                <a:tableStyleId>{F5AB1C69-6EDB-4FF4-983F-18BD219EF322}</a:tableStyleId>
              </a:tblPr>
              <a:tblGrid>
                <a:gridCol w="351235"/>
                <a:gridCol w="351235"/>
              </a:tblGrid>
              <a:tr h="278606">
                <a:tc>
                  <a:txBody>
                    <a:bodyPr/>
                    <a:lstStyle/>
                    <a:p>
                      <a:r>
                        <a:rPr lang="en-US" altLang="zh-CN" sz="1400" dirty="0" smtClean="0">
                          <a:solidFill>
                            <a:schemeClr val="tx1"/>
                          </a:solidFill>
                        </a:rPr>
                        <a:t>10</a:t>
                      </a:r>
                      <a:endParaRPr lang="zh-CN" altLang="en-US" sz="1400" dirty="0">
                        <a:solidFill>
                          <a:schemeClr val="tx1"/>
                        </a:solidFill>
                      </a:endParaRPr>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1400" b="1" dirty="0" smtClean="0">
                          <a:solidFill>
                            <a:schemeClr val="tx1"/>
                          </a:solidFill>
                        </a:rPr>
                        <a:t>˄</a:t>
                      </a:r>
                      <a:endParaRPr lang="zh-CN" altLang="en-US" sz="1400" dirty="0"/>
                    </a:p>
                  </a:txBody>
                  <a:tcPr marL="68618" marR="68618" marT="34349" marB="3434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cxnSp>
        <p:nvCxnSpPr>
          <p:cNvPr id="32" name="直接箭头连接符 31"/>
          <p:cNvCxnSpPr>
            <a:cxnSpLocks noChangeShapeType="1"/>
          </p:cNvCxnSpPr>
          <p:nvPr/>
        </p:nvCxnSpPr>
        <p:spPr bwMode="auto">
          <a:xfrm>
            <a:off x="5715541" y="1063830"/>
            <a:ext cx="539353"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3" name="直接箭头连接符 36"/>
          <p:cNvCxnSpPr>
            <a:cxnSpLocks noChangeShapeType="1"/>
          </p:cNvCxnSpPr>
          <p:nvPr/>
        </p:nvCxnSpPr>
        <p:spPr bwMode="auto">
          <a:xfrm>
            <a:off x="6741860" y="1063830"/>
            <a:ext cx="539353"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4" name="直接箭头连接符 37"/>
          <p:cNvCxnSpPr>
            <a:cxnSpLocks noChangeShapeType="1"/>
          </p:cNvCxnSpPr>
          <p:nvPr/>
        </p:nvCxnSpPr>
        <p:spPr bwMode="auto">
          <a:xfrm>
            <a:off x="7766987" y="1063830"/>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5" name="直接箭头连接符 34"/>
          <p:cNvCxnSpPr>
            <a:cxnSpLocks noChangeShapeType="1"/>
          </p:cNvCxnSpPr>
          <p:nvPr/>
        </p:nvCxnSpPr>
        <p:spPr bwMode="auto">
          <a:xfrm>
            <a:off x="4689222" y="1603182"/>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6" name="直接箭头连接符 39"/>
          <p:cNvCxnSpPr>
            <a:cxnSpLocks noChangeShapeType="1"/>
          </p:cNvCxnSpPr>
          <p:nvPr/>
        </p:nvCxnSpPr>
        <p:spPr bwMode="auto">
          <a:xfrm>
            <a:off x="5715541" y="1603182"/>
            <a:ext cx="539353"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7" name="直接箭头连接符 36"/>
          <p:cNvCxnSpPr>
            <a:cxnSpLocks noChangeShapeType="1"/>
          </p:cNvCxnSpPr>
          <p:nvPr/>
        </p:nvCxnSpPr>
        <p:spPr bwMode="auto">
          <a:xfrm>
            <a:off x="4689222" y="2467576"/>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8" name="直接箭头连接符 41"/>
          <p:cNvCxnSpPr>
            <a:cxnSpLocks noChangeShapeType="1"/>
          </p:cNvCxnSpPr>
          <p:nvPr/>
        </p:nvCxnSpPr>
        <p:spPr bwMode="auto">
          <a:xfrm>
            <a:off x="5715541" y="2467576"/>
            <a:ext cx="539353"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39" name="直接箭头连接符 38"/>
          <p:cNvCxnSpPr>
            <a:cxnSpLocks noChangeShapeType="1"/>
          </p:cNvCxnSpPr>
          <p:nvPr/>
        </p:nvCxnSpPr>
        <p:spPr bwMode="auto">
          <a:xfrm>
            <a:off x="4689222" y="3601051"/>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40" name="直接箭头连接符 43"/>
          <p:cNvCxnSpPr>
            <a:cxnSpLocks noChangeShapeType="1"/>
          </p:cNvCxnSpPr>
          <p:nvPr/>
        </p:nvCxnSpPr>
        <p:spPr bwMode="auto">
          <a:xfrm>
            <a:off x="5715541" y="3601051"/>
            <a:ext cx="539353"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41" name="直接箭头连接符 44"/>
          <p:cNvCxnSpPr>
            <a:cxnSpLocks noChangeShapeType="1"/>
          </p:cNvCxnSpPr>
          <p:nvPr/>
        </p:nvCxnSpPr>
        <p:spPr bwMode="auto">
          <a:xfrm>
            <a:off x="4689222" y="3871323"/>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cxnSp>
        <p:nvCxnSpPr>
          <p:cNvPr id="42" name="直接箭头连接符 45"/>
          <p:cNvCxnSpPr>
            <a:cxnSpLocks noChangeShapeType="1"/>
          </p:cNvCxnSpPr>
          <p:nvPr/>
        </p:nvCxnSpPr>
        <p:spPr bwMode="auto">
          <a:xfrm>
            <a:off x="4689222" y="2791426"/>
            <a:ext cx="540544" cy="0"/>
          </a:xfrm>
          <a:prstGeom prst="straightConnector1">
            <a:avLst/>
          </a:prstGeom>
          <a:noFill/>
          <a:ln w="25400" algn="ctr">
            <a:solidFill>
              <a:schemeClr val="tx1"/>
            </a:solidFill>
            <a:round/>
            <a:tailEnd type="arrow" w="med" len="med"/>
          </a:ln>
          <a:extLst>
            <a:ext uri="{909E8E84-426E-40DD-AFC4-6F175D3DCCD1}">
              <a14:hiddenFill xmlns:a14="http://schemas.microsoft.com/office/drawing/2010/main">
                <a:noFill/>
              </a14:hiddenFill>
            </a:ext>
          </a:extLst>
        </p:spPr>
      </p:cxnSp>
      <p:sp>
        <p:nvSpPr>
          <p:cNvPr id="43" name="文本框 42"/>
          <p:cNvSpPr txBox="1"/>
          <p:nvPr/>
        </p:nvSpPr>
        <p:spPr>
          <a:xfrm>
            <a:off x="330622" y="3926270"/>
            <a:ext cx="3385863" cy="400110"/>
          </a:xfrm>
          <a:prstGeom prst="rect">
            <a:avLst/>
          </a:prstGeom>
          <a:solidFill>
            <a:srgbClr val="CCFFCC"/>
          </a:solidFill>
          <a:ln w="9525">
            <a:noFill/>
          </a:ln>
        </p:spPr>
        <p:txBody>
          <a:bodyPr wrap="none" anchor="t">
            <a:spAutoFit/>
          </a:bodyPr>
          <a:lstStyle/>
          <a:p>
            <a:pPr eaLnBrk="1" hangingPunct="1">
              <a:spcBef>
                <a:spcPct val="0"/>
              </a:spcBef>
            </a:pPr>
            <a:r>
              <a:rPr lang="en-US" altLang="zh-CN" sz="2000" b="1" dirty="0">
                <a:solidFill>
                  <a:srgbClr val="FF3300"/>
                </a:solidFill>
                <a:latin typeface="Times New Roman" panose="02020603050405020304" pitchFamily="18" charset="0"/>
                <a:ea typeface="宋体" panose="02010600030101010101" pitchFamily="2" charset="-122"/>
              </a:rPr>
              <a:t>ASL=(1*6+2*4+3+4)/12=1.75</a:t>
            </a:r>
            <a:endParaRPr lang="en-US" altLang="zh-CN" sz="2000" b="1" dirty="0">
              <a:solidFill>
                <a:srgbClr val="FF3300"/>
              </a:solidFill>
              <a:latin typeface="Times New Roman" panose="02020603050405020304" pitchFamily="18" charset="0"/>
              <a:ea typeface="宋体" panose="02010600030101010101" pitchFamily="2" charset="-122"/>
            </a:endParaRPr>
          </a:p>
        </p:txBody>
      </p:sp>
      <p:sp>
        <p:nvSpPr>
          <p:cNvPr id="44" name="矩形 18"/>
          <p:cNvSpPr>
            <a:spLocks noChangeArrowheads="1"/>
          </p:cNvSpPr>
          <p:nvPr/>
        </p:nvSpPr>
        <p:spPr bwMode="auto">
          <a:xfrm>
            <a:off x="4527297" y="4476200"/>
            <a:ext cx="3161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b="1" dirty="0">
                <a:latin typeface="Times New Roman" panose="02020603050405020304" pitchFamily="18" charset="0"/>
                <a:ea typeface="宋体" panose="02010600030101010101" pitchFamily="2" charset="-122"/>
              </a:rPr>
              <a:t>˄</a:t>
            </a:r>
            <a:endParaRPr lang="zh-CN" altLang="en-US" sz="1800" dirty="0">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dissolve">
                                      <p:cBhvr>
                                        <p:cTn id="11" dur="500"/>
                                        <p:tgtEl>
                                          <p:spTgt spid="21"/>
                                        </p:tgtEl>
                                      </p:cBhvr>
                                    </p:animEffect>
                                  </p:childTnLst>
                                </p:cTn>
                              </p:par>
                              <p:par>
                                <p:cTn id="12" presetID="9" presetClass="entr" presetSubtype="0" fill="hold"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dissolve">
                                      <p:cBhvr>
                                        <p:cTn id="14" dur="500"/>
                                        <p:tgtEl>
                                          <p:spTgt spid="37"/>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xit" presetSubtype="0" fill="hold" grpId="0" nodeType="clickEffect">
                                  <p:stCondLst>
                                    <p:cond delay="0"/>
                                  </p:stCondLst>
                                  <p:childTnLst>
                                    <p:animEffect transition="out" filter="dissolv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par>
                          <p:cTn id="20" fill="hold">
                            <p:stCondLst>
                              <p:cond delay="500"/>
                            </p:stCondLst>
                            <p:childTnLst>
                              <p:par>
                                <p:cTn id="21" presetID="9" presetClass="entr" presetSubtype="0" fill="hold"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dissolve">
                                      <p:cBhvr>
                                        <p:cTn id="23" dur="500"/>
                                        <p:tgtEl>
                                          <p:spTgt spid="20"/>
                                        </p:tgtEl>
                                      </p:cBhvr>
                                    </p:animEffect>
                                  </p:childTnLst>
                                </p:cTn>
                              </p:par>
                            </p:childTnLst>
                          </p:cTn>
                        </p:par>
                        <p:par>
                          <p:cTn id="24" fill="hold">
                            <p:stCondLst>
                              <p:cond delay="1000"/>
                            </p:stCondLst>
                            <p:childTnLst>
                              <p:par>
                                <p:cTn id="25" presetID="9" presetClass="entr" presetSubtype="0" fill="hold"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grpId="0" nodeType="clickEffect">
                                  <p:stCondLst>
                                    <p:cond delay="0"/>
                                  </p:stCondLst>
                                  <p:childTnLst>
                                    <p:animEffect transition="out" filter="dissolve">
                                      <p:cBhvr>
                                        <p:cTn id="31" dur="500"/>
                                        <p:tgtEl>
                                          <p:spTgt spid="16"/>
                                        </p:tgtEl>
                                      </p:cBhvr>
                                    </p:animEffect>
                                    <p:set>
                                      <p:cBhvr>
                                        <p:cTn id="32" dur="1" fill="hold">
                                          <p:stCondLst>
                                            <p:cond delay="499"/>
                                          </p:stCondLst>
                                        </p:cTn>
                                        <p:tgtEl>
                                          <p:spTgt spid="16"/>
                                        </p:tgtEl>
                                        <p:attrNameLst>
                                          <p:attrName>style.visibility</p:attrName>
                                        </p:attrNameLst>
                                      </p:cBhvr>
                                      <p:to>
                                        <p:strVal val="hidden"/>
                                      </p:to>
                                    </p:set>
                                  </p:childTnLst>
                                </p:cTn>
                              </p:par>
                              <p:par>
                                <p:cTn id="33" presetID="9"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dissolve">
                                      <p:cBhvr>
                                        <p:cTn id="35" dur="500"/>
                                        <p:tgtEl>
                                          <p:spTgt spid="22"/>
                                        </p:tgtEl>
                                      </p:cBhvr>
                                    </p:animEffect>
                                  </p:childTnLst>
                                </p:cTn>
                              </p:par>
                            </p:childTnLst>
                          </p:cTn>
                        </p:par>
                        <p:par>
                          <p:cTn id="36" fill="hold">
                            <p:stCondLst>
                              <p:cond delay="500"/>
                            </p:stCondLst>
                            <p:childTnLst>
                              <p:par>
                                <p:cTn id="37" presetID="9" presetClass="entr" presetSubtype="0" fill="hold" nodeType="afterEffect">
                                  <p:stCondLst>
                                    <p:cond delay="0"/>
                                  </p:stCondLst>
                                  <p:childTnLst>
                                    <p:set>
                                      <p:cBhvr>
                                        <p:cTn id="38" dur="1" fill="hold">
                                          <p:stCondLst>
                                            <p:cond delay="0"/>
                                          </p:stCondLst>
                                        </p:cTn>
                                        <p:tgtEl>
                                          <p:spTgt spid="39"/>
                                        </p:tgtEl>
                                        <p:attrNameLst>
                                          <p:attrName>style.visibility</p:attrName>
                                        </p:attrNameLst>
                                      </p:cBhvr>
                                      <p:to>
                                        <p:strVal val="visible"/>
                                      </p:to>
                                    </p:set>
                                    <p:animEffect transition="in" filter="dissolve">
                                      <p:cBhvr>
                                        <p:cTn id="39" dur="500"/>
                                        <p:tgtEl>
                                          <p:spTgt spid="39"/>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dissolve">
                                      <p:cBhvr>
                                        <p:cTn id="44" dur="500"/>
                                        <p:tgtEl>
                                          <p:spTgt spid="23"/>
                                        </p:tgtEl>
                                      </p:cBhvr>
                                    </p:animEffect>
                                  </p:childTnLst>
                                </p:cTn>
                              </p:par>
                              <p:par>
                                <p:cTn id="45" presetID="9"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dissolve">
                                      <p:cBhvr>
                                        <p:cTn id="47" dur="500"/>
                                        <p:tgtEl>
                                          <p:spTgt spid="32"/>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xit" presetSubtype="0" fill="hold" grpId="0" nodeType="clickEffect">
                                  <p:stCondLst>
                                    <p:cond delay="0"/>
                                  </p:stCondLst>
                                  <p:childTnLst>
                                    <p:animEffect transition="out" filter="dissolve">
                                      <p:cBhvr>
                                        <p:cTn id="51" dur="500"/>
                                        <p:tgtEl>
                                          <p:spTgt spid="8"/>
                                        </p:tgtEl>
                                      </p:cBhvr>
                                    </p:animEffect>
                                    <p:set>
                                      <p:cBhvr>
                                        <p:cTn id="52" dur="1" fill="hold">
                                          <p:stCondLst>
                                            <p:cond delay="499"/>
                                          </p:stCondLst>
                                        </p:cTn>
                                        <p:tgtEl>
                                          <p:spTgt spid="8"/>
                                        </p:tgtEl>
                                        <p:attrNameLst>
                                          <p:attrName>style.visibility</p:attrName>
                                        </p:attrNameLst>
                                      </p:cBhvr>
                                      <p:to>
                                        <p:strVal val="hidden"/>
                                      </p:to>
                                    </p:set>
                                  </p:childTnLst>
                                </p:cTn>
                              </p:par>
                              <p:par>
                                <p:cTn id="53" presetID="9"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dissolve">
                                      <p:cBhvr>
                                        <p:cTn id="55" dur="500"/>
                                        <p:tgtEl>
                                          <p:spTgt spid="24"/>
                                        </p:tgtEl>
                                      </p:cBhvr>
                                    </p:animEffect>
                                  </p:childTnLst>
                                </p:cTn>
                              </p:par>
                            </p:childTnLst>
                          </p:cTn>
                        </p:par>
                        <p:par>
                          <p:cTn id="56" fill="hold">
                            <p:stCondLst>
                              <p:cond delay="500"/>
                            </p:stCondLst>
                            <p:childTnLst>
                              <p:par>
                                <p:cTn id="57" presetID="9" presetClass="entr" presetSubtype="0" fill="hold"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dissolve">
                                      <p:cBhvr>
                                        <p:cTn id="59" dur="500"/>
                                        <p:tgtEl>
                                          <p:spTgt spid="35"/>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xit" presetSubtype="0" fill="hold" grpId="0" nodeType="clickEffect">
                                  <p:stCondLst>
                                    <p:cond delay="0"/>
                                  </p:stCondLst>
                                  <p:childTnLst>
                                    <p:animEffect transition="out" filter="dissolve">
                                      <p:cBhvr>
                                        <p:cTn id="63" dur="500"/>
                                        <p:tgtEl>
                                          <p:spTgt spid="12"/>
                                        </p:tgtEl>
                                      </p:cBhvr>
                                    </p:animEffect>
                                    <p:set>
                                      <p:cBhvr>
                                        <p:cTn id="64" dur="1" fill="hold">
                                          <p:stCondLst>
                                            <p:cond delay="499"/>
                                          </p:stCondLst>
                                        </p:cTn>
                                        <p:tgtEl>
                                          <p:spTgt spid="12"/>
                                        </p:tgtEl>
                                        <p:attrNameLst>
                                          <p:attrName>style.visibility</p:attrName>
                                        </p:attrNameLst>
                                      </p:cBhvr>
                                      <p:to>
                                        <p:strVal val="hidden"/>
                                      </p:to>
                                    </p:set>
                                  </p:childTnLst>
                                </p:cTn>
                              </p:par>
                              <p:par>
                                <p:cTn id="65" presetID="9" presetClass="entr" presetSubtype="0" fill="hold"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dissolve">
                                      <p:cBhvr>
                                        <p:cTn id="67" dur="500"/>
                                        <p:tgtEl>
                                          <p:spTgt spid="25"/>
                                        </p:tgtEl>
                                      </p:cBhvr>
                                    </p:animEffect>
                                  </p:childTnLst>
                                </p:cTn>
                              </p:par>
                            </p:childTnLst>
                          </p:cTn>
                        </p:par>
                        <p:par>
                          <p:cTn id="68" fill="hold">
                            <p:stCondLst>
                              <p:cond delay="500"/>
                            </p:stCondLst>
                            <p:childTnLst>
                              <p:par>
                                <p:cTn id="69" presetID="9" presetClass="entr" presetSubtype="0" fill="hold" nodeType="after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dissolve">
                                      <p:cBhvr>
                                        <p:cTn id="71" dur="500"/>
                                        <p:tgtEl>
                                          <p:spTgt spid="42"/>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dissolve">
                                      <p:cBhvr>
                                        <p:cTn id="76" dur="500"/>
                                        <p:tgtEl>
                                          <p:spTgt spid="26"/>
                                        </p:tgtEl>
                                      </p:cBhvr>
                                    </p:animEffect>
                                  </p:childTnLst>
                                </p:cTn>
                              </p:par>
                              <p:par>
                                <p:cTn id="77" presetID="9" presetClass="entr" presetSubtype="0" fill="hold"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dissolve">
                                      <p:cBhvr>
                                        <p:cTn id="79" dur="500"/>
                                        <p:tgtEl>
                                          <p:spTgt spid="38"/>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ntr" presetSubtype="0" fill="hold" nodeType="click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dissolve">
                                      <p:cBhvr>
                                        <p:cTn id="84" dur="500"/>
                                        <p:tgtEl>
                                          <p:spTgt spid="27"/>
                                        </p:tgtEl>
                                      </p:cBhvr>
                                    </p:animEffect>
                                  </p:childTnLst>
                                </p:cTn>
                              </p:par>
                              <p:par>
                                <p:cTn id="85" presetID="9" presetClass="entr" presetSubtype="0" fill="hold" nodeType="with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dissolve">
                                      <p:cBhvr>
                                        <p:cTn id="87" dur="500"/>
                                        <p:tgtEl>
                                          <p:spTgt spid="33"/>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dissolve">
                                      <p:cBhvr>
                                        <p:cTn id="92" dur="500"/>
                                        <p:tgtEl>
                                          <p:spTgt spid="28"/>
                                        </p:tgtEl>
                                      </p:cBhvr>
                                    </p:animEffect>
                                  </p:childTnLst>
                                </p:cTn>
                              </p:par>
                              <p:par>
                                <p:cTn id="93" presetID="9" presetClass="entr" presetSubtype="0" fill="hold" nodeType="with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dissolve">
                                      <p:cBhvr>
                                        <p:cTn id="95" dur="500"/>
                                        <p:tgtEl>
                                          <p:spTgt spid="36"/>
                                        </p:tgtEl>
                                      </p:cBhvr>
                                    </p:animEffect>
                                  </p:childTnLst>
                                </p:cTn>
                              </p:par>
                            </p:childTnLst>
                          </p:cTn>
                        </p:par>
                      </p:childTnLst>
                    </p:cTn>
                  </p:par>
                  <p:par>
                    <p:cTn id="96" fill="hold">
                      <p:stCondLst>
                        <p:cond delay="indefinite"/>
                      </p:stCondLst>
                      <p:childTnLst>
                        <p:par>
                          <p:cTn id="97" fill="hold">
                            <p:stCondLst>
                              <p:cond delay="0"/>
                            </p:stCondLst>
                            <p:childTnLst>
                              <p:par>
                                <p:cTn id="98" presetID="9" presetClass="exit" presetSubtype="0" fill="hold" grpId="0" nodeType="clickEffect">
                                  <p:stCondLst>
                                    <p:cond delay="0"/>
                                  </p:stCondLst>
                                  <p:childTnLst>
                                    <p:animEffect transition="out" filter="dissolve">
                                      <p:cBhvr>
                                        <p:cTn id="99" dur="500"/>
                                        <p:tgtEl>
                                          <p:spTgt spid="15"/>
                                        </p:tgtEl>
                                      </p:cBhvr>
                                    </p:animEffect>
                                    <p:set>
                                      <p:cBhvr>
                                        <p:cTn id="100" dur="1" fill="hold">
                                          <p:stCondLst>
                                            <p:cond delay="499"/>
                                          </p:stCondLst>
                                        </p:cTn>
                                        <p:tgtEl>
                                          <p:spTgt spid="15"/>
                                        </p:tgtEl>
                                        <p:attrNameLst>
                                          <p:attrName>style.visibility</p:attrName>
                                        </p:attrNameLst>
                                      </p:cBhvr>
                                      <p:to>
                                        <p:strVal val="hidden"/>
                                      </p:to>
                                    </p:set>
                                  </p:childTnLst>
                                </p:cTn>
                              </p:par>
                            </p:childTnLst>
                          </p:cTn>
                        </p:par>
                        <p:par>
                          <p:cTn id="101" fill="hold">
                            <p:stCondLst>
                              <p:cond delay="500"/>
                            </p:stCondLst>
                            <p:childTnLst>
                              <p:par>
                                <p:cTn id="102" presetID="9" presetClass="entr" presetSubtype="0" fill="hold" nodeType="afterEffect">
                                  <p:stCondLst>
                                    <p:cond delay="0"/>
                                  </p:stCondLst>
                                  <p:childTnLst>
                                    <p:set>
                                      <p:cBhvr>
                                        <p:cTn id="103" dur="1" fill="hold">
                                          <p:stCondLst>
                                            <p:cond delay="0"/>
                                          </p:stCondLst>
                                        </p:cTn>
                                        <p:tgtEl>
                                          <p:spTgt spid="29"/>
                                        </p:tgtEl>
                                        <p:attrNameLst>
                                          <p:attrName>style.visibility</p:attrName>
                                        </p:attrNameLst>
                                      </p:cBhvr>
                                      <p:to>
                                        <p:strVal val="visible"/>
                                      </p:to>
                                    </p:set>
                                    <p:animEffect transition="in" filter="dissolve">
                                      <p:cBhvr>
                                        <p:cTn id="104" dur="500"/>
                                        <p:tgtEl>
                                          <p:spTgt spid="29"/>
                                        </p:tgtEl>
                                      </p:cBhvr>
                                    </p:animEffect>
                                  </p:childTnLst>
                                </p:cTn>
                              </p:par>
                              <p:par>
                                <p:cTn id="105" presetID="9" presetClass="entr" presetSubtype="0" fill="hold"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dissolve">
                                      <p:cBhvr>
                                        <p:cTn id="107" dur="500"/>
                                        <p:tgtEl>
                                          <p:spTgt spid="41"/>
                                        </p:tgtEl>
                                      </p:cBhvr>
                                    </p:animEffect>
                                  </p:childTnLst>
                                </p:cTn>
                              </p:par>
                            </p:childTnLst>
                          </p:cTn>
                        </p:par>
                      </p:childTnLst>
                    </p:cTn>
                  </p:par>
                  <p:par>
                    <p:cTn id="108" fill="hold">
                      <p:stCondLst>
                        <p:cond delay="indefinite"/>
                      </p:stCondLst>
                      <p:childTnLst>
                        <p:par>
                          <p:cTn id="109" fill="hold">
                            <p:stCondLst>
                              <p:cond delay="0"/>
                            </p:stCondLst>
                            <p:childTnLst>
                              <p:par>
                                <p:cTn id="110" presetID="9" presetClass="entr" presetSubtype="0" fill="hold" nodeType="clickEffect">
                                  <p:stCondLst>
                                    <p:cond delay="0"/>
                                  </p:stCondLst>
                                  <p:childTnLst>
                                    <p:set>
                                      <p:cBhvr>
                                        <p:cTn id="111" dur="1" fill="hold">
                                          <p:stCondLst>
                                            <p:cond delay="0"/>
                                          </p:stCondLst>
                                        </p:cTn>
                                        <p:tgtEl>
                                          <p:spTgt spid="31"/>
                                        </p:tgtEl>
                                        <p:attrNameLst>
                                          <p:attrName>style.visibility</p:attrName>
                                        </p:attrNameLst>
                                      </p:cBhvr>
                                      <p:to>
                                        <p:strVal val="visible"/>
                                      </p:to>
                                    </p:set>
                                    <p:animEffect transition="in" filter="dissolve">
                                      <p:cBhvr>
                                        <p:cTn id="112" dur="500"/>
                                        <p:tgtEl>
                                          <p:spTgt spid="31"/>
                                        </p:tgtEl>
                                      </p:cBhvr>
                                    </p:animEffect>
                                  </p:childTnLst>
                                </p:cTn>
                              </p:par>
                              <p:par>
                                <p:cTn id="113" presetID="9" presetClass="entr" presetSubtype="0" fill="hold" nodeType="with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dissolve">
                                      <p:cBhvr>
                                        <p:cTn id="115" dur="500"/>
                                        <p:tgtEl>
                                          <p:spTgt spid="40"/>
                                        </p:tgtEl>
                                      </p:cBhvr>
                                    </p:animEffect>
                                  </p:childTnLst>
                                </p:cTn>
                              </p:par>
                            </p:childTnLst>
                          </p:cTn>
                        </p:par>
                      </p:childTnLst>
                    </p:cTn>
                  </p:par>
                  <p:par>
                    <p:cTn id="116" fill="hold">
                      <p:stCondLst>
                        <p:cond delay="indefinite"/>
                      </p:stCondLst>
                      <p:childTnLst>
                        <p:par>
                          <p:cTn id="117" fill="hold">
                            <p:stCondLst>
                              <p:cond delay="0"/>
                            </p:stCondLst>
                            <p:childTnLst>
                              <p:par>
                                <p:cTn id="118" presetID="9" presetClass="entr" presetSubtype="0" fill="hold" nodeType="clickEffect">
                                  <p:stCondLst>
                                    <p:cond delay="0"/>
                                  </p:stCondLst>
                                  <p:childTnLst>
                                    <p:set>
                                      <p:cBhvr>
                                        <p:cTn id="119" dur="1" fill="hold">
                                          <p:stCondLst>
                                            <p:cond delay="0"/>
                                          </p:stCondLst>
                                        </p:cTn>
                                        <p:tgtEl>
                                          <p:spTgt spid="30"/>
                                        </p:tgtEl>
                                        <p:attrNameLst>
                                          <p:attrName>style.visibility</p:attrName>
                                        </p:attrNameLst>
                                      </p:cBhvr>
                                      <p:to>
                                        <p:strVal val="visible"/>
                                      </p:to>
                                    </p:set>
                                    <p:animEffect transition="in" filter="dissolve">
                                      <p:cBhvr>
                                        <p:cTn id="120" dur="500"/>
                                        <p:tgtEl>
                                          <p:spTgt spid="30"/>
                                        </p:tgtEl>
                                      </p:cBhvr>
                                    </p:animEffect>
                                  </p:childTnLst>
                                </p:cTn>
                              </p:par>
                              <p:par>
                                <p:cTn id="121" presetID="9" presetClass="entr" presetSubtype="0" fill="hold"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dissolve">
                                      <p:cBhvr>
                                        <p:cTn id="123" dur="500"/>
                                        <p:tgtEl>
                                          <p:spTgt spid="34"/>
                                        </p:tgtEl>
                                      </p:cBhvr>
                                    </p:animEffect>
                                  </p:childTnLst>
                                </p:cTn>
                              </p:par>
                            </p:childTnLst>
                          </p:cTn>
                        </p:par>
                      </p:childTnLst>
                    </p:cTn>
                  </p:par>
                  <p:par>
                    <p:cTn id="124" fill="hold">
                      <p:stCondLst>
                        <p:cond delay="indefinite"/>
                      </p:stCondLst>
                      <p:childTnLst>
                        <p:par>
                          <p:cTn id="125" fill="hold">
                            <p:stCondLst>
                              <p:cond delay="0"/>
                            </p:stCondLst>
                            <p:childTnLst>
                              <p:par>
                                <p:cTn id="126" presetID="4" presetClass="entr" presetSubtype="16" fill="hold" grpId="0" nodeType="click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box(in)">
                                      <p:cBhvr>
                                        <p:cTn id="12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10" grpId="0"/>
      <p:bldP spid="12" grpId="0"/>
      <p:bldP spid="15" grpId="0"/>
      <p:bldP spid="16" grpId="0"/>
      <p:bldP spid="43" grpId="0" bldLvl="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smtClean="0">
                <a:sym typeface="+mn-ea"/>
              </a:rPr>
              <a:t>哈</a:t>
            </a:r>
            <a:r>
              <a:rPr lang="zh-CN" altLang="en-US" dirty="0">
                <a:sym typeface="+mn-ea"/>
              </a:rPr>
              <a:t>希表的查找效率</a:t>
            </a:r>
            <a:r>
              <a:rPr lang="zh-CN" altLang="en-US" dirty="0" smtClean="0">
                <a:sym typeface="+mn-ea"/>
              </a:rPr>
              <a:t>分析</a:t>
            </a:r>
            <a:endParaRPr lang="en-US" altLang="zh-CN" dirty="0" smtClean="0">
              <a:sym typeface="+mn-ea"/>
            </a:endParaRPr>
          </a:p>
          <a:p>
            <a:pPr lvl="2"/>
            <a:r>
              <a:rPr lang="zh-CN" altLang="en-US" dirty="0"/>
              <a:t>使用</a:t>
            </a:r>
            <a:r>
              <a:rPr lang="zh-CN" altLang="en-US" dirty="0">
                <a:solidFill>
                  <a:srgbClr val="FF0000"/>
                </a:solidFill>
              </a:rPr>
              <a:t>平均查找长度</a:t>
            </a:r>
            <a:r>
              <a:rPr lang="en-US" altLang="zh-CN" dirty="0">
                <a:solidFill>
                  <a:srgbClr val="FF0000"/>
                </a:solidFill>
              </a:rPr>
              <a:t>ASL</a:t>
            </a:r>
            <a:r>
              <a:rPr lang="zh-CN" altLang="en-US" dirty="0"/>
              <a:t>来衡量查找算法</a:t>
            </a:r>
            <a:r>
              <a:rPr lang="zh-CN" altLang="en-US" dirty="0"/>
              <a:t>，</a:t>
            </a:r>
            <a:r>
              <a:rPr lang="zh-CN" altLang="en-US" dirty="0"/>
              <a:t>关键词的比较次数，取决于</a:t>
            </a:r>
            <a:r>
              <a:rPr lang="zh-CN" altLang="en-US" dirty="0">
                <a:solidFill>
                  <a:srgbClr val="FF0000"/>
                </a:solidFill>
              </a:rPr>
              <a:t>产生冲突的多少 </a:t>
            </a:r>
            <a:r>
              <a:rPr lang="zh-CN" altLang="en-US" dirty="0" smtClean="0"/>
              <a:t>。</a:t>
            </a:r>
            <a:r>
              <a:rPr lang="en-US" altLang="zh-CN" dirty="0" smtClean="0"/>
              <a:t>ASL</a:t>
            </a:r>
            <a:r>
              <a:rPr lang="zh-CN" altLang="en-US" dirty="0"/>
              <a:t>取决于</a:t>
            </a:r>
            <a:endParaRPr lang="zh-CN" altLang="en-US" dirty="0"/>
          </a:p>
          <a:p>
            <a:pPr lvl="4">
              <a:spcBef>
                <a:spcPct val="20000"/>
              </a:spcBef>
              <a:buClr>
                <a:srgbClr val="FF3300"/>
              </a:buClr>
              <a:buFont typeface="Wingdings" panose="05000000000000000000" pitchFamily="2" charset="2"/>
              <a:buChar char="ü"/>
            </a:pPr>
            <a:r>
              <a:rPr lang="zh-CN" altLang="en-US" sz="2100" dirty="0">
                <a:solidFill>
                  <a:schemeClr val="hlink"/>
                </a:solidFill>
                <a:effectLst/>
                <a:latin typeface="华文楷体" panose="02010600040101010101" pitchFamily="2" charset="-122"/>
                <a:ea typeface="华文楷体" panose="02010600040101010101" pitchFamily="2" charset="-122"/>
              </a:rPr>
              <a:t>　　哈希函数</a:t>
            </a:r>
            <a:endParaRPr lang="zh-CN" altLang="en-US" sz="2100" dirty="0">
              <a:solidFill>
                <a:schemeClr val="hlink"/>
              </a:solidFill>
              <a:effectLst/>
              <a:latin typeface="华文楷体" panose="02010600040101010101" pitchFamily="2" charset="-122"/>
              <a:ea typeface="华文楷体" panose="02010600040101010101" pitchFamily="2" charset="-122"/>
            </a:endParaRPr>
          </a:p>
          <a:p>
            <a:pPr lvl="4">
              <a:spcBef>
                <a:spcPct val="20000"/>
              </a:spcBef>
              <a:buClr>
                <a:srgbClr val="FF3300"/>
              </a:buClr>
              <a:buFont typeface="Wingdings" panose="05000000000000000000" pitchFamily="2" charset="2"/>
              <a:buChar char="ü"/>
            </a:pPr>
            <a:r>
              <a:rPr lang="zh-CN" altLang="en-US" sz="2100" dirty="0">
                <a:solidFill>
                  <a:schemeClr val="hlink"/>
                </a:solidFill>
                <a:effectLst/>
                <a:latin typeface="华文楷体" panose="02010600040101010101" pitchFamily="2" charset="-122"/>
                <a:ea typeface="华文楷体" panose="02010600040101010101" pitchFamily="2" charset="-122"/>
              </a:rPr>
              <a:t>　　处理冲突的方法</a:t>
            </a:r>
            <a:endParaRPr lang="zh-CN" altLang="en-US" sz="2100" dirty="0">
              <a:solidFill>
                <a:schemeClr val="hlink"/>
              </a:solidFill>
              <a:effectLst/>
              <a:latin typeface="华文楷体" panose="02010600040101010101" pitchFamily="2" charset="-122"/>
              <a:ea typeface="华文楷体" panose="02010600040101010101" pitchFamily="2" charset="-122"/>
            </a:endParaRPr>
          </a:p>
          <a:p>
            <a:pPr lvl="4">
              <a:spcBef>
                <a:spcPct val="20000"/>
              </a:spcBef>
              <a:buClr>
                <a:srgbClr val="FF3300"/>
              </a:buClr>
              <a:buFont typeface="Wingdings" panose="05000000000000000000" pitchFamily="2" charset="2"/>
              <a:buChar char="ü"/>
            </a:pPr>
            <a:r>
              <a:rPr lang="zh-CN" altLang="en-US" sz="2100" dirty="0">
                <a:effectLst/>
                <a:latin typeface="华文楷体" panose="02010600040101010101" pitchFamily="2" charset="-122"/>
                <a:ea typeface="华文楷体" panose="02010600040101010101" pitchFamily="2" charset="-122"/>
              </a:rPr>
              <a:t>　　</a:t>
            </a:r>
            <a:r>
              <a:rPr lang="zh-CN" altLang="en-US" sz="2100" dirty="0">
                <a:solidFill>
                  <a:schemeClr val="hlink"/>
                </a:solidFill>
                <a:effectLst/>
                <a:latin typeface="华文楷体" panose="02010600040101010101" pitchFamily="2" charset="-122"/>
                <a:ea typeface="华文楷体" panose="02010600040101010101" pitchFamily="2" charset="-122"/>
              </a:rPr>
              <a:t>哈希表的装填</a:t>
            </a:r>
            <a:r>
              <a:rPr lang="zh-CN" altLang="en-US" sz="2100" dirty="0" smtClean="0">
                <a:solidFill>
                  <a:schemeClr val="hlink"/>
                </a:solidFill>
                <a:effectLst/>
                <a:latin typeface="华文楷体" panose="02010600040101010101" pitchFamily="2" charset="-122"/>
                <a:ea typeface="华文楷体" panose="02010600040101010101" pitchFamily="2" charset="-122"/>
              </a:rPr>
              <a:t>因子</a:t>
            </a:r>
            <a:endParaRPr lang="zh-CN" altLang="en-US" sz="2100" dirty="0">
              <a:solidFill>
                <a:schemeClr val="hlink"/>
              </a:solidFill>
              <a:effectLst/>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aphicFrame>
        <p:nvGraphicFramePr>
          <p:cNvPr id="4" name="对象 3"/>
          <p:cNvGraphicFramePr/>
          <p:nvPr/>
        </p:nvGraphicFramePr>
        <p:xfrm>
          <a:off x="4031507" y="2392797"/>
          <a:ext cx="3200400" cy="842963"/>
        </p:xfrm>
        <a:graphic>
          <a:graphicData uri="http://schemas.openxmlformats.org/presentationml/2006/ole">
            <mc:AlternateContent xmlns:mc="http://schemas.openxmlformats.org/markup-compatibility/2006">
              <mc:Choice xmlns:v="urn:schemas-microsoft-com:vml" Requires="v">
                <p:oleObj spid="_x0000_s60425" name="" r:id="rId1" imgW="1205230" imgH="317500" progId="Equation.3">
                  <p:embed/>
                </p:oleObj>
              </mc:Choice>
              <mc:Fallback>
                <p:oleObj name="" r:id="rId1" imgW="1205230" imgH="317500" progId="Equation.3">
                  <p:embed/>
                  <p:pic>
                    <p:nvPicPr>
                      <p:cNvPr id="0" name="对象 752663"/>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31507" y="2392797"/>
                        <a:ext cx="3200400" cy="842963"/>
                      </a:xfrm>
                      <a:prstGeom prst="rect">
                        <a:avLst/>
                      </a:prstGeom>
                      <a:solidFill>
                        <a:srgbClr val="FFFFFF"/>
                      </a:solidFill>
                      <a:ln>
                        <a:noFill/>
                      </a:ln>
                      <a:extLst>
                        <a:ext uri="{91240B29-F687-4F45-9708-019B960494DF}">
                          <a14:hiddenLine xmlns:a14="http://schemas.microsoft.com/office/drawing/2010/main" w="38100">
                            <a:solidFill>
                              <a:srgbClr val="000000"/>
                            </a:solidFill>
                            <a:miter lim="800000"/>
                            <a:headEnd/>
                            <a:tailEnd/>
                          </a14:hiddenLine>
                        </a:ext>
                      </a:extLst>
                    </p:spPr>
                  </p:pic>
                </p:oleObj>
              </mc:Fallback>
            </mc:AlternateContent>
          </a:graphicData>
        </a:graphic>
      </p:graphicFrame>
      <p:sp>
        <p:nvSpPr>
          <p:cNvPr id="5" name="圆角矩形标注 4"/>
          <p:cNvSpPr/>
          <p:nvPr/>
        </p:nvSpPr>
        <p:spPr>
          <a:xfrm>
            <a:off x="746301" y="3699849"/>
            <a:ext cx="5076825" cy="1151922"/>
          </a:xfrm>
          <a:prstGeom prst="wedgeRoundRectCallout">
            <a:avLst>
              <a:gd name="adj1" fmla="val -6672"/>
              <a:gd name="adj2" fmla="val -108203"/>
              <a:gd name="adj3" fmla="val 16667"/>
            </a:avLst>
          </a:prstGeom>
          <a:solidFill>
            <a:schemeClr val="bg1">
              <a:alpha val="0"/>
            </a:schemeClr>
          </a:solidFill>
          <a:ln w="9525" cap="flat" cmpd="sng">
            <a:solidFill>
              <a:srgbClr val="FF6600"/>
            </a:solidFill>
            <a:prstDash val="solid"/>
            <a:miter/>
            <a:headEnd type="none" w="med" len="med"/>
            <a:tailEnd type="none" w="med" len="med"/>
          </a:ln>
        </p:spPr>
        <p:txBody>
          <a:bodyPr/>
          <a:lstStyle/>
          <a:p>
            <a:pPr eaLnBrk="1" hangingPunct="1">
              <a:spcBef>
                <a:spcPct val="0"/>
              </a:spcBef>
            </a:pPr>
            <a:r>
              <a:rPr lang="en-US" altLang="zh-CN" sz="2100" b="1" dirty="0">
                <a:solidFill>
                  <a:schemeClr val="tx2"/>
                </a:solidFill>
                <a:latin typeface="华文楷体" panose="02010600040101010101" pitchFamily="2" charset="-122"/>
                <a:ea typeface="华文楷体" panose="02010600040101010101" pitchFamily="2" charset="-122"/>
                <a:sym typeface="Symbol" panose="05050102010706020507" pitchFamily="18" charset="2"/>
              </a:rPr>
              <a:t> </a:t>
            </a:r>
            <a:r>
              <a:rPr lang="zh-CN" altLang="en-US" sz="2100" b="1" dirty="0">
                <a:solidFill>
                  <a:schemeClr val="tx2"/>
                </a:solidFill>
                <a:latin typeface="华文楷体" panose="02010600040101010101" pitchFamily="2" charset="-122"/>
                <a:ea typeface="华文楷体" panose="02010600040101010101" pitchFamily="2" charset="-122"/>
              </a:rPr>
              <a:t>越大，表中记录数越多，说明表装得越满，发生冲突的可能性就越大，查找时比较次数就越多。</a:t>
            </a:r>
            <a:endParaRPr lang="zh-CN" altLang="en-US" sz="2100" b="1" dirty="0">
              <a:solidFill>
                <a:schemeClr val="tx2"/>
              </a:solidFill>
              <a:latin typeface="华文楷体" panose="02010600040101010101" pitchFamily="2" charset="-122"/>
              <a:ea typeface="华文楷体" panose="02010600040101010101" pitchFamily="2" charset="-122"/>
            </a:endParaRPr>
          </a:p>
        </p:txBody>
      </p:sp>
      <p:sp>
        <p:nvSpPr>
          <p:cNvPr id="6" name="云形标注 5"/>
          <p:cNvSpPr/>
          <p:nvPr/>
        </p:nvSpPr>
        <p:spPr>
          <a:xfrm>
            <a:off x="5000676" y="233964"/>
            <a:ext cx="1262063" cy="807244"/>
          </a:xfrm>
          <a:prstGeom prst="cloudCallout">
            <a:avLst>
              <a:gd name="adj1" fmla="val -150000"/>
              <a:gd name="adj2" fmla="val 26106"/>
            </a:avLst>
          </a:prstGeom>
          <a:solidFill>
            <a:srgbClr val="CCFFFF"/>
          </a:solidFill>
          <a:ln w="9525">
            <a:noFill/>
          </a:ln>
        </p:spPr>
        <p:txBody>
          <a:bodyPr/>
          <a:lstStyle/>
          <a:p>
            <a:pPr marL="342900" indent="-342900" algn="ctr"/>
            <a:r>
              <a:rPr lang="en-US" altLang="zh-CN" sz="2400" b="1" dirty="0">
                <a:solidFill>
                  <a:srgbClr val="FF3300"/>
                </a:solidFill>
                <a:latin typeface="Times New Roman" panose="02020603050405020304" pitchFamily="18" charset="0"/>
                <a:ea typeface="楷体_GB2312" pitchFamily="49" charset="-122"/>
              </a:rPr>
              <a:t>O(1)?</a:t>
            </a:r>
            <a:endParaRPr lang="en-US" altLang="zh-CN" sz="2400" b="1" dirty="0">
              <a:solidFill>
                <a:srgbClr val="FF3300"/>
              </a:solidFill>
              <a:latin typeface="Times New Roman" panose="02020603050405020304" pitchFamily="18" charset="0"/>
              <a:ea typeface="楷体_GB2312"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bldLvl="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ts val="4000"/>
              </a:lnSpc>
              <a:spcBef>
                <a:spcPts val="0"/>
              </a:spcBef>
              <a:spcAft>
                <a:spcPts val="0"/>
              </a:spcAft>
            </a:pPr>
            <a:r>
              <a:rPr lang="en-US" altLang="zh-CN" dirty="0" smtClean="0"/>
              <a:t>ASL</a:t>
            </a:r>
            <a:r>
              <a:rPr lang="zh-CN" altLang="en-US" dirty="0"/>
              <a:t>与装填因子</a:t>
            </a:r>
            <a:r>
              <a:rPr lang="en-US" altLang="zh-CN" dirty="0">
                <a:sym typeface="Symbol" panose="05050102010706020507" pitchFamily="18" charset="2"/>
              </a:rPr>
              <a:t></a:t>
            </a:r>
            <a:r>
              <a:rPr lang="zh-CN" altLang="en-US" dirty="0">
                <a:sym typeface="Symbol" panose="05050102010706020507" pitchFamily="18" charset="2"/>
              </a:rPr>
              <a:t>有关！既不是严格的</a:t>
            </a:r>
            <a:r>
              <a:rPr lang="en-US" altLang="zh-CN" dirty="0">
                <a:sym typeface="Symbol" panose="05050102010706020507" pitchFamily="18" charset="2"/>
              </a:rPr>
              <a:t>O(1)</a:t>
            </a:r>
            <a:r>
              <a:rPr lang="zh-CN" altLang="en-US" dirty="0">
                <a:sym typeface="Symbol" panose="05050102010706020507" pitchFamily="18" charset="2"/>
              </a:rPr>
              <a:t>，也不是</a:t>
            </a:r>
            <a:r>
              <a:rPr lang="en-US" altLang="zh-CN" dirty="0">
                <a:sym typeface="Symbol" panose="05050102010706020507" pitchFamily="18" charset="2"/>
              </a:rPr>
              <a:t>O(n</a:t>
            </a:r>
            <a:r>
              <a:rPr lang="en-US" altLang="zh-CN" dirty="0" smtClean="0">
                <a:sym typeface="Symbol" panose="05050102010706020507" pitchFamily="18" charset="2"/>
              </a:rPr>
              <a:t>)</a:t>
            </a:r>
            <a:endParaRPr lang="en-US" altLang="zh-CN" dirty="0" smtClean="0">
              <a:sym typeface="Symbol" panose="05050102010706020507" pitchFamily="18" charset="2"/>
            </a:endParaRPr>
          </a:p>
          <a:p>
            <a:pPr marL="478155" lvl="2" indent="-342900">
              <a:lnSpc>
                <a:spcPts val="4000"/>
              </a:lnSpc>
              <a:buFont typeface="Wingdings" panose="05000000000000000000" pitchFamily="2" charset="2"/>
              <a:buChar char="Ø"/>
            </a:pPr>
            <a:r>
              <a:rPr lang="zh-CN" altLang="en-US" sz="2000" dirty="0">
                <a:ea typeface="宋体" panose="02010600030101010101" pitchFamily="2" charset="-122"/>
              </a:rPr>
              <a:t>线性探测再散列的查找</a:t>
            </a:r>
            <a:r>
              <a:rPr lang="zh-CN" altLang="en-US" sz="2000" dirty="0" smtClean="0">
                <a:ea typeface="宋体" panose="02010600030101010101" pitchFamily="2" charset="-122"/>
              </a:rPr>
              <a:t>性能</a:t>
            </a:r>
            <a:endParaRPr lang="en-US" altLang="zh-CN" sz="2000" dirty="0" smtClean="0">
              <a:ea typeface="宋体" panose="02010600030101010101" pitchFamily="2" charset="-122"/>
            </a:endParaRPr>
          </a:p>
          <a:p>
            <a:pPr lvl="2">
              <a:lnSpc>
                <a:spcPts val="4000"/>
              </a:lnSpc>
            </a:pPr>
            <a:r>
              <a:rPr lang="zh-CN" altLang="en-US" sz="2000" dirty="0">
                <a:latin typeface="Times New Roman" panose="02020603050405020304" pitchFamily="18" charset="0"/>
                <a:ea typeface="宋体" panose="02010600030101010101" pitchFamily="2" charset="-122"/>
              </a:rPr>
              <a:t>查找成功时 </a:t>
            </a:r>
            <a:r>
              <a:rPr lang="zh-CN" altLang="en-US" sz="2000" dirty="0" smtClean="0">
                <a:latin typeface="Times New Roman" panose="02020603050405020304" pitchFamily="18" charset="0"/>
                <a:ea typeface="宋体" panose="02010600030101010101" pitchFamily="2" charset="-122"/>
              </a:rPr>
              <a:t>                                        查找</a:t>
            </a:r>
            <a:r>
              <a:rPr lang="zh-CN" altLang="en-US" sz="2000" dirty="0">
                <a:latin typeface="Times New Roman" panose="02020603050405020304" pitchFamily="18" charset="0"/>
                <a:ea typeface="宋体" panose="02010600030101010101" pitchFamily="2" charset="-122"/>
              </a:rPr>
              <a:t>失败时 </a:t>
            </a:r>
            <a:endParaRPr lang="zh-CN" altLang="en-US" sz="2000" dirty="0">
              <a:latin typeface="Times New Roman" panose="02020603050405020304" pitchFamily="18" charset="0"/>
              <a:ea typeface="宋体" panose="02010600030101010101" pitchFamily="2" charset="-122"/>
            </a:endParaRPr>
          </a:p>
          <a:p>
            <a:pPr marL="478155" lvl="2" indent="-342900">
              <a:lnSpc>
                <a:spcPts val="4000"/>
              </a:lnSpc>
              <a:buFont typeface="Wingdings" panose="05000000000000000000" pitchFamily="2" charset="2"/>
              <a:buChar char="Ø"/>
            </a:pPr>
            <a:r>
              <a:rPr lang="zh-CN" altLang="en-US" sz="2000" dirty="0">
                <a:latin typeface="Times New Roman" panose="02020603050405020304" pitchFamily="18" charset="0"/>
                <a:ea typeface="宋体" panose="02010600030101010101" pitchFamily="2" charset="-122"/>
              </a:rPr>
              <a:t>平方探测和双散列探测法的查找性能</a:t>
            </a:r>
            <a:endParaRPr lang="zh-CN" altLang="en-US" sz="2000" dirty="0">
              <a:latin typeface="Times New Roman" panose="02020603050405020304" pitchFamily="18" charset="0"/>
              <a:ea typeface="宋体" panose="02010600030101010101" pitchFamily="2" charset="-122"/>
            </a:endParaRPr>
          </a:p>
          <a:p>
            <a:pPr lvl="2">
              <a:lnSpc>
                <a:spcPts val="4000"/>
              </a:lnSpc>
            </a:pPr>
            <a:r>
              <a:rPr lang="zh-CN" altLang="en-US" sz="2000" dirty="0">
                <a:latin typeface="Times New Roman" panose="02020603050405020304" pitchFamily="18" charset="0"/>
                <a:ea typeface="宋体" panose="02010600030101010101" pitchFamily="2" charset="-122"/>
              </a:rPr>
              <a:t>查找成功时 </a:t>
            </a:r>
            <a:r>
              <a:rPr lang="zh-CN" altLang="en-US" sz="2000" dirty="0" smtClean="0">
                <a:latin typeface="Times New Roman" panose="02020603050405020304" pitchFamily="18" charset="0"/>
                <a:ea typeface="宋体" panose="02010600030101010101" pitchFamily="2" charset="-122"/>
              </a:rPr>
              <a:t>                                        查找</a:t>
            </a:r>
            <a:r>
              <a:rPr lang="zh-CN" altLang="en-US" sz="2000" dirty="0">
                <a:latin typeface="Times New Roman" panose="02020603050405020304" pitchFamily="18" charset="0"/>
                <a:ea typeface="宋体" panose="02010600030101010101" pitchFamily="2" charset="-122"/>
              </a:rPr>
              <a:t>失败</a:t>
            </a:r>
            <a:r>
              <a:rPr lang="zh-CN" altLang="en-US" sz="2000" dirty="0" smtClean="0">
                <a:latin typeface="Times New Roman" panose="02020603050405020304" pitchFamily="18" charset="0"/>
                <a:ea typeface="宋体" panose="02010600030101010101" pitchFamily="2" charset="-122"/>
              </a:rPr>
              <a:t>时</a:t>
            </a:r>
            <a:endParaRPr lang="en-US" altLang="zh-CN" sz="2000" dirty="0" smtClean="0">
              <a:latin typeface="Times New Roman" panose="02020603050405020304" pitchFamily="18" charset="0"/>
              <a:ea typeface="宋体" panose="02010600030101010101" pitchFamily="2" charset="-122"/>
            </a:endParaRPr>
          </a:p>
          <a:p>
            <a:pPr marL="478155" lvl="2" indent="-342900">
              <a:lnSpc>
                <a:spcPts val="4000"/>
              </a:lnSpc>
              <a:buFont typeface="Wingdings" panose="05000000000000000000" pitchFamily="2" charset="2"/>
              <a:buChar char="Ø"/>
            </a:pPr>
            <a:r>
              <a:rPr lang="zh-CN" altLang="en-US" sz="2000" dirty="0">
                <a:latin typeface="Times New Roman" panose="02020603050405020304" pitchFamily="18" charset="0"/>
                <a:ea typeface="宋体" panose="02010600030101010101" pitchFamily="2" charset="-122"/>
              </a:rPr>
              <a:t>链地址法</a:t>
            </a:r>
            <a:r>
              <a:rPr lang="zh-CN" altLang="en-US" sz="2000" dirty="0">
                <a:ea typeface="宋体" panose="02010600030101010101" pitchFamily="2" charset="-122"/>
              </a:rPr>
              <a:t>：所有地址链表的平均长度定义成</a:t>
            </a:r>
            <a:r>
              <a:rPr lang="en-US" altLang="zh-CN" sz="2000" dirty="0">
                <a:ea typeface="宋体" panose="02010600030101010101" pitchFamily="2" charset="-122"/>
              </a:rPr>
              <a:t>α</a:t>
            </a:r>
            <a:r>
              <a:rPr lang="zh-CN" altLang="en-US" sz="2000" dirty="0">
                <a:ea typeface="宋体" panose="02010600030101010101" pitchFamily="2" charset="-122"/>
              </a:rPr>
              <a:t>，</a:t>
            </a:r>
            <a:r>
              <a:rPr lang="en-US" altLang="zh-CN" sz="2000" dirty="0">
                <a:ea typeface="宋体" panose="02010600030101010101" pitchFamily="2" charset="-122"/>
              </a:rPr>
              <a:t>α</a:t>
            </a:r>
            <a:r>
              <a:rPr lang="zh-CN" altLang="en-US" sz="2000" dirty="0">
                <a:ea typeface="宋体" panose="02010600030101010101" pitchFamily="2" charset="-122"/>
              </a:rPr>
              <a:t>有可能超过</a:t>
            </a:r>
            <a:r>
              <a:rPr lang="en-US" altLang="zh-CN" sz="2000" dirty="0">
                <a:ea typeface="宋体" panose="02010600030101010101" pitchFamily="2" charset="-122"/>
              </a:rPr>
              <a:t>1</a:t>
            </a:r>
            <a:r>
              <a:rPr lang="zh-CN" altLang="en-US" sz="2000" dirty="0">
                <a:ea typeface="宋体" panose="02010600030101010101" pitchFamily="2" charset="-122"/>
              </a:rPr>
              <a:t>。 </a:t>
            </a:r>
            <a:endParaRPr lang="zh-CN" altLang="en-US" sz="2000" dirty="0">
              <a:ea typeface="宋体" panose="02010600030101010101" pitchFamily="2" charset="-122"/>
            </a:endParaRPr>
          </a:p>
          <a:p>
            <a:pPr lvl="2">
              <a:lnSpc>
                <a:spcPts val="4000"/>
              </a:lnSpc>
            </a:pPr>
            <a:r>
              <a:rPr lang="zh-CN" altLang="en-US" sz="2000" dirty="0">
                <a:latin typeface="Times New Roman" panose="02020603050405020304" pitchFamily="18" charset="0"/>
                <a:ea typeface="宋体" panose="02010600030101010101" pitchFamily="2" charset="-122"/>
              </a:rPr>
              <a:t>查找成功时                                         查找失败</a:t>
            </a:r>
            <a:r>
              <a:rPr lang="zh-CN" altLang="en-US" sz="2000" dirty="0" smtClean="0">
                <a:latin typeface="Times New Roman" panose="02020603050405020304" pitchFamily="18" charset="0"/>
                <a:ea typeface="宋体" panose="02010600030101010101" pitchFamily="2" charset="-122"/>
              </a:rPr>
              <a:t>时</a:t>
            </a:r>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graphicFrame>
        <p:nvGraphicFramePr>
          <p:cNvPr id="5" name="Object 5"/>
          <p:cNvGraphicFramePr>
            <a:graphicFrameLocks noChangeAspect="1"/>
          </p:cNvGraphicFramePr>
          <p:nvPr/>
        </p:nvGraphicFramePr>
        <p:xfrm>
          <a:off x="2211476" y="1527047"/>
          <a:ext cx="1885950" cy="704850"/>
        </p:xfrm>
        <a:graphic>
          <a:graphicData uri="http://schemas.openxmlformats.org/presentationml/2006/ole">
            <mc:AlternateContent xmlns:mc="http://schemas.openxmlformats.org/markup-compatibility/2006">
              <mc:Choice xmlns:v="urn:schemas-microsoft-com:vml" Requires="v">
                <p:oleObj spid="_x0000_s61486" name="Equation" r:id="rId1" imgW="1155700" imgH="431800" progId="Equation.3">
                  <p:embed/>
                </p:oleObj>
              </mc:Choice>
              <mc:Fallback>
                <p:oleObj name="Equation" r:id="rId1" imgW="1155700" imgH="4318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1476" y="1527047"/>
                        <a:ext cx="1885950" cy="704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 name="Object 6"/>
          <p:cNvGraphicFramePr>
            <a:graphicFrameLocks noChangeAspect="1"/>
          </p:cNvGraphicFramePr>
          <p:nvPr/>
        </p:nvGraphicFramePr>
        <p:xfrm>
          <a:off x="6119333" y="1544168"/>
          <a:ext cx="2176463" cy="787003"/>
        </p:xfrm>
        <a:graphic>
          <a:graphicData uri="http://schemas.openxmlformats.org/presentationml/2006/ole">
            <mc:AlternateContent xmlns:mc="http://schemas.openxmlformats.org/markup-compatibility/2006">
              <mc:Choice xmlns:v="urn:schemas-microsoft-com:vml" Requires="v">
                <p:oleObj spid="_x0000_s61487" name="Equation" r:id="rId3" imgW="1333500" imgH="482600" progId="Equation.3">
                  <p:embed/>
                </p:oleObj>
              </mc:Choice>
              <mc:Fallback>
                <p:oleObj name="Equation" r:id="rId3" imgW="1333500" imgH="4826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19333" y="1544168"/>
                        <a:ext cx="2176463" cy="7870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 name="Object 10"/>
          <p:cNvGraphicFramePr>
            <a:graphicFrameLocks noChangeAspect="1"/>
          </p:cNvGraphicFramePr>
          <p:nvPr/>
        </p:nvGraphicFramePr>
        <p:xfrm>
          <a:off x="2211476" y="2626533"/>
          <a:ext cx="1885950" cy="642938"/>
        </p:xfrm>
        <a:graphic>
          <a:graphicData uri="http://schemas.openxmlformats.org/presentationml/2006/ole">
            <mc:AlternateContent xmlns:mc="http://schemas.openxmlformats.org/markup-compatibility/2006">
              <mc:Choice xmlns:v="urn:schemas-microsoft-com:vml" Requires="v">
                <p:oleObj spid="_x0000_s61488" name="Equation" r:id="rId5" imgW="1155700" imgH="393700" progId="Equation.3">
                  <p:embed/>
                </p:oleObj>
              </mc:Choice>
              <mc:Fallback>
                <p:oleObj name="Equation" r:id="rId5" imgW="1155700" imgH="393700" progId="Equation.3">
                  <p:embed/>
                  <p:pic>
                    <p:nvPicPr>
                      <p:cNvPr id="0" name="Object 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11476" y="2626533"/>
                        <a:ext cx="1885950" cy="642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 name="Object 11"/>
          <p:cNvGraphicFramePr>
            <a:graphicFrameLocks noChangeAspect="1"/>
          </p:cNvGraphicFramePr>
          <p:nvPr/>
        </p:nvGraphicFramePr>
        <p:xfrm>
          <a:off x="6119333" y="2590219"/>
          <a:ext cx="1314450" cy="715565"/>
        </p:xfrm>
        <a:graphic>
          <a:graphicData uri="http://schemas.openxmlformats.org/presentationml/2006/ole">
            <mc:AlternateContent xmlns:mc="http://schemas.openxmlformats.org/markup-compatibility/2006">
              <mc:Choice xmlns:v="urn:schemas-microsoft-com:vml" Requires="v">
                <p:oleObj spid="_x0000_s61489" name="Equation" r:id="rId7" imgW="723900" imgH="393700" progId="Equation.3">
                  <p:embed/>
                </p:oleObj>
              </mc:Choice>
              <mc:Fallback>
                <p:oleObj name="Equation" r:id="rId7" imgW="723900" imgH="393700" progId="Equation.3">
                  <p:embed/>
                  <p:pic>
                    <p:nvPicPr>
                      <p:cNvPr id="0" name="Object 1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19333" y="2590219"/>
                        <a:ext cx="1314450" cy="7155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 name="Object 3"/>
          <p:cNvGraphicFramePr>
            <a:graphicFrameLocks noChangeAspect="1"/>
          </p:cNvGraphicFramePr>
          <p:nvPr/>
        </p:nvGraphicFramePr>
        <p:xfrm>
          <a:off x="2213812" y="3615537"/>
          <a:ext cx="1139429" cy="642938"/>
        </p:xfrm>
        <a:graphic>
          <a:graphicData uri="http://schemas.openxmlformats.org/presentationml/2006/ole">
            <mc:AlternateContent xmlns:mc="http://schemas.openxmlformats.org/markup-compatibility/2006">
              <mc:Choice xmlns:v="urn:schemas-microsoft-com:vml" Requires="v">
                <p:oleObj spid="_x0000_s61490" name="Equation" r:id="rId9" imgW="698500" imgH="393700" progId="Equation.3">
                  <p:embed/>
                </p:oleObj>
              </mc:Choice>
              <mc:Fallback>
                <p:oleObj name="Equation" r:id="rId9" imgW="698500" imgH="393700" progId="Equation.3">
                  <p:embed/>
                  <p:pic>
                    <p:nvPicPr>
                      <p:cNvPr id="0" name="Object 3"/>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213812" y="3615537"/>
                        <a:ext cx="1139429" cy="642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 name="Object 4"/>
          <p:cNvGraphicFramePr>
            <a:graphicFrameLocks noChangeAspect="1"/>
          </p:cNvGraphicFramePr>
          <p:nvPr/>
        </p:nvGraphicFramePr>
        <p:xfrm>
          <a:off x="6119333" y="3761740"/>
          <a:ext cx="1522810" cy="438150"/>
        </p:xfrm>
        <a:graphic>
          <a:graphicData uri="http://schemas.openxmlformats.org/presentationml/2006/ole">
            <mc:AlternateContent xmlns:mc="http://schemas.openxmlformats.org/markup-compatibility/2006">
              <mc:Choice xmlns:v="urn:schemas-microsoft-com:vml" Requires="v">
                <p:oleObj spid="_x0000_s61491" name="Equation" r:id="rId11" imgW="838200" imgH="241300" progId="Equation.3">
                  <p:embed/>
                </p:oleObj>
              </mc:Choice>
              <mc:Fallback>
                <p:oleObj name="Equation" r:id="rId11" imgW="838200" imgH="241300" progId="Equation.3">
                  <p:embed/>
                  <p:pic>
                    <p:nvPicPr>
                      <p:cNvPr id="0" name="Object 4"/>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119333" y="3761740"/>
                        <a:ext cx="1522810" cy="438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spcBef>
                <a:spcPct val="0"/>
              </a:spcBef>
            </a:pPr>
            <a:r>
              <a:rPr lang="zh-CN" altLang="en-US" sz="2000" dirty="0">
                <a:latin typeface="Times New Roman" panose="02020603050405020304" pitchFamily="18" charset="0"/>
                <a:ea typeface="宋体" panose="02010600030101010101" pitchFamily="2" charset="-122"/>
              </a:rPr>
              <a:t>期望探测次数与装填因子</a:t>
            </a:r>
            <a:r>
              <a:rPr lang="en-US" altLang="zh-CN" sz="2000" dirty="0">
                <a:latin typeface="Times New Roman" panose="02020603050405020304" pitchFamily="18" charset="0"/>
                <a:ea typeface="宋体" panose="02010600030101010101" pitchFamily="2" charset="-122"/>
              </a:rPr>
              <a:t>α</a:t>
            </a:r>
            <a:r>
              <a:rPr lang="zh-CN" altLang="en-US" sz="2000" dirty="0">
                <a:latin typeface="Times New Roman" panose="02020603050405020304" pitchFamily="18" charset="0"/>
                <a:ea typeface="宋体" panose="02010600030101010101" pitchFamily="2" charset="-122"/>
              </a:rPr>
              <a:t>的</a:t>
            </a:r>
            <a:r>
              <a:rPr lang="zh-CN" altLang="en-US" sz="2000" dirty="0" smtClean="0">
                <a:latin typeface="Times New Roman" panose="02020603050405020304" pitchFamily="18" charset="0"/>
                <a:ea typeface="宋体" panose="02010600030101010101" pitchFamily="2" charset="-122"/>
              </a:rPr>
              <a:t>关系</a:t>
            </a:r>
            <a:endParaRPr lang="en-US" altLang="zh-CN" sz="2000" dirty="0" smtClean="0">
              <a:latin typeface="Times New Roman" panose="02020603050405020304" pitchFamily="18" charset="0"/>
              <a:ea typeface="宋体" panose="02010600030101010101" pitchFamily="2" charset="-122"/>
            </a:endParaRPr>
          </a:p>
          <a:p>
            <a:pPr lvl="2">
              <a:spcBef>
                <a:spcPct val="0"/>
              </a:spcBef>
            </a:pPr>
            <a:endParaRPr lang="en-US" altLang="zh-CN" sz="2000" dirty="0">
              <a:latin typeface="Times New Roman" panose="02020603050405020304" pitchFamily="18" charset="0"/>
              <a:ea typeface="宋体" panose="02010600030101010101" pitchFamily="2" charset="-122"/>
            </a:endParaRPr>
          </a:p>
          <a:p>
            <a:pPr lvl="2">
              <a:spcBef>
                <a:spcPct val="0"/>
              </a:spcBef>
            </a:pPr>
            <a:endParaRPr lang="en-US" altLang="zh-CN" sz="2000" dirty="0" smtClean="0">
              <a:latin typeface="Times New Roman" panose="02020603050405020304" pitchFamily="18" charset="0"/>
              <a:ea typeface="宋体" panose="02010600030101010101" pitchFamily="2" charset="-122"/>
            </a:endParaRPr>
          </a:p>
          <a:p>
            <a:pPr lvl="2">
              <a:spcBef>
                <a:spcPct val="0"/>
              </a:spcBef>
            </a:pPr>
            <a:endParaRPr lang="en-US" altLang="zh-CN" sz="2000" dirty="0">
              <a:latin typeface="Times New Roman" panose="02020603050405020304" pitchFamily="18" charset="0"/>
              <a:ea typeface="宋体" panose="02010600030101010101" pitchFamily="2" charset="-122"/>
            </a:endParaRPr>
          </a:p>
          <a:p>
            <a:pPr lvl="2">
              <a:spcBef>
                <a:spcPct val="0"/>
              </a:spcBef>
            </a:pPr>
            <a:endParaRPr lang="en-US" altLang="zh-CN" sz="2000" dirty="0" smtClean="0">
              <a:latin typeface="Times New Roman" panose="02020603050405020304" pitchFamily="18" charset="0"/>
              <a:ea typeface="宋体" panose="02010600030101010101" pitchFamily="2" charset="-122"/>
            </a:endParaRPr>
          </a:p>
          <a:p>
            <a:pPr lvl="2">
              <a:spcBef>
                <a:spcPct val="0"/>
              </a:spcBef>
            </a:pPr>
            <a:endParaRPr lang="en-US" altLang="zh-CN" sz="2000" dirty="0">
              <a:latin typeface="Times New Roman" panose="02020603050405020304" pitchFamily="18" charset="0"/>
              <a:ea typeface="宋体" panose="02010600030101010101" pitchFamily="2" charset="-122"/>
            </a:endParaRPr>
          </a:p>
          <a:p>
            <a:pPr lvl="2">
              <a:spcBef>
                <a:spcPct val="0"/>
              </a:spcBef>
            </a:pPr>
            <a:endParaRPr lang="en-US" altLang="zh-CN" sz="2000" dirty="0" smtClean="0">
              <a:latin typeface="Times New Roman" panose="02020603050405020304" pitchFamily="18" charset="0"/>
              <a:ea typeface="宋体" panose="02010600030101010101" pitchFamily="2" charset="-122"/>
            </a:endParaRPr>
          </a:p>
          <a:p>
            <a:pPr lvl="2">
              <a:spcBef>
                <a:spcPct val="0"/>
              </a:spcBef>
            </a:pPr>
            <a:endParaRPr lang="en-US" altLang="zh-CN" sz="2000" dirty="0">
              <a:latin typeface="Times New Roman" panose="02020603050405020304" pitchFamily="18" charset="0"/>
              <a:ea typeface="宋体" panose="02010600030101010101" pitchFamily="2" charset="-122"/>
            </a:endParaRPr>
          </a:p>
          <a:p>
            <a:pPr lvl="2">
              <a:lnSpc>
                <a:spcPts val="2800"/>
              </a:lnSpc>
              <a:spcBef>
                <a:spcPct val="0"/>
              </a:spcBef>
            </a:pPr>
            <a:r>
              <a:rPr lang="zh-CN" altLang="en-US" sz="1600" dirty="0">
                <a:ea typeface="宋体" panose="02010600030101010101" pitchFamily="2" charset="-122"/>
              </a:rPr>
              <a:t>线性探测法（虚线）、平方探测法（实线） </a:t>
            </a:r>
            <a:endParaRPr lang="zh-CN" altLang="en-US" sz="1600" dirty="0">
              <a:ea typeface="宋体" panose="02010600030101010101" pitchFamily="2" charset="-122"/>
            </a:endParaRPr>
          </a:p>
          <a:p>
            <a:pPr lvl="2">
              <a:lnSpc>
                <a:spcPts val="2800"/>
              </a:lnSpc>
              <a:spcBef>
                <a:spcPct val="0"/>
              </a:spcBef>
            </a:pPr>
            <a:r>
              <a:rPr lang="en-US" altLang="zh-CN" sz="1600" dirty="0">
                <a:ea typeface="宋体" panose="02010600030101010101" pitchFamily="2" charset="-122"/>
              </a:rPr>
              <a:t>U</a:t>
            </a:r>
            <a:r>
              <a:rPr lang="zh-CN" altLang="en-US" sz="1600" dirty="0">
                <a:ea typeface="宋体" panose="02010600030101010101" pitchFamily="2" charset="-122"/>
              </a:rPr>
              <a:t>表示不成功查找，</a:t>
            </a:r>
            <a:r>
              <a:rPr lang="en-US" altLang="zh-CN" sz="1600" dirty="0">
                <a:ea typeface="宋体" panose="02010600030101010101" pitchFamily="2" charset="-122"/>
              </a:rPr>
              <a:t>I</a:t>
            </a:r>
            <a:r>
              <a:rPr lang="zh-CN" altLang="en-US" sz="1600" dirty="0">
                <a:ea typeface="宋体" panose="02010600030101010101" pitchFamily="2" charset="-122"/>
              </a:rPr>
              <a:t>表示插入，</a:t>
            </a:r>
            <a:r>
              <a:rPr lang="en-US" altLang="zh-CN" sz="1600" dirty="0">
                <a:ea typeface="宋体" panose="02010600030101010101" pitchFamily="2" charset="-122"/>
              </a:rPr>
              <a:t>S</a:t>
            </a:r>
            <a:r>
              <a:rPr lang="zh-CN" altLang="en-US" sz="1600" dirty="0">
                <a:ea typeface="宋体" panose="02010600030101010101" pitchFamily="2" charset="-122"/>
              </a:rPr>
              <a:t>表示成功</a:t>
            </a:r>
            <a:r>
              <a:rPr lang="zh-CN" altLang="en-US" sz="1600" dirty="0" smtClean="0">
                <a:ea typeface="宋体" panose="02010600030101010101" pitchFamily="2" charset="-122"/>
              </a:rPr>
              <a:t>查找</a:t>
            </a:r>
            <a:r>
              <a:rPr lang="zh-CN" altLang="en-US" sz="1800" dirty="0" smtClean="0">
                <a:latin typeface="Times New Roman" panose="02020603050405020304" pitchFamily="18" charset="0"/>
                <a:ea typeface="宋体" panose="02010600030101010101" pitchFamily="2" charset="-122"/>
              </a:rPr>
              <a:t> </a:t>
            </a:r>
            <a:endParaRPr lang="zh-CN" altLang="en-US" sz="1800" dirty="0">
              <a:latin typeface="Times New Roman" panose="02020603050405020304" pitchFamily="18" charset="0"/>
              <a:ea typeface="宋体" panose="02010600030101010101" pitchFamily="2" charset="-122"/>
            </a:endParaRPr>
          </a:p>
          <a:p>
            <a:pPr marL="478155" lvl="2" indent="-342900">
              <a:spcBef>
                <a:spcPct val="0"/>
              </a:spcBef>
              <a:buFont typeface="Wingdings" panose="05000000000000000000" pitchFamily="2" charset="2"/>
              <a:buChar char="Ø"/>
            </a:pPr>
            <a:endParaRPr lang="zh-CN" altLang="en-US" sz="2000" dirty="0">
              <a:latin typeface="Times New Roman" panose="02020603050405020304" pitchFamily="18" charset="0"/>
              <a:ea typeface="宋体" panose="02010600030101010101" pitchFamily="2" charset="-122"/>
            </a:endParaRPr>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pic>
        <p:nvPicPr>
          <p:cNvPr id="11"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669456" y="1204091"/>
            <a:ext cx="5730479" cy="28598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椭圆形标注 11"/>
          <p:cNvSpPr/>
          <p:nvPr/>
        </p:nvSpPr>
        <p:spPr bwMode="auto">
          <a:xfrm>
            <a:off x="1243213" y="769513"/>
            <a:ext cx="3942160" cy="1403747"/>
          </a:xfrm>
          <a:prstGeom prst="wedgeEllipseCallout">
            <a:avLst>
              <a:gd name="adj1" fmla="val 27719"/>
              <a:gd name="adj2" fmla="val 131042"/>
            </a:avLst>
          </a:prstGeom>
          <a:solidFill>
            <a:schemeClr val="bg2">
              <a:lumMod val="40000"/>
              <a:lumOff val="60000"/>
            </a:schemeClr>
          </a:solidFill>
          <a:ln w="28575" cap="flat" cmpd="sng" algn="ctr">
            <a:solidFill>
              <a:srgbClr val="0070C0"/>
            </a:solidFill>
            <a:prstDash val="solid"/>
            <a:round/>
            <a:headEnd type="none" w="med" len="med"/>
            <a:tailEnd type="none" w="med" len="med"/>
          </a:ln>
          <a:effectLst/>
        </p:spPr>
        <p:txBody>
          <a:bodyPr/>
          <a:lstStyle/>
          <a:p>
            <a:pPr eaLnBrk="1" hangingPunct="1">
              <a:defRPr/>
            </a:pPr>
            <a:r>
              <a:rPr lang="zh-CN" altLang="en-US" sz="1800" dirty="0">
                <a:ea typeface="宋体" panose="02010600030101010101" pitchFamily="2" charset="-122"/>
              </a:rPr>
              <a:t>当装填因子</a:t>
            </a:r>
            <a:r>
              <a:rPr lang="en-US" altLang="zh-CN" sz="1800" b="1" dirty="0">
                <a:ea typeface="宋体" panose="02010600030101010101" pitchFamily="2" charset="-122"/>
              </a:rPr>
              <a:t>α&lt; 0.5</a:t>
            </a:r>
            <a:r>
              <a:rPr lang="zh-CN" altLang="en-US" sz="1800" b="1" dirty="0">
                <a:ea typeface="宋体" panose="02010600030101010101" pitchFamily="2" charset="-122"/>
              </a:rPr>
              <a:t>的时候，各种探测法的期望探测次数都不大，也比较接近</a:t>
            </a:r>
            <a:endParaRPr lang="zh-CN" altLang="en-US" sz="1800" dirty="0"/>
          </a:p>
        </p:txBody>
      </p:sp>
      <p:sp>
        <p:nvSpPr>
          <p:cNvPr id="13" name="椭圆形标注 12"/>
          <p:cNvSpPr/>
          <p:nvPr/>
        </p:nvSpPr>
        <p:spPr bwMode="auto">
          <a:xfrm>
            <a:off x="1620641" y="228969"/>
            <a:ext cx="4644628" cy="1997869"/>
          </a:xfrm>
          <a:prstGeom prst="wedgeEllipseCallout">
            <a:avLst>
              <a:gd name="adj1" fmla="val 56477"/>
              <a:gd name="adj2" fmla="val 81517"/>
            </a:avLst>
          </a:prstGeom>
          <a:solidFill>
            <a:schemeClr val="bg2">
              <a:lumMod val="20000"/>
              <a:lumOff val="80000"/>
            </a:schemeClr>
          </a:solidFill>
          <a:ln w="9525" cap="flat" cmpd="sng" algn="ctr">
            <a:solidFill>
              <a:schemeClr val="tx1"/>
            </a:solidFill>
            <a:prstDash val="solid"/>
            <a:round/>
            <a:headEnd type="none" w="med" len="med"/>
            <a:tailEnd type="none" w="med" len="med"/>
          </a:ln>
          <a:effectLst/>
        </p:spPr>
        <p:txBody>
          <a:bodyPr/>
          <a:lstStyle/>
          <a:p>
            <a:pPr eaLnBrk="1" hangingPunct="1">
              <a:defRPr/>
            </a:pPr>
            <a:r>
              <a:rPr lang="zh-CN" altLang="en-US" sz="1600" dirty="0">
                <a:ea typeface="宋体" panose="02010600030101010101" pitchFamily="2" charset="-122"/>
              </a:rPr>
              <a:t>随着 </a:t>
            </a:r>
            <a:r>
              <a:rPr lang="en-US" altLang="zh-CN" sz="1600" b="1" dirty="0">
                <a:ea typeface="宋体" panose="02010600030101010101" pitchFamily="2" charset="-122"/>
              </a:rPr>
              <a:t>α </a:t>
            </a:r>
            <a:r>
              <a:rPr lang="zh-CN" altLang="en-US" sz="1600" b="1" dirty="0">
                <a:ea typeface="宋体" panose="02010600030101010101" pitchFamily="2" charset="-122"/>
              </a:rPr>
              <a:t>的增大，线性探测法的期望探测次数增加较快，不成功查找和插入操作的期望探测次数比成功查找的期望探测次数要大。 </a:t>
            </a:r>
            <a:endParaRPr lang="zh-CN" altLang="en-US" sz="1600" dirty="0"/>
          </a:p>
        </p:txBody>
      </p:sp>
      <p:sp>
        <p:nvSpPr>
          <p:cNvPr id="14" name="椭圆形标注 13"/>
          <p:cNvSpPr/>
          <p:nvPr/>
        </p:nvSpPr>
        <p:spPr bwMode="auto">
          <a:xfrm>
            <a:off x="3187504" y="390894"/>
            <a:ext cx="3563540" cy="702469"/>
          </a:xfrm>
          <a:prstGeom prst="wedgeEllipseCallout">
            <a:avLst>
              <a:gd name="adj1" fmla="val 36567"/>
              <a:gd name="adj2" fmla="val 298255"/>
            </a:avLst>
          </a:prstGeom>
          <a:solidFill>
            <a:schemeClr val="bg2">
              <a:lumMod val="20000"/>
              <a:lumOff val="80000"/>
            </a:schemeClr>
          </a:solidFill>
          <a:ln w="9525" cap="flat" cmpd="sng" algn="ctr">
            <a:solidFill>
              <a:schemeClr val="tx1"/>
            </a:solidFill>
            <a:prstDash val="solid"/>
            <a:round/>
            <a:headEnd type="none" w="med" len="med"/>
            <a:tailEnd type="none" w="med" len="med"/>
          </a:ln>
          <a:effectLst/>
        </p:spPr>
        <p:txBody>
          <a:bodyPr/>
          <a:lstStyle/>
          <a:p>
            <a:pPr eaLnBrk="1" hangingPunct="1">
              <a:defRPr/>
            </a:pPr>
            <a:r>
              <a:rPr lang="zh-CN" altLang="en-US" sz="1600" dirty="0">
                <a:ea typeface="宋体" panose="02010600030101010101" pitchFamily="2" charset="-122"/>
              </a:rPr>
              <a:t>合理的的最大装入因子</a:t>
            </a:r>
            <a:r>
              <a:rPr lang="en-US" altLang="zh-CN" sz="1600" b="1" dirty="0">
                <a:solidFill>
                  <a:schemeClr val="accent2"/>
                </a:solidFill>
                <a:ea typeface="宋体" panose="02010600030101010101" pitchFamily="2" charset="-122"/>
              </a:rPr>
              <a:t>α</a:t>
            </a:r>
            <a:r>
              <a:rPr lang="zh-CN" altLang="en-US" sz="1600" b="1" dirty="0">
                <a:solidFill>
                  <a:schemeClr val="accent2"/>
                </a:solidFill>
                <a:ea typeface="宋体" panose="02010600030101010101" pitchFamily="2" charset="-122"/>
              </a:rPr>
              <a:t>应该不超过</a:t>
            </a:r>
            <a:r>
              <a:rPr lang="en-US" altLang="zh-CN" sz="1600" b="1" dirty="0">
                <a:solidFill>
                  <a:schemeClr val="accent2"/>
                </a:solidFill>
                <a:ea typeface="宋体" panose="02010600030101010101" pitchFamily="2" charset="-122"/>
              </a:rPr>
              <a:t>0.85</a:t>
            </a:r>
            <a:r>
              <a:rPr lang="zh-CN" altLang="en-US" sz="1600" b="1" dirty="0">
                <a:solidFill>
                  <a:schemeClr val="accent2"/>
                </a:solidFill>
                <a:ea typeface="宋体" panose="02010600030101010101" pitchFamily="2" charset="-122"/>
              </a:rPr>
              <a:t>。 </a:t>
            </a:r>
            <a:endParaRPr lang="zh-CN" altLang="en-US" sz="1600" dirty="0">
              <a:solidFill>
                <a:schemeClr val="accent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grpId="1" nodeType="clickEffect">
                                  <p:stCondLst>
                                    <p:cond delay="0"/>
                                  </p:stCondLst>
                                  <p:childTnLst>
                                    <p:animEffect transition="out" filter="dissolve">
                                      <p:cBhvr>
                                        <p:cTn id="11" dur="500"/>
                                        <p:tgtEl>
                                          <p:spTgt spid="12"/>
                                        </p:tgtEl>
                                      </p:cBhvr>
                                    </p:animEffect>
                                    <p:set>
                                      <p:cBhvr>
                                        <p:cTn id="12" dur="1" fill="hold">
                                          <p:stCondLst>
                                            <p:cond delay="499"/>
                                          </p:stCondLst>
                                        </p:cTn>
                                        <p:tgtEl>
                                          <p:spTgt spid="12"/>
                                        </p:tgtEl>
                                        <p:attrNameLst>
                                          <p:attrName>style.visibility</p:attrName>
                                        </p:attrNameLst>
                                      </p:cBhvr>
                                      <p:to>
                                        <p:strVal val="hidden"/>
                                      </p:to>
                                    </p:set>
                                  </p:childTnLst>
                                </p:cTn>
                              </p:par>
                            </p:childTnLst>
                          </p:cTn>
                        </p:par>
                        <p:par>
                          <p:cTn id="13" fill="hold">
                            <p:stCondLst>
                              <p:cond delay="500"/>
                            </p:stCondLst>
                            <p:childTnLst>
                              <p:par>
                                <p:cTn id="14" presetID="9" presetClass="entr" presetSubtype="0" fill="hold" grpId="0" nodeType="after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xit" presetSubtype="0" fill="hold" grpId="1" nodeType="clickEffect">
                                  <p:stCondLst>
                                    <p:cond delay="0"/>
                                  </p:stCondLst>
                                  <p:childTnLst>
                                    <p:animEffect transition="out" filter="dissolve">
                                      <p:cBhvr>
                                        <p:cTn id="20" dur="500"/>
                                        <p:tgtEl>
                                          <p:spTgt spid="13"/>
                                        </p:tgtEl>
                                      </p:cBhvr>
                                    </p:animEffect>
                                    <p:set>
                                      <p:cBhvr>
                                        <p:cTn id="21" dur="1" fill="hold">
                                          <p:stCondLst>
                                            <p:cond delay="499"/>
                                          </p:stCondLst>
                                        </p:cTn>
                                        <p:tgtEl>
                                          <p:spTgt spid="13"/>
                                        </p:tgtEl>
                                        <p:attrNameLst>
                                          <p:attrName>style.visibility</p:attrName>
                                        </p:attrNameLst>
                                      </p:cBhvr>
                                      <p:to>
                                        <p:strVal val="hidden"/>
                                      </p:to>
                                    </p:set>
                                  </p:childTnLst>
                                </p:cTn>
                              </p:par>
                            </p:childTnLst>
                          </p:cTn>
                        </p:par>
                        <p:par>
                          <p:cTn id="22" fill="hold">
                            <p:stCondLst>
                              <p:cond delay="500"/>
                            </p:stCondLst>
                            <p:childTnLst>
                              <p:par>
                                <p:cTn id="23" presetID="9" presetClass="entr" presetSubtype="0" fill="hold" grpId="0"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dissolve">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42900" lvl="2" indent="-342900">
              <a:buFont typeface="Wingdings" panose="05000000000000000000" pitchFamily="2" charset="2"/>
              <a:buChar char="Ø"/>
            </a:pPr>
            <a:r>
              <a:rPr lang="zh-CN" altLang="en-US" dirty="0" smtClean="0"/>
              <a:t>开放</a:t>
            </a:r>
            <a:r>
              <a:rPr lang="zh-CN" altLang="en-US" dirty="0"/>
              <a:t>地址法： </a:t>
            </a:r>
            <a:endParaRPr lang="zh-CN" altLang="en-US" dirty="0"/>
          </a:p>
          <a:p>
            <a:pPr marL="0" lvl="2" fontAlgn="base">
              <a:spcAft>
                <a:spcPct val="0"/>
              </a:spcAft>
            </a:pPr>
            <a:r>
              <a:rPr lang="zh-CN" altLang="en-US" dirty="0" smtClean="0"/>
              <a:t>（</a:t>
            </a:r>
            <a:r>
              <a:rPr lang="en-US" altLang="zh-CN" dirty="0" smtClean="0"/>
              <a:t>1</a:t>
            </a:r>
            <a:r>
              <a:rPr lang="zh-CN" altLang="en-US" dirty="0" smtClean="0"/>
              <a:t>）散</a:t>
            </a:r>
            <a:r>
              <a:rPr lang="zh-CN" altLang="en-US" dirty="0"/>
              <a:t>列表是一个数组，存储效率高，随机查找。 </a:t>
            </a:r>
            <a:endParaRPr lang="zh-CN" altLang="en-US" dirty="0"/>
          </a:p>
          <a:p>
            <a:pPr marL="0" lvl="2" fontAlgn="base">
              <a:spcAft>
                <a:spcPct val="0"/>
              </a:spcAft>
            </a:pPr>
            <a:r>
              <a:rPr lang="zh-CN" altLang="en-US" dirty="0" smtClean="0"/>
              <a:t>（</a:t>
            </a:r>
            <a:r>
              <a:rPr lang="en-US" altLang="zh-CN" dirty="0" smtClean="0"/>
              <a:t>2</a:t>
            </a:r>
            <a:r>
              <a:rPr lang="zh-CN" altLang="en-US" dirty="0" smtClean="0"/>
              <a:t>）散</a:t>
            </a:r>
            <a:r>
              <a:rPr lang="zh-CN" altLang="en-US" dirty="0"/>
              <a:t>列表有“聚集”现象 </a:t>
            </a:r>
            <a:endParaRPr lang="zh-CN" altLang="en-US" dirty="0"/>
          </a:p>
          <a:p>
            <a:pPr marL="342900" lvl="2" indent="-342900">
              <a:buFont typeface="Wingdings" panose="05000000000000000000" pitchFamily="2" charset="2"/>
              <a:buChar char="Ø"/>
            </a:pPr>
            <a:r>
              <a:rPr lang="zh-CN" altLang="en-US" dirty="0"/>
              <a:t> 链地址法：</a:t>
            </a:r>
            <a:endParaRPr lang="zh-CN" altLang="en-US" dirty="0"/>
          </a:p>
          <a:p>
            <a:pPr marL="0" lvl="2" fontAlgn="base">
              <a:spcAft>
                <a:spcPct val="0"/>
              </a:spcAft>
            </a:pPr>
            <a:r>
              <a:rPr lang="zh-CN" altLang="en-US" dirty="0" smtClean="0"/>
              <a:t>（</a:t>
            </a:r>
            <a:r>
              <a:rPr lang="en-US" altLang="zh-CN" dirty="0" smtClean="0"/>
              <a:t>1</a:t>
            </a:r>
            <a:r>
              <a:rPr lang="zh-CN" altLang="en-US" dirty="0" smtClean="0"/>
              <a:t>）散</a:t>
            </a:r>
            <a:r>
              <a:rPr lang="zh-CN" altLang="en-US" dirty="0"/>
              <a:t>列表是顺序存储和链式存储的结合，链表部分的存储效率和查找效率都比较低。</a:t>
            </a:r>
            <a:endParaRPr lang="zh-CN" altLang="en-US" dirty="0"/>
          </a:p>
          <a:p>
            <a:pPr marL="0" lvl="2" fontAlgn="base">
              <a:spcAft>
                <a:spcPct val="0"/>
              </a:spcAft>
            </a:pPr>
            <a:r>
              <a:rPr lang="zh-CN" altLang="en-US" dirty="0" smtClean="0"/>
              <a:t>（</a:t>
            </a:r>
            <a:r>
              <a:rPr lang="en-US" altLang="zh-CN" dirty="0" smtClean="0"/>
              <a:t>2</a:t>
            </a:r>
            <a:r>
              <a:rPr lang="zh-CN" altLang="en-US" dirty="0" smtClean="0"/>
              <a:t>）关键字</a:t>
            </a:r>
            <a:r>
              <a:rPr lang="zh-CN" altLang="en-US" dirty="0"/>
              <a:t>删除不需要“懒惰删除”法，从而没有存储“垃圾”。 </a:t>
            </a:r>
            <a:endParaRPr lang="zh-CN" altLang="en-US" dirty="0"/>
          </a:p>
          <a:p>
            <a:pPr marL="0" lvl="2" fontAlgn="base">
              <a:spcAft>
                <a:spcPct val="0"/>
              </a:spcAft>
            </a:pPr>
            <a:r>
              <a:rPr lang="zh-CN" altLang="en-US" dirty="0" smtClean="0"/>
              <a:t>（</a:t>
            </a:r>
            <a:r>
              <a:rPr lang="en-US" altLang="zh-CN" dirty="0" smtClean="0"/>
              <a:t>3</a:t>
            </a:r>
            <a:r>
              <a:rPr lang="zh-CN" altLang="en-US" dirty="0" smtClean="0"/>
              <a:t>）太</a:t>
            </a:r>
            <a:r>
              <a:rPr lang="zh-CN" altLang="en-US" dirty="0"/>
              <a:t>小的</a:t>
            </a:r>
            <a:r>
              <a:rPr lang="en-US" altLang="zh-CN" dirty="0"/>
              <a:t>α</a:t>
            </a:r>
            <a:r>
              <a:rPr lang="zh-CN" altLang="en-US" dirty="0"/>
              <a:t>可能导致空间浪费，大的</a:t>
            </a:r>
            <a:r>
              <a:rPr lang="en-US" altLang="zh-CN" dirty="0"/>
              <a:t>α</a:t>
            </a:r>
            <a:r>
              <a:rPr lang="zh-CN" altLang="en-US" dirty="0"/>
              <a:t>又将付出更多的时间代价。不均匀的链表长度导致时间效率的严重下降。</a:t>
            </a:r>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smtClean="0"/>
              <a:t>总结：</a:t>
            </a:r>
            <a:endParaRPr lang="en-US" altLang="zh-CN" dirty="0" smtClean="0"/>
          </a:p>
          <a:p>
            <a:pPr marL="478155" lvl="2" indent="-342900">
              <a:lnSpc>
                <a:spcPct val="130000"/>
              </a:lnSpc>
              <a:spcBef>
                <a:spcPct val="0"/>
              </a:spcBef>
              <a:buFont typeface="Wingdings" panose="05000000000000000000" pitchFamily="2" charset="2"/>
              <a:buChar char="Ø"/>
            </a:pPr>
            <a:r>
              <a:rPr lang="zh-CN" altLang="en-US" sz="2200" dirty="0" smtClean="0">
                <a:ea typeface="宋体" panose="02010600030101010101" pitchFamily="2" charset="-122"/>
              </a:rPr>
              <a:t>选择</a:t>
            </a:r>
            <a:r>
              <a:rPr lang="zh-CN" altLang="en-US" sz="2200" dirty="0">
                <a:ea typeface="宋体" panose="02010600030101010101" pitchFamily="2" charset="-122"/>
              </a:rPr>
              <a:t>合适</a:t>
            </a:r>
            <a:r>
              <a:rPr lang="zh-CN" altLang="en-US" sz="2200" dirty="0" smtClean="0">
                <a:ea typeface="宋体" panose="02010600030101010101" pitchFamily="2" charset="-122"/>
              </a:rPr>
              <a:t>的</a:t>
            </a:r>
            <a:r>
              <a:rPr lang="en-US" altLang="zh-CN" sz="2200" dirty="0" smtClean="0">
                <a:solidFill>
                  <a:srgbClr val="FF0000"/>
                </a:solidFill>
                <a:ea typeface="宋体" panose="02010600030101010101" pitchFamily="2" charset="-122"/>
              </a:rPr>
              <a:t>h(key)</a:t>
            </a:r>
            <a:r>
              <a:rPr lang="zh-CN" altLang="en-US" sz="2200" dirty="0" smtClean="0">
                <a:ea typeface="宋体" panose="02010600030101010101" pitchFamily="2" charset="-122"/>
              </a:rPr>
              <a:t>，</a:t>
            </a:r>
            <a:r>
              <a:rPr lang="zh-CN" altLang="en-US" sz="2200" dirty="0">
                <a:ea typeface="宋体" panose="02010600030101010101" pitchFamily="2" charset="-122"/>
              </a:rPr>
              <a:t>散列法的查找效率期望是常数</a:t>
            </a:r>
            <a:r>
              <a:rPr lang="en-US" altLang="zh-CN" sz="2200" dirty="0">
                <a:solidFill>
                  <a:srgbClr val="FF0000"/>
                </a:solidFill>
                <a:ea typeface="宋体" panose="02010600030101010101" pitchFamily="2" charset="-122"/>
              </a:rPr>
              <a:t>O(1)</a:t>
            </a:r>
            <a:r>
              <a:rPr lang="zh-CN" altLang="en-US" sz="2200" dirty="0">
                <a:ea typeface="宋体" panose="02010600030101010101" pitchFamily="2" charset="-122"/>
              </a:rPr>
              <a:t>，它几乎与关键字的空间的大小</a:t>
            </a:r>
            <a:r>
              <a:rPr lang="en-US" altLang="zh-CN" sz="2200" dirty="0">
                <a:ea typeface="宋体" panose="02010600030101010101" pitchFamily="2" charset="-122"/>
              </a:rPr>
              <a:t>n</a:t>
            </a:r>
            <a:r>
              <a:rPr lang="zh-CN" altLang="en-US" sz="2200" dirty="0">
                <a:ea typeface="宋体" panose="02010600030101010101" pitchFamily="2" charset="-122"/>
              </a:rPr>
              <a:t>无关！也适合于关键字直接比较计算量大的</a:t>
            </a:r>
            <a:r>
              <a:rPr lang="zh-CN" altLang="en-US" sz="2200" dirty="0" smtClean="0">
                <a:ea typeface="宋体" panose="02010600030101010101" pitchFamily="2" charset="-122"/>
              </a:rPr>
              <a:t>问题。</a:t>
            </a:r>
            <a:endParaRPr lang="en-US" altLang="zh-CN" sz="2200" dirty="0" smtClean="0">
              <a:ea typeface="宋体" panose="02010600030101010101" pitchFamily="2" charset="-122"/>
            </a:endParaRPr>
          </a:p>
          <a:p>
            <a:pPr marL="478155" lvl="2" indent="-342900">
              <a:lnSpc>
                <a:spcPct val="130000"/>
              </a:lnSpc>
              <a:spcBef>
                <a:spcPct val="0"/>
              </a:spcBef>
              <a:buFont typeface="Wingdings" panose="05000000000000000000" pitchFamily="2" charset="2"/>
              <a:buChar char="Ø"/>
            </a:pPr>
            <a:r>
              <a:rPr lang="zh-CN" altLang="en-US" sz="2200" dirty="0" smtClean="0">
                <a:ea typeface="宋体" panose="02010600030101010101" pitchFamily="2" charset="-122"/>
              </a:rPr>
              <a:t>它</a:t>
            </a:r>
            <a:r>
              <a:rPr lang="zh-CN" altLang="en-US" sz="2200" dirty="0">
                <a:ea typeface="宋体" panose="02010600030101010101" pitchFamily="2" charset="-122"/>
              </a:rPr>
              <a:t>是以</a:t>
            </a:r>
            <a:r>
              <a:rPr lang="zh-CN" altLang="en-US" sz="2200" dirty="0">
                <a:solidFill>
                  <a:srgbClr val="FF0000"/>
                </a:solidFill>
                <a:ea typeface="宋体" panose="02010600030101010101" pitchFamily="2" charset="-122"/>
              </a:rPr>
              <a:t>较小的</a:t>
            </a:r>
            <a:r>
              <a:rPr lang="en-US" altLang="zh-CN" sz="2200" dirty="0">
                <a:solidFill>
                  <a:srgbClr val="FF0000"/>
                </a:solidFill>
                <a:ea typeface="宋体" panose="02010600030101010101" pitchFamily="2" charset="-122"/>
              </a:rPr>
              <a:t>α</a:t>
            </a:r>
            <a:r>
              <a:rPr lang="zh-CN" altLang="en-US" sz="2200" dirty="0">
                <a:ea typeface="宋体" panose="02010600030101010101" pitchFamily="2" charset="-122"/>
              </a:rPr>
              <a:t>为前提。因此，散列方法是</a:t>
            </a:r>
            <a:r>
              <a:rPr lang="zh-CN" altLang="en-US" sz="2200" dirty="0">
                <a:solidFill>
                  <a:srgbClr val="FF0000"/>
                </a:solidFill>
                <a:ea typeface="宋体" panose="02010600030101010101" pitchFamily="2" charset="-122"/>
              </a:rPr>
              <a:t>以空间换时间 </a:t>
            </a:r>
            <a:r>
              <a:rPr lang="zh-CN" altLang="en-US" sz="2200" dirty="0" smtClean="0">
                <a:solidFill>
                  <a:srgbClr val="FF0000"/>
                </a:solidFill>
                <a:ea typeface="宋体" panose="02010600030101010101" pitchFamily="2" charset="-122"/>
              </a:rPr>
              <a:t>。</a:t>
            </a:r>
            <a:endParaRPr lang="en-US" altLang="zh-CN" sz="2200" dirty="0" smtClean="0">
              <a:solidFill>
                <a:srgbClr val="FF0000"/>
              </a:solidFill>
              <a:ea typeface="宋体" panose="02010600030101010101" pitchFamily="2" charset="-122"/>
            </a:endParaRPr>
          </a:p>
          <a:p>
            <a:pPr marL="478155" lvl="2" indent="-342900">
              <a:lnSpc>
                <a:spcPct val="130000"/>
              </a:lnSpc>
              <a:spcBef>
                <a:spcPct val="0"/>
              </a:spcBef>
              <a:buFont typeface="Wingdings" panose="05000000000000000000" pitchFamily="2" charset="2"/>
              <a:buChar char="Ø"/>
            </a:pPr>
            <a:r>
              <a:rPr lang="zh-CN" altLang="en-US" sz="2200" dirty="0" smtClean="0">
                <a:ea typeface="宋体" panose="02010600030101010101" pitchFamily="2" charset="-122"/>
              </a:rPr>
              <a:t>散</a:t>
            </a:r>
            <a:r>
              <a:rPr lang="zh-CN" altLang="en-US" sz="2200" dirty="0">
                <a:ea typeface="宋体" panose="02010600030101010101" pitchFamily="2" charset="-122"/>
              </a:rPr>
              <a:t>列方法的存储对关键字是</a:t>
            </a:r>
            <a:r>
              <a:rPr lang="zh-CN" altLang="en-US" sz="2200" dirty="0">
                <a:solidFill>
                  <a:srgbClr val="FF0000"/>
                </a:solidFill>
                <a:ea typeface="宋体" panose="02010600030101010101" pitchFamily="2" charset="-122"/>
              </a:rPr>
              <a:t>随机</a:t>
            </a:r>
            <a:r>
              <a:rPr lang="zh-CN" altLang="en-US" sz="2200" dirty="0">
                <a:ea typeface="宋体" panose="02010600030101010101" pitchFamily="2" charset="-122"/>
              </a:rPr>
              <a:t>的，不便于顺序查找关键字，也不适合于范围查找，或最大值最小值查找</a:t>
            </a:r>
            <a:r>
              <a:rPr lang="zh-CN" altLang="en-US" sz="1800" dirty="0">
                <a:ea typeface="宋体" panose="02010600030101010101" pitchFamily="2" charset="-122"/>
              </a:rPr>
              <a:t>。 </a:t>
            </a:r>
            <a:endParaRPr lang="zh-CN" altLang="en-US" sz="1800" dirty="0">
              <a:ea typeface="宋体" panose="02010600030101010101" pitchFamily="2" charset="-122"/>
            </a:endParaRPr>
          </a:p>
          <a:p>
            <a:endParaRPr lang="zh-CN" altLang="en-US"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zh-CN" altLang="en-US" dirty="0"/>
              <a:t>应用</a:t>
            </a:r>
            <a:r>
              <a:rPr lang="zh-CN" altLang="en-US" dirty="0" smtClean="0"/>
              <a:t>：</a:t>
            </a:r>
            <a:r>
              <a:rPr lang="zh-CN" altLang="en-US" dirty="0"/>
              <a:t>文件中单词词频</a:t>
            </a:r>
            <a:r>
              <a:rPr lang="zh-CN" altLang="en-US" dirty="0" smtClean="0"/>
              <a:t>统计</a:t>
            </a:r>
            <a:endParaRPr lang="en-US" altLang="zh-CN" dirty="0" smtClean="0"/>
          </a:p>
          <a:p>
            <a:pPr marL="0" lvl="2">
              <a:lnSpc>
                <a:spcPct val="130000"/>
              </a:lnSpc>
              <a:spcBef>
                <a:spcPct val="0"/>
              </a:spcBef>
            </a:pPr>
            <a:r>
              <a:rPr lang="en-US" altLang="zh-CN" sz="2000" dirty="0" smtClean="0">
                <a:ea typeface="宋体" panose="02010600030101010101" pitchFamily="2" charset="-122"/>
              </a:rPr>
              <a:t>【</a:t>
            </a:r>
            <a:r>
              <a:rPr lang="zh-CN" altLang="en-US" sz="2000" dirty="0" smtClean="0">
                <a:ea typeface="宋体" panose="02010600030101010101" pitchFamily="2" charset="-122"/>
              </a:rPr>
              <a:t>例</a:t>
            </a:r>
            <a:r>
              <a:rPr lang="en-US" altLang="zh-CN" sz="2000" dirty="0" smtClean="0">
                <a:ea typeface="宋体" panose="02010600030101010101" pitchFamily="2" charset="-122"/>
              </a:rPr>
              <a:t>】</a:t>
            </a:r>
            <a:r>
              <a:rPr lang="zh-CN" altLang="en-US" sz="2000" dirty="0" smtClean="0">
                <a:ea typeface="宋体" panose="02010600030101010101" pitchFamily="2" charset="-122"/>
              </a:rPr>
              <a:t>给定</a:t>
            </a:r>
            <a:r>
              <a:rPr lang="zh-CN" altLang="en-US" sz="2000" dirty="0">
                <a:ea typeface="宋体" panose="02010600030101010101" pitchFamily="2" charset="-122"/>
              </a:rPr>
              <a:t>一个英文文本文件，统计文件中所有单词出现的频率，并输出词频最大的前</a:t>
            </a:r>
            <a:r>
              <a:rPr lang="en-US" altLang="zh-CN" sz="2000" dirty="0">
                <a:ea typeface="宋体" panose="02010600030101010101" pitchFamily="2" charset="-122"/>
              </a:rPr>
              <a:t>10%</a:t>
            </a:r>
            <a:r>
              <a:rPr lang="zh-CN" altLang="en-US" sz="2000" dirty="0">
                <a:ea typeface="宋体" panose="02010600030101010101" pitchFamily="2" charset="-122"/>
              </a:rPr>
              <a:t>的单词及其词频。 </a:t>
            </a:r>
            <a:endParaRPr lang="zh-CN" altLang="en-US" sz="2000" dirty="0">
              <a:ea typeface="宋体" panose="02010600030101010101" pitchFamily="2" charset="-122"/>
            </a:endParaRPr>
          </a:p>
          <a:p>
            <a:pPr marL="0" lvl="2">
              <a:lnSpc>
                <a:spcPct val="130000"/>
              </a:lnSpc>
              <a:spcBef>
                <a:spcPct val="0"/>
              </a:spcBef>
            </a:pPr>
            <a:r>
              <a:rPr lang="zh-CN" altLang="en-US" sz="2000" dirty="0" smtClean="0">
                <a:ea typeface="宋体" panose="02010600030101010101" pitchFamily="2" charset="-122"/>
              </a:rPr>
              <a:t>    假设</a:t>
            </a:r>
            <a:r>
              <a:rPr lang="zh-CN" altLang="en-US" sz="2000" dirty="0">
                <a:ea typeface="宋体" panose="02010600030101010101" pitchFamily="2" charset="-122"/>
              </a:rPr>
              <a:t>单词字符定义为大小写字母、数字和下划线，其它字符均认为是单词分隔符，不予考虑。 </a:t>
            </a:r>
            <a:endParaRPr lang="zh-CN" altLang="en-US" sz="2000" dirty="0">
              <a:ea typeface="宋体" panose="02010600030101010101" pitchFamily="2" charset="-122"/>
            </a:endParaRPr>
          </a:p>
          <a:p>
            <a:pPr marL="0" lvl="2">
              <a:lnSpc>
                <a:spcPct val="130000"/>
              </a:lnSpc>
              <a:spcBef>
                <a:spcPct val="0"/>
              </a:spcBef>
            </a:pPr>
            <a:r>
              <a:rPr lang="en-US" altLang="zh-CN" sz="2000" dirty="0">
                <a:ea typeface="宋体" panose="02010600030101010101" pitchFamily="2" charset="-122"/>
              </a:rPr>
              <a:t>【</a:t>
            </a:r>
            <a:r>
              <a:rPr lang="zh-CN" altLang="en-US" sz="2000" dirty="0">
                <a:ea typeface="宋体" panose="02010600030101010101" pitchFamily="2" charset="-122"/>
              </a:rPr>
              <a:t>分析</a:t>
            </a:r>
            <a:r>
              <a:rPr lang="en-US" altLang="zh-CN" sz="2000" dirty="0">
                <a:ea typeface="宋体" panose="02010600030101010101" pitchFamily="2" charset="-122"/>
              </a:rPr>
              <a:t>】</a:t>
            </a:r>
            <a:r>
              <a:rPr lang="zh-CN" altLang="en-US" sz="2000" dirty="0">
                <a:ea typeface="宋体" panose="02010600030101010101" pitchFamily="2" charset="-122"/>
              </a:rPr>
              <a:t>关键：对新读入的单词在已有单词表中查找，如果已经存在，则将该单词的词频加</a:t>
            </a:r>
            <a:r>
              <a:rPr lang="en-US" altLang="zh-CN" sz="2000" dirty="0">
                <a:ea typeface="宋体" panose="02010600030101010101" pitchFamily="2" charset="-122"/>
              </a:rPr>
              <a:t>1</a:t>
            </a:r>
            <a:r>
              <a:rPr lang="zh-CN" altLang="en-US" sz="2000" dirty="0">
                <a:ea typeface="宋体" panose="02010600030101010101" pitchFamily="2" charset="-122"/>
              </a:rPr>
              <a:t>，如果不存在，则插入该单词并记词频为</a:t>
            </a:r>
            <a:r>
              <a:rPr lang="en-US" altLang="zh-CN" sz="2000" dirty="0">
                <a:ea typeface="宋体" panose="02010600030101010101" pitchFamily="2" charset="-122"/>
              </a:rPr>
              <a:t>1</a:t>
            </a:r>
            <a:r>
              <a:rPr lang="zh-CN" altLang="en-US" sz="2000" dirty="0">
                <a:ea typeface="宋体" panose="02010600030101010101" pitchFamily="2" charset="-122"/>
              </a:rPr>
              <a:t>。 </a:t>
            </a:r>
            <a:endParaRPr lang="zh-CN" altLang="en-US" sz="2000" dirty="0">
              <a:ea typeface="宋体" panose="02010600030101010101" pitchFamily="2" charset="-122"/>
            </a:endParaRPr>
          </a:p>
          <a:p>
            <a:pPr lvl="2">
              <a:lnSpc>
                <a:spcPct val="130000"/>
              </a:lnSpc>
              <a:spcBef>
                <a:spcPct val="0"/>
              </a:spcBef>
            </a:pPr>
            <a:r>
              <a:rPr lang="zh-CN" altLang="en-US" sz="2000" dirty="0">
                <a:ea typeface="宋体" panose="02010600030101010101" pitchFamily="2" charset="-122"/>
              </a:rPr>
              <a:t>如何设计该单词表的</a:t>
            </a:r>
            <a:r>
              <a:rPr lang="zh-CN" altLang="en-US" sz="2000" dirty="0">
                <a:solidFill>
                  <a:schemeClr val="accent2"/>
                </a:solidFill>
                <a:ea typeface="宋体" panose="02010600030101010101" pitchFamily="2" charset="-122"/>
              </a:rPr>
              <a:t>数据结构</a:t>
            </a:r>
            <a:r>
              <a:rPr lang="zh-CN" altLang="en-US" sz="2000" dirty="0">
                <a:ea typeface="宋体" panose="02010600030101010101" pitchFamily="2" charset="-122"/>
              </a:rPr>
              <a:t>才可以进行快速地</a:t>
            </a:r>
            <a:r>
              <a:rPr lang="zh-CN" altLang="en-US" sz="2000" dirty="0">
                <a:solidFill>
                  <a:schemeClr val="accent2"/>
                </a:solidFill>
                <a:ea typeface="宋体" panose="02010600030101010101" pitchFamily="2" charset="-122"/>
              </a:rPr>
              <a:t>查找和插入</a:t>
            </a:r>
            <a:r>
              <a:rPr lang="zh-CN" altLang="en-US" sz="2000" dirty="0">
                <a:ea typeface="宋体" panose="02010600030101010101" pitchFamily="2" charset="-122"/>
              </a:rPr>
              <a:t>？ </a:t>
            </a:r>
            <a:endParaRPr lang="en-US" altLang="zh-CN" sz="2000" dirty="0"/>
          </a:p>
        </p:txBody>
      </p:sp>
      <p:sp>
        <p:nvSpPr>
          <p:cNvPr id="3" name="标题 2"/>
          <p:cNvSpPr>
            <a:spLocks noGrp="1"/>
          </p:cNvSpPr>
          <p:nvPr>
            <p:ph type="title"/>
          </p:nvPr>
        </p:nvSpPr>
        <p:spPr/>
        <p:txBody>
          <a:bodyPr/>
          <a:lstStyle/>
          <a:p>
            <a:r>
              <a:rPr lang="en-US" altLang="zh-CN" dirty="0"/>
              <a:t>8.3 </a:t>
            </a:r>
            <a:r>
              <a:rPr lang="zh-CN" altLang="en-US" dirty="0"/>
              <a:t>哈希表</a:t>
            </a:r>
            <a:endParaRPr lang="zh-CN" altLang="en-US" dirty="0"/>
          </a:p>
        </p:txBody>
      </p:sp>
      <p:sp>
        <p:nvSpPr>
          <p:cNvPr id="4" name="椭圆形标注 3"/>
          <p:cNvSpPr>
            <a:spLocks noChangeArrowheads="1"/>
          </p:cNvSpPr>
          <p:nvPr/>
        </p:nvSpPr>
        <p:spPr bwMode="auto">
          <a:xfrm>
            <a:off x="4227195" y="4151986"/>
            <a:ext cx="1620441" cy="459581"/>
          </a:xfrm>
          <a:prstGeom prst="wedgeEllipseCallout">
            <a:avLst>
              <a:gd name="adj1" fmla="val -70435"/>
              <a:gd name="adj2" fmla="val -142722"/>
            </a:avLst>
          </a:prstGeom>
          <a:solidFill>
            <a:schemeClr val="accent1"/>
          </a:solidFill>
          <a:ln w="9525" algn="ctr">
            <a:solidFill>
              <a:schemeClr val="tx1"/>
            </a:solidFill>
            <a:round/>
          </a:ln>
        </p:spPr>
        <p:txBody>
          <a:bodyPr/>
          <a:lstStyle>
            <a:lvl1pPr>
              <a:spcBef>
                <a:spcPct val="20000"/>
              </a:spcBef>
              <a:buChar char="•"/>
              <a:defRPr kumimoji="1" sz="3200">
                <a:solidFill>
                  <a:schemeClr val="tx1"/>
                </a:solidFill>
                <a:latin typeface="Franklin Gothic Book" panose="020B0503020102020204" pitchFamily="34" charset="0"/>
                <a:ea typeface="华文楷体" panose="02010600040101010101" pitchFamily="2" charset="-122"/>
              </a:defRPr>
            </a:lvl1pPr>
            <a:lvl2pPr marL="742950" indent="-285750">
              <a:spcBef>
                <a:spcPct val="20000"/>
              </a:spcBef>
              <a:buChar char="–"/>
              <a:defRPr kumimoji="1" sz="2800">
                <a:solidFill>
                  <a:schemeClr val="tx1"/>
                </a:solidFill>
                <a:latin typeface="Franklin Gothic Book" panose="020B0503020102020204" pitchFamily="34" charset="0"/>
                <a:ea typeface="华文楷体" panose="02010600040101010101" pitchFamily="2" charset="-122"/>
              </a:defRPr>
            </a:lvl2pPr>
            <a:lvl3pPr marL="1143000" indent="-228600">
              <a:spcBef>
                <a:spcPct val="20000"/>
              </a:spcBef>
              <a:buChar char="•"/>
              <a:defRPr kumimoji="1" sz="2400">
                <a:solidFill>
                  <a:schemeClr val="tx1"/>
                </a:solidFill>
                <a:latin typeface="Franklin Gothic Book" panose="020B0503020102020204" pitchFamily="34" charset="0"/>
                <a:ea typeface="华文楷体" panose="02010600040101010101" pitchFamily="2" charset="-122"/>
              </a:defRPr>
            </a:lvl3pPr>
            <a:lvl4pPr marL="16002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4pPr>
            <a:lvl5pPr marL="2057400" indent="-228600">
              <a:spcBef>
                <a:spcPct val="20000"/>
              </a:spcBef>
              <a:buChar char="»"/>
              <a:defRPr kumimoji="1" sz="2000">
                <a:solidFill>
                  <a:schemeClr val="tx1"/>
                </a:solidFill>
                <a:latin typeface="Franklin Gothic Book" panose="020B0503020102020204" pitchFamily="34" charset="0"/>
                <a:ea typeface="华文楷体" panose="02010600040101010101" pitchFamily="2" charset="-122"/>
              </a:defRPr>
            </a:lvl5pPr>
            <a:lvl6pPr marL="25146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6pPr>
            <a:lvl7pPr marL="29718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7pPr>
            <a:lvl8pPr marL="34290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8pPr>
            <a:lvl9pPr marL="3886200" indent="-228600" eaLnBrk="0" fontAlgn="base" hangingPunct="0">
              <a:spcBef>
                <a:spcPct val="20000"/>
              </a:spcBef>
              <a:spcAft>
                <a:spcPct val="0"/>
              </a:spcAft>
              <a:buChar char="»"/>
              <a:defRPr kumimoji="1" sz="2000">
                <a:solidFill>
                  <a:schemeClr val="tx1"/>
                </a:solidFill>
                <a:latin typeface="Franklin Gothic Book" panose="020B0503020102020204" pitchFamily="34" charset="0"/>
                <a:ea typeface="华文楷体" panose="02010600040101010101" pitchFamily="2" charset="-122"/>
              </a:defRPr>
            </a:lvl9pPr>
          </a:lstStyle>
          <a:p>
            <a:pPr eaLnBrk="1" hangingPunct="1">
              <a:spcBef>
                <a:spcPct val="0"/>
              </a:spcBef>
              <a:buFontTx/>
              <a:buNone/>
            </a:pPr>
            <a:r>
              <a:rPr lang="zh-CN" altLang="en-US" sz="1800">
                <a:latin typeface="Times New Roman" panose="02020603050405020304" pitchFamily="18" charset="0"/>
                <a:ea typeface="宋体" panose="02010600030101010101" pitchFamily="2" charset="-122"/>
              </a:rPr>
              <a:t>散列表</a:t>
            </a:r>
            <a:endParaRPr lang="zh-CN" altLang="en-US" sz="1800">
              <a:latin typeface="Times New Roman" panose="02020603050405020304" pitchFamily="18" charset="0"/>
              <a:ea typeface="宋体" panose="02010600030101010101" pitchFamily="2"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ags/tag1.xml><?xml version="1.0" encoding="utf-8"?>
<p:tagLst xmlns:p="http://schemas.openxmlformats.org/presentationml/2006/main">
  <p:tag name="REFSHAPE" val="673215844"/>
  <p:tag name="KSO_WM_UNIT_PLACING_PICTURE_USER_VIEWPORT" val="{&quot;height&quot;:2490,&quot;width&quot;:5175}"/>
</p:tagLst>
</file>

<file path=ppt/tags/tag2.xml><?xml version="1.0" encoding="utf-8"?>
<p:tagLst xmlns:p="http://schemas.openxmlformats.org/presentationml/2006/main">
  <p:tag name="REFSHAPE" val="42274580"/>
  <p:tag name="KSO_WM_UNIT_PLACING_PICTURE_USER_VIEWPORT" val="{&quot;height&quot;:4729,&quot;width&quot;:8902}"/>
</p:tagLst>
</file>

<file path=ppt/tags/tag3.xml><?xml version="1.0" encoding="utf-8"?>
<p:tagLst xmlns:p="http://schemas.openxmlformats.org/presentationml/2006/main">
  <p:tag name="COMMONDATA" val="eyJoZGlkIjoiY2RkOTFiNGE3ZGMwNWJhNzRjN2YzYTQyNDI1ZmYzMDYifQ=="/>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幻灯片</Template>
  <TotalTime>0</TotalTime>
  <Words>15481</Words>
  <Application>WPS 演示</Application>
  <PresentationFormat>全屏显示(16:9)</PresentationFormat>
  <Paragraphs>1237</Paragraphs>
  <Slides>96</Slides>
  <Notes>64</Notes>
  <HiddenSlides>0</HiddenSlides>
  <MMClips>0</MMClips>
  <ScaleCrop>false</ScaleCrop>
  <HeadingPairs>
    <vt:vector size="8" baseType="variant">
      <vt:variant>
        <vt:lpstr>已用的字体</vt:lpstr>
      </vt:variant>
      <vt:variant>
        <vt:i4>21</vt:i4>
      </vt:variant>
      <vt:variant>
        <vt:lpstr>主题</vt:lpstr>
      </vt:variant>
      <vt:variant>
        <vt:i4>2</vt:i4>
      </vt:variant>
      <vt:variant>
        <vt:lpstr>嵌入 OLE 服务器</vt:lpstr>
      </vt:variant>
      <vt:variant>
        <vt:i4>35</vt:i4>
      </vt:variant>
      <vt:variant>
        <vt:lpstr>幻灯片标题</vt:lpstr>
      </vt:variant>
      <vt:variant>
        <vt:i4>96</vt:i4>
      </vt:variant>
    </vt:vector>
  </HeadingPairs>
  <TitlesOfParts>
    <vt:vector size="154" baseType="lpstr">
      <vt:lpstr>Arial</vt:lpstr>
      <vt:lpstr>宋体</vt:lpstr>
      <vt:lpstr>Wingdings</vt:lpstr>
      <vt:lpstr>黑体</vt:lpstr>
      <vt:lpstr>华文新魏</vt:lpstr>
      <vt:lpstr>华文彩云</vt:lpstr>
      <vt:lpstr>Times New Roman</vt:lpstr>
      <vt:lpstr>方正隶书简体</vt:lpstr>
      <vt:lpstr>华文楷体</vt:lpstr>
      <vt:lpstr>微软雅黑</vt:lpstr>
      <vt:lpstr>Arial Unicode MS</vt:lpstr>
      <vt:lpstr>Calibri</vt:lpstr>
      <vt:lpstr>Franklin Gothic Book</vt:lpstr>
      <vt:lpstr>Courier New</vt:lpstr>
      <vt:lpstr>Wingdings</vt:lpstr>
      <vt:lpstr>仿宋_GB2312</vt:lpstr>
      <vt:lpstr>仿宋</vt:lpstr>
      <vt:lpstr>楷体_GB2312</vt:lpstr>
      <vt:lpstr>新宋体</vt:lpstr>
      <vt:lpstr>Symbol</vt:lpstr>
      <vt:lpstr>Calibri Light</vt:lpstr>
      <vt:lpstr>Office 主题</vt:lpstr>
      <vt:lpstr>1_Office 主题</vt:lpstr>
      <vt:lpstr>Equation.3</vt:lpstr>
      <vt:lpstr>Equation.3</vt:lpstr>
      <vt:lpstr>Visio.Drawing.4</vt:lpstr>
      <vt:lpstr>Visio.Drawing.11</vt:lpstr>
      <vt:lpstr>Visio.Drawing.4</vt:lpstr>
      <vt:lpstr>Visio.Drawing.4</vt:lpstr>
      <vt:lpstr>Visio.Drawing.11</vt:lpstr>
      <vt:lpstr>Visio.Drawing.4</vt:lpstr>
      <vt:lpstr>Visio.Drawing.11</vt:lpstr>
      <vt:lpstr>Visio.Drawing.4</vt:lpstr>
      <vt:lpstr>Visio.Drawing.11</vt:lpstr>
      <vt:lpstr>Equation.3</vt:lpstr>
      <vt:lpstr>Visio.Drawing.11</vt:lpstr>
      <vt:lpstr>Visio.Drawing.4</vt:lpstr>
      <vt:lpstr>Visio.Drawing.4</vt:lpstr>
      <vt:lpstr>Visio.Drawing.4</vt:lpstr>
      <vt:lpstr>Visio.Drawing.4</vt:lpstr>
      <vt:lpstr>Visio.Drawing.4</vt:lpstr>
      <vt:lpstr>Visio.Drawing.4</vt:lpstr>
      <vt:lpstr>Visio.Drawing.4</vt:lpstr>
      <vt:lpstr>Paint.Picture</vt:lpstr>
      <vt:lpstr>Equation.3</vt:lpstr>
      <vt:lpstr>Paint.Picture</vt:lpstr>
      <vt:lpstr>Equation.3</vt:lpstr>
      <vt:lpstr>Equation.3</vt:lpstr>
      <vt:lpstr>Equation.3</vt:lpstr>
      <vt:lpstr>Equation.3</vt:lpstr>
      <vt:lpstr>Equation.3</vt:lpstr>
      <vt:lpstr>Equation.3</vt:lpstr>
      <vt:lpstr>Visio.Drawing.4</vt:lpstr>
      <vt:lpstr>Equation.3</vt:lpstr>
      <vt:lpstr>Equation.3</vt:lpstr>
      <vt:lpstr>Equation.3</vt:lpstr>
      <vt:lpstr>Equation.3</vt:lpstr>
      <vt:lpstr>Equation.3</vt:lpstr>
      <vt:lpstr>第8章 查找</vt:lpstr>
      <vt:lpstr>本章目录</vt:lpstr>
      <vt:lpstr>查找</vt:lpstr>
      <vt:lpstr>查找</vt:lpstr>
      <vt:lpstr>查找</vt:lpstr>
      <vt:lpstr>查找</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8.1 静态查找表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8.2 动态查找表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lpstr>8.3 哈希表</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线 性 表</dc:title>
  <dc:creator>PC</dc:creator>
  <cp:lastModifiedBy>Administrator</cp:lastModifiedBy>
  <cp:revision>209</cp:revision>
  <dcterms:created xsi:type="dcterms:W3CDTF">2020-02-02T14:08:00Z</dcterms:created>
  <dcterms:modified xsi:type="dcterms:W3CDTF">2024-05-28T12:34:36Z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2052-12.1.0.16929</vt:lpwstr>
  </property>
  <property fmtid="{D5CDD505-2E9C-101B-9397-08002B2CF9AE}" pid="3" name="ICV">
    <vt:lpwstr>E2EB35ED35E34B19999E000CBA235EBD</vt:lpwstr>
  </property>
</Properties>
</file>