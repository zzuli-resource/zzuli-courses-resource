
<file path=[Content_Types].xml><?xml version="1.0" encoding="utf-8"?>
<Types xmlns="http://schemas.openxmlformats.org/package/2006/content-types">
  <Default Extension="jpeg" ContentType="image/jpeg"/>
  <Default Extension="JPG" ContentType="image/.jpg"/>
  <Default Extension="vml" ContentType="application/vnd.openxmlformats-officedocument.vmlDrawing"/>
  <Default Extension="bin" ContentType="application/vnd.openxmlformats-officedocument.oleObject"/>
  <Default Extension="wmf" ContentType="image/x-w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3"/>
  </p:notesMasterIdLst>
  <p:sldIdLst>
    <p:sldId id="284" r:id="rId3"/>
    <p:sldId id="285" r:id="rId4"/>
    <p:sldId id="380" r:id="rId5"/>
    <p:sldId id="381" r:id="rId6"/>
    <p:sldId id="382" r:id="rId7"/>
    <p:sldId id="383" r:id="rId8"/>
    <p:sldId id="384" r:id="rId9"/>
    <p:sldId id="385" r:id="rId10"/>
    <p:sldId id="386" r:id="rId11"/>
    <p:sldId id="387" r:id="rId12"/>
    <p:sldId id="388" r:id="rId13"/>
    <p:sldId id="389" r:id="rId14"/>
    <p:sldId id="390" r:id="rId15"/>
    <p:sldId id="473" r:id="rId16"/>
    <p:sldId id="474" r:id="rId17"/>
    <p:sldId id="487" r:id="rId18"/>
    <p:sldId id="488" r:id="rId19"/>
    <p:sldId id="489" r:id="rId20"/>
    <p:sldId id="490" r:id="rId21"/>
    <p:sldId id="491" r:id="rId22"/>
    <p:sldId id="499" r:id="rId23"/>
    <p:sldId id="493" r:id="rId24"/>
    <p:sldId id="492" r:id="rId25"/>
    <p:sldId id="494" r:id="rId26"/>
    <p:sldId id="500" r:id="rId27"/>
    <p:sldId id="496" r:id="rId28"/>
    <p:sldId id="495" r:id="rId29"/>
    <p:sldId id="501" r:id="rId30"/>
    <p:sldId id="502" r:id="rId31"/>
    <p:sldId id="497" r:id="rId32"/>
    <p:sldId id="556" r:id="rId33"/>
    <p:sldId id="506" r:id="rId34"/>
    <p:sldId id="505" r:id="rId35"/>
    <p:sldId id="504" r:id="rId36"/>
    <p:sldId id="519" r:id="rId37"/>
    <p:sldId id="523" r:id="rId38"/>
    <p:sldId id="522" r:id="rId39"/>
    <p:sldId id="521" r:id="rId40"/>
    <p:sldId id="527" r:id="rId41"/>
    <p:sldId id="526" r:id="rId42"/>
    <p:sldId id="525" r:id="rId43"/>
    <p:sldId id="536" r:id="rId44"/>
    <p:sldId id="537" r:id="rId45"/>
    <p:sldId id="538" r:id="rId46"/>
    <p:sldId id="555" r:id="rId47"/>
    <p:sldId id="539" r:id="rId48"/>
    <p:sldId id="542" r:id="rId49"/>
    <p:sldId id="543" r:id="rId50"/>
    <p:sldId id="544" r:id="rId51"/>
    <p:sldId id="545" r:id="rId52"/>
    <p:sldId id="546" r:id="rId53"/>
    <p:sldId id="547" r:id="rId54"/>
    <p:sldId id="541" r:id="rId55"/>
    <p:sldId id="548" r:id="rId56"/>
    <p:sldId id="549" r:id="rId57"/>
    <p:sldId id="550" r:id="rId58"/>
    <p:sldId id="551" r:id="rId59"/>
    <p:sldId id="552" r:id="rId60"/>
    <p:sldId id="553" r:id="rId61"/>
    <p:sldId id="554" r:id="rId62"/>
  </p:sldIdLst>
  <p:sldSz cx="6858000" cy="5143500"/>
  <p:notesSz cx="6858000" cy="9144000"/>
  <p:defaultTextStyle>
    <a:defPPr>
      <a:defRPr lang="zh-CN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A6ED1"/>
    <a:srgbClr val="D1F0FB"/>
    <a:srgbClr val="00194C"/>
    <a:srgbClr val="CC6600"/>
    <a:srgbClr val="800000"/>
    <a:srgbClr val="990000"/>
    <a:srgbClr val="993300"/>
    <a:srgbClr val="3333FF"/>
    <a:srgbClr val="3079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81115" autoAdjust="0"/>
  </p:normalViewPr>
  <p:slideViewPr>
    <p:cSldViewPr snapToGrid="0">
      <p:cViewPr varScale="1">
        <p:scale>
          <a:sx n="153" d="100"/>
          <a:sy n="153" d="100"/>
        </p:scale>
        <p:origin x="146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6" Type="http://schemas.openxmlformats.org/officeDocument/2006/relationships/tableStyles" Target="tableStyles.xml"/><Relationship Id="rId65" Type="http://schemas.openxmlformats.org/officeDocument/2006/relationships/viewProps" Target="viewProps.xml"/><Relationship Id="rId64" Type="http://schemas.openxmlformats.org/officeDocument/2006/relationships/presProps" Target="presProps.xml"/><Relationship Id="rId63" Type="http://schemas.openxmlformats.org/officeDocument/2006/relationships/notesMaster" Target="notesMasters/notesMaster1.xml"/><Relationship Id="rId62" Type="http://schemas.openxmlformats.org/officeDocument/2006/relationships/slide" Target="slides/slide60.xml"/><Relationship Id="rId61" Type="http://schemas.openxmlformats.org/officeDocument/2006/relationships/slide" Target="slides/slide59.xml"/><Relationship Id="rId60" Type="http://schemas.openxmlformats.org/officeDocument/2006/relationships/slide" Target="slides/slide58.xml"/><Relationship Id="rId6" Type="http://schemas.openxmlformats.org/officeDocument/2006/relationships/slide" Target="slides/slide4.xml"/><Relationship Id="rId59" Type="http://schemas.openxmlformats.org/officeDocument/2006/relationships/slide" Target="slides/slide57.xml"/><Relationship Id="rId58" Type="http://schemas.openxmlformats.org/officeDocument/2006/relationships/slide" Target="slides/slide56.xml"/><Relationship Id="rId57" Type="http://schemas.openxmlformats.org/officeDocument/2006/relationships/slide" Target="slides/slide55.xml"/><Relationship Id="rId56" Type="http://schemas.openxmlformats.org/officeDocument/2006/relationships/slide" Target="slides/slide54.xml"/><Relationship Id="rId55" Type="http://schemas.openxmlformats.org/officeDocument/2006/relationships/slide" Target="slides/slide53.xml"/><Relationship Id="rId54" Type="http://schemas.openxmlformats.org/officeDocument/2006/relationships/slide" Target="slides/slide52.xml"/><Relationship Id="rId53" Type="http://schemas.openxmlformats.org/officeDocument/2006/relationships/slide" Target="slides/slide51.xml"/><Relationship Id="rId52" Type="http://schemas.openxmlformats.org/officeDocument/2006/relationships/slide" Target="slides/slide50.xml"/><Relationship Id="rId51" Type="http://schemas.openxmlformats.org/officeDocument/2006/relationships/slide" Target="slides/slide49.xml"/><Relationship Id="rId50" Type="http://schemas.openxmlformats.org/officeDocument/2006/relationships/slide" Target="slides/slide48.xml"/><Relationship Id="rId5" Type="http://schemas.openxmlformats.org/officeDocument/2006/relationships/slide" Target="slides/slide3.xml"/><Relationship Id="rId49" Type="http://schemas.openxmlformats.org/officeDocument/2006/relationships/slide" Target="slides/slide47.xml"/><Relationship Id="rId48" Type="http://schemas.openxmlformats.org/officeDocument/2006/relationships/slide" Target="slides/slide46.xml"/><Relationship Id="rId47" Type="http://schemas.openxmlformats.org/officeDocument/2006/relationships/slide" Target="slides/slide45.xml"/><Relationship Id="rId46" Type="http://schemas.openxmlformats.org/officeDocument/2006/relationships/slide" Target="slides/slide44.xml"/><Relationship Id="rId45" Type="http://schemas.openxmlformats.org/officeDocument/2006/relationships/slide" Target="slides/slide43.xml"/><Relationship Id="rId44" Type="http://schemas.openxmlformats.org/officeDocument/2006/relationships/slide" Target="slides/slide42.xml"/><Relationship Id="rId43" Type="http://schemas.openxmlformats.org/officeDocument/2006/relationships/slide" Target="slides/slide41.xml"/><Relationship Id="rId42" Type="http://schemas.openxmlformats.org/officeDocument/2006/relationships/slide" Target="slides/slide40.xml"/><Relationship Id="rId41" Type="http://schemas.openxmlformats.org/officeDocument/2006/relationships/slide" Target="slides/slide39.xml"/><Relationship Id="rId40" Type="http://schemas.openxmlformats.org/officeDocument/2006/relationships/slide" Target="slides/slide38.xml"/><Relationship Id="rId4" Type="http://schemas.openxmlformats.org/officeDocument/2006/relationships/slide" Target="slides/slide2.xml"/><Relationship Id="rId39" Type="http://schemas.openxmlformats.org/officeDocument/2006/relationships/slide" Target="slides/slide37.xml"/><Relationship Id="rId38" Type="http://schemas.openxmlformats.org/officeDocument/2006/relationships/slide" Target="slides/slide36.xml"/><Relationship Id="rId37" Type="http://schemas.openxmlformats.org/officeDocument/2006/relationships/slide" Target="slides/slide35.xml"/><Relationship Id="rId36" Type="http://schemas.openxmlformats.org/officeDocument/2006/relationships/slide" Target="slides/slide34.xml"/><Relationship Id="rId35" Type="http://schemas.openxmlformats.org/officeDocument/2006/relationships/slide" Target="slides/slide33.xml"/><Relationship Id="rId34" Type="http://schemas.openxmlformats.org/officeDocument/2006/relationships/slide" Target="slides/slide32.xml"/><Relationship Id="rId33" Type="http://schemas.openxmlformats.org/officeDocument/2006/relationships/slide" Target="slides/slide31.xml"/><Relationship Id="rId32" Type="http://schemas.openxmlformats.org/officeDocument/2006/relationships/slide" Target="slides/slide30.xml"/><Relationship Id="rId31" Type="http://schemas.openxmlformats.org/officeDocument/2006/relationships/slide" Target="slides/slide29.xml"/><Relationship Id="rId30" Type="http://schemas.openxmlformats.org/officeDocument/2006/relationships/slide" Target="slides/slide28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9.w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0.w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1.w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2.wmf"/></Relationships>
</file>

<file path=ppt/drawings/_rels/vmlDrawing5.vml.rels><?xml version="1.0" encoding="UTF-8" standalone="yes"?>
<Relationships xmlns="http://schemas.openxmlformats.org/package/2006/relationships"><Relationship Id="rId1" Type="http://schemas.openxmlformats.org/officeDocument/2006/relationships/image" Target="../media/image14.wmf"/></Relationships>
</file>

<file path=ppt/drawings/_rels/vmlDrawing6.vml.rels><?xml version="1.0" encoding="UTF-8" standalone="yes"?>
<Relationships xmlns="http://schemas.openxmlformats.org/package/2006/relationships"><Relationship Id="rId1" Type="http://schemas.openxmlformats.org/officeDocument/2006/relationships/image" Target="../media/image15.wmf"/></Relationships>
</file>

<file path=ppt/drawings/_rels/vmlDrawing7.vml.rels><?xml version="1.0" encoding="UTF-8" standalone="yes"?>
<Relationships xmlns="http://schemas.openxmlformats.org/package/2006/relationships"><Relationship Id="rId1" Type="http://schemas.openxmlformats.org/officeDocument/2006/relationships/image" Target="../media/image16.wmf"/></Relationships>
</file>

<file path=ppt/drawings/_rels/vmlDrawing8.vml.rels><?xml version="1.0" encoding="UTF-8" standalone="yes"?>
<Relationships xmlns="http://schemas.openxmlformats.org/package/2006/relationships"><Relationship Id="rId1" Type="http://schemas.openxmlformats.org/officeDocument/2006/relationships/image" Target="../media/image18.wmf"/></Relationships>
</file>

<file path=ppt/drawings/_rels/vmlDrawing9.vml.rels><?xml version="1.0" encoding="UTF-8" standalone="yes"?>
<Relationships xmlns="http://schemas.openxmlformats.org/package/2006/relationships"><Relationship Id="rId1" Type="http://schemas.openxmlformats.org/officeDocument/2006/relationships/image" Target="../media/image19.wmf"/></Relationships>
</file>

<file path=ppt/drawings/_rels/vmlDrawing10.vml.rels><?xml version="1.0" encoding="UTF-8" standalone="yes"?>
<Relationships xmlns="http://schemas.openxmlformats.org/package/2006/relationships"><Relationship Id="rId1" Type="http://schemas.openxmlformats.org/officeDocument/2006/relationships/image" Target="../media/image20.wmf"/></Relationships>
</file>

<file path=ppt/drawings/_rels/vmlDrawing11.vml.rels><?xml version="1.0" encoding="UTF-8" standalone="yes"?>
<Relationships xmlns="http://schemas.openxmlformats.org/package/2006/relationships"><Relationship Id="rId1" Type="http://schemas.openxmlformats.org/officeDocument/2006/relationships/image" Target="../media/image21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460013-E2CC-49A6-99FC-33B54BFB796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7AA911-2240-47A0-A152-528C1809DA1A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4" Type="http://schemas.openxmlformats.org/officeDocument/2006/relationships/image" Target="../media/image1.jpe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1"/>
          <p:cNvSpPr>
            <a:spLocks noGrp="1"/>
          </p:cNvSpPr>
          <p:nvPr>
            <p:ph type="ctrTitle" hasCustomPrompt="1"/>
          </p:nvPr>
        </p:nvSpPr>
        <p:spPr>
          <a:xfrm>
            <a:off x="0" y="1274606"/>
            <a:ext cx="6858000" cy="1228873"/>
          </a:xfrm>
          <a:prstGeom prst="rect">
            <a:avLst/>
          </a:prstGeom>
        </p:spPr>
        <p:txBody>
          <a:bodyPr anchor="ctr"/>
          <a:lstStyle>
            <a:lvl1pPr algn="ctr">
              <a:lnSpc>
                <a:spcPct val="120000"/>
              </a:lnSpc>
              <a:defRPr sz="3600" b="1">
                <a:solidFill>
                  <a:srgbClr val="000066"/>
                </a:solidFill>
                <a:effectLst/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  知识点名称</a:t>
            </a:r>
            <a:br>
              <a:rPr lang="en-US" altLang="zh-CN" dirty="0"/>
            </a:br>
            <a:r>
              <a:rPr lang="zh-CN" altLang="en-US" dirty="0"/>
              <a:t>（太长时可以两行）</a:t>
            </a:r>
            <a:endParaRPr lang="zh-CN" altLang="en-US" dirty="0"/>
          </a:p>
        </p:txBody>
      </p:sp>
      <p:sp>
        <p:nvSpPr>
          <p:cNvPr id="8" name="文本占位符 9"/>
          <p:cNvSpPr>
            <a:spLocks noGrp="1"/>
          </p:cNvSpPr>
          <p:nvPr>
            <p:ph type="body" sz="quarter" idx="14" hasCustomPrompt="1"/>
          </p:nvPr>
        </p:nvSpPr>
        <p:spPr>
          <a:xfrm>
            <a:off x="1458000" y="2732290"/>
            <a:ext cx="394199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ctr">
              <a:buNone/>
              <a:defRPr sz="2800">
                <a:solidFill>
                  <a:srgbClr val="800000"/>
                </a:solidFill>
                <a:effectLst/>
                <a:latin typeface="华文新魏" panose="02010800040101010101" pitchFamily="2" charset="-122"/>
                <a:ea typeface="华文新魏" panose="02010800040101010101" pitchFamily="2" charset="-122"/>
              </a:defRPr>
            </a:lvl1pPr>
            <a:lvl2pPr marL="0" indent="0">
              <a:spcBef>
                <a:spcPts val="0"/>
              </a:spcBef>
              <a:buNone/>
              <a:defRPr sz="1350">
                <a:solidFill>
                  <a:srgbClr val="0000FF"/>
                </a:solidFill>
                <a:latin typeface="黑体" panose="02010609060101010101" pitchFamily="49" charset="-122"/>
                <a:ea typeface="黑体" panose="02010609060101010101" pitchFamily="49" charset="-122"/>
              </a:defRPr>
            </a:lvl2pPr>
          </a:lstStyle>
          <a:p>
            <a:pPr lvl="0"/>
            <a:r>
              <a:rPr lang="zh-CN" altLang="en-US" dirty="0"/>
              <a:t>教师名  主讲</a:t>
            </a:r>
            <a:endParaRPr lang="zh-CN" altLang="en-US" dirty="0"/>
          </a:p>
        </p:txBody>
      </p:sp>
      <p:sp>
        <p:nvSpPr>
          <p:cNvPr id="10" name="文本框 9"/>
          <p:cNvSpPr txBox="1"/>
          <p:nvPr userDrawn="1"/>
        </p:nvSpPr>
        <p:spPr>
          <a:xfrm>
            <a:off x="573756" y="114250"/>
            <a:ext cx="1377300" cy="415498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2100" kern="3000" spc="225" baseline="0" dirty="0">
                <a:solidFill>
                  <a:srgbClr val="1A6ED1"/>
                </a:solidFill>
                <a:latin typeface="华文彩云" panose="02010800040101010101" pitchFamily="2" charset="-122"/>
                <a:ea typeface="华文彩云" panose="02010800040101010101" pitchFamily="2" charset="-122"/>
              </a:rPr>
              <a:t>数据结构</a:t>
            </a:r>
            <a:endParaRPr lang="zh-CN" altLang="en-US" sz="2100" kern="3000" spc="225" baseline="0" dirty="0">
              <a:solidFill>
                <a:srgbClr val="1A6ED1"/>
              </a:solidFill>
              <a:latin typeface="华文彩云" panose="02010800040101010101" pitchFamily="2" charset="-122"/>
              <a:ea typeface="华文彩云" panose="02010800040101010101" pitchFamily="2" charset="-122"/>
            </a:endParaRPr>
          </a:p>
        </p:txBody>
      </p: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756" y="126080"/>
            <a:ext cx="350169" cy="350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全屏幕正文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396052" y="593324"/>
            <a:ext cx="6070651" cy="4085639"/>
          </a:xfrm>
          <a:prstGeom prst="rect">
            <a:avLst/>
          </a:prstGeom>
        </p:spPr>
        <p:txBody>
          <a:bodyPr/>
          <a:lstStyle>
            <a:lvl1pPr marL="0" marR="0" indent="0" algn="just" defTabSz="685800" rtl="0" eaLnBrk="0" fontAlgn="base" latinLnBrk="0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defRPr lang="zh-CN" altLang="en-US" sz="2300" b="1" kern="1200" baseline="0" dirty="0">
                <a:solidFill>
                  <a:srgbClr val="800000"/>
                </a:solidFill>
                <a:effectLst/>
                <a:latin typeface="Times New Roman" panose="02020603050405020304" pitchFamily="18" charset="0"/>
                <a:ea typeface="黑体" panose="02010609060101010101" pitchFamily="49" charset="-122"/>
                <a:cs typeface="+mn-cs"/>
              </a:defRPr>
            </a:lvl1pPr>
            <a:lvl2pPr marL="135255" indent="0" algn="just">
              <a:lnSpc>
                <a:spcPts val="3000"/>
              </a:lnSpc>
              <a:spcBef>
                <a:spcPts val="300"/>
              </a:spcBef>
              <a:buClr>
                <a:srgbClr val="006600"/>
              </a:buClr>
              <a:buFontTx/>
              <a:buNone/>
              <a:defRPr lang="en-US" altLang="zh-CN" sz="2300" b="1" kern="1200" baseline="0" dirty="0">
                <a:solidFill>
                  <a:srgbClr val="CC6600"/>
                </a:solidFill>
                <a:effectLst/>
                <a:latin typeface="方正隶书简体" panose="02010601030101010101" pitchFamily="2" charset="-122"/>
                <a:ea typeface="方正隶书简体" panose="02010601030101010101" pitchFamily="2" charset="-122"/>
                <a:cs typeface="+mn-cs"/>
              </a:defRPr>
            </a:lvl2pPr>
            <a:lvl3pPr marL="135255" indent="0" algn="just" eaLnBrk="1" hangingPunct="1">
              <a:lnSpc>
                <a:spcPts val="3400"/>
              </a:lnSpc>
              <a:spcBef>
                <a:spcPts val="0"/>
              </a:spcBef>
              <a:buClr>
                <a:srgbClr val="800000"/>
              </a:buClr>
              <a:buSzPct val="70000"/>
              <a:buFont typeface="Wingdings" panose="05000000000000000000" pitchFamily="2" charset="2"/>
              <a:buNone/>
              <a:defRPr lang="en-US" altLang="zh-CN" sz="2100" b="1" kern="1200" baseline="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3pPr>
            <a:lvl4pPr marL="135255" indent="0" algn="just" eaLnBrk="1" hangingPunct="1">
              <a:lnSpc>
                <a:spcPts val="2550"/>
              </a:lnSpc>
              <a:spcBef>
                <a:spcPts val="0"/>
              </a:spcBef>
              <a:buFontTx/>
              <a:buNone/>
              <a:defRPr sz="1575" b="1" baseline="0">
                <a:solidFill>
                  <a:srgbClr val="000099"/>
                </a:solidFill>
                <a:latin typeface="Times New Roman" panose="02020603050405020304" pitchFamily="18" charset="0"/>
                <a:ea typeface="黑体" panose="02010609060101010101" pitchFamily="49" charset="-122"/>
              </a:defRPr>
            </a:lvl4pPr>
            <a:lvl5pPr marL="107950" indent="0" algn="just" fontAlgn="ctr">
              <a:lnSpc>
                <a:spcPts val="2550"/>
              </a:lnSpc>
              <a:spcBef>
                <a:spcPts val="0"/>
              </a:spcBef>
              <a:spcAft>
                <a:spcPts val="225"/>
              </a:spcAft>
              <a:buClr>
                <a:srgbClr val="800000"/>
              </a:buClr>
              <a:buSzPct val="160000"/>
              <a:buFontTx/>
              <a:buNone/>
              <a:defRPr lang="en-US" altLang="zh-CN" sz="1575" b="1" kern="1200" baseline="0" dirty="0" smtClean="0">
                <a:solidFill>
                  <a:srgbClr val="6633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黑体" panose="02010609060101010101" pitchFamily="49" charset="-122"/>
                <a:cs typeface="+mn-cs"/>
              </a:defRPr>
            </a:lvl5pPr>
            <a:lvl6pPr marL="0" indent="0" algn="just" fontAlgn="ctr">
              <a:lnSpc>
                <a:spcPts val="2550"/>
              </a:lnSpc>
              <a:spcBef>
                <a:spcPts val="0"/>
              </a:spcBef>
              <a:spcAft>
                <a:spcPts val="0"/>
              </a:spcAft>
              <a:buSzPct val="220000"/>
              <a:buFontTx/>
              <a:buNone/>
              <a:defRPr lang="en-US" altLang="zh-CN" sz="1575" b="1" kern="1200" baseline="0" dirty="0" smtClean="0">
                <a:solidFill>
                  <a:srgbClr val="6633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黑体" panose="02010609060101010101" pitchFamily="49" charset="-122"/>
                <a:cs typeface="+mn-cs"/>
              </a:defRPr>
            </a:lvl6pPr>
            <a:lvl7pPr marL="0" marR="0" indent="0" algn="l" defTabSz="685800" rtl="0" eaLnBrk="1" fontAlgn="ctr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Pct val="300000"/>
              <a:buFontTx/>
              <a:buNone/>
              <a:defRPr lang="en-US" altLang="zh-CN" sz="1350" kern="1200" dirty="0" smtClean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7pPr>
            <a:lvl8pPr marL="257175" indent="-257175" fontAlgn="ctr">
              <a:lnSpc>
                <a:spcPts val="2250"/>
              </a:lnSpc>
              <a:spcBef>
                <a:spcPts val="450"/>
              </a:spcBef>
              <a:buSzPct val="220000"/>
              <a:buFontTx/>
              <a:buBlip>
                <a:blip r:embed="rId2"/>
              </a:buBlip>
              <a:defRPr sz="1800" b="1" baseline="0">
                <a:solidFill>
                  <a:srgbClr val="8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黑体" panose="02010609060101010101" pitchFamily="49" charset="-122"/>
              </a:defRPr>
            </a:lvl8pPr>
            <a:lvl9pPr marL="0" indent="-269875" fontAlgn="ctr">
              <a:lnSpc>
                <a:spcPts val="2250"/>
              </a:lnSpc>
              <a:spcBef>
                <a:spcPts val="450"/>
              </a:spcBef>
              <a:buSzPct val="180000"/>
              <a:buFontTx/>
              <a:buBlip>
                <a:blip r:embed="rId3"/>
              </a:buBlip>
              <a:defRPr lang="en-US" altLang="zh-CN" sz="1800" b="1" kern="1200" baseline="0" dirty="0" smtClean="0">
                <a:solidFill>
                  <a:srgbClr val="8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黑体" panose="02010609060101010101" pitchFamily="49" charset="-122"/>
                <a:cs typeface="+mn-cs"/>
              </a:defRPr>
            </a:lvl9pPr>
          </a:lstStyle>
          <a:p>
            <a:pPr marL="0" marR="0" lvl="0" indent="0" algn="just" defTabSz="685800" rtl="0" eaLnBrk="0" fontAlgn="base" latinLnBrk="0" hangingPunct="0">
              <a:lnSpc>
                <a:spcPts val="2250"/>
              </a:lnSpc>
              <a:spcBef>
                <a:spcPts val="45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defRPr/>
            </a:pPr>
            <a:r>
              <a:rPr lang="zh-CN" altLang="en-US" dirty="0"/>
              <a:t>第一级标题</a:t>
            </a:r>
            <a:endParaRPr lang="zh-CN" altLang="en-US" dirty="0"/>
          </a:p>
          <a:p>
            <a:pPr marL="135255" lvl="1" indent="0" algn="just" defTabSz="685800" rtl="0" eaLnBrk="0" fontAlgn="base" latinLnBrk="0" hangingPunct="0">
              <a:lnSpc>
                <a:spcPts val="2250"/>
              </a:lnSpc>
              <a:spcBef>
                <a:spcPts val="225"/>
              </a:spcBef>
              <a:spcAft>
                <a:spcPct val="0"/>
              </a:spcAft>
              <a:buClr>
                <a:srgbClr val="006600"/>
              </a:buClr>
              <a:buFontTx/>
              <a:buNone/>
            </a:pPr>
            <a:r>
              <a:rPr lang="zh-CN" altLang="en-US" dirty="0"/>
              <a:t>第二级</a:t>
            </a:r>
            <a:endParaRPr lang="en-US" altLang="zh-CN" dirty="0"/>
          </a:p>
          <a:p>
            <a:pPr marL="135255" lvl="2" indent="0" algn="just" defTabSz="685800" rtl="0" eaLnBrk="0" fontAlgn="base" latinLnBrk="0" hangingPunct="0">
              <a:lnSpc>
                <a:spcPts val="2250"/>
              </a:lnSpc>
              <a:spcBef>
                <a:spcPts val="225"/>
              </a:spcBef>
              <a:spcAft>
                <a:spcPct val="0"/>
              </a:spcAft>
              <a:buClr>
                <a:srgbClr val="006600"/>
              </a:buClr>
              <a:buSzPct val="70000"/>
              <a:buFontTx/>
              <a:buNone/>
            </a:pPr>
            <a:r>
              <a:rPr lang="zh-CN" altLang="en-US" dirty="0"/>
              <a:t>第三级</a:t>
            </a:r>
            <a:endParaRPr lang="en-US" altLang="zh-CN" dirty="0"/>
          </a:p>
        </p:txBody>
      </p:sp>
      <p:sp>
        <p:nvSpPr>
          <p:cNvPr id="5" name="标题 13"/>
          <p:cNvSpPr>
            <a:spLocks noGrp="1"/>
          </p:cNvSpPr>
          <p:nvPr>
            <p:ph type="title" hasCustomPrompt="1"/>
          </p:nvPr>
        </p:nvSpPr>
        <p:spPr>
          <a:xfrm>
            <a:off x="559725" y="171218"/>
            <a:ext cx="3612225" cy="249299"/>
          </a:xfrm>
          <a:prstGeom prst="rect">
            <a:avLst/>
          </a:prstGeom>
          <a:noFill/>
        </p:spPr>
        <p:txBody>
          <a:bodyPr wrap="square" lIns="36000" tIns="0" rIns="0" bIns="0">
            <a:spAutoFit/>
          </a:bodyPr>
          <a:lstStyle>
            <a:lvl1pPr marL="0" algn="l" defTabSz="685800" rtl="0" eaLnBrk="1" latinLnBrk="0" hangingPunct="1">
              <a:defRPr lang="zh-CN" altLang="en-US" sz="1800" b="1" kern="1500" spc="0" baseline="0" dirty="0">
                <a:solidFill>
                  <a:srgbClr val="002060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 algn="l">
              <a:buFontTx/>
            </a:pPr>
            <a:r>
              <a:rPr lang="zh-CN" altLang="en-US" dirty="0"/>
              <a:t>单击此处编辑知识点名称</a:t>
            </a:r>
            <a:endParaRPr lang="zh-CN" altLang="en-US" dirty="0"/>
          </a:p>
        </p:txBody>
      </p:sp>
      <p:pic>
        <p:nvPicPr>
          <p:cNvPr id="6" name="图片 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606" y="126080"/>
            <a:ext cx="350169" cy="350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6" Type="http://schemas.openxmlformats.org/officeDocument/2006/relationships/theme" Target="../theme/theme1.xml"/><Relationship Id="rId5" Type="http://schemas.openxmlformats.org/officeDocument/2006/relationships/image" Target="../media/image5.jpeg"/><Relationship Id="rId4" Type="http://schemas.openxmlformats.org/officeDocument/2006/relationships/image" Target="../media/image4.jpeg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250" y="653653"/>
            <a:ext cx="5143500" cy="3836194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762"/>
            <a:ext cx="6856985" cy="514426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vmlDrawing" Target="../drawings/vmlDrawing1.v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9.wmf"/><Relationship Id="rId1" Type="http://schemas.openxmlformats.org/officeDocument/2006/relationships/oleObject" Target="../embeddings/oleObject1.bin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4" Type="http://schemas.openxmlformats.org/officeDocument/2006/relationships/vmlDrawing" Target="../drawings/vmlDrawing2.v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0.wmf"/><Relationship Id="rId1" Type="http://schemas.openxmlformats.org/officeDocument/2006/relationships/oleObject" Target="../embeddings/oleObject2.bin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4" Type="http://schemas.openxmlformats.org/officeDocument/2006/relationships/vmlDrawing" Target="../drawings/vmlDrawing3.v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1.wmf"/><Relationship Id="rId1" Type="http://schemas.openxmlformats.org/officeDocument/2006/relationships/oleObject" Target="../embeddings/oleObject3.bin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4" Type="http://schemas.openxmlformats.org/officeDocument/2006/relationships/vmlDrawing" Target="../drawings/vmlDrawing4.v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2.wmf"/><Relationship Id="rId1" Type="http://schemas.openxmlformats.org/officeDocument/2006/relationships/oleObject" Target="../embeddings/oleObject4.bin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4" Type="http://schemas.openxmlformats.org/officeDocument/2006/relationships/vmlDrawing" Target="../drawings/vmlDrawing5.v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4.wmf"/><Relationship Id="rId1" Type="http://schemas.openxmlformats.org/officeDocument/2006/relationships/oleObject" Target="../embeddings/oleObject5.bin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4" Type="http://schemas.openxmlformats.org/officeDocument/2006/relationships/vmlDrawing" Target="../drawings/vmlDrawing6.v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5.wmf"/><Relationship Id="rId1" Type="http://schemas.openxmlformats.org/officeDocument/2006/relationships/oleObject" Target="../embeddings/oleObject6.bin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4" Type="http://schemas.openxmlformats.org/officeDocument/2006/relationships/vmlDrawing" Target="../drawings/vmlDrawing7.v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6.wmf"/><Relationship Id="rId1" Type="http://schemas.openxmlformats.org/officeDocument/2006/relationships/oleObject" Target="../embeddings/oleObject7.bin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7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4" Type="http://schemas.openxmlformats.org/officeDocument/2006/relationships/vmlDrawing" Target="../drawings/vmlDrawing8.v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8.wmf"/><Relationship Id="rId1" Type="http://schemas.openxmlformats.org/officeDocument/2006/relationships/oleObject" Target="../embeddings/oleObject8.bin"/></Relationships>
</file>

<file path=ppt/slides/_rels/slide51.xml.rels><?xml version="1.0" encoding="UTF-8" standalone="yes"?>
<Relationships xmlns="http://schemas.openxmlformats.org/package/2006/relationships"><Relationship Id="rId4" Type="http://schemas.openxmlformats.org/officeDocument/2006/relationships/vmlDrawing" Target="../drawings/vmlDrawing9.v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9.wmf"/><Relationship Id="rId1" Type="http://schemas.openxmlformats.org/officeDocument/2006/relationships/oleObject" Target="../embeddings/oleObject9.bin"/></Relationships>
</file>

<file path=ppt/slides/_rels/slide52.xml.rels><?xml version="1.0" encoding="UTF-8" standalone="yes"?>
<Relationships xmlns="http://schemas.openxmlformats.org/package/2006/relationships"><Relationship Id="rId4" Type="http://schemas.openxmlformats.org/officeDocument/2006/relationships/vmlDrawing" Target="../drawings/vmlDrawing10.v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0.wmf"/><Relationship Id="rId1" Type="http://schemas.openxmlformats.org/officeDocument/2006/relationships/oleObject" Target="../embeddings/oleObject10.bin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4" Type="http://schemas.openxmlformats.org/officeDocument/2006/relationships/vmlDrawing" Target="../drawings/vmlDrawing11.v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1.wmf"/><Relationship Id="rId1" Type="http://schemas.openxmlformats.org/officeDocument/2006/relationships/oleObject" Target="../embeddings/oleObject11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dirty="0"/>
              <a:t>线 性 表</a:t>
            </a:r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solidFill>
                  <a:srgbClr val="C00000"/>
                </a:solidFill>
              </a:rPr>
              <a:t>数据结构定义</a:t>
            </a:r>
            <a:r>
              <a:rPr lang="en-US" altLang="zh-CN" dirty="0">
                <a:solidFill>
                  <a:srgbClr val="002060"/>
                </a:solidFill>
              </a:rPr>
              <a:t>——</a:t>
            </a:r>
            <a:r>
              <a:rPr lang="zh-CN" altLang="en-US" dirty="0">
                <a:solidFill>
                  <a:srgbClr val="002060"/>
                </a:solidFill>
              </a:rPr>
              <a:t>指互相有关联的数据元素的集合，用</a:t>
            </a:r>
            <a:r>
              <a:rPr lang="en-US" altLang="zh-CN" dirty="0">
                <a:solidFill>
                  <a:srgbClr val="002060"/>
                </a:solidFill>
              </a:rPr>
              <a:t>D_S=( D, S )</a:t>
            </a:r>
            <a:endParaRPr lang="en-US" altLang="zh-CN" dirty="0">
              <a:solidFill>
                <a:srgbClr val="002060"/>
              </a:solidFill>
            </a:endParaRPr>
          </a:p>
          <a:p>
            <a:r>
              <a:rPr lang="zh-CN" altLang="en-US" dirty="0">
                <a:solidFill>
                  <a:srgbClr val="C00000"/>
                </a:solidFill>
              </a:rPr>
              <a:t>数据结构内容</a:t>
            </a:r>
            <a:r>
              <a:rPr lang="en-US" altLang="zh-CN" dirty="0">
                <a:solidFill>
                  <a:srgbClr val="002060"/>
                </a:solidFill>
              </a:rPr>
              <a:t>——</a:t>
            </a:r>
            <a:r>
              <a:rPr lang="zh-CN" altLang="en-US" dirty="0">
                <a:solidFill>
                  <a:srgbClr val="002060"/>
                </a:solidFill>
              </a:rPr>
              <a:t>数据的逻辑结构、存储结构和运算 </a:t>
            </a:r>
            <a:endParaRPr lang="zh-CN" altLang="en-US" dirty="0">
              <a:solidFill>
                <a:srgbClr val="002060"/>
              </a:solidFill>
            </a:endParaRPr>
          </a:p>
          <a:p>
            <a:r>
              <a:rPr lang="zh-CN" altLang="en-US" dirty="0">
                <a:solidFill>
                  <a:srgbClr val="C00000"/>
                </a:solidFill>
              </a:rPr>
              <a:t>算法效率指标</a:t>
            </a:r>
            <a:r>
              <a:rPr lang="en-US" altLang="zh-CN" dirty="0">
                <a:solidFill>
                  <a:srgbClr val="002060"/>
                </a:solidFill>
              </a:rPr>
              <a:t>——</a:t>
            </a:r>
            <a:r>
              <a:rPr lang="zh-CN" altLang="en-US" dirty="0">
                <a:solidFill>
                  <a:srgbClr val="002060"/>
                </a:solidFill>
              </a:rPr>
              <a:t>时间效率和空间效率 </a:t>
            </a:r>
            <a:endParaRPr lang="zh-CN" altLang="en-US" dirty="0">
              <a:solidFill>
                <a:srgbClr val="002060"/>
              </a:solidFill>
            </a:endParaRPr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回顾</a:t>
            </a:r>
            <a:endParaRPr lang="zh-CN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回顾</a:t>
            </a:r>
            <a:endParaRPr lang="zh-CN" altLang="en-US" dirty="0"/>
          </a:p>
        </p:txBody>
      </p:sp>
      <p:pic>
        <p:nvPicPr>
          <p:cNvPr id="4" name="图片 12" descr="1.JPG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020" y="781202"/>
            <a:ext cx="6070651" cy="38693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 Box 4"/>
          <p:cNvSpPr txBox="1">
            <a:spLocks noChangeArrowheads="1"/>
          </p:cNvSpPr>
          <p:nvPr/>
        </p:nvSpPr>
        <p:spPr bwMode="auto">
          <a:xfrm>
            <a:off x="4658628" y="1290946"/>
            <a:ext cx="1808074" cy="27238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zh-CN" altLang="en-US" sz="1800" dirty="0">
                <a:solidFill>
                  <a:schemeClr val="hlink"/>
                </a:solidFill>
              </a:rPr>
              <a:t>逻辑结构唯一</a:t>
            </a:r>
            <a:endParaRPr lang="zh-CN" altLang="en-US" sz="1800" dirty="0">
              <a:solidFill>
                <a:schemeClr val="hlink"/>
              </a:solidFill>
            </a:endParaRPr>
          </a:p>
          <a:p>
            <a:pPr eaLnBrk="1" hangingPunct="1">
              <a:spcBef>
                <a:spcPct val="50000"/>
              </a:spcBef>
            </a:pPr>
            <a:endParaRPr lang="zh-CN" altLang="en-US" sz="1800" dirty="0">
              <a:solidFill>
                <a:schemeClr val="hlink"/>
              </a:solidFill>
            </a:endParaRPr>
          </a:p>
          <a:p>
            <a:pPr eaLnBrk="1" hangingPunct="1">
              <a:spcBef>
                <a:spcPct val="50000"/>
              </a:spcBef>
            </a:pPr>
            <a:r>
              <a:rPr lang="zh-CN" altLang="en-US" sz="1800" dirty="0">
                <a:solidFill>
                  <a:schemeClr val="hlink"/>
                </a:solidFill>
              </a:rPr>
              <a:t>存储结构不唯一</a:t>
            </a:r>
            <a:endParaRPr lang="zh-CN" altLang="en-US" sz="1800" dirty="0">
              <a:solidFill>
                <a:schemeClr val="hlink"/>
              </a:solidFill>
            </a:endParaRPr>
          </a:p>
          <a:p>
            <a:pPr eaLnBrk="1" hangingPunct="1">
              <a:spcBef>
                <a:spcPct val="50000"/>
              </a:spcBef>
            </a:pPr>
            <a:endParaRPr lang="zh-CN" altLang="en-US" sz="1800" dirty="0">
              <a:solidFill>
                <a:schemeClr val="hlink"/>
              </a:solidFill>
            </a:endParaRPr>
          </a:p>
          <a:p>
            <a:pPr eaLnBrk="1" hangingPunct="1">
              <a:spcBef>
                <a:spcPct val="50000"/>
              </a:spcBef>
            </a:pPr>
            <a:endParaRPr lang="zh-CN" altLang="en-US" sz="1800" dirty="0">
              <a:solidFill>
                <a:schemeClr val="hlink"/>
              </a:solidFill>
            </a:endParaRPr>
          </a:p>
          <a:p>
            <a:pPr eaLnBrk="1" hangingPunct="1">
              <a:spcBef>
                <a:spcPct val="50000"/>
              </a:spcBef>
            </a:pPr>
            <a:r>
              <a:rPr lang="zh-CN" altLang="en-US" sz="1800" dirty="0">
                <a:solidFill>
                  <a:schemeClr val="hlink"/>
                </a:solidFill>
              </a:rPr>
              <a:t>运算的实现依赖于存储结构</a:t>
            </a:r>
            <a:endParaRPr lang="zh-CN" altLang="en-US" sz="1800" dirty="0">
              <a:solidFill>
                <a:schemeClr val="hlink"/>
              </a:solidFill>
            </a:endParaRPr>
          </a:p>
        </p:txBody>
      </p:sp>
      <p:sp>
        <p:nvSpPr>
          <p:cNvPr id="6" name="AutoShape 5"/>
          <p:cNvSpPr>
            <a:spLocks noChangeArrowheads="1"/>
          </p:cNvSpPr>
          <p:nvPr/>
        </p:nvSpPr>
        <p:spPr bwMode="auto">
          <a:xfrm>
            <a:off x="5420638" y="2466637"/>
            <a:ext cx="109741" cy="938502"/>
          </a:xfrm>
          <a:prstGeom prst="upArrow">
            <a:avLst>
              <a:gd name="adj1" fmla="val 50000"/>
              <a:gd name="adj2" fmla="val 185238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</a:ln>
        </p:spPr>
        <p:txBody>
          <a:bodyPr wrap="none" anchor="ctr"/>
          <a:lstStyle>
            <a:lvl1pPr eaLnBrk="0" hangingPunct="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800"/>
          </a:p>
        </p:txBody>
      </p:sp>
      <p:sp>
        <p:nvSpPr>
          <p:cNvPr id="7" name="AutoShape 6"/>
          <p:cNvSpPr/>
          <p:nvPr/>
        </p:nvSpPr>
        <p:spPr bwMode="auto">
          <a:xfrm>
            <a:off x="1245691" y="1295204"/>
            <a:ext cx="260242" cy="2431903"/>
          </a:xfrm>
          <a:prstGeom prst="leftBrace">
            <a:avLst>
              <a:gd name="adj1" fmla="val 67470"/>
              <a:gd name="adj2" fmla="val 50000"/>
            </a:avLst>
          </a:prstGeom>
          <a:noFill/>
          <a:ln w="63500">
            <a:solidFill>
              <a:schemeClr val="accent1"/>
            </a:solidFill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800"/>
          </a:p>
        </p:txBody>
      </p:sp>
      <p:sp>
        <p:nvSpPr>
          <p:cNvPr id="8" name="AutoShape 7"/>
          <p:cNvSpPr/>
          <p:nvPr/>
        </p:nvSpPr>
        <p:spPr bwMode="auto">
          <a:xfrm>
            <a:off x="2375965" y="1048969"/>
            <a:ext cx="106605" cy="475282"/>
          </a:xfrm>
          <a:prstGeom prst="leftBrace">
            <a:avLst>
              <a:gd name="adj1" fmla="val 32190"/>
              <a:gd name="adj2" fmla="val 50000"/>
            </a:avLst>
          </a:prstGeom>
          <a:noFill/>
          <a:ln w="50800">
            <a:solidFill>
              <a:schemeClr val="accent1"/>
            </a:solidFill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800"/>
          </a:p>
        </p:txBody>
      </p:sp>
      <p:sp>
        <p:nvSpPr>
          <p:cNvPr id="9" name="AutoShape 8"/>
          <p:cNvSpPr/>
          <p:nvPr/>
        </p:nvSpPr>
        <p:spPr bwMode="auto">
          <a:xfrm>
            <a:off x="3126041" y="2141989"/>
            <a:ext cx="141095" cy="488553"/>
          </a:xfrm>
          <a:prstGeom prst="leftBrace">
            <a:avLst>
              <a:gd name="adj1" fmla="val 50000"/>
              <a:gd name="adj2" fmla="val 48667"/>
            </a:avLst>
          </a:prstGeom>
          <a:noFill/>
          <a:ln w="50800">
            <a:solidFill>
              <a:schemeClr val="accent1"/>
            </a:solidFill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800"/>
          </a:p>
        </p:txBody>
      </p:sp>
      <p:sp>
        <p:nvSpPr>
          <p:cNvPr id="10" name="AutoShape 9"/>
          <p:cNvSpPr/>
          <p:nvPr/>
        </p:nvSpPr>
        <p:spPr bwMode="auto">
          <a:xfrm>
            <a:off x="3563015" y="1298324"/>
            <a:ext cx="130645" cy="359477"/>
          </a:xfrm>
          <a:prstGeom prst="leftBrace">
            <a:avLst>
              <a:gd name="adj1" fmla="val 19867"/>
              <a:gd name="adj2" fmla="val 48667"/>
            </a:avLst>
          </a:prstGeom>
          <a:noFill/>
          <a:ln w="38100">
            <a:solidFill>
              <a:schemeClr val="accent1"/>
            </a:solidFill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800"/>
          </a:p>
        </p:txBody>
      </p:sp>
      <p:sp>
        <p:nvSpPr>
          <p:cNvPr id="11" name="AutoShape 10"/>
          <p:cNvSpPr/>
          <p:nvPr/>
        </p:nvSpPr>
        <p:spPr bwMode="auto">
          <a:xfrm>
            <a:off x="2388871" y="3089675"/>
            <a:ext cx="130644" cy="1133923"/>
          </a:xfrm>
          <a:prstGeom prst="leftBrace">
            <a:avLst>
              <a:gd name="adj1" fmla="val 62667"/>
              <a:gd name="adj2" fmla="val 48667"/>
            </a:avLst>
          </a:prstGeom>
          <a:noFill/>
          <a:ln w="50800">
            <a:solidFill>
              <a:schemeClr val="accent1"/>
            </a:solidFill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800"/>
          </a:p>
        </p:txBody>
      </p:sp>
      <p:sp>
        <p:nvSpPr>
          <p:cNvPr id="12" name="Line 11"/>
          <p:cNvSpPr>
            <a:spLocks noChangeShapeType="1"/>
          </p:cNvSpPr>
          <p:nvPr/>
        </p:nvSpPr>
        <p:spPr bwMode="auto">
          <a:xfrm>
            <a:off x="3484346" y="1118139"/>
            <a:ext cx="2583758" cy="15787"/>
          </a:xfrm>
          <a:prstGeom prst="line">
            <a:avLst/>
          </a:prstGeom>
          <a:noFill/>
          <a:ln w="38100">
            <a:solidFill>
              <a:schemeClr val="accent1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sz="1015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85000"/>
              </a:lnSpc>
            </a:pPr>
            <a:r>
              <a:rPr lang="en-US" altLang="zh-CN" sz="2400" dirty="0"/>
              <a:t>2.1  </a:t>
            </a:r>
            <a:r>
              <a:rPr lang="zh-CN" altLang="en-US" sz="2400" dirty="0"/>
              <a:t>线性表的类型定义 </a:t>
            </a:r>
            <a:endParaRPr lang="zh-CN" altLang="en-US" sz="2400" dirty="0"/>
          </a:p>
          <a:p>
            <a:pPr eaLnBrk="1" hangingPunct="1">
              <a:lnSpc>
                <a:spcPct val="185000"/>
              </a:lnSpc>
            </a:pPr>
            <a:r>
              <a:rPr lang="en-US" altLang="zh-CN" sz="2400" dirty="0"/>
              <a:t>2.2  </a:t>
            </a:r>
            <a:r>
              <a:rPr lang="zh-CN" altLang="en-US" sz="2400" dirty="0"/>
              <a:t>线性表的顺序表示和实现 </a:t>
            </a:r>
            <a:endParaRPr lang="zh-CN" altLang="en-US" sz="2400" dirty="0"/>
          </a:p>
          <a:p>
            <a:pPr eaLnBrk="1" hangingPunct="1">
              <a:lnSpc>
                <a:spcPct val="185000"/>
              </a:lnSpc>
            </a:pPr>
            <a:r>
              <a:rPr lang="en-US" altLang="zh-CN" sz="2400" dirty="0"/>
              <a:t>2.3  </a:t>
            </a:r>
            <a:r>
              <a:rPr lang="zh-CN" altLang="en-US" sz="2400" dirty="0"/>
              <a:t>线性表的链式表示和实现</a:t>
            </a:r>
            <a:endParaRPr lang="en-US" altLang="zh-CN" sz="2400" dirty="0"/>
          </a:p>
          <a:p>
            <a:pPr eaLnBrk="1" hangingPunct="1">
              <a:lnSpc>
                <a:spcPct val="185000"/>
              </a:lnSpc>
            </a:pPr>
            <a:r>
              <a:rPr lang="en-US" altLang="zh-CN" sz="2400" dirty="0"/>
              <a:t>2.4  </a:t>
            </a:r>
            <a:r>
              <a:rPr lang="zh-CN" altLang="en-US" sz="2400" dirty="0"/>
              <a:t>一元多项式的表示及相加 </a:t>
            </a:r>
            <a:endParaRPr lang="zh-CN" altLang="en-US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线性表</a:t>
            </a:r>
            <a:endParaRPr lang="zh-CN" alt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sz="2400" dirty="0"/>
              <a:t>例：学生成绩管理</a:t>
            </a:r>
            <a:endParaRPr lang="en-US" altLang="zh-CN" sz="2400" dirty="0"/>
          </a:p>
          <a:p>
            <a:pPr lvl="2"/>
            <a:endParaRPr lang="en-US" altLang="zh-CN" sz="2200" dirty="0"/>
          </a:p>
          <a:p>
            <a:pPr lvl="2"/>
            <a:endParaRPr lang="en-US" altLang="zh-CN" sz="2200" dirty="0"/>
          </a:p>
          <a:p>
            <a:pPr lvl="2"/>
            <a:endParaRPr lang="en-US" altLang="zh-CN" sz="2200" dirty="0"/>
          </a:p>
          <a:p>
            <a:pPr lvl="2"/>
            <a:endParaRPr lang="en-US" altLang="zh-CN" sz="2200" dirty="0"/>
          </a:p>
          <a:p>
            <a:pPr lvl="2"/>
            <a:endParaRPr lang="en-US" altLang="zh-CN" sz="2200" dirty="0"/>
          </a:p>
          <a:p>
            <a:pPr lvl="2"/>
            <a:endParaRPr lang="en-US" altLang="zh-CN" sz="2200" dirty="0"/>
          </a:p>
          <a:p>
            <a:pPr lvl="2"/>
            <a:endParaRPr lang="en-US" altLang="zh-CN" sz="2200" dirty="0"/>
          </a:p>
          <a:p>
            <a:pPr lvl="2"/>
            <a:r>
              <a:rPr lang="zh-CN" altLang="en-US" sz="2200" dirty="0"/>
              <a:t>主要操作：查找、排序、插入、删除</a:t>
            </a:r>
            <a:endParaRPr lang="zh-CN" altLang="en-US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2.1 </a:t>
            </a:r>
            <a:r>
              <a:rPr lang="zh-CN" altLang="en-US" dirty="0"/>
              <a:t>线性表的类型定义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773" y="1149052"/>
            <a:ext cx="4526784" cy="283580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方法</a:t>
            </a:r>
            <a:r>
              <a:rPr lang="en-US" altLang="zh-CN" dirty="0"/>
              <a:t>1</a:t>
            </a:r>
            <a:r>
              <a:rPr lang="zh-CN" altLang="en-US" dirty="0"/>
              <a:t>：结构数组（顺序存储结构）表示</a:t>
            </a:r>
            <a:endParaRPr lang="en-US" altLang="zh-CN" dirty="0"/>
          </a:p>
          <a:p>
            <a:pPr lvl="2">
              <a:defRPr/>
            </a:pPr>
            <a:r>
              <a:rPr lang="en-US" altLang="zh-CN" dirty="0" err="1"/>
              <a:t>struct</a:t>
            </a:r>
            <a:r>
              <a:rPr lang="en-US" altLang="zh-CN" dirty="0"/>
              <a:t> Student{</a:t>
            </a:r>
            <a:endParaRPr lang="en-US" altLang="zh-CN" dirty="0"/>
          </a:p>
          <a:p>
            <a:pPr lvl="2">
              <a:defRPr/>
            </a:pPr>
            <a:r>
              <a:rPr lang="en-US" altLang="zh-CN" dirty="0"/>
              <a:t>    char No[13];</a:t>
            </a:r>
            <a:endParaRPr lang="en-US" altLang="zh-CN" dirty="0"/>
          </a:p>
          <a:p>
            <a:pPr lvl="2">
              <a:defRPr/>
            </a:pPr>
            <a:r>
              <a:rPr lang="en-US" altLang="zh-CN" dirty="0"/>
              <a:t>    char Name[20];</a:t>
            </a:r>
            <a:endParaRPr lang="en-US" altLang="zh-CN" dirty="0"/>
          </a:p>
          <a:p>
            <a:pPr lvl="2">
              <a:defRPr/>
            </a:pPr>
            <a:r>
              <a:rPr lang="en-US" altLang="zh-CN" dirty="0"/>
              <a:t>    double Score;</a:t>
            </a:r>
            <a:endParaRPr lang="en-US" altLang="zh-CN" dirty="0"/>
          </a:p>
          <a:p>
            <a:pPr lvl="2">
              <a:defRPr/>
            </a:pPr>
            <a:r>
              <a:rPr lang="en-US" altLang="zh-CN" dirty="0"/>
              <a:t>    </a:t>
            </a:r>
            <a:r>
              <a:rPr lang="en-US" altLang="zh-CN" dirty="0" err="1"/>
              <a:t>int</a:t>
            </a:r>
            <a:r>
              <a:rPr lang="en-US" altLang="zh-CN" dirty="0"/>
              <a:t> Rank;</a:t>
            </a:r>
            <a:endParaRPr lang="en-US" altLang="zh-CN" dirty="0"/>
          </a:p>
          <a:p>
            <a:pPr lvl="2">
              <a:defRPr/>
            </a:pPr>
            <a:r>
              <a:rPr lang="en-US" altLang="zh-CN" dirty="0"/>
              <a:t>};</a:t>
            </a:r>
            <a:endParaRPr lang="en-US" altLang="zh-CN" dirty="0"/>
          </a:p>
          <a:p>
            <a:pPr lvl="2">
              <a:defRPr/>
            </a:pPr>
            <a:r>
              <a:rPr lang="en-US" altLang="zh-CN" dirty="0" err="1"/>
              <a:t>struct</a:t>
            </a:r>
            <a:r>
              <a:rPr lang="en-US" altLang="zh-CN" dirty="0"/>
              <a:t> Student </a:t>
            </a:r>
            <a:r>
              <a:rPr lang="en-US" altLang="zh-CN" dirty="0" err="1"/>
              <a:t>stu</a:t>
            </a:r>
            <a:r>
              <a:rPr lang="en-US" altLang="zh-CN" dirty="0"/>
              <a:t>[100];</a:t>
            </a:r>
            <a:endParaRPr lang="zh-CN" altLang="en-US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2.1 </a:t>
            </a:r>
            <a:r>
              <a:rPr lang="zh-CN" altLang="en-US" dirty="0"/>
              <a:t>线性表的类型定义</a:t>
            </a:r>
            <a:endParaRPr lang="zh-CN" alt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zh-CN" altLang="en-US" dirty="0"/>
              <a:t>数组元素的删除操作</a:t>
            </a:r>
            <a:endParaRPr lang="zh-CN" altLang="en-US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2.1 </a:t>
            </a:r>
            <a:r>
              <a:rPr lang="zh-CN" altLang="en-US" dirty="0"/>
              <a:t>线性表的类型定义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187" y="1200777"/>
            <a:ext cx="5094977" cy="3191751"/>
          </a:xfrm>
          <a:prstGeom prst="rect">
            <a:avLst/>
          </a:prstGeom>
          <a:noFill/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187" y="1204641"/>
            <a:ext cx="5094977" cy="2863003"/>
          </a:xfrm>
          <a:prstGeom prst="rect">
            <a:avLst/>
          </a:prstGeom>
        </p:spPr>
      </p:pic>
      <p:sp>
        <p:nvSpPr>
          <p:cNvPr id="6" name="矩形 5"/>
          <p:cNvSpPr/>
          <p:nvPr/>
        </p:nvSpPr>
        <p:spPr>
          <a:xfrm>
            <a:off x="712693" y="2231919"/>
            <a:ext cx="5023963" cy="251448"/>
          </a:xfrm>
          <a:prstGeom prst="rect">
            <a:avLst/>
          </a:prstGeom>
          <a:noFill/>
          <a:ln w="28575" cmpd="thinThick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/>
          </a:p>
        </p:txBody>
      </p:sp>
      <p:sp>
        <p:nvSpPr>
          <p:cNvPr id="7" name="矩形 6"/>
          <p:cNvSpPr/>
          <p:nvPr/>
        </p:nvSpPr>
        <p:spPr>
          <a:xfrm>
            <a:off x="677187" y="2231919"/>
            <a:ext cx="5094978" cy="25144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7" grpId="1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方法</a:t>
            </a:r>
            <a:r>
              <a:rPr lang="en-US" altLang="zh-CN" dirty="0"/>
              <a:t>2</a:t>
            </a:r>
            <a:r>
              <a:rPr lang="zh-CN" altLang="en-US" dirty="0"/>
              <a:t>：链式存储结构表示</a:t>
            </a:r>
            <a:endParaRPr lang="en-US" altLang="zh-CN" dirty="0"/>
          </a:p>
          <a:p>
            <a:pPr lvl="2"/>
            <a:r>
              <a:rPr lang="zh-CN" altLang="en-US" dirty="0"/>
              <a:t>链表中每个结点存储成绩表中一个同学的信息和后继元素指针 </a:t>
            </a:r>
            <a:endParaRPr lang="zh-CN" altLang="en-US" dirty="0"/>
          </a:p>
          <a:p>
            <a:pPr lvl="2"/>
            <a:r>
              <a:rPr lang="en-US" altLang="zh-CN" dirty="0" err="1"/>
              <a:t>struct</a:t>
            </a:r>
            <a:r>
              <a:rPr lang="en-US" altLang="zh-CN" dirty="0"/>
              <a:t>  List{ </a:t>
            </a:r>
            <a:endParaRPr lang="en-US" altLang="zh-CN" dirty="0"/>
          </a:p>
          <a:p>
            <a:pPr lvl="2"/>
            <a:r>
              <a:rPr lang="en-US" altLang="zh-CN" dirty="0"/>
              <a:t>    </a:t>
            </a:r>
            <a:r>
              <a:rPr lang="en-US" altLang="zh-CN" dirty="0" err="1"/>
              <a:t>struct</a:t>
            </a:r>
            <a:r>
              <a:rPr lang="en-US" altLang="zh-CN" dirty="0"/>
              <a:t> Student   </a:t>
            </a:r>
            <a:r>
              <a:rPr lang="en-US" altLang="zh-CN" dirty="0" err="1"/>
              <a:t>stu</a:t>
            </a:r>
            <a:r>
              <a:rPr lang="en-US" altLang="zh-CN" dirty="0"/>
              <a:t>;</a:t>
            </a:r>
            <a:endParaRPr lang="en-US" altLang="zh-CN" dirty="0"/>
          </a:p>
          <a:p>
            <a:pPr lvl="2"/>
            <a:r>
              <a:rPr lang="en-US" altLang="zh-CN" dirty="0"/>
              <a:t>    </a:t>
            </a:r>
            <a:r>
              <a:rPr lang="en-US" altLang="zh-CN" dirty="0" err="1"/>
              <a:t>struct</a:t>
            </a:r>
            <a:r>
              <a:rPr lang="en-US" altLang="zh-CN" dirty="0"/>
              <a:t> List      *next; </a:t>
            </a:r>
            <a:endParaRPr lang="en-US" altLang="zh-CN" dirty="0"/>
          </a:p>
          <a:p>
            <a:pPr lvl="2"/>
            <a:r>
              <a:rPr lang="en-US" altLang="zh-CN" dirty="0"/>
              <a:t>};</a:t>
            </a:r>
            <a:endParaRPr lang="en-US" altLang="zh-CN" dirty="0"/>
          </a:p>
          <a:p>
            <a:pPr lvl="2"/>
            <a:r>
              <a:rPr lang="en-US" altLang="zh-CN" dirty="0" err="1"/>
              <a:t>struct</a:t>
            </a:r>
            <a:r>
              <a:rPr lang="en-US" altLang="zh-CN" dirty="0"/>
              <a:t> List *L;</a:t>
            </a:r>
            <a:r>
              <a:rPr lang="zh-CN" altLang="en-US" dirty="0"/>
              <a:t> </a:t>
            </a:r>
            <a:endParaRPr lang="zh-CN" altLang="en-US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2.1 </a:t>
            </a:r>
            <a:r>
              <a:rPr lang="zh-CN" altLang="en-US" dirty="0"/>
              <a:t>线性表的类型定义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/>
        </p:nvGraphicFramePr>
        <p:xfrm>
          <a:off x="559725" y="4227972"/>
          <a:ext cx="3344100" cy="297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940"/>
                <a:gridCol w="222940"/>
                <a:gridCol w="222940"/>
                <a:gridCol w="222940"/>
                <a:gridCol w="222940"/>
                <a:gridCol w="222940"/>
                <a:gridCol w="222940"/>
                <a:gridCol w="222940"/>
                <a:gridCol w="222940"/>
                <a:gridCol w="222940"/>
                <a:gridCol w="222940"/>
                <a:gridCol w="222940"/>
                <a:gridCol w="222940"/>
                <a:gridCol w="222940"/>
                <a:gridCol w="222940"/>
              </a:tblGrid>
              <a:tr h="297180">
                <a:tc>
                  <a:txBody>
                    <a:bodyPr/>
                    <a:lstStyle/>
                    <a:p>
                      <a:r>
                        <a:rPr lang="en-US" altLang="zh-CN" sz="1500" b="1" kern="1200" dirty="0">
                          <a:solidFill>
                            <a:srgbClr val="00194C"/>
                          </a:solidFill>
                          <a:latin typeface="+mn-lt"/>
                          <a:ea typeface="+mn-ea"/>
                          <a:cs typeface="+mn-cs"/>
                        </a:rPr>
                        <a:t>L</a:t>
                      </a:r>
                      <a:endParaRPr lang="zh-CN" altLang="en-US" sz="1500" b="1" kern="1200" dirty="0">
                        <a:solidFill>
                          <a:srgbClr val="00194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wdUpDiag">
                      <a:fgClr>
                        <a:schemeClr val="tx1"/>
                      </a:fgClr>
                      <a:bgClr>
                        <a:srgbClr val="D1F0FB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endParaRPr lang="zh-CN" altLang="en-US" sz="1000" dirty="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0" dirty="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0" dirty="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0" dirty="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0" dirty="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0" dirty="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0" dirty="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0" dirty="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0" dirty="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0" dirty="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0" dirty="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00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zh-CN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cxnSp>
        <p:nvCxnSpPr>
          <p:cNvPr id="5" name="直接箭头连接符 4"/>
          <p:cNvCxnSpPr/>
          <p:nvPr/>
        </p:nvCxnSpPr>
        <p:spPr>
          <a:xfrm>
            <a:off x="765067" y="4388286"/>
            <a:ext cx="23095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箭头连接符 5"/>
          <p:cNvCxnSpPr/>
          <p:nvPr/>
        </p:nvCxnSpPr>
        <p:spPr>
          <a:xfrm>
            <a:off x="1313313" y="4388286"/>
            <a:ext cx="35995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接箭头连接符 6"/>
          <p:cNvCxnSpPr/>
          <p:nvPr/>
        </p:nvCxnSpPr>
        <p:spPr>
          <a:xfrm>
            <a:off x="1989457" y="4388286"/>
            <a:ext cx="35995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箭头连接符 7"/>
          <p:cNvCxnSpPr/>
          <p:nvPr/>
        </p:nvCxnSpPr>
        <p:spPr>
          <a:xfrm>
            <a:off x="2649156" y="4388286"/>
            <a:ext cx="35995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箭头连接符 8"/>
          <p:cNvCxnSpPr/>
          <p:nvPr/>
        </p:nvCxnSpPr>
        <p:spPr>
          <a:xfrm>
            <a:off x="3327287" y="4386800"/>
            <a:ext cx="35995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2" algn="l"/>
            <a:r>
              <a:rPr lang="zh-CN" altLang="en-US" dirty="0"/>
              <a:t>从学生成绩表这个例子我们可以得知：</a:t>
            </a:r>
            <a:endParaRPr lang="en-US" altLang="zh-CN" dirty="0"/>
          </a:p>
          <a:p>
            <a:pPr lvl="2" algn="l"/>
            <a:r>
              <a:rPr lang="zh-CN" altLang="en-US" dirty="0">
                <a:solidFill>
                  <a:srgbClr val="FF0000"/>
                </a:solidFill>
              </a:rPr>
              <a:t>同一个问题可以用不同的存储结构来表示</a:t>
            </a:r>
            <a:endParaRPr lang="en-US" altLang="zh-CN" dirty="0">
              <a:solidFill>
                <a:srgbClr val="FF0000"/>
              </a:solidFill>
            </a:endParaRPr>
          </a:p>
          <a:p>
            <a:pPr lvl="2" algn="l"/>
            <a:endParaRPr lang="en-US" altLang="zh-CN" dirty="0"/>
          </a:p>
          <a:p>
            <a:pPr lvl="2" algn="l"/>
            <a:r>
              <a:rPr lang="zh-CN" altLang="en-US" dirty="0"/>
              <a:t>学生成绩表可以抽象为</a:t>
            </a:r>
            <a:r>
              <a:rPr lang="zh-CN" altLang="en-US" dirty="0">
                <a:solidFill>
                  <a:srgbClr val="FF0000"/>
                </a:solidFill>
              </a:rPr>
              <a:t>线性表</a:t>
            </a:r>
            <a:endParaRPr lang="zh-CN" altLang="en-US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2.1 </a:t>
            </a:r>
            <a:r>
              <a:rPr lang="zh-CN" altLang="en-US" dirty="0"/>
              <a:t>线性表的类型定义</a:t>
            </a:r>
            <a:endParaRPr lang="zh-CN" altLang="en-US" dirty="0"/>
          </a:p>
        </p:txBody>
      </p:sp>
      <p:graphicFrame>
        <p:nvGraphicFramePr>
          <p:cNvPr id="10" name="Object 9"/>
          <p:cNvGraphicFramePr>
            <a:graphicFrameLocks noChangeAspect="1"/>
          </p:cNvGraphicFramePr>
          <p:nvPr/>
        </p:nvGraphicFramePr>
        <p:xfrm>
          <a:off x="861441" y="2883074"/>
          <a:ext cx="4254848" cy="54351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00" name="VISIO" r:id="rId1" imgW="1653540" imgH="213360" progId="Visio.Drawing.11">
                  <p:embed/>
                </p:oleObj>
              </mc:Choice>
              <mc:Fallback>
                <p:oleObj name="VISIO" r:id="rId1" imgW="1653540" imgH="213360" progId="Visio.Drawing.11">
                  <p:embed/>
                  <p:pic>
                    <p:nvPicPr>
                      <p:cNvPr id="0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1441" y="2883074"/>
                        <a:ext cx="4254848" cy="543519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线性表：</a:t>
            </a:r>
            <a:r>
              <a:rPr lang="en-US" altLang="zh-CN" dirty="0"/>
              <a:t>n</a:t>
            </a:r>
            <a:r>
              <a:rPr lang="zh-CN" altLang="en-US" dirty="0"/>
              <a:t>个同类型数据元素构成的</a:t>
            </a:r>
            <a:r>
              <a:rPr lang="zh-CN" altLang="en-US" dirty="0">
                <a:solidFill>
                  <a:srgbClr val="FF0000"/>
                </a:solidFill>
              </a:rPr>
              <a:t>有限序列</a:t>
            </a:r>
            <a:endParaRPr lang="zh-CN" altLang="en-US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2.1 </a:t>
            </a:r>
            <a:r>
              <a:rPr lang="zh-CN" altLang="en-US" dirty="0"/>
              <a:t>线性表的类型定义</a:t>
            </a:r>
            <a:endParaRPr lang="zh-CN" altLang="en-US" dirty="0"/>
          </a:p>
        </p:txBody>
      </p:sp>
      <p:sp>
        <p:nvSpPr>
          <p:cNvPr id="5" name="Rectangle 2"/>
          <p:cNvSpPr>
            <a:spLocks noChangeArrowheads="1"/>
          </p:cNvSpPr>
          <p:nvPr/>
        </p:nvSpPr>
        <p:spPr bwMode="auto">
          <a:xfrm>
            <a:off x="1114297" y="1678193"/>
            <a:ext cx="4612580" cy="6013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>
              <a:spcBef>
                <a:spcPct val="50000"/>
              </a:spcBef>
              <a:spcAft>
                <a:spcPct val="30000"/>
              </a:spcAft>
              <a:buNone/>
            </a:pPr>
            <a:r>
              <a:rPr lang="zh-CN" altLang="en-US" sz="2025" dirty="0"/>
              <a:t>（</a:t>
            </a:r>
            <a:r>
              <a:rPr lang="en-US" altLang="zh-CN" sz="2025" dirty="0"/>
              <a:t>a</a:t>
            </a:r>
            <a:r>
              <a:rPr lang="en-US" altLang="zh-CN" sz="2025" baseline="-30000" dirty="0"/>
              <a:t>1</a:t>
            </a:r>
            <a:r>
              <a:rPr lang="en-US" altLang="zh-CN" sz="2025" dirty="0"/>
              <a:t>, a</a:t>
            </a:r>
            <a:r>
              <a:rPr lang="en-US" altLang="zh-CN" sz="2025" baseline="-30000" dirty="0"/>
              <a:t>2</a:t>
            </a:r>
            <a:r>
              <a:rPr lang="en-US" altLang="zh-CN" sz="2025" dirty="0"/>
              <a:t>, … a</a:t>
            </a:r>
            <a:r>
              <a:rPr lang="en-US" altLang="zh-CN" sz="2025" baseline="-30000" dirty="0"/>
              <a:t>i-1</a:t>
            </a:r>
            <a:r>
              <a:rPr lang="zh-CN" altLang="en-US" sz="2025" baseline="-30000" dirty="0"/>
              <a:t>，</a:t>
            </a:r>
            <a:r>
              <a:rPr lang="en-US" altLang="zh-CN" sz="2025" dirty="0" err="1"/>
              <a:t>a</a:t>
            </a:r>
            <a:r>
              <a:rPr lang="en-US" altLang="zh-CN" sz="2025" baseline="-30000" dirty="0" err="1"/>
              <a:t>i</a:t>
            </a:r>
            <a:r>
              <a:rPr lang="zh-CN" altLang="en-US" sz="2025" baseline="-30000" dirty="0"/>
              <a:t> ，</a:t>
            </a:r>
            <a:r>
              <a:rPr lang="en-US" altLang="zh-CN" sz="2025" dirty="0" err="1"/>
              <a:t>a</a:t>
            </a:r>
            <a:r>
              <a:rPr lang="en-US" altLang="zh-CN" sz="2025" baseline="-30000" dirty="0" err="1"/>
              <a:t>i</a:t>
            </a:r>
            <a:r>
              <a:rPr lang="zh-CN" altLang="en-US" sz="2025" baseline="-30000" dirty="0"/>
              <a:t>＋</a:t>
            </a:r>
            <a:r>
              <a:rPr lang="en-US" altLang="zh-CN" sz="2025" baseline="-30000" dirty="0"/>
              <a:t>1</a:t>
            </a:r>
            <a:r>
              <a:rPr lang="zh-CN" altLang="en-US" sz="2025" baseline="-30000" dirty="0"/>
              <a:t>，</a:t>
            </a:r>
            <a:r>
              <a:rPr lang="en-US" altLang="zh-CN" sz="2025" dirty="0"/>
              <a:t>… , a</a:t>
            </a:r>
            <a:r>
              <a:rPr lang="en-US" altLang="zh-CN" sz="2025" baseline="-30000" dirty="0"/>
              <a:t>n</a:t>
            </a:r>
            <a:r>
              <a:rPr lang="zh-CN" altLang="en-US" sz="2025" dirty="0"/>
              <a:t>）</a:t>
            </a:r>
            <a:endParaRPr lang="zh-CN" altLang="en-US" sz="2025" dirty="0"/>
          </a:p>
          <a:p>
            <a:pPr algn="ctr" eaLnBrk="1" hangingPunct="1">
              <a:spcBef>
                <a:spcPct val="50000"/>
              </a:spcBef>
              <a:spcAft>
                <a:spcPct val="30000"/>
              </a:spcAft>
              <a:buFontTx/>
              <a:buNone/>
            </a:pPr>
            <a:endParaRPr lang="en-US" altLang="zh-CN" sz="450" dirty="0"/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2512195" y="3707592"/>
            <a:ext cx="1257780" cy="3347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zh-CN" sz="1575" dirty="0"/>
              <a:t>n=0</a:t>
            </a:r>
            <a:r>
              <a:rPr lang="zh-CN" altLang="en-US" sz="1575" dirty="0"/>
              <a:t>时称为</a:t>
            </a:r>
            <a:endParaRPr lang="zh-CN" altLang="en-US" sz="1575" dirty="0"/>
          </a:p>
        </p:txBody>
      </p:sp>
      <p:sp>
        <p:nvSpPr>
          <p:cNvPr id="7" name="AutoShape 6"/>
          <p:cNvSpPr/>
          <p:nvPr/>
        </p:nvSpPr>
        <p:spPr bwMode="auto">
          <a:xfrm rot="-5400000">
            <a:off x="3230786" y="748226"/>
            <a:ext cx="325911" cy="2905624"/>
          </a:xfrm>
          <a:prstGeom prst="leftBrace">
            <a:avLst>
              <a:gd name="adj1" fmla="val 75000"/>
              <a:gd name="adj2" fmla="val 50000"/>
            </a:avLst>
          </a:prstGeom>
          <a:noFill/>
          <a:ln w="25400">
            <a:solidFill>
              <a:schemeClr val="accent1"/>
            </a:solidFill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CN" altLang="en-US" sz="1350"/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2952787" y="2321131"/>
            <a:ext cx="877163" cy="3000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zh-CN" altLang="en-US" sz="1350" dirty="0"/>
              <a:t>数据元素</a:t>
            </a:r>
            <a:endParaRPr lang="zh-CN" altLang="en-US" sz="1350" dirty="0"/>
          </a:p>
        </p:txBody>
      </p:sp>
      <p:sp>
        <p:nvSpPr>
          <p:cNvPr id="9" name="Line 8"/>
          <p:cNvSpPr>
            <a:spLocks noChangeShapeType="1"/>
          </p:cNvSpPr>
          <p:nvPr/>
        </p:nvSpPr>
        <p:spPr bwMode="auto">
          <a:xfrm flipH="1">
            <a:off x="1383716" y="1978231"/>
            <a:ext cx="514350" cy="728663"/>
          </a:xfrm>
          <a:prstGeom prst="line">
            <a:avLst/>
          </a:prstGeom>
          <a:noFill/>
          <a:ln w="34925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sz="760"/>
          </a:p>
        </p:txBody>
      </p:sp>
      <p:sp>
        <p:nvSpPr>
          <p:cNvPr id="11" name="Rectangle 9"/>
          <p:cNvSpPr>
            <a:spLocks noChangeArrowheads="1"/>
          </p:cNvSpPr>
          <p:nvPr/>
        </p:nvSpPr>
        <p:spPr bwMode="auto">
          <a:xfrm>
            <a:off x="1100908" y="2710465"/>
            <a:ext cx="530915" cy="3000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zh-CN" altLang="en-US" sz="1350" dirty="0"/>
              <a:t>表头</a:t>
            </a:r>
            <a:endParaRPr lang="zh-CN" altLang="en-US" sz="1350" dirty="0"/>
          </a:p>
        </p:txBody>
      </p:sp>
      <p:sp>
        <p:nvSpPr>
          <p:cNvPr id="12" name="Line 10"/>
          <p:cNvSpPr>
            <a:spLocks noChangeShapeType="1"/>
          </p:cNvSpPr>
          <p:nvPr/>
        </p:nvSpPr>
        <p:spPr bwMode="auto">
          <a:xfrm>
            <a:off x="4978633" y="2059911"/>
            <a:ext cx="544376" cy="618408"/>
          </a:xfrm>
          <a:prstGeom prst="line">
            <a:avLst/>
          </a:prstGeom>
          <a:noFill/>
          <a:ln w="34925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sz="760"/>
          </a:p>
        </p:txBody>
      </p:sp>
      <p:sp>
        <p:nvSpPr>
          <p:cNvPr id="13" name="Rectangle 11"/>
          <p:cNvSpPr>
            <a:spLocks noChangeArrowheads="1"/>
          </p:cNvSpPr>
          <p:nvPr/>
        </p:nvSpPr>
        <p:spPr bwMode="auto">
          <a:xfrm>
            <a:off x="2237399" y="2678319"/>
            <a:ext cx="1176925" cy="3347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zh-CN" sz="1575" dirty="0" err="1"/>
              <a:t>a</a:t>
            </a:r>
            <a:r>
              <a:rPr lang="en-US" altLang="zh-CN" sz="1575" baseline="-30000" dirty="0" err="1"/>
              <a:t>i</a:t>
            </a:r>
            <a:r>
              <a:rPr lang="zh-CN" altLang="en-US" sz="1350" dirty="0"/>
              <a:t>的直接前趋</a:t>
            </a:r>
            <a:endParaRPr lang="zh-CN" altLang="en-US" sz="1350" dirty="0"/>
          </a:p>
        </p:txBody>
      </p:sp>
      <p:sp>
        <p:nvSpPr>
          <p:cNvPr id="14" name="Rectangle 12"/>
          <p:cNvSpPr>
            <a:spLocks noChangeArrowheads="1"/>
          </p:cNvSpPr>
          <p:nvPr/>
        </p:nvSpPr>
        <p:spPr bwMode="auto">
          <a:xfrm>
            <a:off x="3392900" y="2678319"/>
            <a:ext cx="1176925" cy="3347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zh-CN" sz="1575"/>
              <a:t>a</a:t>
            </a:r>
            <a:r>
              <a:rPr lang="en-US" altLang="zh-CN" sz="1575" baseline="-30000"/>
              <a:t>i</a:t>
            </a:r>
            <a:r>
              <a:rPr lang="zh-CN" altLang="en-US" sz="1350"/>
              <a:t>的直接后继</a:t>
            </a:r>
            <a:endParaRPr lang="zh-CN" altLang="en-US" sz="1350"/>
          </a:p>
        </p:txBody>
      </p:sp>
      <p:sp>
        <p:nvSpPr>
          <p:cNvPr id="15" name="Line 13"/>
          <p:cNvSpPr>
            <a:spLocks noChangeShapeType="1"/>
          </p:cNvSpPr>
          <p:nvPr/>
        </p:nvSpPr>
        <p:spPr bwMode="auto">
          <a:xfrm>
            <a:off x="3012491" y="2063956"/>
            <a:ext cx="0" cy="642938"/>
          </a:xfrm>
          <a:prstGeom prst="line">
            <a:avLst/>
          </a:prstGeom>
          <a:noFill/>
          <a:ln w="34925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sz="760"/>
          </a:p>
        </p:txBody>
      </p:sp>
      <p:sp>
        <p:nvSpPr>
          <p:cNvPr id="16" name="Line 14"/>
          <p:cNvSpPr>
            <a:spLocks noChangeShapeType="1"/>
          </p:cNvSpPr>
          <p:nvPr/>
        </p:nvSpPr>
        <p:spPr bwMode="auto">
          <a:xfrm>
            <a:off x="4000498" y="2059912"/>
            <a:ext cx="25631" cy="618407"/>
          </a:xfrm>
          <a:prstGeom prst="line">
            <a:avLst/>
          </a:prstGeom>
          <a:noFill/>
          <a:ln w="34925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sz="760"/>
          </a:p>
        </p:txBody>
      </p:sp>
      <p:sp>
        <p:nvSpPr>
          <p:cNvPr id="17" name="AutoShape 15"/>
          <p:cNvSpPr>
            <a:spLocks noChangeArrowheads="1"/>
          </p:cNvSpPr>
          <p:nvPr/>
        </p:nvSpPr>
        <p:spPr bwMode="auto">
          <a:xfrm flipV="1">
            <a:off x="1126541" y="3032217"/>
            <a:ext cx="1243013" cy="499308"/>
          </a:xfrm>
          <a:prstGeom prst="wedgeRoundRectCallout">
            <a:avLst>
              <a:gd name="adj1" fmla="val 23335"/>
              <a:gd name="adj2" fmla="val 228532"/>
              <a:gd name="adj3" fmla="val 16667"/>
            </a:avLst>
          </a:prstGeom>
          <a:noFill/>
          <a:ln w="34925">
            <a:solidFill>
              <a:schemeClr val="hlink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rot="10800000"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zh-CN" altLang="en-US" sz="1125" dirty="0">
                <a:solidFill>
                  <a:srgbClr val="FF0000"/>
                </a:solidFill>
              </a:rPr>
              <a:t>下标</a:t>
            </a:r>
            <a:r>
              <a:rPr lang="zh-CN" altLang="en-US" sz="1125" dirty="0"/>
              <a:t>：序号，元素在表中的位置</a:t>
            </a:r>
            <a:endParaRPr lang="zh-CN" altLang="en-US" sz="1125" dirty="0"/>
          </a:p>
        </p:txBody>
      </p:sp>
      <p:sp>
        <p:nvSpPr>
          <p:cNvPr id="18" name="AutoShape 16"/>
          <p:cNvSpPr>
            <a:spLocks noChangeArrowheads="1"/>
          </p:cNvSpPr>
          <p:nvPr/>
        </p:nvSpPr>
        <p:spPr bwMode="auto">
          <a:xfrm flipV="1">
            <a:off x="4584361" y="3039549"/>
            <a:ext cx="983276" cy="396007"/>
          </a:xfrm>
          <a:prstGeom prst="wedgeRoundRectCallout">
            <a:avLst>
              <a:gd name="adj1" fmla="val -21984"/>
              <a:gd name="adj2" fmla="val 271798"/>
              <a:gd name="adj3" fmla="val 16667"/>
            </a:avLst>
          </a:prstGeom>
          <a:noFill/>
          <a:ln w="34925">
            <a:solidFill>
              <a:schemeClr val="hlink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rot="10800000"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zh-CN" sz="1575" dirty="0">
                <a:solidFill>
                  <a:srgbClr val="FF0000"/>
                </a:solidFill>
              </a:rPr>
              <a:t>n</a:t>
            </a:r>
            <a:r>
              <a:rPr lang="zh-CN" altLang="en-US" sz="1125" dirty="0"/>
              <a:t>：表长</a:t>
            </a:r>
            <a:endParaRPr lang="zh-CN" altLang="en-US" sz="1125" dirty="0"/>
          </a:p>
        </p:txBody>
      </p:sp>
      <p:sp>
        <p:nvSpPr>
          <p:cNvPr id="19" name="Rectangle 17"/>
          <p:cNvSpPr>
            <a:spLocks noChangeArrowheads="1"/>
          </p:cNvSpPr>
          <p:nvPr/>
        </p:nvSpPr>
        <p:spPr bwMode="auto">
          <a:xfrm>
            <a:off x="3668558" y="3680977"/>
            <a:ext cx="749438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zh-CN" altLang="en-US" sz="1800" b="1" dirty="0">
                <a:solidFill>
                  <a:srgbClr val="FF0000"/>
                </a:solidFill>
              </a:rPr>
              <a:t>空表</a:t>
            </a:r>
            <a:endParaRPr lang="zh-CN" altLang="en-US" sz="1800" b="1" dirty="0">
              <a:solidFill>
                <a:srgbClr val="FF0000"/>
              </a:solidFill>
            </a:endParaRPr>
          </a:p>
        </p:txBody>
      </p:sp>
      <p:sp>
        <p:nvSpPr>
          <p:cNvPr id="20" name="Rectangle 18"/>
          <p:cNvSpPr>
            <a:spLocks noChangeArrowheads="1"/>
          </p:cNvSpPr>
          <p:nvPr/>
        </p:nvSpPr>
        <p:spPr bwMode="auto">
          <a:xfrm>
            <a:off x="5195653" y="2678318"/>
            <a:ext cx="530915" cy="3000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zh-CN" altLang="en-US" sz="1350" dirty="0"/>
              <a:t>表尾</a:t>
            </a:r>
            <a:endParaRPr lang="zh-CN" altLang="en-US" sz="1350" dirty="0"/>
          </a:p>
        </p:txBody>
      </p:sp>
      <p:sp>
        <p:nvSpPr>
          <p:cNvPr id="21" name="Oval 19"/>
          <p:cNvSpPr>
            <a:spLocks noChangeArrowheads="1"/>
          </p:cNvSpPr>
          <p:nvPr/>
        </p:nvSpPr>
        <p:spPr bwMode="auto">
          <a:xfrm>
            <a:off x="1986697" y="1857382"/>
            <a:ext cx="128588" cy="214313"/>
          </a:xfrm>
          <a:prstGeom prst="ellips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CN" altLang="en-US" sz="1350" b="1" dirty="0">
              <a:solidFill>
                <a:srgbClr val="FF0000"/>
              </a:solidFill>
            </a:endParaRPr>
          </a:p>
        </p:txBody>
      </p:sp>
      <p:sp>
        <p:nvSpPr>
          <p:cNvPr id="22" name="Oval 20"/>
          <p:cNvSpPr>
            <a:spLocks noChangeArrowheads="1"/>
          </p:cNvSpPr>
          <p:nvPr/>
        </p:nvSpPr>
        <p:spPr bwMode="auto">
          <a:xfrm>
            <a:off x="4859570" y="1872318"/>
            <a:ext cx="128588" cy="214313"/>
          </a:xfrm>
          <a:prstGeom prst="ellipse">
            <a:avLst/>
          </a:prstGeom>
          <a:noFill/>
          <a:ln w="25400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CN" altLang="en-US" sz="1350"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ntr" presetSubtype="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6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500"/>
                            </p:stCondLst>
                            <p:childTnLst>
                              <p:par>
                                <p:cTn id="39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00"/>
                            </p:stCondLst>
                            <p:childTnLst>
                              <p:par>
                                <p:cTn id="46" presetID="1" presetClass="entr" presetSubtype="0" fill="hold" grpId="0" nodeType="after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1" presetClass="entr" presetSubtype="0" fill="hold" grpId="0" nodeType="after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8" presetClass="entr" presetSubtype="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5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1" presetClass="entr" presetSubtype="0" fill="hold" grpId="0" nodeType="afterEffect">
                                  <p:stCondLst>
                                    <p:cond delay="750"/>
                                  </p:stCondLst>
                                  <p:iterate type="lt">
                                    <p:tmAbs val="75"/>
                                  </p:iterate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74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utoUpdateAnimBg="0"/>
      <p:bldP spid="6" grpId="0" autoUpdateAnimBg="0"/>
      <p:bldP spid="7" grpId="0" animBg="1"/>
      <p:bldP spid="8" grpId="0" autoUpdateAnimBg="0"/>
      <p:bldP spid="9" grpId="0" animBg="1"/>
      <p:bldP spid="11" grpId="0" autoUpdateAnimBg="0"/>
      <p:bldP spid="12" grpId="0" animBg="1"/>
      <p:bldP spid="13" grpId="0" autoUpdateAnimBg="0"/>
      <p:bldP spid="14" grpId="0" autoUpdateAnimBg="0"/>
      <p:bldP spid="15" grpId="0" animBg="1"/>
      <p:bldP spid="16" grpId="0" animBg="1"/>
      <p:bldP spid="17" grpId="0" animBg="1" autoUpdateAnimBg="0"/>
      <p:bldP spid="18" grpId="0" animBg="1" autoUpdateAnimBg="0"/>
      <p:bldP spid="19" grpId="0" autoUpdateAnimBg="0"/>
      <p:bldP spid="20" grpId="0" autoUpdateAnimBg="0"/>
      <p:bldP spid="21" grpId="0" animBg="1"/>
      <p:bldP spid="2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2"/>
            <a:r>
              <a:rPr lang="zh-CN" altLang="en-US" dirty="0"/>
              <a:t>例：</a:t>
            </a:r>
            <a:r>
              <a:rPr lang="en-US" altLang="zh-CN" dirty="0"/>
              <a:t>26 </a:t>
            </a:r>
            <a:r>
              <a:rPr lang="zh-CN" altLang="en-US" dirty="0"/>
              <a:t>个英文字母组成的英文表</a:t>
            </a:r>
            <a:endParaRPr lang="en-US" altLang="zh-CN" dirty="0"/>
          </a:p>
          <a:p>
            <a:pPr lvl="2"/>
            <a:r>
              <a:rPr lang="zh-CN" altLang="en-US" dirty="0"/>
              <a:t>    </a:t>
            </a:r>
            <a:r>
              <a:rPr lang="zh-CN" altLang="en-US" dirty="0">
                <a:solidFill>
                  <a:srgbClr val="FF0000"/>
                </a:solidFill>
              </a:rPr>
              <a:t>（ </a:t>
            </a:r>
            <a:r>
              <a:rPr lang="en-US" altLang="zh-CN" dirty="0">
                <a:solidFill>
                  <a:srgbClr val="FF0000"/>
                </a:solidFill>
              </a:rPr>
              <a:t>A,  B,  C,  D, ……  ,  Z</a:t>
            </a:r>
            <a:r>
              <a:rPr lang="zh-CN" altLang="en-US" dirty="0">
                <a:solidFill>
                  <a:srgbClr val="FF0000"/>
                </a:solidFill>
              </a:rPr>
              <a:t>）</a:t>
            </a:r>
            <a:endParaRPr lang="en-US" altLang="zh-CN" dirty="0">
              <a:solidFill>
                <a:srgbClr val="FF0000"/>
              </a:solidFill>
            </a:endParaRPr>
          </a:p>
          <a:p>
            <a:pPr lvl="2"/>
            <a:endParaRPr lang="en-US" altLang="zh-CN" dirty="0"/>
          </a:p>
          <a:p>
            <a:pPr lvl="2"/>
            <a:r>
              <a:rPr lang="en-US" altLang="zh-CN" dirty="0"/>
              <a:t> </a:t>
            </a:r>
            <a:r>
              <a:rPr lang="zh-CN" altLang="en-US" dirty="0"/>
              <a:t>线性表的特点：</a:t>
            </a:r>
            <a:endParaRPr lang="zh-CN" altLang="en-US" dirty="0"/>
          </a:p>
          <a:p>
            <a:pPr marL="294005" lvl="2" indent="-193040">
              <a:buFont typeface="Wingdings" panose="05000000000000000000" pitchFamily="2" charset="2"/>
              <a:buChar char="Ø"/>
            </a:pPr>
            <a:r>
              <a:rPr lang="zh-CN" altLang="en-US" dirty="0"/>
              <a:t> 同一性</a:t>
            </a:r>
            <a:endParaRPr lang="zh-CN" altLang="en-US" dirty="0"/>
          </a:p>
          <a:p>
            <a:pPr marL="294005" lvl="2" indent="-193040">
              <a:buFont typeface="Wingdings" panose="05000000000000000000" pitchFamily="2" charset="2"/>
              <a:buChar char="Ø"/>
            </a:pPr>
            <a:r>
              <a:rPr lang="zh-CN" altLang="en-US" dirty="0"/>
              <a:t> 有穷性</a:t>
            </a:r>
            <a:endParaRPr lang="zh-CN" altLang="en-US" dirty="0"/>
          </a:p>
          <a:p>
            <a:pPr marL="294005" lvl="2" indent="-193040">
              <a:buFont typeface="Wingdings" panose="05000000000000000000" pitchFamily="2" charset="2"/>
              <a:buChar char="Ø"/>
            </a:pPr>
            <a:r>
              <a:rPr lang="zh-CN" altLang="en-US" dirty="0"/>
              <a:t> 有序性 </a:t>
            </a:r>
            <a:endParaRPr lang="zh-CN" altLang="en-US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2.1 </a:t>
            </a:r>
            <a:r>
              <a:rPr lang="zh-CN" altLang="en-US" dirty="0"/>
              <a:t>线性表的类型定义</a:t>
            </a:r>
            <a:endParaRPr lang="zh-CN" alt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抽象数据类型定义</a:t>
            </a:r>
            <a:endParaRPr lang="en-US" altLang="zh-CN" dirty="0"/>
          </a:p>
          <a:p>
            <a:pPr lvl="2">
              <a:lnSpc>
                <a:spcPct val="150000"/>
              </a:lnSpc>
              <a:spcBef>
                <a:spcPct val="0"/>
              </a:spcBef>
            </a:pPr>
            <a:r>
              <a:rPr lang="en-US" altLang="zh-CN" dirty="0"/>
              <a:t>ADT  List{</a:t>
            </a:r>
            <a:endParaRPr lang="en-US" altLang="zh-CN" dirty="0"/>
          </a:p>
          <a:p>
            <a:pPr lvl="2">
              <a:lnSpc>
                <a:spcPct val="150000"/>
              </a:lnSpc>
              <a:spcBef>
                <a:spcPct val="0"/>
              </a:spcBef>
            </a:pPr>
            <a:r>
              <a:rPr lang="zh-CN" altLang="en-US" dirty="0"/>
              <a:t>数据元素： </a:t>
            </a:r>
            <a:r>
              <a:rPr lang="en-US" altLang="zh-CN" dirty="0"/>
              <a:t>D={</a:t>
            </a:r>
            <a:r>
              <a:rPr lang="en-US" altLang="zh-CN" dirty="0" err="1"/>
              <a:t>a</a:t>
            </a:r>
            <a:r>
              <a:rPr lang="en-US" altLang="zh-CN" baseline="-25000" dirty="0" err="1"/>
              <a:t>i</a:t>
            </a:r>
            <a:r>
              <a:rPr lang="en-US" altLang="zh-CN" dirty="0"/>
              <a:t>| </a:t>
            </a:r>
            <a:r>
              <a:rPr lang="en-US" altLang="zh-CN" dirty="0" err="1"/>
              <a:t>a</a:t>
            </a:r>
            <a:r>
              <a:rPr lang="en-US" altLang="zh-CN" baseline="-25000" dirty="0" err="1"/>
              <a:t>i</a:t>
            </a:r>
            <a:r>
              <a:rPr lang="en-US" altLang="zh-CN" dirty="0" err="1"/>
              <a:t>∈ElemSet</a:t>
            </a:r>
            <a:r>
              <a:rPr lang="en-US" altLang="zh-CN" dirty="0"/>
              <a:t>, </a:t>
            </a:r>
            <a:r>
              <a:rPr lang="en-US" altLang="zh-CN" dirty="0" err="1"/>
              <a:t>i</a:t>
            </a:r>
            <a:r>
              <a:rPr lang="en-US" altLang="zh-CN" dirty="0"/>
              <a:t>=1, 2, …</a:t>
            </a:r>
            <a:r>
              <a:rPr lang="zh-CN" altLang="en-US" dirty="0"/>
              <a:t>，</a:t>
            </a:r>
            <a:r>
              <a:rPr lang="en-US" altLang="zh-CN" dirty="0"/>
              <a:t>n, n≥0 </a:t>
            </a:r>
            <a:r>
              <a:rPr lang="zh-CN" altLang="en-US" dirty="0"/>
              <a:t>， </a:t>
            </a:r>
            <a:r>
              <a:rPr lang="en-US" altLang="zh-CN" dirty="0" err="1"/>
              <a:t>ElemSet</a:t>
            </a:r>
            <a:r>
              <a:rPr lang="zh-CN" altLang="en-US" dirty="0"/>
              <a:t>为某一数据对象</a:t>
            </a:r>
            <a:r>
              <a:rPr lang="en-US" altLang="zh-CN" dirty="0"/>
              <a:t>}</a:t>
            </a:r>
            <a:endParaRPr lang="en-US" altLang="zh-CN" dirty="0"/>
          </a:p>
          <a:p>
            <a:pPr lvl="2">
              <a:lnSpc>
                <a:spcPct val="150000"/>
              </a:lnSpc>
              <a:spcBef>
                <a:spcPct val="0"/>
              </a:spcBef>
            </a:pPr>
            <a:r>
              <a:rPr lang="zh-CN" altLang="en-US" dirty="0"/>
              <a:t>关系：Ｓ＝</a:t>
            </a:r>
            <a:r>
              <a:rPr lang="en-US" altLang="zh-CN" dirty="0"/>
              <a:t>{&lt;</a:t>
            </a:r>
            <a:r>
              <a:rPr lang="en-US" altLang="zh-CN" dirty="0" err="1"/>
              <a:t>a</a:t>
            </a:r>
            <a:r>
              <a:rPr lang="en-US" altLang="zh-CN" baseline="-25000" dirty="0" err="1"/>
              <a:t>i</a:t>
            </a:r>
            <a:r>
              <a:rPr lang="en-US" altLang="zh-CN" dirty="0"/>
              <a:t>, a</a:t>
            </a:r>
            <a:r>
              <a:rPr lang="en-US" altLang="zh-CN" baseline="-25000" dirty="0"/>
              <a:t>i+1</a:t>
            </a:r>
            <a:r>
              <a:rPr lang="en-US" altLang="zh-CN" dirty="0"/>
              <a:t>&gt; | </a:t>
            </a:r>
            <a:r>
              <a:rPr lang="en-US" altLang="zh-CN" dirty="0" err="1"/>
              <a:t>a</a:t>
            </a:r>
            <a:r>
              <a:rPr lang="en-US" altLang="zh-CN" baseline="-25000" dirty="0" err="1"/>
              <a:t>i</a:t>
            </a:r>
            <a:r>
              <a:rPr lang="en-US" altLang="zh-CN" dirty="0"/>
              <a:t>,  a</a:t>
            </a:r>
            <a:r>
              <a:rPr lang="en-US" altLang="zh-CN" baseline="-25000" dirty="0"/>
              <a:t>i+1</a:t>
            </a:r>
            <a:r>
              <a:rPr lang="en-US" altLang="zh-CN" dirty="0"/>
              <a:t>∈D</a:t>
            </a:r>
            <a:r>
              <a:rPr lang="zh-CN" altLang="en-US" dirty="0"/>
              <a:t>，</a:t>
            </a:r>
            <a:r>
              <a:rPr lang="en-US" altLang="zh-CN" dirty="0" err="1"/>
              <a:t>i</a:t>
            </a:r>
            <a:r>
              <a:rPr lang="en-US" altLang="zh-CN" dirty="0"/>
              <a:t>=1, 2, …, n-1}</a:t>
            </a:r>
            <a:endParaRPr lang="zh-CN" altLang="en-US" dirty="0"/>
          </a:p>
          <a:p>
            <a:pPr lvl="2">
              <a:lnSpc>
                <a:spcPct val="150000"/>
              </a:lnSpc>
              <a:spcBef>
                <a:spcPct val="0"/>
              </a:spcBef>
            </a:pPr>
            <a:r>
              <a:rPr lang="zh-CN" altLang="en-US" dirty="0"/>
              <a:t>基本操作：</a:t>
            </a:r>
            <a:endParaRPr lang="en-US" altLang="zh-CN" dirty="0"/>
          </a:p>
          <a:p>
            <a:pPr lvl="2">
              <a:lnSpc>
                <a:spcPct val="150000"/>
              </a:lnSpc>
              <a:spcBef>
                <a:spcPct val="0"/>
              </a:spcBef>
            </a:pPr>
            <a:r>
              <a:rPr lang="zh-CN" altLang="en-US" dirty="0"/>
              <a:t>（</a:t>
            </a:r>
            <a:r>
              <a:rPr lang="en-US" altLang="zh-CN" dirty="0"/>
              <a:t>1</a:t>
            </a:r>
            <a:r>
              <a:rPr lang="zh-CN" altLang="en-US" dirty="0"/>
              <a:t>）</a:t>
            </a:r>
            <a:r>
              <a:rPr lang="en-US" altLang="zh-CN" dirty="0" err="1"/>
              <a:t>InitList</a:t>
            </a:r>
            <a:r>
              <a:rPr lang="en-US" altLang="zh-CN" dirty="0"/>
              <a:t>(L)</a:t>
            </a:r>
            <a:r>
              <a:rPr lang="zh-CN" altLang="en-US" dirty="0"/>
              <a:t>：将表</a:t>
            </a:r>
            <a:r>
              <a:rPr lang="en-US" altLang="zh-CN" dirty="0"/>
              <a:t>L</a:t>
            </a:r>
            <a:r>
              <a:rPr lang="zh-CN" altLang="en-US" dirty="0"/>
              <a:t>初始化为空表。</a:t>
            </a:r>
            <a:endParaRPr lang="en-US" altLang="zh-CN" dirty="0"/>
          </a:p>
          <a:p>
            <a:pPr lvl="2">
              <a:lnSpc>
                <a:spcPct val="150000"/>
              </a:lnSpc>
              <a:spcBef>
                <a:spcPct val="0"/>
              </a:spcBef>
            </a:pPr>
            <a:r>
              <a:rPr lang="zh-CN" altLang="en-US" dirty="0"/>
              <a:t>（</a:t>
            </a:r>
            <a:r>
              <a:rPr lang="en-US" altLang="zh-CN" dirty="0"/>
              <a:t>2</a:t>
            </a:r>
            <a:r>
              <a:rPr lang="zh-CN" altLang="en-US" dirty="0"/>
              <a:t>）</a:t>
            </a:r>
            <a:r>
              <a:rPr lang="en-US" altLang="zh-CN" dirty="0" err="1"/>
              <a:t>ListEmpty</a:t>
            </a:r>
            <a:r>
              <a:rPr lang="en-US" altLang="zh-CN" dirty="0"/>
              <a:t>(L)</a:t>
            </a:r>
            <a:r>
              <a:rPr lang="zh-CN" altLang="en-US" dirty="0"/>
              <a:t>：判断</a:t>
            </a:r>
            <a:r>
              <a:rPr lang="en-US" altLang="zh-CN" dirty="0"/>
              <a:t>L</a:t>
            </a:r>
            <a:r>
              <a:rPr lang="zh-CN" altLang="en-US" dirty="0"/>
              <a:t>是否为空表。</a:t>
            </a:r>
            <a:endParaRPr lang="zh-CN" altLang="en-US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2.1 </a:t>
            </a:r>
            <a:r>
              <a:rPr lang="zh-CN" altLang="en-US" dirty="0"/>
              <a:t>线性表的类型定义</a:t>
            </a:r>
            <a:endParaRPr lang="zh-CN" alt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2">
              <a:lnSpc>
                <a:spcPct val="150000"/>
              </a:lnSpc>
            </a:pPr>
            <a:r>
              <a:rPr lang="zh-CN" altLang="en-US" dirty="0"/>
              <a:t>（</a:t>
            </a:r>
            <a:r>
              <a:rPr lang="en-US" altLang="zh-CN" dirty="0"/>
              <a:t>3</a:t>
            </a:r>
            <a:r>
              <a:rPr lang="zh-CN" altLang="en-US" dirty="0"/>
              <a:t>）</a:t>
            </a:r>
            <a:r>
              <a:rPr lang="en-US" altLang="zh-CN" dirty="0" err="1"/>
              <a:t>ListLength</a:t>
            </a:r>
            <a:r>
              <a:rPr lang="en-US" altLang="zh-CN" dirty="0"/>
              <a:t>(L)</a:t>
            </a:r>
            <a:r>
              <a:rPr lang="zh-CN" altLang="en-US" dirty="0"/>
              <a:t>：求表</a:t>
            </a:r>
            <a:r>
              <a:rPr lang="en-US" altLang="zh-CN" dirty="0"/>
              <a:t>L</a:t>
            </a:r>
            <a:r>
              <a:rPr lang="zh-CN" altLang="en-US" dirty="0"/>
              <a:t>的长度。</a:t>
            </a:r>
            <a:endParaRPr lang="zh-CN" altLang="en-US" dirty="0"/>
          </a:p>
          <a:p>
            <a:pPr lvl="2">
              <a:lnSpc>
                <a:spcPct val="150000"/>
              </a:lnSpc>
            </a:pPr>
            <a:r>
              <a:rPr lang="zh-CN" altLang="en-US" dirty="0"/>
              <a:t>（</a:t>
            </a:r>
            <a:r>
              <a:rPr lang="en-US" altLang="zh-CN" dirty="0"/>
              <a:t>4</a:t>
            </a:r>
            <a:r>
              <a:rPr lang="zh-CN" altLang="en-US" dirty="0"/>
              <a:t>）</a:t>
            </a:r>
            <a:r>
              <a:rPr lang="en-US" altLang="zh-CN" dirty="0" err="1"/>
              <a:t>GetElem</a:t>
            </a:r>
            <a:r>
              <a:rPr lang="en-US" altLang="zh-CN" dirty="0"/>
              <a:t>(L, </a:t>
            </a:r>
            <a:r>
              <a:rPr lang="en-US" altLang="zh-CN" dirty="0" err="1"/>
              <a:t>i</a:t>
            </a:r>
            <a:r>
              <a:rPr lang="en-US" altLang="zh-CN" dirty="0"/>
              <a:t>, e)</a:t>
            </a:r>
            <a:r>
              <a:rPr lang="zh-CN" altLang="en-US" dirty="0"/>
              <a:t>：用</a:t>
            </a:r>
            <a:r>
              <a:rPr lang="en-US" altLang="zh-CN" dirty="0"/>
              <a:t>e</a:t>
            </a:r>
            <a:r>
              <a:rPr lang="zh-CN" altLang="en-US" dirty="0"/>
              <a:t>返回表</a:t>
            </a:r>
            <a:r>
              <a:rPr lang="en-US" altLang="zh-CN" dirty="0"/>
              <a:t>L</a:t>
            </a:r>
            <a:r>
              <a:rPr lang="zh-CN" altLang="en-US" dirty="0"/>
              <a:t>中第</a:t>
            </a:r>
            <a:r>
              <a:rPr lang="en-US" altLang="zh-CN" dirty="0" err="1"/>
              <a:t>i</a:t>
            </a:r>
            <a:r>
              <a:rPr lang="zh-CN" altLang="en-US" dirty="0"/>
              <a:t>个元素的值。</a:t>
            </a:r>
            <a:endParaRPr lang="en-US" altLang="zh-CN" dirty="0"/>
          </a:p>
          <a:p>
            <a:pPr lvl="2">
              <a:lnSpc>
                <a:spcPct val="150000"/>
              </a:lnSpc>
            </a:pPr>
            <a:r>
              <a:rPr lang="zh-CN" altLang="en-US" dirty="0"/>
              <a:t>（</a:t>
            </a:r>
            <a:r>
              <a:rPr lang="en-US" altLang="zh-CN" dirty="0"/>
              <a:t>5</a:t>
            </a:r>
            <a:r>
              <a:rPr lang="zh-CN" altLang="en-US" dirty="0"/>
              <a:t>）</a:t>
            </a:r>
            <a:r>
              <a:rPr lang="en-US" altLang="zh-CN" dirty="0" err="1"/>
              <a:t>ListInsert</a:t>
            </a:r>
            <a:r>
              <a:rPr lang="en-US" altLang="zh-CN" dirty="0"/>
              <a:t> (L, </a:t>
            </a:r>
            <a:r>
              <a:rPr lang="en-US" altLang="zh-CN" dirty="0" err="1"/>
              <a:t>i</a:t>
            </a:r>
            <a:r>
              <a:rPr lang="en-US" altLang="zh-CN" dirty="0"/>
              <a:t>, e)</a:t>
            </a:r>
            <a:r>
              <a:rPr lang="zh-CN" altLang="en-US" dirty="0"/>
              <a:t>：在</a:t>
            </a:r>
            <a:r>
              <a:rPr lang="en-US" altLang="zh-CN" dirty="0"/>
              <a:t>L</a:t>
            </a:r>
            <a:r>
              <a:rPr lang="zh-CN" altLang="en-US" dirty="0"/>
              <a:t>中第</a:t>
            </a:r>
            <a:r>
              <a:rPr lang="en-US" altLang="zh-CN" dirty="0" err="1"/>
              <a:t>i</a:t>
            </a:r>
            <a:r>
              <a:rPr lang="zh-CN" altLang="en-US" dirty="0"/>
              <a:t>个位置之前插入新的数据元素</a:t>
            </a:r>
            <a:r>
              <a:rPr lang="en-US" altLang="zh-CN" dirty="0"/>
              <a:t>e</a:t>
            </a:r>
            <a:r>
              <a:rPr lang="zh-CN" altLang="en-US" dirty="0"/>
              <a:t>，</a:t>
            </a:r>
            <a:r>
              <a:rPr lang="en-US" altLang="zh-CN" dirty="0"/>
              <a:t>L</a:t>
            </a:r>
            <a:r>
              <a:rPr lang="zh-CN" altLang="en-US" dirty="0"/>
              <a:t>的长度加</a:t>
            </a:r>
            <a:r>
              <a:rPr lang="en-US" altLang="zh-CN" dirty="0"/>
              <a:t>1</a:t>
            </a:r>
            <a:r>
              <a:rPr lang="zh-CN" altLang="en-US" dirty="0"/>
              <a:t>。</a:t>
            </a:r>
            <a:endParaRPr lang="en-US" altLang="zh-CN" dirty="0"/>
          </a:p>
          <a:p>
            <a:pPr lvl="2">
              <a:lnSpc>
                <a:spcPct val="150000"/>
              </a:lnSpc>
            </a:pPr>
            <a:r>
              <a:rPr lang="zh-CN" altLang="en-US" dirty="0"/>
              <a:t>（</a:t>
            </a:r>
            <a:r>
              <a:rPr lang="en-US" altLang="zh-CN" dirty="0"/>
              <a:t>6</a:t>
            </a:r>
            <a:r>
              <a:rPr lang="zh-CN" altLang="en-US" dirty="0"/>
              <a:t>）</a:t>
            </a:r>
            <a:r>
              <a:rPr lang="en-US" altLang="zh-CN" dirty="0" err="1"/>
              <a:t>ListDelete</a:t>
            </a:r>
            <a:r>
              <a:rPr lang="en-US" altLang="zh-CN" dirty="0"/>
              <a:t> (L, </a:t>
            </a:r>
            <a:r>
              <a:rPr lang="en-US" altLang="zh-CN" dirty="0" err="1"/>
              <a:t>i</a:t>
            </a:r>
            <a:r>
              <a:rPr lang="en-US" altLang="zh-CN" dirty="0"/>
              <a:t>, e)</a:t>
            </a:r>
            <a:r>
              <a:rPr lang="zh-CN" altLang="en-US" dirty="0"/>
              <a:t>：删除</a:t>
            </a:r>
            <a:r>
              <a:rPr lang="en-US" altLang="zh-CN" dirty="0"/>
              <a:t>L</a:t>
            </a:r>
            <a:r>
              <a:rPr lang="zh-CN" altLang="en-US" dirty="0"/>
              <a:t>的第</a:t>
            </a:r>
            <a:r>
              <a:rPr lang="en-US" altLang="zh-CN" dirty="0" err="1"/>
              <a:t>i</a:t>
            </a:r>
            <a:r>
              <a:rPr lang="zh-CN" altLang="en-US" dirty="0"/>
              <a:t>个数据元素， 并用</a:t>
            </a:r>
            <a:r>
              <a:rPr lang="en-US" altLang="zh-CN" dirty="0"/>
              <a:t>e</a:t>
            </a:r>
            <a:r>
              <a:rPr lang="zh-CN" altLang="en-US" dirty="0"/>
              <a:t>返回其值， </a:t>
            </a:r>
            <a:r>
              <a:rPr lang="en-US" altLang="zh-CN" dirty="0"/>
              <a:t>L</a:t>
            </a:r>
            <a:r>
              <a:rPr lang="zh-CN" altLang="en-US" dirty="0"/>
              <a:t>的长度减</a:t>
            </a:r>
            <a:r>
              <a:rPr lang="en-US" altLang="zh-CN" dirty="0"/>
              <a:t>1</a:t>
            </a:r>
            <a:r>
              <a:rPr lang="zh-CN" altLang="en-US" dirty="0"/>
              <a:t>。 </a:t>
            </a:r>
            <a:endParaRPr lang="en-US" altLang="zh-CN" dirty="0"/>
          </a:p>
          <a:p>
            <a:pPr lvl="2">
              <a:lnSpc>
                <a:spcPct val="150000"/>
              </a:lnSpc>
            </a:pPr>
            <a:r>
              <a:rPr lang="zh-CN" altLang="en-US" dirty="0"/>
              <a:t> </a:t>
            </a:r>
            <a:r>
              <a:rPr lang="en-US" altLang="zh-CN" dirty="0"/>
              <a:t>} ADT  List</a:t>
            </a:r>
            <a:endParaRPr lang="zh-CN" altLang="en-US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2.1 </a:t>
            </a:r>
            <a:r>
              <a:rPr lang="zh-CN" altLang="en-US" dirty="0"/>
              <a:t>线性表的类型定义</a:t>
            </a:r>
            <a:endParaRPr lang="zh-CN" alt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zh-CN" altLang="en-US" sz="1800" b="0" dirty="0">
                <a:solidFill>
                  <a:srgbClr val="00B0F0"/>
                </a:solidFill>
              </a:rPr>
              <a:t>例：两个非递减有序的线性表</a:t>
            </a:r>
            <a:r>
              <a:rPr lang="en-US" altLang="zh-CN" sz="1800" b="0" dirty="0">
                <a:solidFill>
                  <a:srgbClr val="00B0F0"/>
                </a:solidFill>
              </a:rPr>
              <a:t>La</a:t>
            </a:r>
            <a:r>
              <a:rPr lang="zh-CN" altLang="en-US" sz="1800" b="0" dirty="0">
                <a:solidFill>
                  <a:srgbClr val="00B0F0"/>
                </a:solidFill>
              </a:rPr>
              <a:t>和</a:t>
            </a:r>
            <a:r>
              <a:rPr lang="en-US" altLang="zh-CN" sz="1800" b="0" dirty="0" err="1">
                <a:solidFill>
                  <a:srgbClr val="00B0F0"/>
                </a:solidFill>
              </a:rPr>
              <a:t>Lb</a:t>
            </a:r>
            <a:r>
              <a:rPr lang="zh-CN" altLang="en-US" sz="1800" b="0" dirty="0">
                <a:solidFill>
                  <a:srgbClr val="00B0F0"/>
                </a:solidFill>
              </a:rPr>
              <a:t>的合并</a:t>
            </a:r>
            <a:endParaRPr lang="en-US" altLang="zh-CN" sz="1800" b="0" dirty="0">
              <a:solidFill>
                <a:srgbClr val="00B0F0"/>
              </a:solidFill>
            </a:endParaRPr>
          </a:p>
          <a:p>
            <a:pPr lvl="2">
              <a:lnSpc>
                <a:spcPct val="100000"/>
              </a:lnSpc>
            </a:pPr>
            <a:r>
              <a:rPr lang="en-US" altLang="zh-CN" sz="1600" b="0" dirty="0">
                <a:solidFill>
                  <a:schemeClr val="tx1"/>
                </a:solidFill>
              </a:rPr>
              <a:t>void  </a:t>
            </a:r>
            <a:r>
              <a:rPr lang="en-US" altLang="zh-CN" sz="1600" b="0" dirty="0" err="1">
                <a:solidFill>
                  <a:schemeClr val="tx1"/>
                </a:solidFill>
              </a:rPr>
              <a:t>MergeList</a:t>
            </a:r>
            <a:r>
              <a:rPr lang="en-US" altLang="zh-CN" sz="1600" b="0" dirty="0">
                <a:solidFill>
                  <a:schemeClr val="tx1"/>
                </a:solidFill>
              </a:rPr>
              <a:t>(List </a:t>
            </a:r>
            <a:r>
              <a:rPr lang="en-US" altLang="zh-CN" sz="1600" b="0" dirty="0" err="1">
                <a:solidFill>
                  <a:schemeClr val="tx1"/>
                </a:solidFill>
              </a:rPr>
              <a:t>La,List</a:t>
            </a:r>
            <a:r>
              <a:rPr lang="en-US" altLang="zh-CN" sz="1600" b="0" dirty="0">
                <a:solidFill>
                  <a:schemeClr val="tx1"/>
                </a:solidFill>
              </a:rPr>
              <a:t> </a:t>
            </a:r>
            <a:r>
              <a:rPr lang="en-US" altLang="zh-CN" sz="1600" b="0" dirty="0" err="1">
                <a:solidFill>
                  <a:schemeClr val="tx1"/>
                </a:solidFill>
              </a:rPr>
              <a:t>Lb,List</a:t>
            </a:r>
            <a:r>
              <a:rPr lang="en-US" altLang="zh-CN" sz="1600" b="0" dirty="0">
                <a:solidFill>
                  <a:schemeClr val="tx1"/>
                </a:solidFill>
              </a:rPr>
              <a:t> &amp;</a:t>
            </a:r>
            <a:r>
              <a:rPr lang="en-US" altLang="zh-CN" sz="1600" b="0" dirty="0" err="1">
                <a:solidFill>
                  <a:schemeClr val="tx1"/>
                </a:solidFill>
              </a:rPr>
              <a:t>Lc</a:t>
            </a:r>
            <a:r>
              <a:rPr lang="en-US" altLang="zh-CN" sz="1600" b="0" dirty="0">
                <a:solidFill>
                  <a:schemeClr val="tx1"/>
                </a:solidFill>
              </a:rPr>
              <a:t>){</a:t>
            </a:r>
            <a:endParaRPr lang="en-US" altLang="zh-CN" sz="1600" b="0" dirty="0">
              <a:solidFill>
                <a:schemeClr val="tx1"/>
              </a:solidFill>
            </a:endParaRPr>
          </a:p>
          <a:p>
            <a:pPr lvl="2">
              <a:lnSpc>
                <a:spcPct val="100000"/>
              </a:lnSpc>
            </a:pPr>
            <a:r>
              <a:rPr lang="en-US" altLang="zh-CN" sz="1600" b="0" dirty="0">
                <a:solidFill>
                  <a:schemeClr val="tx1"/>
                </a:solidFill>
              </a:rPr>
              <a:t>    </a:t>
            </a:r>
            <a:r>
              <a:rPr lang="en-US" altLang="zh-CN" sz="1600" b="0" dirty="0" err="1">
                <a:solidFill>
                  <a:schemeClr val="tx1"/>
                </a:solidFill>
              </a:rPr>
              <a:t>InitList</a:t>
            </a:r>
            <a:r>
              <a:rPr lang="en-US" altLang="zh-CN" sz="1600" b="0" dirty="0">
                <a:solidFill>
                  <a:schemeClr val="tx1"/>
                </a:solidFill>
              </a:rPr>
              <a:t>(</a:t>
            </a:r>
            <a:r>
              <a:rPr lang="en-US" altLang="zh-CN" sz="1600" b="0" dirty="0" err="1">
                <a:solidFill>
                  <a:schemeClr val="tx1"/>
                </a:solidFill>
              </a:rPr>
              <a:t>Lc</a:t>
            </a:r>
            <a:r>
              <a:rPr lang="en-US" altLang="zh-CN" sz="1600" b="0" dirty="0">
                <a:solidFill>
                  <a:schemeClr val="tx1"/>
                </a:solidFill>
              </a:rPr>
              <a:t>);</a:t>
            </a:r>
            <a:endParaRPr lang="en-US" altLang="zh-CN" sz="1600" b="0" dirty="0">
              <a:solidFill>
                <a:schemeClr val="tx1"/>
              </a:solidFill>
            </a:endParaRPr>
          </a:p>
          <a:p>
            <a:pPr lvl="2">
              <a:lnSpc>
                <a:spcPct val="100000"/>
              </a:lnSpc>
            </a:pPr>
            <a:r>
              <a:rPr lang="en-US" altLang="zh-CN" sz="1600" b="0" dirty="0">
                <a:solidFill>
                  <a:schemeClr val="tx1"/>
                </a:solidFill>
              </a:rPr>
              <a:t>    </a:t>
            </a:r>
            <a:r>
              <a:rPr lang="en-US" altLang="zh-CN" sz="1600" b="0" dirty="0" err="1">
                <a:solidFill>
                  <a:schemeClr val="tx1"/>
                </a:solidFill>
              </a:rPr>
              <a:t>i</a:t>
            </a:r>
            <a:r>
              <a:rPr lang="en-US" altLang="zh-CN" sz="1600" b="0" dirty="0">
                <a:solidFill>
                  <a:schemeClr val="tx1"/>
                </a:solidFill>
              </a:rPr>
              <a:t>=j=1;k=0;</a:t>
            </a:r>
            <a:endParaRPr lang="en-US" altLang="zh-CN" sz="1600" b="0" dirty="0">
              <a:solidFill>
                <a:schemeClr val="tx1"/>
              </a:solidFill>
            </a:endParaRPr>
          </a:p>
          <a:p>
            <a:pPr lvl="2">
              <a:lnSpc>
                <a:spcPct val="100000"/>
              </a:lnSpc>
            </a:pPr>
            <a:r>
              <a:rPr lang="en-US" altLang="zh-CN" sz="1600" b="0" dirty="0">
                <a:solidFill>
                  <a:schemeClr val="tx1"/>
                </a:solidFill>
              </a:rPr>
              <a:t>    </a:t>
            </a:r>
            <a:r>
              <a:rPr lang="en-US" altLang="zh-CN" sz="1600" b="0" dirty="0" err="1">
                <a:solidFill>
                  <a:schemeClr val="tx1"/>
                </a:solidFill>
              </a:rPr>
              <a:t>La_len</a:t>
            </a:r>
            <a:r>
              <a:rPr lang="en-US" altLang="zh-CN" sz="1600" b="0" dirty="0">
                <a:solidFill>
                  <a:schemeClr val="tx1"/>
                </a:solidFill>
              </a:rPr>
              <a:t>=</a:t>
            </a:r>
            <a:r>
              <a:rPr lang="en-US" altLang="zh-CN" sz="1600" b="0" dirty="0" err="1">
                <a:solidFill>
                  <a:schemeClr val="tx1"/>
                </a:solidFill>
              </a:rPr>
              <a:t>ListLength</a:t>
            </a:r>
            <a:r>
              <a:rPr lang="en-US" altLang="zh-CN" sz="1600" b="0" dirty="0">
                <a:solidFill>
                  <a:schemeClr val="tx1"/>
                </a:solidFill>
              </a:rPr>
              <a:t>(La);</a:t>
            </a:r>
            <a:r>
              <a:rPr lang="en-US" altLang="zh-CN" sz="1600" b="0" dirty="0" err="1">
                <a:solidFill>
                  <a:schemeClr val="tx1"/>
                </a:solidFill>
              </a:rPr>
              <a:t>Lb_len</a:t>
            </a:r>
            <a:r>
              <a:rPr lang="en-US" altLang="zh-CN" sz="1600" b="0" dirty="0">
                <a:solidFill>
                  <a:schemeClr val="tx1"/>
                </a:solidFill>
              </a:rPr>
              <a:t>=</a:t>
            </a:r>
            <a:r>
              <a:rPr lang="en-US" altLang="zh-CN" sz="1600" b="0" dirty="0" err="1">
                <a:solidFill>
                  <a:schemeClr val="tx1"/>
                </a:solidFill>
              </a:rPr>
              <a:t>ListLength</a:t>
            </a:r>
            <a:r>
              <a:rPr lang="en-US" altLang="zh-CN" sz="1600" b="0" dirty="0">
                <a:solidFill>
                  <a:schemeClr val="tx1"/>
                </a:solidFill>
              </a:rPr>
              <a:t> (</a:t>
            </a:r>
            <a:r>
              <a:rPr lang="en-US" altLang="zh-CN" sz="1600" b="0" dirty="0" err="1">
                <a:solidFill>
                  <a:schemeClr val="tx1"/>
                </a:solidFill>
              </a:rPr>
              <a:t>Lb</a:t>
            </a:r>
            <a:r>
              <a:rPr lang="en-US" altLang="zh-CN" sz="1600" b="0" dirty="0">
                <a:solidFill>
                  <a:schemeClr val="tx1"/>
                </a:solidFill>
              </a:rPr>
              <a:t>);</a:t>
            </a:r>
            <a:endParaRPr lang="en-US" altLang="zh-CN" sz="1600" b="0" dirty="0">
              <a:solidFill>
                <a:schemeClr val="tx1"/>
              </a:solidFill>
            </a:endParaRPr>
          </a:p>
          <a:p>
            <a:pPr lvl="2">
              <a:lnSpc>
                <a:spcPct val="100000"/>
              </a:lnSpc>
            </a:pPr>
            <a:r>
              <a:rPr lang="en-US" altLang="zh-CN" sz="1600" b="0" dirty="0">
                <a:solidFill>
                  <a:schemeClr val="tx1"/>
                </a:solidFill>
              </a:rPr>
              <a:t>    while((</a:t>
            </a:r>
            <a:r>
              <a:rPr lang="en-US" altLang="zh-CN" sz="1600" b="0" dirty="0" err="1">
                <a:solidFill>
                  <a:schemeClr val="tx1"/>
                </a:solidFill>
              </a:rPr>
              <a:t>i</a:t>
            </a:r>
            <a:r>
              <a:rPr lang="en-US" altLang="zh-CN" sz="1600" b="0" dirty="0">
                <a:solidFill>
                  <a:schemeClr val="tx1"/>
                </a:solidFill>
              </a:rPr>
              <a:t>&lt;=</a:t>
            </a:r>
            <a:r>
              <a:rPr lang="en-US" altLang="zh-CN" sz="1600" b="0" dirty="0" err="1">
                <a:solidFill>
                  <a:schemeClr val="tx1"/>
                </a:solidFill>
              </a:rPr>
              <a:t>La_Len</a:t>
            </a:r>
            <a:r>
              <a:rPr lang="en-US" altLang="zh-CN" sz="1600" b="0" dirty="0">
                <a:solidFill>
                  <a:schemeClr val="tx1"/>
                </a:solidFill>
              </a:rPr>
              <a:t>)&amp;&amp;(j&lt;=</a:t>
            </a:r>
            <a:r>
              <a:rPr lang="en-US" altLang="zh-CN" sz="1600" b="0" dirty="0" err="1">
                <a:solidFill>
                  <a:schemeClr val="tx1"/>
                </a:solidFill>
              </a:rPr>
              <a:t>Lb_len</a:t>
            </a:r>
            <a:r>
              <a:rPr lang="en-US" altLang="zh-CN" sz="1600" b="0" dirty="0">
                <a:solidFill>
                  <a:schemeClr val="tx1"/>
                </a:solidFill>
              </a:rPr>
              <a:t>)){</a:t>
            </a:r>
            <a:endParaRPr lang="en-US" altLang="zh-CN" sz="1600" b="0" dirty="0">
              <a:solidFill>
                <a:schemeClr val="tx1"/>
              </a:solidFill>
            </a:endParaRPr>
          </a:p>
          <a:p>
            <a:pPr lvl="2">
              <a:lnSpc>
                <a:spcPct val="100000"/>
              </a:lnSpc>
            </a:pPr>
            <a:r>
              <a:rPr lang="en-US" altLang="zh-CN" sz="1600" b="0" dirty="0">
                <a:solidFill>
                  <a:schemeClr val="tx1"/>
                </a:solidFill>
              </a:rPr>
              <a:t>         </a:t>
            </a:r>
            <a:r>
              <a:rPr lang="en-US" altLang="zh-CN" sz="1600" b="0" dirty="0" err="1">
                <a:solidFill>
                  <a:schemeClr val="tx1"/>
                </a:solidFill>
              </a:rPr>
              <a:t>GetElem</a:t>
            </a:r>
            <a:r>
              <a:rPr lang="en-US" altLang="zh-CN" sz="1600" b="0" dirty="0">
                <a:solidFill>
                  <a:schemeClr val="tx1"/>
                </a:solidFill>
              </a:rPr>
              <a:t>(</a:t>
            </a:r>
            <a:r>
              <a:rPr lang="en-US" altLang="zh-CN" sz="1600" b="0" dirty="0" err="1">
                <a:solidFill>
                  <a:schemeClr val="tx1"/>
                </a:solidFill>
              </a:rPr>
              <a:t>La,i,ai</a:t>
            </a:r>
            <a:r>
              <a:rPr lang="en-US" altLang="zh-CN" sz="1600" b="0" dirty="0">
                <a:solidFill>
                  <a:schemeClr val="tx1"/>
                </a:solidFill>
              </a:rPr>
              <a:t>);</a:t>
            </a:r>
            <a:r>
              <a:rPr lang="en-US" altLang="zh-CN" sz="1600" b="0" dirty="0" err="1">
                <a:solidFill>
                  <a:schemeClr val="tx1"/>
                </a:solidFill>
              </a:rPr>
              <a:t>GetElem</a:t>
            </a:r>
            <a:r>
              <a:rPr lang="en-US" altLang="zh-CN" sz="1600" b="0" dirty="0">
                <a:solidFill>
                  <a:schemeClr val="tx1"/>
                </a:solidFill>
              </a:rPr>
              <a:t>(</a:t>
            </a:r>
            <a:r>
              <a:rPr lang="en-US" altLang="zh-CN" sz="1600" b="0" dirty="0" err="1">
                <a:solidFill>
                  <a:schemeClr val="tx1"/>
                </a:solidFill>
              </a:rPr>
              <a:t>Lb,j,bj</a:t>
            </a:r>
            <a:r>
              <a:rPr lang="en-US" altLang="zh-CN" sz="1600" b="0" dirty="0">
                <a:solidFill>
                  <a:schemeClr val="tx1"/>
                </a:solidFill>
              </a:rPr>
              <a:t>);</a:t>
            </a:r>
            <a:endParaRPr lang="en-US" altLang="zh-CN" sz="1600" b="0" dirty="0">
              <a:solidFill>
                <a:schemeClr val="tx1"/>
              </a:solidFill>
            </a:endParaRPr>
          </a:p>
          <a:p>
            <a:pPr lvl="2">
              <a:lnSpc>
                <a:spcPct val="100000"/>
              </a:lnSpc>
            </a:pPr>
            <a:r>
              <a:rPr lang="en-US" altLang="zh-CN" sz="1600" b="0" dirty="0">
                <a:solidFill>
                  <a:schemeClr val="tx1"/>
                </a:solidFill>
              </a:rPr>
              <a:t>         if(</a:t>
            </a:r>
            <a:r>
              <a:rPr lang="en-US" altLang="zh-CN" sz="1600" b="0" dirty="0" err="1">
                <a:solidFill>
                  <a:schemeClr val="tx1"/>
                </a:solidFill>
              </a:rPr>
              <a:t>ai</a:t>
            </a:r>
            <a:r>
              <a:rPr lang="en-US" altLang="zh-CN" sz="1600" b="0" dirty="0">
                <a:solidFill>
                  <a:schemeClr val="tx1"/>
                </a:solidFill>
              </a:rPr>
              <a:t>&lt;= </a:t>
            </a:r>
            <a:r>
              <a:rPr lang="en-US" altLang="zh-CN" sz="1600" b="0" dirty="0" err="1">
                <a:solidFill>
                  <a:schemeClr val="tx1"/>
                </a:solidFill>
              </a:rPr>
              <a:t>bj</a:t>
            </a:r>
            <a:r>
              <a:rPr lang="en-US" altLang="zh-CN" sz="1600" b="0" dirty="0">
                <a:solidFill>
                  <a:schemeClr val="tx1"/>
                </a:solidFill>
              </a:rPr>
              <a:t>){</a:t>
            </a:r>
            <a:r>
              <a:rPr lang="en-US" altLang="zh-CN" sz="1600" b="0" dirty="0" err="1">
                <a:solidFill>
                  <a:schemeClr val="tx1"/>
                </a:solidFill>
              </a:rPr>
              <a:t>ListInsert</a:t>
            </a:r>
            <a:r>
              <a:rPr lang="en-US" altLang="zh-CN" sz="1600" b="0" dirty="0">
                <a:solidFill>
                  <a:schemeClr val="tx1"/>
                </a:solidFill>
              </a:rPr>
              <a:t>(</a:t>
            </a:r>
            <a:r>
              <a:rPr lang="en-US" altLang="zh-CN" sz="1600" b="0" dirty="0" err="1">
                <a:solidFill>
                  <a:schemeClr val="tx1"/>
                </a:solidFill>
              </a:rPr>
              <a:t>Lc</a:t>
            </a:r>
            <a:r>
              <a:rPr lang="en-US" altLang="zh-CN" sz="1600" b="0" dirty="0">
                <a:solidFill>
                  <a:schemeClr val="tx1"/>
                </a:solidFill>
              </a:rPr>
              <a:t>,++k, </a:t>
            </a:r>
            <a:r>
              <a:rPr lang="en-US" altLang="zh-CN" sz="1600" b="0" dirty="0" err="1">
                <a:solidFill>
                  <a:schemeClr val="tx1"/>
                </a:solidFill>
              </a:rPr>
              <a:t>ai</a:t>
            </a:r>
            <a:r>
              <a:rPr lang="en-US" altLang="zh-CN" sz="1600" b="0" dirty="0">
                <a:solidFill>
                  <a:schemeClr val="tx1"/>
                </a:solidFill>
              </a:rPr>
              <a:t>);++</a:t>
            </a:r>
            <a:r>
              <a:rPr lang="en-US" altLang="zh-CN" sz="1600" b="0" dirty="0" err="1">
                <a:solidFill>
                  <a:schemeClr val="tx1"/>
                </a:solidFill>
              </a:rPr>
              <a:t>i</a:t>
            </a:r>
            <a:r>
              <a:rPr lang="en-US" altLang="zh-CN" sz="1600" b="0" dirty="0">
                <a:solidFill>
                  <a:schemeClr val="tx1"/>
                </a:solidFill>
              </a:rPr>
              <a:t>;} </a:t>
            </a:r>
            <a:endParaRPr lang="en-US" altLang="zh-CN" sz="1600" b="0" dirty="0">
              <a:solidFill>
                <a:schemeClr val="tx1"/>
              </a:solidFill>
            </a:endParaRPr>
          </a:p>
          <a:p>
            <a:pPr lvl="2">
              <a:lnSpc>
                <a:spcPct val="100000"/>
              </a:lnSpc>
            </a:pPr>
            <a:r>
              <a:rPr lang="en-US" altLang="zh-CN" sz="1600" b="0" dirty="0">
                <a:solidFill>
                  <a:schemeClr val="tx1"/>
                </a:solidFill>
              </a:rPr>
              <a:t>         else {</a:t>
            </a:r>
            <a:r>
              <a:rPr lang="en-US" altLang="zh-CN" sz="1600" b="0" dirty="0" err="1">
                <a:solidFill>
                  <a:schemeClr val="tx1"/>
                </a:solidFill>
              </a:rPr>
              <a:t>ListInsert</a:t>
            </a:r>
            <a:r>
              <a:rPr lang="en-US" altLang="zh-CN" sz="1600" b="0" dirty="0">
                <a:solidFill>
                  <a:schemeClr val="tx1"/>
                </a:solidFill>
              </a:rPr>
              <a:t>(</a:t>
            </a:r>
            <a:r>
              <a:rPr lang="en-US" altLang="zh-CN" sz="1600" b="0" dirty="0" err="1">
                <a:solidFill>
                  <a:schemeClr val="tx1"/>
                </a:solidFill>
              </a:rPr>
              <a:t>Lc</a:t>
            </a:r>
            <a:r>
              <a:rPr lang="en-US" altLang="zh-CN" sz="1600" b="0" dirty="0">
                <a:solidFill>
                  <a:schemeClr val="tx1"/>
                </a:solidFill>
              </a:rPr>
              <a:t>,++k, </a:t>
            </a:r>
            <a:r>
              <a:rPr lang="en-US" altLang="zh-CN" sz="1600" b="0" dirty="0" err="1">
                <a:solidFill>
                  <a:schemeClr val="tx1"/>
                </a:solidFill>
              </a:rPr>
              <a:t>bj</a:t>
            </a:r>
            <a:r>
              <a:rPr lang="en-US" altLang="zh-CN" sz="1600" b="0" dirty="0">
                <a:solidFill>
                  <a:schemeClr val="tx1"/>
                </a:solidFill>
              </a:rPr>
              <a:t>);++j}</a:t>
            </a:r>
            <a:endParaRPr lang="en-US" altLang="zh-CN" sz="1600" b="0" dirty="0">
              <a:solidFill>
                <a:schemeClr val="tx1"/>
              </a:solidFill>
            </a:endParaRPr>
          </a:p>
          <a:p>
            <a:pPr lvl="2">
              <a:lnSpc>
                <a:spcPct val="100000"/>
              </a:lnSpc>
            </a:pPr>
            <a:r>
              <a:rPr lang="en-US" altLang="zh-CN" sz="1600" b="0" dirty="0">
                <a:solidFill>
                  <a:schemeClr val="tx1"/>
                </a:solidFill>
              </a:rPr>
              <a:t>    }</a:t>
            </a:r>
            <a:endParaRPr lang="en-US" altLang="zh-CN" sz="1600" b="0" dirty="0">
              <a:solidFill>
                <a:schemeClr val="tx1"/>
              </a:solidFill>
            </a:endParaRPr>
          </a:p>
          <a:p>
            <a:pPr lvl="2">
              <a:lnSpc>
                <a:spcPct val="100000"/>
              </a:lnSpc>
            </a:pPr>
            <a:r>
              <a:rPr lang="en-US" altLang="zh-CN" sz="1600" b="0" dirty="0">
                <a:solidFill>
                  <a:schemeClr val="tx1"/>
                </a:solidFill>
              </a:rPr>
              <a:t>    while (</a:t>
            </a:r>
            <a:r>
              <a:rPr lang="en-US" altLang="zh-CN" sz="1600" b="0" dirty="0" err="1">
                <a:solidFill>
                  <a:schemeClr val="tx1"/>
                </a:solidFill>
              </a:rPr>
              <a:t>i</a:t>
            </a:r>
            <a:r>
              <a:rPr lang="en-US" altLang="zh-CN" sz="1600" b="0" dirty="0">
                <a:solidFill>
                  <a:schemeClr val="tx1"/>
                </a:solidFill>
              </a:rPr>
              <a:t>&lt;=</a:t>
            </a:r>
            <a:r>
              <a:rPr lang="en-US" altLang="zh-CN" sz="1600" b="0" dirty="0" err="1">
                <a:solidFill>
                  <a:schemeClr val="tx1"/>
                </a:solidFill>
              </a:rPr>
              <a:t>La_len</a:t>
            </a:r>
            <a:r>
              <a:rPr lang="en-US" altLang="zh-CN" sz="1600" b="0" dirty="0">
                <a:solidFill>
                  <a:schemeClr val="tx1"/>
                </a:solidFill>
              </a:rPr>
              <a:t>) {</a:t>
            </a:r>
            <a:endParaRPr lang="en-US" altLang="zh-CN" sz="1600" b="0" dirty="0">
              <a:solidFill>
                <a:schemeClr val="tx1"/>
              </a:solidFill>
            </a:endParaRPr>
          </a:p>
          <a:p>
            <a:pPr lvl="2">
              <a:lnSpc>
                <a:spcPct val="100000"/>
              </a:lnSpc>
            </a:pPr>
            <a:r>
              <a:rPr lang="en-US" altLang="zh-CN" sz="1600" b="0" dirty="0">
                <a:solidFill>
                  <a:schemeClr val="tx1"/>
                </a:solidFill>
              </a:rPr>
              <a:t>        </a:t>
            </a:r>
            <a:r>
              <a:rPr lang="en-US" altLang="zh-CN" sz="1600" b="0" dirty="0" err="1">
                <a:solidFill>
                  <a:schemeClr val="tx1"/>
                </a:solidFill>
              </a:rPr>
              <a:t>GetElem</a:t>
            </a:r>
            <a:r>
              <a:rPr lang="en-US" altLang="zh-CN" sz="1600" b="0" dirty="0">
                <a:solidFill>
                  <a:schemeClr val="tx1"/>
                </a:solidFill>
              </a:rPr>
              <a:t>(La, </a:t>
            </a:r>
            <a:r>
              <a:rPr lang="en-US" altLang="zh-CN" sz="1600" b="0" dirty="0" err="1">
                <a:solidFill>
                  <a:schemeClr val="tx1"/>
                </a:solidFill>
              </a:rPr>
              <a:t>i</a:t>
            </a:r>
            <a:r>
              <a:rPr lang="en-US" altLang="zh-CN" sz="1600" b="0" dirty="0">
                <a:solidFill>
                  <a:schemeClr val="tx1"/>
                </a:solidFill>
              </a:rPr>
              <a:t>++, </a:t>
            </a:r>
            <a:r>
              <a:rPr lang="en-US" altLang="zh-CN" sz="1600" b="0" dirty="0" err="1">
                <a:solidFill>
                  <a:schemeClr val="tx1"/>
                </a:solidFill>
              </a:rPr>
              <a:t>ai</a:t>
            </a:r>
            <a:r>
              <a:rPr lang="en-US" altLang="zh-CN" sz="1600" b="0" dirty="0">
                <a:solidFill>
                  <a:schemeClr val="tx1"/>
                </a:solidFill>
              </a:rPr>
              <a:t>);</a:t>
            </a:r>
            <a:r>
              <a:rPr lang="en-US" altLang="zh-CN" sz="1600" b="0" dirty="0" err="1">
                <a:solidFill>
                  <a:schemeClr val="tx1"/>
                </a:solidFill>
              </a:rPr>
              <a:t>ListInsert</a:t>
            </a:r>
            <a:r>
              <a:rPr lang="en-US" altLang="zh-CN" sz="1600" b="0" dirty="0">
                <a:solidFill>
                  <a:schemeClr val="tx1"/>
                </a:solidFill>
              </a:rPr>
              <a:t>(</a:t>
            </a:r>
            <a:r>
              <a:rPr lang="en-US" altLang="zh-CN" sz="1600" b="0" dirty="0" err="1">
                <a:solidFill>
                  <a:schemeClr val="tx1"/>
                </a:solidFill>
              </a:rPr>
              <a:t>Lc</a:t>
            </a:r>
            <a:r>
              <a:rPr lang="en-US" altLang="zh-CN" sz="1600" b="0" dirty="0">
                <a:solidFill>
                  <a:schemeClr val="tx1"/>
                </a:solidFill>
              </a:rPr>
              <a:t>, ++k, </a:t>
            </a:r>
            <a:r>
              <a:rPr lang="en-US" altLang="zh-CN" sz="1600" b="0" dirty="0" err="1">
                <a:solidFill>
                  <a:schemeClr val="tx1"/>
                </a:solidFill>
              </a:rPr>
              <a:t>ai</a:t>
            </a:r>
            <a:r>
              <a:rPr lang="en-US" altLang="zh-CN" sz="1600" b="0" dirty="0">
                <a:solidFill>
                  <a:schemeClr val="tx1"/>
                </a:solidFill>
              </a:rPr>
              <a:t>);</a:t>
            </a:r>
            <a:endParaRPr lang="en-US" altLang="zh-CN" sz="1600" b="0" dirty="0">
              <a:solidFill>
                <a:schemeClr val="tx1"/>
              </a:solidFill>
            </a:endParaRPr>
          </a:p>
          <a:p>
            <a:pPr lvl="2">
              <a:lnSpc>
                <a:spcPct val="100000"/>
              </a:lnSpc>
            </a:pPr>
            <a:r>
              <a:rPr lang="en-US" altLang="zh-CN" sz="1600" b="0" dirty="0">
                <a:solidFill>
                  <a:schemeClr val="tx1"/>
                </a:solidFill>
              </a:rPr>
              <a:t>    }</a:t>
            </a:r>
            <a:endParaRPr lang="en-US" altLang="zh-CN" sz="1600" b="0" dirty="0">
              <a:solidFill>
                <a:schemeClr val="tx1"/>
              </a:solidFill>
            </a:endParaRPr>
          </a:p>
          <a:p>
            <a:pPr lvl="2">
              <a:lnSpc>
                <a:spcPct val="100000"/>
              </a:lnSpc>
            </a:pPr>
            <a:r>
              <a:rPr lang="en-US" altLang="zh-CN" sz="1600" b="0" dirty="0">
                <a:solidFill>
                  <a:schemeClr val="tx1"/>
                </a:solidFill>
              </a:rPr>
              <a:t>    while (j&lt;=</a:t>
            </a:r>
            <a:r>
              <a:rPr lang="en-US" altLang="zh-CN" sz="1600" b="0" dirty="0" err="1">
                <a:solidFill>
                  <a:schemeClr val="tx1"/>
                </a:solidFill>
              </a:rPr>
              <a:t>Lb_len</a:t>
            </a:r>
            <a:r>
              <a:rPr lang="en-US" altLang="zh-CN" sz="1600" b="0" dirty="0">
                <a:solidFill>
                  <a:schemeClr val="tx1"/>
                </a:solidFill>
              </a:rPr>
              <a:t>) {</a:t>
            </a:r>
            <a:endParaRPr lang="en-US" altLang="zh-CN" sz="1600" b="0" dirty="0">
              <a:solidFill>
                <a:schemeClr val="tx1"/>
              </a:solidFill>
            </a:endParaRPr>
          </a:p>
          <a:p>
            <a:pPr lvl="2">
              <a:lnSpc>
                <a:spcPct val="100000"/>
              </a:lnSpc>
            </a:pPr>
            <a:r>
              <a:rPr lang="en-US" altLang="zh-CN" sz="1600" b="0" dirty="0">
                <a:solidFill>
                  <a:schemeClr val="tx1"/>
                </a:solidFill>
              </a:rPr>
              <a:t>        </a:t>
            </a:r>
            <a:r>
              <a:rPr lang="en-US" altLang="zh-CN" sz="1600" b="0" dirty="0" err="1">
                <a:solidFill>
                  <a:schemeClr val="tx1"/>
                </a:solidFill>
              </a:rPr>
              <a:t>GetElem</a:t>
            </a:r>
            <a:r>
              <a:rPr lang="en-US" altLang="zh-CN" sz="1600" b="0" dirty="0">
                <a:solidFill>
                  <a:schemeClr val="tx1"/>
                </a:solidFill>
              </a:rPr>
              <a:t>(</a:t>
            </a:r>
            <a:r>
              <a:rPr lang="en-US" altLang="zh-CN" sz="1600" b="0" dirty="0" err="1">
                <a:solidFill>
                  <a:schemeClr val="tx1"/>
                </a:solidFill>
              </a:rPr>
              <a:t>Lb</a:t>
            </a:r>
            <a:r>
              <a:rPr lang="en-US" altLang="zh-CN" sz="1600" b="0" dirty="0">
                <a:solidFill>
                  <a:schemeClr val="tx1"/>
                </a:solidFill>
              </a:rPr>
              <a:t>, </a:t>
            </a:r>
            <a:r>
              <a:rPr lang="en-US" altLang="zh-CN" sz="1600" b="0" dirty="0" err="1">
                <a:solidFill>
                  <a:schemeClr val="tx1"/>
                </a:solidFill>
              </a:rPr>
              <a:t>j++</a:t>
            </a:r>
            <a:r>
              <a:rPr lang="en-US" altLang="zh-CN" sz="1600" b="0" dirty="0">
                <a:solidFill>
                  <a:schemeClr val="tx1"/>
                </a:solidFill>
              </a:rPr>
              <a:t>, </a:t>
            </a:r>
            <a:r>
              <a:rPr lang="en-US" altLang="zh-CN" sz="1600" b="0" dirty="0" err="1">
                <a:solidFill>
                  <a:schemeClr val="tx1"/>
                </a:solidFill>
              </a:rPr>
              <a:t>bj</a:t>
            </a:r>
            <a:r>
              <a:rPr lang="en-US" altLang="zh-CN" sz="1600" b="0" dirty="0">
                <a:solidFill>
                  <a:schemeClr val="tx1"/>
                </a:solidFill>
              </a:rPr>
              <a:t>);</a:t>
            </a:r>
            <a:r>
              <a:rPr lang="en-US" altLang="zh-CN" sz="1600" b="0" dirty="0" err="1">
                <a:solidFill>
                  <a:schemeClr val="tx1"/>
                </a:solidFill>
              </a:rPr>
              <a:t>ListInsert</a:t>
            </a:r>
            <a:r>
              <a:rPr lang="en-US" altLang="zh-CN" sz="1600" b="0" dirty="0">
                <a:solidFill>
                  <a:schemeClr val="tx1"/>
                </a:solidFill>
              </a:rPr>
              <a:t>(</a:t>
            </a:r>
            <a:r>
              <a:rPr lang="en-US" altLang="zh-CN" sz="1600" b="0" dirty="0" err="1">
                <a:solidFill>
                  <a:schemeClr val="tx1"/>
                </a:solidFill>
              </a:rPr>
              <a:t>Lc</a:t>
            </a:r>
            <a:r>
              <a:rPr lang="en-US" altLang="zh-CN" sz="1600" b="0" dirty="0">
                <a:solidFill>
                  <a:schemeClr val="tx1"/>
                </a:solidFill>
              </a:rPr>
              <a:t>, ++k, </a:t>
            </a:r>
            <a:r>
              <a:rPr lang="en-US" altLang="zh-CN" sz="1600" b="0" dirty="0" err="1">
                <a:solidFill>
                  <a:schemeClr val="tx1"/>
                </a:solidFill>
              </a:rPr>
              <a:t>bj</a:t>
            </a:r>
            <a:r>
              <a:rPr lang="en-US" altLang="zh-CN" sz="1600" b="0" dirty="0">
                <a:solidFill>
                  <a:schemeClr val="tx1"/>
                </a:solidFill>
              </a:rPr>
              <a:t>);</a:t>
            </a:r>
            <a:endParaRPr lang="en-US" altLang="zh-CN" sz="1600" b="0" dirty="0">
              <a:solidFill>
                <a:schemeClr val="tx1"/>
              </a:solidFill>
            </a:endParaRPr>
          </a:p>
          <a:p>
            <a:pPr lvl="2">
              <a:lnSpc>
                <a:spcPct val="100000"/>
              </a:lnSpc>
            </a:pPr>
            <a:r>
              <a:rPr lang="en-US" altLang="zh-CN" sz="1600" b="0" dirty="0">
                <a:solidFill>
                  <a:schemeClr val="tx1"/>
                </a:solidFill>
              </a:rPr>
              <a:t>    }</a:t>
            </a:r>
            <a:endParaRPr lang="en-US" altLang="zh-CN" sz="1600" b="0" dirty="0">
              <a:solidFill>
                <a:schemeClr val="tx1"/>
              </a:solidFill>
            </a:endParaRPr>
          </a:p>
          <a:p>
            <a:pPr lvl="2">
              <a:lnSpc>
                <a:spcPct val="100000"/>
              </a:lnSpc>
            </a:pPr>
            <a:r>
              <a:rPr lang="en-US" altLang="zh-CN" sz="1600" b="0" dirty="0">
                <a:solidFill>
                  <a:schemeClr val="tx1"/>
                </a:solidFill>
              </a:rPr>
              <a:t>} </a:t>
            </a:r>
            <a:endParaRPr lang="en-US" altLang="zh-CN" sz="1600" b="0" dirty="0">
              <a:solidFill>
                <a:schemeClr val="tx1"/>
              </a:solidFill>
            </a:endParaRPr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2.1 </a:t>
            </a:r>
            <a:r>
              <a:rPr lang="zh-CN" altLang="en-US" dirty="0"/>
              <a:t>线性表的类型定义</a:t>
            </a:r>
            <a:endParaRPr lang="zh-CN" altLang="en-US" dirty="0"/>
          </a:p>
        </p:txBody>
      </p:sp>
      <p:sp>
        <p:nvSpPr>
          <p:cNvPr id="4" name="矩形 3"/>
          <p:cNvSpPr>
            <a:spLocks noChangeArrowheads="1"/>
          </p:cNvSpPr>
          <p:nvPr/>
        </p:nvSpPr>
        <p:spPr bwMode="auto">
          <a:xfrm>
            <a:off x="4703871" y="2858817"/>
            <a:ext cx="2052638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800" dirty="0"/>
              <a:t>O(</a:t>
            </a:r>
            <a:r>
              <a:rPr lang="en-US" altLang="zh-CN" sz="1800" dirty="0" err="1"/>
              <a:t>Listlength</a:t>
            </a:r>
            <a:r>
              <a:rPr lang="en-US" altLang="zh-CN" sz="1800" dirty="0"/>
              <a:t>(LA)+ </a:t>
            </a:r>
            <a:r>
              <a:rPr lang="en-US" altLang="zh-CN" sz="1800" dirty="0" err="1"/>
              <a:t>Listlength</a:t>
            </a:r>
            <a:r>
              <a:rPr lang="en-US" altLang="zh-CN" sz="1800" dirty="0"/>
              <a:t>(LB))</a:t>
            </a:r>
            <a:endParaRPr lang="zh-CN" altLang="en-US" sz="18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线性表的顺序表示和实现</a:t>
            </a:r>
            <a:endParaRPr lang="en-US" altLang="zh-CN" dirty="0"/>
          </a:p>
          <a:p>
            <a:pPr marL="478155" lvl="2" indent="-342900">
              <a:buFont typeface="Wingdings" panose="05000000000000000000" pitchFamily="2" charset="2"/>
              <a:buChar char="Ø"/>
            </a:pPr>
            <a:r>
              <a:rPr lang="zh-CN" altLang="en-US" dirty="0"/>
              <a:t>顺序存储：</a:t>
            </a:r>
            <a:r>
              <a:rPr lang="zh-CN" altLang="en-US" dirty="0">
                <a:solidFill>
                  <a:srgbClr val="FF0000"/>
                </a:solidFill>
              </a:rPr>
              <a:t>逻辑上相邻，物理位置也相邻</a:t>
            </a:r>
            <a:endParaRPr lang="en-US" altLang="zh-CN" dirty="0">
              <a:solidFill>
                <a:srgbClr val="FF0000"/>
              </a:solidFill>
            </a:endParaRPr>
          </a:p>
          <a:p>
            <a:pPr marL="478155" lvl="2" indent="-342900">
              <a:buFont typeface="Wingdings" panose="05000000000000000000" pitchFamily="2" charset="2"/>
              <a:buChar char="Ø"/>
            </a:pPr>
            <a:r>
              <a:rPr lang="zh-CN" altLang="en-US" dirty="0"/>
              <a:t>实现方法：用一组地址连续的存储单元依次存储线性表的元素</a:t>
            </a:r>
            <a:endParaRPr lang="en-US" altLang="zh-CN" dirty="0"/>
          </a:p>
          <a:p>
            <a:pPr lvl="2"/>
            <a:r>
              <a:rPr lang="en-US" altLang="zh-CN" dirty="0"/>
              <a:t>     </a:t>
            </a:r>
            <a:r>
              <a:rPr lang="zh-CN" altLang="en-US" dirty="0">
                <a:solidFill>
                  <a:srgbClr val="FF0000"/>
                </a:solidFill>
              </a:rPr>
              <a:t>采用数组来实现</a:t>
            </a:r>
            <a:endParaRPr lang="en-US" altLang="zh-CN" dirty="0">
              <a:solidFill>
                <a:srgbClr val="FF0000"/>
              </a:solidFill>
            </a:endParaRPr>
          </a:p>
          <a:p>
            <a:pPr marL="478155" lvl="2" indent="-342900">
              <a:buFont typeface="Wingdings" panose="05000000000000000000" pitchFamily="2" charset="2"/>
              <a:buChar char="Ø"/>
            </a:pPr>
            <a:r>
              <a:rPr lang="zh-CN" altLang="en-US" dirty="0"/>
              <a:t>特点：</a:t>
            </a:r>
            <a:endParaRPr lang="en-US" altLang="zh-CN" dirty="0"/>
          </a:p>
          <a:p>
            <a:pPr lvl="2"/>
            <a:r>
              <a:rPr lang="en-US" altLang="zh-CN" dirty="0"/>
              <a:t>        </a:t>
            </a:r>
            <a:r>
              <a:rPr lang="zh-CN" altLang="en-US" dirty="0">
                <a:solidFill>
                  <a:srgbClr val="FF0000"/>
                </a:solidFill>
              </a:rPr>
              <a:t>随机存取</a:t>
            </a:r>
            <a:endParaRPr lang="zh-CN" altLang="en-US" dirty="0">
              <a:solidFill>
                <a:srgbClr val="FF0000"/>
              </a:solidFill>
            </a:endParaRPr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2.2 </a:t>
            </a:r>
            <a:r>
              <a:rPr lang="zh-CN" altLang="en-US" dirty="0"/>
              <a:t>线性表的顺序表示和实现</a:t>
            </a:r>
            <a:endParaRPr lang="zh-CN" alt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顺序存储结构定义</a:t>
            </a:r>
            <a:endParaRPr lang="en-US" altLang="zh-CN" dirty="0"/>
          </a:p>
          <a:p>
            <a:pPr lvl="2">
              <a:spcBef>
                <a:spcPct val="0"/>
              </a:spcBef>
            </a:pPr>
            <a:r>
              <a:rPr lang="en-US" altLang="zh-CN" sz="1650" dirty="0"/>
              <a:t>#define LIST_INIT_SIZE  100</a:t>
            </a:r>
            <a:endParaRPr lang="en-US" altLang="zh-CN" sz="1650" dirty="0"/>
          </a:p>
          <a:p>
            <a:pPr lvl="2">
              <a:spcBef>
                <a:spcPct val="0"/>
              </a:spcBef>
            </a:pPr>
            <a:r>
              <a:rPr lang="en-US" altLang="zh-CN" sz="1650" dirty="0"/>
              <a:t>#define LISTINCREMENT 10</a:t>
            </a:r>
            <a:endParaRPr lang="en-US" altLang="zh-CN" sz="1650" dirty="0"/>
          </a:p>
          <a:p>
            <a:pPr lvl="2">
              <a:spcBef>
                <a:spcPct val="0"/>
              </a:spcBef>
            </a:pPr>
            <a:r>
              <a:rPr lang="en-US" altLang="zh-CN" sz="1650" dirty="0"/>
              <a:t>typedef  </a:t>
            </a:r>
            <a:r>
              <a:rPr lang="en-US" altLang="zh-CN" sz="1650" dirty="0" err="1"/>
              <a:t>struct</a:t>
            </a:r>
            <a:r>
              <a:rPr lang="en-US" altLang="zh-CN" sz="1650" dirty="0"/>
              <a:t> </a:t>
            </a:r>
            <a:r>
              <a:rPr lang="en-US" altLang="zh-CN" sz="1650" dirty="0" err="1"/>
              <a:t>SqList</a:t>
            </a:r>
            <a:r>
              <a:rPr lang="en-US" altLang="zh-CN" sz="1650" dirty="0"/>
              <a:t>{  </a:t>
            </a:r>
            <a:endParaRPr lang="en-US" altLang="zh-CN" sz="1650" dirty="0"/>
          </a:p>
          <a:p>
            <a:pPr lvl="2">
              <a:spcBef>
                <a:spcPct val="0"/>
              </a:spcBef>
            </a:pPr>
            <a:r>
              <a:rPr lang="en-US" altLang="zh-CN" sz="1650" dirty="0"/>
              <a:t>    </a:t>
            </a:r>
            <a:r>
              <a:rPr lang="en-US" altLang="zh-CN" sz="1650" dirty="0" err="1"/>
              <a:t>ElemType</a:t>
            </a:r>
            <a:r>
              <a:rPr lang="en-US" altLang="zh-CN" sz="1650" dirty="0"/>
              <a:t>  *</a:t>
            </a:r>
            <a:r>
              <a:rPr lang="en-US" altLang="zh-CN" sz="1650" dirty="0" err="1"/>
              <a:t>elem</a:t>
            </a:r>
            <a:r>
              <a:rPr lang="en-US" altLang="zh-CN" sz="1650" dirty="0"/>
              <a:t>;   /* </a:t>
            </a:r>
            <a:r>
              <a:rPr lang="zh-CN" altLang="en-US" sz="1650" dirty="0"/>
              <a:t>顺序表 *</a:t>
            </a:r>
            <a:r>
              <a:rPr lang="en-US" altLang="zh-CN" sz="1650" dirty="0"/>
              <a:t>/ </a:t>
            </a:r>
            <a:endParaRPr lang="en-US" altLang="zh-CN" sz="1650" dirty="0"/>
          </a:p>
          <a:p>
            <a:pPr lvl="2">
              <a:spcBef>
                <a:spcPct val="0"/>
              </a:spcBef>
            </a:pPr>
            <a:r>
              <a:rPr lang="en-US" altLang="zh-CN" sz="1650" dirty="0"/>
              <a:t>    </a:t>
            </a:r>
            <a:r>
              <a:rPr lang="en-US" altLang="zh-CN" sz="1650" dirty="0" err="1"/>
              <a:t>int</a:t>
            </a:r>
            <a:r>
              <a:rPr lang="en-US" altLang="zh-CN" sz="1650" dirty="0"/>
              <a:t>   	length</a:t>
            </a:r>
            <a:r>
              <a:rPr lang="zh-CN" altLang="en-US" sz="1650" dirty="0"/>
              <a:t>；    </a:t>
            </a:r>
            <a:r>
              <a:rPr lang="en-US" altLang="zh-CN" sz="1650" dirty="0"/>
              <a:t>/* </a:t>
            </a:r>
            <a:r>
              <a:rPr lang="zh-CN" altLang="en-US" sz="1650" dirty="0"/>
              <a:t>顺序表长度 *</a:t>
            </a:r>
            <a:r>
              <a:rPr lang="en-US" altLang="zh-CN" sz="1650" dirty="0"/>
              <a:t>/</a:t>
            </a:r>
            <a:r>
              <a:rPr lang="zh-CN" altLang="en-US" sz="1650" dirty="0"/>
              <a:t>    </a:t>
            </a:r>
            <a:endParaRPr lang="zh-CN" altLang="en-US" sz="1650" dirty="0"/>
          </a:p>
          <a:p>
            <a:pPr lvl="2">
              <a:spcBef>
                <a:spcPct val="0"/>
              </a:spcBef>
            </a:pPr>
            <a:r>
              <a:rPr lang="zh-CN" altLang="en-US" sz="1650" dirty="0"/>
              <a:t>    </a:t>
            </a:r>
            <a:r>
              <a:rPr lang="en-US" altLang="zh-CN" sz="1650" dirty="0" err="1"/>
              <a:t>int</a:t>
            </a:r>
            <a:r>
              <a:rPr lang="en-US" altLang="zh-CN" sz="1650" dirty="0"/>
              <a:t>          </a:t>
            </a:r>
            <a:r>
              <a:rPr lang="en-US" altLang="zh-CN" sz="1650" dirty="0" err="1"/>
              <a:t>listsize</a:t>
            </a:r>
            <a:r>
              <a:rPr lang="en-US" altLang="zh-CN" sz="1650" dirty="0"/>
              <a:t>;      /* </a:t>
            </a:r>
            <a:r>
              <a:rPr lang="zh-CN" altLang="en-US" sz="1650" dirty="0"/>
              <a:t>分配空间大小 *</a:t>
            </a:r>
            <a:r>
              <a:rPr lang="en-US" altLang="zh-CN" sz="1650" dirty="0"/>
              <a:t>/</a:t>
            </a:r>
            <a:endParaRPr lang="en-US" altLang="zh-CN" sz="1650" dirty="0"/>
          </a:p>
          <a:p>
            <a:pPr lvl="2">
              <a:spcBef>
                <a:spcPct val="0"/>
              </a:spcBef>
            </a:pPr>
            <a:r>
              <a:rPr lang="en-US" altLang="zh-CN" sz="1650" dirty="0"/>
              <a:t> } </a:t>
            </a:r>
            <a:r>
              <a:rPr lang="en-US" altLang="zh-CN" sz="1650" dirty="0" err="1"/>
              <a:t>SqList</a:t>
            </a:r>
            <a:r>
              <a:rPr lang="zh-CN" altLang="en-US" sz="1650" dirty="0"/>
              <a:t>； </a:t>
            </a:r>
            <a:endParaRPr lang="zh-CN" altLang="en-US" sz="1650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2.2 </a:t>
            </a:r>
            <a:r>
              <a:rPr lang="zh-CN" altLang="en-US" dirty="0"/>
              <a:t>线性表的顺序表示和实现</a:t>
            </a:r>
            <a:endParaRPr lang="zh-CN" alt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1.</a:t>
            </a:r>
            <a:r>
              <a:rPr lang="zh-CN" altLang="en-US" dirty="0"/>
              <a:t>顺序表的初始化</a:t>
            </a:r>
            <a:endParaRPr lang="en-US" altLang="zh-CN" dirty="0"/>
          </a:p>
          <a:p>
            <a:pPr lvl="2"/>
            <a:r>
              <a:rPr lang="en-US" altLang="zh-CN" dirty="0"/>
              <a:t>Status </a:t>
            </a:r>
            <a:r>
              <a:rPr lang="en-US" altLang="zh-CN" dirty="0" err="1"/>
              <a:t>InitList_Sq</a:t>
            </a:r>
            <a:r>
              <a:rPr lang="en-US" altLang="zh-CN" dirty="0"/>
              <a:t>(</a:t>
            </a:r>
            <a:r>
              <a:rPr lang="en-US" altLang="zh-CN" dirty="0" err="1"/>
              <a:t>SqList</a:t>
            </a:r>
            <a:r>
              <a:rPr lang="en-US" altLang="zh-CN" dirty="0"/>
              <a:t> &amp;L){</a:t>
            </a:r>
            <a:endParaRPr lang="en-US" altLang="zh-CN" dirty="0"/>
          </a:p>
          <a:p>
            <a:pPr lvl="2"/>
            <a:r>
              <a:rPr lang="en-US" altLang="zh-CN" dirty="0" err="1"/>
              <a:t>L.elem</a:t>
            </a:r>
            <a:r>
              <a:rPr lang="en-US" altLang="zh-CN" dirty="0"/>
              <a:t>=(</a:t>
            </a:r>
            <a:r>
              <a:rPr lang="en-US" altLang="zh-CN" dirty="0" err="1"/>
              <a:t>ElemType</a:t>
            </a:r>
            <a:r>
              <a:rPr lang="en-US" altLang="zh-CN" dirty="0"/>
              <a:t>*)</a:t>
            </a:r>
            <a:r>
              <a:rPr lang="en-US" altLang="zh-CN" dirty="0" err="1"/>
              <a:t>malloc</a:t>
            </a:r>
            <a:r>
              <a:rPr lang="en-US" altLang="zh-CN" dirty="0"/>
              <a:t>( LIST_INIT_SIZE*</a:t>
            </a:r>
            <a:r>
              <a:rPr lang="en-US" altLang="zh-CN" dirty="0" err="1"/>
              <a:t>sizeof</a:t>
            </a:r>
            <a:r>
              <a:rPr lang="en-US" altLang="zh-CN" dirty="0"/>
              <a:t>(</a:t>
            </a:r>
            <a:r>
              <a:rPr lang="en-US" altLang="zh-CN" dirty="0" err="1"/>
              <a:t>ElemType</a:t>
            </a:r>
            <a:r>
              <a:rPr lang="en-US" altLang="zh-CN" dirty="0"/>
              <a:t>) );</a:t>
            </a:r>
            <a:endParaRPr lang="en-US" altLang="zh-CN" dirty="0"/>
          </a:p>
          <a:p>
            <a:pPr lvl="2"/>
            <a:r>
              <a:rPr lang="en-US" altLang="zh-CN" dirty="0"/>
              <a:t>    if(!</a:t>
            </a:r>
            <a:r>
              <a:rPr lang="en-US" altLang="zh-CN" dirty="0" err="1"/>
              <a:t>L.elem</a:t>
            </a:r>
            <a:r>
              <a:rPr lang="en-US" altLang="zh-CN" dirty="0"/>
              <a:t>) exit(OVERFLOW);</a:t>
            </a:r>
            <a:endParaRPr lang="en-US" altLang="zh-CN" dirty="0"/>
          </a:p>
          <a:p>
            <a:pPr lvl="2"/>
            <a:r>
              <a:rPr lang="zh-CN" altLang="en-US" dirty="0"/>
              <a:t>    </a:t>
            </a:r>
            <a:r>
              <a:rPr lang="en-US" altLang="zh-CN" dirty="0" err="1"/>
              <a:t>L.length</a:t>
            </a:r>
            <a:r>
              <a:rPr lang="en-US" altLang="zh-CN" dirty="0"/>
              <a:t>=0;</a:t>
            </a:r>
            <a:endParaRPr lang="en-US" altLang="zh-CN" dirty="0"/>
          </a:p>
          <a:p>
            <a:pPr lvl="2"/>
            <a:r>
              <a:rPr lang="zh-CN" altLang="en-US" dirty="0"/>
              <a:t>    </a:t>
            </a:r>
            <a:r>
              <a:rPr lang="en-US" altLang="zh-CN" dirty="0" err="1"/>
              <a:t>L.listsize</a:t>
            </a:r>
            <a:r>
              <a:rPr lang="en-US" altLang="zh-CN" dirty="0"/>
              <a:t>=LIST_INIT_SIZE;</a:t>
            </a:r>
            <a:endParaRPr lang="en-US" altLang="zh-CN" dirty="0"/>
          </a:p>
          <a:p>
            <a:pPr lvl="2"/>
            <a:r>
              <a:rPr lang="zh-CN" altLang="en-US" dirty="0"/>
              <a:t>    </a:t>
            </a:r>
            <a:r>
              <a:rPr lang="en-US" altLang="zh-CN" dirty="0"/>
              <a:t>return OK;</a:t>
            </a:r>
            <a:endParaRPr lang="en-US" altLang="zh-CN" dirty="0"/>
          </a:p>
          <a:p>
            <a:pPr lvl="2"/>
            <a:r>
              <a:rPr lang="en-US" altLang="zh-CN" dirty="0"/>
              <a:t>}  </a:t>
            </a:r>
            <a:endParaRPr lang="en-US" altLang="zh-CN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2.2 </a:t>
            </a:r>
            <a:r>
              <a:rPr lang="zh-CN" altLang="en-US" dirty="0"/>
              <a:t>线性表的顺序表示和实现</a:t>
            </a:r>
            <a:endParaRPr lang="zh-CN" alt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2.</a:t>
            </a:r>
            <a:r>
              <a:rPr lang="zh-CN" altLang="en-US" dirty="0"/>
              <a:t>顺序表的插入</a:t>
            </a:r>
            <a:endParaRPr lang="en-US" altLang="zh-CN" dirty="0"/>
          </a:p>
          <a:p>
            <a:pPr lvl="2"/>
            <a:r>
              <a:rPr lang="zh-CN" altLang="en-US" dirty="0"/>
              <a:t>在表的第</a:t>
            </a:r>
            <a:r>
              <a:rPr lang="en-US" altLang="zh-CN" dirty="0" err="1"/>
              <a:t>i</a:t>
            </a:r>
            <a:r>
              <a:rPr lang="en-US" altLang="zh-CN" dirty="0"/>
              <a:t> (1≤i≤n+1)</a:t>
            </a:r>
            <a:r>
              <a:rPr lang="zh-CN" altLang="en-US" dirty="0"/>
              <a:t>个位置插入元素</a:t>
            </a:r>
            <a:r>
              <a:rPr lang="en-US" altLang="zh-CN" dirty="0"/>
              <a:t>x</a:t>
            </a:r>
            <a:r>
              <a:rPr lang="zh-CN" altLang="en-US" dirty="0"/>
              <a:t>，长度为</a:t>
            </a:r>
            <a:r>
              <a:rPr lang="en-US" altLang="zh-CN" dirty="0"/>
              <a:t>n</a:t>
            </a:r>
            <a:r>
              <a:rPr lang="zh-CN" altLang="en-US" dirty="0"/>
              <a:t>的线性表变为长度为</a:t>
            </a:r>
            <a:r>
              <a:rPr lang="en-US" altLang="zh-CN" dirty="0"/>
              <a:t>n+1</a:t>
            </a:r>
            <a:r>
              <a:rPr lang="zh-CN" altLang="en-US" dirty="0"/>
              <a:t>的线性表。</a:t>
            </a:r>
            <a:endParaRPr lang="en-US" altLang="zh-CN" dirty="0"/>
          </a:p>
          <a:p>
            <a:pPr lvl="2" algn="ctr"/>
            <a:r>
              <a:rPr lang="zh-CN" altLang="en-US" dirty="0"/>
              <a:t>（</a:t>
            </a:r>
            <a:r>
              <a:rPr lang="en-US" altLang="zh-CN" dirty="0"/>
              <a:t>a</a:t>
            </a:r>
            <a:r>
              <a:rPr lang="en-US" altLang="zh-CN" baseline="-25000" dirty="0"/>
              <a:t>1</a:t>
            </a:r>
            <a:r>
              <a:rPr lang="en-US" altLang="zh-CN" dirty="0"/>
              <a:t>, a</a:t>
            </a:r>
            <a:r>
              <a:rPr lang="en-US" altLang="zh-CN" baseline="-25000" dirty="0"/>
              <a:t>2</a:t>
            </a:r>
            <a:r>
              <a:rPr lang="en-US" altLang="zh-CN" dirty="0"/>
              <a:t>, …, a</a:t>
            </a:r>
            <a:r>
              <a:rPr lang="en-US" altLang="zh-CN" baseline="-25000" dirty="0"/>
              <a:t>i-1</a:t>
            </a:r>
            <a:r>
              <a:rPr lang="en-US" altLang="zh-CN" dirty="0"/>
              <a:t>, </a:t>
            </a:r>
            <a:r>
              <a:rPr lang="en-US" altLang="zh-CN" dirty="0" err="1"/>
              <a:t>a</a:t>
            </a:r>
            <a:r>
              <a:rPr lang="en-US" altLang="zh-CN" baseline="-25000" dirty="0" err="1"/>
              <a:t>i</a:t>
            </a:r>
            <a:r>
              <a:rPr lang="en-US" altLang="zh-CN" dirty="0"/>
              <a:t>, …, a</a:t>
            </a:r>
            <a:r>
              <a:rPr lang="en-US" altLang="zh-CN" baseline="-25000" dirty="0"/>
              <a:t>n</a:t>
            </a:r>
            <a:r>
              <a:rPr lang="zh-CN" altLang="en-US" dirty="0"/>
              <a:t>）</a:t>
            </a:r>
            <a:endParaRPr lang="en-US" altLang="zh-CN" dirty="0"/>
          </a:p>
          <a:p>
            <a:pPr lvl="2" algn="ctr"/>
            <a:endParaRPr lang="en-US" altLang="zh-CN" dirty="0"/>
          </a:p>
          <a:p>
            <a:pPr lvl="2" algn="ctr"/>
            <a:r>
              <a:rPr lang="zh-CN" altLang="en-US" dirty="0"/>
              <a:t>（</a:t>
            </a:r>
            <a:r>
              <a:rPr lang="en-US" altLang="zh-CN" dirty="0"/>
              <a:t>a</a:t>
            </a:r>
            <a:r>
              <a:rPr lang="en-US" altLang="zh-CN" baseline="-25000" dirty="0"/>
              <a:t>1</a:t>
            </a:r>
            <a:r>
              <a:rPr lang="en-US" altLang="zh-CN" dirty="0"/>
              <a:t>, a</a:t>
            </a:r>
            <a:r>
              <a:rPr lang="en-US" altLang="zh-CN" baseline="-25000" dirty="0"/>
              <a:t>2</a:t>
            </a:r>
            <a:r>
              <a:rPr lang="en-US" altLang="zh-CN" dirty="0"/>
              <a:t>, …, a</a:t>
            </a:r>
            <a:r>
              <a:rPr lang="en-US" altLang="zh-CN" baseline="-25000" dirty="0"/>
              <a:t>i-1</a:t>
            </a:r>
            <a:r>
              <a:rPr lang="en-US" altLang="zh-CN" dirty="0"/>
              <a:t>, </a:t>
            </a:r>
            <a:r>
              <a:rPr lang="en-US" altLang="zh-CN" dirty="0">
                <a:solidFill>
                  <a:srgbClr val="FF0000"/>
                </a:solidFill>
              </a:rPr>
              <a:t>x</a:t>
            </a:r>
            <a:r>
              <a:rPr lang="en-US" altLang="zh-CN" dirty="0"/>
              <a:t>, </a:t>
            </a:r>
            <a:r>
              <a:rPr lang="en-US" altLang="zh-CN" dirty="0" err="1"/>
              <a:t>a</a:t>
            </a:r>
            <a:r>
              <a:rPr lang="en-US" altLang="zh-CN" baseline="-25000" dirty="0" err="1"/>
              <a:t>i</a:t>
            </a:r>
            <a:r>
              <a:rPr lang="en-US" altLang="zh-CN" dirty="0"/>
              <a:t>, …, a</a:t>
            </a:r>
            <a:r>
              <a:rPr lang="en-US" altLang="zh-CN" baseline="-25000" dirty="0"/>
              <a:t>n</a:t>
            </a:r>
            <a:r>
              <a:rPr lang="zh-CN" altLang="en-US" dirty="0"/>
              <a:t>）</a:t>
            </a:r>
            <a:endParaRPr lang="en-US" altLang="zh-CN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2.2 </a:t>
            </a:r>
            <a:r>
              <a:rPr lang="zh-CN" altLang="en-US" dirty="0"/>
              <a:t>线性表的顺序表示和实现</a:t>
            </a:r>
            <a:endParaRPr lang="zh-CN" altLang="en-US" dirty="0"/>
          </a:p>
        </p:txBody>
      </p:sp>
      <p:sp>
        <p:nvSpPr>
          <p:cNvPr id="4" name="AutoShape 7"/>
          <p:cNvSpPr>
            <a:spLocks noChangeArrowheads="1"/>
          </p:cNvSpPr>
          <p:nvPr/>
        </p:nvSpPr>
        <p:spPr bwMode="auto">
          <a:xfrm>
            <a:off x="3479503" y="2329314"/>
            <a:ext cx="197347" cy="462014"/>
          </a:xfrm>
          <a:prstGeom prst="downArrow">
            <a:avLst>
              <a:gd name="adj1" fmla="val 50000"/>
              <a:gd name="adj2" fmla="val 36111"/>
            </a:avLst>
          </a:prstGeom>
          <a:solidFill>
            <a:schemeClr val="accent1"/>
          </a:solidFill>
          <a:ln w="9525">
            <a:miter lim="800000"/>
          </a:ln>
          <a:scene3d>
            <a:camera prst="legacyPerspectiveBottom"/>
            <a:lightRig rig="legacyFlat3" dir="t"/>
          </a:scene3d>
          <a:sp3d extrusionH="887400" prstMaterial="legacyMatte">
            <a:bevelT w="13500" h="13500" prst="angle"/>
            <a:bevelB w="13500" h="13500" prst="angle"/>
            <a:extrusionClr>
              <a:schemeClr val="accent1"/>
            </a:extrusionClr>
            <a:contourClr>
              <a:schemeClr val="accent1"/>
            </a:contourClr>
          </a:sp3d>
        </p:spPr>
        <p:txBody>
          <a:bodyPr wrap="none" anchor="ctr">
            <a:flatTx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CN" altLang="en-US"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例：在表中第</a:t>
            </a:r>
            <a:r>
              <a:rPr lang="en-US" altLang="zh-CN" dirty="0"/>
              <a:t>7</a:t>
            </a:r>
            <a:r>
              <a:rPr lang="zh-CN" altLang="en-US" dirty="0"/>
              <a:t>个位置插入元素“</a:t>
            </a:r>
            <a:r>
              <a:rPr lang="en-US" altLang="zh-CN" dirty="0"/>
              <a:t>45</a:t>
            </a:r>
            <a:r>
              <a:rPr lang="zh-CN" altLang="en-US" dirty="0"/>
              <a:t>”，如何操作？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pPr lvl="2"/>
            <a:r>
              <a:rPr lang="zh-CN" altLang="en-US" dirty="0"/>
              <a:t>实现步骤：</a:t>
            </a:r>
            <a:endParaRPr lang="en-US" altLang="zh-CN" dirty="0"/>
          </a:p>
          <a:p>
            <a:pPr lvl="2"/>
            <a:r>
              <a:rPr lang="en-US" altLang="zh-CN" dirty="0"/>
              <a:t>1. </a:t>
            </a:r>
            <a:r>
              <a:rPr lang="zh-CN" altLang="en-US" dirty="0"/>
              <a:t>将第</a:t>
            </a:r>
            <a:r>
              <a:rPr lang="en-US" altLang="zh-CN" dirty="0"/>
              <a:t>n</a:t>
            </a:r>
            <a:r>
              <a:rPr lang="zh-CN" altLang="en-US" dirty="0"/>
              <a:t>到第</a:t>
            </a:r>
            <a:r>
              <a:rPr lang="en-US" altLang="zh-CN" dirty="0" err="1"/>
              <a:t>i</a:t>
            </a:r>
            <a:r>
              <a:rPr lang="zh-CN" altLang="en-US" dirty="0"/>
              <a:t>位的元素依次后移一位；</a:t>
            </a:r>
            <a:endParaRPr lang="en-US" altLang="zh-CN" dirty="0"/>
          </a:p>
          <a:p>
            <a:pPr lvl="2"/>
            <a:r>
              <a:rPr lang="en-US" altLang="zh-CN" dirty="0"/>
              <a:t>2. </a:t>
            </a:r>
            <a:r>
              <a:rPr lang="zh-CN" altLang="en-US" dirty="0"/>
              <a:t>将新元素写入到第</a:t>
            </a:r>
            <a:r>
              <a:rPr lang="en-US" altLang="zh-CN" dirty="0" err="1"/>
              <a:t>i</a:t>
            </a:r>
            <a:r>
              <a:rPr lang="zh-CN" altLang="en-US" dirty="0"/>
              <a:t>个位置；</a:t>
            </a:r>
            <a:endParaRPr lang="en-US" altLang="zh-CN" dirty="0"/>
          </a:p>
          <a:p>
            <a:pPr lvl="2"/>
            <a:r>
              <a:rPr lang="en-US" altLang="zh-CN" dirty="0"/>
              <a:t>3. </a:t>
            </a:r>
            <a:r>
              <a:rPr lang="zh-CN" altLang="en-US" dirty="0"/>
              <a:t>表长增加</a:t>
            </a:r>
            <a:r>
              <a:rPr lang="en-US" altLang="zh-CN" dirty="0"/>
              <a:t>1</a:t>
            </a:r>
            <a:r>
              <a:rPr lang="zh-CN" altLang="en-US" dirty="0"/>
              <a:t>。</a:t>
            </a:r>
            <a:endParaRPr lang="en-US" altLang="zh-CN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2.2 </a:t>
            </a:r>
            <a:r>
              <a:rPr lang="zh-CN" altLang="en-US" dirty="0"/>
              <a:t>线性表的顺序表示和实现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/>
        </p:nvGraphicFramePr>
        <p:xfrm>
          <a:off x="598899" y="1563895"/>
          <a:ext cx="5941220" cy="10798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122"/>
                <a:gridCol w="594122"/>
                <a:gridCol w="594122"/>
                <a:gridCol w="594122"/>
                <a:gridCol w="594122"/>
                <a:gridCol w="594122"/>
                <a:gridCol w="594122"/>
                <a:gridCol w="594122"/>
                <a:gridCol w="594122"/>
                <a:gridCol w="594122"/>
              </a:tblGrid>
              <a:tr h="539949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0" dirty="0">
                          <a:solidFill>
                            <a:srgbClr val="002060"/>
                          </a:solidFill>
                        </a:rPr>
                        <a:t>1</a:t>
                      </a:r>
                      <a:endParaRPr lang="zh-CN" altLang="en-US" sz="2400" b="0" dirty="0">
                        <a:solidFill>
                          <a:srgbClr val="002060"/>
                        </a:solidFill>
                      </a:endParaRPr>
                    </a:p>
                  </a:txBody>
                  <a:tcPr marL="68587" marR="68587" marT="34283" marB="34283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0" dirty="0">
                          <a:solidFill>
                            <a:srgbClr val="002060"/>
                          </a:solidFill>
                        </a:rPr>
                        <a:t>2</a:t>
                      </a:r>
                      <a:endParaRPr lang="zh-CN" altLang="en-US" sz="2400" b="0" dirty="0">
                        <a:solidFill>
                          <a:srgbClr val="002060"/>
                        </a:solidFill>
                      </a:endParaRPr>
                    </a:p>
                  </a:txBody>
                  <a:tcPr marL="68587" marR="68587" marT="34283" marB="34283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0" dirty="0">
                          <a:solidFill>
                            <a:srgbClr val="002060"/>
                          </a:solidFill>
                        </a:rPr>
                        <a:t>3</a:t>
                      </a:r>
                      <a:endParaRPr lang="zh-CN" altLang="en-US" sz="2400" b="0" dirty="0">
                        <a:solidFill>
                          <a:srgbClr val="002060"/>
                        </a:solidFill>
                      </a:endParaRPr>
                    </a:p>
                  </a:txBody>
                  <a:tcPr marL="68587" marR="68587" marT="34283" marB="34283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0" dirty="0">
                          <a:solidFill>
                            <a:srgbClr val="002060"/>
                          </a:solidFill>
                        </a:rPr>
                        <a:t>4</a:t>
                      </a:r>
                      <a:endParaRPr lang="zh-CN" altLang="en-US" sz="2400" b="0" dirty="0">
                        <a:solidFill>
                          <a:srgbClr val="002060"/>
                        </a:solidFill>
                      </a:endParaRPr>
                    </a:p>
                  </a:txBody>
                  <a:tcPr marL="68587" marR="68587" marT="34283" marB="34283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0" dirty="0">
                          <a:solidFill>
                            <a:srgbClr val="002060"/>
                          </a:solidFill>
                        </a:rPr>
                        <a:t>5</a:t>
                      </a:r>
                      <a:endParaRPr lang="zh-CN" altLang="en-US" sz="2400" b="0" dirty="0">
                        <a:solidFill>
                          <a:srgbClr val="002060"/>
                        </a:solidFill>
                      </a:endParaRPr>
                    </a:p>
                  </a:txBody>
                  <a:tcPr marL="68587" marR="68587" marT="34283" marB="34283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0" dirty="0">
                          <a:solidFill>
                            <a:srgbClr val="002060"/>
                          </a:solidFill>
                        </a:rPr>
                        <a:t>6</a:t>
                      </a:r>
                      <a:endParaRPr lang="zh-CN" altLang="en-US" sz="2400" b="0" dirty="0">
                        <a:solidFill>
                          <a:srgbClr val="002060"/>
                        </a:solidFill>
                      </a:endParaRPr>
                    </a:p>
                  </a:txBody>
                  <a:tcPr marL="68587" marR="68587" marT="34283" marB="34283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0" dirty="0">
                          <a:solidFill>
                            <a:srgbClr val="002060"/>
                          </a:solidFill>
                        </a:rPr>
                        <a:t>7</a:t>
                      </a:r>
                      <a:endParaRPr lang="zh-CN" altLang="en-US" sz="2400" b="0" dirty="0">
                        <a:solidFill>
                          <a:srgbClr val="002060"/>
                        </a:solidFill>
                      </a:endParaRPr>
                    </a:p>
                  </a:txBody>
                  <a:tcPr marL="68587" marR="68587" marT="34283" marB="34283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0" dirty="0">
                          <a:solidFill>
                            <a:srgbClr val="002060"/>
                          </a:solidFill>
                        </a:rPr>
                        <a:t>8</a:t>
                      </a:r>
                      <a:endParaRPr lang="zh-CN" altLang="en-US" sz="2400" b="0" dirty="0">
                        <a:solidFill>
                          <a:srgbClr val="002060"/>
                        </a:solidFill>
                      </a:endParaRPr>
                    </a:p>
                  </a:txBody>
                  <a:tcPr marL="68587" marR="68587" marT="34283" marB="34283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0" dirty="0">
                          <a:solidFill>
                            <a:srgbClr val="002060"/>
                          </a:solidFill>
                        </a:rPr>
                        <a:t>9</a:t>
                      </a:r>
                      <a:endParaRPr lang="zh-CN" altLang="en-US" sz="2400" b="0" dirty="0">
                        <a:solidFill>
                          <a:srgbClr val="002060"/>
                        </a:solidFill>
                      </a:endParaRPr>
                    </a:p>
                  </a:txBody>
                  <a:tcPr marL="68587" marR="68587" marT="34283" marB="34283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2400" b="0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endParaRPr lang="zh-CN" altLang="en-US" sz="2400" b="0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7" marR="68587" marT="34283" marB="34283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39949">
                <a:tc>
                  <a:txBody>
                    <a:bodyPr/>
                    <a:lstStyle/>
                    <a:p>
                      <a:pPr algn="ctr" rtl="0" eaLnBrk="1" fontAlgn="base" hangingPunct="1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kumimoji="1" lang="en-US" altLang="zh-CN" sz="29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endParaRPr kumimoji="1" lang="zh-CN" altLang="en-US" sz="29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4557" marR="84557" marT="42266" marB="42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eaLnBrk="1" fontAlgn="base" hangingPunct="1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kumimoji="1" lang="en-US" altLang="zh-CN" sz="29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  <a:endParaRPr kumimoji="1" lang="zh-CN" altLang="en-US" sz="29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4557" marR="84557" marT="42266" marB="42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eaLnBrk="1" fontAlgn="base" hangingPunct="1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kumimoji="1" lang="en-US" altLang="zh-CN" sz="29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15</a:t>
                      </a:r>
                      <a:endParaRPr kumimoji="1" lang="zh-CN" altLang="en-US" sz="29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4557" marR="84557" marT="42266" marB="42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eaLnBrk="1" fontAlgn="base" hangingPunct="1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kumimoji="1" lang="en-US" altLang="zh-CN" sz="29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28</a:t>
                      </a:r>
                      <a:endParaRPr kumimoji="1" lang="zh-CN" altLang="en-US" sz="29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4557" marR="84557" marT="42266" marB="42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eaLnBrk="1" fontAlgn="base" hangingPunct="1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kumimoji="1" lang="en-US" altLang="zh-CN" sz="29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30</a:t>
                      </a:r>
                      <a:endParaRPr kumimoji="1" lang="zh-CN" altLang="en-US" sz="29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4557" marR="84557" marT="42266" marB="42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eaLnBrk="1" fontAlgn="base" hangingPunct="1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kumimoji="1" lang="en-US" altLang="zh-CN" sz="29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42</a:t>
                      </a:r>
                      <a:endParaRPr kumimoji="1" lang="zh-CN" altLang="en-US" sz="29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4557" marR="84557" marT="42266" marB="42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 marL="68587" marR="68587" marT="34283" marB="3428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 marL="68587" marR="68587" marT="34283" marB="3428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 marL="68587" marR="68587" marT="34283" marB="3428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 marL="68587" marR="68587" marT="34283" marB="3428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文本框 4"/>
          <p:cNvSpPr txBox="1"/>
          <p:nvPr/>
        </p:nvSpPr>
        <p:spPr>
          <a:xfrm>
            <a:off x="5376878" y="2121704"/>
            <a:ext cx="629286" cy="542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>
              <a:defRPr/>
            </a:pPr>
            <a:r>
              <a:rPr lang="en-US" altLang="zh-CN" sz="2925" b="1" dirty="0"/>
              <a:t>70</a:t>
            </a:r>
            <a:endParaRPr lang="zh-CN" altLang="en-US" sz="2925" b="1" dirty="0"/>
          </a:p>
        </p:txBody>
      </p:sp>
      <p:sp>
        <p:nvSpPr>
          <p:cNvPr id="6" name="文本框 5"/>
          <p:cNvSpPr txBox="1"/>
          <p:nvPr/>
        </p:nvSpPr>
        <p:spPr>
          <a:xfrm>
            <a:off x="4773826" y="2116974"/>
            <a:ext cx="602013" cy="542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>
              <a:defRPr/>
            </a:pPr>
            <a:r>
              <a:rPr lang="en-US" altLang="zh-CN" sz="2925" b="1" dirty="0"/>
              <a:t>63</a:t>
            </a:r>
            <a:endParaRPr lang="zh-CN" altLang="en-US" sz="2925" b="1" dirty="0"/>
          </a:p>
        </p:txBody>
      </p:sp>
      <p:sp>
        <p:nvSpPr>
          <p:cNvPr id="7" name="文本框 6"/>
          <p:cNvSpPr txBox="1"/>
          <p:nvPr/>
        </p:nvSpPr>
        <p:spPr>
          <a:xfrm>
            <a:off x="4189263" y="2112144"/>
            <a:ext cx="652244" cy="542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zh-CN" sz="2925" b="1" dirty="0"/>
              <a:t>51</a:t>
            </a:r>
            <a:endParaRPr kumimoji="1" lang="zh-CN" altLang="en-US" sz="2925" b="1" dirty="0"/>
          </a:p>
        </p:txBody>
      </p:sp>
      <p:sp>
        <p:nvSpPr>
          <p:cNvPr id="8" name="文本框 7"/>
          <p:cNvSpPr txBox="1"/>
          <p:nvPr/>
        </p:nvSpPr>
        <p:spPr>
          <a:xfrm>
            <a:off x="5938715" y="2104439"/>
            <a:ext cx="634709" cy="542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>
              <a:defRPr/>
            </a:pPr>
            <a:r>
              <a:rPr lang="en-US" altLang="zh-CN" sz="2925" b="1" dirty="0">
                <a:solidFill>
                  <a:srgbClr val="FF0000"/>
                </a:solidFill>
              </a:rPr>
              <a:t>70</a:t>
            </a:r>
            <a:endParaRPr lang="zh-CN" altLang="en-US" sz="2925" b="1" dirty="0">
              <a:solidFill>
                <a:srgbClr val="FF0000"/>
              </a:solidFill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5376359" y="2123825"/>
            <a:ext cx="629805" cy="542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>
              <a:defRPr/>
            </a:pPr>
            <a:r>
              <a:rPr lang="en-US" altLang="zh-CN" sz="2925" b="1" dirty="0">
                <a:solidFill>
                  <a:srgbClr val="FF0000"/>
                </a:solidFill>
              </a:rPr>
              <a:t>63</a:t>
            </a:r>
            <a:endParaRPr lang="zh-CN" altLang="en-US" sz="2925" b="1" dirty="0">
              <a:solidFill>
                <a:srgbClr val="FF0000"/>
              </a:solidFill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4189263" y="2114300"/>
            <a:ext cx="584043" cy="542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>
              <a:defRPr/>
            </a:pPr>
            <a:r>
              <a:rPr lang="en-US" altLang="zh-CN" sz="2925" b="1" dirty="0">
                <a:solidFill>
                  <a:srgbClr val="FF0000"/>
                </a:solidFill>
              </a:rPr>
              <a:t>45</a:t>
            </a:r>
            <a:endParaRPr lang="zh-CN" altLang="en-US" sz="2925" b="1" dirty="0">
              <a:solidFill>
                <a:srgbClr val="FF0000"/>
              </a:solidFill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774345" y="2112144"/>
            <a:ext cx="602014" cy="542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>
              <a:defRPr/>
            </a:pPr>
            <a:r>
              <a:rPr lang="en-US" altLang="zh-CN" sz="2925" b="1" dirty="0">
                <a:solidFill>
                  <a:srgbClr val="FF0000"/>
                </a:solidFill>
              </a:rPr>
              <a:t>51</a:t>
            </a:r>
            <a:endParaRPr lang="zh-CN" altLang="en-US" sz="2925" b="1" dirty="0">
              <a:solidFill>
                <a:srgbClr val="FF0000"/>
              </a:solidFill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4255308" y="1583023"/>
            <a:ext cx="392987" cy="3775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/>
          </a:p>
        </p:txBody>
      </p:sp>
      <p:sp>
        <p:nvSpPr>
          <p:cNvPr id="13" name="文本框 12"/>
          <p:cNvSpPr txBox="1"/>
          <p:nvPr/>
        </p:nvSpPr>
        <p:spPr>
          <a:xfrm>
            <a:off x="138939" y="1614350"/>
            <a:ext cx="6495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800" b="1" dirty="0">
                <a:solidFill>
                  <a:srgbClr val="002060"/>
                </a:solidFill>
              </a:rPr>
              <a:t>位序</a:t>
            </a:r>
            <a:endParaRPr lang="zh-CN" altLang="en-US" sz="1800" b="1" dirty="0">
              <a:solidFill>
                <a:srgbClr val="00206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0" grpId="0"/>
      <p:bldP spid="1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3"/>
            <a:r>
              <a:rPr lang="en-US" altLang="zh-CN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Status </a:t>
            </a:r>
            <a:r>
              <a:rPr lang="en-US" altLang="zh-CN" dirty="0" err="1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ListInsert_sq</a:t>
            </a:r>
            <a:r>
              <a:rPr lang="en-US" altLang="zh-CN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(</a:t>
            </a:r>
            <a:r>
              <a:rPr lang="en-US" altLang="zh-CN" dirty="0" err="1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SqList</a:t>
            </a:r>
            <a:r>
              <a:rPr lang="en-US" altLang="zh-CN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&amp;L, </a:t>
            </a:r>
            <a:r>
              <a:rPr lang="en-US" altLang="zh-CN" dirty="0" err="1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int</a:t>
            </a:r>
            <a:r>
              <a:rPr lang="en-US" altLang="zh-CN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</a:t>
            </a:r>
            <a:r>
              <a:rPr lang="en-US" altLang="zh-CN" dirty="0" err="1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i</a:t>
            </a:r>
            <a:r>
              <a:rPr lang="en-US" altLang="zh-CN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, </a:t>
            </a:r>
            <a:r>
              <a:rPr lang="en-US" altLang="zh-CN" dirty="0" err="1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ElemType</a:t>
            </a:r>
            <a:r>
              <a:rPr lang="en-US" altLang="zh-CN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e){</a:t>
            </a:r>
            <a:endParaRPr lang="en-US" altLang="zh-CN" dirty="0">
              <a:solidFill>
                <a:schemeClr val="tx1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lvl="3"/>
            <a:r>
              <a:rPr lang="en-US" altLang="zh-CN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   if(</a:t>
            </a:r>
            <a:r>
              <a:rPr lang="en-US" altLang="zh-CN" dirty="0" err="1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i</a:t>
            </a:r>
            <a:r>
              <a:rPr lang="en-US" altLang="zh-CN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&lt;1||</a:t>
            </a:r>
            <a:r>
              <a:rPr lang="en-US" altLang="zh-CN" dirty="0" err="1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i</a:t>
            </a:r>
            <a:r>
              <a:rPr lang="en-US" altLang="zh-CN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&gt;L.length+1) return ERROR;</a:t>
            </a:r>
            <a:endParaRPr lang="en-US" altLang="zh-CN" dirty="0">
              <a:solidFill>
                <a:schemeClr val="tx1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lvl="3"/>
            <a:r>
              <a:rPr lang="en-US" altLang="zh-CN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   if(</a:t>
            </a:r>
            <a:r>
              <a:rPr lang="en-US" altLang="zh-CN" dirty="0" err="1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L.length</a:t>
            </a:r>
            <a:r>
              <a:rPr lang="en-US" altLang="zh-CN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&gt;=</a:t>
            </a:r>
            <a:r>
              <a:rPr lang="en-US" altLang="zh-CN" dirty="0" err="1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L.listsize</a:t>
            </a:r>
            <a:r>
              <a:rPr lang="en-US" altLang="zh-CN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){</a:t>
            </a:r>
            <a:endParaRPr lang="en-US" altLang="zh-CN" dirty="0">
              <a:solidFill>
                <a:schemeClr val="tx1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lvl="3"/>
            <a:r>
              <a:rPr lang="en-US" altLang="zh-CN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       </a:t>
            </a:r>
            <a:r>
              <a:rPr lang="en-US" altLang="zh-CN" dirty="0">
                <a:solidFill>
                  <a:srgbClr val="0070C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…/*</a:t>
            </a:r>
            <a:r>
              <a:rPr lang="zh-CN" altLang="en-US" dirty="0">
                <a:solidFill>
                  <a:srgbClr val="0070C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表空间不够，重新分配更大空间</a:t>
            </a:r>
            <a:r>
              <a:rPr lang="en-US" altLang="zh-CN" dirty="0">
                <a:solidFill>
                  <a:srgbClr val="0070C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*/</a:t>
            </a:r>
            <a:endParaRPr lang="en-US" altLang="zh-CN" dirty="0">
              <a:solidFill>
                <a:srgbClr val="0070C0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marL="1278890" lvl="3" indent="-1177290"/>
            <a:r>
              <a:rPr lang="en-US" altLang="zh-CN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   }</a:t>
            </a:r>
            <a:endParaRPr lang="en-US" altLang="zh-CN" dirty="0">
              <a:solidFill>
                <a:schemeClr val="tx1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lvl="3"/>
            <a:r>
              <a:rPr lang="en-US" altLang="zh-CN" dirty="0">
                <a:solidFill>
                  <a:srgbClr val="0070C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   /*</a:t>
            </a:r>
            <a:r>
              <a:rPr lang="zh-CN" altLang="en-US" dirty="0">
                <a:solidFill>
                  <a:srgbClr val="0070C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确定插入位置</a:t>
            </a:r>
            <a:r>
              <a:rPr lang="en-US" altLang="zh-CN" dirty="0">
                <a:solidFill>
                  <a:srgbClr val="0070C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*/</a:t>
            </a:r>
            <a:endParaRPr lang="en-US" altLang="zh-CN" dirty="0">
              <a:solidFill>
                <a:srgbClr val="0070C0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lvl="3"/>
            <a:r>
              <a:rPr lang="en-US" altLang="zh-CN" dirty="0">
                <a:solidFill>
                  <a:srgbClr val="FF000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  for(j=L.length-1;j&gt;=i-1;j--)  </a:t>
            </a:r>
            <a:endParaRPr lang="en-US" altLang="zh-CN" dirty="0">
              <a:solidFill>
                <a:srgbClr val="FF0000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lvl="3"/>
            <a:r>
              <a:rPr lang="en-US" altLang="zh-CN" dirty="0">
                <a:solidFill>
                  <a:srgbClr val="FF000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        </a:t>
            </a:r>
            <a:r>
              <a:rPr lang="en-US" altLang="zh-CN" dirty="0" err="1">
                <a:solidFill>
                  <a:srgbClr val="FF000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L.elem</a:t>
            </a:r>
            <a:r>
              <a:rPr lang="en-US" altLang="zh-CN" dirty="0">
                <a:solidFill>
                  <a:srgbClr val="FF000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[j+1]=</a:t>
            </a:r>
            <a:r>
              <a:rPr lang="en-US" altLang="zh-CN" dirty="0" err="1">
                <a:solidFill>
                  <a:srgbClr val="FF000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L.elem</a:t>
            </a:r>
            <a:r>
              <a:rPr lang="en-US" altLang="zh-CN" dirty="0">
                <a:solidFill>
                  <a:srgbClr val="FF000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[j];</a:t>
            </a:r>
            <a:r>
              <a:rPr lang="en-US" altLang="zh-CN" dirty="0">
                <a:solidFill>
                  <a:srgbClr val="0070C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    /*</a:t>
            </a:r>
            <a:r>
              <a:rPr lang="zh-CN" altLang="en-US" dirty="0">
                <a:solidFill>
                  <a:srgbClr val="0070C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元素后移</a:t>
            </a:r>
            <a:r>
              <a:rPr lang="en-US" altLang="zh-CN" dirty="0">
                <a:solidFill>
                  <a:srgbClr val="0070C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*/</a:t>
            </a:r>
            <a:endParaRPr lang="en-US" altLang="zh-CN" dirty="0">
              <a:solidFill>
                <a:srgbClr val="0070C0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lvl="3"/>
            <a:r>
              <a:rPr lang="en-US" altLang="zh-CN" dirty="0">
                <a:solidFill>
                  <a:srgbClr val="FF000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  </a:t>
            </a:r>
            <a:r>
              <a:rPr lang="en-US" altLang="zh-CN" dirty="0" err="1">
                <a:solidFill>
                  <a:srgbClr val="FF000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L.elem</a:t>
            </a:r>
            <a:r>
              <a:rPr lang="en-US" altLang="zh-CN" dirty="0">
                <a:solidFill>
                  <a:srgbClr val="FF000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[i-1]=e;</a:t>
            </a:r>
            <a:r>
              <a:rPr lang="en-US" altLang="zh-CN" dirty="0">
                <a:solidFill>
                  <a:srgbClr val="0070C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                       /*</a:t>
            </a:r>
            <a:r>
              <a:rPr lang="zh-CN" altLang="en-US" dirty="0">
                <a:solidFill>
                  <a:srgbClr val="0070C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插入新元素</a:t>
            </a:r>
            <a:r>
              <a:rPr lang="en-US" altLang="zh-CN" dirty="0">
                <a:solidFill>
                  <a:srgbClr val="0070C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*/</a:t>
            </a:r>
            <a:endParaRPr lang="en-US" altLang="zh-CN" dirty="0">
              <a:solidFill>
                <a:srgbClr val="FF0000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lvl="3"/>
            <a:r>
              <a:rPr lang="en-US" altLang="zh-CN" dirty="0">
                <a:solidFill>
                  <a:srgbClr val="FF000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  ++</a:t>
            </a:r>
            <a:r>
              <a:rPr lang="en-US" altLang="zh-CN" dirty="0" err="1">
                <a:solidFill>
                  <a:srgbClr val="FF000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L.length</a:t>
            </a:r>
            <a:r>
              <a:rPr lang="en-US" altLang="zh-CN" dirty="0">
                <a:solidFill>
                  <a:srgbClr val="FF000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;                          </a:t>
            </a:r>
            <a:r>
              <a:rPr lang="en-US" altLang="zh-CN" dirty="0">
                <a:solidFill>
                  <a:srgbClr val="0070C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/*</a:t>
            </a:r>
            <a:r>
              <a:rPr lang="zh-CN" altLang="en-US" dirty="0">
                <a:solidFill>
                  <a:srgbClr val="0070C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表长增</a:t>
            </a:r>
            <a:r>
              <a:rPr lang="en-US" altLang="zh-CN" dirty="0">
                <a:solidFill>
                  <a:srgbClr val="0070C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1*/</a:t>
            </a:r>
            <a:endParaRPr lang="en-US" altLang="zh-CN" dirty="0">
              <a:solidFill>
                <a:srgbClr val="0070C0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lvl="3"/>
            <a:r>
              <a:rPr lang="en-US" altLang="zh-CN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   </a:t>
            </a:r>
            <a:r>
              <a:rPr lang="en-US" altLang="zh-CN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return OK</a:t>
            </a:r>
            <a:r>
              <a:rPr lang="zh-CN" altLang="en-US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；</a:t>
            </a:r>
            <a:endParaRPr lang="en-US" altLang="zh-CN" dirty="0">
              <a:solidFill>
                <a:schemeClr val="tx1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lvl="3"/>
            <a:r>
              <a:rPr lang="en-US" altLang="zh-CN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} </a:t>
            </a:r>
            <a:endParaRPr lang="zh-CN" altLang="en-US" dirty="0"/>
          </a:p>
          <a:p>
            <a:endParaRPr lang="en-US" altLang="zh-CN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2.2 </a:t>
            </a:r>
            <a:r>
              <a:rPr lang="zh-CN" altLang="en-US" dirty="0"/>
              <a:t>线性表的顺序表示和实现</a:t>
            </a:r>
            <a:endParaRPr lang="zh-CN" altLang="en-US" dirty="0"/>
          </a:p>
        </p:txBody>
      </p:sp>
      <p:grpSp>
        <p:nvGrpSpPr>
          <p:cNvPr id="5" name="组合 4"/>
          <p:cNvGrpSpPr/>
          <p:nvPr/>
        </p:nvGrpSpPr>
        <p:grpSpPr>
          <a:xfrm>
            <a:off x="4878303" y="1243753"/>
            <a:ext cx="1730456" cy="815561"/>
            <a:chOff x="6466238" y="736920"/>
            <a:chExt cx="2156032" cy="1087414"/>
          </a:xfrm>
        </p:grpSpPr>
        <p:sp>
          <p:nvSpPr>
            <p:cNvPr id="6" name="矩形标注 5"/>
            <p:cNvSpPr/>
            <p:nvPr/>
          </p:nvSpPr>
          <p:spPr>
            <a:xfrm>
              <a:off x="6466238" y="736920"/>
              <a:ext cx="2156032" cy="1087414"/>
            </a:xfrm>
            <a:prstGeom prst="wedgeRectCallout">
              <a:avLst>
                <a:gd name="adj1" fmla="val -85978"/>
                <a:gd name="adj2" fmla="val 127857"/>
              </a:avLst>
            </a:pr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8100000" scaled="1"/>
              <a:tileRect/>
            </a:gra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6487597" y="911579"/>
              <a:ext cx="2134673" cy="76944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zh-CN" altLang="en-US" sz="1575" b="1" dirty="0">
                  <a:solidFill>
                    <a:srgbClr val="00194C"/>
                  </a:solidFill>
                  <a:latin typeface="华文楷体" panose="02010600040101010101" pitchFamily="2" charset="-122"/>
                  <a:ea typeface="华文楷体" panose="02010600040101010101" pitchFamily="2" charset="-122"/>
                </a:rPr>
                <a:t>平均移动次数</a:t>
              </a:r>
              <a:r>
                <a:rPr lang="en-US" altLang="zh-CN" sz="1500" b="1" dirty="0">
                  <a:solidFill>
                    <a:srgbClr val="FF0000"/>
                  </a:solidFill>
                </a:rPr>
                <a:t>n/2</a:t>
              </a:r>
              <a:endParaRPr lang="en-US" altLang="zh-CN" sz="1500" b="1" dirty="0">
                <a:solidFill>
                  <a:srgbClr val="FF0000"/>
                </a:solidFill>
              </a:endParaRPr>
            </a:p>
            <a:p>
              <a:r>
                <a:rPr lang="zh-CN" altLang="en-US" sz="1575" b="1" dirty="0">
                  <a:solidFill>
                    <a:srgbClr val="00194C"/>
                  </a:solidFill>
                  <a:latin typeface="华文楷体" panose="02010600040101010101" pitchFamily="2" charset="-122"/>
                  <a:ea typeface="华文楷体" panose="02010600040101010101" pitchFamily="2" charset="-122"/>
                </a:rPr>
                <a:t>时间复杂度</a:t>
              </a:r>
              <a:r>
                <a:rPr lang="en-US" altLang="zh-CN" sz="1500" b="1" dirty="0">
                  <a:solidFill>
                    <a:srgbClr val="FF0000"/>
                  </a:solidFill>
                </a:rPr>
                <a:t>O(n)</a:t>
              </a:r>
              <a:endParaRPr lang="zh-CN" altLang="en-US" sz="1500" b="1" dirty="0">
                <a:solidFill>
                  <a:srgbClr val="FF0000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dirty="0"/>
              <a:t>插入算法的时间效率分析</a:t>
            </a:r>
            <a:r>
              <a:rPr lang="en-US" altLang="zh-CN" dirty="0"/>
              <a:t>:</a:t>
            </a:r>
            <a:endParaRPr lang="en-US" altLang="zh-CN" dirty="0"/>
          </a:p>
          <a:p>
            <a:pPr lvl="2">
              <a:lnSpc>
                <a:spcPct val="100000"/>
              </a:lnSpc>
            </a:pPr>
            <a:r>
              <a:rPr lang="zh-CN" altLang="en-US" dirty="0"/>
              <a:t>插入算法花费的时间主要在</a:t>
            </a:r>
            <a:r>
              <a:rPr lang="zh-CN" altLang="en-US" dirty="0">
                <a:solidFill>
                  <a:srgbClr val="FF0000"/>
                </a:solidFill>
              </a:rPr>
              <a:t>循环中元素的后移</a:t>
            </a:r>
            <a:endParaRPr lang="zh-CN" altLang="en-US" dirty="0">
              <a:solidFill>
                <a:srgbClr val="FF0000"/>
              </a:solidFill>
            </a:endParaRP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zh-CN" altLang="en-US" sz="2200" dirty="0"/>
              <a:t>当插入位置为</a:t>
            </a:r>
            <a:r>
              <a:rPr lang="en-US" altLang="zh-CN" sz="2200" dirty="0"/>
              <a:t>1</a:t>
            </a:r>
            <a:r>
              <a:rPr lang="zh-CN" altLang="en-US" sz="2200" dirty="0"/>
              <a:t>时，需</a:t>
            </a:r>
            <a:r>
              <a:rPr lang="en-US" altLang="zh-CN" sz="2200" dirty="0"/>
              <a:t>n</a:t>
            </a:r>
            <a:r>
              <a:rPr lang="zh-CN" altLang="en-US" sz="2200" dirty="0"/>
              <a:t>次移动</a:t>
            </a:r>
            <a:r>
              <a:rPr lang="en-US" altLang="zh-CN" sz="2200" dirty="0"/>
              <a:t>;</a:t>
            </a:r>
            <a:endParaRPr lang="en-US" altLang="zh-CN" sz="2200" dirty="0"/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zh-CN" altLang="en-US" sz="2200" dirty="0"/>
              <a:t>当插入位置为</a:t>
            </a:r>
            <a:r>
              <a:rPr lang="en-US" altLang="zh-CN" sz="2200" dirty="0"/>
              <a:t>n+1</a:t>
            </a:r>
            <a:r>
              <a:rPr lang="zh-CN" altLang="en-US" sz="2200" dirty="0"/>
              <a:t>时，不需移动元素</a:t>
            </a:r>
            <a:r>
              <a:rPr lang="en-US" altLang="zh-CN" sz="2200" dirty="0"/>
              <a:t>;</a:t>
            </a:r>
            <a:endParaRPr lang="en-US" altLang="zh-CN" sz="2200" dirty="0"/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zh-CN" altLang="en-US" sz="2200" dirty="0"/>
              <a:t>当插入位置为</a:t>
            </a:r>
            <a:r>
              <a:rPr lang="en-US" altLang="zh-CN" sz="2200" dirty="0" err="1"/>
              <a:t>i</a:t>
            </a:r>
            <a:r>
              <a:rPr lang="zh-CN" altLang="en-US" sz="2200" dirty="0"/>
              <a:t>时，移动次数为</a:t>
            </a:r>
            <a:r>
              <a:rPr lang="en-US" altLang="zh-CN" sz="2200" dirty="0">
                <a:solidFill>
                  <a:srgbClr val="FF0000"/>
                </a:solidFill>
              </a:rPr>
              <a:t>n-i+1</a:t>
            </a:r>
            <a:r>
              <a:rPr lang="zh-CN" altLang="en-US" sz="2200" dirty="0"/>
              <a:t>。</a:t>
            </a:r>
            <a:endParaRPr lang="en-US" altLang="zh-CN" sz="2200" dirty="0"/>
          </a:p>
          <a:p>
            <a:pPr lvl="2">
              <a:lnSpc>
                <a:spcPct val="100000"/>
              </a:lnSpc>
            </a:pPr>
            <a:r>
              <a:rPr lang="zh-CN" altLang="en-US" sz="2200" dirty="0"/>
              <a:t>假定在表中任意位置插入元素都是等概率的，在第</a:t>
            </a:r>
            <a:r>
              <a:rPr lang="en-US" altLang="zh-CN" sz="2200" dirty="0" err="1"/>
              <a:t>i</a:t>
            </a:r>
            <a:r>
              <a:rPr lang="zh-CN" altLang="en-US" sz="2200" dirty="0"/>
              <a:t>个位置上插入元素的概率</a:t>
            </a:r>
            <a:r>
              <a:rPr lang="en-US" altLang="zh-CN" sz="2200" dirty="0">
                <a:solidFill>
                  <a:srgbClr val="FF0000"/>
                </a:solidFill>
              </a:rPr>
              <a:t>p(</a:t>
            </a:r>
            <a:r>
              <a:rPr lang="en-US" altLang="zh-CN" sz="2200" dirty="0" err="1">
                <a:solidFill>
                  <a:srgbClr val="FF0000"/>
                </a:solidFill>
              </a:rPr>
              <a:t>i</a:t>
            </a:r>
            <a:r>
              <a:rPr lang="en-US" altLang="zh-CN" sz="2200" dirty="0">
                <a:solidFill>
                  <a:srgbClr val="FF0000"/>
                </a:solidFill>
              </a:rPr>
              <a:t>)=1/(n+1)</a:t>
            </a:r>
            <a:endParaRPr lang="en-US" altLang="zh-CN" sz="2200" dirty="0">
              <a:solidFill>
                <a:srgbClr val="FF0000"/>
              </a:solidFill>
            </a:endParaRPr>
          </a:p>
          <a:p>
            <a:pPr lvl="2">
              <a:lnSpc>
                <a:spcPct val="100000"/>
              </a:lnSpc>
            </a:pPr>
            <a:r>
              <a:rPr lang="zh-CN" altLang="en-US" sz="2200" dirty="0"/>
              <a:t>插入操作时间效率（平均移动次数） </a:t>
            </a:r>
            <a:endParaRPr lang="en-US" altLang="zh-CN" sz="2200" dirty="0"/>
          </a:p>
          <a:p>
            <a:pPr lvl="2">
              <a:lnSpc>
                <a:spcPct val="100000"/>
              </a:lnSpc>
            </a:pPr>
            <a:endParaRPr lang="zh-CN" altLang="en-US" sz="2200" dirty="0"/>
          </a:p>
          <a:p>
            <a:pPr lvl="2">
              <a:lnSpc>
                <a:spcPct val="100000"/>
              </a:lnSpc>
            </a:pPr>
            <a:endParaRPr lang="en-US" altLang="zh-CN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2.2 </a:t>
            </a:r>
            <a:r>
              <a:rPr lang="zh-CN" altLang="en-US" dirty="0"/>
              <a:t>线性表的顺序表示和实现</a:t>
            </a:r>
            <a:endParaRPr lang="zh-CN" altLang="en-US" dirty="0"/>
          </a:p>
        </p:txBody>
      </p:sp>
      <p:graphicFrame>
        <p:nvGraphicFramePr>
          <p:cNvPr id="5" name="Object 2"/>
          <p:cNvGraphicFramePr>
            <a:graphicFrameLocks noChangeAspect="1"/>
          </p:cNvGraphicFramePr>
          <p:nvPr/>
        </p:nvGraphicFramePr>
        <p:xfrm>
          <a:off x="559725" y="3522659"/>
          <a:ext cx="4806553" cy="73461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355" name="" r:id="rId1" imgW="2819400" imgH="431800" progId="Equation.3">
                  <p:embed/>
                </p:oleObj>
              </mc:Choice>
              <mc:Fallback>
                <p:oleObj name="" r:id="rId1" imgW="2819400" imgH="431800" progId="Equation.3">
                  <p:embed/>
                  <p:pic>
                    <p:nvPicPr>
                      <p:cNvPr id="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9725" y="3522659"/>
                        <a:ext cx="4806553" cy="734615"/>
                      </a:xfrm>
                      <a:prstGeom prst="rect">
                        <a:avLst/>
                      </a:prstGeom>
                      <a:solidFill>
                        <a:srgbClr val="66FF66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3.</a:t>
            </a:r>
            <a:r>
              <a:rPr lang="zh-CN" altLang="en-US" dirty="0"/>
              <a:t>顺序表的删除</a:t>
            </a:r>
            <a:endParaRPr lang="en-US" altLang="zh-CN" dirty="0"/>
          </a:p>
          <a:p>
            <a:pPr lvl="2"/>
            <a:r>
              <a:rPr lang="zh-CN" altLang="en-US" dirty="0"/>
              <a:t>删除表中第</a:t>
            </a:r>
            <a:r>
              <a:rPr lang="en-US" altLang="zh-CN" dirty="0" err="1"/>
              <a:t>i</a:t>
            </a:r>
            <a:r>
              <a:rPr lang="en-US" altLang="zh-CN" dirty="0"/>
              <a:t> (1≤i≤n)</a:t>
            </a:r>
            <a:r>
              <a:rPr lang="zh-CN" altLang="en-US" dirty="0"/>
              <a:t>个位置的元素，长度为</a:t>
            </a:r>
            <a:r>
              <a:rPr lang="en-US" altLang="zh-CN" dirty="0"/>
              <a:t>n</a:t>
            </a:r>
            <a:r>
              <a:rPr lang="zh-CN" altLang="en-US" dirty="0"/>
              <a:t>的线性表变为长度为</a:t>
            </a:r>
            <a:r>
              <a:rPr lang="en-US" altLang="zh-CN" dirty="0"/>
              <a:t>n-1</a:t>
            </a:r>
            <a:r>
              <a:rPr lang="zh-CN" altLang="en-US" dirty="0"/>
              <a:t>的线性表。</a:t>
            </a:r>
            <a:endParaRPr lang="en-US" altLang="zh-CN" dirty="0"/>
          </a:p>
          <a:p>
            <a:pPr lvl="2" algn="ctr"/>
            <a:r>
              <a:rPr lang="zh-CN" altLang="en-US" dirty="0"/>
              <a:t>（</a:t>
            </a:r>
            <a:r>
              <a:rPr lang="en-US" altLang="zh-CN" dirty="0"/>
              <a:t>a</a:t>
            </a:r>
            <a:r>
              <a:rPr lang="en-US" altLang="zh-CN" baseline="-25000" dirty="0"/>
              <a:t>1</a:t>
            </a:r>
            <a:r>
              <a:rPr lang="en-US" altLang="zh-CN" dirty="0"/>
              <a:t>, a</a:t>
            </a:r>
            <a:r>
              <a:rPr lang="en-US" altLang="zh-CN" baseline="-25000" dirty="0"/>
              <a:t>2</a:t>
            </a:r>
            <a:r>
              <a:rPr lang="en-US" altLang="zh-CN" dirty="0"/>
              <a:t>, …, a</a:t>
            </a:r>
            <a:r>
              <a:rPr lang="en-US" altLang="zh-CN" baseline="-25000" dirty="0"/>
              <a:t>i-1</a:t>
            </a:r>
            <a:r>
              <a:rPr lang="en-US" altLang="zh-CN" dirty="0"/>
              <a:t>, </a:t>
            </a:r>
            <a:r>
              <a:rPr lang="en-US" altLang="zh-CN" dirty="0" err="1"/>
              <a:t>a</a:t>
            </a:r>
            <a:r>
              <a:rPr lang="en-US" altLang="zh-CN" baseline="-25000" dirty="0" err="1"/>
              <a:t>i</a:t>
            </a:r>
            <a:r>
              <a:rPr lang="en-US" altLang="zh-CN" dirty="0"/>
              <a:t>, …, a</a:t>
            </a:r>
            <a:r>
              <a:rPr lang="en-US" altLang="zh-CN" baseline="-25000" dirty="0"/>
              <a:t>n</a:t>
            </a:r>
            <a:r>
              <a:rPr lang="zh-CN" altLang="en-US" dirty="0"/>
              <a:t>）</a:t>
            </a:r>
            <a:endParaRPr lang="en-US" altLang="zh-CN" dirty="0"/>
          </a:p>
          <a:p>
            <a:pPr lvl="2" algn="ctr"/>
            <a:endParaRPr lang="en-US" altLang="zh-CN" dirty="0"/>
          </a:p>
          <a:p>
            <a:pPr lvl="2" algn="ctr"/>
            <a:r>
              <a:rPr lang="zh-CN" altLang="en-US" dirty="0"/>
              <a:t>（</a:t>
            </a:r>
            <a:r>
              <a:rPr lang="en-US" altLang="zh-CN" dirty="0"/>
              <a:t>a</a:t>
            </a:r>
            <a:r>
              <a:rPr lang="en-US" altLang="zh-CN" baseline="-25000" dirty="0"/>
              <a:t>1</a:t>
            </a:r>
            <a:r>
              <a:rPr lang="en-US" altLang="zh-CN" dirty="0"/>
              <a:t>, a</a:t>
            </a:r>
            <a:r>
              <a:rPr lang="en-US" altLang="zh-CN" baseline="-25000" dirty="0"/>
              <a:t>2</a:t>
            </a:r>
            <a:r>
              <a:rPr lang="en-US" altLang="zh-CN" dirty="0"/>
              <a:t>, …, a</a:t>
            </a:r>
            <a:r>
              <a:rPr lang="en-US" altLang="zh-CN" baseline="-25000" dirty="0"/>
              <a:t>i-1</a:t>
            </a:r>
            <a:r>
              <a:rPr lang="en-US" altLang="zh-CN" dirty="0"/>
              <a:t>, a</a:t>
            </a:r>
            <a:r>
              <a:rPr lang="en-US" altLang="zh-CN" baseline="-25000" dirty="0"/>
              <a:t>i+1</a:t>
            </a:r>
            <a:r>
              <a:rPr lang="en-US" altLang="zh-CN" dirty="0"/>
              <a:t>, …, a</a:t>
            </a:r>
            <a:r>
              <a:rPr lang="en-US" altLang="zh-CN" baseline="-25000" dirty="0"/>
              <a:t>n</a:t>
            </a:r>
            <a:r>
              <a:rPr lang="zh-CN" altLang="en-US" dirty="0"/>
              <a:t>）</a:t>
            </a:r>
            <a:endParaRPr lang="en-US" altLang="zh-CN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2.2 </a:t>
            </a:r>
            <a:r>
              <a:rPr lang="zh-CN" altLang="en-US" dirty="0"/>
              <a:t>线性表的顺序表示和实现</a:t>
            </a:r>
            <a:endParaRPr lang="zh-CN" altLang="en-US" dirty="0"/>
          </a:p>
        </p:txBody>
      </p:sp>
      <p:sp>
        <p:nvSpPr>
          <p:cNvPr id="4" name="AutoShape 7"/>
          <p:cNvSpPr>
            <a:spLocks noChangeArrowheads="1"/>
          </p:cNvSpPr>
          <p:nvPr/>
        </p:nvSpPr>
        <p:spPr bwMode="auto">
          <a:xfrm>
            <a:off x="3314266" y="2348564"/>
            <a:ext cx="198955" cy="445534"/>
          </a:xfrm>
          <a:prstGeom prst="downArrow">
            <a:avLst>
              <a:gd name="adj1" fmla="val 50000"/>
              <a:gd name="adj2" fmla="val 36111"/>
            </a:avLst>
          </a:prstGeom>
          <a:solidFill>
            <a:schemeClr val="accent1"/>
          </a:solidFill>
          <a:ln w="9525">
            <a:miter lim="800000"/>
          </a:ln>
          <a:scene3d>
            <a:camera prst="legacyPerspectiveBottom"/>
            <a:lightRig rig="legacyFlat3" dir="t"/>
          </a:scene3d>
          <a:sp3d extrusionH="887400" prstMaterial="legacyMatte">
            <a:bevelT w="13500" h="13500" prst="angle"/>
            <a:bevelB w="13500" h="13500" prst="angle"/>
            <a:extrusionClr>
              <a:schemeClr val="accent1"/>
            </a:extrusionClr>
            <a:contourClr>
              <a:schemeClr val="accent1"/>
            </a:contourClr>
          </a:sp3d>
        </p:spPr>
        <p:txBody>
          <a:bodyPr wrap="none" anchor="ctr">
            <a:flatTx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zh-CN" altLang="en-US"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例：删除表第</a:t>
            </a:r>
            <a:r>
              <a:rPr lang="en-US" altLang="zh-CN" dirty="0"/>
              <a:t>7</a:t>
            </a:r>
            <a:r>
              <a:rPr lang="zh-CN" altLang="en-US" dirty="0"/>
              <a:t>个位置的元素，如何操作？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pPr lvl="2"/>
            <a:endParaRPr lang="en-US" altLang="zh-CN" dirty="0"/>
          </a:p>
          <a:p>
            <a:pPr lvl="2"/>
            <a:r>
              <a:rPr lang="zh-CN" altLang="en-US" dirty="0"/>
              <a:t>实现步骤：</a:t>
            </a:r>
            <a:endParaRPr lang="en-US" altLang="zh-CN" dirty="0"/>
          </a:p>
          <a:p>
            <a:pPr lvl="2"/>
            <a:r>
              <a:rPr lang="en-US" altLang="zh-CN" dirty="0"/>
              <a:t>1. </a:t>
            </a:r>
            <a:r>
              <a:rPr lang="zh-CN" altLang="en-US" dirty="0"/>
              <a:t>将第</a:t>
            </a:r>
            <a:r>
              <a:rPr lang="en-US" altLang="zh-CN" dirty="0"/>
              <a:t>i+1</a:t>
            </a:r>
            <a:r>
              <a:rPr lang="zh-CN" altLang="en-US" dirty="0"/>
              <a:t>到第</a:t>
            </a:r>
            <a:r>
              <a:rPr lang="en-US" altLang="zh-CN" dirty="0"/>
              <a:t>n</a:t>
            </a:r>
            <a:r>
              <a:rPr lang="zh-CN" altLang="en-US" dirty="0"/>
              <a:t>位的元素依次前移一位；</a:t>
            </a:r>
            <a:endParaRPr lang="en-US" altLang="zh-CN" dirty="0"/>
          </a:p>
          <a:p>
            <a:pPr lvl="2"/>
            <a:r>
              <a:rPr lang="en-US" altLang="zh-CN" dirty="0"/>
              <a:t>2. </a:t>
            </a:r>
            <a:r>
              <a:rPr lang="zh-CN" altLang="en-US" dirty="0"/>
              <a:t>表长减少</a:t>
            </a:r>
            <a:r>
              <a:rPr lang="en-US" altLang="zh-CN" dirty="0"/>
              <a:t>1</a:t>
            </a:r>
            <a:r>
              <a:rPr lang="zh-CN" altLang="en-US" dirty="0"/>
              <a:t>。</a:t>
            </a:r>
            <a:endParaRPr lang="en-US" altLang="zh-CN" dirty="0"/>
          </a:p>
          <a:p>
            <a:endParaRPr lang="en-US" altLang="zh-CN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2.2 </a:t>
            </a:r>
            <a:r>
              <a:rPr lang="zh-CN" altLang="en-US" dirty="0"/>
              <a:t>线性表的顺序表示和实现</a:t>
            </a:r>
            <a:endParaRPr lang="zh-CN" altLang="en-US" dirty="0"/>
          </a:p>
        </p:txBody>
      </p:sp>
      <p:graphicFrame>
        <p:nvGraphicFramePr>
          <p:cNvPr id="13" name="表格 12"/>
          <p:cNvGraphicFramePr>
            <a:graphicFrameLocks noGrp="1"/>
          </p:cNvGraphicFramePr>
          <p:nvPr/>
        </p:nvGraphicFramePr>
        <p:xfrm>
          <a:off x="629662" y="1250944"/>
          <a:ext cx="5941220" cy="10798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122"/>
                <a:gridCol w="594122"/>
                <a:gridCol w="594122"/>
                <a:gridCol w="594122"/>
                <a:gridCol w="594122"/>
                <a:gridCol w="594122"/>
                <a:gridCol w="594122"/>
                <a:gridCol w="594122"/>
                <a:gridCol w="594122"/>
                <a:gridCol w="594122"/>
              </a:tblGrid>
              <a:tr h="539949"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US" altLang="zh-CN" sz="2400" b="0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endParaRPr lang="zh-CN" altLang="en-US" sz="2400" b="0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7" marR="68587" marT="34283" marB="34283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US" altLang="zh-CN" sz="2400" b="0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endParaRPr lang="zh-CN" altLang="en-US" sz="2400" b="0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7" marR="68587" marT="34283" marB="34283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US" altLang="zh-CN" sz="2400" b="0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  <a:endParaRPr lang="zh-CN" altLang="en-US" sz="2400" b="0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7" marR="68587" marT="34283" marB="34283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US" altLang="zh-CN" sz="2400" b="0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endParaRPr lang="zh-CN" altLang="en-US" sz="2400" b="0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7" marR="68587" marT="34283" marB="34283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US" altLang="zh-CN" sz="2400" b="0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  <a:endParaRPr lang="zh-CN" altLang="en-US" sz="2400" b="0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7" marR="68587" marT="34283" marB="34283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US" altLang="zh-CN" sz="2400" b="0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  <a:endParaRPr lang="zh-CN" altLang="en-US" sz="2400" b="0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7" marR="68587" marT="34283" marB="34283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US" altLang="zh-CN" sz="2400" b="0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  <a:endParaRPr lang="zh-CN" altLang="en-US" sz="2400" b="0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7" marR="68587" marT="34283" marB="34283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US" altLang="zh-CN" sz="2400" b="0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  <a:endParaRPr lang="zh-CN" altLang="en-US" sz="2400" b="0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7" marR="68587" marT="34283" marB="34283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US" altLang="zh-CN" sz="2400" b="0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  <a:endParaRPr lang="zh-CN" altLang="en-US" sz="2400" b="0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7" marR="68587" marT="34283" marB="34283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US" altLang="zh-CN" sz="2400" b="0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endParaRPr lang="zh-CN" altLang="en-US" sz="2400" b="0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7" marR="68587" marT="34283" marB="34283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39949">
                <a:tc>
                  <a:txBody>
                    <a:bodyPr/>
                    <a:lstStyle/>
                    <a:p>
                      <a:pPr algn="ctr" rtl="0" eaLnBrk="1" fontAlgn="base" hangingPunct="1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kumimoji="1" lang="en-US" altLang="zh-CN" sz="29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endParaRPr kumimoji="1" lang="zh-CN" altLang="en-US" sz="29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4557" marR="84557" marT="42266" marB="42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eaLnBrk="1" fontAlgn="base" hangingPunct="1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kumimoji="1" lang="en-US" altLang="zh-CN" sz="29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  <a:endParaRPr kumimoji="1" lang="zh-CN" altLang="en-US" sz="29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4557" marR="84557" marT="42266" marB="42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eaLnBrk="1" fontAlgn="base" hangingPunct="1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kumimoji="1" lang="en-US" altLang="zh-CN" sz="29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15</a:t>
                      </a:r>
                      <a:endParaRPr kumimoji="1" lang="zh-CN" altLang="en-US" sz="29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4557" marR="84557" marT="42266" marB="42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eaLnBrk="1" fontAlgn="base" hangingPunct="1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kumimoji="1" lang="en-US" altLang="zh-CN" sz="29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28</a:t>
                      </a:r>
                      <a:endParaRPr kumimoji="1" lang="zh-CN" altLang="en-US" sz="29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4557" marR="84557" marT="42266" marB="42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eaLnBrk="1" fontAlgn="base" hangingPunct="1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kumimoji="1" lang="en-US" altLang="zh-CN" sz="29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30</a:t>
                      </a:r>
                      <a:endParaRPr kumimoji="1" lang="zh-CN" altLang="en-US" sz="29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4557" marR="84557" marT="42266" marB="42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eaLnBrk="1" fontAlgn="base" hangingPunct="1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kumimoji="1" lang="en-US" altLang="zh-CN" sz="29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42</a:t>
                      </a:r>
                      <a:endParaRPr kumimoji="1" lang="zh-CN" altLang="en-US" sz="29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4557" marR="84557" marT="42266" marB="42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 marL="68587" marR="68587" marT="34283" marB="3428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 marL="68587" marR="68587" marT="34283" marB="3428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 marL="68587" marR="68587" marT="34283" marB="3428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 marL="68587" marR="68587" marT="34283" marB="3428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4" name="文本框 13"/>
          <p:cNvSpPr txBox="1"/>
          <p:nvPr/>
        </p:nvSpPr>
        <p:spPr>
          <a:xfrm>
            <a:off x="5985094" y="1802203"/>
            <a:ext cx="585788" cy="542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>
              <a:defRPr/>
            </a:pPr>
            <a:r>
              <a:rPr lang="en-US" altLang="zh-CN" sz="2925" b="1" dirty="0"/>
              <a:t>70</a:t>
            </a:r>
            <a:endParaRPr lang="zh-CN" altLang="en-US" sz="2925" b="1" dirty="0"/>
          </a:p>
        </p:txBody>
      </p:sp>
      <p:sp>
        <p:nvSpPr>
          <p:cNvPr id="15" name="文本框 14"/>
          <p:cNvSpPr txBox="1"/>
          <p:nvPr/>
        </p:nvSpPr>
        <p:spPr>
          <a:xfrm>
            <a:off x="5433833" y="1802203"/>
            <a:ext cx="620457" cy="542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>
              <a:defRPr/>
            </a:pPr>
            <a:r>
              <a:rPr lang="en-US" altLang="zh-CN" sz="2925" b="1" dirty="0"/>
              <a:t>63</a:t>
            </a:r>
            <a:endParaRPr lang="zh-CN" altLang="en-US" sz="2925" b="1" dirty="0"/>
          </a:p>
        </p:txBody>
      </p:sp>
      <p:sp>
        <p:nvSpPr>
          <p:cNvPr id="16" name="文本框 15"/>
          <p:cNvSpPr txBox="1"/>
          <p:nvPr/>
        </p:nvSpPr>
        <p:spPr>
          <a:xfrm>
            <a:off x="4790897" y="1802203"/>
            <a:ext cx="585788" cy="542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>
              <a:defRPr/>
            </a:pPr>
            <a:r>
              <a:rPr lang="en-US" altLang="zh-CN" sz="2925" b="1" dirty="0"/>
              <a:t>51</a:t>
            </a:r>
            <a:endParaRPr lang="zh-CN" altLang="en-US" sz="2925" b="1" dirty="0"/>
          </a:p>
        </p:txBody>
      </p:sp>
      <p:sp>
        <p:nvSpPr>
          <p:cNvPr id="17" name="文本框 16"/>
          <p:cNvSpPr txBox="1"/>
          <p:nvPr/>
        </p:nvSpPr>
        <p:spPr>
          <a:xfrm>
            <a:off x="5392163" y="1811728"/>
            <a:ext cx="662128" cy="542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>
              <a:defRPr/>
            </a:pPr>
            <a:r>
              <a:rPr lang="en-US" altLang="zh-CN" sz="2925" b="1" dirty="0">
                <a:solidFill>
                  <a:srgbClr val="FF0000"/>
                </a:solidFill>
              </a:rPr>
              <a:t>70</a:t>
            </a:r>
            <a:endParaRPr lang="zh-CN" altLang="en-US" sz="2925" b="1" dirty="0">
              <a:solidFill>
                <a:srgbClr val="FF0000"/>
              </a:solidFill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792087" y="1814110"/>
            <a:ext cx="589983" cy="542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>
              <a:defRPr/>
            </a:pPr>
            <a:r>
              <a:rPr lang="en-US" altLang="zh-CN" sz="2925" b="1" dirty="0">
                <a:solidFill>
                  <a:srgbClr val="FF0000"/>
                </a:solidFill>
              </a:rPr>
              <a:t>63</a:t>
            </a:r>
            <a:endParaRPr lang="zh-CN" altLang="en-US" sz="2925" b="1" dirty="0">
              <a:solidFill>
                <a:srgbClr val="FF0000"/>
              </a:solidFill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4207490" y="1802203"/>
            <a:ext cx="574504" cy="542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>
              <a:defRPr/>
            </a:pPr>
            <a:r>
              <a:rPr lang="en-US" altLang="zh-CN" sz="2925" b="1" dirty="0">
                <a:solidFill>
                  <a:srgbClr val="FF0000"/>
                </a:solidFill>
              </a:rPr>
              <a:t>45</a:t>
            </a:r>
            <a:endParaRPr lang="zh-CN" altLang="en-US" sz="2925" b="1" dirty="0">
              <a:solidFill>
                <a:srgbClr val="FF0000"/>
              </a:solidFill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4222969" y="1811728"/>
            <a:ext cx="587544" cy="542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>
              <a:defRPr/>
            </a:pPr>
            <a:r>
              <a:rPr lang="en-US" altLang="zh-CN" sz="2925" b="1" dirty="0">
                <a:solidFill>
                  <a:srgbClr val="FF0000"/>
                </a:solidFill>
              </a:rPr>
              <a:t>51</a:t>
            </a:r>
            <a:endParaRPr lang="zh-CN" altLang="en-US" sz="2925" b="1" dirty="0">
              <a:solidFill>
                <a:srgbClr val="FF0000"/>
              </a:solidFill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4284189" y="1270351"/>
            <a:ext cx="392987" cy="3775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/>
          </a:p>
        </p:txBody>
      </p:sp>
      <p:sp>
        <p:nvSpPr>
          <p:cNvPr id="22" name="文本框 21"/>
          <p:cNvSpPr txBox="1"/>
          <p:nvPr/>
        </p:nvSpPr>
        <p:spPr>
          <a:xfrm>
            <a:off x="167820" y="1315966"/>
            <a:ext cx="6495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800" b="1" dirty="0">
                <a:solidFill>
                  <a:srgbClr val="002060"/>
                </a:solidFill>
              </a:rPr>
              <a:t>位序</a:t>
            </a:r>
            <a:endParaRPr lang="zh-CN" altLang="en-US" sz="1800" b="1" dirty="0">
              <a:solidFill>
                <a:srgbClr val="00206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500"/>
                            </p:stCondLst>
                            <p:childTnLst>
                              <p:par>
                                <p:cTn id="30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0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ts val="2550"/>
              </a:lnSpc>
              <a:spcBef>
                <a:spcPts val="0"/>
              </a:spcBef>
            </a:pPr>
            <a:r>
              <a:rPr lang="en-US" altLang="zh-CN" sz="1800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Status </a:t>
            </a:r>
            <a:r>
              <a:rPr lang="en-US" altLang="zh-CN" sz="1800" dirty="0" err="1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ListDelete_Sq</a:t>
            </a:r>
            <a:r>
              <a:rPr lang="en-US" altLang="zh-CN" sz="1800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(</a:t>
            </a:r>
            <a:r>
              <a:rPr lang="en-US" altLang="zh-CN" sz="1800" dirty="0" err="1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SqList</a:t>
            </a:r>
            <a:r>
              <a:rPr lang="en-US" altLang="zh-CN" sz="1800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&amp;</a:t>
            </a:r>
            <a:r>
              <a:rPr lang="en-US" altLang="zh-CN" sz="1800" dirty="0" err="1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L,int</a:t>
            </a:r>
            <a:r>
              <a:rPr lang="en-US" altLang="zh-CN" sz="1800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</a:t>
            </a:r>
            <a:r>
              <a:rPr lang="en-US" altLang="zh-CN" sz="1800" dirty="0" err="1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i,ElemType</a:t>
            </a:r>
            <a:r>
              <a:rPr lang="en-US" altLang="zh-CN" sz="1800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&amp;e)</a:t>
            </a:r>
            <a:endParaRPr lang="en-US" altLang="zh-CN" sz="1800" dirty="0">
              <a:solidFill>
                <a:schemeClr val="tx1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eaLnBrk="1" hangingPunct="1">
              <a:lnSpc>
                <a:spcPts val="2550"/>
              </a:lnSpc>
              <a:spcBef>
                <a:spcPts val="0"/>
              </a:spcBef>
            </a:pPr>
            <a:r>
              <a:rPr lang="en-US" altLang="zh-CN" sz="1800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{</a:t>
            </a:r>
            <a:endParaRPr lang="en-US" altLang="zh-CN" sz="1800" dirty="0">
              <a:solidFill>
                <a:schemeClr val="tx1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eaLnBrk="1" hangingPunct="1">
              <a:lnSpc>
                <a:spcPts val="2550"/>
              </a:lnSpc>
              <a:spcBef>
                <a:spcPts val="0"/>
              </a:spcBef>
            </a:pPr>
            <a:r>
              <a:rPr lang="en-US" altLang="zh-CN" sz="1800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          if( (</a:t>
            </a:r>
            <a:r>
              <a:rPr lang="en-US" altLang="zh-CN" sz="1800" dirty="0" err="1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i</a:t>
            </a:r>
            <a:r>
              <a:rPr lang="en-US" altLang="zh-CN" sz="1800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&lt;1) || (</a:t>
            </a:r>
            <a:r>
              <a:rPr lang="en-US" altLang="zh-CN" sz="1800" dirty="0" err="1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i</a:t>
            </a:r>
            <a:r>
              <a:rPr lang="en-US" altLang="zh-CN" sz="1800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&gt;</a:t>
            </a:r>
            <a:r>
              <a:rPr lang="en-US" altLang="zh-CN" sz="1800" dirty="0" err="1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L.length</a:t>
            </a:r>
            <a:r>
              <a:rPr lang="en-US" altLang="zh-CN" sz="1800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) ) return ERROR;</a:t>
            </a:r>
            <a:endParaRPr lang="en-US" altLang="zh-CN" sz="1800" dirty="0">
              <a:solidFill>
                <a:schemeClr val="tx1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eaLnBrk="1" hangingPunct="1">
              <a:lnSpc>
                <a:spcPts val="2550"/>
              </a:lnSpc>
              <a:spcBef>
                <a:spcPts val="0"/>
              </a:spcBef>
            </a:pPr>
            <a:r>
              <a:rPr lang="en-US" altLang="zh-CN" sz="1800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          e=</a:t>
            </a:r>
            <a:r>
              <a:rPr lang="en-US" altLang="zh-CN" sz="1800" dirty="0" err="1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L.elem</a:t>
            </a:r>
            <a:r>
              <a:rPr lang="en-US" altLang="zh-CN" sz="1800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[</a:t>
            </a:r>
            <a:r>
              <a:rPr lang="en-US" altLang="zh-CN" sz="1800" dirty="0" err="1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i-1</a:t>
            </a:r>
            <a:r>
              <a:rPr lang="en-US" altLang="zh-CN" sz="1800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];  </a:t>
            </a:r>
            <a:endParaRPr lang="en-US" altLang="zh-CN" sz="1800" dirty="0">
              <a:solidFill>
                <a:schemeClr val="tx1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lvl="1">
              <a:lnSpc>
                <a:spcPts val="2550"/>
              </a:lnSpc>
              <a:spcBef>
                <a:spcPts val="0"/>
              </a:spcBef>
            </a:pPr>
            <a:r>
              <a:rPr lang="en-US" altLang="zh-CN" sz="1800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        for(j=</a:t>
            </a:r>
            <a:r>
              <a:rPr lang="en-US" altLang="zh-CN" sz="1800" dirty="0" err="1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i</a:t>
            </a:r>
            <a:r>
              <a:rPr lang="en-US" altLang="zh-CN" sz="1800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; j&lt;</a:t>
            </a:r>
            <a:r>
              <a:rPr lang="en-US" altLang="zh-CN" sz="1800" dirty="0" err="1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L.length</a:t>
            </a:r>
            <a:r>
              <a:rPr lang="en-US" altLang="zh-CN" sz="1800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; </a:t>
            </a:r>
            <a:r>
              <a:rPr lang="en-US" altLang="zh-CN" sz="1800" dirty="0" err="1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j++</a:t>
            </a:r>
            <a:r>
              <a:rPr lang="en-US" altLang="zh-CN" sz="1800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)  </a:t>
            </a:r>
            <a:endParaRPr lang="en-US" altLang="zh-CN" sz="1800" dirty="0">
              <a:solidFill>
                <a:schemeClr val="tx1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lvl="1" algn="l">
              <a:lnSpc>
                <a:spcPts val="2550"/>
              </a:lnSpc>
              <a:spcBef>
                <a:spcPts val="0"/>
              </a:spcBef>
            </a:pPr>
            <a:r>
              <a:rPr lang="en-US" altLang="zh-CN" sz="1800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                </a:t>
            </a:r>
            <a:r>
              <a:rPr lang="en-US" altLang="zh-CN" sz="1800" dirty="0" err="1">
                <a:solidFill>
                  <a:srgbClr val="FF000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L.elem</a:t>
            </a:r>
            <a:r>
              <a:rPr lang="en-US" altLang="zh-CN" sz="1800" dirty="0">
                <a:solidFill>
                  <a:srgbClr val="FF000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[j-1]=</a:t>
            </a:r>
            <a:r>
              <a:rPr lang="en-US" altLang="zh-CN" sz="1800" dirty="0" err="1">
                <a:solidFill>
                  <a:srgbClr val="FF000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L.elem</a:t>
            </a:r>
            <a:r>
              <a:rPr lang="en-US" altLang="zh-CN" sz="1800" dirty="0">
                <a:solidFill>
                  <a:srgbClr val="FF000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[j];       </a:t>
            </a:r>
            <a:r>
              <a:rPr lang="en-US" altLang="zh-CN" sz="1800" dirty="0">
                <a:solidFill>
                  <a:srgbClr val="0070C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/*</a:t>
            </a:r>
            <a:r>
              <a:rPr lang="zh-CN" altLang="en-US" sz="1800" dirty="0">
                <a:solidFill>
                  <a:srgbClr val="0070C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元素前移</a:t>
            </a:r>
            <a:r>
              <a:rPr lang="en-US" altLang="zh-CN" sz="1800" dirty="0">
                <a:solidFill>
                  <a:srgbClr val="0070C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*/</a:t>
            </a:r>
            <a:r>
              <a:rPr lang="en-US" altLang="zh-CN" sz="1800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</a:t>
            </a:r>
            <a:endParaRPr lang="en-US" altLang="zh-CN" sz="1800" dirty="0">
              <a:solidFill>
                <a:schemeClr val="tx1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lvl="1" algn="l">
              <a:lnSpc>
                <a:spcPts val="2550"/>
              </a:lnSpc>
              <a:spcBef>
                <a:spcPts val="0"/>
              </a:spcBef>
            </a:pPr>
            <a:r>
              <a:rPr lang="en-US" altLang="zh-CN" sz="1800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        </a:t>
            </a:r>
            <a:r>
              <a:rPr lang="en-US" altLang="zh-CN" sz="1800" dirty="0">
                <a:solidFill>
                  <a:srgbClr val="FF000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---</a:t>
            </a:r>
            <a:r>
              <a:rPr lang="en-US" altLang="zh-CN" sz="1800" dirty="0" err="1">
                <a:solidFill>
                  <a:srgbClr val="FF000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L.length</a:t>
            </a:r>
            <a:r>
              <a:rPr lang="en-US" altLang="zh-CN" sz="1800" dirty="0">
                <a:solidFill>
                  <a:srgbClr val="FF000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;                               </a:t>
            </a:r>
            <a:r>
              <a:rPr lang="en-US" altLang="zh-CN" sz="1800" dirty="0">
                <a:solidFill>
                  <a:srgbClr val="0070C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/*</a:t>
            </a:r>
            <a:r>
              <a:rPr lang="zh-CN" altLang="en-US" sz="1800" dirty="0">
                <a:solidFill>
                  <a:srgbClr val="0070C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表长减</a:t>
            </a:r>
            <a:r>
              <a:rPr lang="en-US" altLang="zh-CN" sz="1800" dirty="0">
                <a:solidFill>
                  <a:srgbClr val="0070C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1*/</a:t>
            </a:r>
            <a:endParaRPr lang="en-US" altLang="zh-CN" sz="1800" dirty="0">
              <a:solidFill>
                <a:srgbClr val="0070C0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eaLnBrk="1" hangingPunct="1">
              <a:lnSpc>
                <a:spcPts val="2550"/>
              </a:lnSpc>
              <a:spcBef>
                <a:spcPts val="0"/>
              </a:spcBef>
            </a:pPr>
            <a:r>
              <a:rPr lang="en-US" altLang="zh-CN" sz="1800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          return OK;</a:t>
            </a:r>
            <a:endParaRPr lang="en-US" altLang="zh-CN" sz="1800" dirty="0">
              <a:solidFill>
                <a:schemeClr val="tx1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eaLnBrk="1" hangingPunct="1">
              <a:lnSpc>
                <a:spcPts val="2550"/>
              </a:lnSpc>
              <a:spcBef>
                <a:spcPts val="0"/>
              </a:spcBef>
            </a:pPr>
            <a:r>
              <a:rPr lang="en-US" altLang="zh-CN" sz="1800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}</a:t>
            </a:r>
            <a:endParaRPr lang="zh-CN" altLang="en-US" sz="2000" dirty="0">
              <a:solidFill>
                <a:schemeClr val="tx1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2.2 </a:t>
            </a:r>
            <a:r>
              <a:rPr lang="zh-CN" altLang="en-US" dirty="0"/>
              <a:t>线性表的顺序表示和实现</a:t>
            </a:r>
            <a:endParaRPr lang="zh-CN" altLang="en-US" dirty="0"/>
          </a:p>
        </p:txBody>
      </p:sp>
      <p:grpSp>
        <p:nvGrpSpPr>
          <p:cNvPr id="4" name="组合 3"/>
          <p:cNvGrpSpPr/>
          <p:nvPr/>
        </p:nvGrpSpPr>
        <p:grpSpPr>
          <a:xfrm>
            <a:off x="4010025" y="3398378"/>
            <a:ext cx="2059806" cy="837398"/>
            <a:chOff x="6116915" y="1154085"/>
            <a:chExt cx="2476125" cy="1087414"/>
          </a:xfr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8100000" scaled="1"/>
            <a:tileRect/>
          </a:gradFill>
        </p:grpSpPr>
        <p:sp>
          <p:nvSpPr>
            <p:cNvPr id="5" name="矩形标注 4"/>
            <p:cNvSpPr/>
            <p:nvPr/>
          </p:nvSpPr>
          <p:spPr>
            <a:xfrm>
              <a:off x="6116915" y="1154085"/>
              <a:ext cx="2476125" cy="1087414"/>
            </a:xfrm>
            <a:prstGeom prst="wedgeRectCallout">
              <a:avLst>
                <a:gd name="adj1" fmla="val -97981"/>
                <a:gd name="adj2" fmla="val -136438"/>
              </a:avLst>
            </a:prstGeom>
            <a:grpFill/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6" name="文本框 5"/>
            <p:cNvSpPr txBox="1"/>
            <p:nvPr/>
          </p:nvSpPr>
          <p:spPr>
            <a:xfrm>
              <a:off x="6183015" y="1328744"/>
              <a:ext cx="2386644" cy="769441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zh-CN" altLang="en-US" sz="1575" b="1" dirty="0">
                  <a:solidFill>
                    <a:srgbClr val="00194C"/>
                  </a:solidFill>
                  <a:latin typeface="华文楷体" panose="02010600040101010101" pitchFamily="2" charset="-122"/>
                  <a:ea typeface="华文楷体" panose="02010600040101010101" pitchFamily="2" charset="-122"/>
                </a:rPr>
                <a:t>平均移动次数</a:t>
              </a:r>
              <a:r>
                <a:rPr lang="en-US" altLang="zh-CN" sz="1500" b="1" dirty="0">
                  <a:solidFill>
                    <a:srgbClr val="FF0000"/>
                  </a:solidFill>
                </a:rPr>
                <a:t>(n-1)/2</a:t>
              </a:r>
              <a:endParaRPr lang="en-US" altLang="zh-CN" sz="1500" b="1" dirty="0">
                <a:solidFill>
                  <a:srgbClr val="FF0000"/>
                </a:solidFill>
              </a:endParaRPr>
            </a:p>
            <a:p>
              <a:r>
                <a:rPr lang="zh-CN" altLang="en-US" sz="1575" b="1" dirty="0">
                  <a:solidFill>
                    <a:srgbClr val="00194C"/>
                  </a:solidFill>
                  <a:latin typeface="华文楷体" panose="02010600040101010101" pitchFamily="2" charset="-122"/>
                  <a:ea typeface="华文楷体" panose="02010600040101010101" pitchFamily="2" charset="-122"/>
                </a:rPr>
                <a:t>时间复杂度</a:t>
              </a:r>
              <a:r>
                <a:rPr lang="en-US" altLang="zh-CN" sz="1500" b="1" dirty="0">
                  <a:solidFill>
                    <a:srgbClr val="FF0000"/>
                  </a:solidFill>
                </a:rPr>
                <a:t>O(n)</a:t>
              </a:r>
              <a:endParaRPr lang="zh-CN" altLang="en-US" sz="1500" b="1" dirty="0">
                <a:solidFill>
                  <a:srgbClr val="FF0000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dirty="0"/>
              <a:t>删除算法的时间效率分析</a:t>
            </a:r>
            <a:r>
              <a:rPr lang="en-US" altLang="zh-CN" dirty="0"/>
              <a:t>:</a:t>
            </a:r>
            <a:endParaRPr lang="en-US" altLang="zh-CN" dirty="0"/>
          </a:p>
          <a:p>
            <a:pPr lvl="2">
              <a:lnSpc>
                <a:spcPct val="100000"/>
              </a:lnSpc>
            </a:pPr>
            <a:r>
              <a:rPr lang="zh-CN" altLang="en-US" dirty="0"/>
              <a:t>删除算法花费的时间主要在</a:t>
            </a:r>
            <a:r>
              <a:rPr lang="zh-CN" altLang="en-US" dirty="0">
                <a:solidFill>
                  <a:srgbClr val="FF0000"/>
                </a:solidFill>
              </a:rPr>
              <a:t>循环中元素的前移</a:t>
            </a:r>
            <a:endParaRPr lang="zh-CN" altLang="en-US" dirty="0">
              <a:solidFill>
                <a:srgbClr val="FF0000"/>
              </a:solidFill>
            </a:endParaRP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zh-CN" altLang="en-US" sz="2200" dirty="0"/>
              <a:t>当删除位置为</a:t>
            </a:r>
            <a:r>
              <a:rPr lang="en-US" altLang="zh-CN" sz="2200" dirty="0"/>
              <a:t>1</a:t>
            </a:r>
            <a:r>
              <a:rPr lang="zh-CN" altLang="en-US" sz="2200" dirty="0"/>
              <a:t>时，需</a:t>
            </a:r>
            <a:r>
              <a:rPr lang="en-US" altLang="zh-CN" sz="2200" dirty="0"/>
              <a:t>n-1</a:t>
            </a:r>
            <a:r>
              <a:rPr lang="zh-CN" altLang="en-US" sz="2200" dirty="0"/>
              <a:t>次移动</a:t>
            </a:r>
            <a:r>
              <a:rPr lang="en-US" altLang="zh-CN" sz="2200" dirty="0"/>
              <a:t>;</a:t>
            </a:r>
            <a:endParaRPr lang="en-US" altLang="zh-CN" sz="2200" dirty="0"/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zh-CN" altLang="en-US" sz="2200" dirty="0"/>
              <a:t>当删除位置为</a:t>
            </a:r>
            <a:r>
              <a:rPr lang="en-US" altLang="zh-CN" sz="2200" dirty="0"/>
              <a:t>n</a:t>
            </a:r>
            <a:r>
              <a:rPr lang="zh-CN" altLang="en-US" sz="2200" dirty="0"/>
              <a:t>时，不需移动元素</a:t>
            </a:r>
            <a:r>
              <a:rPr lang="en-US" altLang="zh-CN" sz="2200" dirty="0"/>
              <a:t>;</a:t>
            </a:r>
            <a:endParaRPr lang="en-US" altLang="zh-CN" sz="2200" dirty="0"/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zh-CN" altLang="en-US" sz="2200" dirty="0"/>
              <a:t>当删除位置为</a:t>
            </a:r>
            <a:r>
              <a:rPr lang="en-US" altLang="zh-CN" sz="2200" dirty="0" err="1"/>
              <a:t>i</a:t>
            </a:r>
            <a:r>
              <a:rPr lang="zh-CN" altLang="en-US" sz="2200" dirty="0"/>
              <a:t>时，移动次数为</a:t>
            </a:r>
            <a:r>
              <a:rPr lang="en-US" altLang="zh-CN" sz="2200" dirty="0">
                <a:solidFill>
                  <a:srgbClr val="FF0000"/>
                </a:solidFill>
              </a:rPr>
              <a:t>n-</a:t>
            </a:r>
            <a:r>
              <a:rPr lang="en-US" altLang="zh-CN" sz="2200" dirty="0" err="1">
                <a:solidFill>
                  <a:srgbClr val="FF0000"/>
                </a:solidFill>
              </a:rPr>
              <a:t>i</a:t>
            </a:r>
            <a:r>
              <a:rPr lang="zh-CN" altLang="en-US" sz="2200" dirty="0"/>
              <a:t>。</a:t>
            </a:r>
            <a:endParaRPr lang="en-US" altLang="zh-CN" sz="2200" dirty="0"/>
          </a:p>
          <a:p>
            <a:pPr lvl="2">
              <a:lnSpc>
                <a:spcPct val="100000"/>
              </a:lnSpc>
            </a:pPr>
            <a:r>
              <a:rPr lang="zh-CN" altLang="en-US" sz="2200" dirty="0"/>
              <a:t>假定在表中任意位置删除元素都是等概率的， 删除第</a:t>
            </a:r>
            <a:r>
              <a:rPr lang="en-US" altLang="zh-CN" sz="2200" dirty="0" err="1"/>
              <a:t>i</a:t>
            </a:r>
            <a:r>
              <a:rPr lang="zh-CN" altLang="en-US" sz="2200" dirty="0"/>
              <a:t>个位置上元素的概率</a:t>
            </a:r>
            <a:r>
              <a:rPr lang="en-US" altLang="zh-CN" sz="2200" dirty="0">
                <a:solidFill>
                  <a:srgbClr val="FF0000"/>
                </a:solidFill>
              </a:rPr>
              <a:t>q(</a:t>
            </a:r>
            <a:r>
              <a:rPr lang="en-US" altLang="zh-CN" sz="2200" dirty="0" err="1">
                <a:solidFill>
                  <a:srgbClr val="FF0000"/>
                </a:solidFill>
              </a:rPr>
              <a:t>i</a:t>
            </a:r>
            <a:r>
              <a:rPr lang="en-US" altLang="zh-CN" sz="2200" dirty="0">
                <a:solidFill>
                  <a:srgbClr val="FF0000"/>
                </a:solidFill>
              </a:rPr>
              <a:t>)=1/n</a:t>
            </a:r>
            <a:endParaRPr lang="en-US" altLang="zh-CN" sz="2200" dirty="0">
              <a:solidFill>
                <a:srgbClr val="FF0000"/>
              </a:solidFill>
            </a:endParaRPr>
          </a:p>
          <a:p>
            <a:pPr lvl="2">
              <a:lnSpc>
                <a:spcPct val="100000"/>
              </a:lnSpc>
            </a:pPr>
            <a:r>
              <a:rPr lang="zh-CN" altLang="en-US" sz="2200" dirty="0"/>
              <a:t>删除操作时间效率（平均移动次数） </a:t>
            </a:r>
            <a:endParaRPr lang="en-US" altLang="zh-CN" sz="2200" dirty="0"/>
          </a:p>
          <a:p>
            <a:pPr lvl="2">
              <a:lnSpc>
                <a:spcPct val="100000"/>
              </a:lnSpc>
            </a:pPr>
            <a:endParaRPr lang="zh-CN" altLang="en-US" sz="2200" dirty="0"/>
          </a:p>
          <a:p>
            <a:pPr lvl="2">
              <a:lnSpc>
                <a:spcPct val="100000"/>
              </a:lnSpc>
            </a:pPr>
            <a:endParaRPr lang="en-US" altLang="zh-CN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2.2 </a:t>
            </a:r>
            <a:r>
              <a:rPr lang="zh-CN" altLang="en-US" dirty="0"/>
              <a:t>线性表的顺序表示和实现</a:t>
            </a:r>
            <a:endParaRPr lang="zh-CN" altLang="en-US" dirty="0"/>
          </a:p>
        </p:txBody>
      </p:sp>
      <p:graphicFrame>
        <p:nvGraphicFramePr>
          <p:cNvPr id="6" name="Object 2"/>
          <p:cNvGraphicFramePr>
            <a:graphicFrameLocks noChangeAspect="1"/>
          </p:cNvGraphicFramePr>
          <p:nvPr/>
        </p:nvGraphicFramePr>
        <p:xfrm>
          <a:off x="559725" y="3487767"/>
          <a:ext cx="5143500" cy="7953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7379" name="" r:id="rId1" imgW="2413000" imgH="431800" progId="Equation.3">
                  <p:embed/>
                </p:oleObj>
              </mc:Choice>
              <mc:Fallback>
                <p:oleObj name="" r:id="rId1" imgW="2413000" imgH="431800" progId="Equation.3">
                  <p:embed/>
                  <p:pic>
                    <p:nvPicPr>
                      <p:cNvPr id="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9725" y="3487767"/>
                        <a:ext cx="5143500" cy="795338"/>
                      </a:xfrm>
                      <a:prstGeom prst="rect">
                        <a:avLst/>
                      </a:prstGeom>
                      <a:solidFill>
                        <a:srgbClr val="66FF66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4.</a:t>
            </a:r>
            <a:r>
              <a:rPr lang="zh-CN" altLang="en-US" dirty="0"/>
              <a:t>顺序表的查找</a:t>
            </a:r>
            <a:endParaRPr lang="en-US" altLang="zh-CN" dirty="0"/>
          </a:p>
          <a:p>
            <a:pPr lvl="2"/>
            <a:r>
              <a:rPr lang="zh-CN" altLang="en-US" dirty="0"/>
              <a:t>例：查找下表中第一个值为</a:t>
            </a:r>
            <a:r>
              <a:rPr lang="en-US" altLang="zh-CN" dirty="0"/>
              <a:t>30</a:t>
            </a:r>
            <a:r>
              <a:rPr lang="zh-CN" altLang="en-US" dirty="0"/>
              <a:t>的元素。</a:t>
            </a:r>
            <a:endParaRPr lang="zh-CN" altLang="en-US" dirty="0"/>
          </a:p>
          <a:p>
            <a:endParaRPr lang="en-US" altLang="zh-CN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2.2 </a:t>
            </a:r>
            <a:r>
              <a:rPr lang="zh-CN" altLang="en-US" dirty="0"/>
              <a:t>线性表的顺序表示和实现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/>
        </p:nvGraphicFramePr>
        <p:xfrm>
          <a:off x="525483" y="1786307"/>
          <a:ext cx="5941220" cy="9126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122"/>
                <a:gridCol w="594122"/>
                <a:gridCol w="594122"/>
                <a:gridCol w="594122"/>
                <a:gridCol w="594122"/>
                <a:gridCol w="594122"/>
                <a:gridCol w="594122"/>
                <a:gridCol w="594122"/>
                <a:gridCol w="594122"/>
                <a:gridCol w="594122"/>
              </a:tblGrid>
              <a:tr h="372745"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US" altLang="zh-CN" sz="18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endParaRPr lang="zh-CN" altLang="en-US" sz="18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7" marR="68587" marT="34283" marB="34283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US" altLang="zh-CN" sz="18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endParaRPr lang="zh-CN" altLang="en-US" sz="18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7" marR="68587" marT="34283" marB="34283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US" altLang="zh-CN" sz="18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  <a:endParaRPr lang="zh-CN" altLang="en-US" sz="18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7" marR="68587" marT="34283" marB="34283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US" altLang="zh-CN" sz="18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endParaRPr lang="zh-CN" altLang="en-US" sz="18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7" marR="68587" marT="34283" marB="34283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US" altLang="zh-CN" sz="18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  <a:endParaRPr lang="zh-CN" altLang="en-US" sz="18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7" marR="68587" marT="34283" marB="34283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US" altLang="zh-CN" sz="18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  <a:endParaRPr lang="zh-CN" altLang="en-US" sz="18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7" marR="68587" marT="34283" marB="34283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US" altLang="zh-CN" sz="18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  <a:endParaRPr lang="zh-CN" altLang="en-US" sz="18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7" marR="68587" marT="34283" marB="34283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US" altLang="zh-CN" sz="18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  <a:endParaRPr lang="zh-CN" altLang="en-US" sz="18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7" marR="68587" marT="34283" marB="34283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US" altLang="zh-CN" sz="18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  <a:endParaRPr lang="zh-CN" altLang="en-US" sz="18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7" marR="68587" marT="34283" marB="34283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US" altLang="zh-CN" sz="18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endParaRPr lang="zh-CN" altLang="en-US" sz="18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7" marR="68587" marT="34283" marB="34283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39949">
                <a:tc>
                  <a:txBody>
                    <a:bodyPr/>
                    <a:lstStyle/>
                    <a:p>
                      <a:pPr algn="ctr" rtl="0" eaLnBrk="1" fontAlgn="base" hangingPunct="1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kumimoji="1" lang="en-US" altLang="zh-CN" sz="29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endParaRPr kumimoji="1" lang="zh-CN" altLang="en-US" sz="29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4557" marR="84557" marT="42266" marB="42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eaLnBrk="1" fontAlgn="base" hangingPunct="1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kumimoji="1" lang="en-US" altLang="zh-CN" sz="29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20</a:t>
                      </a:r>
                      <a:endParaRPr kumimoji="1" lang="zh-CN" altLang="en-US" sz="29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4557" marR="84557" marT="42266" marB="42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eaLnBrk="1" fontAlgn="base" hangingPunct="1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kumimoji="1" lang="en-US" altLang="zh-CN" sz="29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15</a:t>
                      </a:r>
                      <a:endParaRPr kumimoji="1" lang="zh-CN" altLang="en-US" sz="29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4557" marR="84557" marT="42266" marB="42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eaLnBrk="1" fontAlgn="base" hangingPunct="1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kumimoji="1" lang="en-US" altLang="zh-CN" sz="29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  <a:endParaRPr kumimoji="1" lang="zh-CN" altLang="en-US" sz="29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4557" marR="84557" marT="42266" marB="42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eaLnBrk="1" fontAlgn="base" hangingPunct="1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kumimoji="1" lang="en-US" altLang="zh-CN" sz="29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30</a:t>
                      </a:r>
                      <a:endParaRPr kumimoji="1" lang="zh-CN" altLang="en-US" sz="29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4557" marR="84557" marT="42266" marB="42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eaLnBrk="1" fontAlgn="base" hangingPunct="1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kumimoji="1" lang="en-US" altLang="zh-CN" sz="29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42</a:t>
                      </a:r>
                      <a:endParaRPr kumimoji="1" lang="zh-CN" altLang="en-US" sz="29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4557" marR="84557" marT="42266" marB="42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685800" rtl="0" eaLnBrk="1" fontAlgn="base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kumimoji="1" lang="en-US" altLang="zh-CN" sz="29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87</a:t>
                      </a:r>
                      <a:endParaRPr kumimoji="1" lang="zh-CN" altLang="en-US" sz="29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7" marR="68587" marT="34283" marB="3428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685800" rtl="0" eaLnBrk="1" fontAlgn="base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kumimoji="1" lang="en-US" altLang="zh-CN" sz="29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56</a:t>
                      </a:r>
                      <a:endParaRPr kumimoji="1" lang="zh-CN" altLang="en-US" sz="29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7" marR="68587" marT="34283" marB="3428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685800" rtl="0" eaLnBrk="1" fontAlgn="base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kumimoji="1" lang="en-US" altLang="zh-CN" sz="29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34</a:t>
                      </a:r>
                      <a:endParaRPr kumimoji="1" lang="zh-CN" altLang="en-US" sz="29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7" marR="68587" marT="34283" marB="3428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685800" rtl="0" eaLnBrk="1" fontAlgn="base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kumimoji="1" lang="en-US" altLang="zh-CN" sz="29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60</a:t>
                      </a:r>
                      <a:endParaRPr kumimoji="1" lang="zh-CN" altLang="en-US" sz="29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7" marR="68587" marT="34283" marB="3428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grpSp>
        <p:nvGrpSpPr>
          <p:cNvPr id="5" name="组合 4"/>
          <p:cNvGrpSpPr/>
          <p:nvPr/>
        </p:nvGrpSpPr>
        <p:grpSpPr>
          <a:xfrm>
            <a:off x="681381" y="2721560"/>
            <a:ext cx="324128" cy="587770"/>
            <a:chOff x="790739" y="2835667"/>
            <a:chExt cx="432171" cy="783693"/>
          </a:xfrm>
        </p:grpSpPr>
        <p:cxnSp>
          <p:nvCxnSpPr>
            <p:cNvPr id="6" name="直接箭头连接符 5"/>
            <p:cNvCxnSpPr/>
            <p:nvPr/>
          </p:nvCxnSpPr>
          <p:spPr>
            <a:xfrm flipV="1">
              <a:off x="976046" y="2835667"/>
              <a:ext cx="0" cy="318499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文本框 6"/>
            <p:cNvSpPr txBox="1"/>
            <p:nvPr/>
          </p:nvSpPr>
          <p:spPr>
            <a:xfrm>
              <a:off x="790739" y="3065363"/>
              <a:ext cx="432171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100" dirty="0">
                  <a:solidFill>
                    <a:srgbClr val="FF0000"/>
                  </a:solidFill>
                </a:rPr>
                <a:t>P</a:t>
              </a:r>
              <a:endParaRPr lang="zh-CN" altLang="en-US" sz="21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8" name="组合 7"/>
          <p:cNvGrpSpPr/>
          <p:nvPr/>
        </p:nvGrpSpPr>
        <p:grpSpPr>
          <a:xfrm>
            <a:off x="1295325" y="2721560"/>
            <a:ext cx="324128" cy="587770"/>
            <a:chOff x="790739" y="2835667"/>
            <a:chExt cx="432171" cy="783693"/>
          </a:xfrm>
        </p:grpSpPr>
        <p:cxnSp>
          <p:nvCxnSpPr>
            <p:cNvPr id="9" name="直接箭头连接符 8"/>
            <p:cNvCxnSpPr/>
            <p:nvPr/>
          </p:nvCxnSpPr>
          <p:spPr>
            <a:xfrm flipV="1">
              <a:off x="976046" y="2835667"/>
              <a:ext cx="0" cy="318499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文本框 9"/>
            <p:cNvSpPr txBox="1"/>
            <p:nvPr/>
          </p:nvSpPr>
          <p:spPr>
            <a:xfrm>
              <a:off x="790739" y="3065363"/>
              <a:ext cx="432171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100" dirty="0">
                  <a:solidFill>
                    <a:srgbClr val="FF0000"/>
                  </a:solidFill>
                </a:rPr>
                <a:t>P</a:t>
              </a:r>
              <a:endParaRPr lang="zh-CN" altLang="en-US" sz="21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1" name="组合 10"/>
          <p:cNvGrpSpPr/>
          <p:nvPr/>
        </p:nvGrpSpPr>
        <p:grpSpPr>
          <a:xfrm>
            <a:off x="1909267" y="2721560"/>
            <a:ext cx="324128" cy="587770"/>
            <a:chOff x="790739" y="2835667"/>
            <a:chExt cx="432171" cy="783693"/>
          </a:xfrm>
        </p:grpSpPr>
        <p:cxnSp>
          <p:nvCxnSpPr>
            <p:cNvPr id="12" name="直接箭头连接符 11"/>
            <p:cNvCxnSpPr/>
            <p:nvPr/>
          </p:nvCxnSpPr>
          <p:spPr>
            <a:xfrm flipV="1">
              <a:off x="976046" y="2835667"/>
              <a:ext cx="0" cy="318499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本框 12"/>
            <p:cNvSpPr txBox="1"/>
            <p:nvPr/>
          </p:nvSpPr>
          <p:spPr>
            <a:xfrm>
              <a:off x="790739" y="3065363"/>
              <a:ext cx="432171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100" dirty="0">
                  <a:solidFill>
                    <a:srgbClr val="FF0000"/>
                  </a:solidFill>
                </a:rPr>
                <a:t>P</a:t>
              </a:r>
              <a:endParaRPr lang="zh-CN" altLang="en-US" sz="21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4" name="组合 13"/>
          <p:cNvGrpSpPr/>
          <p:nvPr/>
        </p:nvGrpSpPr>
        <p:grpSpPr>
          <a:xfrm>
            <a:off x="2465295" y="2721560"/>
            <a:ext cx="324128" cy="587770"/>
            <a:chOff x="790739" y="2835667"/>
            <a:chExt cx="432171" cy="783693"/>
          </a:xfrm>
        </p:grpSpPr>
        <p:cxnSp>
          <p:nvCxnSpPr>
            <p:cNvPr id="15" name="直接箭头连接符 14"/>
            <p:cNvCxnSpPr/>
            <p:nvPr/>
          </p:nvCxnSpPr>
          <p:spPr>
            <a:xfrm flipV="1">
              <a:off x="976046" y="2835667"/>
              <a:ext cx="0" cy="318499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文本框 15"/>
            <p:cNvSpPr txBox="1"/>
            <p:nvPr/>
          </p:nvSpPr>
          <p:spPr>
            <a:xfrm>
              <a:off x="790739" y="3065363"/>
              <a:ext cx="432171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100" dirty="0">
                  <a:solidFill>
                    <a:srgbClr val="FF0000"/>
                  </a:solidFill>
                </a:rPr>
                <a:t>P</a:t>
              </a:r>
              <a:endParaRPr lang="zh-CN" altLang="en-US" sz="21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组合 16"/>
          <p:cNvGrpSpPr/>
          <p:nvPr/>
        </p:nvGrpSpPr>
        <p:grpSpPr>
          <a:xfrm>
            <a:off x="3071687" y="2725698"/>
            <a:ext cx="324128" cy="587770"/>
            <a:chOff x="790739" y="2835667"/>
            <a:chExt cx="432171" cy="783693"/>
          </a:xfrm>
        </p:grpSpPr>
        <p:cxnSp>
          <p:nvCxnSpPr>
            <p:cNvPr id="18" name="直接箭头连接符 17"/>
            <p:cNvCxnSpPr/>
            <p:nvPr/>
          </p:nvCxnSpPr>
          <p:spPr>
            <a:xfrm flipV="1">
              <a:off x="976046" y="2835667"/>
              <a:ext cx="0" cy="318499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文本框 18"/>
            <p:cNvSpPr txBox="1"/>
            <p:nvPr/>
          </p:nvSpPr>
          <p:spPr>
            <a:xfrm>
              <a:off x="790739" y="3065363"/>
              <a:ext cx="432171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100" dirty="0">
                  <a:solidFill>
                    <a:srgbClr val="FF0000"/>
                  </a:solidFill>
                </a:rPr>
                <a:t>P</a:t>
              </a:r>
              <a:endParaRPr lang="zh-CN" altLang="en-US" sz="2100" dirty="0">
                <a:solidFill>
                  <a:srgbClr val="FF0000"/>
                </a:solidFill>
              </a:endParaRPr>
            </a:p>
          </p:txBody>
        </p:sp>
      </p:grpSp>
      <p:sp>
        <p:nvSpPr>
          <p:cNvPr id="20" name="文本框 19"/>
          <p:cNvSpPr txBox="1"/>
          <p:nvPr/>
        </p:nvSpPr>
        <p:spPr>
          <a:xfrm>
            <a:off x="129235" y="1801400"/>
            <a:ext cx="569388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500" b="1" dirty="0">
                <a:solidFill>
                  <a:srgbClr val="002060"/>
                </a:solidFill>
              </a:rPr>
              <a:t>位序</a:t>
            </a:r>
            <a:endParaRPr lang="zh-CN" altLang="en-US" sz="1500" b="1" dirty="0">
              <a:solidFill>
                <a:srgbClr val="00206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2" fontAlgn="base">
              <a:lnSpc>
                <a:spcPts val="2600"/>
              </a:lnSpc>
              <a:spcAft>
                <a:spcPct val="0"/>
              </a:spcAft>
              <a:buClrTx/>
              <a:buSzTx/>
            </a:pPr>
            <a:r>
              <a:rPr lang="en-US" altLang="zh-CN" sz="2000" dirty="0" err="1"/>
              <a:t>int</a:t>
            </a:r>
            <a:r>
              <a:rPr lang="en-US" altLang="zh-CN" sz="2000" dirty="0"/>
              <a:t> </a:t>
            </a:r>
            <a:r>
              <a:rPr lang="en-US" altLang="zh-CN" sz="2000" dirty="0" err="1"/>
              <a:t>LocateElem_Sq</a:t>
            </a:r>
            <a:r>
              <a:rPr lang="en-US" altLang="zh-CN" sz="2000" dirty="0"/>
              <a:t>(</a:t>
            </a:r>
            <a:r>
              <a:rPr lang="en-US" altLang="zh-CN" sz="2000" dirty="0" err="1"/>
              <a:t>SqList</a:t>
            </a:r>
            <a:r>
              <a:rPr lang="en-US" altLang="zh-CN" sz="2000" dirty="0"/>
              <a:t> </a:t>
            </a:r>
            <a:r>
              <a:rPr lang="en-US" altLang="zh-CN" sz="2000" dirty="0" err="1"/>
              <a:t>L,ElemType</a:t>
            </a:r>
            <a:r>
              <a:rPr lang="en-US" altLang="zh-CN" sz="2000" dirty="0"/>
              <a:t> e, </a:t>
            </a:r>
            <a:endParaRPr lang="en-US" altLang="zh-CN" sz="2000" dirty="0"/>
          </a:p>
          <a:p>
            <a:pPr marL="0" lvl="2" fontAlgn="base">
              <a:lnSpc>
                <a:spcPts val="2600"/>
              </a:lnSpc>
              <a:spcAft>
                <a:spcPct val="0"/>
              </a:spcAft>
              <a:buClrTx/>
              <a:buSzTx/>
            </a:pPr>
            <a:r>
              <a:rPr lang="en-US" altLang="zh-CN" sz="2000" dirty="0"/>
              <a:t>                  Status(*compare)(</a:t>
            </a:r>
            <a:r>
              <a:rPr lang="en-US" altLang="zh-CN" sz="2000" dirty="0" err="1"/>
              <a:t>ElemType</a:t>
            </a:r>
            <a:r>
              <a:rPr lang="en-US" altLang="zh-CN" sz="2000" dirty="0"/>
              <a:t>, </a:t>
            </a:r>
            <a:r>
              <a:rPr lang="en-US" altLang="zh-CN" sz="2000" dirty="0" err="1"/>
              <a:t>ElemType</a:t>
            </a:r>
            <a:r>
              <a:rPr lang="en-US" altLang="zh-CN" sz="2000" dirty="0"/>
              <a:t>)){</a:t>
            </a:r>
            <a:endParaRPr lang="en-US" altLang="zh-CN" sz="2000" dirty="0"/>
          </a:p>
          <a:p>
            <a:pPr marL="0" lvl="2" fontAlgn="base">
              <a:lnSpc>
                <a:spcPts val="2600"/>
              </a:lnSpc>
              <a:spcAft>
                <a:spcPct val="0"/>
              </a:spcAft>
              <a:buClrTx/>
              <a:buSzTx/>
            </a:pPr>
            <a:r>
              <a:rPr lang="en-US" altLang="zh-CN" sz="2000" dirty="0"/>
              <a:t>	</a:t>
            </a:r>
            <a:r>
              <a:rPr lang="en-US" altLang="zh-CN" sz="2000" dirty="0" err="1"/>
              <a:t>i</a:t>
            </a:r>
            <a:r>
              <a:rPr lang="en-US" altLang="zh-CN" sz="2000" dirty="0"/>
              <a:t>=1;</a:t>
            </a:r>
            <a:endParaRPr lang="en-US" altLang="zh-CN" sz="2000" dirty="0"/>
          </a:p>
          <a:p>
            <a:pPr marL="0" lvl="2" fontAlgn="base">
              <a:lnSpc>
                <a:spcPts val="2600"/>
              </a:lnSpc>
              <a:spcAft>
                <a:spcPct val="0"/>
              </a:spcAft>
              <a:buClrTx/>
              <a:buSzTx/>
            </a:pPr>
            <a:r>
              <a:rPr lang="en-US" altLang="zh-CN" sz="2000" dirty="0"/>
              <a:t>	p=</a:t>
            </a:r>
            <a:r>
              <a:rPr lang="en-US" altLang="zh-CN" sz="2000" dirty="0" err="1"/>
              <a:t>L.elem</a:t>
            </a:r>
            <a:r>
              <a:rPr lang="en-US" altLang="zh-CN" sz="2000" dirty="0"/>
              <a:t>;</a:t>
            </a:r>
            <a:endParaRPr lang="en-US" altLang="zh-CN" sz="2000" dirty="0"/>
          </a:p>
          <a:p>
            <a:pPr marL="0" lvl="2" fontAlgn="base">
              <a:lnSpc>
                <a:spcPts val="2600"/>
              </a:lnSpc>
              <a:spcAft>
                <a:spcPct val="0"/>
              </a:spcAft>
              <a:buClrTx/>
              <a:buSzTx/>
            </a:pPr>
            <a:r>
              <a:rPr lang="en-US" altLang="zh-CN" sz="2000" dirty="0"/>
              <a:t>            </a:t>
            </a:r>
            <a:r>
              <a:rPr lang="en-US" altLang="zh-CN" sz="2000" dirty="0">
                <a:solidFill>
                  <a:srgbClr val="0070C0"/>
                </a:solidFill>
              </a:rPr>
              <a:t>/*</a:t>
            </a:r>
            <a:r>
              <a:rPr lang="zh-CN" altLang="en-US" sz="2000" dirty="0">
                <a:solidFill>
                  <a:srgbClr val="0070C0"/>
                </a:solidFill>
              </a:rPr>
              <a:t>从前向后查找</a:t>
            </a:r>
            <a:r>
              <a:rPr lang="en-US" altLang="zh-CN" sz="2000" dirty="0">
                <a:solidFill>
                  <a:srgbClr val="0070C0"/>
                </a:solidFill>
              </a:rPr>
              <a:t>*/ </a:t>
            </a:r>
            <a:r>
              <a:rPr lang="en-US" altLang="zh-CN" sz="2000" dirty="0"/>
              <a:t>	</a:t>
            </a:r>
            <a:endParaRPr lang="en-US" altLang="zh-CN" sz="2000" dirty="0"/>
          </a:p>
          <a:p>
            <a:pPr marL="0" lvl="2" fontAlgn="base">
              <a:lnSpc>
                <a:spcPts val="2600"/>
              </a:lnSpc>
              <a:spcAft>
                <a:spcPct val="0"/>
              </a:spcAft>
              <a:buClrTx/>
              <a:buSzTx/>
            </a:pPr>
            <a:r>
              <a:rPr lang="en-US" altLang="zh-CN" sz="2000" dirty="0"/>
              <a:t>            while (</a:t>
            </a:r>
            <a:r>
              <a:rPr lang="en-US" altLang="zh-CN" sz="2000" dirty="0" err="1"/>
              <a:t>i</a:t>
            </a:r>
            <a:r>
              <a:rPr lang="en-US" altLang="zh-CN" sz="2000" dirty="0"/>
              <a:t>&lt;=</a:t>
            </a:r>
            <a:r>
              <a:rPr lang="en-US" altLang="zh-CN" sz="2000" dirty="0" err="1"/>
              <a:t>L.length</a:t>
            </a:r>
            <a:r>
              <a:rPr lang="en-US" altLang="zh-CN" sz="2000" dirty="0"/>
              <a:t> &amp;&amp; !(*compare)(*p++,e))  </a:t>
            </a:r>
            <a:endParaRPr lang="en-US" altLang="zh-CN" sz="2000" dirty="0"/>
          </a:p>
          <a:p>
            <a:pPr marL="0" lvl="2" fontAlgn="base">
              <a:lnSpc>
                <a:spcPts val="2600"/>
              </a:lnSpc>
              <a:spcAft>
                <a:spcPct val="0"/>
              </a:spcAft>
              <a:buClrTx/>
              <a:buSzTx/>
            </a:pPr>
            <a:r>
              <a:rPr lang="en-US" altLang="zh-CN" sz="2000" dirty="0"/>
              <a:t>		++</a:t>
            </a:r>
            <a:r>
              <a:rPr lang="en-US" altLang="zh-CN" sz="2000" dirty="0" err="1"/>
              <a:t>i</a:t>
            </a:r>
            <a:r>
              <a:rPr lang="en-US" altLang="zh-CN" sz="2000" dirty="0"/>
              <a:t>;</a:t>
            </a:r>
            <a:endParaRPr lang="en-US" altLang="zh-CN" sz="2000" dirty="0"/>
          </a:p>
          <a:p>
            <a:pPr marL="0" lvl="2" fontAlgn="base">
              <a:lnSpc>
                <a:spcPts val="2600"/>
              </a:lnSpc>
              <a:spcAft>
                <a:spcPct val="0"/>
              </a:spcAft>
              <a:buClrTx/>
              <a:buSzTx/>
            </a:pPr>
            <a:r>
              <a:rPr lang="en-US" altLang="zh-CN" sz="2000" dirty="0"/>
              <a:t>	if (</a:t>
            </a:r>
            <a:r>
              <a:rPr lang="en-US" altLang="zh-CN" sz="2000" dirty="0" err="1"/>
              <a:t>i</a:t>
            </a:r>
            <a:r>
              <a:rPr lang="en-US" altLang="zh-CN" sz="2000" dirty="0"/>
              <a:t>&lt;=</a:t>
            </a:r>
            <a:r>
              <a:rPr lang="en-US" altLang="zh-CN" sz="2000" dirty="0" err="1"/>
              <a:t>L.length</a:t>
            </a:r>
            <a:r>
              <a:rPr lang="en-US" altLang="zh-CN" sz="2000" dirty="0"/>
              <a:t>)   return </a:t>
            </a:r>
            <a:r>
              <a:rPr lang="en-US" altLang="zh-CN" sz="2000" dirty="0" err="1"/>
              <a:t>i</a:t>
            </a:r>
            <a:r>
              <a:rPr lang="en-US" altLang="zh-CN" sz="2000" dirty="0"/>
              <a:t>;</a:t>
            </a:r>
            <a:endParaRPr lang="en-US" altLang="zh-CN" sz="2000" dirty="0"/>
          </a:p>
          <a:p>
            <a:pPr marL="0" lvl="2" fontAlgn="base">
              <a:lnSpc>
                <a:spcPts val="2600"/>
              </a:lnSpc>
              <a:spcAft>
                <a:spcPct val="0"/>
              </a:spcAft>
              <a:buClrTx/>
              <a:buSzTx/>
            </a:pPr>
            <a:r>
              <a:rPr lang="en-US" altLang="zh-CN" sz="2000" dirty="0"/>
              <a:t>	else  return 0;</a:t>
            </a:r>
            <a:endParaRPr lang="en-US" altLang="zh-CN" sz="2000" dirty="0"/>
          </a:p>
          <a:p>
            <a:pPr marL="0" lvl="2" fontAlgn="base">
              <a:lnSpc>
                <a:spcPts val="2600"/>
              </a:lnSpc>
              <a:spcAft>
                <a:spcPct val="0"/>
              </a:spcAft>
              <a:buClrTx/>
              <a:buSzTx/>
            </a:pPr>
            <a:r>
              <a:rPr lang="en-US" altLang="zh-CN" sz="2000" dirty="0"/>
              <a:t>} </a:t>
            </a:r>
            <a:endParaRPr lang="zh-CN" altLang="en-US" sz="2000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2.2 </a:t>
            </a:r>
            <a:r>
              <a:rPr lang="zh-CN" altLang="en-US" dirty="0"/>
              <a:t>线性表的顺序表示和实现</a:t>
            </a:r>
            <a:endParaRPr lang="zh-CN" altLang="en-US" dirty="0"/>
          </a:p>
        </p:txBody>
      </p:sp>
      <p:grpSp>
        <p:nvGrpSpPr>
          <p:cNvPr id="4" name="组合 3"/>
          <p:cNvGrpSpPr/>
          <p:nvPr/>
        </p:nvGrpSpPr>
        <p:grpSpPr>
          <a:xfrm>
            <a:off x="4289132" y="2760828"/>
            <a:ext cx="1626767" cy="431515"/>
            <a:chOff x="6143949" y="2977858"/>
            <a:chExt cx="1897914" cy="575353"/>
          </a:xfr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path path="circle">
              <a:fillToRect l="100000" b="100000"/>
            </a:path>
            <a:tileRect t="-100000" r="-100000"/>
          </a:gradFill>
        </p:grpSpPr>
        <p:sp>
          <p:nvSpPr>
            <p:cNvPr id="5" name="矩形标注 4"/>
            <p:cNvSpPr/>
            <p:nvPr/>
          </p:nvSpPr>
          <p:spPr>
            <a:xfrm>
              <a:off x="6143949" y="2977858"/>
              <a:ext cx="1897914" cy="575353"/>
            </a:xfrm>
            <a:prstGeom prst="wedgeRectCallout">
              <a:avLst>
                <a:gd name="adj1" fmla="val -151414"/>
                <a:gd name="adj2" fmla="val -40129"/>
              </a:avLst>
            </a:prstGeom>
            <a:grpFill/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6" name="文本框 5"/>
            <p:cNvSpPr txBox="1"/>
            <p:nvPr/>
          </p:nvSpPr>
          <p:spPr>
            <a:xfrm>
              <a:off x="6194752" y="3073399"/>
              <a:ext cx="1822470" cy="446276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zh-CN" altLang="en-US" sz="1575" b="1" dirty="0">
                  <a:solidFill>
                    <a:srgbClr val="00194C"/>
                  </a:solidFill>
                  <a:latin typeface="华文楷体" panose="02010600040101010101" pitchFamily="2" charset="-122"/>
                  <a:ea typeface="华文楷体" panose="02010600040101010101" pitchFamily="2" charset="-122"/>
                </a:rPr>
                <a:t>时间复杂度</a:t>
              </a:r>
              <a:r>
                <a:rPr lang="en-US" altLang="zh-CN" sz="1500" b="1" dirty="0">
                  <a:solidFill>
                    <a:srgbClr val="FF0000"/>
                  </a:solidFill>
                </a:rPr>
                <a:t>O(n)</a:t>
              </a:r>
              <a:endParaRPr lang="zh-CN" altLang="en-US" sz="1500" b="1" dirty="0">
                <a:solidFill>
                  <a:srgbClr val="FF0000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5.</a:t>
            </a:r>
            <a:r>
              <a:rPr lang="zh-CN" altLang="en-US" dirty="0"/>
              <a:t>顺序表的合并</a:t>
            </a:r>
            <a:endParaRPr lang="en-US" altLang="zh-CN" dirty="0"/>
          </a:p>
          <a:p>
            <a:pPr lvl="2">
              <a:lnSpc>
                <a:spcPts val="2500"/>
              </a:lnSpc>
            </a:pPr>
            <a:r>
              <a:rPr lang="zh-CN" altLang="en-US" dirty="0"/>
              <a:t>例：有两个顺序表</a:t>
            </a:r>
            <a:r>
              <a:rPr lang="en-US" altLang="zh-CN" dirty="0"/>
              <a:t>LA</a:t>
            </a:r>
            <a:r>
              <a:rPr lang="zh-CN" altLang="en-US" dirty="0"/>
              <a:t>和</a:t>
            </a:r>
            <a:r>
              <a:rPr lang="en-US" altLang="zh-CN" dirty="0"/>
              <a:t>LB</a:t>
            </a:r>
            <a:r>
              <a:rPr lang="zh-CN" altLang="en-US" dirty="0"/>
              <a:t>，其元素均为非递减有序排列，编写一个算法，将它们合并成一个顺序表</a:t>
            </a:r>
            <a:r>
              <a:rPr lang="en-US" altLang="zh-CN" dirty="0"/>
              <a:t>LC</a:t>
            </a:r>
            <a:r>
              <a:rPr lang="zh-CN" altLang="en-US" dirty="0"/>
              <a:t>，要求</a:t>
            </a:r>
            <a:r>
              <a:rPr lang="en-US" altLang="zh-CN" dirty="0"/>
              <a:t>LC</a:t>
            </a:r>
            <a:r>
              <a:rPr lang="zh-CN" altLang="en-US" dirty="0"/>
              <a:t>也是非递减有序排列。例如</a:t>
            </a:r>
            <a:r>
              <a:rPr lang="en-US" altLang="zh-CN" dirty="0"/>
              <a:t>LA=(2, 2, 3)</a:t>
            </a:r>
            <a:r>
              <a:rPr lang="zh-CN" altLang="en-US" dirty="0"/>
              <a:t>，</a:t>
            </a:r>
            <a:r>
              <a:rPr lang="en-US" altLang="zh-CN" dirty="0"/>
              <a:t>LB=(1, 3, 3, 4)</a:t>
            </a:r>
            <a:r>
              <a:rPr lang="zh-CN" altLang="en-US" dirty="0"/>
              <a:t>，则</a:t>
            </a:r>
            <a:r>
              <a:rPr lang="en-US" altLang="zh-CN" dirty="0"/>
              <a:t>LC=(1, 2, 2,  3, 3, 3, 4)</a:t>
            </a:r>
            <a:r>
              <a:rPr lang="zh-CN" altLang="en-US" dirty="0"/>
              <a:t>。</a:t>
            </a:r>
            <a:endParaRPr lang="en-US" altLang="zh-CN" dirty="0"/>
          </a:p>
          <a:p>
            <a:pPr lvl="2">
              <a:lnSpc>
                <a:spcPts val="2500"/>
              </a:lnSpc>
            </a:pPr>
            <a:endParaRPr lang="en-US" altLang="zh-CN" dirty="0"/>
          </a:p>
          <a:p>
            <a:pPr lvl="2">
              <a:lnSpc>
                <a:spcPts val="2500"/>
              </a:lnSpc>
            </a:pPr>
            <a:r>
              <a:rPr lang="zh-CN" altLang="en-US" dirty="0"/>
              <a:t>算法思想：</a:t>
            </a:r>
            <a:endParaRPr lang="en-US" altLang="zh-CN" dirty="0"/>
          </a:p>
          <a:p>
            <a:pPr lvl="2">
              <a:lnSpc>
                <a:spcPts val="2500"/>
              </a:lnSpc>
            </a:pPr>
            <a:r>
              <a:rPr lang="zh-CN" altLang="en-US" dirty="0"/>
              <a:t>    设两个指针</a:t>
            </a:r>
            <a:r>
              <a:rPr lang="en-US" altLang="zh-CN" dirty="0" err="1"/>
              <a:t>i</a:t>
            </a:r>
            <a:r>
              <a:rPr lang="zh-CN" altLang="en-US" dirty="0"/>
              <a:t>、</a:t>
            </a:r>
            <a:r>
              <a:rPr lang="en-US" altLang="zh-CN" dirty="0"/>
              <a:t>j</a:t>
            </a:r>
            <a:r>
              <a:rPr lang="zh-CN" altLang="en-US" dirty="0"/>
              <a:t>分别指向表</a:t>
            </a:r>
            <a:r>
              <a:rPr lang="en-US" altLang="zh-CN" dirty="0"/>
              <a:t>LA</a:t>
            </a:r>
            <a:r>
              <a:rPr lang="zh-CN" altLang="en-US" dirty="0"/>
              <a:t>和</a:t>
            </a:r>
            <a:r>
              <a:rPr lang="en-US" altLang="zh-CN" dirty="0"/>
              <a:t>LB</a:t>
            </a:r>
            <a:r>
              <a:rPr lang="zh-CN" altLang="en-US" dirty="0"/>
              <a:t>中的元素，将所指元素中较小者插入到表</a:t>
            </a:r>
            <a:r>
              <a:rPr lang="en-US" altLang="zh-CN" dirty="0"/>
              <a:t>LC</a:t>
            </a:r>
            <a:r>
              <a:rPr lang="zh-CN" altLang="en-US" dirty="0"/>
              <a:t>中。</a:t>
            </a:r>
            <a:endParaRPr lang="en-US" altLang="zh-CN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2.2 </a:t>
            </a:r>
            <a:r>
              <a:rPr lang="zh-CN" altLang="en-US" dirty="0"/>
              <a:t>线性表的顺序表示和实现</a:t>
            </a:r>
            <a:endParaRPr lang="zh-CN" altLang="en-US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2">
              <a:lnSpc>
                <a:spcPct val="100000"/>
              </a:lnSpc>
            </a:pPr>
            <a:r>
              <a:rPr lang="en-US" altLang="zh-CN" sz="1900" dirty="0"/>
              <a:t>void</a:t>
            </a:r>
            <a:r>
              <a:rPr lang="en-US" altLang="zh-CN" sz="1900" b="0" dirty="0"/>
              <a:t> </a:t>
            </a:r>
            <a:r>
              <a:rPr lang="en-US" altLang="zh-CN" sz="1900" b="0" dirty="0" err="1"/>
              <a:t>MergeList_Sq</a:t>
            </a:r>
            <a:r>
              <a:rPr lang="en-US" altLang="zh-CN" sz="1900" b="0" dirty="0"/>
              <a:t>(</a:t>
            </a:r>
            <a:r>
              <a:rPr lang="en-US" altLang="zh-CN" sz="1900" b="0" dirty="0" err="1"/>
              <a:t>SqList</a:t>
            </a:r>
            <a:r>
              <a:rPr lang="en-US" altLang="zh-CN" sz="1900" b="0" dirty="0"/>
              <a:t> La, </a:t>
            </a:r>
            <a:r>
              <a:rPr lang="en-US" altLang="zh-CN" sz="1900" b="0" dirty="0" err="1"/>
              <a:t>SqList</a:t>
            </a:r>
            <a:r>
              <a:rPr lang="en-US" altLang="zh-CN" sz="1900" b="0" dirty="0"/>
              <a:t> </a:t>
            </a:r>
            <a:r>
              <a:rPr lang="en-US" altLang="zh-CN" sz="1900" b="0" dirty="0" err="1"/>
              <a:t>Lb</a:t>
            </a:r>
            <a:r>
              <a:rPr lang="en-US" altLang="zh-CN" sz="1900" b="0" dirty="0"/>
              <a:t>, </a:t>
            </a:r>
            <a:r>
              <a:rPr lang="en-US" altLang="zh-CN" sz="1900" b="0" dirty="0" err="1"/>
              <a:t>SqList</a:t>
            </a:r>
            <a:r>
              <a:rPr lang="en-US" altLang="zh-CN" sz="1900" b="0" dirty="0"/>
              <a:t> &amp;</a:t>
            </a:r>
            <a:r>
              <a:rPr lang="en-US" altLang="zh-CN" sz="1900" b="0" dirty="0" err="1"/>
              <a:t>Lc</a:t>
            </a:r>
            <a:r>
              <a:rPr lang="en-US" altLang="zh-CN" sz="1900" b="0" dirty="0"/>
              <a:t> ){</a:t>
            </a:r>
            <a:endParaRPr lang="en-US" altLang="zh-CN" sz="1900" b="0" dirty="0"/>
          </a:p>
          <a:p>
            <a:pPr lvl="2">
              <a:lnSpc>
                <a:spcPct val="100000"/>
              </a:lnSpc>
            </a:pPr>
            <a:r>
              <a:rPr lang="en-US" altLang="zh-CN" sz="1900" b="0" dirty="0"/>
              <a:t>pa=</a:t>
            </a:r>
            <a:r>
              <a:rPr lang="en-US" altLang="zh-CN" sz="1900" b="0" dirty="0" err="1"/>
              <a:t>La.elem</a:t>
            </a:r>
            <a:r>
              <a:rPr lang="en-US" altLang="zh-CN" sz="1900" b="0" dirty="0"/>
              <a:t>; </a:t>
            </a:r>
            <a:r>
              <a:rPr lang="en-US" altLang="zh-CN" sz="1900" b="0" dirty="0" err="1"/>
              <a:t>pb</a:t>
            </a:r>
            <a:r>
              <a:rPr lang="en-US" altLang="zh-CN" sz="1900" b="0" dirty="0"/>
              <a:t>=</a:t>
            </a:r>
            <a:r>
              <a:rPr lang="en-US" altLang="zh-CN" sz="1900" b="0" dirty="0" err="1"/>
              <a:t>Lb.elem</a:t>
            </a:r>
            <a:r>
              <a:rPr lang="en-US" altLang="zh-CN" sz="1900" b="0" dirty="0"/>
              <a:t>;</a:t>
            </a:r>
            <a:endParaRPr lang="en-US" altLang="zh-CN" sz="1900" b="0" dirty="0"/>
          </a:p>
          <a:p>
            <a:pPr lvl="2">
              <a:lnSpc>
                <a:spcPct val="100000"/>
              </a:lnSpc>
            </a:pPr>
            <a:r>
              <a:rPr lang="en-US" altLang="zh-CN" sz="1900" b="0" dirty="0" err="1"/>
              <a:t>Lc.listsize</a:t>
            </a:r>
            <a:r>
              <a:rPr lang="en-US" altLang="zh-CN" sz="1900" b="0" dirty="0"/>
              <a:t>=</a:t>
            </a:r>
            <a:r>
              <a:rPr lang="en-US" altLang="zh-CN" sz="1900" b="0" dirty="0" err="1"/>
              <a:t>Lc.length</a:t>
            </a:r>
            <a:r>
              <a:rPr lang="en-US" altLang="zh-CN" sz="1900" b="0" dirty="0"/>
              <a:t>=</a:t>
            </a:r>
            <a:r>
              <a:rPr lang="en-US" altLang="zh-CN" sz="1900" b="0" dirty="0" err="1"/>
              <a:t>La.length+Lb.length</a:t>
            </a:r>
            <a:r>
              <a:rPr lang="en-US" altLang="zh-CN" sz="1900" b="0" dirty="0"/>
              <a:t>;</a:t>
            </a:r>
            <a:endParaRPr lang="en-US" altLang="zh-CN" sz="1900" b="0" dirty="0"/>
          </a:p>
          <a:p>
            <a:pPr lvl="2">
              <a:lnSpc>
                <a:spcPct val="100000"/>
              </a:lnSpc>
            </a:pPr>
            <a:r>
              <a:rPr lang="en-US" altLang="zh-CN" sz="1900" b="0" dirty="0"/>
              <a:t>pc=</a:t>
            </a:r>
            <a:r>
              <a:rPr lang="en-US" altLang="zh-CN" sz="1900" b="0" dirty="0" err="1"/>
              <a:t>Lc.elem</a:t>
            </a:r>
            <a:r>
              <a:rPr lang="en-US" altLang="zh-CN" sz="1900" b="0" dirty="0"/>
              <a:t>=(</a:t>
            </a:r>
            <a:r>
              <a:rPr lang="en-US" altLang="zh-CN" sz="1900" b="0" dirty="0" err="1"/>
              <a:t>ElemType</a:t>
            </a:r>
            <a:r>
              <a:rPr lang="en-US" altLang="zh-CN" sz="1900" b="0" dirty="0"/>
              <a:t>*)</a:t>
            </a:r>
            <a:r>
              <a:rPr lang="en-US" altLang="zh-CN" sz="1900" dirty="0" err="1"/>
              <a:t>malloc</a:t>
            </a:r>
            <a:r>
              <a:rPr lang="en-US" altLang="zh-CN" sz="1900" b="0" dirty="0"/>
              <a:t>(</a:t>
            </a:r>
            <a:r>
              <a:rPr lang="en-US" altLang="zh-CN" sz="1900" b="0" dirty="0" err="1"/>
              <a:t>Lc.listsize</a:t>
            </a:r>
            <a:r>
              <a:rPr lang="en-US" altLang="zh-CN" sz="1900" b="0" dirty="0"/>
              <a:t>*</a:t>
            </a:r>
            <a:r>
              <a:rPr lang="en-US" altLang="zh-CN" sz="1900" dirty="0" err="1"/>
              <a:t>sizeof</a:t>
            </a:r>
            <a:r>
              <a:rPr lang="en-US" altLang="zh-CN" sz="1900" b="0" dirty="0"/>
              <a:t>(</a:t>
            </a:r>
            <a:r>
              <a:rPr lang="en-US" altLang="zh-CN" sz="1900" b="0" dirty="0" err="1"/>
              <a:t>ElemTpe</a:t>
            </a:r>
            <a:r>
              <a:rPr lang="en-US" altLang="zh-CN" sz="1900" b="0" dirty="0"/>
              <a:t>));</a:t>
            </a:r>
            <a:endParaRPr lang="en-US" altLang="zh-CN" sz="1900" b="0" dirty="0"/>
          </a:p>
          <a:p>
            <a:pPr lvl="2">
              <a:lnSpc>
                <a:spcPct val="100000"/>
              </a:lnSpc>
            </a:pPr>
            <a:r>
              <a:rPr lang="en-US" altLang="zh-CN" sz="1900" b="0" dirty="0"/>
              <a:t>if (!</a:t>
            </a:r>
            <a:r>
              <a:rPr lang="en-US" altLang="zh-CN" sz="1900" b="0" dirty="0" err="1"/>
              <a:t>Lc.elem</a:t>
            </a:r>
            <a:r>
              <a:rPr lang="en-US" altLang="zh-CN" sz="1900" b="0" dirty="0"/>
              <a:t>) </a:t>
            </a:r>
            <a:r>
              <a:rPr lang="en-US" altLang="zh-CN" sz="1900" dirty="0"/>
              <a:t>exit</a:t>
            </a:r>
            <a:r>
              <a:rPr lang="en-US" altLang="zh-CN" sz="1900" b="0" dirty="0"/>
              <a:t> (OVERFLOW);</a:t>
            </a:r>
            <a:endParaRPr lang="en-US" altLang="zh-CN" sz="1900" b="0" dirty="0"/>
          </a:p>
          <a:p>
            <a:pPr lvl="2">
              <a:lnSpc>
                <a:spcPct val="100000"/>
              </a:lnSpc>
            </a:pPr>
            <a:r>
              <a:rPr lang="en-US" altLang="zh-CN" sz="1900" b="0" dirty="0" err="1"/>
              <a:t>pa_last</a:t>
            </a:r>
            <a:r>
              <a:rPr lang="en-US" altLang="zh-CN" sz="1900" b="0" dirty="0"/>
              <a:t>=La.elem+La.length-1;</a:t>
            </a:r>
            <a:endParaRPr lang="en-US" altLang="zh-CN" sz="1900" b="0" dirty="0"/>
          </a:p>
          <a:p>
            <a:pPr lvl="2">
              <a:lnSpc>
                <a:spcPct val="100000"/>
              </a:lnSpc>
            </a:pPr>
            <a:r>
              <a:rPr lang="en-US" altLang="zh-CN" sz="1900" b="0" dirty="0" err="1"/>
              <a:t>pb_last</a:t>
            </a:r>
            <a:r>
              <a:rPr lang="en-US" altLang="zh-CN" sz="1900" b="0" dirty="0"/>
              <a:t>=Lb.elem+Lb.length-1;</a:t>
            </a:r>
            <a:endParaRPr lang="en-US" altLang="zh-CN" sz="1900" b="0" dirty="0"/>
          </a:p>
          <a:p>
            <a:pPr lvl="2">
              <a:lnSpc>
                <a:spcPct val="100000"/>
              </a:lnSpc>
            </a:pPr>
            <a:r>
              <a:rPr lang="en-US" altLang="zh-CN" sz="1900" b="0" dirty="0">
                <a:solidFill>
                  <a:srgbClr val="FF0000"/>
                </a:solidFill>
              </a:rPr>
              <a:t>while (pa&lt;=</a:t>
            </a:r>
            <a:r>
              <a:rPr lang="en-US" altLang="zh-CN" sz="1900" b="0" dirty="0" err="1">
                <a:solidFill>
                  <a:srgbClr val="FF0000"/>
                </a:solidFill>
              </a:rPr>
              <a:t>pa_last</a:t>
            </a:r>
            <a:r>
              <a:rPr lang="en-US" altLang="zh-CN" sz="1900" b="0" dirty="0">
                <a:solidFill>
                  <a:srgbClr val="FF0000"/>
                </a:solidFill>
              </a:rPr>
              <a:t> </a:t>
            </a:r>
            <a:r>
              <a:rPr lang="en-US" altLang="zh-CN" sz="1900" dirty="0">
                <a:solidFill>
                  <a:srgbClr val="FF0000"/>
                </a:solidFill>
              </a:rPr>
              <a:t>&amp;&amp; </a:t>
            </a:r>
            <a:r>
              <a:rPr lang="en-US" altLang="zh-CN" sz="1900" b="0" dirty="0" err="1">
                <a:solidFill>
                  <a:srgbClr val="FF0000"/>
                </a:solidFill>
              </a:rPr>
              <a:t>pb</a:t>
            </a:r>
            <a:r>
              <a:rPr lang="en-US" altLang="zh-CN" sz="1900" b="0" dirty="0">
                <a:solidFill>
                  <a:srgbClr val="FF0000"/>
                </a:solidFill>
              </a:rPr>
              <a:t>&lt;=</a:t>
            </a:r>
            <a:r>
              <a:rPr lang="en-US" altLang="zh-CN" sz="1900" b="0" dirty="0" err="1">
                <a:solidFill>
                  <a:srgbClr val="FF0000"/>
                </a:solidFill>
              </a:rPr>
              <a:t>pb_last</a:t>
            </a:r>
            <a:r>
              <a:rPr lang="en-US" altLang="zh-CN" sz="1900" b="0" dirty="0">
                <a:solidFill>
                  <a:srgbClr val="FF0000"/>
                </a:solidFill>
              </a:rPr>
              <a:t>){</a:t>
            </a:r>
            <a:endParaRPr lang="en-US" altLang="zh-CN" sz="1900" b="0" dirty="0">
              <a:solidFill>
                <a:srgbClr val="FF0000"/>
              </a:solidFill>
            </a:endParaRPr>
          </a:p>
          <a:p>
            <a:pPr lvl="2">
              <a:lnSpc>
                <a:spcPct val="100000"/>
              </a:lnSpc>
            </a:pPr>
            <a:r>
              <a:rPr lang="en-US" altLang="zh-CN" sz="1900" b="0" dirty="0"/>
              <a:t>   if (*pa&lt;=*</a:t>
            </a:r>
            <a:r>
              <a:rPr lang="en-US" altLang="zh-CN" sz="1900" b="0" dirty="0" err="1"/>
              <a:t>pb</a:t>
            </a:r>
            <a:r>
              <a:rPr lang="en-US" altLang="zh-CN" sz="1900" b="0" dirty="0"/>
              <a:t>) *pc++=*pa++;</a:t>
            </a:r>
            <a:endParaRPr lang="en-US" altLang="zh-CN" sz="1900" b="0" dirty="0"/>
          </a:p>
          <a:p>
            <a:pPr lvl="2">
              <a:lnSpc>
                <a:spcPct val="100000"/>
              </a:lnSpc>
            </a:pPr>
            <a:r>
              <a:rPr lang="en-US" altLang="zh-CN" sz="1900" b="0" dirty="0"/>
              <a:t>   else *pc++=*</a:t>
            </a:r>
            <a:r>
              <a:rPr lang="en-US" altLang="zh-CN" sz="1900" b="0" dirty="0" err="1"/>
              <a:t>pb</a:t>
            </a:r>
            <a:r>
              <a:rPr lang="en-US" altLang="zh-CN" sz="1900" b="0" dirty="0"/>
              <a:t>++;</a:t>
            </a:r>
            <a:endParaRPr lang="en-US" altLang="zh-CN" sz="1900" b="0" dirty="0"/>
          </a:p>
          <a:p>
            <a:pPr lvl="2">
              <a:lnSpc>
                <a:spcPct val="100000"/>
              </a:lnSpc>
            </a:pPr>
            <a:r>
              <a:rPr lang="en-US" altLang="zh-CN" sz="1900" b="0" dirty="0"/>
              <a:t>}</a:t>
            </a:r>
            <a:endParaRPr lang="en-US" altLang="zh-CN" sz="1900" b="0" dirty="0"/>
          </a:p>
          <a:p>
            <a:pPr lvl="2">
              <a:lnSpc>
                <a:spcPct val="100000"/>
              </a:lnSpc>
            </a:pPr>
            <a:r>
              <a:rPr lang="en-US" altLang="zh-CN" sz="1900" b="0" dirty="0"/>
              <a:t>while(pa&lt;=</a:t>
            </a:r>
            <a:r>
              <a:rPr lang="en-US" altLang="zh-CN" sz="1900" b="0" dirty="0" err="1"/>
              <a:t>pa_last</a:t>
            </a:r>
            <a:r>
              <a:rPr lang="en-US" altLang="zh-CN" sz="1900" b="0" dirty="0"/>
              <a:t>) *pc++=*pa++;</a:t>
            </a:r>
            <a:endParaRPr lang="en-US" altLang="zh-CN" sz="1900" b="0" dirty="0"/>
          </a:p>
          <a:p>
            <a:pPr lvl="2">
              <a:lnSpc>
                <a:spcPct val="100000"/>
              </a:lnSpc>
            </a:pPr>
            <a:r>
              <a:rPr lang="en-US" altLang="zh-CN" sz="1900" b="0" dirty="0"/>
              <a:t>while(</a:t>
            </a:r>
            <a:r>
              <a:rPr lang="en-US" altLang="zh-CN" sz="1900" b="0" dirty="0" err="1"/>
              <a:t>pb</a:t>
            </a:r>
            <a:r>
              <a:rPr lang="en-US" altLang="zh-CN" sz="1900" b="0" dirty="0"/>
              <a:t>&lt;=</a:t>
            </a:r>
            <a:r>
              <a:rPr lang="en-US" altLang="zh-CN" sz="1900" b="0" dirty="0" err="1"/>
              <a:t>pb_last</a:t>
            </a:r>
            <a:r>
              <a:rPr lang="en-US" altLang="zh-CN" sz="1900" b="0" dirty="0"/>
              <a:t>) *pc++=*</a:t>
            </a:r>
            <a:r>
              <a:rPr lang="en-US" altLang="zh-CN" sz="1900" b="0" dirty="0" err="1"/>
              <a:t>pb</a:t>
            </a:r>
            <a:r>
              <a:rPr lang="en-US" altLang="zh-CN" sz="1900" b="0" dirty="0"/>
              <a:t>++;</a:t>
            </a:r>
            <a:endParaRPr lang="en-US" altLang="zh-CN" sz="1900" b="0" dirty="0"/>
          </a:p>
          <a:p>
            <a:pPr marL="135255" lvl="2" indent="-135255">
              <a:lnSpc>
                <a:spcPct val="100000"/>
              </a:lnSpc>
            </a:pPr>
            <a:r>
              <a:rPr lang="en-US" altLang="zh-CN" sz="1900" b="0" dirty="0"/>
              <a:t>} </a:t>
            </a:r>
            <a:endParaRPr lang="en-US" altLang="zh-CN" sz="1900" b="0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2.2 </a:t>
            </a:r>
            <a:r>
              <a:rPr lang="zh-CN" altLang="en-US" dirty="0"/>
              <a:t>线性表的顺序表示和实现</a:t>
            </a:r>
            <a:endParaRPr lang="zh-CN" altLang="en-US" dirty="0"/>
          </a:p>
        </p:txBody>
      </p:sp>
      <p:sp>
        <p:nvSpPr>
          <p:cNvPr id="4" name="矩形 2"/>
          <p:cNvSpPr>
            <a:spLocks noChangeArrowheads="1"/>
          </p:cNvSpPr>
          <p:nvPr/>
        </p:nvSpPr>
        <p:spPr bwMode="auto">
          <a:xfrm>
            <a:off x="4171950" y="2266811"/>
            <a:ext cx="255325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800" dirty="0">
                <a:solidFill>
                  <a:srgbClr val="FF0000"/>
                </a:solidFill>
              </a:rPr>
              <a:t>O(</a:t>
            </a:r>
            <a:r>
              <a:rPr lang="en-US" altLang="zh-CN" sz="1800" dirty="0" err="1">
                <a:solidFill>
                  <a:srgbClr val="FF0000"/>
                </a:solidFill>
              </a:rPr>
              <a:t>La.length+Lb.length</a:t>
            </a:r>
            <a:r>
              <a:rPr lang="en-US" altLang="zh-CN" sz="1800" dirty="0">
                <a:solidFill>
                  <a:srgbClr val="FF0000"/>
                </a:solidFill>
              </a:rPr>
              <a:t>)</a:t>
            </a:r>
            <a:endParaRPr lang="zh-CN" altLang="en-US" sz="1800" dirty="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优点：</a:t>
            </a:r>
            <a:endParaRPr lang="en-US" altLang="zh-CN" dirty="0"/>
          </a:p>
          <a:p>
            <a:pPr lvl="2"/>
            <a:r>
              <a:rPr lang="zh-CN" altLang="en-US" dirty="0"/>
              <a:t>（</a:t>
            </a:r>
            <a:r>
              <a:rPr lang="en-US" altLang="zh-CN" dirty="0"/>
              <a:t>1</a:t>
            </a:r>
            <a:r>
              <a:rPr lang="zh-CN" altLang="en-US" dirty="0"/>
              <a:t>）无需增加额外的存储空间；</a:t>
            </a:r>
            <a:endParaRPr lang="zh-CN" altLang="en-US" dirty="0"/>
          </a:p>
          <a:p>
            <a:pPr lvl="2"/>
            <a:r>
              <a:rPr lang="zh-CN" altLang="en-US" dirty="0"/>
              <a:t>（</a:t>
            </a:r>
            <a:r>
              <a:rPr lang="en-US" altLang="zh-CN" dirty="0"/>
              <a:t>2</a:t>
            </a:r>
            <a:r>
              <a:rPr lang="zh-CN" altLang="en-US" dirty="0"/>
              <a:t>）可随机存取表中任一位置的元素。</a:t>
            </a:r>
            <a:endParaRPr lang="zh-CN" altLang="en-US" dirty="0"/>
          </a:p>
          <a:p>
            <a:r>
              <a:rPr lang="zh-CN" altLang="en-US" dirty="0"/>
              <a:t>缺点：  </a:t>
            </a:r>
            <a:endParaRPr lang="zh-CN" altLang="en-US" dirty="0"/>
          </a:p>
          <a:p>
            <a:pPr lvl="2"/>
            <a:r>
              <a:rPr lang="zh-CN" altLang="en-US" dirty="0"/>
              <a:t>（</a:t>
            </a:r>
            <a:r>
              <a:rPr lang="en-US" altLang="zh-CN" dirty="0"/>
              <a:t>1</a:t>
            </a:r>
            <a:r>
              <a:rPr lang="zh-CN" altLang="en-US" dirty="0"/>
              <a:t>）插入或删除运算不方便</a:t>
            </a:r>
            <a:r>
              <a:rPr lang="en-US" altLang="zh-CN" dirty="0"/>
              <a:t>;</a:t>
            </a:r>
            <a:endParaRPr lang="en-US" altLang="zh-CN" dirty="0"/>
          </a:p>
          <a:p>
            <a:pPr lvl="2"/>
            <a:r>
              <a:rPr lang="zh-CN" altLang="en-US" dirty="0"/>
              <a:t>（</a:t>
            </a:r>
            <a:r>
              <a:rPr lang="en-US" altLang="zh-CN" dirty="0"/>
              <a:t>2</a:t>
            </a:r>
            <a:r>
              <a:rPr lang="zh-CN" altLang="en-US" dirty="0"/>
              <a:t>）预分配空间（浪费）；</a:t>
            </a:r>
            <a:endParaRPr lang="zh-CN" altLang="en-US" dirty="0"/>
          </a:p>
          <a:p>
            <a:pPr lvl="2"/>
            <a:r>
              <a:rPr lang="zh-CN" altLang="en-US" dirty="0"/>
              <a:t>（</a:t>
            </a:r>
            <a:r>
              <a:rPr lang="en-US" altLang="zh-CN" dirty="0"/>
              <a:t>3</a:t>
            </a:r>
            <a:r>
              <a:rPr lang="zh-CN" altLang="en-US" dirty="0"/>
              <a:t>）表的扩充不方便。 </a:t>
            </a:r>
            <a:endParaRPr lang="zh-CN" altLang="en-US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2.2 </a:t>
            </a:r>
            <a:r>
              <a:rPr lang="zh-CN" altLang="en-US" dirty="0"/>
              <a:t>线性表的顺序表示和实现</a:t>
            </a:r>
            <a:endParaRPr lang="zh-CN" altLang="en-US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dirty="0"/>
              <a:t>链表</a:t>
            </a:r>
            <a:endParaRPr lang="en-US" altLang="zh-CN" dirty="0"/>
          </a:p>
          <a:p>
            <a:pPr lvl="2">
              <a:lnSpc>
                <a:spcPct val="100000"/>
              </a:lnSpc>
            </a:pPr>
            <a:r>
              <a:rPr lang="zh-CN" altLang="en-US" dirty="0"/>
              <a:t>逻辑上相邻，物理位置</a:t>
            </a:r>
            <a:r>
              <a:rPr lang="zh-CN" altLang="en-US" dirty="0">
                <a:solidFill>
                  <a:srgbClr val="FF0000"/>
                </a:solidFill>
              </a:rPr>
              <a:t>不一定</a:t>
            </a:r>
            <a:r>
              <a:rPr lang="zh-CN" altLang="en-US" dirty="0"/>
              <a:t>相邻</a:t>
            </a:r>
            <a:endParaRPr lang="en-US" altLang="zh-CN" dirty="0"/>
          </a:p>
          <a:p>
            <a:pPr marL="358140" lvl="2" indent="-257175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zh-CN" altLang="en-US" dirty="0"/>
              <a:t>用一组</a:t>
            </a:r>
            <a:r>
              <a:rPr lang="zh-CN" altLang="en-US" dirty="0">
                <a:solidFill>
                  <a:srgbClr val="FF0000"/>
                </a:solidFill>
              </a:rPr>
              <a:t>任意</a:t>
            </a:r>
            <a:r>
              <a:rPr lang="zh-CN" altLang="en-US" dirty="0"/>
              <a:t>的存储单元存储信息。</a:t>
            </a:r>
            <a:endParaRPr lang="en-US" altLang="zh-CN" dirty="0"/>
          </a:p>
          <a:p>
            <a:pPr marL="358140" lvl="2" indent="-257175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zh-CN" altLang="en-US" dirty="0"/>
              <a:t>每个数据元素，除存储自身信息外还需</a:t>
            </a:r>
            <a:r>
              <a:rPr lang="zh-CN" altLang="en-US" dirty="0">
                <a:solidFill>
                  <a:srgbClr val="FF0000"/>
                </a:solidFill>
              </a:rPr>
              <a:t>存储它的直接前驱或者直接后继的地址信息。</a:t>
            </a:r>
            <a:endParaRPr lang="en-US" altLang="zh-CN" dirty="0">
              <a:solidFill>
                <a:srgbClr val="FF0000"/>
              </a:solidFill>
            </a:endParaRPr>
          </a:p>
          <a:p>
            <a:pPr marL="358140" lvl="2" indent="-257175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zh-CN" altLang="zh-CN" dirty="0"/>
              <a:t>链表</a:t>
            </a:r>
            <a:r>
              <a:rPr lang="zh-CN" altLang="en-US" dirty="0"/>
              <a:t>又分</a:t>
            </a:r>
            <a:r>
              <a:rPr lang="zh-CN" altLang="zh-CN" dirty="0">
                <a:solidFill>
                  <a:srgbClr val="FF0000"/>
                </a:solidFill>
              </a:rPr>
              <a:t>单向链表</a:t>
            </a:r>
            <a:r>
              <a:rPr lang="zh-CN" altLang="en-US" dirty="0">
                <a:solidFill>
                  <a:schemeClr val="tx1"/>
                </a:solidFill>
              </a:rPr>
              <a:t>、</a:t>
            </a:r>
            <a:r>
              <a:rPr lang="zh-CN" altLang="zh-CN" dirty="0">
                <a:solidFill>
                  <a:srgbClr val="FF0000"/>
                </a:solidFill>
              </a:rPr>
              <a:t>双向链表</a:t>
            </a:r>
            <a:r>
              <a:rPr lang="zh-CN" altLang="zh-CN" dirty="0"/>
              <a:t>以及</a:t>
            </a:r>
            <a:r>
              <a:rPr lang="zh-CN" altLang="zh-CN" dirty="0">
                <a:solidFill>
                  <a:srgbClr val="FF0000"/>
                </a:solidFill>
              </a:rPr>
              <a:t>循环链表</a:t>
            </a:r>
            <a:r>
              <a:rPr lang="zh-CN" altLang="en-US" dirty="0"/>
              <a:t>等</a:t>
            </a:r>
            <a:endParaRPr lang="en-US" altLang="zh-CN" dirty="0"/>
          </a:p>
          <a:p>
            <a:pPr marL="100965" lvl="2">
              <a:lnSpc>
                <a:spcPct val="100000"/>
              </a:lnSpc>
            </a:pPr>
            <a:endParaRPr lang="zh-CN" altLang="zh-CN" dirty="0"/>
          </a:p>
          <a:p>
            <a:pPr marL="0" lvl="2" eaLnBrk="0" fontAlgn="base" hangingPunct="0">
              <a:lnSpc>
                <a:spcPct val="100000"/>
              </a:lnSpc>
              <a:buClrTx/>
              <a:buSzTx/>
            </a:pPr>
            <a:r>
              <a:rPr lang="zh-CN" altLang="en-US" sz="2300" dirty="0">
                <a:solidFill>
                  <a:srgbClr val="800000"/>
                </a:solidFill>
                <a:latin typeface="Times New Roman" panose="02020603050405020304" pitchFamily="18" charset="0"/>
                <a:ea typeface="黑体" panose="02010609060101010101" pitchFamily="49" charset="-122"/>
              </a:rPr>
              <a:t>单链表</a:t>
            </a:r>
            <a:endParaRPr lang="en-US" altLang="zh-CN" sz="2300" dirty="0">
              <a:solidFill>
                <a:srgbClr val="800000"/>
              </a:solidFill>
              <a:latin typeface="Times New Roman" panose="02020603050405020304" pitchFamily="18" charset="0"/>
              <a:ea typeface="黑体" panose="02010609060101010101" pitchFamily="49" charset="-122"/>
            </a:endParaRPr>
          </a:p>
          <a:p>
            <a:pPr marL="355600" lvl="2" indent="-255905">
              <a:lnSpc>
                <a:spcPct val="100000"/>
              </a:lnSpc>
              <a:buFont typeface="Wingdings" panose="05000000000000000000" pitchFamily="2" charset="2"/>
              <a:buChar char="Ø"/>
              <a:defRPr/>
            </a:pPr>
            <a:r>
              <a:rPr lang="zh-CN" altLang="zh-CN" dirty="0"/>
              <a:t>结点</a:t>
            </a:r>
            <a:r>
              <a:rPr lang="zh-CN" altLang="en-US" dirty="0"/>
              <a:t>	</a:t>
            </a:r>
            <a:endParaRPr lang="zh-CN" altLang="en-US" dirty="0"/>
          </a:p>
          <a:p>
            <a:pPr marL="443230" lvl="3" indent="-87630">
              <a:lnSpc>
                <a:spcPct val="100000"/>
              </a:lnSpc>
              <a:buFont typeface="Wingdings" panose="05000000000000000000" pitchFamily="2" charset="2"/>
              <a:buChar char="Ø"/>
              <a:defRPr/>
            </a:pPr>
            <a:r>
              <a:rPr lang="zh-CN" altLang="zh-CN" dirty="0"/>
              <a:t>数据域：元素本身信息</a:t>
            </a:r>
            <a:endParaRPr lang="zh-CN" altLang="zh-CN" dirty="0"/>
          </a:p>
          <a:p>
            <a:pPr marL="443230" lvl="3" indent="-87630">
              <a:lnSpc>
                <a:spcPct val="100000"/>
              </a:lnSpc>
              <a:buFont typeface="Wingdings" panose="05000000000000000000" pitchFamily="2" charset="2"/>
              <a:buChar char="Ø"/>
              <a:defRPr/>
            </a:pPr>
            <a:r>
              <a:rPr lang="zh-CN" altLang="zh-CN" dirty="0"/>
              <a:t>指针域：指示直接后继的存储位置</a:t>
            </a:r>
            <a:endParaRPr lang="en-US" altLang="zh-CN" dirty="0">
              <a:solidFill>
                <a:srgbClr val="FF0000"/>
              </a:solidFill>
            </a:endParaRPr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2.3 </a:t>
            </a:r>
            <a:r>
              <a:rPr lang="zh-CN" altLang="en-US" dirty="0"/>
              <a:t>线性表的链式表示和实现</a:t>
            </a:r>
            <a:endParaRPr lang="zh-CN" altLang="en-US" dirty="0"/>
          </a:p>
        </p:txBody>
      </p:sp>
      <p:graphicFrame>
        <p:nvGraphicFramePr>
          <p:cNvPr id="4" name="Object 1"/>
          <p:cNvGraphicFramePr>
            <a:graphicFrameLocks noChangeAspect="1"/>
          </p:cNvGraphicFramePr>
          <p:nvPr/>
        </p:nvGraphicFramePr>
        <p:xfrm>
          <a:off x="2952916" y="2898239"/>
          <a:ext cx="3604448" cy="79491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668" name="VISIO" r:id="rId1" imgW="2583180" imgH="571500" progId="Visio.Drawing.11">
                  <p:embed/>
                </p:oleObj>
              </mc:Choice>
              <mc:Fallback>
                <p:oleObj name="VISIO" r:id="rId1" imgW="2583180" imgH="571500" progId="Visio.Drawing.11">
                  <p:embed/>
                  <p:pic>
                    <p:nvPicPr>
                      <p:cNvPr id="0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52916" y="2898239"/>
                        <a:ext cx="3604448" cy="79491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单链表：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pPr lvl="2"/>
            <a:r>
              <a:rPr lang="zh-CN" altLang="en-US" dirty="0"/>
              <a:t>特点：</a:t>
            </a:r>
            <a:endParaRPr lang="en-US" altLang="zh-CN" dirty="0"/>
          </a:p>
          <a:p>
            <a:pPr marL="358140" lvl="2" indent="-257175">
              <a:buFont typeface="Wingdings" panose="05000000000000000000" pitchFamily="2" charset="2"/>
              <a:buChar char="Ø"/>
            </a:pPr>
            <a:r>
              <a:rPr lang="zh-CN" altLang="en-US" dirty="0"/>
              <a:t>每个结点只存后继元素的地址；</a:t>
            </a:r>
            <a:endParaRPr lang="en-US" altLang="zh-CN" dirty="0"/>
          </a:p>
          <a:p>
            <a:pPr marL="358140" lvl="2" indent="-257175">
              <a:buFont typeface="Wingdings" panose="05000000000000000000" pitchFamily="2" charset="2"/>
              <a:buChar char="Ø"/>
            </a:pPr>
            <a:r>
              <a:rPr lang="zh-CN" altLang="en-US" dirty="0"/>
              <a:t>第一个结点无前驱，设头指针</a:t>
            </a:r>
            <a:r>
              <a:rPr lang="en-US" altLang="zh-CN" dirty="0"/>
              <a:t>L</a:t>
            </a:r>
            <a:r>
              <a:rPr lang="zh-CN" altLang="en-US" dirty="0"/>
              <a:t>指向它；</a:t>
            </a:r>
            <a:endParaRPr lang="en-US" altLang="zh-CN" dirty="0"/>
          </a:p>
          <a:p>
            <a:pPr marL="358140" lvl="2" indent="-257175">
              <a:buFont typeface="Wingdings" panose="05000000000000000000" pitchFamily="2" charset="2"/>
              <a:buChar char="Ø"/>
            </a:pPr>
            <a:r>
              <a:rPr lang="zh-CN" altLang="en-US" dirty="0"/>
              <a:t>最后一个结点无后继，指针域为“空”；</a:t>
            </a:r>
            <a:endParaRPr lang="en-US" altLang="zh-CN" dirty="0"/>
          </a:p>
          <a:p>
            <a:pPr marL="358140" lvl="2" indent="-257175">
              <a:buFont typeface="Wingdings" panose="05000000000000000000" pitchFamily="2" charset="2"/>
              <a:buChar char="Ø"/>
            </a:pPr>
            <a:r>
              <a:rPr lang="zh-CN" altLang="en-US" dirty="0"/>
              <a:t>整个链表的存取必须从</a:t>
            </a:r>
            <a:r>
              <a:rPr lang="zh-CN" altLang="en-US" dirty="0">
                <a:solidFill>
                  <a:srgbClr val="FF0000"/>
                </a:solidFill>
              </a:rPr>
              <a:t>头指针</a:t>
            </a:r>
            <a:r>
              <a:rPr lang="zh-CN" altLang="en-US" dirty="0"/>
              <a:t>开始。</a:t>
            </a:r>
            <a:endParaRPr lang="zh-CN" altLang="en-US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2.3 </a:t>
            </a:r>
            <a:r>
              <a:rPr lang="zh-CN" altLang="en-US" dirty="0"/>
              <a:t>线性表的链式表示和实现</a:t>
            </a:r>
            <a:endParaRPr lang="zh-CN" altLang="en-US" dirty="0"/>
          </a:p>
        </p:txBody>
      </p:sp>
      <p:graphicFrame>
        <p:nvGraphicFramePr>
          <p:cNvPr id="5" name="表格 4"/>
          <p:cNvGraphicFramePr>
            <a:graphicFrameLocks noGrp="1"/>
          </p:cNvGraphicFramePr>
          <p:nvPr/>
        </p:nvGraphicFramePr>
        <p:xfrm>
          <a:off x="1193535" y="1376413"/>
          <a:ext cx="4350617" cy="3516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8453"/>
                <a:gridCol w="398094"/>
                <a:gridCol w="384548"/>
                <a:gridCol w="249436"/>
                <a:gridCol w="374154"/>
                <a:gridCol w="363761"/>
                <a:gridCol w="259830"/>
                <a:gridCol w="353368"/>
                <a:gridCol w="530051"/>
                <a:gridCol w="405333"/>
                <a:gridCol w="394939"/>
                <a:gridCol w="228650"/>
              </a:tblGrid>
              <a:tr h="35161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dirty="0">
                          <a:solidFill>
                            <a:schemeClr val="tx1"/>
                          </a:solidFill>
                        </a:rPr>
                        <a:t>L</a:t>
                      </a:r>
                      <a:endParaRPr lang="zh-CN" altLang="en-US" sz="15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5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dirty="0">
                          <a:solidFill>
                            <a:schemeClr val="tx1"/>
                          </a:solidFill>
                        </a:rPr>
                        <a:t>a</a:t>
                      </a:r>
                      <a:r>
                        <a:rPr lang="en-US" altLang="zh-CN" sz="1500" baseline="-25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CN" altLang="en-US" sz="1500" baseline="-250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5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5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dirty="0">
                          <a:solidFill>
                            <a:schemeClr val="tx1"/>
                          </a:solidFill>
                        </a:rPr>
                        <a:t>a</a:t>
                      </a:r>
                      <a:r>
                        <a:rPr lang="en-US" altLang="zh-CN" sz="1500" baseline="-250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CN" altLang="en-US" sz="1500" baseline="-250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5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5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50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zh-CN" altLang="en-US" sz="15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5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dirty="0">
                          <a:solidFill>
                            <a:schemeClr val="tx1"/>
                          </a:solidFill>
                        </a:rPr>
                        <a:t>a</a:t>
                      </a:r>
                      <a:r>
                        <a:rPr lang="en-US" altLang="zh-CN" sz="1500" baseline="-25000" dirty="0">
                          <a:solidFill>
                            <a:schemeClr val="tx1"/>
                          </a:solidFill>
                        </a:rPr>
                        <a:t>n</a:t>
                      </a:r>
                      <a:endParaRPr lang="zh-CN" altLang="en-US" sz="1500" baseline="-250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500" dirty="0">
                          <a:solidFill>
                            <a:schemeClr val="tx1"/>
                          </a:solidFill>
                        </a:rPr>
                        <a:t>˄</a:t>
                      </a:r>
                      <a:endParaRPr lang="zh-CN" altLang="en-US" sz="15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6" name="直接箭头连接符 5"/>
          <p:cNvCxnSpPr/>
          <p:nvPr/>
        </p:nvCxnSpPr>
        <p:spPr>
          <a:xfrm>
            <a:off x="1526106" y="1557088"/>
            <a:ext cx="45822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接箭头连接符 6"/>
          <p:cNvCxnSpPr/>
          <p:nvPr/>
        </p:nvCxnSpPr>
        <p:spPr>
          <a:xfrm>
            <a:off x="2518155" y="1566713"/>
            <a:ext cx="45822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箭头连接符 7"/>
          <p:cNvCxnSpPr/>
          <p:nvPr/>
        </p:nvCxnSpPr>
        <p:spPr>
          <a:xfrm>
            <a:off x="3487283" y="1570946"/>
            <a:ext cx="45822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箭头连接符 8"/>
          <p:cNvCxnSpPr/>
          <p:nvPr/>
        </p:nvCxnSpPr>
        <p:spPr>
          <a:xfrm>
            <a:off x="4282572" y="1574021"/>
            <a:ext cx="45822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单链表定义：</a:t>
            </a:r>
            <a:endParaRPr lang="en-US" altLang="zh-CN" dirty="0"/>
          </a:p>
          <a:p>
            <a:endParaRPr lang="en-US" altLang="zh-CN" dirty="0"/>
          </a:p>
          <a:p>
            <a:pPr lvl="2"/>
            <a:r>
              <a:rPr lang="en-US" altLang="zh-CN" dirty="0" err="1"/>
              <a:t>typedef</a:t>
            </a:r>
            <a:r>
              <a:rPr lang="en-US" altLang="zh-CN" dirty="0"/>
              <a:t> </a:t>
            </a:r>
            <a:r>
              <a:rPr lang="en-US" altLang="zh-CN" dirty="0" err="1"/>
              <a:t>struct</a:t>
            </a:r>
            <a:r>
              <a:rPr lang="en-US" altLang="zh-CN" dirty="0"/>
              <a:t> </a:t>
            </a:r>
            <a:r>
              <a:rPr lang="en-US" altLang="zh-CN" dirty="0" err="1"/>
              <a:t>LNode</a:t>
            </a:r>
            <a:r>
              <a:rPr lang="en-US" altLang="zh-CN" dirty="0"/>
              <a:t> {</a:t>
            </a:r>
            <a:endParaRPr lang="en-US" altLang="zh-CN" dirty="0"/>
          </a:p>
          <a:p>
            <a:pPr lvl="2"/>
            <a:r>
              <a:rPr lang="en-US" altLang="zh-CN" dirty="0"/>
              <a:t>   </a:t>
            </a:r>
            <a:r>
              <a:rPr lang="en-US" altLang="zh-CN" dirty="0" err="1"/>
              <a:t>ElemType</a:t>
            </a:r>
            <a:r>
              <a:rPr lang="en-US" altLang="zh-CN" dirty="0"/>
              <a:t> data;</a:t>
            </a:r>
            <a:endParaRPr lang="en-US" altLang="zh-CN" dirty="0"/>
          </a:p>
          <a:p>
            <a:pPr lvl="2"/>
            <a:r>
              <a:rPr lang="en-US" altLang="zh-CN" dirty="0"/>
              <a:t>   </a:t>
            </a:r>
            <a:r>
              <a:rPr lang="en-US" altLang="zh-CN" dirty="0" err="1"/>
              <a:t>struct</a:t>
            </a:r>
            <a:r>
              <a:rPr lang="en-US" altLang="zh-CN" dirty="0"/>
              <a:t> </a:t>
            </a:r>
            <a:r>
              <a:rPr lang="en-US" altLang="zh-CN" dirty="0" err="1"/>
              <a:t>LNode</a:t>
            </a:r>
            <a:r>
              <a:rPr lang="en-US" altLang="zh-CN" dirty="0"/>
              <a:t> *next;</a:t>
            </a:r>
            <a:endParaRPr lang="en-US" altLang="zh-CN" dirty="0"/>
          </a:p>
          <a:p>
            <a:pPr lvl="2"/>
            <a:r>
              <a:rPr lang="en-US" altLang="zh-CN" dirty="0"/>
              <a:t>}</a:t>
            </a:r>
            <a:r>
              <a:rPr lang="en-US" altLang="zh-CN" dirty="0" err="1"/>
              <a:t>LNode</a:t>
            </a:r>
            <a:r>
              <a:rPr lang="en-US" altLang="zh-CN" dirty="0"/>
              <a:t> ,*</a:t>
            </a:r>
            <a:r>
              <a:rPr lang="en-US" altLang="zh-CN" dirty="0" err="1"/>
              <a:t>LinkList</a:t>
            </a:r>
            <a:r>
              <a:rPr lang="en-US" altLang="zh-CN" dirty="0"/>
              <a:t>;      </a:t>
            </a:r>
            <a:endParaRPr lang="en-US" altLang="zh-CN" dirty="0"/>
          </a:p>
          <a:p>
            <a:pPr lvl="2"/>
            <a:r>
              <a:rPr lang="en-US" altLang="zh-CN" dirty="0"/>
              <a:t>/* </a:t>
            </a:r>
            <a:r>
              <a:rPr lang="en-US" altLang="zh-CN" dirty="0" err="1"/>
              <a:t>LinkList</a:t>
            </a:r>
            <a:r>
              <a:rPr lang="zh-CN" altLang="en-US" dirty="0"/>
              <a:t>为结构指针类型*</a:t>
            </a:r>
            <a:r>
              <a:rPr lang="en-US" altLang="zh-CN" dirty="0"/>
              <a:t>/</a:t>
            </a:r>
            <a:endParaRPr lang="en-US" altLang="zh-CN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2.3 </a:t>
            </a:r>
            <a:r>
              <a:rPr lang="zh-CN" altLang="en-US" dirty="0"/>
              <a:t>线性表的链式表示和实现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5897" y="1200795"/>
            <a:ext cx="3876848" cy="355345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          </a:t>
            </a:r>
            <a:r>
              <a:rPr lang="en-US" altLang="zh-CN" sz="1575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(a) </a:t>
            </a:r>
            <a:r>
              <a:rPr lang="zh-CN" altLang="en-US" sz="1575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空表                                        </a:t>
            </a:r>
            <a:r>
              <a:rPr lang="en-US" altLang="zh-CN" sz="1575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(b) </a:t>
            </a:r>
            <a:r>
              <a:rPr lang="zh-CN" altLang="en-US" sz="1575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单链表</a:t>
            </a:r>
            <a:r>
              <a:rPr lang="en-US" altLang="zh-CN" sz="1575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L</a:t>
            </a:r>
            <a:endParaRPr lang="en-US" altLang="zh-CN" sz="1575" dirty="0">
              <a:solidFill>
                <a:srgbClr val="00194C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lvl="2"/>
            <a:endParaRPr lang="en-US" altLang="zh-CN" dirty="0"/>
          </a:p>
          <a:p>
            <a:pPr lvl="2"/>
            <a:r>
              <a:rPr lang="en-US" altLang="zh-CN" dirty="0" err="1">
                <a:solidFill>
                  <a:srgbClr val="FF0000"/>
                </a:solidFill>
              </a:rPr>
              <a:t>LinkList</a:t>
            </a:r>
            <a:r>
              <a:rPr lang="en-US" altLang="zh-CN" dirty="0">
                <a:solidFill>
                  <a:srgbClr val="FF0000"/>
                </a:solidFill>
              </a:rPr>
              <a:t> L ;   //</a:t>
            </a:r>
            <a:r>
              <a:rPr lang="zh-CN" altLang="en-US" dirty="0">
                <a:solidFill>
                  <a:srgbClr val="FF0000"/>
                </a:solidFill>
              </a:rPr>
              <a:t>带头结点的单链表</a:t>
            </a:r>
            <a:endParaRPr lang="en-US" altLang="zh-CN" dirty="0">
              <a:solidFill>
                <a:srgbClr val="FF0000"/>
              </a:solidFill>
            </a:endParaRPr>
          </a:p>
          <a:p>
            <a:pPr marL="358140" lvl="2" indent="-257175">
              <a:buFont typeface="Wingdings" panose="05000000000000000000" pitchFamily="2" charset="2"/>
              <a:buChar char="Ø"/>
            </a:pPr>
            <a:r>
              <a:rPr lang="zh-CN" altLang="en-US" dirty="0"/>
              <a:t>则</a:t>
            </a:r>
            <a:r>
              <a:rPr lang="en-US" altLang="zh-CN" dirty="0"/>
              <a:t>L</a:t>
            </a:r>
            <a:r>
              <a:rPr lang="zh-CN" altLang="en-US" dirty="0"/>
              <a:t>为头指针，指向头结点。</a:t>
            </a:r>
            <a:endParaRPr lang="en-US" altLang="zh-CN" dirty="0"/>
          </a:p>
          <a:p>
            <a:pPr marL="358140" lvl="2" indent="-257175">
              <a:buFont typeface="Wingdings" panose="05000000000000000000" pitchFamily="2" charset="2"/>
              <a:buChar char="Ø"/>
            </a:pPr>
            <a:r>
              <a:rPr lang="zh-CN" altLang="en-US" dirty="0"/>
              <a:t>假设</a:t>
            </a:r>
            <a:r>
              <a:rPr lang="en-US" altLang="zh-CN" dirty="0"/>
              <a:t>p</a:t>
            </a:r>
            <a:r>
              <a:rPr lang="zh-CN" altLang="en-US" dirty="0"/>
              <a:t>指向结点</a:t>
            </a:r>
            <a:r>
              <a:rPr lang="en-US" altLang="zh-CN" dirty="0" err="1"/>
              <a:t>a</a:t>
            </a:r>
            <a:r>
              <a:rPr lang="en-US" altLang="zh-CN" baseline="-25000" dirty="0" err="1"/>
              <a:t>i</a:t>
            </a:r>
            <a:r>
              <a:rPr lang="zh-CN" altLang="en-US" dirty="0"/>
              <a:t>，则</a:t>
            </a:r>
            <a:r>
              <a:rPr lang="en-US" altLang="zh-CN" dirty="0"/>
              <a:t>p-&gt;data</a:t>
            </a:r>
            <a:r>
              <a:rPr lang="zh-CN" altLang="en-US" dirty="0"/>
              <a:t>表示元素</a:t>
            </a:r>
            <a:r>
              <a:rPr lang="en-US" altLang="zh-CN" dirty="0" err="1"/>
              <a:t>a</a:t>
            </a:r>
            <a:r>
              <a:rPr lang="en-US" altLang="zh-CN" baseline="-25000" dirty="0" err="1"/>
              <a:t>i</a:t>
            </a:r>
            <a:r>
              <a:rPr lang="zh-CN" altLang="en-US" dirty="0"/>
              <a:t>，</a:t>
            </a:r>
            <a:r>
              <a:rPr lang="en-US" altLang="zh-CN" dirty="0"/>
              <a:t>p-&gt;next</a:t>
            </a:r>
            <a:r>
              <a:rPr lang="zh-CN" altLang="en-US" dirty="0"/>
              <a:t>指向</a:t>
            </a:r>
            <a:r>
              <a:rPr lang="en-US" altLang="zh-CN" dirty="0"/>
              <a:t>a</a:t>
            </a:r>
            <a:r>
              <a:rPr lang="en-US" altLang="zh-CN" baseline="-25000" dirty="0"/>
              <a:t>i+1</a:t>
            </a:r>
            <a:r>
              <a:rPr lang="zh-CN" altLang="en-US" dirty="0"/>
              <a:t>。</a:t>
            </a:r>
            <a:endParaRPr lang="en-US" altLang="zh-CN" dirty="0"/>
          </a:p>
          <a:p>
            <a:pPr marL="358140" lvl="2" indent="-257175">
              <a:buFont typeface="Wingdings" panose="05000000000000000000" pitchFamily="2" charset="2"/>
              <a:buChar char="Ø"/>
            </a:pPr>
            <a:r>
              <a:rPr lang="zh-CN" altLang="en-US" dirty="0"/>
              <a:t>空表： </a:t>
            </a:r>
            <a:r>
              <a:rPr lang="en-US" altLang="zh-CN" dirty="0"/>
              <a:t>L-&gt;next = NULL</a:t>
            </a:r>
            <a:endParaRPr lang="en-US" altLang="zh-CN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2.3 </a:t>
            </a:r>
            <a:r>
              <a:rPr lang="zh-CN" altLang="en-US" dirty="0"/>
              <a:t>线性表的链式表示和实现</a:t>
            </a:r>
            <a:endParaRPr lang="zh-CN" altLang="en-US" dirty="0"/>
          </a:p>
        </p:txBody>
      </p:sp>
      <p:graphicFrame>
        <p:nvGraphicFramePr>
          <p:cNvPr id="13" name="表格 12"/>
          <p:cNvGraphicFramePr>
            <a:graphicFrameLocks noGrp="1"/>
          </p:cNvGraphicFramePr>
          <p:nvPr/>
        </p:nvGraphicFramePr>
        <p:xfrm>
          <a:off x="1962396" y="915288"/>
          <a:ext cx="4419108" cy="297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742"/>
                <a:gridCol w="332742"/>
                <a:gridCol w="332742"/>
                <a:gridCol w="209446"/>
                <a:gridCol w="324302"/>
                <a:gridCol w="313267"/>
                <a:gridCol w="203200"/>
                <a:gridCol w="304800"/>
                <a:gridCol w="296333"/>
                <a:gridCol w="211667"/>
                <a:gridCol w="287867"/>
                <a:gridCol w="431800"/>
                <a:gridCol w="330200"/>
                <a:gridCol w="321733"/>
                <a:gridCol w="186267"/>
              </a:tblGrid>
              <a:tr h="2971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dirty="0">
                          <a:solidFill>
                            <a:schemeClr val="tx1"/>
                          </a:solidFill>
                        </a:rPr>
                        <a:t>L</a:t>
                      </a:r>
                      <a:endParaRPr lang="zh-CN" altLang="en-US" sz="15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5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5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wdUpDiag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5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5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dirty="0">
                          <a:solidFill>
                            <a:schemeClr val="tx1"/>
                          </a:solidFill>
                        </a:rPr>
                        <a:t>a</a:t>
                      </a:r>
                      <a:r>
                        <a:rPr lang="en-US" altLang="zh-CN" sz="1500" baseline="-25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CN" altLang="en-US" sz="1500" baseline="-250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5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5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dirty="0">
                          <a:solidFill>
                            <a:schemeClr val="tx1"/>
                          </a:solidFill>
                        </a:rPr>
                        <a:t>a</a:t>
                      </a:r>
                      <a:r>
                        <a:rPr lang="en-US" altLang="zh-CN" sz="1500" baseline="-250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CN" altLang="en-US" sz="1500" baseline="-250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5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5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50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zh-CN" altLang="en-US" sz="15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5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dirty="0">
                          <a:solidFill>
                            <a:schemeClr val="tx1"/>
                          </a:solidFill>
                        </a:rPr>
                        <a:t>a</a:t>
                      </a:r>
                      <a:r>
                        <a:rPr lang="en-US" altLang="zh-CN" sz="1500" baseline="-25000" dirty="0">
                          <a:solidFill>
                            <a:schemeClr val="tx1"/>
                          </a:solidFill>
                        </a:rPr>
                        <a:t>n</a:t>
                      </a:r>
                      <a:endParaRPr lang="zh-CN" altLang="en-US" sz="1500" baseline="-250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500" dirty="0">
                          <a:solidFill>
                            <a:schemeClr val="tx1"/>
                          </a:solidFill>
                        </a:rPr>
                        <a:t>˄</a:t>
                      </a:r>
                      <a:endParaRPr lang="zh-CN" altLang="en-US" sz="15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14" name="直接箭头连接符 13"/>
          <p:cNvCxnSpPr/>
          <p:nvPr/>
        </p:nvCxnSpPr>
        <p:spPr>
          <a:xfrm>
            <a:off x="2232835" y="1059477"/>
            <a:ext cx="39793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/>
          <p:cNvCxnSpPr/>
          <p:nvPr/>
        </p:nvCxnSpPr>
        <p:spPr>
          <a:xfrm>
            <a:off x="3075269" y="1059477"/>
            <a:ext cx="39793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箭头连接符 15"/>
          <p:cNvCxnSpPr/>
          <p:nvPr/>
        </p:nvCxnSpPr>
        <p:spPr>
          <a:xfrm>
            <a:off x="3892801" y="1063710"/>
            <a:ext cx="39793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/>
          <p:cNvCxnSpPr/>
          <p:nvPr/>
        </p:nvCxnSpPr>
        <p:spPr>
          <a:xfrm>
            <a:off x="4692901" y="1076409"/>
            <a:ext cx="39793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箭头连接符 17"/>
          <p:cNvCxnSpPr/>
          <p:nvPr/>
        </p:nvCxnSpPr>
        <p:spPr>
          <a:xfrm>
            <a:off x="5467601" y="1089108"/>
            <a:ext cx="39793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表格 18"/>
          <p:cNvGraphicFramePr>
            <a:graphicFrameLocks noGrp="1"/>
          </p:cNvGraphicFramePr>
          <p:nvPr/>
        </p:nvGraphicFramePr>
        <p:xfrm>
          <a:off x="508961" y="919689"/>
          <a:ext cx="1207672" cy="297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742"/>
                <a:gridCol w="332742"/>
                <a:gridCol w="332742"/>
                <a:gridCol w="209446"/>
              </a:tblGrid>
              <a:tr h="2971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dirty="0">
                          <a:solidFill>
                            <a:schemeClr val="tx1"/>
                          </a:solidFill>
                        </a:rPr>
                        <a:t>L</a:t>
                      </a:r>
                      <a:endParaRPr lang="zh-CN" altLang="en-US" sz="15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5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5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wdUpDiag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500" dirty="0">
                          <a:solidFill>
                            <a:schemeClr val="tx1"/>
                          </a:solidFill>
                        </a:rPr>
                        <a:t>˄</a:t>
                      </a:r>
                      <a:endParaRPr lang="zh-CN" altLang="en-US" sz="15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20" name="直接箭头连接符 19"/>
          <p:cNvCxnSpPr/>
          <p:nvPr/>
        </p:nvCxnSpPr>
        <p:spPr>
          <a:xfrm>
            <a:off x="779401" y="1063878"/>
            <a:ext cx="39793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遍历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pPr lvl="2"/>
            <a:r>
              <a:rPr lang="zh-CN" altLang="en-US" dirty="0"/>
              <a:t>实现步骤：</a:t>
            </a:r>
            <a:endParaRPr lang="en-US" altLang="zh-CN" dirty="0"/>
          </a:p>
          <a:p>
            <a:pPr lvl="2"/>
            <a:r>
              <a:rPr lang="en-US" altLang="zh-CN" dirty="0"/>
              <a:t>1. </a:t>
            </a:r>
            <a:r>
              <a:rPr lang="zh-CN" altLang="en-US" dirty="0"/>
              <a:t>设一个指针</a:t>
            </a:r>
            <a:r>
              <a:rPr lang="en-US" altLang="zh-CN" dirty="0"/>
              <a:t>p</a:t>
            </a:r>
            <a:r>
              <a:rPr lang="zh-CN" altLang="en-US" dirty="0"/>
              <a:t>指向表头；</a:t>
            </a:r>
            <a:endParaRPr lang="en-US" altLang="zh-CN" dirty="0"/>
          </a:p>
          <a:p>
            <a:pPr lvl="2"/>
            <a:r>
              <a:rPr lang="en-US" altLang="zh-CN" dirty="0"/>
              <a:t>2. </a:t>
            </a:r>
            <a:r>
              <a:rPr lang="zh-CN" altLang="en-US" dirty="0"/>
              <a:t>从前向后依次查找，输出当前结点的数据域信息（</a:t>
            </a:r>
            <a:r>
              <a:rPr lang="en-US" altLang="zh-CN" dirty="0"/>
              <a:t>p-&gt;data</a:t>
            </a:r>
            <a:r>
              <a:rPr lang="zh-CN" altLang="en-US" dirty="0"/>
              <a:t>）；</a:t>
            </a:r>
            <a:endParaRPr lang="en-US" altLang="zh-CN" dirty="0"/>
          </a:p>
          <a:p>
            <a:pPr lvl="2"/>
            <a:r>
              <a:rPr lang="en-US" altLang="zh-CN" dirty="0"/>
              <a:t>3. </a:t>
            </a:r>
            <a:r>
              <a:rPr lang="zh-CN" altLang="en-US" dirty="0"/>
              <a:t>直到指针</a:t>
            </a:r>
            <a:r>
              <a:rPr lang="en-US" altLang="zh-CN" dirty="0"/>
              <a:t>p</a:t>
            </a:r>
            <a:r>
              <a:rPr lang="zh-CN" altLang="en-US" dirty="0"/>
              <a:t>指向空地址（</a:t>
            </a:r>
            <a:r>
              <a:rPr lang="en-US" altLang="zh-CN" dirty="0"/>
              <a:t>NULL</a:t>
            </a:r>
            <a:r>
              <a:rPr lang="zh-CN" altLang="en-US" dirty="0"/>
              <a:t>）。</a:t>
            </a:r>
            <a:r>
              <a:rPr lang="en-US" altLang="zh-CN" dirty="0"/>
              <a:t> </a:t>
            </a:r>
            <a:endParaRPr lang="en-US" altLang="zh-CN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2.3 </a:t>
            </a:r>
            <a:r>
              <a:rPr lang="zh-CN" altLang="en-US" dirty="0"/>
              <a:t>线性表的链式表示和实现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/>
        </p:nvGraphicFramePr>
        <p:xfrm>
          <a:off x="681583" y="1313923"/>
          <a:ext cx="4419108" cy="297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742"/>
                <a:gridCol w="332742"/>
                <a:gridCol w="332742"/>
                <a:gridCol w="209446"/>
                <a:gridCol w="324302"/>
                <a:gridCol w="313267"/>
                <a:gridCol w="203200"/>
                <a:gridCol w="304800"/>
                <a:gridCol w="296333"/>
                <a:gridCol w="211667"/>
                <a:gridCol w="287867"/>
                <a:gridCol w="431800"/>
                <a:gridCol w="330200"/>
                <a:gridCol w="321733"/>
                <a:gridCol w="186267"/>
              </a:tblGrid>
              <a:tr h="2971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dirty="0">
                          <a:solidFill>
                            <a:schemeClr val="tx1"/>
                          </a:solidFill>
                        </a:rPr>
                        <a:t>L</a:t>
                      </a:r>
                      <a:endParaRPr lang="zh-CN" altLang="en-US" sz="15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5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5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wdUpDiag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5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5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dirty="0">
                          <a:solidFill>
                            <a:schemeClr val="tx1"/>
                          </a:solidFill>
                        </a:rPr>
                        <a:t>a</a:t>
                      </a:r>
                      <a:r>
                        <a:rPr lang="en-US" altLang="zh-CN" sz="1500" baseline="-25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CN" altLang="en-US" sz="1500" baseline="-250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5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5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dirty="0">
                          <a:solidFill>
                            <a:schemeClr val="tx1"/>
                          </a:solidFill>
                        </a:rPr>
                        <a:t>a</a:t>
                      </a:r>
                      <a:r>
                        <a:rPr lang="en-US" altLang="zh-CN" sz="1500" baseline="-250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CN" altLang="en-US" sz="1500" baseline="-250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5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5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50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zh-CN" altLang="en-US" sz="15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5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dirty="0">
                          <a:solidFill>
                            <a:schemeClr val="tx1"/>
                          </a:solidFill>
                        </a:rPr>
                        <a:t>a</a:t>
                      </a:r>
                      <a:r>
                        <a:rPr lang="en-US" altLang="zh-CN" sz="1500" baseline="-25000" dirty="0">
                          <a:solidFill>
                            <a:schemeClr val="tx1"/>
                          </a:solidFill>
                        </a:rPr>
                        <a:t>n</a:t>
                      </a:r>
                      <a:endParaRPr lang="zh-CN" altLang="en-US" sz="1500" baseline="-250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500" dirty="0">
                          <a:solidFill>
                            <a:schemeClr val="tx1"/>
                          </a:solidFill>
                        </a:rPr>
                        <a:t>˄</a:t>
                      </a:r>
                      <a:endParaRPr lang="zh-CN" altLang="en-US" sz="15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5" name="直接箭头连接符 4"/>
          <p:cNvCxnSpPr/>
          <p:nvPr/>
        </p:nvCxnSpPr>
        <p:spPr>
          <a:xfrm>
            <a:off x="952022" y="1458112"/>
            <a:ext cx="39793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箭头连接符 5"/>
          <p:cNvCxnSpPr/>
          <p:nvPr/>
        </p:nvCxnSpPr>
        <p:spPr>
          <a:xfrm>
            <a:off x="1794456" y="1458112"/>
            <a:ext cx="39793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接箭头连接符 6"/>
          <p:cNvCxnSpPr/>
          <p:nvPr/>
        </p:nvCxnSpPr>
        <p:spPr>
          <a:xfrm>
            <a:off x="2611988" y="1462345"/>
            <a:ext cx="39793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箭头连接符 7"/>
          <p:cNvCxnSpPr/>
          <p:nvPr/>
        </p:nvCxnSpPr>
        <p:spPr>
          <a:xfrm>
            <a:off x="3412088" y="1475045"/>
            <a:ext cx="39793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箭头连接符 8"/>
          <p:cNvCxnSpPr/>
          <p:nvPr/>
        </p:nvCxnSpPr>
        <p:spPr>
          <a:xfrm>
            <a:off x="4186788" y="1487744"/>
            <a:ext cx="39793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组合 9"/>
          <p:cNvGrpSpPr/>
          <p:nvPr/>
        </p:nvGrpSpPr>
        <p:grpSpPr>
          <a:xfrm>
            <a:off x="2286171" y="1677655"/>
            <a:ext cx="324128" cy="587770"/>
            <a:chOff x="790739" y="2835667"/>
            <a:chExt cx="432171" cy="783693"/>
          </a:xfrm>
        </p:grpSpPr>
        <p:cxnSp>
          <p:nvCxnSpPr>
            <p:cNvPr id="11" name="直接箭头连接符 10"/>
            <p:cNvCxnSpPr/>
            <p:nvPr/>
          </p:nvCxnSpPr>
          <p:spPr>
            <a:xfrm flipV="1">
              <a:off x="976046" y="2835667"/>
              <a:ext cx="0" cy="318499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文本框 11"/>
            <p:cNvSpPr txBox="1"/>
            <p:nvPr/>
          </p:nvSpPr>
          <p:spPr>
            <a:xfrm>
              <a:off x="790739" y="3065363"/>
              <a:ext cx="432171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100" dirty="0">
                  <a:solidFill>
                    <a:srgbClr val="FF0000"/>
                  </a:solidFill>
                </a:rPr>
                <a:t>P</a:t>
              </a:r>
              <a:endParaRPr lang="zh-CN" altLang="en-US" sz="21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组合 12"/>
          <p:cNvGrpSpPr/>
          <p:nvPr/>
        </p:nvGrpSpPr>
        <p:grpSpPr>
          <a:xfrm>
            <a:off x="3123575" y="1677655"/>
            <a:ext cx="324128" cy="587770"/>
            <a:chOff x="790739" y="2835667"/>
            <a:chExt cx="432171" cy="783693"/>
          </a:xfrm>
        </p:grpSpPr>
        <p:cxnSp>
          <p:nvCxnSpPr>
            <p:cNvPr id="14" name="直接箭头连接符 13"/>
            <p:cNvCxnSpPr/>
            <p:nvPr/>
          </p:nvCxnSpPr>
          <p:spPr>
            <a:xfrm flipV="1">
              <a:off x="976046" y="2835667"/>
              <a:ext cx="0" cy="318499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文本框 14"/>
            <p:cNvSpPr txBox="1"/>
            <p:nvPr/>
          </p:nvSpPr>
          <p:spPr>
            <a:xfrm>
              <a:off x="790739" y="3065363"/>
              <a:ext cx="432171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100" dirty="0">
                  <a:solidFill>
                    <a:srgbClr val="FF0000"/>
                  </a:solidFill>
                </a:rPr>
                <a:t>P</a:t>
              </a:r>
              <a:endParaRPr lang="zh-CN" altLang="en-US" sz="21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组合 15"/>
          <p:cNvGrpSpPr/>
          <p:nvPr/>
        </p:nvGrpSpPr>
        <p:grpSpPr>
          <a:xfrm>
            <a:off x="4685305" y="1677655"/>
            <a:ext cx="324128" cy="587770"/>
            <a:chOff x="790739" y="2835667"/>
            <a:chExt cx="432171" cy="783693"/>
          </a:xfrm>
        </p:grpSpPr>
        <p:cxnSp>
          <p:nvCxnSpPr>
            <p:cNvPr id="17" name="直接箭头连接符 16"/>
            <p:cNvCxnSpPr/>
            <p:nvPr/>
          </p:nvCxnSpPr>
          <p:spPr>
            <a:xfrm flipV="1">
              <a:off x="976046" y="2835667"/>
              <a:ext cx="0" cy="318499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文本框 17"/>
            <p:cNvSpPr txBox="1"/>
            <p:nvPr/>
          </p:nvSpPr>
          <p:spPr>
            <a:xfrm>
              <a:off x="790739" y="3065363"/>
              <a:ext cx="432171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100" dirty="0">
                  <a:solidFill>
                    <a:srgbClr val="FF0000"/>
                  </a:solidFill>
                </a:rPr>
                <a:t>P</a:t>
              </a:r>
              <a:endParaRPr lang="zh-CN" altLang="en-US" sz="21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9" name="文本框 18"/>
          <p:cNvSpPr txBox="1"/>
          <p:nvPr/>
        </p:nvSpPr>
        <p:spPr>
          <a:xfrm>
            <a:off x="5285952" y="1797176"/>
            <a:ext cx="1290738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100" dirty="0">
                <a:solidFill>
                  <a:srgbClr val="FF0000"/>
                </a:solidFill>
              </a:rPr>
              <a:t>p == NULL</a:t>
            </a:r>
            <a:endParaRPr lang="zh-CN" altLang="en-US" sz="2100" dirty="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2"/>
            <a:r>
              <a:rPr lang="en-US" altLang="zh-CN" dirty="0"/>
              <a:t>Status </a:t>
            </a:r>
            <a:r>
              <a:rPr lang="en-US" altLang="zh-CN" dirty="0" err="1"/>
              <a:t>Traverse_L</a:t>
            </a:r>
            <a:r>
              <a:rPr lang="en-US" altLang="zh-CN" dirty="0"/>
              <a:t>( </a:t>
            </a:r>
            <a:r>
              <a:rPr lang="en-US" altLang="zh-CN" dirty="0" err="1"/>
              <a:t>LinkList</a:t>
            </a:r>
            <a:r>
              <a:rPr lang="en-US" altLang="zh-CN" dirty="0"/>
              <a:t> L ){</a:t>
            </a:r>
            <a:endParaRPr lang="en-US" altLang="zh-CN" dirty="0"/>
          </a:p>
          <a:p>
            <a:pPr lvl="2"/>
            <a:r>
              <a:rPr lang="en-US" altLang="zh-CN" dirty="0"/>
              <a:t>   p=L-&gt;next;    </a:t>
            </a:r>
            <a:endParaRPr lang="en-US" altLang="zh-CN" dirty="0"/>
          </a:p>
          <a:p>
            <a:pPr lvl="2"/>
            <a:r>
              <a:rPr lang="en-US" altLang="zh-CN" dirty="0"/>
              <a:t>   while ( p ){   </a:t>
            </a:r>
            <a:endParaRPr lang="en-US" altLang="zh-CN" dirty="0"/>
          </a:p>
          <a:p>
            <a:pPr lvl="2"/>
            <a:r>
              <a:rPr lang="en-US" altLang="zh-CN" dirty="0"/>
              <a:t>	print( p-&gt;data );     </a:t>
            </a:r>
            <a:endParaRPr lang="en-US" altLang="zh-CN" dirty="0"/>
          </a:p>
          <a:p>
            <a:pPr lvl="2"/>
            <a:r>
              <a:rPr lang="en-US" altLang="zh-CN" dirty="0"/>
              <a:t>        </a:t>
            </a:r>
            <a:r>
              <a:rPr lang="en-US" altLang="zh-CN" dirty="0">
                <a:solidFill>
                  <a:srgbClr val="FF0000"/>
                </a:solidFill>
              </a:rPr>
              <a:t>p=p-&gt;next; </a:t>
            </a:r>
            <a:r>
              <a:rPr lang="en-US" altLang="zh-CN" dirty="0"/>
              <a:t> </a:t>
            </a:r>
            <a:endParaRPr lang="en-US" altLang="zh-CN" dirty="0"/>
          </a:p>
          <a:p>
            <a:pPr lvl="2"/>
            <a:r>
              <a:rPr lang="en-US" altLang="zh-CN" dirty="0"/>
              <a:t>   }</a:t>
            </a:r>
            <a:endParaRPr lang="en-US" altLang="zh-CN" dirty="0"/>
          </a:p>
          <a:p>
            <a:pPr lvl="2"/>
            <a:r>
              <a:rPr lang="en-US" altLang="zh-CN" dirty="0"/>
              <a:t>   return  OK;</a:t>
            </a:r>
            <a:endParaRPr lang="en-US" altLang="zh-CN" dirty="0"/>
          </a:p>
          <a:p>
            <a:pPr lvl="2"/>
            <a:r>
              <a:rPr lang="en-US" altLang="zh-CN" dirty="0"/>
              <a:t>} </a:t>
            </a:r>
            <a:endParaRPr lang="en-US" altLang="zh-CN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2.3 </a:t>
            </a:r>
            <a:r>
              <a:rPr lang="zh-CN" altLang="en-US" dirty="0"/>
              <a:t>线性表的链式表示和实现</a:t>
            </a:r>
            <a:endParaRPr lang="zh-CN" altLang="en-US" dirty="0"/>
          </a:p>
        </p:txBody>
      </p:sp>
      <p:grpSp>
        <p:nvGrpSpPr>
          <p:cNvPr id="4" name="组合 3"/>
          <p:cNvGrpSpPr/>
          <p:nvPr/>
        </p:nvGrpSpPr>
        <p:grpSpPr>
          <a:xfrm>
            <a:off x="3985377" y="1883543"/>
            <a:ext cx="1568731" cy="431515"/>
            <a:chOff x="6246687" y="1160980"/>
            <a:chExt cx="1897914" cy="575353"/>
          </a:xfr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path path="circle">
              <a:fillToRect l="100000" t="100000"/>
            </a:path>
            <a:tileRect r="-100000" b="-100000"/>
          </a:gradFill>
        </p:grpSpPr>
        <p:sp>
          <p:nvSpPr>
            <p:cNvPr id="5" name="矩形标注 4"/>
            <p:cNvSpPr/>
            <p:nvPr/>
          </p:nvSpPr>
          <p:spPr>
            <a:xfrm>
              <a:off x="6246687" y="1160980"/>
              <a:ext cx="1897914" cy="575353"/>
            </a:xfrm>
            <a:prstGeom prst="wedgeRectCallout">
              <a:avLst>
                <a:gd name="adj1" fmla="val -147210"/>
                <a:gd name="adj2" fmla="val 103483"/>
              </a:avLst>
            </a:prstGeom>
            <a:grpFill/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6" name="文本框 5"/>
            <p:cNvSpPr txBox="1"/>
            <p:nvPr/>
          </p:nvSpPr>
          <p:spPr>
            <a:xfrm>
              <a:off x="6272236" y="1242108"/>
              <a:ext cx="1836542" cy="446276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zh-CN" altLang="en-US" sz="1575" b="1" dirty="0">
                  <a:solidFill>
                    <a:srgbClr val="00194C"/>
                  </a:solidFill>
                  <a:latin typeface="华文楷体" panose="02010600040101010101" pitchFamily="2" charset="-122"/>
                  <a:ea typeface="华文楷体" panose="02010600040101010101" pitchFamily="2" charset="-122"/>
                </a:rPr>
                <a:t>时间复杂度</a:t>
              </a:r>
              <a:r>
                <a:rPr lang="en-US" altLang="zh-CN" sz="1500" b="1" dirty="0">
                  <a:solidFill>
                    <a:srgbClr val="FF0000"/>
                  </a:solidFill>
                </a:rPr>
                <a:t>O(n)</a:t>
              </a:r>
              <a:endParaRPr lang="zh-CN" altLang="en-US" sz="1500" b="1" dirty="0">
                <a:solidFill>
                  <a:srgbClr val="FF0000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2. </a:t>
            </a:r>
            <a:r>
              <a:rPr lang="zh-CN" altLang="en-US" dirty="0"/>
              <a:t>查找（查找表中第</a:t>
            </a:r>
            <a:r>
              <a:rPr lang="en-US" altLang="zh-CN" dirty="0" err="1"/>
              <a:t>i</a:t>
            </a:r>
            <a:r>
              <a:rPr lang="zh-CN" altLang="en-US" dirty="0"/>
              <a:t>个结点）</a:t>
            </a:r>
            <a:endParaRPr lang="en-US" altLang="zh-CN" dirty="0"/>
          </a:p>
          <a:p>
            <a:pPr lvl="2"/>
            <a:r>
              <a:rPr lang="en-US" altLang="zh-CN" dirty="0"/>
              <a:t>Status </a:t>
            </a:r>
            <a:r>
              <a:rPr lang="en-US" altLang="zh-CN" dirty="0" err="1"/>
              <a:t>GetElem_L</a:t>
            </a:r>
            <a:r>
              <a:rPr lang="en-US" altLang="zh-CN" dirty="0"/>
              <a:t>( </a:t>
            </a:r>
            <a:r>
              <a:rPr lang="en-US" altLang="zh-CN" dirty="0" err="1"/>
              <a:t>LinkList</a:t>
            </a:r>
            <a:r>
              <a:rPr lang="en-US" altLang="zh-CN" dirty="0"/>
              <a:t> L, </a:t>
            </a:r>
            <a:r>
              <a:rPr lang="en-US" altLang="zh-CN" dirty="0" err="1"/>
              <a:t>int</a:t>
            </a:r>
            <a:r>
              <a:rPr lang="en-US" altLang="zh-CN" dirty="0"/>
              <a:t> </a:t>
            </a:r>
            <a:r>
              <a:rPr lang="en-US" altLang="zh-CN" dirty="0" err="1"/>
              <a:t>i</a:t>
            </a:r>
            <a:r>
              <a:rPr lang="en-US" altLang="zh-CN" dirty="0"/>
              <a:t>, </a:t>
            </a:r>
            <a:r>
              <a:rPr lang="en-US" altLang="zh-CN" dirty="0" err="1"/>
              <a:t>ElemType</a:t>
            </a:r>
            <a:r>
              <a:rPr lang="en-US" altLang="zh-CN" dirty="0"/>
              <a:t> &amp;e ){</a:t>
            </a:r>
            <a:endParaRPr lang="en-US" altLang="zh-CN" dirty="0"/>
          </a:p>
          <a:p>
            <a:pPr lvl="2"/>
            <a:r>
              <a:rPr lang="en-US" altLang="zh-CN" dirty="0"/>
              <a:t>   p=L-&gt;next;    j=1;</a:t>
            </a:r>
            <a:endParaRPr lang="en-US" altLang="zh-CN" dirty="0"/>
          </a:p>
          <a:p>
            <a:pPr lvl="2"/>
            <a:r>
              <a:rPr lang="en-US" altLang="zh-CN" dirty="0"/>
              <a:t>   while ( p &amp;&amp; j&lt;</a:t>
            </a:r>
            <a:r>
              <a:rPr lang="en-US" altLang="zh-CN" dirty="0" err="1"/>
              <a:t>i</a:t>
            </a:r>
            <a:r>
              <a:rPr lang="en-US" altLang="zh-CN" dirty="0"/>
              <a:t> ){   </a:t>
            </a:r>
            <a:endParaRPr lang="en-US" altLang="zh-CN" dirty="0"/>
          </a:p>
          <a:p>
            <a:pPr lvl="2"/>
            <a:r>
              <a:rPr lang="en-US" altLang="zh-CN" dirty="0"/>
              <a:t>       </a:t>
            </a:r>
            <a:r>
              <a:rPr lang="en-US" altLang="zh-CN" dirty="0">
                <a:solidFill>
                  <a:srgbClr val="FF0000"/>
                </a:solidFill>
              </a:rPr>
              <a:t>p=p-&gt;next; </a:t>
            </a:r>
            <a:r>
              <a:rPr lang="en-US" altLang="zh-CN" dirty="0"/>
              <a:t> </a:t>
            </a:r>
            <a:endParaRPr lang="en-US" altLang="zh-CN" dirty="0"/>
          </a:p>
          <a:p>
            <a:pPr lvl="2"/>
            <a:r>
              <a:rPr lang="en-US" altLang="zh-CN" dirty="0"/>
              <a:t>       ++j;  }</a:t>
            </a:r>
            <a:endParaRPr lang="en-US" altLang="zh-CN" dirty="0"/>
          </a:p>
          <a:p>
            <a:pPr lvl="2"/>
            <a:r>
              <a:rPr lang="en-US" altLang="zh-CN" dirty="0"/>
              <a:t>   if ( !p || j&gt;</a:t>
            </a:r>
            <a:r>
              <a:rPr lang="en-US" altLang="zh-CN" dirty="0" err="1"/>
              <a:t>i</a:t>
            </a:r>
            <a:r>
              <a:rPr lang="en-US" altLang="zh-CN" dirty="0"/>
              <a:t> )   return  ERROR;</a:t>
            </a:r>
            <a:endParaRPr lang="en-US" altLang="zh-CN" dirty="0"/>
          </a:p>
          <a:p>
            <a:pPr lvl="2"/>
            <a:r>
              <a:rPr lang="en-US" altLang="zh-CN" dirty="0"/>
              <a:t>   e=p-&gt;data;</a:t>
            </a:r>
            <a:endParaRPr lang="en-US" altLang="zh-CN" dirty="0"/>
          </a:p>
          <a:p>
            <a:pPr lvl="2"/>
            <a:r>
              <a:rPr lang="en-US" altLang="zh-CN" dirty="0"/>
              <a:t>   return  OK;</a:t>
            </a:r>
            <a:endParaRPr lang="en-US" altLang="zh-CN" dirty="0"/>
          </a:p>
          <a:p>
            <a:pPr lvl="2"/>
            <a:r>
              <a:rPr lang="en-US" altLang="zh-CN" dirty="0"/>
              <a:t>} </a:t>
            </a:r>
            <a:endParaRPr lang="zh-CN" altLang="en-US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2.3 </a:t>
            </a:r>
            <a:r>
              <a:rPr lang="zh-CN" altLang="en-US" dirty="0"/>
              <a:t>线性表的链式表示和实现</a:t>
            </a:r>
            <a:endParaRPr lang="zh-CN" altLang="en-US" dirty="0"/>
          </a:p>
        </p:txBody>
      </p:sp>
      <p:grpSp>
        <p:nvGrpSpPr>
          <p:cNvPr id="4" name="组合 3"/>
          <p:cNvGrpSpPr/>
          <p:nvPr/>
        </p:nvGrpSpPr>
        <p:grpSpPr>
          <a:xfrm>
            <a:off x="4033648" y="2188530"/>
            <a:ext cx="1628324" cy="431515"/>
            <a:chOff x="6246687" y="1160980"/>
            <a:chExt cx="1897914" cy="575353"/>
          </a:xfr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0800000" scaled="1"/>
            <a:tileRect/>
          </a:gradFill>
        </p:grpSpPr>
        <p:sp>
          <p:nvSpPr>
            <p:cNvPr id="5" name="矩形标注 4"/>
            <p:cNvSpPr/>
            <p:nvPr/>
          </p:nvSpPr>
          <p:spPr>
            <a:xfrm>
              <a:off x="6246687" y="1160980"/>
              <a:ext cx="1897914" cy="575353"/>
            </a:xfrm>
            <a:prstGeom prst="wedgeRectCallout">
              <a:avLst>
                <a:gd name="adj1" fmla="val -147690"/>
                <a:gd name="adj2" fmla="val 38864"/>
              </a:avLst>
            </a:prstGeom>
            <a:grpFill/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6" name="文本框 5"/>
            <p:cNvSpPr txBox="1"/>
            <p:nvPr/>
          </p:nvSpPr>
          <p:spPr>
            <a:xfrm>
              <a:off x="6303856" y="1242108"/>
              <a:ext cx="1780431" cy="446276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zh-CN" altLang="en-US" sz="1575" b="1" dirty="0">
                  <a:solidFill>
                    <a:srgbClr val="00194C"/>
                  </a:solidFill>
                  <a:latin typeface="华文楷体" panose="02010600040101010101" pitchFamily="2" charset="-122"/>
                  <a:ea typeface="华文楷体" panose="02010600040101010101" pitchFamily="2" charset="-122"/>
                </a:rPr>
                <a:t>时间复杂度</a:t>
              </a:r>
              <a:r>
                <a:rPr lang="en-US" altLang="zh-CN" sz="1500" b="1" dirty="0">
                  <a:solidFill>
                    <a:srgbClr val="FF0000"/>
                  </a:solidFill>
                </a:rPr>
                <a:t>O(n)</a:t>
              </a:r>
              <a:endParaRPr lang="zh-CN" altLang="en-US" sz="1500" b="1" dirty="0">
                <a:solidFill>
                  <a:srgbClr val="FF0000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3. </a:t>
            </a:r>
            <a:r>
              <a:rPr lang="zh-CN" altLang="en-US" dirty="0"/>
              <a:t>插入（在单链表第</a:t>
            </a:r>
            <a:r>
              <a:rPr lang="en-US" altLang="zh-CN" dirty="0" err="1"/>
              <a:t>i</a:t>
            </a:r>
            <a:r>
              <a:rPr lang="zh-CN" altLang="en-US" dirty="0"/>
              <a:t>个位置插入元素</a:t>
            </a:r>
            <a:r>
              <a:rPr lang="en-US" altLang="zh-CN" dirty="0"/>
              <a:t>x</a:t>
            </a:r>
            <a:r>
              <a:rPr lang="zh-CN" altLang="en-US" dirty="0"/>
              <a:t>）</a:t>
            </a:r>
            <a:endParaRPr lang="en-US" altLang="zh-CN" dirty="0"/>
          </a:p>
          <a:p>
            <a:pPr lvl="2"/>
            <a:r>
              <a:rPr lang="zh-CN" altLang="en-US" dirty="0"/>
              <a:t>插入步骤：</a:t>
            </a:r>
            <a:endParaRPr lang="en-US" altLang="zh-CN" dirty="0"/>
          </a:p>
          <a:p>
            <a:pPr lvl="2"/>
            <a:r>
              <a:rPr lang="zh-CN" altLang="en-US" dirty="0"/>
              <a:t>（</a:t>
            </a:r>
            <a:r>
              <a:rPr lang="en-US" altLang="zh-CN" dirty="0"/>
              <a:t>1</a:t>
            </a:r>
            <a:r>
              <a:rPr lang="zh-CN" altLang="en-US" dirty="0"/>
              <a:t>）查找第</a:t>
            </a:r>
            <a:r>
              <a:rPr lang="en-US" altLang="zh-CN" dirty="0"/>
              <a:t>i-1</a:t>
            </a:r>
            <a:r>
              <a:rPr lang="zh-CN" altLang="en-US" dirty="0"/>
              <a:t>个结点并由指针</a:t>
            </a:r>
            <a:r>
              <a:rPr lang="en-US" altLang="zh-CN" dirty="0"/>
              <a:t>p</a:t>
            </a:r>
            <a:r>
              <a:rPr lang="zh-CN" altLang="en-US" dirty="0"/>
              <a:t>指示；</a:t>
            </a:r>
            <a:endParaRPr lang="en-US" altLang="zh-CN" dirty="0"/>
          </a:p>
          <a:p>
            <a:pPr lvl="2"/>
            <a:r>
              <a:rPr lang="zh-CN" altLang="en-US" dirty="0"/>
              <a:t>（</a:t>
            </a:r>
            <a:r>
              <a:rPr lang="en-US" altLang="zh-CN" dirty="0"/>
              <a:t>2</a:t>
            </a:r>
            <a:r>
              <a:rPr lang="zh-CN" altLang="en-US" dirty="0"/>
              <a:t>）申请一个新结点存放元素</a:t>
            </a:r>
            <a:r>
              <a:rPr lang="en-US" altLang="zh-CN" dirty="0"/>
              <a:t>x</a:t>
            </a:r>
            <a:r>
              <a:rPr lang="zh-CN" altLang="en-US" dirty="0"/>
              <a:t>，由指针</a:t>
            </a:r>
            <a:r>
              <a:rPr lang="en-US" altLang="zh-CN" dirty="0"/>
              <a:t>s</a:t>
            </a:r>
            <a:r>
              <a:rPr lang="zh-CN" altLang="en-US" dirty="0"/>
              <a:t>指示；</a:t>
            </a:r>
            <a:endParaRPr lang="en-US" altLang="zh-CN" dirty="0"/>
          </a:p>
          <a:p>
            <a:pPr lvl="2"/>
            <a:r>
              <a:rPr lang="zh-CN" altLang="en-US" dirty="0"/>
              <a:t>（</a:t>
            </a:r>
            <a:r>
              <a:rPr lang="en-US" altLang="zh-CN" dirty="0"/>
              <a:t>3</a:t>
            </a:r>
            <a:r>
              <a:rPr lang="zh-CN" altLang="en-US" dirty="0"/>
              <a:t>）修改</a:t>
            </a:r>
            <a:r>
              <a:rPr lang="en-US" altLang="zh-CN" dirty="0"/>
              <a:t>s</a:t>
            </a:r>
            <a:r>
              <a:rPr lang="zh-CN" altLang="en-US" dirty="0"/>
              <a:t>和</a:t>
            </a:r>
            <a:r>
              <a:rPr lang="en-US" altLang="zh-CN" dirty="0"/>
              <a:t>p</a:t>
            </a:r>
            <a:r>
              <a:rPr lang="zh-CN" altLang="en-US" dirty="0"/>
              <a:t>结点的指针域。</a:t>
            </a:r>
            <a:endParaRPr lang="zh-CN" altLang="en-US" dirty="0">
              <a:solidFill>
                <a:srgbClr val="FF0000"/>
              </a:solidFill>
            </a:endParaRPr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2.3 </a:t>
            </a:r>
            <a:r>
              <a:rPr lang="zh-CN" altLang="en-US" dirty="0"/>
              <a:t>线性表的链式表示和实现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/>
        </p:nvGraphicFramePr>
        <p:xfrm>
          <a:off x="1447062" y="2993067"/>
          <a:ext cx="2556264" cy="4800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304"/>
                <a:gridCol w="570110"/>
                <a:gridCol w="245721"/>
                <a:gridCol w="315930"/>
                <a:gridCol w="514179"/>
                <a:gridCol w="240010"/>
                <a:gridCol w="340010"/>
              </a:tblGrid>
              <a:tr h="480060">
                <a:tc>
                  <a:txBody>
                    <a:bodyPr/>
                    <a:lstStyle/>
                    <a:p>
                      <a:endParaRPr lang="zh-CN" altLang="en-US" sz="1000" dirty="0"/>
                    </a:p>
                  </a:txBody>
                  <a:tcPr marL="68580" marR="68580" marT="34290" marB="3429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700" dirty="0">
                          <a:solidFill>
                            <a:schemeClr val="tx1"/>
                          </a:solidFill>
                        </a:rPr>
                        <a:t>a</a:t>
                      </a:r>
                      <a:r>
                        <a:rPr lang="en-US" altLang="zh-CN" sz="2700" baseline="-25000" dirty="0">
                          <a:solidFill>
                            <a:schemeClr val="tx1"/>
                          </a:solidFill>
                        </a:rPr>
                        <a:t>i-1</a:t>
                      </a:r>
                      <a:endParaRPr lang="zh-CN" altLang="en-US" sz="2700" baseline="-250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0" dirty="0"/>
                    </a:p>
                  </a:txBody>
                  <a:tcPr marL="68580" marR="68580" marT="34290" marB="3429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0" dirty="0"/>
                    </a:p>
                  </a:txBody>
                  <a:tcPr marL="68580" marR="68580" marT="34290" marB="3429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2700" b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  <a:r>
                        <a:rPr lang="en-US" altLang="zh-CN" sz="2700" b="1" kern="1200" baseline="-250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</a:t>
                      </a:r>
                      <a:endParaRPr lang="zh-CN" altLang="en-US" sz="1000" baseline="-25000" dirty="0"/>
                    </a:p>
                  </a:txBody>
                  <a:tcPr marL="68580" marR="68580" marT="34290" marB="3429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0" dirty="0"/>
                    </a:p>
                  </a:txBody>
                  <a:tcPr marL="68580" marR="68580" marT="34290" marB="3429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0" dirty="0"/>
                    </a:p>
                  </a:txBody>
                  <a:tcPr marL="68580" marR="68580" marT="34290" marB="3429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cxnSp>
        <p:nvCxnSpPr>
          <p:cNvPr id="5" name="直接箭头连接符 4"/>
          <p:cNvCxnSpPr/>
          <p:nvPr/>
        </p:nvCxnSpPr>
        <p:spPr>
          <a:xfrm>
            <a:off x="1372273" y="3243568"/>
            <a:ext cx="39793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箭头连接符 5"/>
          <p:cNvCxnSpPr/>
          <p:nvPr/>
        </p:nvCxnSpPr>
        <p:spPr>
          <a:xfrm>
            <a:off x="2483300" y="3243568"/>
            <a:ext cx="39793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接箭头连接符 6"/>
          <p:cNvCxnSpPr/>
          <p:nvPr/>
        </p:nvCxnSpPr>
        <p:spPr>
          <a:xfrm>
            <a:off x="3537136" y="3243568"/>
            <a:ext cx="39793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/>
        </p:nvGrpSpPr>
        <p:grpSpPr>
          <a:xfrm>
            <a:off x="1211563" y="2786351"/>
            <a:ext cx="539594" cy="415498"/>
            <a:chOff x="2268197" y="2395660"/>
            <a:chExt cx="719459" cy="553996"/>
          </a:xfrm>
        </p:grpSpPr>
        <p:sp>
          <p:nvSpPr>
            <p:cNvPr id="9" name="文本框 8"/>
            <p:cNvSpPr txBox="1"/>
            <p:nvPr/>
          </p:nvSpPr>
          <p:spPr>
            <a:xfrm>
              <a:off x="2268197" y="2395660"/>
              <a:ext cx="434307" cy="55399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100" dirty="0">
                  <a:solidFill>
                    <a:srgbClr val="FF0000"/>
                  </a:solidFill>
                </a:rPr>
                <a:t>p</a:t>
              </a:r>
              <a:endParaRPr lang="zh-CN" altLang="en-US" sz="2100" dirty="0">
                <a:solidFill>
                  <a:srgbClr val="FF0000"/>
                </a:solidFill>
              </a:endParaRPr>
            </a:p>
          </p:txBody>
        </p:sp>
        <p:cxnSp>
          <p:nvCxnSpPr>
            <p:cNvPr id="10" name="直接箭头连接符 9"/>
            <p:cNvCxnSpPr/>
            <p:nvPr/>
          </p:nvCxnSpPr>
          <p:spPr>
            <a:xfrm>
              <a:off x="2578581" y="2636142"/>
              <a:ext cx="409075" cy="76236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表格 10"/>
          <p:cNvGraphicFramePr>
            <a:graphicFrameLocks noGrp="1"/>
          </p:cNvGraphicFramePr>
          <p:nvPr/>
        </p:nvGraphicFramePr>
        <p:xfrm>
          <a:off x="2455210" y="3692991"/>
          <a:ext cx="695928" cy="4800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0207"/>
                <a:gridCol w="245721"/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700" dirty="0">
                          <a:solidFill>
                            <a:schemeClr val="tx1"/>
                          </a:solidFill>
                        </a:rPr>
                        <a:t>x</a:t>
                      </a:r>
                      <a:endParaRPr lang="zh-CN" altLang="en-US" sz="27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0" dirty="0"/>
                    </a:p>
                  </a:txBody>
                  <a:tcPr marL="68580" marR="68580" marT="34290" marB="3429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12" name="直接箭头连接符 11"/>
          <p:cNvCxnSpPr/>
          <p:nvPr/>
        </p:nvCxnSpPr>
        <p:spPr>
          <a:xfrm>
            <a:off x="2161683" y="3943492"/>
            <a:ext cx="28223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1917386" y="3747284"/>
            <a:ext cx="290464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100" dirty="0">
                <a:solidFill>
                  <a:srgbClr val="FF0000"/>
                </a:solidFill>
              </a:rPr>
              <a:t>s</a:t>
            </a:r>
            <a:endParaRPr lang="zh-CN" altLang="en-US" sz="2100" dirty="0">
              <a:solidFill>
                <a:srgbClr val="FF0000"/>
              </a:solidFill>
            </a:endParaRPr>
          </a:p>
        </p:txBody>
      </p:sp>
      <p:cxnSp>
        <p:nvCxnSpPr>
          <p:cNvPr id="14" name="直接箭头连接符 13"/>
          <p:cNvCxnSpPr/>
          <p:nvPr/>
        </p:nvCxnSpPr>
        <p:spPr>
          <a:xfrm flipV="1">
            <a:off x="3065617" y="3486226"/>
            <a:ext cx="0" cy="37757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/>
          <p:cNvCxnSpPr/>
          <p:nvPr/>
        </p:nvCxnSpPr>
        <p:spPr>
          <a:xfrm flipH="1">
            <a:off x="2512004" y="3247351"/>
            <a:ext cx="4137" cy="44564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Box 56"/>
          <p:cNvSpPr txBox="1">
            <a:spLocks noChangeArrowheads="1"/>
          </p:cNvSpPr>
          <p:nvPr/>
        </p:nvSpPr>
        <p:spPr bwMode="auto">
          <a:xfrm>
            <a:off x="3969552" y="2823959"/>
            <a:ext cx="2126458" cy="4154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CN" sz="2100" dirty="0">
                <a:solidFill>
                  <a:srgbClr val="FF0000"/>
                </a:solidFill>
                <a:ea typeface="楷体_GB2312" pitchFamily="49" charset="-122"/>
              </a:rPr>
              <a:t>s-&gt;next=p-&gt;next;</a:t>
            </a:r>
            <a:endParaRPr lang="en-US" altLang="zh-CN" sz="2100" dirty="0">
              <a:solidFill>
                <a:srgbClr val="FF0000"/>
              </a:solidFill>
              <a:ea typeface="楷体_GB2312" pitchFamily="49" charset="-122"/>
            </a:endParaRPr>
          </a:p>
        </p:txBody>
      </p:sp>
      <p:sp>
        <p:nvSpPr>
          <p:cNvPr id="17" name="Text Box 56"/>
          <p:cNvSpPr txBox="1">
            <a:spLocks noChangeArrowheads="1"/>
          </p:cNvSpPr>
          <p:nvPr/>
        </p:nvSpPr>
        <p:spPr bwMode="auto">
          <a:xfrm>
            <a:off x="3974485" y="3167540"/>
            <a:ext cx="2126458" cy="4154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CN" sz="2100" dirty="0">
                <a:solidFill>
                  <a:srgbClr val="FF0000"/>
                </a:solidFill>
                <a:ea typeface="楷体_GB2312" pitchFamily="49" charset="-122"/>
              </a:rPr>
              <a:t>p-&gt;next=s </a:t>
            </a:r>
            <a:r>
              <a:rPr lang="zh-CN" altLang="en-US" sz="2100" dirty="0">
                <a:solidFill>
                  <a:srgbClr val="FF0000"/>
                </a:solidFill>
                <a:ea typeface="楷体_GB2312" pitchFamily="49" charset="-122"/>
              </a:rPr>
              <a:t>；</a:t>
            </a:r>
            <a:endParaRPr lang="zh-CN" altLang="en-US" sz="2100" dirty="0">
              <a:solidFill>
                <a:srgbClr val="FF0000"/>
              </a:solidFill>
              <a:ea typeface="楷体_GB2312" pitchFamily="49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 autoUpdateAnimBg="0" build="p"/>
      <p:bldP spid="17" grpId="0" autoUpdateAnimBg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2">
              <a:lnSpc>
                <a:spcPts val="2300"/>
              </a:lnSpc>
            </a:pPr>
            <a:r>
              <a:rPr lang="en-US" altLang="zh-CN" dirty="0"/>
              <a:t>Status </a:t>
            </a:r>
            <a:r>
              <a:rPr lang="en-US" altLang="zh-CN" dirty="0" err="1"/>
              <a:t>ListInsert_L</a:t>
            </a:r>
            <a:r>
              <a:rPr lang="en-US" altLang="zh-CN" dirty="0"/>
              <a:t>( </a:t>
            </a:r>
            <a:r>
              <a:rPr lang="en-US" altLang="zh-CN" dirty="0" err="1"/>
              <a:t>LinkList</a:t>
            </a:r>
            <a:r>
              <a:rPr lang="en-US" altLang="zh-CN" dirty="0"/>
              <a:t>  &amp;L, </a:t>
            </a:r>
            <a:r>
              <a:rPr lang="en-US" altLang="zh-CN" dirty="0" err="1"/>
              <a:t>int</a:t>
            </a:r>
            <a:r>
              <a:rPr lang="en-US" altLang="zh-CN" dirty="0"/>
              <a:t> </a:t>
            </a:r>
            <a:r>
              <a:rPr lang="en-US" altLang="zh-CN" dirty="0" err="1"/>
              <a:t>i</a:t>
            </a:r>
            <a:r>
              <a:rPr lang="en-US" altLang="zh-CN" dirty="0"/>
              <a:t>, </a:t>
            </a:r>
            <a:r>
              <a:rPr lang="en-US" altLang="zh-CN" dirty="0" err="1"/>
              <a:t>ElmeType</a:t>
            </a:r>
            <a:r>
              <a:rPr lang="en-US" altLang="zh-CN" dirty="0"/>
              <a:t> x ){</a:t>
            </a:r>
            <a:endParaRPr lang="en-US" altLang="zh-CN" dirty="0"/>
          </a:p>
          <a:p>
            <a:pPr lvl="2">
              <a:lnSpc>
                <a:spcPts val="2300"/>
              </a:lnSpc>
            </a:pPr>
            <a:r>
              <a:rPr lang="en-US" altLang="zh-CN" dirty="0"/>
              <a:t>	p=L; j=0; </a:t>
            </a:r>
            <a:endParaRPr lang="en-US" altLang="zh-CN" dirty="0"/>
          </a:p>
          <a:p>
            <a:pPr lvl="2">
              <a:lnSpc>
                <a:spcPts val="2300"/>
              </a:lnSpc>
            </a:pPr>
            <a:r>
              <a:rPr lang="en-US" altLang="zh-CN" dirty="0"/>
              <a:t>	while( p &amp;&amp; j&lt;i-1 )          </a:t>
            </a:r>
            <a:r>
              <a:rPr lang="en-US" altLang="zh-CN" dirty="0">
                <a:solidFill>
                  <a:srgbClr val="0070C0"/>
                </a:solidFill>
              </a:rPr>
              <a:t>/*</a:t>
            </a:r>
            <a:r>
              <a:rPr lang="zh-CN" altLang="en-US" dirty="0">
                <a:solidFill>
                  <a:srgbClr val="0070C0"/>
                </a:solidFill>
              </a:rPr>
              <a:t>查找第</a:t>
            </a:r>
            <a:r>
              <a:rPr lang="en-US" altLang="zh-CN" dirty="0">
                <a:solidFill>
                  <a:srgbClr val="0070C0"/>
                </a:solidFill>
              </a:rPr>
              <a:t>i-1</a:t>
            </a:r>
            <a:r>
              <a:rPr lang="zh-CN" altLang="en-US" dirty="0">
                <a:solidFill>
                  <a:srgbClr val="0070C0"/>
                </a:solidFill>
              </a:rPr>
              <a:t>个位置</a:t>
            </a:r>
            <a:r>
              <a:rPr lang="en-US" altLang="zh-CN" dirty="0">
                <a:solidFill>
                  <a:srgbClr val="0070C0"/>
                </a:solidFill>
              </a:rPr>
              <a:t>*/</a:t>
            </a:r>
            <a:endParaRPr lang="en-US" altLang="zh-CN" dirty="0"/>
          </a:p>
          <a:p>
            <a:pPr lvl="2">
              <a:lnSpc>
                <a:spcPts val="2300"/>
              </a:lnSpc>
            </a:pPr>
            <a:r>
              <a:rPr lang="en-US" altLang="zh-CN" dirty="0"/>
              <a:t>        {         </a:t>
            </a:r>
            <a:endParaRPr lang="en-US" altLang="zh-CN" dirty="0">
              <a:solidFill>
                <a:srgbClr val="0070C0"/>
              </a:solidFill>
            </a:endParaRPr>
          </a:p>
          <a:p>
            <a:pPr lvl="2">
              <a:lnSpc>
                <a:spcPts val="2300"/>
              </a:lnSpc>
            </a:pPr>
            <a:r>
              <a:rPr lang="en-US" altLang="zh-CN" dirty="0"/>
              <a:t>		p=p-&gt;next;</a:t>
            </a:r>
            <a:endParaRPr lang="en-US" altLang="zh-CN" dirty="0"/>
          </a:p>
          <a:p>
            <a:pPr lvl="2">
              <a:lnSpc>
                <a:spcPts val="2300"/>
              </a:lnSpc>
            </a:pPr>
            <a:r>
              <a:rPr lang="en-US" altLang="zh-CN" dirty="0"/>
              <a:t> 		++j;	</a:t>
            </a:r>
            <a:endParaRPr lang="en-US" altLang="zh-CN" dirty="0"/>
          </a:p>
          <a:p>
            <a:pPr lvl="2">
              <a:lnSpc>
                <a:spcPts val="2300"/>
              </a:lnSpc>
            </a:pPr>
            <a:r>
              <a:rPr lang="en-US" altLang="zh-CN" dirty="0"/>
              <a:t>        }</a:t>
            </a:r>
            <a:endParaRPr lang="en-US" altLang="zh-CN" dirty="0"/>
          </a:p>
          <a:p>
            <a:pPr lvl="2">
              <a:lnSpc>
                <a:spcPts val="2300"/>
              </a:lnSpc>
            </a:pPr>
            <a:r>
              <a:rPr lang="en-US" altLang="zh-CN" dirty="0"/>
              <a:t>	if( !p || j&gt;i-1 )  return  ERROR;</a:t>
            </a:r>
            <a:endParaRPr lang="en-US" altLang="zh-CN" dirty="0"/>
          </a:p>
          <a:p>
            <a:pPr lvl="2">
              <a:lnSpc>
                <a:spcPts val="2300"/>
              </a:lnSpc>
            </a:pPr>
            <a:r>
              <a:rPr lang="en-US" altLang="zh-CN" dirty="0"/>
              <a:t>	</a:t>
            </a:r>
            <a:r>
              <a:rPr lang="en-US" altLang="zh-CN" dirty="0">
                <a:solidFill>
                  <a:srgbClr val="FF0000"/>
                </a:solidFill>
              </a:rPr>
              <a:t>s=(</a:t>
            </a:r>
            <a:r>
              <a:rPr lang="en-US" altLang="zh-CN" dirty="0" err="1">
                <a:solidFill>
                  <a:srgbClr val="FF0000"/>
                </a:solidFill>
              </a:rPr>
              <a:t>LinkList</a:t>
            </a:r>
            <a:r>
              <a:rPr lang="en-US" altLang="zh-CN" dirty="0">
                <a:solidFill>
                  <a:srgbClr val="FF0000"/>
                </a:solidFill>
              </a:rPr>
              <a:t>)</a:t>
            </a:r>
            <a:r>
              <a:rPr lang="en-US" altLang="zh-CN" dirty="0" err="1">
                <a:solidFill>
                  <a:srgbClr val="FF0000"/>
                </a:solidFill>
              </a:rPr>
              <a:t>malloc</a:t>
            </a:r>
            <a:r>
              <a:rPr lang="en-US" altLang="zh-CN" dirty="0">
                <a:solidFill>
                  <a:srgbClr val="FF0000"/>
                </a:solidFill>
              </a:rPr>
              <a:t>(</a:t>
            </a:r>
            <a:r>
              <a:rPr lang="en-US" altLang="zh-CN" dirty="0" err="1">
                <a:solidFill>
                  <a:srgbClr val="FF0000"/>
                </a:solidFill>
              </a:rPr>
              <a:t>sizeof</a:t>
            </a:r>
            <a:r>
              <a:rPr lang="en-US" altLang="zh-CN" dirty="0">
                <a:solidFill>
                  <a:srgbClr val="FF0000"/>
                </a:solidFill>
              </a:rPr>
              <a:t>(</a:t>
            </a:r>
            <a:r>
              <a:rPr lang="en-US" altLang="zh-CN" dirty="0" err="1">
                <a:solidFill>
                  <a:srgbClr val="FF0000"/>
                </a:solidFill>
              </a:rPr>
              <a:t>LNode</a:t>
            </a:r>
            <a:r>
              <a:rPr lang="en-US" altLang="zh-CN" dirty="0">
                <a:solidFill>
                  <a:srgbClr val="FF0000"/>
                </a:solidFill>
              </a:rPr>
              <a:t>)); </a:t>
            </a:r>
            <a:endParaRPr lang="en-US" altLang="zh-CN" dirty="0">
              <a:solidFill>
                <a:srgbClr val="0070C0"/>
              </a:solidFill>
            </a:endParaRPr>
          </a:p>
          <a:p>
            <a:pPr lvl="2">
              <a:lnSpc>
                <a:spcPts val="2300"/>
              </a:lnSpc>
            </a:pPr>
            <a:r>
              <a:rPr lang="en-US" altLang="zh-CN" dirty="0">
                <a:solidFill>
                  <a:srgbClr val="FF0000"/>
                </a:solidFill>
              </a:rPr>
              <a:t>	s-&gt;data=x;</a:t>
            </a:r>
            <a:endParaRPr lang="en-US" altLang="zh-CN" dirty="0">
              <a:solidFill>
                <a:srgbClr val="FF0000"/>
              </a:solidFill>
            </a:endParaRPr>
          </a:p>
          <a:p>
            <a:pPr lvl="2">
              <a:lnSpc>
                <a:spcPts val="2300"/>
              </a:lnSpc>
            </a:pPr>
            <a:r>
              <a:rPr lang="en-US" altLang="zh-CN" dirty="0">
                <a:solidFill>
                  <a:srgbClr val="FF0000"/>
                </a:solidFill>
              </a:rPr>
              <a:t> 	s-&gt;next=p-&gt;next;                     </a:t>
            </a:r>
            <a:r>
              <a:rPr lang="en-US" altLang="zh-CN" dirty="0">
                <a:solidFill>
                  <a:srgbClr val="0070C0"/>
                </a:solidFill>
              </a:rPr>
              <a:t>/*</a:t>
            </a:r>
            <a:r>
              <a:rPr lang="zh-CN" altLang="en-US" dirty="0">
                <a:solidFill>
                  <a:srgbClr val="0070C0"/>
                </a:solidFill>
              </a:rPr>
              <a:t>插入新结点</a:t>
            </a:r>
            <a:r>
              <a:rPr lang="en-US" altLang="zh-CN" dirty="0">
                <a:solidFill>
                  <a:srgbClr val="0070C0"/>
                </a:solidFill>
              </a:rPr>
              <a:t>*/</a:t>
            </a:r>
            <a:endParaRPr lang="en-US" altLang="zh-CN" dirty="0">
              <a:solidFill>
                <a:srgbClr val="0070C0"/>
              </a:solidFill>
            </a:endParaRPr>
          </a:p>
          <a:p>
            <a:pPr lvl="2">
              <a:lnSpc>
                <a:spcPts val="2300"/>
              </a:lnSpc>
            </a:pPr>
            <a:r>
              <a:rPr lang="en-US" altLang="zh-CN" dirty="0">
                <a:solidFill>
                  <a:srgbClr val="FF0000"/>
                </a:solidFill>
              </a:rPr>
              <a:t> 	p-&gt;next=s;</a:t>
            </a:r>
            <a:endParaRPr lang="en-US" altLang="zh-CN" dirty="0">
              <a:solidFill>
                <a:srgbClr val="FF0000"/>
              </a:solidFill>
            </a:endParaRPr>
          </a:p>
          <a:p>
            <a:pPr lvl="2">
              <a:lnSpc>
                <a:spcPts val="2300"/>
              </a:lnSpc>
            </a:pPr>
            <a:r>
              <a:rPr lang="en-US" altLang="zh-CN" dirty="0"/>
              <a:t>	return  OK;</a:t>
            </a:r>
            <a:endParaRPr lang="en-US" altLang="zh-CN" dirty="0"/>
          </a:p>
          <a:p>
            <a:pPr lvl="2">
              <a:lnSpc>
                <a:spcPts val="2300"/>
              </a:lnSpc>
            </a:pPr>
            <a:r>
              <a:rPr lang="en-US" altLang="zh-CN" dirty="0"/>
              <a:t>} </a:t>
            </a:r>
            <a:endParaRPr lang="zh-CN" altLang="en-US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2.3 </a:t>
            </a:r>
            <a:r>
              <a:rPr lang="zh-CN" altLang="en-US" dirty="0"/>
              <a:t>线性表的链式表示和实现</a:t>
            </a:r>
            <a:endParaRPr lang="zh-CN" altLang="en-US" dirty="0"/>
          </a:p>
        </p:txBody>
      </p:sp>
      <p:grpSp>
        <p:nvGrpSpPr>
          <p:cNvPr id="4" name="组合 3"/>
          <p:cNvGrpSpPr/>
          <p:nvPr/>
        </p:nvGrpSpPr>
        <p:grpSpPr>
          <a:xfrm>
            <a:off x="4577138" y="1868132"/>
            <a:ext cx="1746660" cy="631255"/>
            <a:chOff x="6102849" y="1633592"/>
            <a:chExt cx="1897914" cy="841673"/>
          </a:xfrm>
        </p:grpSpPr>
        <p:sp>
          <p:nvSpPr>
            <p:cNvPr id="5" name="矩形标注 4"/>
            <p:cNvSpPr/>
            <p:nvPr/>
          </p:nvSpPr>
          <p:spPr>
            <a:xfrm>
              <a:off x="6102849" y="1633592"/>
              <a:ext cx="1897914" cy="575353"/>
            </a:xfrm>
            <a:prstGeom prst="wedgeRectCallout">
              <a:avLst>
                <a:gd name="adj1" fmla="val -129841"/>
                <a:gd name="adj2" fmla="val -25632"/>
              </a:avLst>
            </a:prstGeom>
            <a:noFill/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6" name="文本框 5"/>
            <p:cNvSpPr txBox="1"/>
            <p:nvPr/>
          </p:nvSpPr>
          <p:spPr>
            <a:xfrm>
              <a:off x="6150116" y="1721213"/>
              <a:ext cx="1789770" cy="75405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zh-CN" altLang="en-US" sz="1575" b="1" dirty="0">
                  <a:solidFill>
                    <a:srgbClr val="00194C"/>
                  </a:solidFill>
                  <a:latin typeface="华文楷体" panose="02010600040101010101" pitchFamily="2" charset="-122"/>
                  <a:ea typeface="华文楷体" panose="02010600040101010101" pitchFamily="2" charset="-122"/>
                </a:rPr>
                <a:t>时间复杂度</a:t>
              </a:r>
              <a:r>
                <a:rPr lang="en-US" altLang="zh-CN" sz="1500" b="1" dirty="0">
                  <a:solidFill>
                    <a:srgbClr val="FF0000"/>
                  </a:solidFill>
                </a:rPr>
                <a:t>O(n)</a:t>
              </a:r>
              <a:endParaRPr lang="zh-CN" altLang="en-US" sz="1500" b="1" dirty="0">
                <a:solidFill>
                  <a:srgbClr val="FF0000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4. </a:t>
            </a:r>
            <a:r>
              <a:rPr lang="zh-CN" altLang="en-US" dirty="0"/>
              <a:t>删除（删除单链表第</a:t>
            </a:r>
            <a:r>
              <a:rPr lang="en-US" altLang="zh-CN" dirty="0" err="1"/>
              <a:t>i</a:t>
            </a:r>
            <a:r>
              <a:rPr lang="zh-CN" altLang="en-US" dirty="0"/>
              <a:t>个结点）</a:t>
            </a:r>
            <a:endParaRPr lang="en-US" altLang="zh-CN" dirty="0"/>
          </a:p>
          <a:p>
            <a:pPr lvl="2"/>
            <a:r>
              <a:rPr lang="zh-CN" altLang="en-US" dirty="0"/>
              <a:t>删除步骤：</a:t>
            </a:r>
            <a:endParaRPr lang="en-US" altLang="zh-CN" dirty="0"/>
          </a:p>
          <a:p>
            <a:pPr lvl="2"/>
            <a:r>
              <a:rPr lang="zh-CN" altLang="en-US" dirty="0"/>
              <a:t>（</a:t>
            </a:r>
            <a:r>
              <a:rPr lang="en-US" altLang="zh-CN" dirty="0"/>
              <a:t>1</a:t>
            </a:r>
            <a:r>
              <a:rPr lang="zh-CN" altLang="en-US" dirty="0"/>
              <a:t>）查找第</a:t>
            </a:r>
            <a:r>
              <a:rPr lang="en-US" altLang="zh-CN" dirty="0"/>
              <a:t>i-1</a:t>
            </a:r>
            <a:r>
              <a:rPr lang="zh-CN" altLang="en-US" dirty="0"/>
              <a:t>个结点并由指针</a:t>
            </a:r>
            <a:r>
              <a:rPr lang="en-US" altLang="zh-CN" dirty="0"/>
              <a:t>p</a:t>
            </a:r>
            <a:r>
              <a:rPr lang="zh-CN" altLang="en-US" dirty="0"/>
              <a:t>指示；</a:t>
            </a:r>
            <a:endParaRPr lang="en-US" altLang="zh-CN" dirty="0"/>
          </a:p>
          <a:p>
            <a:pPr lvl="2"/>
            <a:r>
              <a:rPr lang="zh-CN" altLang="en-US" dirty="0"/>
              <a:t>（</a:t>
            </a:r>
            <a:r>
              <a:rPr lang="en-US" altLang="zh-CN" dirty="0"/>
              <a:t>2</a:t>
            </a:r>
            <a:r>
              <a:rPr lang="zh-CN" altLang="en-US" dirty="0"/>
              <a:t>）设指针</a:t>
            </a:r>
            <a:r>
              <a:rPr lang="en-US" altLang="zh-CN" dirty="0"/>
              <a:t>q</a:t>
            </a:r>
            <a:r>
              <a:rPr lang="zh-CN" altLang="en-US" dirty="0"/>
              <a:t>指向第</a:t>
            </a:r>
            <a:r>
              <a:rPr lang="en-US" altLang="zh-CN" dirty="0" err="1"/>
              <a:t>i</a:t>
            </a:r>
            <a:r>
              <a:rPr lang="zh-CN" altLang="en-US" dirty="0"/>
              <a:t>个结点；</a:t>
            </a:r>
            <a:endParaRPr lang="en-US" altLang="zh-CN" dirty="0"/>
          </a:p>
          <a:p>
            <a:pPr lvl="2"/>
            <a:r>
              <a:rPr lang="zh-CN" altLang="en-US" dirty="0"/>
              <a:t>（</a:t>
            </a:r>
            <a:r>
              <a:rPr lang="en-US" altLang="zh-CN" dirty="0"/>
              <a:t>3</a:t>
            </a:r>
            <a:r>
              <a:rPr lang="zh-CN" altLang="en-US" dirty="0"/>
              <a:t>）修改</a:t>
            </a:r>
            <a:r>
              <a:rPr lang="en-US" altLang="zh-CN" dirty="0"/>
              <a:t>p</a:t>
            </a:r>
            <a:r>
              <a:rPr lang="zh-CN" altLang="en-US" dirty="0"/>
              <a:t>结点的指针域，并释放</a:t>
            </a:r>
            <a:r>
              <a:rPr lang="en-US" altLang="zh-CN" dirty="0"/>
              <a:t>q</a:t>
            </a:r>
            <a:r>
              <a:rPr lang="zh-CN" altLang="en-US" dirty="0"/>
              <a:t>结点。</a:t>
            </a:r>
            <a:endParaRPr lang="en-US" altLang="zh-CN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2.3 </a:t>
            </a:r>
            <a:r>
              <a:rPr lang="zh-CN" altLang="en-US" dirty="0"/>
              <a:t>线性表的链式表示和实现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/>
        </p:nvGraphicFramePr>
        <p:xfrm>
          <a:off x="979447" y="3116353"/>
          <a:ext cx="3115373" cy="4800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591"/>
                <a:gridCol w="602505"/>
                <a:gridCol w="224894"/>
                <a:gridCol w="338439"/>
                <a:gridCol w="482609"/>
                <a:gridCol w="228735"/>
                <a:gridCol w="245905"/>
                <a:gridCol w="605967"/>
                <a:gridCol w="164728"/>
              </a:tblGrid>
              <a:tr h="480060">
                <a:tc>
                  <a:txBody>
                    <a:bodyPr/>
                    <a:lstStyle/>
                    <a:p>
                      <a:endParaRPr lang="zh-CN" altLang="en-US" sz="1000" dirty="0"/>
                    </a:p>
                  </a:txBody>
                  <a:tcPr marL="68580" marR="68580" marT="34290" marB="3429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700" dirty="0">
                          <a:solidFill>
                            <a:schemeClr val="tx1"/>
                          </a:solidFill>
                        </a:rPr>
                        <a:t>a</a:t>
                      </a:r>
                      <a:r>
                        <a:rPr lang="en-US" altLang="zh-CN" sz="2700" baseline="-25000" dirty="0">
                          <a:solidFill>
                            <a:schemeClr val="tx1"/>
                          </a:solidFill>
                        </a:rPr>
                        <a:t>i-1</a:t>
                      </a:r>
                      <a:endParaRPr lang="zh-CN" altLang="en-US" sz="2700" baseline="-250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0" dirty="0"/>
                    </a:p>
                  </a:txBody>
                  <a:tcPr marL="68580" marR="68580" marT="34290" marB="3429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0" dirty="0"/>
                    </a:p>
                  </a:txBody>
                  <a:tcPr marL="68580" marR="68580" marT="34290" marB="3429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700" dirty="0" err="1">
                          <a:solidFill>
                            <a:schemeClr val="tx1"/>
                          </a:solidFill>
                        </a:rPr>
                        <a:t>a</a:t>
                      </a:r>
                      <a:r>
                        <a:rPr lang="en-US" altLang="zh-CN" sz="2700" baseline="-25000" dirty="0" err="1">
                          <a:solidFill>
                            <a:schemeClr val="tx1"/>
                          </a:solidFill>
                        </a:rPr>
                        <a:t>i</a:t>
                      </a:r>
                      <a:endParaRPr lang="zh-CN" altLang="en-US" sz="2700" baseline="-25000" dirty="0">
                        <a:solidFill>
                          <a:schemeClr val="tx1"/>
                        </a:solidFill>
                      </a:endParaRPr>
                    </a:p>
                  </a:txBody>
                  <a:tcPr marL="68580" marR="68580" marT="34290" marB="3429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0" dirty="0"/>
                    </a:p>
                  </a:txBody>
                  <a:tcPr marL="68580" marR="68580" marT="34290" marB="3429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27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2700" dirty="0">
                          <a:solidFill>
                            <a:schemeClr val="tx1"/>
                          </a:solidFill>
                        </a:rPr>
                        <a:t>a</a:t>
                      </a:r>
                      <a:r>
                        <a:rPr lang="en-US" altLang="zh-CN" sz="2700" baseline="-25000" dirty="0">
                          <a:solidFill>
                            <a:schemeClr val="tx1"/>
                          </a:solidFill>
                        </a:rPr>
                        <a:t>i+1</a:t>
                      </a:r>
                      <a:endParaRPr lang="zh-CN" altLang="en-US" sz="27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0" dirty="0"/>
                    </a:p>
                  </a:txBody>
                  <a:tcPr marL="68580" marR="68580" marT="34290" marB="3429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cxnSp>
        <p:nvCxnSpPr>
          <p:cNvPr id="5" name="直接箭头连接符 4"/>
          <p:cNvCxnSpPr/>
          <p:nvPr/>
        </p:nvCxnSpPr>
        <p:spPr>
          <a:xfrm>
            <a:off x="738240" y="3366854"/>
            <a:ext cx="39793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箭头连接符 5"/>
          <p:cNvCxnSpPr/>
          <p:nvPr/>
        </p:nvCxnSpPr>
        <p:spPr>
          <a:xfrm>
            <a:off x="1955955" y="3366854"/>
            <a:ext cx="39793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接箭头连接符 6"/>
          <p:cNvCxnSpPr/>
          <p:nvPr/>
        </p:nvCxnSpPr>
        <p:spPr>
          <a:xfrm>
            <a:off x="2918191" y="3363066"/>
            <a:ext cx="39793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/>
        </p:nvGrpSpPr>
        <p:grpSpPr>
          <a:xfrm>
            <a:off x="626119" y="2840288"/>
            <a:ext cx="539594" cy="415498"/>
            <a:chOff x="2268197" y="2303194"/>
            <a:chExt cx="719459" cy="553996"/>
          </a:xfrm>
        </p:grpSpPr>
        <p:sp>
          <p:nvSpPr>
            <p:cNvPr id="9" name="文本框 8"/>
            <p:cNvSpPr txBox="1"/>
            <p:nvPr/>
          </p:nvSpPr>
          <p:spPr>
            <a:xfrm>
              <a:off x="2268197" y="2303194"/>
              <a:ext cx="434307" cy="55399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100" dirty="0">
                  <a:solidFill>
                    <a:srgbClr val="FF0000"/>
                  </a:solidFill>
                </a:rPr>
                <a:t>p</a:t>
              </a:r>
              <a:endParaRPr lang="zh-CN" altLang="en-US" sz="2100" dirty="0">
                <a:solidFill>
                  <a:srgbClr val="FF0000"/>
                </a:solidFill>
              </a:endParaRPr>
            </a:p>
          </p:txBody>
        </p:sp>
        <p:cxnSp>
          <p:nvCxnSpPr>
            <p:cNvPr id="10" name="直接箭头连接符 9"/>
            <p:cNvCxnSpPr/>
            <p:nvPr/>
          </p:nvCxnSpPr>
          <p:spPr>
            <a:xfrm>
              <a:off x="2578581" y="2636142"/>
              <a:ext cx="409075" cy="76236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 Box 56"/>
          <p:cNvSpPr txBox="1">
            <a:spLocks noChangeArrowheads="1"/>
          </p:cNvSpPr>
          <p:nvPr/>
        </p:nvSpPr>
        <p:spPr bwMode="auto">
          <a:xfrm>
            <a:off x="4437268" y="2858546"/>
            <a:ext cx="2014967" cy="10618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CN" sz="2100" dirty="0">
                <a:solidFill>
                  <a:srgbClr val="FF0000"/>
                </a:solidFill>
                <a:ea typeface="楷体_GB2312" pitchFamily="49" charset="-122"/>
              </a:rPr>
              <a:t>q=p-&gt;next;</a:t>
            </a:r>
            <a:endParaRPr lang="en-US" altLang="zh-CN" sz="2100" dirty="0">
              <a:solidFill>
                <a:srgbClr val="FF0000"/>
              </a:solidFill>
              <a:ea typeface="楷体_GB2312" pitchFamily="49" charset="-122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CN" sz="2100" dirty="0">
                <a:solidFill>
                  <a:srgbClr val="FF0000"/>
                </a:solidFill>
                <a:ea typeface="楷体_GB2312" pitchFamily="49" charset="-122"/>
              </a:rPr>
              <a:t>p-&gt;next=q-&gt;next;</a:t>
            </a:r>
            <a:endParaRPr lang="en-US" altLang="zh-CN" sz="2100" dirty="0">
              <a:solidFill>
                <a:srgbClr val="FF0000"/>
              </a:solidFill>
              <a:ea typeface="楷体_GB2312" pitchFamily="49" charset="-122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zh-CN" sz="2100" dirty="0">
                <a:solidFill>
                  <a:srgbClr val="FF0000"/>
                </a:solidFill>
                <a:ea typeface="楷体_GB2312" pitchFamily="49" charset="-122"/>
              </a:rPr>
              <a:t>free(q);</a:t>
            </a:r>
            <a:endParaRPr lang="en-US" altLang="zh-CN" sz="2100" dirty="0">
              <a:solidFill>
                <a:srgbClr val="FF0000"/>
              </a:solidFill>
              <a:ea typeface="楷体_GB2312" pitchFamily="49" charset="-122"/>
            </a:endParaRPr>
          </a:p>
        </p:txBody>
      </p:sp>
      <p:cxnSp>
        <p:nvCxnSpPr>
          <p:cNvPr id="12" name="直接箭头连接符 11"/>
          <p:cNvCxnSpPr/>
          <p:nvPr/>
        </p:nvCxnSpPr>
        <p:spPr>
          <a:xfrm>
            <a:off x="3973112" y="3363066"/>
            <a:ext cx="39793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组合 12"/>
          <p:cNvGrpSpPr/>
          <p:nvPr/>
        </p:nvGrpSpPr>
        <p:grpSpPr>
          <a:xfrm>
            <a:off x="1960266" y="2713430"/>
            <a:ext cx="527481" cy="415498"/>
            <a:chOff x="2268197" y="2303194"/>
            <a:chExt cx="703308" cy="553997"/>
          </a:xfrm>
        </p:grpSpPr>
        <p:sp>
          <p:nvSpPr>
            <p:cNvPr id="14" name="文本框 13"/>
            <p:cNvSpPr txBox="1"/>
            <p:nvPr/>
          </p:nvSpPr>
          <p:spPr>
            <a:xfrm>
              <a:off x="2268197" y="2303194"/>
              <a:ext cx="434307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100" dirty="0">
                  <a:solidFill>
                    <a:srgbClr val="FF0000"/>
                  </a:solidFill>
                </a:rPr>
                <a:t>q</a:t>
              </a:r>
              <a:endParaRPr lang="zh-CN" altLang="en-US" sz="2100" dirty="0">
                <a:solidFill>
                  <a:srgbClr val="FF0000"/>
                </a:solidFill>
              </a:endParaRPr>
            </a:p>
          </p:txBody>
        </p:sp>
        <p:cxnSp>
          <p:nvCxnSpPr>
            <p:cNvPr id="15" name="直接箭头连接符 14"/>
            <p:cNvCxnSpPr/>
            <p:nvPr/>
          </p:nvCxnSpPr>
          <p:spPr>
            <a:xfrm>
              <a:off x="2578581" y="2636142"/>
              <a:ext cx="392924" cy="16914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组合 15"/>
          <p:cNvGrpSpPr/>
          <p:nvPr/>
        </p:nvGrpSpPr>
        <p:grpSpPr>
          <a:xfrm>
            <a:off x="1936905" y="3363067"/>
            <a:ext cx="1375343" cy="431386"/>
            <a:chOff x="3693706" y="3442015"/>
            <a:chExt cx="1833790" cy="575181"/>
          </a:xfrm>
        </p:grpSpPr>
        <p:cxnSp>
          <p:nvCxnSpPr>
            <p:cNvPr id="17" name="直接连接符 16"/>
            <p:cNvCxnSpPr/>
            <p:nvPr/>
          </p:nvCxnSpPr>
          <p:spPr>
            <a:xfrm>
              <a:off x="3693706" y="3442015"/>
              <a:ext cx="0" cy="57518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连接符 17"/>
            <p:cNvCxnSpPr/>
            <p:nvPr/>
          </p:nvCxnSpPr>
          <p:spPr>
            <a:xfrm flipV="1">
              <a:off x="3693706" y="4017195"/>
              <a:ext cx="1823516" cy="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接箭头连接符 18"/>
            <p:cNvCxnSpPr/>
            <p:nvPr/>
          </p:nvCxnSpPr>
          <p:spPr>
            <a:xfrm flipV="1">
              <a:off x="5517222" y="3729605"/>
              <a:ext cx="10274" cy="287591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矩形 19"/>
          <p:cNvSpPr/>
          <p:nvPr/>
        </p:nvSpPr>
        <p:spPr>
          <a:xfrm>
            <a:off x="2373981" y="3118587"/>
            <a:ext cx="711714" cy="460172"/>
          </a:xfrm>
          <a:prstGeom prst="rect">
            <a:avLst/>
          </a:prstGeom>
          <a:noFill/>
          <a:ln w="38100" cmpd="sng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utoUpdateAnimBg="0" uiExpand="1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6670" lvl="2" indent="-26670">
              <a:lnSpc>
                <a:spcPts val="2400"/>
              </a:lnSpc>
            </a:pPr>
            <a:r>
              <a:rPr lang="en-US" altLang="zh-CN" dirty="0"/>
              <a:t>Status </a:t>
            </a:r>
            <a:r>
              <a:rPr lang="en-US" altLang="zh-CN" dirty="0" err="1"/>
              <a:t>ListDelete_L</a:t>
            </a:r>
            <a:r>
              <a:rPr lang="en-US" altLang="zh-CN" dirty="0"/>
              <a:t>( </a:t>
            </a:r>
            <a:r>
              <a:rPr lang="en-US" altLang="zh-CN" dirty="0" err="1"/>
              <a:t>LinkList</a:t>
            </a:r>
            <a:r>
              <a:rPr lang="en-US" altLang="zh-CN" dirty="0"/>
              <a:t>  &amp;L, </a:t>
            </a:r>
            <a:r>
              <a:rPr lang="en-US" altLang="zh-CN" dirty="0" err="1"/>
              <a:t>int</a:t>
            </a:r>
            <a:r>
              <a:rPr lang="en-US" altLang="zh-CN" dirty="0"/>
              <a:t> </a:t>
            </a:r>
            <a:r>
              <a:rPr lang="en-US" altLang="zh-CN" dirty="0" err="1"/>
              <a:t>i</a:t>
            </a:r>
            <a:r>
              <a:rPr lang="en-US" altLang="zh-CN" dirty="0"/>
              <a:t>, </a:t>
            </a:r>
            <a:r>
              <a:rPr lang="en-US" altLang="zh-CN" dirty="0" err="1"/>
              <a:t>Elemtype</a:t>
            </a:r>
            <a:r>
              <a:rPr lang="en-US" altLang="zh-CN" dirty="0"/>
              <a:t> &amp;e ){</a:t>
            </a:r>
            <a:endParaRPr lang="en-US" altLang="zh-CN" dirty="0"/>
          </a:p>
          <a:p>
            <a:pPr lvl="2">
              <a:lnSpc>
                <a:spcPts val="2400"/>
              </a:lnSpc>
            </a:pPr>
            <a:r>
              <a:rPr lang="en-US" altLang="zh-CN" dirty="0"/>
              <a:t>	p=L; j=0;</a:t>
            </a:r>
            <a:endParaRPr lang="en-US" altLang="zh-CN" dirty="0"/>
          </a:p>
          <a:p>
            <a:pPr lvl="2">
              <a:lnSpc>
                <a:spcPts val="2400"/>
              </a:lnSpc>
            </a:pPr>
            <a:r>
              <a:rPr lang="en-US" altLang="zh-CN" dirty="0"/>
              <a:t>	while ( p-&gt;next &amp;&amp; j&lt;i-1 ){</a:t>
            </a:r>
            <a:endParaRPr lang="en-US" altLang="zh-CN" dirty="0"/>
          </a:p>
          <a:p>
            <a:pPr lvl="2">
              <a:lnSpc>
                <a:spcPts val="2400"/>
              </a:lnSpc>
            </a:pPr>
            <a:r>
              <a:rPr lang="en-US" altLang="zh-CN" dirty="0"/>
              <a:t>	    p=p-&gt;next; </a:t>
            </a:r>
            <a:endParaRPr lang="en-US" altLang="zh-CN" dirty="0"/>
          </a:p>
          <a:p>
            <a:pPr lvl="2">
              <a:lnSpc>
                <a:spcPts val="2400"/>
              </a:lnSpc>
            </a:pPr>
            <a:r>
              <a:rPr lang="en-US" altLang="zh-CN" dirty="0"/>
              <a:t>	    ++j;</a:t>
            </a:r>
            <a:endParaRPr lang="en-US" altLang="zh-CN" dirty="0"/>
          </a:p>
          <a:p>
            <a:pPr lvl="2">
              <a:lnSpc>
                <a:spcPts val="2400"/>
              </a:lnSpc>
            </a:pPr>
            <a:r>
              <a:rPr lang="en-US" altLang="zh-CN" dirty="0"/>
              <a:t>	}</a:t>
            </a:r>
            <a:endParaRPr lang="en-US" altLang="zh-CN" dirty="0"/>
          </a:p>
          <a:p>
            <a:pPr lvl="2">
              <a:lnSpc>
                <a:spcPts val="2400"/>
              </a:lnSpc>
            </a:pPr>
            <a:r>
              <a:rPr lang="en-US" altLang="zh-CN" dirty="0"/>
              <a:t>	if ( !( p-&gt;next ) || j&gt;i-1 )  return  ERROR ;</a:t>
            </a:r>
            <a:endParaRPr lang="en-US" altLang="zh-CN" dirty="0"/>
          </a:p>
          <a:p>
            <a:pPr lvl="2">
              <a:lnSpc>
                <a:spcPts val="2400"/>
              </a:lnSpc>
            </a:pPr>
            <a:r>
              <a:rPr lang="en-US" altLang="zh-CN" dirty="0"/>
              <a:t>	</a:t>
            </a:r>
            <a:r>
              <a:rPr lang="en-US" altLang="zh-CN" dirty="0">
                <a:solidFill>
                  <a:srgbClr val="FF0000"/>
                </a:solidFill>
              </a:rPr>
              <a:t>q = p-&gt;next; </a:t>
            </a:r>
            <a:endParaRPr lang="en-US" altLang="zh-CN" dirty="0">
              <a:solidFill>
                <a:srgbClr val="FF0000"/>
              </a:solidFill>
            </a:endParaRPr>
          </a:p>
          <a:p>
            <a:pPr lvl="2">
              <a:lnSpc>
                <a:spcPts val="2400"/>
              </a:lnSpc>
            </a:pPr>
            <a:r>
              <a:rPr lang="en-US" altLang="zh-CN" dirty="0">
                <a:solidFill>
                  <a:srgbClr val="FF0000"/>
                </a:solidFill>
              </a:rPr>
              <a:t>	p-&gt;next=q-&gt;next;</a:t>
            </a:r>
            <a:endParaRPr lang="en-US" altLang="zh-CN" dirty="0">
              <a:solidFill>
                <a:srgbClr val="FF0000"/>
              </a:solidFill>
            </a:endParaRPr>
          </a:p>
          <a:p>
            <a:pPr lvl="2">
              <a:lnSpc>
                <a:spcPts val="2400"/>
              </a:lnSpc>
            </a:pPr>
            <a:r>
              <a:rPr lang="en-US" altLang="zh-CN" dirty="0">
                <a:solidFill>
                  <a:srgbClr val="FF0000"/>
                </a:solidFill>
              </a:rPr>
              <a:t>	e = q-&gt;data; </a:t>
            </a:r>
            <a:endParaRPr lang="en-US" altLang="zh-CN" dirty="0">
              <a:solidFill>
                <a:srgbClr val="FF0000"/>
              </a:solidFill>
            </a:endParaRPr>
          </a:p>
          <a:p>
            <a:pPr lvl="2">
              <a:lnSpc>
                <a:spcPts val="2400"/>
              </a:lnSpc>
            </a:pPr>
            <a:r>
              <a:rPr lang="en-US" altLang="zh-CN" dirty="0">
                <a:solidFill>
                  <a:srgbClr val="FF0000"/>
                </a:solidFill>
              </a:rPr>
              <a:t>	free( q );</a:t>
            </a:r>
            <a:endParaRPr lang="en-US" altLang="zh-CN" dirty="0">
              <a:solidFill>
                <a:srgbClr val="FF0000"/>
              </a:solidFill>
            </a:endParaRPr>
          </a:p>
          <a:p>
            <a:pPr lvl="2">
              <a:lnSpc>
                <a:spcPts val="2400"/>
              </a:lnSpc>
            </a:pPr>
            <a:r>
              <a:rPr lang="en-US" altLang="zh-CN" dirty="0"/>
              <a:t>	return OK;</a:t>
            </a:r>
            <a:endParaRPr lang="en-US" altLang="zh-CN" dirty="0"/>
          </a:p>
          <a:p>
            <a:pPr lvl="2">
              <a:lnSpc>
                <a:spcPts val="2400"/>
              </a:lnSpc>
            </a:pPr>
            <a:r>
              <a:rPr lang="en-US" altLang="zh-CN" dirty="0"/>
              <a:t>} </a:t>
            </a:r>
            <a:endParaRPr lang="zh-CN" altLang="en-US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2.3 </a:t>
            </a:r>
            <a:r>
              <a:rPr lang="zh-CN" altLang="en-US" dirty="0"/>
              <a:t>线性表的链式表示和实现</a:t>
            </a:r>
            <a:endParaRPr lang="zh-CN" altLang="en-US" dirty="0"/>
          </a:p>
        </p:txBody>
      </p:sp>
      <p:grpSp>
        <p:nvGrpSpPr>
          <p:cNvPr id="4" name="组合 3"/>
          <p:cNvGrpSpPr/>
          <p:nvPr/>
        </p:nvGrpSpPr>
        <p:grpSpPr>
          <a:xfrm>
            <a:off x="4686490" y="1513673"/>
            <a:ext cx="1559552" cy="431515"/>
            <a:chOff x="6246687" y="1160980"/>
            <a:chExt cx="1897914" cy="575353"/>
          </a:xfr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6200000" scaled="1"/>
            <a:tileRect/>
          </a:gradFill>
        </p:grpSpPr>
        <p:sp>
          <p:nvSpPr>
            <p:cNvPr id="5" name="矩形标注 4"/>
            <p:cNvSpPr/>
            <p:nvPr/>
          </p:nvSpPr>
          <p:spPr>
            <a:xfrm>
              <a:off x="6246687" y="1160980"/>
              <a:ext cx="1897914" cy="575353"/>
            </a:xfrm>
            <a:prstGeom prst="wedgeRectCallout">
              <a:avLst>
                <a:gd name="adj1" fmla="val -167998"/>
                <a:gd name="adj2" fmla="val 135"/>
              </a:avLst>
            </a:prstGeom>
            <a:grpFill/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6" name="文本框 5"/>
            <p:cNvSpPr txBox="1"/>
            <p:nvPr/>
          </p:nvSpPr>
          <p:spPr>
            <a:xfrm>
              <a:off x="6295692" y="1242108"/>
              <a:ext cx="1817006" cy="446276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zh-CN" altLang="en-US" sz="1575" b="1" dirty="0">
                  <a:solidFill>
                    <a:srgbClr val="00194C"/>
                  </a:solidFill>
                  <a:latin typeface="华文楷体" panose="02010600040101010101" pitchFamily="2" charset="-122"/>
                  <a:ea typeface="华文楷体" panose="02010600040101010101" pitchFamily="2" charset="-122"/>
                </a:rPr>
                <a:t>时间复杂度</a:t>
              </a:r>
              <a:r>
                <a:rPr lang="en-US" altLang="zh-CN" sz="1500" b="1" dirty="0">
                  <a:solidFill>
                    <a:srgbClr val="FF0000"/>
                  </a:solidFill>
                </a:rPr>
                <a:t>O(n)</a:t>
              </a:r>
              <a:endParaRPr lang="zh-CN" altLang="en-US" sz="1500" b="1" dirty="0">
                <a:solidFill>
                  <a:srgbClr val="FF0000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5.</a:t>
            </a:r>
            <a:r>
              <a:rPr lang="zh-CN" altLang="en-US" dirty="0"/>
              <a:t>建立单链表</a:t>
            </a:r>
            <a:endParaRPr lang="en-US" altLang="zh-CN" dirty="0"/>
          </a:p>
          <a:p>
            <a:pPr lvl="2"/>
            <a:r>
              <a:rPr lang="zh-CN" altLang="en-US" dirty="0"/>
              <a:t>（</a:t>
            </a:r>
            <a:r>
              <a:rPr lang="en-US" altLang="zh-CN" dirty="0"/>
              <a:t>1</a:t>
            </a:r>
            <a:r>
              <a:rPr lang="zh-CN" altLang="en-US" dirty="0"/>
              <a:t>）头插法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pPr lvl="2"/>
            <a:r>
              <a:rPr lang="zh-CN" altLang="en-US" dirty="0"/>
              <a:t>操作步骤：</a:t>
            </a:r>
            <a:endParaRPr lang="en-US" altLang="zh-CN" dirty="0"/>
          </a:p>
          <a:p>
            <a:pPr lvl="2"/>
            <a:r>
              <a:rPr lang="en-US" altLang="zh-CN" dirty="0"/>
              <a:t> 1. </a:t>
            </a:r>
            <a:r>
              <a:rPr lang="zh-CN" altLang="en-US" dirty="0"/>
              <a:t>生成一个空表；</a:t>
            </a:r>
            <a:endParaRPr lang="en-US" altLang="zh-CN" dirty="0"/>
          </a:p>
          <a:p>
            <a:pPr lvl="2"/>
            <a:r>
              <a:rPr lang="en-US" altLang="zh-CN" dirty="0"/>
              <a:t> 2. </a:t>
            </a:r>
            <a:r>
              <a:rPr lang="zh-CN" altLang="en-US" dirty="0"/>
              <a:t>循环：每生成一个新结点，插入到表头的位置。</a:t>
            </a:r>
            <a:endParaRPr lang="en-US" altLang="zh-CN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2.3 </a:t>
            </a:r>
            <a:r>
              <a:rPr lang="zh-CN" altLang="en-US" dirty="0"/>
              <a:t>线性表的链式表示和实现</a:t>
            </a:r>
            <a:endParaRPr lang="zh-CN" altLang="en-US" dirty="0"/>
          </a:p>
        </p:txBody>
      </p:sp>
      <p:graphicFrame>
        <p:nvGraphicFramePr>
          <p:cNvPr id="4" name="Object 12"/>
          <p:cNvGraphicFramePr>
            <a:graphicFrameLocks noChangeAspect="1"/>
          </p:cNvGraphicFramePr>
          <p:nvPr/>
        </p:nvGraphicFramePr>
        <p:xfrm>
          <a:off x="371960" y="1408902"/>
          <a:ext cx="6307973" cy="2400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2491" name="BMP 图像" r:id="rId1" imgW="8839200" imgH="2971800" progId="Paint.Picture">
                  <p:embed/>
                </p:oleObj>
              </mc:Choice>
              <mc:Fallback>
                <p:oleObj name="BMP 图像" r:id="rId1" imgW="8839200" imgH="2971800" progId="Paint.Picture">
                  <p:embed/>
                  <p:pic>
                    <p:nvPicPr>
                      <p:cNvPr id="0" name="Object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1960" y="1408902"/>
                        <a:ext cx="6307973" cy="24003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>
          <a:xfrm>
            <a:off x="396052" y="593324"/>
            <a:ext cx="6070651" cy="4732302"/>
          </a:xfrm>
        </p:spPr>
        <p:txBody>
          <a:bodyPr/>
          <a:lstStyle/>
          <a:p>
            <a:pPr eaLnBrk="1" hangingPunct="1">
              <a:spcBef>
                <a:spcPts val="0"/>
              </a:spcBef>
            </a:pPr>
            <a:r>
              <a:rPr lang="en-US" altLang="zh-CN" sz="18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void  </a:t>
            </a:r>
            <a:r>
              <a:rPr lang="en-US" altLang="zh-CN" sz="1800" dirty="0" err="1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CreateList_H</a:t>
            </a:r>
            <a:r>
              <a:rPr lang="en-US" altLang="zh-CN" sz="18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(</a:t>
            </a:r>
            <a:r>
              <a:rPr lang="en-US" altLang="zh-CN" sz="1800" dirty="0" err="1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LinkList</a:t>
            </a:r>
            <a:r>
              <a:rPr lang="en-US" altLang="zh-CN" sz="18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 &amp;L, int n)</a:t>
            </a:r>
            <a:endParaRPr lang="en-US" altLang="zh-CN" sz="1800" dirty="0">
              <a:solidFill>
                <a:srgbClr val="00194C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eaLnBrk="1" hangingPunct="1">
              <a:spcBef>
                <a:spcPts val="0"/>
              </a:spcBef>
            </a:pPr>
            <a:r>
              <a:rPr lang="en-US" altLang="zh-CN" sz="18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{</a:t>
            </a:r>
            <a:endParaRPr lang="en-US" altLang="zh-CN" sz="1800" dirty="0">
              <a:solidFill>
                <a:srgbClr val="00194C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eaLnBrk="1" hangingPunct="1">
              <a:lnSpc>
                <a:spcPct val="100000"/>
              </a:lnSpc>
              <a:spcBef>
                <a:spcPts val="0"/>
              </a:spcBef>
            </a:pPr>
            <a:r>
              <a:rPr lang="en-US" altLang="zh-CN" sz="18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	L=(</a:t>
            </a:r>
            <a:r>
              <a:rPr lang="en-US" altLang="zh-CN" sz="1800" dirty="0" err="1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Linklist</a:t>
            </a:r>
            <a:r>
              <a:rPr lang="en-US" altLang="zh-CN" sz="18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) malloc(</a:t>
            </a:r>
            <a:r>
              <a:rPr lang="en-US" altLang="zh-CN" sz="1800" dirty="0" err="1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sizeof</a:t>
            </a:r>
            <a:r>
              <a:rPr lang="en-US" altLang="zh-CN" sz="18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(</a:t>
            </a:r>
            <a:r>
              <a:rPr lang="en-US" altLang="zh-CN" sz="1800" dirty="0" err="1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Lnode</a:t>
            </a:r>
            <a:r>
              <a:rPr lang="en-US" altLang="zh-CN" sz="18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));</a:t>
            </a:r>
            <a:endParaRPr lang="en-US" altLang="zh-CN" sz="1800" dirty="0">
              <a:solidFill>
                <a:srgbClr val="00194C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eaLnBrk="1" hangingPunct="1">
              <a:lnSpc>
                <a:spcPct val="100000"/>
              </a:lnSpc>
              <a:spcBef>
                <a:spcPts val="0"/>
              </a:spcBef>
            </a:pPr>
            <a:r>
              <a:rPr lang="en-US" altLang="zh-CN" sz="18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	L-&gt;next=NULL;</a:t>
            </a:r>
            <a:endParaRPr lang="en-US" altLang="zh-CN" sz="1800" dirty="0">
              <a:solidFill>
                <a:srgbClr val="00194C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eaLnBrk="1" hangingPunct="1">
              <a:lnSpc>
                <a:spcPct val="100000"/>
              </a:lnSpc>
              <a:spcBef>
                <a:spcPts val="0"/>
              </a:spcBef>
            </a:pPr>
            <a:r>
              <a:rPr lang="en-US" altLang="zh-CN" sz="18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	for(</a:t>
            </a:r>
            <a:r>
              <a:rPr lang="en-US" altLang="zh-CN" sz="1800" dirty="0" err="1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i</a:t>
            </a:r>
            <a:r>
              <a:rPr lang="en-US" altLang="zh-CN" sz="18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=n; </a:t>
            </a:r>
            <a:r>
              <a:rPr lang="en-US" altLang="zh-CN" sz="1800" dirty="0" err="1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i</a:t>
            </a:r>
            <a:r>
              <a:rPr lang="en-US" altLang="zh-CN" sz="18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&gt;0; --</a:t>
            </a:r>
            <a:r>
              <a:rPr lang="en-US" altLang="zh-CN" sz="1800" dirty="0" err="1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i</a:t>
            </a:r>
            <a:r>
              <a:rPr lang="en-US" altLang="zh-CN" sz="18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)</a:t>
            </a:r>
            <a:endParaRPr lang="en-US" altLang="zh-CN" sz="1800" dirty="0">
              <a:solidFill>
                <a:srgbClr val="00194C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eaLnBrk="1" hangingPunct="1">
              <a:lnSpc>
                <a:spcPct val="100000"/>
              </a:lnSpc>
              <a:spcBef>
                <a:spcPts val="0"/>
              </a:spcBef>
            </a:pPr>
            <a:r>
              <a:rPr lang="en-US" altLang="zh-CN" sz="18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           {</a:t>
            </a:r>
            <a:endParaRPr lang="en-US" altLang="zh-CN" sz="1800" dirty="0">
              <a:solidFill>
                <a:srgbClr val="00194C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eaLnBrk="1" hangingPunct="1">
              <a:lnSpc>
                <a:spcPct val="100000"/>
              </a:lnSpc>
              <a:spcBef>
                <a:spcPts val="0"/>
              </a:spcBef>
            </a:pPr>
            <a:r>
              <a:rPr lang="en-US" altLang="zh-CN" sz="18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	      p=(</a:t>
            </a:r>
            <a:r>
              <a:rPr lang="en-US" altLang="zh-CN" sz="1800" dirty="0" err="1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LinkList</a:t>
            </a:r>
            <a:r>
              <a:rPr lang="en-US" altLang="zh-CN" sz="18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)malloc(</a:t>
            </a:r>
            <a:r>
              <a:rPr lang="en-US" altLang="zh-CN" sz="1800" dirty="0" err="1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sizeof</a:t>
            </a:r>
            <a:r>
              <a:rPr lang="en-US" altLang="zh-CN" sz="18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(</a:t>
            </a:r>
            <a:r>
              <a:rPr lang="en-US" altLang="zh-CN" sz="1800" dirty="0" err="1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Lnode</a:t>
            </a:r>
            <a:r>
              <a:rPr lang="en-US" altLang="zh-CN" sz="18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));</a:t>
            </a:r>
            <a:endParaRPr lang="en-US" altLang="zh-CN" sz="1800" dirty="0">
              <a:solidFill>
                <a:srgbClr val="00194C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eaLnBrk="1" hangingPunct="1">
              <a:lnSpc>
                <a:spcPct val="100000"/>
              </a:lnSpc>
              <a:spcBef>
                <a:spcPts val="0"/>
              </a:spcBef>
            </a:pPr>
            <a:r>
              <a:rPr lang="en-US" altLang="zh-CN" sz="18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                 </a:t>
            </a:r>
            <a:r>
              <a:rPr lang="en-US" altLang="zh-CN" sz="1800" dirty="0" err="1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scanf</a:t>
            </a:r>
            <a:r>
              <a:rPr lang="en-US" altLang="zh-CN" sz="18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(&amp;p-&gt;data);</a:t>
            </a:r>
            <a:endParaRPr lang="en-US" altLang="zh-CN" sz="1800" dirty="0">
              <a:solidFill>
                <a:srgbClr val="00194C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eaLnBrk="1" hangingPunct="1">
              <a:lnSpc>
                <a:spcPct val="100000"/>
              </a:lnSpc>
              <a:spcBef>
                <a:spcPts val="0"/>
              </a:spcBef>
            </a:pPr>
            <a:r>
              <a:rPr lang="en-US" altLang="zh-CN" sz="18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                 p-&gt;next=L-&gt;next; </a:t>
            </a:r>
            <a:endParaRPr lang="en-US" altLang="zh-CN" sz="1800" dirty="0">
              <a:solidFill>
                <a:srgbClr val="00194C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eaLnBrk="1" hangingPunct="1">
              <a:lnSpc>
                <a:spcPct val="100000"/>
              </a:lnSpc>
              <a:spcBef>
                <a:spcPts val="0"/>
              </a:spcBef>
            </a:pPr>
            <a:r>
              <a:rPr lang="en-US" altLang="zh-CN" sz="18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	      L-&gt;next=p;</a:t>
            </a:r>
            <a:endParaRPr lang="en-US" altLang="zh-CN" sz="1800" dirty="0">
              <a:solidFill>
                <a:srgbClr val="00194C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eaLnBrk="1" hangingPunct="1">
              <a:lnSpc>
                <a:spcPct val="100000"/>
              </a:lnSpc>
              <a:spcBef>
                <a:spcPts val="0"/>
              </a:spcBef>
            </a:pPr>
            <a:r>
              <a:rPr lang="en-US" altLang="zh-CN" sz="18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	}</a:t>
            </a:r>
            <a:endParaRPr lang="en-US" altLang="zh-CN" sz="1800" dirty="0">
              <a:solidFill>
                <a:srgbClr val="00194C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eaLnBrk="1" hangingPunct="1">
              <a:lnSpc>
                <a:spcPct val="100000"/>
              </a:lnSpc>
              <a:spcBef>
                <a:spcPts val="0"/>
              </a:spcBef>
            </a:pPr>
            <a:r>
              <a:rPr lang="en-US" altLang="zh-CN" sz="18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} </a:t>
            </a:r>
            <a:endParaRPr lang="en-US" altLang="zh-CN" sz="1800" dirty="0">
              <a:solidFill>
                <a:srgbClr val="00194C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2.3 </a:t>
            </a:r>
            <a:r>
              <a:rPr lang="zh-CN" altLang="en-US" dirty="0"/>
              <a:t>线性表的链式表示和实现</a:t>
            </a:r>
            <a:endParaRPr lang="zh-CN" altLang="en-US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2"/>
            <a:r>
              <a:rPr lang="zh-CN" altLang="en-US" dirty="0"/>
              <a:t>（</a:t>
            </a:r>
            <a:r>
              <a:rPr lang="en-US" altLang="zh-CN" dirty="0"/>
              <a:t>2</a:t>
            </a:r>
            <a:r>
              <a:rPr lang="zh-CN" altLang="en-US" dirty="0"/>
              <a:t>）尾插法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pPr lvl="2"/>
            <a:r>
              <a:rPr lang="zh-CN" altLang="en-US" dirty="0"/>
              <a:t>操作步骤：</a:t>
            </a:r>
            <a:endParaRPr lang="en-US" altLang="zh-CN" dirty="0"/>
          </a:p>
          <a:p>
            <a:pPr lvl="2"/>
            <a:r>
              <a:rPr lang="en-US" altLang="zh-CN" dirty="0"/>
              <a:t> 1. </a:t>
            </a:r>
            <a:r>
              <a:rPr lang="zh-CN" altLang="en-US" dirty="0"/>
              <a:t>生成一个空表；</a:t>
            </a:r>
            <a:endParaRPr lang="en-US" altLang="zh-CN" dirty="0"/>
          </a:p>
          <a:p>
            <a:pPr lvl="2"/>
            <a:r>
              <a:rPr lang="en-US" altLang="zh-CN" dirty="0"/>
              <a:t> 2. </a:t>
            </a:r>
            <a:r>
              <a:rPr lang="zh-CN" altLang="en-US" dirty="0"/>
              <a:t>循环：每生成一个新结点，插入到表尾的位置。</a:t>
            </a:r>
            <a:endParaRPr lang="en-US" altLang="zh-CN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2.3 </a:t>
            </a:r>
            <a:r>
              <a:rPr lang="zh-CN" altLang="en-US" dirty="0"/>
              <a:t>线性表的链式表示和实现</a:t>
            </a:r>
            <a:endParaRPr lang="zh-CN" altLang="en-US" dirty="0"/>
          </a:p>
        </p:txBody>
      </p:sp>
      <p:graphicFrame>
        <p:nvGraphicFramePr>
          <p:cNvPr id="5" name="Object 7"/>
          <p:cNvGraphicFramePr>
            <a:graphicFrameLocks noChangeAspect="1"/>
          </p:cNvGraphicFramePr>
          <p:nvPr/>
        </p:nvGraphicFramePr>
        <p:xfrm>
          <a:off x="2377" y="978168"/>
          <a:ext cx="6858000" cy="250864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515" name="VISIO" r:id="rId1" imgW="4853940" imgH="1775460" progId="Visio.Drawing.11">
                  <p:embed/>
                </p:oleObj>
              </mc:Choice>
              <mc:Fallback>
                <p:oleObj name="VISIO" r:id="rId1" imgW="4853940" imgH="1775460" progId="Visio.Drawing.11">
                  <p:embed/>
                  <p:pic>
                    <p:nvPicPr>
                      <p:cNvPr id="0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77" y="978168"/>
                        <a:ext cx="6858000" cy="250864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328455" y="638451"/>
            <a:ext cx="6273312" cy="36925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fontAlgn="base">
              <a:spcAft>
                <a:spcPct val="0"/>
              </a:spcAft>
            </a:pPr>
            <a:r>
              <a:rPr lang="zh-CN" altLang="en-US" sz="1800" b="1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void CreateLink_B(LinkList &amp;L,int n)</a:t>
            </a:r>
            <a:endParaRPr lang="zh-CN" altLang="en-US" sz="1800" b="1" dirty="0">
              <a:solidFill>
                <a:srgbClr val="00194C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algn="just" fontAlgn="base">
              <a:spcAft>
                <a:spcPct val="0"/>
              </a:spcAft>
            </a:pPr>
            <a:r>
              <a:rPr lang="zh-CN" altLang="en-US" sz="1800" b="1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{</a:t>
            </a:r>
            <a:endParaRPr lang="zh-CN" altLang="en-US" sz="1800" b="1" dirty="0">
              <a:solidFill>
                <a:srgbClr val="00194C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lvl="2" algn="just" fontAlgn="base">
              <a:spcAft>
                <a:spcPct val="0"/>
              </a:spcAft>
            </a:pPr>
            <a:r>
              <a:rPr lang="zh-CN" altLang="en-US" sz="1800" b="1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   InitList(L);</a:t>
            </a:r>
            <a:endParaRPr lang="zh-CN" altLang="en-US" sz="1800" b="1" dirty="0">
              <a:solidFill>
                <a:srgbClr val="00194C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lvl="2" algn="just" fontAlgn="base">
              <a:spcAft>
                <a:spcPct val="0"/>
              </a:spcAft>
            </a:pPr>
            <a:r>
              <a:rPr lang="zh-CN" altLang="en-US" sz="1800" b="1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   LinkList </a:t>
            </a:r>
            <a:r>
              <a:rPr lang="en-US" altLang="zh-CN" sz="1800" b="1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p, </a:t>
            </a:r>
            <a:r>
              <a:rPr lang="zh-CN" altLang="en-US" sz="1800" b="1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r = L;</a:t>
            </a:r>
            <a:endParaRPr lang="zh-CN" altLang="en-US" sz="1800" b="1" dirty="0">
              <a:solidFill>
                <a:srgbClr val="00194C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lvl="2" algn="just" fontAlgn="base">
              <a:spcAft>
                <a:spcPct val="0"/>
              </a:spcAft>
            </a:pPr>
            <a:r>
              <a:rPr lang="zh-CN" altLang="en-US" sz="1800" b="1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   for(i = 0; i &lt; n; i++)</a:t>
            </a:r>
            <a:endParaRPr lang="zh-CN" altLang="en-US" sz="1800" b="1" dirty="0">
              <a:solidFill>
                <a:srgbClr val="00194C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lvl="2" algn="just" fontAlgn="base">
              <a:spcAft>
                <a:spcPct val="0"/>
              </a:spcAft>
            </a:pPr>
            <a:r>
              <a:rPr lang="zh-CN" altLang="en-US" sz="1800" b="1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   {</a:t>
            </a:r>
            <a:endParaRPr lang="zh-CN" altLang="en-US" sz="1800" b="1" dirty="0">
              <a:solidFill>
                <a:srgbClr val="00194C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lvl="2" algn="just" fontAlgn="base">
              <a:spcAft>
                <a:spcPct val="0"/>
              </a:spcAft>
            </a:pPr>
            <a:r>
              <a:rPr lang="zh-CN" altLang="en-US" sz="1800" b="1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       p=(LinkList)malloc(sizeof(LNode));</a:t>
            </a:r>
            <a:endParaRPr lang="zh-CN" altLang="en-US" sz="1800" b="1" dirty="0">
              <a:solidFill>
                <a:srgbClr val="00194C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lvl="2" algn="just" fontAlgn="base">
              <a:spcAft>
                <a:spcPct val="0"/>
              </a:spcAft>
            </a:pPr>
            <a:r>
              <a:rPr lang="zh-CN" altLang="en-US" sz="1800" b="1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       scanf</a:t>
            </a:r>
            <a:r>
              <a:rPr lang="en-US" altLang="zh-CN" sz="1800" b="1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(</a:t>
            </a:r>
            <a:r>
              <a:rPr lang="zh-CN" altLang="en-US" sz="1800" b="1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&amp;p-&gt;data);</a:t>
            </a:r>
            <a:endParaRPr lang="zh-CN" altLang="en-US" sz="1800" b="1" dirty="0">
              <a:solidFill>
                <a:srgbClr val="00194C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lvl="2" algn="just" fontAlgn="base">
              <a:spcAft>
                <a:spcPct val="0"/>
              </a:spcAft>
            </a:pPr>
            <a:r>
              <a:rPr lang="zh-CN" altLang="en-US" sz="1800" b="1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       r-&gt;next=p;</a:t>
            </a:r>
            <a:endParaRPr lang="zh-CN" altLang="en-US" sz="1800" b="1" dirty="0">
              <a:solidFill>
                <a:srgbClr val="00194C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lvl="2" algn="just" fontAlgn="base">
              <a:spcAft>
                <a:spcPct val="0"/>
              </a:spcAft>
            </a:pPr>
            <a:r>
              <a:rPr lang="zh-CN" altLang="en-US" sz="1800" b="1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       r=p;</a:t>
            </a:r>
            <a:endParaRPr lang="zh-CN" altLang="en-US" sz="1800" b="1" dirty="0">
              <a:solidFill>
                <a:srgbClr val="00194C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lvl="2" algn="just" fontAlgn="base">
              <a:spcAft>
                <a:spcPct val="0"/>
              </a:spcAft>
            </a:pPr>
            <a:r>
              <a:rPr lang="zh-CN" altLang="en-US" sz="1800" b="1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   }</a:t>
            </a:r>
            <a:endParaRPr lang="zh-CN" altLang="en-US" sz="1800" b="1" dirty="0">
              <a:solidFill>
                <a:srgbClr val="00194C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marL="0" lvl="2" algn="just" fontAlgn="base">
              <a:spcAft>
                <a:spcPct val="0"/>
              </a:spcAft>
            </a:pPr>
            <a:r>
              <a:rPr lang="zh-CN" altLang="en-US" sz="1800" b="1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   </a:t>
            </a:r>
            <a:r>
              <a:rPr lang="zh-CN" altLang="en-US" sz="1800" b="1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+mn-ea"/>
              </a:rPr>
              <a:t>            </a:t>
            </a:r>
            <a:r>
              <a:rPr lang="en-US" altLang="zh-CN" sz="1800" b="1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+mn-ea"/>
              </a:rPr>
              <a:t>r</a:t>
            </a:r>
            <a:r>
              <a:rPr lang="zh-CN" altLang="en-US" sz="1800" b="1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+mn-ea"/>
              </a:rPr>
              <a:t>-&gt;next=NULL;</a:t>
            </a:r>
            <a:endParaRPr lang="zh-CN" altLang="en-US" sz="1800" b="1" dirty="0">
              <a:solidFill>
                <a:srgbClr val="00194C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algn="just" fontAlgn="base">
              <a:spcAft>
                <a:spcPct val="0"/>
              </a:spcAft>
            </a:pPr>
            <a:r>
              <a:rPr lang="zh-CN" altLang="en-US" sz="1800" b="1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}</a:t>
            </a:r>
            <a:endParaRPr lang="zh-CN" altLang="en-US" sz="1800" b="1" dirty="0">
              <a:solidFill>
                <a:srgbClr val="00194C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  <p:sp>
        <p:nvSpPr>
          <p:cNvPr id="5" name="标题 2"/>
          <p:cNvSpPr>
            <a:spLocks noGrp="1"/>
          </p:cNvSpPr>
          <p:nvPr>
            <p:ph type="title"/>
          </p:nvPr>
        </p:nvSpPr>
        <p:spPr>
          <a:xfrm>
            <a:off x="560388" y="171450"/>
            <a:ext cx="3611562" cy="249238"/>
          </a:xfrm>
        </p:spPr>
        <p:txBody>
          <a:bodyPr/>
          <a:lstStyle/>
          <a:p>
            <a:r>
              <a:rPr lang="en-US" altLang="zh-CN" dirty="0"/>
              <a:t>2.3 </a:t>
            </a:r>
            <a:r>
              <a:rPr lang="zh-CN" altLang="en-US" dirty="0"/>
              <a:t>线性表的链式表示和实现</a:t>
            </a:r>
            <a:endParaRPr lang="zh-CN" altLang="en-US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6.</a:t>
            </a:r>
            <a:r>
              <a:rPr lang="zh-CN" altLang="en-US" dirty="0"/>
              <a:t>合并单链表</a:t>
            </a:r>
            <a:endParaRPr lang="en-US" altLang="zh-CN" dirty="0"/>
          </a:p>
          <a:p>
            <a:pPr eaLnBrk="1" hangingPunct="1">
              <a:lnSpc>
                <a:spcPct val="100000"/>
              </a:lnSpc>
              <a:spcBef>
                <a:spcPts val="0"/>
              </a:spcBef>
            </a:pPr>
            <a:r>
              <a:rPr lang="en-US" altLang="zh-CN" sz="16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void </a:t>
            </a:r>
            <a:r>
              <a:rPr lang="en-US" altLang="zh-CN" sz="1600" dirty="0" err="1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mergelist_L</a:t>
            </a:r>
            <a:r>
              <a:rPr lang="en-US" altLang="zh-CN" sz="16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(</a:t>
            </a:r>
            <a:r>
              <a:rPr lang="en-US" altLang="zh-CN" sz="1600" dirty="0" err="1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LinkList</a:t>
            </a:r>
            <a:r>
              <a:rPr lang="en-US" altLang="zh-CN" sz="16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  </a:t>
            </a:r>
            <a:r>
              <a:rPr lang="en-US" altLang="zh-CN" sz="1600" dirty="0" err="1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La,LinkList</a:t>
            </a:r>
            <a:r>
              <a:rPr lang="en-US" altLang="zh-CN" sz="16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 </a:t>
            </a:r>
            <a:r>
              <a:rPr lang="en-US" altLang="zh-CN" sz="1600" dirty="0" err="1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Lb,LinkList</a:t>
            </a:r>
            <a:r>
              <a:rPr lang="en-US" altLang="zh-CN" sz="16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 &amp;</a:t>
            </a:r>
            <a:r>
              <a:rPr lang="en-US" altLang="zh-CN" sz="1600" dirty="0" err="1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Lc</a:t>
            </a:r>
            <a:r>
              <a:rPr lang="en-US" altLang="zh-CN" sz="16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)</a:t>
            </a:r>
            <a:endParaRPr lang="en-US" altLang="zh-CN" sz="1600" dirty="0">
              <a:solidFill>
                <a:srgbClr val="00194C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eaLnBrk="1" hangingPunct="1">
              <a:lnSpc>
                <a:spcPct val="100000"/>
              </a:lnSpc>
              <a:spcBef>
                <a:spcPts val="0"/>
              </a:spcBef>
            </a:pPr>
            <a:r>
              <a:rPr lang="en-US" altLang="zh-CN" sz="16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{</a:t>
            </a:r>
            <a:endParaRPr lang="en-US" altLang="zh-CN" sz="1600" dirty="0">
              <a:solidFill>
                <a:srgbClr val="00194C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eaLnBrk="1" hangingPunct="1">
              <a:lnSpc>
                <a:spcPct val="100000"/>
              </a:lnSpc>
              <a:spcBef>
                <a:spcPts val="0"/>
              </a:spcBef>
            </a:pPr>
            <a:r>
              <a:rPr lang="en-US" altLang="zh-CN" sz="16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	pa=La-&gt;next; </a:t>
            </a:r>
            <a:r>
              <a:rPr lang="en-US" altLang="zh-CN" sz="1600" dirty="0" err="1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pb</a:t>
            </a:r>
            <a:r>
              <a:rPr lang="en-US" altLang="zh-CN" sz="16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=</a:t>
            </a:r>
            <a:r>
              <a:rPr lang="en-US" altLang="zh-CN" sz="1600" dirty="0" err="1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Lb</a:t>
            </a:r>
            <a:r>
              <a:rPr lang="en-US" altLang="zh-CN" sz="16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-&gt;next;</a:t>
            </a:r>
            <a:endParaRPr lang="en-US" altLang="zh-CN" sz="1600" dirty="0">
              <a:solidFill>
                <a:srgbClr val="00194C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eaLnBrk="1" hangingPunct="1">
              <a:lnSpc>
                <a:spcPct val="100000"/>
              </a:lnSpc>
              <a:spcBef>
                <a:spcPts val="0"/>
              </a:spcBef>
            </a:pPr>
            <a:r>
              <a:rPr lang="en-US" altLang="zh-CN" sz="16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	</a:t>
            </a:r>
            <a:r>
              <a:rPr lang="en-US" altLang="zh-CN" sz="1600" dirty="0" err="1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Lc</a:t>
            </a:r>
            <a:r>
              <a:rPr lang="en-US" altLang="zh-CN" sz="16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=pc=La;</a:t>
            </a:r>
            <a:endParaRPr lang="en-US" altLang="zh-CN" sz="1600" dirty="0">
              <a:solidFill>
                <a:srgbClr val="00194C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eaLnBrk="1" hangingPunct="1">
              <a:lnSpc>
                <a:spcPct val="100000"/>
              </a:lnSpc>
              <a:spcBef>
                <a:spcPts val="0"/>
              </a:spcBef>
            </a:pPr>
            <a:r>
              <a:rPr lang="en-US" altLang="zh-CN" sz="16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	while( pa &amp;&amp; </a:t>
            </a:r>
            <a:r>
              <a:rPr lang="en-US" altLang="zh-CN" sz="1600" dirty="0" err="1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pb</a:t>
            </a:r>
            <a:r>
              <a:rPr lang="en-US" altLang="zh-CN" sz="16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) {</a:t>
            </a:r>
            <a:endParaRPr lang="en-US" altLang="zh-CN" sz="1600" dirty="0">
              <a:solidFill>
                <a:srgbClr val="00194C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eaLnBrk="1" hangingPunct="1">
              <a:lnSpc>
                <a:spcPct val="100000"/>
              </a:lnSpc>
              <a:spcBef>
                <a:spcPts val="0"/>
              </a:spcBef>
            </a:pPr>
            <a:r>
              <a:rPr lang="en-US" altLang="zh-CN" sz="16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		if( pa-&gt;data &lt;</a:t>
            </a:r>
            <a:r>
              <a:rPr lang="en-US" altLang="zh-CN" sz="1600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=</a:t>
            </a:r>
            <a:r>
              <a:rPr lang="en-US" altLang="zh-CN" sz="16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</a:t>
            </a:r>
            <a:r>
              <a:rPr lang="en-US" altLang="zh-CN" sz="1600" dirty="0" err="1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pb</a:t>
            </a:r>
            <a:r>
              <a:rPr lang="en-US" altLang="zh-CN" sz="16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-&gt;data){ </a:t>
            </a:r>
            <a:endParaRPr lang="en-US" altLang="zh-CN" sz="1600" dirty="0">
              <a:solidFill>
                <a:srgbClr val="00194C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eaLnBrk="1" hangingPunct="1">
              <a:lnSpc>
                <a:spcPct val="100000"/>
              </a:lnSpc>
              <a:spcBef>
                <a:spcPts val="0"/>
              </a:spcBef>
            </a:pPr>
            <a:r>
              <a:rPr lang="en-US" altLang="zh-CN" sz="16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     			pc-&gt;next=pa; pc=pa; pa=pa-&gt;next; </a:t>
            </a:r>
            <a:endParaRPr lang="en-US" altLang="zh-CN" sz="1600" dirty="0">
              <a:solidFill>
                <a:srgbClr val="00194C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eaLnBrk="1" hangingPunct="1">
              <a:lnSpc>
                <a:spcPct val="100000"/>
              </a:lnSpc>
              <a:spcBef>
                <a:spcPts val="0"/>
              </a:spcBef>
            </a:pPr>
            <a:r>
              <a:rPr lang="en-US" altLang="zh-CN" sz="16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     		}</a:t>
            </a:r>
            <a:endParaRPr lang="en-US" altLang="zh-CN" sz="1600" dirty="0">
              <a:solidFill>
                <a:srgbClr val="00194C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eaLnBrk="1" hangingPunct="1">
              <a:lnSpc>
                <a:spcPct val="100000"/>
              </a:lnSpc>
              <a:spcBef>
                <a:spcPts val="0"/>
              </a:spcBef>
            </a:pPr>
            <a:r>
              <a:rPr lang="en-US" altLang="zh-CN" sz="16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		else{</a:t>
            </a:r>
            <a:endParaRPr lang="en-US" altLang="zh-CN" sz="1600" dirty="0">
              <a:solidFill>
                <a:srgbClr val="00194C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eaLnBrk="1" hangingPunct="1">
              <a:lnSpc>
                <a:spcPct val="100000"/>
              </a:lnSpc>
              <a:spcBef>
                <a:spcPts val="0"/>
              </a:spcBef>
            </a:pPr>
            <a:r>
              <a:rPr lang="en-US" altLang="zh-CN" sz="16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			pc-&gt;next=</a:t>
            </a:r>
            <a:r>
              <a:rPr lang="en-US" altLang="zh-CN" sz="1600" dirty="0" err="1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pb</a:t>
            </a:r>
            <a:r>
              <a:rPr lang="en-US" altLang="zh-CN" sz="16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; pc=</a:t>
            </a:r>
            <a:r>
              <a:rPr lang="en-US" altLang="zh-CN" sz="1600" dirty="0" err="1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pb</a:t>
            </a:r>
            <a:r>
              <a:rPr lang="en-US" altLang="zh-CN" sz="16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; </a:t>
            </a:r>
            <a:r>
              <a:rPr lang="en-US" altLang="zh-CN" sz="1600" dirty="0" err="1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pb</a:t>
            </a:r>
            <a:r>
              <a:rPr lang="en-US" altLang="zh-CN" sz="16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=</a:t>
            </a:r>
            <a:r>
              <a:rPr lang="en-US" altLang="zh-CN" sz="1600" dirty="0" err="1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pb</a:t>
            </a:r>
            <a:r>
              <a:rPr lang="en-US" altLang="zh-CN" sz="16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-&gt;next;</a:t>
            </a:r>
            <a:endParaRPr lang="en-US" altLang="zh-CN" sz="1600" dirty="0">
              <a:solidFill>
                <a:srgbClr val="00194C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eaLnBrk="1" hangingPunct="1">
              <a:lnSpc>
                <a:spcPct val="100000"/>
              </a:lnSpc>
              <a:spcBef>
                <a:spcPts val="0"/>
              </a:spcBef>
            </a:pPr>
            <a:r>
              <a:rPr lang="en-US" altLang="zh-CN" sz="16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		}</a:t>
            </a:r>
            <a:endParaRPr lang="en-US" altLang="zh-CN" sz="1600" dirty="0">
              <a:solidFill>
                <a:srgbClr val="00194C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eaLnBrk="1" hangingPunct="1">
              <a:lnSpc>
                <a:spcPct val="100000"/>
              </a:lnSpc>
              <a:spcBef>
                <a:spcPts val="0"/>
              </a:spcBef>
            </a:pPr>
            <a:r>
              <a:rPr lang="en-US" altLang="zh-CN" sz="16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	}</a:t>
            </a:r>
            <a:endParaRPr lang="en-US" altLang="zh-CN" sz="1600" dirty="0">
              <a:solidFill>
                <a:srgbClr val="00194C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eaLnBrk="1" hangingPunct="1">
              <a:lnSpc>
                <a:spcPct val="100000"/>
              </a:lnSpc>
              <a:spcBef>
                <a:spcPts val="0"/>
              </a:spcBef>
            </a:pPr>
            <a:r>
              <a:rPr lang="en-US" altLang="zh-CN" sz="16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	pc-&gt;next= pa ? pa : </a:t>
            </a:r>
            <a:r>
              <a:rPr lang="en-US" altLang="zh-CN" sz="1600" dirty="0" err="1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pb</a:t>
            </a:r>
            <a:r>
              <a:rPr lang="en-US" altLang="zh-CN" sz="16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;</a:t>
            </a:r>
            <a:endParaRPr lang="en-US" altLang="zh-CN" sz="1600" dirty="0">
              <a:solidFill>
                <a:srgbClr val="00194C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eaLnBrk="1" hangingPunct="1">
              <a:lnSpc>
                <a:spcPct val="100000"/>
              </a:lnSpc>
              <a:spcBef>
                <a:spcPts val="0"/>
              </a:spcBef>
            </a:pPr>
            <a:r>
              <a:rPr lang="en-US" altLang="zh-CN" sz="16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	free(</a:t>
            </a:r>
            <a:r>
              <a:rPr lang="en-US" altLang="zh-CN" sz="1600" dirty="0" err="1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Lb</a:t>
            </a:r>
            <a:r>
              <a:rPr lang="en-US" altLang="zh-CN" sz="16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);</a:t>
            </a:r>
            <a:endParaRPr lang="en-US" altLang="zh-CN" sz="1600" dirty="0">
              <a:solidFill>
                <a:srgbClr val="00194C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eaLnBrk="1" hangingPunct="1">
              <a:lnSpc>
                <a:spcPct val="100000"/>
              </a:lnSpc>
              <a:spcBef>
                <a:spcPts val="0"/>
              </a:spcBef>
            </a:pPr>
            <a:r>
              <a:rPr lang="en-US" altLang="zh-CN" sz="16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} </a:t>
            </a:r>
            <a:endParaRPr lang="en-US" altLang="zh-CN" sz="1600" dirty="0">
              <a:solidFill>
                <a:srgbClr val="00194C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2.3 </a:t>
            </a:r>
            <a:r>
              <a:rPr lang="zh-CN" altLang="en-US" dirty="0"/>
              <a:t>线性表的链式表示和实现</a:t>
            </a:r>
            <a:endParaRPr lang="zh-CN" altLang="en-US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循环链表：</a:t>
            </a:r>
            <a:r>
              <a:rPr lang="zh-CN" altLang="en-US" dirty="0">
                <a:solidFill>
                  <a:srgbClr val="FF0000"/>
                </a:solidFill>
              </a:rPr>
              <a:t>首尾相接</a:t>
            </a:r>
            <a:r>
              <a:rPr lang="zh-CN" altLang="en-US" dirty="0"/>
              <a:t>的链表。</a:t>
            </a:r>
            <a:endParaRPr lang="en-US" altLang="zh-CN" dirty="0"/>
          </a:p>
          <a:p>
            <a:pPr marL="478155" lvl="2" indent="-342900">
              <a:buFont typeface="Wingdings" panose="05000000000000000000" pitchFamily="2" charset="2"/>
              <a:buChar char="Ø"/>
            </a:pPr>
            <a:r>
              <a:rPr lang="zh-CN" altLang="en-US" dirty="0"/>
              <a:t>最后一个结点的指针域由</a:t>
            </a:r>
            <a:r>
              <a:rPr lang="en-US" altLang="zh-CN" dirty="0"/>
              <a:t>NULL</a:t>
            </a:r>
            <a:r>
              <a:rPr lang="zh-CN" altLang="en-US" dirty="0"/>
              <a:t>改为指向头结点或表中的第一个结点</a:t>
            </a:r>
            <a:endParaRPr lang="en-US" altLang="zh-CN" dirty="0"/>
          </a:p>
          <a:p>
            <a:pPr marL="478155" lvl="2" indent="-342900">
              <a:buFont typeface="Wingdings" panose="05000000000000000000" pitchFamily="2" charset="2"/>
              <a:buChar char="Ø"/>
            </a:pPr>
            <a:r>
              <a:rPr lang="zh-CN" altLang="en-US" dirty="0"/>
              <a:t>单链形式的循环链表，称为循环单链表。</a:t>
            </a:r>
            <a:endParaRPr lang="en-US" altLang="zh-CN" dirty="0"/>
          </a:p>
          <a:p>
            <a:pPr eaLnBrk="1" hangingPunct="1">
              <a:lnSpc>
                <a:spcPct val="135000"/>
              </a:lnSpc>
              <a:spcBef>
                <a:spcPts val="450"/>
              </a:spcBef>
            </a:pPr>
            <a:r>
              <a:rPr lang="en-US" altLang="zh-CN" sz="2400" b="0" dirty="0"/>
              <a:t>        </a:t>
            </a:r>
            <a:endParaRPr lang="en-US" altLang="zh-CN" sz="2400" b="0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2.3 </a:t>
            </a:r>
            <a:r>
              <a:rPr lang="zh-CN" altLang="en-US" dirty="0"/>
              <a:t>线性表的链式表示和实现</a:t>
            </a:r>
            <a:endParaRPr lang="zh-CN" altLang="en-US" dirty="0"/>
          </a:p>
        </p:txBody>
      </p:sp>
      <p:graphicFrame>
        <p:nvGraphicFramePr>
          <p:cNvPr id="4" name="Object 5"/>
          <p:cNvGraphicFramePr>
            <a:graphicFrameLocks noChangeAspect="1"/>
          </p:cNvGraphicFramePr>
          <p:nvPr/>
        </p:nvGraphicFramePr>
        <p:xfrm>
          <a:off x="490889" y="2189836"/>
          <a:ext cx="5563402" cy="266193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537" name="VISIO" r:id="rId1" imgW="4495800" imgH="2148840" progId="Visio.Drawing.11">
                  <p:embed/>
                </p:oleObj>
              </mc:Choice>
              <mc:Fallback>
                <p:oleObj name="VISIO" r:id="rId1" imgW="4495800" imgH="2148840" progId="Visio.Drawing.11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0889" y="2189836"/>
                        <a:ext cx="5563402" cy="2661934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双向链表：</a:t>
            </a:r>
            <a:endParaRPr lang="en-US" altLang="zh-CN" dirty="0"/>
          </a:p>
          <a:p>
            <a:pPr marL="478155" lvl="2" indent="-342900">
              <a:buFont typeface="Wingdings" panose="05000000000000000000" pitchFamily="2" charset="2"/>
              <a:buChar char="Ø"/>
            </a:pPr>
            <a:r>
              <a:rPr lang="zh-CN" altLang="en-US" dirty="0"/>
              <a:t>单链表的每个结点里增加一个指向其前驱的指针域</a:t>
            </a:r>
            <a:r>
              <a:rPr lang="en-US" altLang="zh-CN" dirty="0"/>
              <a:t>prior</a:t>
            </a:r>
            <a:endParaRPr lang="en-US" altLang="zh-CN" dirty="0"/>
          </a:p>
          <a:p>
            <a:pPr marL="478155" lvl="2" indent="-342900">
              <a:buFont typeface="Wingdings" panose="05000000000000000000" pitchFamily="2" charset="2"/>
              <a:buChar char="Ø"/>
            </a:pPr>
            <a:r>
              <a:rPr lang="zh-CN" altLang="en-US" dirty="0"/>
              <a:t>链表中有两条方向不同的链</a:t>
            </a:r>
            <a:r>
              <a:rPr lang="en-US" altLang="zh-CN" dirty="0"/>
              <a:t>     </a:t>
            </a:r>
            <a:endParaRPr lang="en-US" altLang="zh-CN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2.3 </a:t>
            </a:r>
            <a:r>
              <a:rPr lang="zh-CN" altLang="en-US" dirty="0"/>
              <a:t>线性表的链式表示和实现</a:t>
            </a:r>
            <a:endParaRPr lang="zh-CN" altLang="en-US" dirty="0"/>
          </a:p>
        </p:txBody>
      </p:sp>
      <p:pic>
        <p:nvPicPr>
          <p:cNvPr id="6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2837" y="2571750"/>
            <a:ext cx="5310789" cy="446702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双向链表的结构定义：</a:t>
            </a:r>
            <a:endParaRPr lang="en-US" altLang="zh-CN" dirty="0"/>
          </a:p>
          <a:p>
            <a:pPr lvl="2">
              <a:lnSpc>
                <a:spcPct val="130000"/>
              </a:lnSpc>
            </a:pPr>
            <a:r>
              <a:rPr lang="en-US" altLang="zh-CN" dirty="0" err="1"/>
              <a:t>typedef</a:t>
            </a:r>
            <a:r>
              <a:rPr lang="en-US" altLang="zh-CN" dirty="0"/>
              <a:t> </a:t>
            </a:r>
            <a:r>
              <a:rPr lang="en-US" altLang="zh-CN" dirty="0" err="1"/>
              <a:t>struct</a:t>
            </a:r>
            <a:r>
              <a:rPr lang="en-US" altLang="zh-CN" dirty="0"/>
              <a:t> </a:t>
            </a:r>
            <a:r>
              <a:rPr lang="en-US" altLang="zh-CN" dirty="0" err="1"/>
              <a:t>DulNode</a:t>
            </a:r>
            <a:r>
              <a:rPr lang="en-US" altLang="zh-CN" dirty="0"/>
              <a:t>{     </a:t>
            </a:r>
            <a:endParaRPr lang="en-US" altLang="zh-CN" dirty="0"/>
          </a:p>
          <a:p>
            <a:pPr lvl="2">
              <a:lnSpc>
                <a:spcPct val="130000"/>
              </a:lnSpc>
            </a:pPr>
            <a:r>
              <a:rPr lang="en-US" altLang="zh-CN" dirty="0"/>
              <a:t>      </a:t>
            </a:r>
            <a:r>
              <a:rPr lang="en-US" altLang="zh-CN" dirty="0" err="1"/>
              <a:t>ElemType</a:t>
            </a:r>
            <a:r>
              <a:rPr lang="en-US" altLang="zh-CN" dirty="0"/>
              <a:t>  data;</a:t>
            </a:r>
            <a:endParaRPr lang="en-US" altLang="zh-CN" dirty="0"/>
          </a:p>
          <a:p>
            <a:pPr lvl="2">
              <a:lnSpc>
                <a:spcPct val="130000"/>
              </a:lnSpc>
            </a:pPr>
            <a:r>
              <a:rPr lang="en-US" altLang="zh-CN" dirty="0"/>
              <a:t>      </a:t>
            </a:r>
            <a:r>
              <a:rPr lang="en-US" altLang="zh-CN" dirty="0" err="1"/>
              <a:t>struct</a:t>
            </a:r>
            <a:r>
              <a:rPr lang="en-US" altLang="zh-CN" dirty="0"/>
              <a:t> </a:t>
            </a:r>
            <a:r>
              <a:rPr lang="en-US" altLang="zh-CN" dirty="0" err="1"/>
              <a:t>DulNode</a:t>
            </a:r>
            <a:r>
              <a:rPr lang="en-US" altLang="zh-CN" dirty="0"/>
              <a:t>  *prior, *next;</a:t>
            </a:r>
            <a:endParaRPr lang="en-US" altLang="zh-CN" dirty="0"/>
          </a:p>
          <a:p>
            <a:pPr lvl="2">
              <a:lnSpc>
                <a:spcPct val="130000"/>
              </a:lnSpc>
            </a:pPr>
            <a:r>
              <a:rPr lang="en-US" altLang="zh-CN" dirty="0"/>
              <a:t>}</a:t>
            </a:r>
            <a:r>
              <a:rPr lang="en-US" altLang="zh-CN" dirty="0" err="1"/>
              <a:t>DulNode</a:t>
            </a:r>
            <a:r>
              <a:rPr lang="en-US" altLang="zh-CN" dirty="0"/>
              <a:t>,*</a:t>
            </a:r>
            <a:r>
              <a:rPr lang="en-US" altLang="zh-CN" dirty="0" err="1"/>
              <a:t>DuLinklist</a:t>
            </a:r>
            <a:r>
              <a:rPr lang="en-US" altLang="zh-CN" dirty="0"/>
              <a:t>;</a:t>
            </a:r>
            <a:endParaRPr lang="en-US" altLang="zh-CN" dirty="0"/>
          </a:p>
          <a:p>
            <a:pPr marL="478155" lvl="2" indent="-342900">
              <a:lnSpc>
                <a:spcPct val="130000"/>
              </a:lnSpc>
              <a:buFont typeface="Wingdings" panose="05000000000000000000" pitchFamily="2" charset="2"/>
              <a:buChar char="Ø"/>
            </a:pPr>
            <a:r>
              <a:rPr lang="zh-CN" altLang="en-US" dirty="0"/>
              <a:t>设指针</a:t>
            </a:r>
            <a:r>
              <a:rPr lang="en-US" altLang="zh-CN" dirty="0"/>
              <a:t>p</a:t>
            </a:r>
            <a:r>
              <a:rPr lang="zh-CN" altLang="en-US" dirty="0"/>
              <a:t>指向双链表中某一结点，则下式成立：</a:t>
            </a:r>
            <a:endParaRPr lang="zh-CN" altLang="en-US" dirty="0"/>
          </a:p>
          <a:p>
            <a:pPr lvl="2">
              <a:lnSpc>
                <a:spcPct val="130000"/>
              </a:lnSpc>
            </a:pPr>
            <a:r>
              <a:rPr lang="en-US" altLang="zh-CN" dirty="0"/>
              <a:t>            </a:t>
            </a:r>
            <a:r>
              <a:rPr lang="en-US" altLang="zh-CN" dirty="0">
                <a:solidFill>
                  <a:srgbClr val="FF0000"/>
                </a:solidFill>
              </a:rPr>
              <a:t>p-&gt;prior-&gt;next = p = p-&gt;next-&gt;prior </a:t>
            </a:r>
            <a:endParaRPr lang="en-US" altLang="zh-CN" dirty="0">
              <a:solidFill>
                <a:srgbClr val="FF0000"/>
              </a:solidFill>
            </a:endParaRPr>
          </a:p>
          <a:p>
            <a:pPr lvl="2">
              <a:lnSpc>
                <a:spcPct val="130000"/>
              </a:lnSpc>
            </a:pPr>
            <a:endParaRPr lang="en-US" altLang="zh-CN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2.3 </a:t>
            </a:r>
            <a:r>
              <a:rPr lang="zh-CN" altLang="en-US" dirty="0"/>
              <a:t>线性表的链式表示和实现</a:t>
            </a:r>
            <a:endParaRPr lang="zh-CN" altLang="en-US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ts val="28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dirty="0"/>
              <a:t>双向循环链表：</a:t>
            </a:r>
            <a:endParaRPr lang="en-US" altLang="zh-CN" dirty="0"/>
          </a:p>
          <a:p>
            <a:pPr lvl="2">
              <a:lnSpc>
                <a:spcPts val="2800"/>
              </a:lnSpc>
            </a:pPr>
            <a:r>
              <a:rPr lang="zh-CN" altLang="en-US" sz="2200" dirty="0"/>
              <a:t>如果将</a:t>
            </a:r>
            <a:r>
              <a:rPr lang="zh-CN" altLang="en-US" sz="2200" dirty="0">
                <a:solidFill>
                  <a:srgbClr val="FF0000"/>
                </a:solidFill>
              </a:rPr>
              <a:t>双向链表</a:t>
            </a:r>
            <a:r>
              <a:rPr lang="zh-CN" altLang="en-US" sz="2200" dirty="0"/>
              <a:t>最后一个单元的</a:t>
            </a:r>
            <a:r>
              <a:rPr lang="en-US" altLang="zh-CN" sz="2200" dirty="0"/>
              <a:t>next</a:t>
            </a:r>
            <a:r>
              <a:rPr lang="zh-CN" altLang="en-US" sz="2200" dirty="0"/>
              <a:t>指针指向链表的第一个单元，而第一个单元的</a:t>
            </a:r>
            <a:r>
              <a:rPr lang="en-US" altLang="zh-CN" sz="2200" dirty="0"/>
              <a:t>previous</a:t>
            </a:r>
            <a:r>
              <a:rPr lang="zh-CN" altLang="en-US" sz="2200" dirty="0"/>
              <a:t>指针指向链表的最后一个单元，这样构成的链表称为</a:t>
            </a:r>
            <a:r>
              <a:rPr lang="zh-CN" altLang="en-US" sz="2200" dirty="0">
                <a:solidFill>
                  <a:srgbClr val="FF0000"/>
                </a:solidFill>
              </a:rPr>
              <a:t>双向循环链表。</a:t>
            </a:r>
            <a:endParaRPr lang="zh-CN" altLang="en-US" sz="2200" dirty="0">
              <a:solidFill>
                <a:srgbClr val="FF0000"/>
              </a:solidFill>
            </a:endParaRPr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2.3 </a:t>
            </a:r>
            <a:r>
              <a:rPr lang="zh-CN" altLang="en-US" dirty="0"/>
              <a:t>线性表的链式表示和实现</a:t>
            </a:r>
            <a:endParaRPr lang="zh-CN" altLang="en-US" dirty="0"/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/>
        </p:nvGraphicFramePr>
        <p:xfrm>
          <a:off x="0" y="2424154"/>
          <a:ext cx="6858000" cy="2371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586" name="VISIO" r:id="rId1" imgW="4671060" imgH="1615440" progId="Visio.Drawing.11">
                  <p:embed/>
                </p:oleObj>
              </mc:Choice>
              <mc:Fallback>
                <p:oleObj name="VISIO" r:id="rId1" imgW="4671060" imgH="1615440" progId="Visio.Drawing.11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2424154"/>
                        <a:ext cx="6858000" cy="23717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双向链表的插入操作</a:t>
            </a:r>
            <a:endParaRPr lang="en-US" altLang="zh-CN" dirty="0"/>
          </a:p>
          <a:p>
            <a:pPr lvl="2"/>
            <a:r>
              <a:rPr lang="zh-CN" altLang="en-US" sz="2200" dirty="0"/>
              <a:t>双向链表的插入、删除和遍历基本思路与单向链表相同，但需要同时考虑</a:t>
            </a:r>
            <a:r>
              <a:rPr lang="zh-CN" altLang="en-US" sz="2200" dirty="0">
                <a:solidFill>
                  <a:srgbClr val="FF0000"/>
                </a:solidFill>
              </a:rPr>
              <a:t>前后两个指针。</a:t>
            </a:r>
            <a:endParaRPr lang="zh-CN" altLang="en-US" sz="2200" dirty="0">
              <a:solidFill>
                <a:srgbClr val="FF0000"/>
              </a:solidFill>
            </a:endParaRPr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2.3 </a:t>
            </a:r>
            <a:r>
              <a:rPr lang="zh-CN" altLang="en-US" dirty="0"/>
              <a:t>线性表的链式表示和实现</a:t>
            </a:r>
            <a:endParaRPr lang="zh-CN" altLang="en-US" dirty="0"/>
          </a:p>
        </p:txBody>
      </p:sp>
      <p:graphicFrame>
        <p:nvGraphicFramePr>
          <p:cNvPr id="5" name="Object 6"/>
          <p:cNvGraphicFramePr>
            <a:graphicFrameLocks noChangeAspect="1"/>
          </p:cNvGraphicFramePr>
          <p:nvPr/>
        </p:nvGraphicFramePr>
        <p:xfrm>
          <a:off x="200025" y="1745311"/>
          <a:ext cx="6457950" cy="26622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609" name="VISIO" r:id="rId1" imgW="2773680" imgH="1143000" progId="Visio.Drawing.11">
                  <p:embed/>
                </p:oleObj>
              </mc:Choice>
              <mc:Fallback>
                <p:oleObj name="VISIO" r:id="rId1" imgW="2773680" imgH="1143000" progId="Visio.Drawing.11">
                  <p:embed/>
                  <p:pic>
                    <p:nvPicPr>
                      <p:cNvPr id="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0025" y="1745311"/>
                        <a:ext cx="6457950" cy="26622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2. </a:t>
            </a:r>
            <a:r>
              <a:rPr lang="zh-CN" altLang="en-US" dirty="0"/>
              <a:t>双向链表的删除操作</a:t>
            </a:r>
            <a:endParaRPr lang="en-US" altLang="zh-CN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2.3 </a:t>
            </a:r>
            <a:r>
              <a:rPr lang="zh-CN" altLang="en-US" dirty="0"/>
              <a:t>线性表的链式表示和实现</a:t>
            </a:r>
            <a:endParaRPr lang="zh-CN" altLang="en-US" dirty="0"/>
          </a:p>
        </p:txBody>
      </p:sp>
      <p:graphicFrame>
        <p:nvGraphicFramePr>
          <p:cNvPr id="6" name="Object 7"/>
          <p:cNvGraphicFramePr>
            <a:graphicFrameLocks noChangeAspect="1"/>
          </p:cNvGraphicFramePr>
          <p:nvPr/>
        </p:nvGraphicFramePr>
        <p:xfrm>
          <a:off x="0" y="1517079"/>
          <a:ext cx="6858000" cy="141208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633" name="VISIO" r:id="rId1" imgW="3825240" imgH="784860" progId="Visio.Drawing.11">
                  <p:embed/>
                </p:oleObj>
              </mc:Choice>
              <mc:Fallback>
                <p:oleObj name="VISIO" r:id="rId1" imgW="3825240" imgH="784860" progId="Visio.Drawing.11">
                  <p:embed/>
                  <p:pic>
                    <p:nvPicPr>
                      <p:cNvPr id="0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1517079"/>
                        <a:ext cx="6858000" cy="141208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indent="-33655"/>
            <a:r>
              <a:rPr lang="zh-CN" altLang="en-US" dirty="0"/>
              <a:t>顺序表和链表的比较</a:t>
            </a:r>
            <a:endParaRPr lang="en-US" altLang="zh-CN" dirty="0"/>
          </a:p>
          <a:p>
            <a:pPr marL="358140" lvl="2" indent="-257175">
              <a:buFont typeface="Wingdings" panose="05000000000000000000" pitchFamily="2" charset="2"/>
              <a:buChar char="Ø"/>
            </a:pPr>
            <a:r>
              <a:rPr lang="zh-CN" altLang="en-US" dirty="0"/>
              <a:t>主要进行查找操作，宜采用</a:t>
            </a:r>
            <a:r>
              <a:rPr lang="zh-CN" altLang="en-US" dirty="0">
                <a:solidFill>
                  <a:srgbClr val="FF0000"/>
                </a:solidFill>
              </a:rPr>
              <a:t>顺序表</a:t>
            </a:r>
            <a:r>
              <a:rPr lang="zh-CN" altLang="en-US" dirty="0"/>
              <a:t>。</a:t>
            </a:r>
            <a:endParaRPr lang="en-US" altLang="zh-CN" dirty="0"/>
          </a:p>
          <a:p>
            <a:pPr marL="358140" lvl="2" indent="-257175">
              <a:buFont typeface="Wingdings" panose="05000000000000000000" pitchFamily="2" charset="2"/>
              <a:buChar char="Ø"/>
            </a:pPr>
            <a:r>
              <a:rPr lang="zh-CN" altLang="en-US" dirty="0"/>
              <a:t>频繁进行插入、删除操作，宜采用</a:t>
            </a:r>
            <a:r>
              <a:rPr lang="zh-CN" altLang="en-US" dirty="0">
                <a:solidFill>
                  <a:srgbClr val="FF0000"/>
                </a:solidFill>
              </a:rPr>
              <a:t>链表</a:t>
            </a:r>
            <a:r>
              <a:rPr lang="zh-CN" altLang="en-US" dirty="0"/>
              <a:t>。</a:t>
            </a:r>
            <a:endParaRPr lang="en-US" altLang="zh-CN" dirty="0"/>
          </a:p>
          <a:p>
            <a:pPr marL="358140" lvl="2" indent="-257175">
              <a:buFont typeface="Wingdings" panose="05000000000000000000" pitchFamily="2" charset="2"/>
              <a:buChar char="Ø"/>
            </a:pPr>
            <a:r>
              <a:rPr lang="zh-CN" altLang="en-US" dirty="0"/>
              <a:t>若表的插入、删除主要发生在表的首尾两端，宜采用</a:t>
            </a:r>
            <a:r>
              <a:rPr lang="zh-CN" altLang="en-US" dirty="0">
                <a:solidFill>
                  <a:srgbClr val="FF0000"/>
                </a:solidFill>
              </a:rPr>
              <a:t>尾指针表示的单循环链表</a:t>
            </a:r>
            <a:r>
              <a:rPr lang="zh-CN" altLang="en-US" dirty="0"/>
              <a:t>。</a:t>
            </a:r>
            <a:endParaRPr lang="en-US" altLang="zh-CN" dirty="0"/>
          </a:p>
          <a:p>
            <a:pPr marL="358140" lvl="2" indent="-257175">
              <a:buFont typeface="Wingdings" panose="05000000000000000000" pitchFamily="2" charset="2"/>
              <a:buChar char="Ø"/>
            </a:pPr>
            <a:r>
              <a:rPr lang="zh-CN" altLang="en-US" dirty="0"/>
              <a:t>对于没有提供指针类型的高级语言，若要采用链表结构， 可以使用光标实现的</a:t>
            </a:r>
            <a:r>
              <a:rPr lang="zh-CN" altLang="en-US" dirty="0">
                <a:solidFill>
                  <a:srgbClr val="FF0000"/>
                </a:solidFill>
              </a:rPr>
              <a:t>静态链表</a:t>
            </a:r>
            <a:r>
              <a:rPr lang="zh-CN" altLang="en-US" dirty="0"/>
              <a:t>。 </a:t>
            </a:r>
            <a:endParaRPr lang="en-US" altLang="zh-CN" dirty="0"/>
          </a:p>
          <a:p>
            <a:pPr marL="358140" lvl="2" indent="-257175">
              <a:buFont typeface="Wingdings" panose="05000000000000000000" pitchFamily="2" charset="2"/>
              <a:buChar char="Ø"/>
            </a:pPr>
            <a:r>
              <a:rPr lang="zh-CN" altLang="en-US" dirty="0"/>
              <a:t>当线性表长度不变，仅需改变结点之间的相对关系时，也可以选用</a:t>
            </a:r>
            <a:r>
              <a:rPr lang="zh-CN" altLang="en-US" dirty="0">
                <a:solidFill>
                  <a:srgbClr val="FF0000"/>
                </a:solidFill>
              </a:rPr>
              <a:t>静态链表</a:t>
            </a:r>
            <a:r>
              <a:rPr lang="zh-CN" altLang="en-US" dirty="0"/>
              <a:t>。 </a:t>
            </a:r>
            <a:endParaRPr lang="zh-CN" altLang="en-US" dirty="0"/>
          </a:p>
          <a:p>
            <a:pPr marL="358140" lvl="2" indent="-257175">
              <a:buFont typeface="Wingdings" panose="05000000000000000000" pitchFamily="2" charset="2"/>
              <a:buChar char="Ø"/>
            </a:pPr>
            <a:endParaRPr lang="zh-CN" altLang="en-US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总结</a:t>
            </a:r>
            <a:endParaRPr lang="zh-CN" altLang="en-US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indent="-33655"/>
            <a:r>
              <a:rPr lang="zh-CN" altLang="en-US" dirty="0"/>
              <a:t>多项式的表示</a:t>
            </a:r>
            <a:endParaRPr lang="en-US" altLang="zh-CN" dirty="0"/>
          </a:p>
          <a:p>
            <a:pPr lvl="2" indent="-33655"/>
            <a:r>
              <a:rPr lang="zh-CN" altLang="en-US" dirty="0"/>
              <a:t>一元多项式</a:t>
            </a:r>
            <a:r>
              <a:rPr lang="en-US" altLang="zh-CN" dirty="0"/>
              <a:t> </a:t>
            </a:r>
            <a:r>
              <a:rPr lang="zh-CN" altLang="en-US" dirty="0"/>
              <a:t> </a:t>
            </a:r>
            <a:r>
              <a:rPr lang="en-US" altLang="zh-CN" dirty="0"/>
              <a:t>f(x) = a</a:t>
            </a:r>
            <a:r>
              <a:rPr lang="en-US" altLang="zh-CN" baseline="-25000" dirty="0"/>
              <a:t>0</a:t>
            </a:r>
            <a:r>
              <a:rPr lang="en-US" altLang="zh-CN" dirty="0"/>
              <a:t> + a</a:t>
            </a:r>
            <a:r>
              <a:rPr lang="en-US" altLang="zh-CN" baseline="-25000" dirty="0"/>
              <a:t>1</a:t>
            </a:r>
            <a:r>
              <a:rPr lang="en-US" altLang="zh-CN" dirty="0"/>
              <a:t>x + … + a</a:t>
            </a:r>
            <a:r>
              <a:rPr lang="en-US" altLang="zh-CN" baseline="-25000" dirty="0"/>
              <a:t>n-1</a:t>
            </a:r>
            <a:r>
              <a:rPr lang="en-US" altLang="zh-CN" dirty="0"/>
              <a:t>x</a:t>
            </a:r>
            <a:r>
              <a:rPr lang="en-US" altLang="zh-CN" baseline="30000" dirty="0"/>
              <a:t>n-1</a:t>
            </a:r>
            <a:r>
              <a:rPr lang="en-US" altLang="zh-CN" dirty="0"/>
              <a:t> + </a:t>
            </a:r>
            <a:r>
              <a:rPr lang="en-US" altLang="zh-CN" dirty="0" err="1"/>
              <a:t>a</a:t>
            </a:r>
            <a:r>
              <a:rPr lang="en-US" altLang="zh-CN" baseline="-25000" dirty="0" err="1"/>
              <a:t>n</a:t>
            </a:r>
            <a:r>
              <a:rPr lang="en-US" altLang="zh-CN" dirty="0" err="1"/>
              <a:t>x</a:t>
            </a:r>
            <a:r>
              <a:rPr lang="en-US" altLang="zh-CN" baseline="30000" dirty="0" err="1"/>
              <a:t>n</a:t>
            </a:r>
            <a:endParaRPr lang="zh-CN" altLang="en-US" baseline="30000" dirty="0"/>
          </a:p>
          <a:p>
            <a:pPr lvl="2">
              <a:lnSpc>
                <a:spcPct val="150000"/>
              </a:lnSpc>
            </a:pPr>
            <a:r>
              <a:rPr lang="zh-CN" altLang="en-US" dirty="0"/>
              <a:t>主要运算：多项式相加、相减、相乘等 </a:t>
            </a:r>
            <a:r>
              <a:rPr lang="en-US" altLang="zh-CN" dirty="0"/>
              <a:t> </a:t>
            </a:r>
            <a:endParaRPr lang="en-US" altLang="zh-CN" dirty="0"/>
          </a:p>
          <a:p>
            <a:pPr lvl="2">
              <a:lnSpc>
                <a:spcPct val="150000"/>
              </a:lnSpc>
            </a:pPr>
            <a:endParaRPr lang="zh-CN" altLang="en-US" dirty="0"/>
          </a:p>
          <a:p>
            <a:pPr lvl="2">
              <a:lnSpc>
                <a:spcPct val="150000"/>
              </a:lnSpc>
            </a:pPr>
            <a:r>
              <a:rPr lang="en-US" altLang="zh-CN" dirty="0"/>
              <a:t>【</a:t>
            </a:r>
            <a:r>
              <a:rPr lang="zh-CN" altLang="en-US" dirty="0"/>
              <a:t>分析</a:t>
            </a:r>
            <a:r>
              <a:rPr lang="en-US" altLang="zh-CN" dirty="0"/>
              <a:t>】</a:t>
            </a:r>
            <a:r>
              <a:rPr lang="zh-CN" altLang="en-US" dirty="0"/>
              <a:t>如何表示多项式？</a:t>
            </a:r>
            <a:endParaRPr lang="en-US" altLang="zh-CN" dirty="0"/>
          </a:p>
          <a:p>
            <a:pPr lvl="2">
              <a:lnSpc>
                <a:spcPct val="150000"/>
              </a:lnSpc>
            </a:pPr>
            <a:r>
              <a:rPr lang="zh-CN" altLang="en-US" dirty="0"/>
              <a:t>    多项式的关键数据： </a:t>
            </a:r>
            <a:endParaRPr lang="zh-CN" altLang="en-US" dirty="0"/>
          </a:p>
          <a:p>
            <a:pPr marL="47815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dirty="0">
                <a:solidFill>
                  <a:srgbClr val="FF0000"/>
                </a:solidFill>
              </a:rPr>
              <a:t>多项式项数</a:t>
            </a:r>
            <a:r>
              <a:rPr lang="en-US" altLang="zh-CN" dirty="0">
                <a:solidFill>
                  <a:srgbClr val="FF0000"/>
                </a:solidFill>
              </a:rPr>
              <a:t>n </a:t>
            </a:r>
            <a:endParaRPr lang="en-US" altLang="zh-CN" dirty="0">
              <a:solidFill>
                <a:srgbClr val="FF0000"/>
              </a:solidFill>
            </a:endParaRPr>
          </a:p>
          <a:p>
            <a:pPr marL="47815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dirty="0">
                <a:solidFill>
                  <a:srgbClr val="FF0000"/>
                </a:solidFill>
              </a:rPr>
              <a:t>各项系数</a:t>
            </a:r>
            <a:r>
              <a:rPr lang="en-US" altLang="zh-CN" dirty="0" err="1">
                <a:solidFill>
                  <a:srgbClr val="FF0000"/>
                </a:solidFill>
              </a:rPr>
              <a:t>a</a:t>
            </a:r>
            <a:r>
              <a:rPr lang="en-US" altLang="zh-CN" baseline="-25000" dirty="0" err="1">
                <a:solidFill>
                  <a:srgbClr val="FF0000"/>
                </a:solidFill>
              </a:rPr>
              <a:t>i</a:t>
            </a:r>
            <a:r>
              <a:rPr lang="en-US" altLang="zh-CN" baseline="-25000" dirty="0">
                <a:solidFill>
                  <a:srgbClr val="FF0000"/>
                </a:solidFill>
              </a:rPr>
              <a:t> </a:t>
            </a:r>
            <a:r>
              <a:rPr lang="zh-CN" altLang="en-US" dirty="0">
                <a:solidFill>
                  <a:srgbClr val="FF0000"/>
                </a:solidFill>
              </a:rPr>
              <a:t>及指数 </a:t>
            </a:r>
            <a:r>
              <a:rPr lang="en-US" altLang="zh-CN" dirty="0" err="1">
                <a:solidFill>
                  <a:srgbClr val="FF0000"/>
                </a:solidFill>
              </a:rPr>
              <a:t>i</a:t>
            </a:r>
            <a:r>
              <a:rPr lang="en-US" altLang="zh-CN" dirty="0">
                <a:solidFill>
                  <a:srgbClr val="FF0000"/>
                </a:solidFill>
              </a:rPr>
              <a:t> </a:t>
            </a:r>
            <a:endParaRPr lang="en-US" altLang="zh-CN" dirty="0">
              <a:solidFill>
                <a:srgbClr val="FF0000"/>
              </a:solidFill>
            </a:endParaRPr>
          </a:p>
          <a:p>
            <a:pPr indent="-33655"/>
            <a:endParaRPr lang="en-US" altLang="zh-CN" dirty="0"/>
          </a:p>
          <a:p>
            <a:pPr indent="-33655"/>
            <a:endParaRPr lang="en-US" altLang="zh-CN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2.4 </a:t>
            </a:r>
            <a:r>
              <a:rPr lang="zh-CN" altLang="en-US" dirty="0"/>
              <a:t>一元多项式的表示及相加</a:t>
            </a:r>
            <a:endParaRPr lang="zh-CN" altLang="en-US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indent="-33655">
              <a:defRPr/>
            </a:pPr>
            <a:r>
              <a:rPr lang="zh-CN" altLang="en-US" dirty="0"/>
              <a:t>方法</a:t>
            </a:r>
            <a:r>
              <a:rPr lang="en-US" altLang="zh-CN" dirty="0"/>
              <a:t>1</a:t>
            </a:r>
            <a:r>
              <a:rPr lang="zh-CN" altLang="en-US" dirty="0"/>
              <a:t>：顺序存储结构直接表示 </a:t>
            </a:r>
            <a:endParaRPr lang="en-US" altLang="zh-CN" dirty="0"/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  <a:defRPr/>
            </a:pPr>
            <a:r>
              <a:rPr lang="zh-CN" altLang="en-US" b="0" dirty="0">
                <a:latin typeface="+mn-ea"/>
              </a:rPr>
              <a:t> </a:t>
            </a:r>
            <a:r>
              <a:rPr lang="zh-CN" altLang="en-US" sz="21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数组各分量</a:t>
            </a:r>
            <a:r>
              <a:rPr lang="en-US" altLang="zh-CN" sz="21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a[</a:t>
            </a:r>
            <a:r>
              <a:rPr lang="en-US" altLang="zh-CN" sz="2100" dirty="0" err="1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i</a:t>
            </a:r>
            <a:r>
              <a:rPr lang="en-US" altLang="zh-CN" sz="21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]</a:t>
            </a:r>
            <a:r>
              <a:rPr lang="zh-CN" altLang="en-US" sz="21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对应多项式中</a:t>
            </a:r>
            <a:r>
              <a:rPr lang="en-US" altLang="zh-CN" sz="21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x</a:t>
            </a:r>
            <a:r>
              <a:rPr lang="en-US" altLang="zh-CN" sz="2100" baseline="300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i</a:t>
            </a:r>
            <a:r>
              <a:rPr lang="zh-CN" altLang="en-US" sz="21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的系数</a:t>
            </a:r>
            <a:r>
              <a:rPr lang="en-US" altLang="zh-CN" sz="2100" dirty="0" err="1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a</a:t>
            </a:r>
            <a:r>
              <a:rPr lang="en-US" altLang="zh-CN" sz="2100" baseline="-25000" dirty="0" err="1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i</a:t>
            </a:r>
            <a:endParaRPr lang="en-US" altLang="zh-CN" sz="2100" baseline="-25000" dirty="0">
              <a:solidFill>
                <a:srgbClr val="00194C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>
              <a:lnSpc>
                <a:spcPct val="150000"/>
              </a:lnSpc>
              <a:defRPr/>
            </a:pPr>
            <a:r>
              <a:rPr lang="zh-CN" altLang="en-US" sz="21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      例如： </a:t>
            </a:r>
            <a:r>
              <a:rPr lang="en-US" altLang="zh-CN" sz="21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f(x) = 1 + 3x</a:t>
            </a:r>
            <a:r>
              <a:rPr lang="en-US" altLang="zh-CN" sz="2100" baseline="300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2</a:t>
            </a:r>
            <a:r>
              <a:rPr lang="en-US" altLang="zh-CN" sz="21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– 5x</a:t>
            </a:r>
            <a:r>
              <a:rPr lang="en-US" altLang="zh-CN" sz="2100" baseline="300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4</a:t>
            </a:r>
            <a:endParaRPr lang="en-US" altLang="zh-CN" sz="2100" baseline="30000" dirty="0">
              <a:solidFill>
                <a:srgbClr val="00194C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>
              <a:lnSpc>
                <a:spcPct val="150000"/>
              </a:lnSpc>
              <a:defRPr/>
            </a:pPr>
            <a:r>
              <a:rPr lang="zh-CN" altLang="en-US" sz="21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      表示成：</a:t>
            </a:r>
            <a:endParaRPr lang="en-US" altLang="zh-CN" sz="2100" dirty="0">
              <a:solidFill>
                <a:srgbClr val="00194C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>
              <a:lnSpc>
                <a:spcPct val="150000"/>
              </a:lnSpc>
              <a:defRPr/>
            </a:pPr>
            <a:endParaRPr lang="en-US" altLang="zh-CN" sz="2100" baseline="30000" dirty="0">
              <a:solidFill>
                <a:srgbClr val="00194C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>
              <a:lnSpc>
                <a:spcPct val="150000"/>
              </a:lnSpc>
              <a:defRPr/>
            </a:pPr>
            <a:endParaRPr lang="en-US" altLang="zh-CN" sz="2100" baseline="30000" dirty="0">
              <a:solidFill>
                <a:srgbClr val="00194C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marL="478155" lvl="2" indent="-342900">
              <a:lnSpc>
                <a:spcPct val="150000"/>
              </a:lnSpc>
              <a:buFont typeface="Wingdings" panose="05000000000000000000" pitchFamily="2" charset="2"/>
              <a:buChar char="Ø"/>
              <a:defRPr/>
            </a:pPr>
            <a:r>
              <a:rPr lang="zh-CN" altLang="en-US" dirty="0"/>
              <a:t>两个多项式相加： 两个数组对应分量相加 </a:t>
            </a:r>
            <a:endParaRPr lang="zh-CN" altLang="en-US" dirty="0"/>
          </a:p>
          <a:p>
            <a:pPr lvl="2">
              <a:lnSpc>
                <a:spcPct val="150000"/>
              </a:lnSpc>
              <a:defRPr/>
            </a:pPr>
            <a:r>
              <a:rPr lang="zh-CN" altLang="en-US" dirty="0"/>
              <a:t>     </a:t>
            </a:r>
            <a:r>
              <a:rPr lang="zh-CN" altLang="en-US" dirty="0">
                <a:solidFill>
                  <a:srgbClr val="FF0000"/>
                </a:solidFill>
              </a:rPr>
              <a:t>问题：如何表示多项式 </a:t>
            </a:r>
            <a:r>
              <a:rPr lang="en-US" altLang="zh-CN" dirty="0">
                <a:solidFill>
                  <a:srgbClr val="FF0000"/>
                </a:solidFill>
              </a:rPr>
              <a:t>1 + 5x</a:t>
            </a:r>
            <a:r>
              <a:rPr lang="en-US" altLang="zh-CN" baseline="30000" dirty="0">
                <a:solidFill>
                  <a:srgbClr val="FF0000"/>
                </a:solidFill>
              </a:rPr>
              <a:t>10000</a:t>
            </a:r>
            <a:r>
              <a:rPr lang="en-US" altLang="zh-CN" dirty="0">
                <a:solidFill>
                  <a:srgbClr val="FF0000"/>
                </a:solidFill>
              </a:rPr>
              <a:t>+3x</a:t>
            </a:r>
            <a:r>
              <a:rPr lang="en-US" altLang="zh-CN" baseline="30000" dirty="0">
                <a:solidFill>
                  <a:srgbClr val="FF0000"/>
                </a:solidFill>
              </a:rPr>
              <a:t>20000</a:t>
            </a:r>
            <a:r>
              <a:rPr lang="zh-CN" altLang="en-US" dirty="0">
                <a:solidFill>
                  <a:srgbClr val="FF0000"/>
                </a:solidFill>
              </a:rPr>
              <a:t>？</a:t>
            </a:r>
            <a:endParaRPr lang="en-US" altLang="zh-CN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2.4 </a:t>
            </a:r>
            <a:r>
              <a:rPr lang="zh-CN" altLang="en-US" dirty="0"/>
              <a:t>一元多项式的表示及相加</a:t>
            </a:r>
            <a:endParaRPr lang="zh-CN" altLang="en-US" dirty="0"/>
          </a:p>
        </p:txBody>
      </p:sp>
      <p:graphicFrame>
        <p:nvGraphicFramePr>
          <p:cNvPr id="5" name="表格 4"/>
          <p:cNvGraphicFramePr>
            <a:graphicFrameLocks noGrp="1"/>
          </p:cNvGraphicFramePr>
          <p:nvPr/>
        </p:nvGraphicFramePr>
        <p:xfrm>
          <a:off x="1885950" y="2257025"/>
          <a:ext cx="4572000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2000"/>
                <a:gridCol w="762000"/>
                <a:gridCol w="762000"/>
                <a:gridCol w="762000"/>
                <a:gridCol w="762000"/>
                <a:gridCol w="762000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dirty="0"/>
                        <a:t>下标</a:t>
                      </a:r>
                      <a:r>
                        <a:rPr lang="en-US" altLang="zh-CN" sz="1600" dirty="0" err="1"/>
                        <a:t>i</a:t>
                      </a:r>
                      <a:endParaRPr lang="zh-CN" altLang="en-US" sz="16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/>
                        <a:t>0</a:t>
                      </a:r>
                      <a:endParaRPr lang="zh-CN" altLang="en-US" sz="16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/>
                        <a:t>1</a:t>
                      </a:r>
                      <a:endParaRPr lang="zh-CN" altLang="en-US" sz="16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/>
                        <a:t>2</a:t>
                      </a:r>
                      <a:endParaRPr lang="zh-CN" altLang="en-US" sz="16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/>
                        <a:t>3</a:t>
                      </a:r>
                      <a:endParaRPr lang="zh-CN" altLang="en-US" sz="16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/>
                        <a:t>4</a:t>
                      </a:r>
                      <a:endParaRPr lang="zh-CN" altLang="en-US" sz="16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/>
                        <a:t>a[</a:t>
                      </a:r>
                      <a:r>
                        <a:rPr lang="en-US" altLang="zh-CN" sz="1600" dirty="0" err="1"/>
                        <a:t>i</a:t>
                      </a:r>
                      <a:r>
                        <a:rPr lang="en-US" altLang="zh-CN" sz="1600" dirty="0"/>
                        <a:t>]</a:t>
                      </a:r>
                      <a:endParaRPr lang="zh-CN" altLang="en-US" sz="16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/>
                        <a:t>1</a:t>
                      </a:r>
                      <a:endParaRPr lang="zh-CN" altLang="en-US" sz="16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/>
                        <a:t>0</a:t>
                      </a:r>
                      <a:endParaRPr lang="zh-CN" altLang="en-US" sz="16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/>
                        <a:t>3</a:t>
                      </a:r>
                      <a:endParaRPr lang="zh-CN" altLang="en-US" sz="16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/>
                        <a:t>0</a:t>
                      </a:r>
                      <a:endParaRPr lang="zh-CN" altLang="en-US" sz="16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/>
                        <a:t>-5</a:t>
                      </a:r>
                      <a:endParaRPr lang="zh-CN" altLang="en-US" sz="16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6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>
                          <a:solidFill>
                            <a:srgbClr val="1A6ED1"/>
                          </a:solidFill>
                        </a:rPr>
                        <a:t>1</a:t>
                      </a:r>
                      <a:endParaRPr lang="zh-CN" altLang="en-US" sz="1600" dirty="0">
                        <a:solidFill>
                          <a:srgbClr val="1A6ED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solidFill>
                          <a:srgbClr val="1A6ED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>
                          <a:solidFill>
                            <a:srgbClr val="1A6ED1"/>
                          </a:solidFill>
                        </a:rPr>
                        <a:t>3x</a:t>
                      </a:r>
                      <a:r>
                        <a:rPr lang="en-US" altLang="zh-CN" sz="1600" baseline="30000" dirty="0">
                          <a:solidFill>
                            <a:srgbClr val="1A6ED1"/>
                          </a:solidFill>
                        </a:rPr>
                        <a:t>2</a:t>
                      </a:r>
                      <a:endParaRPr lang="zh-CN" altLang="en-US" sz="1600" baseline="30000" dirty="0">
                        <a:solidFill>
                          <a:srgbClr val="1A6ED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solidFill>
                          <a:srgbClr val="1A6ED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>
                          <a:solidFill>
                            <a:srgbClr val="1A6ED1"/>
                          </a:solidFill>
                        </a:rPr>
                        <a:t>-5x</a:t>
                      </a:r>
                      <a:r>
                        <a:rPr lang="en-US" altLang="zh-CN" sz="1600" baseline="30000" dirty="0">
                          <a:solidFill>
                            <a:srgbClr val="1A6ED1"/>
                          </a:solidFill>
                        </a:rPr>
                        <a:t>4</a:t>
                      </a:r>
                      <a:endParaRPr lang="zh-CN" altLang="en-US" sz="1600" baseline="30000" dirty="0">
                        <a:solidFill>
                          <a:srgbClr val="1A6ED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indent="-33655">
              <a:defRPr/>
            </a:pPr>
            <a:r>
              <a:rPr lang="zh-CN" altLang="en-US" dirty="0"/>
              <a:t>方法</a:t>
            </a:r>
            <a:r>
              <a:rPr lang="en-US" altLang="zh-CN" dirty="0"/>
              <a:t>2</a:t>
            </a:r>
            <a:r>
              <a:rPr lang="zh-CN" altLang="en-US" dirty="0"/>
              <a:t>：顺序存储结构表示非零项</a:t>
            </a:r>
            <a:endParaRPr lang="en-US" altLang="zh-CN" dirty="0"/>
          </a:p>
          <a:p>
            <a:pPr marL="478155" lvl="2" indent="-342900">
              <a:lnSpc>
                <a:spcPct val="150000"/>
              </a:lnSpc>
              <a:buFont typeface="Wingdings" panose="05000000000000000000" pitchFamily="2" charset="2"/>
              <a:buChar char="Ø"/>
              <a:defRPr/>
            </a:pPr>
            <a:r>
              <a:rPr lang="zh-CN" altLang="en-US" dirty="0"/>
              <a:t>每个非零项</a:t>
            </a:r>
            <a:r>
              <a:rPr lang="en-US" altLang="zh-CN" dirty="0" err="1"/>
              <a:t>a</a:t>
            </a:r>
            <a:r>
              <a:rPr lang="en-US" altLang="zh-CN" baseline="-25000" dirty="0" err="1"/>
              <a:t>i</a:t>
            </a:r>
            <a:r>
              <a:rPr lang="en-US" altLang="zh-CN" dirty="0" err="1"/>
              <a:t>x</a:t>
            </a:r>
            <a:r>
              <a:rPr lang="en-US" altLang="zh-CN" baseline="30000" dirty="0" err="1"/>
              <a:t>i</a:t>
            </a:r>
            <a:r>
              <a:rPr lang="zh-CN" altLang="en-US" dirty="0"/>
              <a:t>涉及两个信息：系数 </a:t>
            </a:r>
            <a:r>
              <a:rPr lang="en-US" altLang="zh-CN" dirty="0" err="1"/>
              <a:t>a</a:t>
            </a:r>
            <a:r>
              <a:rPr lang="en-US" altLang="zh-CN" baseline="-25000" dirty="0" err="1"/>
              <a:t>i</a:t>
            </a:r>
            <a:r>
              <a:rPr lang="zh-CN" altLang="en-US" dirty="0"/>
              <a:t>和指数</a:t>
            </a:r>
            <a:r>
              <a:rPr lang="en-US" altLang="zh-CN" dirty="0" err="1"/>
              <a:t>i</a:t>
            </a:r>
            <a:r>
              <a:rPr lang="en-US" altLang="zh-CN" dirty="0"/>
              <a:t> </a:t>
            </a:r>
            <a:endParaRPr lang="zh-CN" altLang="en-US" dirty="0"/>
          </a:p>
          <a:p>
            <a:pPr lvl="2">
              <a:lnSpc>
                <a:spcPct val="130000"/>
              </a:lnSpc>
            </a:pPr>
            <a:r>
              <a:rPr lang="zh-CN" altLang="en-US" dirty="0"/>
              <a:t>  将一个多项式看成是一个二元组</a:t>
            </a:r>
            <a:r>
              <a:rPr lang="en-US" altLang="zh-CN" dirty="0"/>
              <a:t>(</a:t>
            </a:r>
            <a:r>
              <a:rPr lang="en-US" altLang="zh-CN" dirty="0" err="1"/>
              <a:t>ai</a:t>
            </a:r>
            <a:r>
              <a:rPr lang="zh-CN" altLang="en-US" dirty="0"/>
              <a:t>，</a:t>
            </a:r>
            <a:r>
              <a:rPr lang="en-US" altLang="zh-CN" dirty="0" err="1"/>
              <a:t>i</a:t>
            </a:r>
            <a:r>
              <a:rPr lang="zh-CN" altLang="en-US" dirty="0"/>
              <a:t> </a:t>
            </a:r>
            <a:r>
              <a:rPr lang="en-US" altLang="zh-CN" dirty="0"/>
              <a:t>)</a:t>
            </a:r>
            <a:r>
              <a:rPr lang="zh-CN" altLang="en-US" dirty="0"/>
              <a:t>的集合。</a:t>
            </a:r>
            <a:endParaRPr lang="en-US" altLang="zh-CN" dirty="0"/>
          </a:p>
          <a:p>
            <a:pPr marL="478155" lvl="2" indent="-342900">
              <a:lnSpc>
                <a:spcPct val="130000"/>
              </a:lnSpc>
              <a:buFont typeface="Wingdings" panose="05000000000000000000" pitchFamily="2" charset="2"/>
              <a:buChar char="Ø"/>
            </a:pPr>
            <a:r>
              <a:rPr lang="zh-CN" altLang="en-US" dirty="0"/>
              <a:t>用</a:t>
            </a:r>
            <a:r>
              <a:rPr lang="zh-CN" altLang="en-US" dirty="0">
                <a:solidFill>
                  <a:srgbClr val="FF0000"/>
                </a:solidFill>
              </a:rPr>
              <a:t>结构数组</a:t>
            </a:r>
            <a:r>
              <a:rPr lang="zh-CN" altLang="en-US" dirty="0"/>
              <a:t>表示：</a:t>
            </a:r>
            <a:endParaRPr lang="en-US" altLang="zh-CN" dirty="0"/>
          </a:p>
          <a:p>
            <a:pPr lvl="2">
              <a:lnSpc>
                <a:spcPct val="130000"/>
              </a:lnSpc>
            </a:pPr>
            <a:r>
              <a:rPr lang="en-US" altLang="zh-CN" dirty="0"/>
              <a:t>    </a:t>
            </a:r>
            <a:r>
              <a:rPr lang="zh-CN" altLang="en-US" dirty="0"/>
              <a:t>数组分量是由系数</a:t>
            </a:r>
            <a:r>
              <a:rPr lang="en-US" altLang="zh-CN" dirty="0" err="1"/>
              <a:t>a</a:t>
            </a:r>
            <a:r>
              <a:rPr lang="en-US" altLang="zh-CN" baseline="-25000" dirty="0" err="1"/>
              <a:t>i</a:t>
            </a:r>
            <a:r>
              <a:rPr lang="zh-CN" altLang="en-US" dirty="0"/>
              <a:t>、指数</a:t>
            </a:r>
            <a:r>
              <a:rPr lang="en-US" altLang="zh-CN" dirty="0" err="1"/>
              <a:t>i</a:t>
            </a:r>
            <a:r>
              <a:rPr lang="zh-CN" altLang="en-US" dirty="0"/>
              <a:t>组成的结构。</a:t>
            </a:r>
            <a:r>
              <a:rPr lang="zh-CN" altLang="en-US" sz="2400" b="0" dirty="0">
                <a:solidFill>
                  <a:srgbClr val="FF0000"/>
                </a:solidFill>
              </a:rPr>
              <a:t> </a:t>
            </a:r>
            <a:endParaRPr lang="en-US" altLang="zh-CN" sz="2400" b="0" dirty="0">
              <a:solidFill>
                <a:srgbClr val="FF0000"/>
              </a:solidFill>
            </a:endParaRPr>
          </a:p>
          <a:p>
            <a:pPr lvl="2">
              <a:lnSpc>
                <a:spcPct val="130000"/>
              </a:lnSpc>
            </a:pPr>
            <a:r>
              <a:rPr lang="en-US" altLang="zh-CN" sz="2400" b="0" dirty="0">
                <a:solidFill>
                  <a:srgbClr val="FF0000"/>
                </a:solidFill>
              </a:rPr>
              <a:t>    </a:t>
            </a:r>
            <a:r>
              <a:rPr lang="zh-CN" altLang="en-US" dirty="0">
                <a:solidFill>
                  <a:srgbClr val="FF0000"/>
                </a:solidFill>
              </a:rPr>
              <a:t>按指数大小有序存储！</a:t>
            </a:r>
            <a:r>
              <a:rPr lang="zh-CN" altLang="en-US" sz="2400" b="0" dirty="0">
                <a:solidFill>
                  <a:srgbClr val="FF0000"/>
                </a:solidFill>
              </a:rPr>
              <a:t> </a:t>
            </a:r>
            <a:endParaRPr lang="en-US" altLang="zh-CN" dirty="0">
              <a:solidFill>
                <a:srgbClr val="FF0000"/>
              </a:solidFill>
            </a:endParaRPr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2.4 </a:t>
            </a:r>
            <a:r>
              <a:rPr lang="zh-CN" altLang="en-US" dirty="0"/>
              <a:t>一元多项式的表示及相加</a:t>
            </a:r>
            <a:endParaRPr lang="zh-CN" altLang="en-US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indent="-33655">
              <a:defRPr/>
            </a:pPr>
            <a:r>
              <a:rPr lang="zh-CN" altLang="en-US" dirty="0"/>
              <a:t>方法</a:t>
            </a:r>
            <a:r>
              <a:rPr lang="en-US" altLang="zh-CN" dirty="0"/>
              <a:t>2</a:t>
            </a:r>
            <a:r>
              <a:rPr lang="zh-CN" altLang="en-US" dirty="0"/>
              <a:t>：顺序存储结构表示非零项</a:t>
            </a:r>
            <a:endParaRPr lang="en-US" altLang="zh-CN" dirty="0"/>
          </a:p>
          <a:p>
            <a:pPr lvl="2" indent="-257175">
              <a:lnSpc>
                <a:spcPct val="130000"/>
              </a:lnSpc>
            </a:pPr>
            <a:r>
              <a:rPr lang="zh-CN" altLang="en-US" dirty="0"/>
              <a:t>例：</a:t>
            </a:r>
            <a:r>
              <a:rPr lang="en-US" altLang="zh-CN" dirty="0"/>
              <a:t>A(x)=7+3x+9x</a:t>
            </a:r>
            <a:r>
              <a:rPr lang="en-US" altLang="zh-CN" baseline="30000" dirty="0"/>
              <a:t>8</a:t>
            </a:r>
            <a:r>
              <a:rPr lang="en-US" altLang="zh-CN" dirty="0"/>
              <a:t>+5x</a:t>
            </a:r>
            <a:r>
              <a:rPr lang="en-US" altLang="zh-CN" baseline="30000" dirty="0"/>
              <a:t>17</a:t>
            </a:r>
            <a:r>
              <a:rPr lang="en-US" altLang="zh-CN" dirty="0"/>
              <a:t>  </a:t>
            </a:r>
            <a:r>
              <a:rPr lang="zh-CN" altLang="en-US" dirty="0"/>
              <a:t>和  </a:t>
            </a:r>
            <a:r>
              <a:rPr lang="en-US" altLang="zh-CN" dirty="0"/>
              <a:t>B(x)=8x+22x</a:t>
            </a:r>
            <a:r>
              <a:rPr lang="en-US" altLang="zh-CN" baseline="30000" dirty="0"/>
              <a:t>7</a:t>
            </a:r>
            <a:r>
              <a:rPr lang="en-US" altLang="zh-CN" dirty="0"/>
              <a:t>-9x</a:t>
            </a:r>
            <a:r>
              <a:rPr lang="en-US" altLang="zh-CN" baseline="30000" dirty="0"/>
              <a:t>8</a:t>
            </a:r>
            <a:endParaRPr lang="en-US" altLang="zh-CN" baseline="30000" dirty="0"/>
          </a:p>
          <a:p>
            <a:pPr lvl="2" indent="-257175">
              <a:lnSpc>
                <a:spcPct val="130000"/>
              </a:lnSpc>
            </a:pPr>
            <a:endParaRPr lang="en-US" altLang="zh-CN" baseline="30000" dirty="0"/>
          </a:p>
          <a:p>
            <a:pPr lvl="2" indent="-257175">
              <a:lnSpc>
                <a:spcPct val="130000"/>
              </a:lnSpc>
            </a:pPr>
            <a:endParaRPr lang="en-US" altLang="zh-CN" baseline="30000" dirty="0"/>
          </a:p>
          <a:p>
            <a:pPr lvl="2" indent="-257175">
              <a:lnSpc>
                <a:spcPct val="130000"/>
              </a:lnSpc>
            </a:pPr>
            <a:endParaRPr lang="en-US" altLang="zh-CN" baseline="30000" dirty="0"/>
          </a:p>
          <a:p>
            <a:pPr lvl="2" indent="-257175">
              <a:lnSpc>
                <a:spcPct val="130000"/>
              </a:lnSpc>
            </a:pPr>
            <a:r>
              <a:rPr lang="en-US" altLang="zh-CN" sz="2400" b="0" dirty="0"/>
              <a:t>               </a:t>
            </a:r>
            <a:r>
              <a:rPr lang="en-US" altLang="zh-CN" sz="1600" dirty="0"/>
              <a:t>(a)   A(x) 	                                              (b)  B(x) </a:t>
            </a:r>
            <a:endParaRPr lang="zh-CN" altLang="en-US" sz="1600" dirty="0"/>
          </a:p>
          <a:p>
            <a:pPr lvl="2">
              <a:lnSpc>
                <a:spcPct val="130000"/>
              </a:lnSpc>
            </a:pPr>
            <a:endParaRPr lang="en-US" altLang="zh-CN" dirty="0"/>
          </a:p>
          <a:p>
            <a:pPr indent="-33655"/>
            <a:endParaRPr lang="en-US" altLang="zh-CN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2.4 </a:t>
            </a:r>
            <a:r>
              <a:rPr lang="zh-CN" altLang="en-US" dirty="0"/>
              <a:t>一元多项式的表示及相加</a:t>
            </a:r>
            <a:endParaRPr lang="zh-CN" altLang="en-US" dirty="0"/>
          </a:p>
        </p:txBody>
      </p:sp>
      <p:graphicFrame>
        <p:nvGraphicFramePr>
          <p:cNvPr id="5" name="表格 4"/>
          <p:cNvGraphicFramePr>
            <a:graphicFrameLocks noGrp="1"/>
          </p:cNvGraphicFramePr>
          <p:nvPr/>
        </p:nvGraphicFramePr>
        <p:xfrm>
          <a:off x="463429" y="1414596"/>
          <a:ext cx="2963165" cy="1005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92633"/>
                <a:gridCol w="592633"/>
                <a:gridCol w="592633"/>
                <a:gridCol w="592633"/>
                <a:gridCol w="592633"/>
              </a:tblGrid>
              <a:tr h="29681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/>
                        <a:t>下标</a:t>
                      </a:r>
                      <a:r>
                        <a:rPr lang="en-US" altLang="zh-CN" sz="1200" dirty="0" err="1"/>
                        <a:t>i</a:t>
                      </a:r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/>
                        <a:t>0</a:t>
                      </a:r>
                      <a:endParaRPr lang="zh-CN" altLang="en-US" sz="16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/>
                        <a:t>1</a:t>
                      </a:r>
                      <a:endParaRPr lang="zh-CN" altLang="en-US" sz="16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/>
                        <a:t>2</a:t>
                      </a:r>
                      <a:endParaRPr lang="zh-CN" altLang="en-US" sz="16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/>
                        <a:t>3</a:t>
                      </a:r>
                      <a:endParaRPr lang="zh-CN" altLang="en-US" sz="16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29681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/>
                        <a:t>系数</a:t>
                      </a:r>
                      <a:r>
                        <a:rPr lang="en-US" altLang="zh-CN" sz="1200" dirty="0" err="1"/>
                        <a:t>a</a:t>
                      </a:r>
                      <a:r>
                        <a:rPr lang="en-US" altLang="zh-CN" sz="1200" baseline="-25000" dirty="0" err="1"/>
                        <a:t>i</a:t>
                      </a:r>
                      <a:endParaRPr lang="zh-CN" altLang="en-US" sz="1200" baseline="-25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/>
                        <a:t>7</a:t>
                      </a:r>
                      <a:endParaRPr lang="zh-CN" altLang="en-US" sz="16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/>
                        <a:t>3</a:t>
                      </a:r>
                      <a:endParaRPr lang="zh-CN" altLang="en-US" sz="16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/>
                        <a:t>9</a:t>
                      </a:r>
                      <a:endParaRPr lang="zh-CN" altLang="en-US" sz="16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/>
                        <a:t>5</a:t>
                      </a:r>
                      <a:endParaRPr lang="zh-CN" altLang="en-US" sz="16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29681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/>
                        <a:t>指数</a:t>
                      </a:r>
                      <a:r>
                        <a:rPr lang="en-US" altLang="zh-CN" sz="1200" dirty="0" err="1"/>
                        <a:t>i</a:t>
                      </a:r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US" altLang="zh-CN" sz="16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  <a:endParaRPr lang="zh-CN" altLang="en-US" sz="16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US" altLang="zh-CN" sz="16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endParaRPr lang="zh-CN" altLang="en-US" sz="16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US" altLang="zh-CN" sz="16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  <a:endParaRPr lang="zh-CN" altLang="en-US" sz="16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US" altLang="zh-CN" sz="16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17</a:t>
                      </a:r>
                      <a:endParaRPr lang="zh-CN" altLang="en-US" sz="16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</a:tbl>
          </a:graphicData>
        </a:graphic>
      </p:graphicFrame>
      <p:graphicFrame>
        <p:nvGraphicFramePr>
          <p:cNvPr id="7" name="表格 6"/>
          <p:cNvGraphicFramePr>
            <a:graphicFrameLocks noGrp="1"/>
          </p:cNvGraphicFramePr>
          <p:nvPr/>
        </p:nvGraphicFramePr>
        <p:xfrm>
          <a:off x="3795071" y="1414596"/>
          <a:ext cx="2370532" cy="1005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92633"/>
                <a:gridCol w="592633"/>
                <a:gridCol w="592633"/>
                <a:gridCol w="592633"/>
              </a:tblGrid>
              <a:tr h="29681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/>
                        <a:t>下标</a:t>
                      </a:r>
                      <a:r>
                        <a:rPr lang="en-US" altLang="zh-CN" sz="1200" dirty="0" err="1"/>
                        <a:t>i</a:t>
                      </a:r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/>
                        <a:t>0</a:t>
                      </a:r>
                      <a:endParaRPr lang="zh-CN" altLang="en-US" sz="16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/>
                        <a:t>1</a:t>
                      </a:r>
                      <a:endParaRPr lang="zh-CN" altLang="en-US" sz="16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/>
                        <a:t>2</a:t>
                      </a:r>
                      <a:endParaRPr lang="zh-CN" altLang="en-US" sz="16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29681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/>
                        <a:t>系数</a:t>
                      </a:r>
                      <a:r>
                        <a:rPr lang="en-US" altLang="zh-CN" sz="1200" dirty="0" err="1"/>
                        <a:t>a</a:t>
                      </a:r>
                      <a:r>
                        <a:rPr lang="en-US" altLang="zh-CN" sz="1200" baseline="-25000" dirty="0" err="1"/>
                        <a:t>i</a:t>
                      </a:r>
                      <a:endParaRPr lang="zh-CN" altLang="en-US" sz="1200" baseline="-25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/>
                        <a:t>8</a:t>
                      </a:r>
                      <a:endParaRPr lang="zh-CN" altLang="en-US" sz="16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/>
                        <a:t>22</a:t>
                      </a:r>
                      <a:endParaRPr lang="zh-CN" altLang="en-US" sz="16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/>
                        <a:t>-9</a:t>
                      </a:r>
                      <a:endParaRPr lang="zh-CN" altLang="en-US" sz="16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29681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/>
                        <a:t>指数</a:t>
                      </a:r>
                      <a:r>
                        <a:rPr lang="en-US" altLang="zh-CN" sz="1200" dirty="0" err="1"/>
                        <a:t>i</a:t>
                      </a:r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US" altLang="zh-CN" sz="16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endParaRPr lang="zh-CN" altLang="en-US" sz="16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US" altLang="zh-CN" sz="16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  <a:endParaRPr lang="zh-CN" altLang="en-US" sz="16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US" altLang="zh-CN" sz="16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  <a:endParaRPr lang="zh-CN" altLang="en-US" sz="16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indent="-33655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pPr>
            <a:r>
              <a:rPr lang="zh-CN" altLang="en-US" dirty="0"/>
              <a:t>方法</a:t>
            </a:r>
            <a:r>
              <a:rPr lang="en-US" altLang="zh-CN" dirty="0"/>
              <a:t>2</a:t>
            </a:r>
            <a:r>
              <a:rPr lang="zh-CN" altLang="en-US" dirty="0"/>
              <a:t>：顺序存储结构表示非零项</a:t>
            </a:r>
            <a:endParaRPr lang="en-US" altLang="zh-CN" dirty="0"/>
          </a:p>
          <a:p>
            <a:pPr lvl="2" indent="-257175">
              <a:lnSpc>
                <a:spcPct val="100000"/>
              </a:lnSpc>
            </a:pPr>
            <a:r>
              <a:rPr lang="zh-CN" altLang="en-US" dirty="0"/>
              <a:t>例：</a:t>
            </a:r>
            <a:r>
              <a:rPr lang="en-US" altLang="zh-CN" dirty="0"/>
              <a:t>A(x)=7+3x+9x</a:t>
            </a:r>
            <a:r>
              <a:rPr lang="en-US" altLang="zh-CN" baseline="30000" dirty="0"/>
              <a:t>8</a:t>
            </a:r>
            <a:r>
              <a:rPr lang="en-US" altLang="zh-CN" dirty="0"/>
              <a:t>+5x</a:t>
            </a:r>
            <a:r>
              <a:rPr lang="en-US" altLang="zh-CN" baseline="30000" dirty="0"/>
              <a:t>17</a:t>
            </a:r>
            <a:r>
              <a:rPr lang="en-US" altLang="zh-CN" dirty="0"/>
              <a:t>  </a:t>
            </a:r>
            <a:r>
              <a:rPr lang="zh-CN" altLang="en-US" dirty="0"/>
              <a:t>和  </a:t>
            </a:r>
            <a:r>
              <a:rPr lang="en-US" altLang="zh-CN" dirty="0"/>
              <a:t>B(x)=8x+22x</a:t>
            </a:r>
            <a:r>
              <a:rPr lang="en-US" altLang="zh-CN" baseline="30000" dirty="0"/>
              <a:t>7</a:t>
            </a:r>
            <a:r>
              <a:rPr lang="en-US" altLang="zh-CN" dirty="0"/>
              <a:t>-9x</a:t>
            </a:r>
            <a:r>
              <a:rPr lang="en-US" altLang="zh-CN" baseline="30000" dirty="0"/>
              <a:t>8</a:t>
            </a:r>
            <a:endParaRPr lang="en-US" altLang="zh-CN" baseline="30000" dirty="0"/>
          </a:p>
          <a:p>
            <a:pPr lvl="2" indent="-257175">
              <a:lnSpc>
                <a:spcPct val="100000"/>
              </a:lnSpc>
            </a:pPr>
            <a:endParaRPr lang="en-US" altLang="zh-CN" baseline="30000" dirty="0"/>
          </a:p>
          <a:p>
            <a:pPr lvl="2" indent="-257175">
              <a:lnSpc>
                <a:spcPct val="100000"/>
              </a:lnSpc>
            </a:pPr>
            <a:endParaRPr lang="en-US" altLang="zh-CN" baseline="30000" dirty="0"/>
          </a:p>
          <a:p>
            <a:pPr lvl="2" indent="-257175">
              <a:lnSpc>
                <a:spcPct val="100000"/>
              </a:lnSpc>
            </a:pPr>
            <a:endParaRPr lang="en-US" altLang="zh-CN" baseline="30000" dirty="0"/>
          </a:p>
          <a:p>
            <a:pPr lvl="2" indent="-257175">
              <a:lnSpc>
                <a:spcPct val="100000"/>
              </a:lnSpc>
            </a:pPr>
            <a:endParaRPr lang="en-US" altLang="zh-CN" dirty="0"/>
          </a:p>
          <a:p>
            <a:pPr lvl="2" indent="-257175">
              <a:lnSpc>
                <a:spcPct val="100000"/>
              </a:lnSpc>
            </a:pPr>
            <a:endParaRPr lang="en-US" altLang="zh-CN" dirty="0"/>
          </a:p>
          <a:p>
            <a:pPr lvl="2" indent="-257175">
              <a:lnSpc>
                <a:spcPct val="100000"/>
              </a:lnSpc>
            </a:pPr>
            <a:r>
              <a:rPr lang="zh-CN" altLang="en-US" dirty="0"/>
              <a:t>相加：从头开始比较两个多项式当前对应项的指数</a:t>
            </a:r>
            <a:endParaRPr lang="en-US" altLang="zh-CN" dirty="0"/>
          </a:p>
          <a:p>
            <a:pPr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 sz="21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   A: (7,0), (3,1), (9,8) , (5,17) </a:t>
            </a:r>
            <a:endParaRPr lang="en-US" altLang="zh-CN" sz="2100" dirty="0">
              <a:solidFill>
                <a:srgbClr val="00194C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 sz="21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   B: (8,1), (22,7), (-9,8)</a:t>
            </a:r>
            <a:endParaRPr lang="en-US" altLang="zh-CN" sz="2100" dirty="0">
              <a:solidFill>
                <a:srgbClr val="00194C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 sz="21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   C: (7,0) , (11,1), (22,7) , (5,17)</a:t>
            </a:r>
            <a:endParaRPr lang="en-US" altLang="zh-CN" sz="2100" dirty="0">
              <a:solidFill>
                <a:srgbClr val="00194C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altLang="zh-CN" sz="2100" dirty="0">
              <a:solidFill>
                <a:srgbClr val="00194C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 sz="21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    C(x)=7+11x+22x</a:t>
            </a:r>
            <a:r>
              <a:rPr lang="en-US" altLang="zh-CN" sz="2100" baseline="300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7</a:t>
            </a:r>
            <a:r>
              <a:rPr lang="en-US" altLang="zh-CN" sz="21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+5x</a:t>
            </a:r>
            <a:r>
              <a:rPr lang="en-US" altLang="zh-CN" sz="2100" baseline="30000" dirty="0">
                <a:solidFill>
                  <a:srgbClr val="00194C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17</a:t>
            </a:r>
            <a:endParaRPr lang="zh-CN" altLang="en-US" sz="1600" baseline="30000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2.4 </a:t>
            </a:r>
            <a:r>
              <a:rPr lang="zh-CN" altLang="en-US" dirty="0"/>
              <a:t>一元多项式的表示及相加</a:t>
            </a:r>
            <a:endParaRPr lang="zh-CN" altLang="en-US" dirty="0"/>
          </a:p>
        </p:txBody>
      </p:sp>
      <p:graphicFrame>
        <p:nvGraphicFramePr>
          <p:cNvPr id="5" name="表格 4"/>
          <p:cNvGraphicFramePr>
            <a:graphicFrameLocks noGrp="1"/>
          </p:cNvGraphicFramePr>
          <p:nvPr/>
        </p:nvGraphicFramePr>
        <p:xfrm>
          <a:off x="463429" y="1414596"/>
          <a:ext cx="2963165" cy="1005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92633"/>
                <a:gridCol w="592633"/>
                <a:gridCol w="592633"/>
                <a:gridCol w="592633"/>
                <a:gridCol w="592633"/>
              </a:tblGrid>
              <a:tr h="29681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/>
                        <a:t>下标</a:t>
                      </a:r>
                      <a:r>
                        <a:rPr lang="en-US" altLang="zh-CN" sz="1200" dirty="0" err="1"/>
                        <a:t>i</a:t>
                      </a:r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/>
                        <a:t>0</a:t>
                      </a:r>
                      <a:endParaRPr lang="zh-CN" altLang="en-US" sz="16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/>
                        <a:t>1</a:t>
                      </a:r>
                      <a:endParaRPr lang="zh-CN" altLang="en-US" sz="16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/>
                        <a:t>2</a:t>
                      </a:r>
                      <a:endParaRPr lang="zh-CN" altLang="en-US" sz="16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/>
                        <a:t>3</a:t>
                      </a:r>
                      <a:endParaRPr lang="zh-CN" altLang="en-US" sz="16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29681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/>
                        <a:t>系数</a:t>
                      </a:r>
                      <a:r>
                        <a:rPr lang="en-US" altLang="zh-CN" sz="1200" dirty="0" err="1"/>
                        <a:t>a</a:t>
                      </a:r>
                      <a:r>
                        <a:rPr lang="en-US" altLang="zh-CN" sz="1200" baseline="-25000" dirty="0" err="1"/>
                        <a:t>i</a:t>
                      </a:r>
                      <a:endParaRPr lang="zh-CN" altLang="en-US" sz="1200" baseline="-25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/>
                        <a:t>7</a:t>
                      </a:r>
                      <a:endParaRPr lang="zh-CN" altLang="en-US" sz="16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/>
                        <a:t>3</a:t>
                      </a:r>
                      <a:endParaRPr lang="zh-CN" altLang="en-US" sz="16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/>
                        <a:t>9</a:t>
                      </a:r>
                      <a:endParaRPr lang="zh-CN" altLang="en-US" sz="16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/>
                        <a:t>5</a:t>
                      </a:r>
                      <a:endParaRPr lang="zh-CN" altLang="en-US" sz="16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29681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/>
                        <a:t>指数</a:t>
                      </a:r>
                      <a:r>
                        <a:rPr lang="en-US" altLang="zh-CN" sz="1200" dirty="0" err="1"/>
                        <a:t>i</a:t>
                      </a:r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US" altLang="zh-CN" sz="16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  <a:endParaRPr lang="zh-CN" altLang="en-US" sz="16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US" altLang="zh-CN" sz="16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endParaRPr lang="zh-CN" altLang="en-US" sz="16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US" altLang="zh-CN" sz="16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  <a:endParaRPr lang="zh-CN" altLang="en-US" sz="16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US" altLang="zh-CN" sz="16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17</a:t>
                      </a:r>
                      <a:endParaRPr lang="zh-CN" altLang="en-US" sz="16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</a:tbl>
          </a:graphicData>
        </a:graphic>
      </p:graphicFrame>
      <p:graphicFrame>
        <p:nvGraphicFramePr>
          <p:cNvPr id="7" name="表格 6"/>
          <p:cNvGraphicFramePr>
            <a:graphicFrameLocks noGrp="1"/>
          </p:cNvGraphicFramePr>
          <p:nvPr/>
        </p:nvGraphicFramePr>
        <p:xfrm>
          <a:off x="3795071" y="1414596"/>
          <a:ext cx="2370532" cy="1005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92633"/>
                <a:gridCol w="592633"/>
                <a:gridCol w="592633"/>
                <a:gridCol w="592633"/>
              </a:tblGrid>
              <a:tr h="29681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/>
                        <a:t>下标</a:t>
                      </a:r>
                      <a:r>
                        <a:rPr lang="en-US" altLang="zh-CN" sz="1200" dirty="0" err="1"/>
                        <a:t>i</a:t>
                      </a:r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/>
                        <a:t>0</a:t>
                      </a:r>
                      <a:endParaRPr lang="zh-CN" altLang="en-US" sz="16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/>
                        <a:t>1</a:t>
                      </a:r>
                      <a:endParaRPr lang="zh-CN" altLang="en-US" sz="16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/>
                        <a:t>2</a:t>
                      </a:r>
                      <a:endParaRPr lang="zh-CN" altLang="en-US" sz="16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29681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/>
                        <a:t>系数</a:t>
                      </a:r>
                      <a:r>
                        <a:rPr lang="en-US" altLang="zh-CN" sz="1200" dirty="0" err="1"/>
                        <a:t>a</a:t>
                      </a:r>
                      <a:r>
                        <a:rPr lang="en-US" altLang="zh-CN" sz="1200" baseline="-25000" dirty="0" err="1"/>
                        <a:t>i</a:t>
                      </a:r>
                      <a:endParaRPr lang="zh-CN" altLang="en-US" sz="1200" baseline="-25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/>
                        <a:t>8</a:t>
                      </a:r>
                      <a:endParaRPr lang="zh-CN" altLang="en-US" sz="16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/>
                        <a:t>22</a:t>
                      </a:r>
                      <a:endParaRPr lang="zh-CN" altLang="en-US" sz="16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/>
                        <a:t>-9</a:t>
                      </a:r>
                      <a:endParaRPr lang="zh-CN" altLang="en-US" sz="16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29681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/>
                        <a:t>指数</a:t>
                      </a:r>
                      <a:r>
                        <a:rPr lang="en-US" altLang="zh-CN" sz="1200" dirty="0" err="1"/>
                        <a:t>i</a:t>
                      </a:r>
                      <a:endParaRPr lang="zh-CN" altLang="en-US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US" altLang="zh-CN" sz="16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endParaRPr lang="zh-CN" altLang="en-US" sz="16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US" altLang="zh-CN" sz="16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  <a:endParaRPr lang="zh-CN" altLang="en-US" sz="16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US" altLang="zh-CN" sz="16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  <a:endParaRPr lang="zh-CN" altLang="en-US" sz="16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indent="-33655">
              <a:defRPr/>
            </a:pPr>
            <a:r>
              <a:rPr lang="zh-CN" altLang="en-US" dirty="0"/>
              <a:t>方法</a:t>
            </a:r>
            <a:r>
              <a:rPr lang="en-US" altLang="zh-CN" dirty="0"/>
              <a:t>3</a:t>
            </a:r>
            <a:r>
              <a:rPr lang="zh-CN" altLang="en-US" dirty="0"/>
              <a:t>：链表结构表示非零项</a:t>
            </a:r>
            <a:endParaRPr lang="en-US" altLang="zh-CN" dirty="0"/>
          </a:p>
          <a:p>
            <a:pPr lvl="2" indent="-33655">
              <a:defRPr/>
            </a:pPr>
            <a:r>
              <a:rPr lang="zh-CN" altLang="en-US" dirty="0"/>
              <a:t>链表中每个</a:t>
            </a:r>
            <a:r>
              <a:rPr lang="zh-CN" altLang="en-US" dirty="0">
                <a:solidFill>
                  <a:srgbClr val="FF0000"/>
                </a:solidFill>
              </a:rPr>
              <a:t>结点</a:t>
            </a:r>
            <a:r>
              <a:rPr lang="zh-CN" altLang="en-US" dirty="0"/>
              <a:t>存储多项式中的一个</a:t>
            </a:r>
            <a:r>
              <a:rPr lang="zh-CN" altLang="en-US" dirty="0">
                <a:solidFill>
                  <a:srgbClr val="FF0000"/>
                </a:solidFill>
              </a:rPr>
              <a:t>非零项</a:t>
            </a:r>
            <a:r>
              <a:rPr lang="zh-CN" altLang="en-US" dirty="0"/>
              <a:t>，包括</a:t>
            </a:r>
            <a:r>
              <a:rPr lang="zh-CN" altLang="en-US" dirty="0">
                <a:solidFill>
                  <a:srgbClr val="FF0000"/>
                </a:solidFill>
              </a:rPr>
              <a:t>系数</a:t>
            </a:r>
            <a:r>
              <a:rPr lang="zh-CN" altLang="en-US" dirty="0"/>
              <a:t>和</a:t>
            </a:r>
            <a:r>
              <a:rPr lang="zh-CN" altLang="en-US" dirty="0">
                <a:solidFill>
                  <a:srgbClr val="FF0000"/>
                </a:solidFill>
              </a:rPr>
              <a:t>指数</a:t>
            </a:r>
            <a:r>
              <a:rPr lang="zh-CN" altLang="en-US" dirty="0"/>
              <a:t>两个数据域以及一个</a:t>
            </a:r>
            <a:r>
              <a:rPr lang="zh-CN" altLang="en-US" dirty="0">
                <a:solidFill>
                  <a:srgbClr val="FF0000"/>
                </a:solidFill>
              </a:rPr>
              <a:t>指针域</a:t>
            </a:r>
            <a:r>
              <a:rPr lang="zh-CN" altLang="en-US" dirty="0"/>
              <a:t> </a:t>
            </a:r>
            <a:endParaRPr lang="zh-CN" altLang="en-US" dirty="0"/>
          </a:p>
          <a:p>
            <a:pPr lvl="2">
              <a:lnSpc>
                <a:spcPct val="130000"/>
              </a:lnSpc>
            </a:pPr>
            <a:r>
              <a:rPr lang="en-US" altLang="zh-CN" dirty="0" err="1"/>
              <a:t>typedef</a:t>
            </a:r>
            <a:r>
              <a:rPr lang="en-US" altLang="zh-CN" dirty="0"/>
              <a:t> </a:t>
            </a:r>
            <a:r>
              <a:rPr lang="en-US" altLang="zh-CN" dirty="0" err="1"/>
              <a:t>struct</a:t>
            </a:r>
            <a:r>
              <a:rPr lang="en-US" altLang="zh-CN" dirty="0"/>
              <a:t> </a:t>
            </a:r>
            <a:r>
              <a:rPr lang="en-US" altLang="zh-CN" dirty="0" err="1"/>
              <a:t>PolyNode</a:t>
            </a:r>
            <a:r>
              <a:rPr lang="en-US" altLang="zh-CN" dirty="0"/>
              <a:t> { </a:t>
            </a:r>
            <a:endParaRPr lang="en-US" altLang="zh-CN" dirty="0"/>
          </a:p>
          <a:p>
            <a:pPr lvl="2">
              <a:lnSpc>
                <a:spcPct val="130000"/>
              </a:lnSpc>
            </a:pPr>
            <a:r>
              <a:rPr lang="en-US" altLang="zh-CN" dirty="0"/>
              <a:t>	</a:t>
            </a:r>
            <a:r>
              <a:rPr lang="en-US" altLang="zh-CN" dirty="0" err="1"/>
              <a:t>int</a:t>
            </a:r>
            <a:r>
              <a:rPr lang="en-US" altLang="zh-CN" dirty="0"/>
              <a:t> </a:t>
            </a:r>
            <a:r>
              <a:rPr lang="en-US" altLang="zh-CN" dirty="0" err="1"/>
              <a:t>coef</a:t>
            </a:r>
            <a:r>
              <a:rPr lang="en-US" altLang="zh-CN" dirty="0"/>
              <a:t>;    //</a:t>
            </a:r>
            <a:r>
              <a:rPr lang="zh-CN" altLang="en-US" dirty="0"/>
              <a:t>系数</a:t>
            </a:r>
            <a:endParaRPr lang="en-US" altLang="zh-CN" dirty="0"/>
          </a:p>
          <a:p>
            <a:pPr lvl="2">
              <a:lnSpc>
                <a:spcPct val="130000"/>
              </a:lnSpc>
            </a:pPr>
            <a:r>
              <a:rPr lang="en-US" altLang="zh-CN" dirty="0"/>
              <a:t>	</a:t>
            </a:r>
            <a:r>
              <a:rPr lang="en-US" altLang="zh-CN" dirty="0" err="1"/>
              <a:t>int</a:t>
            </a:r>
            <a:r>
              <a:rPr lang="en-US" altLang="zh-CN" dirty="0"/>
              <a:t> </a:t>
            </a:r>
            <a:r>
              <a:rPr lang="en-US" altLang="zh-CN" dirty="0" err="1"/>
              <a:t>expn</a:t>
            </a:r>
            <a:r>
              <a:rPr lang="en-US" altLang="zh-CN" dirty="0"/>
              <a:t>;   //</a:t>
            </a:r>
            <a:r>
              <a:rPr lang="zh-CN" altLang="en-US" dirty="0"/>
              <a:t>指数</a:t>
            </a:r>
            <a:endParaRPr lang="en-US" altLang="zh-CN" dirty="0"/>
          </a:p>
          <a:p>
            <a:pPr lvl="2">
              <a:lnSpc>
                <a:spcPct val="130000"/>
              </a:lnSpc>
            </a:pPr>
            <a:r>
              <a:rPr lang="en-US" altLang="zh-CN" dirty="0"/>
              <a:t>	 </a:t>
            </a:r>
            <a:r>
              <a:rPr lang="en-US" altLang="zh-CN" dirty="0" err="1"/>
              <a:t>struct</a:t>
            </a:r>
            <a:r>
              <a:rPr lang="en-US" altLang="zh-CN" dirty="0"/>
              <a:t> </a:t>
            </a:r>
            <a:r>
              <a:rPr lang="en-US" altLang="zh-CN" dirty="0" err="1"/>
              <a:t>PolyNode</a:t>
            </a:r>
            <a:r>
              <a:rPr lang="en-US" altLang="zh-CN" dirty="0"/>
              <a:t>  *next; </a:t>
            </a:r>
            <a:endParaRPr lang="en-US" altLang="zh-CN" dirty="0"/>
          </a:p>
          <a:p>
            <a:pPr lvl="2">
              <a:lnSpc>
                <a:spcPct val="130000"/>
              </a:lnSpc>
            </a:pPr>
            <a:r>
              <a:rPr lang="en-US" altLang="zh-CN" dirty="0"/>
              <a:t>} *Polynomial;</a:t>
            </a:r>
            <a:endParaRPr lang="en-US" altLang="zh-CN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2.4 </a:t>
            </a:r>
            <a:r>
              <a:rPr lang="zh-CN" altLang="en-US" dirty="0"/>
              <a:t>一元多项式的表示及相加</a:t>
            </a:r>
            <a:endParaRPr lang="zh-CN" altLang="en-US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indent="-33655">
              <a:defRPr/>
            </a:pPr>
            <a:r>
              <a:rPr lang="zh-CN" altLang="en-US" dirty="0"/>
              <a:t>方法</a:t>
            </a:r>
            <a:r>
              <a:rPr lang="en-US" altLang="zh-CN" dirty="0"/>
              <a:t>3</a:t>
            </a:r>
            <a:r>
              <a:rPr lang="zh-CN" altLang="en-US" dirty="0"/>
              <a:t>：链表结构表示非零项</a:t>
            </a:r>
            <a:endParaRPr lang="en-US" altLang="zh-CN" dirty="0"/>
          </a:p>
          <a:p>
            <a:pPr lvl="2" indent="-257175">
              <a:lnSpc>
                <a:spcPct val="130000"/>
              </a:lnSpc>
            </a:pPr>
            <a:r>
              <a:rPr lang="zh-CN" altLang="en-US" dirty="0"/>
              <a:t>例：</a:t>
            </a:r>
            <a:r>
              <a:rPr lang="en-US" altLang="zh-CN" dirty="0"/>
              <a:t>A(x)=7+3x+9x</a:t>
            </a:r>
            <a:r>
              <a:rPr lang="en-US" altLang="zh-CN" baseline="30000" dirty="0"/>
              <a:t>8</a:t>
            </a:r>
            <a:r>
              <a:rPr lang="en-US" altLang="zh-CN" dirty="0"/>
              <a:t>+5x</a:t>
            </a:r>
            <a:r>
              <a:rPr lang="en-US" altLang="zh-CN" baseline="30000" dirty="0"/>
              <a:t>17</a:t>
            </a:r>
            <a:r>
              <a:rPr lang="en-US" altLang="zh-CN" dirty="0"/>
              <a:t>  </a:t>
            </a:r>
            <a:r>
              <a:rPr lang="zh-CN" altLang="en-US" dirty="0"/>
              <a:t>和  </a:t>
            </a:r>
            <a:r>
              <a:rPr lang="en-US" altLang="zh-CN" dirty="0"/>
              <a:t>B(x)=8x+22x</a:t>
            </a:r>
            <a:r>
              <a:rPr lang="en-US" altLang="zh-CN" baseline="30000" dirty="0"/>
              <a:t>7</a:t>
            </a:r>
            <a:r>
              <a:rPr lang="en-US" altLang="zh-CN" dirty="0"/>
              <a:t>-9x</a:t>
            </a:r>
            <a:r>
              <a:rPr lang="en-US" altLang="zh-CN" baseline="30000" dirty="0"/>
              <a:t>8</a:t>
            </a:r>
            <a:endParaRPr lang="en-US" altLang="zh-CN" dirty="0"/>
          </a:p>
          <a:p>
            <a:pPr indent="-33655"/>
            <a:endParaRPr lang="en-US" altLang="zh-CN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2.4 </a:t>
            </a:r>
            <a:r>
              <a:rPr lang="zh-CN" altLang="en-US" dirty="0"/>
              <a:t>一元多项式的表示及相加</a:t>
            </a:r>
            <a:endParaRPr lang="zh-CN" altLang="en-US" dirty="0"/>
          </a:p>
        </p:txBody>
      </p:sp>
      <p:graphicFrame>
        <p:nvGraphicFramePr>
          <p:cNvPr id="4" name="Object 7"/>
          <p:cNvGraphicFramePr>
            <a:graphicFrameLocks noChangeAspect="1"/>
          </p:cNvGraphicFramePr>
          <p:nvPr/>
        </p:nvGraphicFramePr>
        <p:xfrm>
          <a:off x="57150" y="1844741"/>
          <a:ext cx="6800850" cy="96916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653" name="VISIO" r:id="rId1" imgW="4244340" imgH="601980" progId="Visio.Drawing.11">
                  <p:embed/>
                </p:oleObj>
              </mc:Choice>
              <mc:Fallback>
                <p:oleObj name="VISIO" r:id="rId1" imgW="4244340" imgH="601980" progId="Visio.Drawing.11">
                  <p:embed/>
                  <p:pic>
                    <p:nvPicPr>
                      <p:cNvPr id="0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150" y="1844741"/>
                        <a:ext cx="6800850" cy="969169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幻灯片</Template>
  <TotalTime>0</TotalTime>
  <Words>9502</Words>
  <Application>WPS 演示</Application>
  <PresentationFormat>自定义</PresentationFormat>
  <Paragraphs>1030</Paragraphs>
  <Slides>60</Slides>
  <Notes>0</Notes>
  <HiddenSlides>0</HiddenSlides>
  <MMClips>0</MMClips>
  <ScaleCrop>false</ScaleCrop>
  <HeadingPairs>
    <vt:vector size="8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11</vt:i4>
      </vt:variant>
      <vt:variant>
        <vt:lpstr>幻灯片标题</vt:lpstr>
      </vt:variant>
      <vt:variant>
        <vt:i4>60</vt:i4>
      </vt:variant>
    </vt:vector>
  </HeadingPairs>
  <TitlesOfParts>
    <vt:vector size="86" baseType="lpstr">
      <vt:lpstr>Arial</vt:lpstr>
      <vt:lpstr>宋体</vt:lpstr>
      <vt:lpstr>Wingdings</vt:lpstr>
      <vt:lpstr>黑体</vt:lpstr>
      <vt:lpstr>华文新魏</vt:lpstr>
      <vt:lpstr>华文彩云</vt:lpstr>
      <vt:lpstr>Times New Roman</vt:lpstr>
      <vt:lpstr>方正隶书简体</vt:lpstr>
      <vt:lpstr>华文楷体</vt:lpstr>
      <vt:lpstr>微软雅黑</vt:lpstr>
      <vt:lpstr>Arial Unicode MS</vt:lpstr>
      <vt:lpstr>Calibri</vt:lpstr>
      <vt:lpstr>楷体_GB2312</vt:lpstr>
      <vt:lpstr>新宋体</vt:lpstr>
      <vt:lpstr>Office 主题</vt:lpstr>
      <vt:lpstr>Visio.Drawing.11</vt:lpstr>
      <vt:lpstr>Visio.Drawing.11</vt:lpstr>
      <vt:lpstr>Visio.Drawing.11</vt:lpstr>
      <vt:lpstr>Equation.3</vt:lpstr>
      <vt:lpstr>Equation.3</vt:lpstr>
      <vt:lpstr>Visio.Drawing.11</vt:lpstr>
      <vt:lpstr>Paint.Picture</vt:lpstr>
      <vt:lpstr>Visio.Drawing.11</vt:lpstr>
      <vt:lpstr>Visio.Drawing.11</vt:lpstr>
      <vt:lpstr>Visio.Drawing.11</vt:lpstr>
      <vt:lpstr>Visio.Drawing.11</vt:lpstr>
      <vt:lpstr>线 性 表</vt:lpstr>
      <vt:lpstr>回顾</vt:lpstr>
      <vt:lpstr>回顾</vt:lpstr>
      <vt:lpstr>线性表</vt:lpstr>
      <vt:lpstr>2.1 线性表的类型定义</vt:lpstr>
      <vt:lpstr>2.1 线性表的类型定义</vt:lpstr>
      <vt:lpstr>2.1 线性表的类型定义</vt:lpstr>
      <vt:lpstr>2.1 线性表的类型定义</vt:lpstr>
      <vt:lpstr>2.1 线性表的类型定义</vt:lpstr>
      <vt:lpstr>2.1 线性表的类型定义</vt:lpstr>
      <vt:lpstr>2.1 线性表的类型定义</vt:lpstr>
      <vt:lpstr>2.1 线性表的类型定义</vt:lpstr>
      <vt:lpstr>2.1 线性表的类型定义</vt:lpstr>
      <vt:lpstr>2.1 线性表的类型定义</vt:lpstr>
      <vt:lpstr>2.2 线性表的顺序表示和实现</vt:lpstr>
      <vt:lpstr>2.2 线性表的顺序表示和实现</vt:lpstr>
      <vt:lpstr>2.2 线性表的顺序表示和实现</vt:lpstr>
      <vt:lpstr>2.2 线性表的顺序表示和实现</vt:lpstr>
      <vt:lpstr>2.2 线性表的顺序表示和实现</vt:lpstr>
      <vt:lpstr>2.2 线性表的顺序表示和实现</vt:lpstr>
      <vt:lpstr>2.2 线性表的顺序表示和实现</vt:lpstr>
      <vt:lpstr>2.2 线性表的顺序表示和实现</vt:lpstr>
      <vt:lpstr>2.2 线性表的顺序表示和实现</vt:lpstr>
      <vt:lpstr>2.2 线性表的顺序表示和实现</vt:lpstr>
      <vt:lpstr>2.2 线性表的顺序表示和实现</vt:lpstr>
      <vt:lpstr>2.2 线性表的顺序表示和实现</vt:lpstr>
      <vt:lpstr>2.2 线性表的顺序表示和实现</vt:lpstr>
      <vt:lpstr>2.2 线性表的顺序表示和实现</vt:lpstr>
      <vt:lpstr>2.2 线性表的顺序表示和实现</vt:lpstr>
      <vt:lpstr>2.2 线性表的顺序表示和实现</vt:lpstr>
      <vt:lpstr>2.3 线性表的链式表示和实现</vt:lpstr>
      <vt:lpstr>2.3 线性表的链式表示和实现</vt:lpstr>
      <vt:lpstr>2.3 线性表的链式表示和实现</vt:lpstr>
      <vt:lpstr>2.3 线性表的链式表示和实现</vt:lpstr>
      <vt:lpstr>2.3 线性表的链式表示和实现</vt:lpstr>
      <vt:lpstr>2.3 线性表的链式表示和实现</vt:lpstr>
      <vt:lpstr>2.3 线性表的链式表示和实现</vt:lpstr>
      <vt:lpstr>2.3 线性表的链式表示和实现</vt:lpstr>
      <vt:lpstr>2.3 线性表的链式表示和实现</vt:lpstr>
      <vt:lpstr>2.3 线性表的链式表示和实现</vt:lpstr>
      <vt:lpstr>2.3 线性表的链式表示和实现</vt:lpstr>
      <vt:lpstr>2.3 线性表的链式表示和实现</vt:lpstr>
      <vt:lpstr>2.3 线性表的链式表示和实现</vt:lpstr>
      <vt:lpstr>2.3 线性表的链式表示和实现</vt:lpstr>
      <vt:lpstr>2.3 线性表的链式表示和实现</vt:lpstr>
      <vt:lpstr>2.3 线性表的链式表示和实现</vt:lpstr>
      <vt:lpstr>2.3 线性表的链式表示和实现</vt:lpstr>
      <vt:lpstr>2.3 线性表的链式表示和实现</vt:lpstr>
      <vt:lpstr>2.3 线性表的链式表示和实现</vt:lpstr>
      <vt:lpstr>2.3 线性表的链式表示和实现</vt:lpstr>
      <vt:lpstr>2.3 线性表的链式表示和实现</vt:lpstr>
      <vt:lpstr>2.3 线性表的链式表示和实现</vt:lpstr>
      <vt:lpstr>总结</vt:lpstr>
      <vt:lpstr>2.4 一元多项式的表示及相加</vt:lpstr>
      <vt:lpstr>2.4 一元多项式的表示及相加</vt:lpstr>
      <vt:lpstr>2.4 一元多项式的表示及相加</vt:lpstr>
      <vt:lpstr>2.4 一元多项式的表示及相加</vt:lpstr>
      <vt:lpstr>2.4 一元多项式的表示及相加</vt:lpstr>
      <vt:lpstr>2.4 一元多项式的表示及相加</vt:lpstr>
      <vt:lpstr>2.4 一元多项式的表示及相加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线 性 表</dc:title>
  <dc:creator>PC</dc:creator>
  <cp:lastModifiedBy>Administrator</cp:lastModifiedBy>
  <cp:revision>50</cp:revision>
  <dcterms:created xsi:type="dcterms:W3CDTF">2020-02-02T14:08:00Z</dcterms:created>
  <dcterms:modified xsi:type="dcterms:W3CDTF">2022-03-07T13:46:36Z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2052-11.1.0.11365</vt:lpwstr>
  </property>
  <property fmtid="{D5CDD505-2E9C-101B-9397-08002B2CF9AE}" pid="3" name="ICV">
    <vt:lpwstr>FE088F041D9F45D49E2CE0B1E08F5D1E</vt:lpwstr>
  </property>
</Properties>
</file>