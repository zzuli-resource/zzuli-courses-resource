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  <p:sldMasterId id="2147483700" r:id="rId6"/>
  </p:sldMasterIdLst>
  <p:notesMasterIdLst>
    <p:notesMasterId r:id="rId8"/>
  </p:notesMasterIdLst>
  <p:handoutMasterIdLst>
    <p:handoutMasterId r:id="rId55"/>
  </p:handoutMasterIdLst>
  <p:sldIdLst>
    <p:sldId id="960" r:id="rId7"/>
    <p:sldId id="858" r:id="rId9"/>
    <p:sldId id="859" r:id="rId10"/>
    <p:sldId id="962" r:id="rId11"/>
    <p:sldId id="961" r:id="rId12"/>
    <p:sldId id="509" r:id="rId13"/>
    <p:sldId id="510" r:id="rId14"/>
    <p:sldId id="963" r:id="rId15"/>
    <p:sldId id="899" r:id="rId16"/>
    <p:sldId id="900" r:id="rId17"/>
    <p:sldId id="964" r:id="rId18"/>
    <p:sldId id="901" r:id="rId19"/>
    <p:sldId id="756" r:id="rId20"/>
    <p:sldId id="757" r:id="rId21"/>
    <p:sldId id="1015" r:id="rId22"/>
    <p:sldId id="760" r:id="rId23"/>
    <p:sldId id="761" r:id="rId24"/>
    <p:sldId id="655" r:id="rId25"/>
    <p:sldId id="668" r:id="rId26"/>
    <p:sldId id="860" r:id="rId27"/>
    <p:sldId id="866" r:id="rId28"/>
    <p:sldId id="863" r:id="rId29"/>
    <p:sldId id="862" r:id="rId30"/>
    <p:sldId id="867" r:id="rId31"/>
    <p:sldId id="869" r:id="rId32"/>
    <p:sldId id="868" r:id="rId33"/>
    <p:sldId id="903" r:id="rId34"/>
    <p:sldId id="969" r:id="rId35"/>
    <p:sldId id="970" r:id="rId36"/>
    <p:sldId id="907" r:id="rId37"/>
    <p:sldId id="908" r:id="rId38"/>
    <p:sldId id="909" r:id="rId39"/>
    <p:sldId id="910" r:id="rId40"/>
    <p:sldId id="912" r:id="rId41"/>
    <p:sldId id="1049" r:id="rId42"/>
    <p:sldId id="913" r:id="rId43"/>
    <p:sldId id="1004" r:id="rId44"/>
    <p:sldId id="914" r:id="rId45"/>
    <p:sldId id="916" r:id="rId46"/>
    <p:sldId id="915" r:id="rId47"/>
    <p:sldId id="1075" r:id="rId48"/>
    <p:sldId id="967" r:id="rId49"/>
    <p:sldId id="917" r:id="rId50"/>
    <p:sldId id="941" r:id="rId51"/>
    <p:sldId id="968" r:id="rId52"/>
    <p:sldId id="942" r:id="rId53"/>
    <p:sldId id="904" r:id="rId54"/>
  </p:sldIdLst>
  <p:sldSz cx="9144000" cy="6858000" type="screen4x3"/>
  <p:notesSz cx="6858000" cy="9144000"/>
  <p:custDataLst>
    <p:tags r:id="rId5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4C8F"/>
    <a:srgbClr val="CCCCFF"/>
    <a:srgbClr val="EAEAEA"/>
    <a:srgbClr val="F6F6F6"/>
    <a:srgbClr val="B6D2EA"/>
    <a:srgbClr val="CCECFF"/>
    <a:srgbClr val="4F99E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1"/>
    <p:restoredTop sz="94608"/>
  </p:normalViewPr>
  <p:slideViewPr>
    <p:cSldViewPr snapToObjects="1" showGuides="1">
      <p:cViewPr varScale="1">
        <p:scale>
          <a:sx n="70" d="100"/>
          <a:sy n="70" d="100"/>
        </p:scale>
        <p:origin x="1302" y="72"/>
      </p:cViewPr>
      <p:guideLst>
        <p:guide orient="horz" pos="2115"/>
        <p:guide pos="2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9" Type="http://schemas.openxmlformats.org/officeDocument/2006/relationships/tags" Target="tags/tag14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47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3276816-A0E8-46D9-BB22-44A4B71056C5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63492" name="Rectangle 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单击以编辑母版文本样式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仿宋_GB2312" pitchFamily="49" charset="-122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仿宋_GB2312" pitchFamily="49" charset="-122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仿宋_GB2312" pitchFamily="49" charset="-122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仿宋_GB2312" pitchFamily="49" charset="-122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仿宋_GB2312" pitchFamily="49" charset="-122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B3C6FA5-96B9-4A2E-9462-13B499B0469E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6553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6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696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仿宋_GB2312" pitchFamily="49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72706" name="Rectangle 2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72707" name="Rectangle 3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仿宋_GB2312" pitchFamily="49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74754" name="Rectangle 1026"/>
          <p:cNvSpPr>
            <a:spLocks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74755" name="Rectangle 1027"/>
          <p:cNvSpPr/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878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</p:txBody>
      </p:sp>
      <p:grpSp>
        <p:nvGrpSpPr>
          <p:cNvPr id="17" name="组合 16"/>
          <p:cNvGrpSpPr/>
          <p:nvPr/>
        </p:nvGrpSpPr>
        <p:grpSpPr>
          <a:xfrm>
            <a:off x="115630" y="404657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0" y="404657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1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9" name="组合 18"/>
          <p:cNvGrpSpPr/>
          <p:nvPr/>
        </p:nvGrpSpPr>
        <p:grpSpPr>
          <a:xfrm>
            <a:off x="115630" y="404657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等腰三角形 21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3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4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0" y="404657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2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0" y="404657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0" y="404657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0" y="404657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5630" y="404657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1_空白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</p:txBody>
      </p:sp>
      <p:grpSp>
        <p:nvGrpSpPr>
          <p:cNvPr id="17" name="组合 16"/>
          <p:cNvGrpSpPr/>
          <p:nvPr/>
        </p:nvGrpSpPr>
        <p:grpSpPr>
          <a:xfrm>
            <a:off x="115631" y="404658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8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485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9" name="组合 18"/>
          <p:cNvGrpSpPr/>
          <p:nvPr/>
        </p:nvGrpSpPr>
        <p:grpSpPr>
          <a:xfrm>
            <a:off x="115631" y="404658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等腰三角形 21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3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8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2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8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8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8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8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1_空白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</p:txBody>
      </p:sp>
      <p:grpSp>
        <p:nvGrpSpPr>
          <p:cNvPr id="17" name="组合 16"/>
          <p:cNvGrpSpPr/>
          <p:nvPr/>
        </p:nvGrpSpPr>
        <p:grpSpPr>
          <a:xfrm>
            <a:off x="115631" y="404657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2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7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749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9" name="组合 18"/>
          <p:cNvGrpSpPr/>
          <p:nvPr/>
        </p:nvGrpSpPr>
        <p:grpSpPr>
          <a:xfrm>
            <a:off x="115631" y="404657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等腰三角形 21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3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7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2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79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7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82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7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7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5631" y="404657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1_空白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</p:txBody>
      </p:sp>
      <p:grpSp>
        <p:nvGrpSpPr>
          <p:cNvPr id="17" name="组合 16"/>
          <p:cNvGrpSpPr/>
          <p:nvPr/>
        </p:nvGrpSpPr>
        <p:grpSpPr>
          <a:xfrm>
            <a:off x="115632" y="404658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98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2" y="404658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013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9" name="组合 18"/>
          <p:cNvGrpSpPr/>
          <p:nvPr/>
        </p:nvGrpSpPr>
        <p:grpSpPr>
          <a:xfrm>
            <a:off x="115632" y="404658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等腰三角形 21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3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03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2" y="404658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2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06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2" y="404658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608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2" y="404658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2" y="404658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5632" y="404658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1_空白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</p:txBody>
      </p:sp>
      <p:grpSp>
        <p:nvGrpSpPr>
          <p:cNvPr id="17" name="组合 16"/>
          <p:cNvGrpSpPr/>
          <p:nvPr/>
        </p:nvGrpSpPr>
        <p:grpSpPr>
          <a:xfrm>
            <a:off x="115633" y="404658"/>
            <a:ext cx="617411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25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3" y="404658"/>
            <a:ext cx="617411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4277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9" name="组合 18"/>
          <p:cNvGrpSpPr/>
          <p:nvPr/>
        </p:nvGrpSpPr>
        <p:grpSpPr>
          <a:xfrm>
            <a:off x="115633" y="404658"/>
            <a:ext cx="617411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等腰三角形 21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3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530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3" y="404658"/>
            <a:ext cx="617411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2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632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3" y="404658"/>
            <a:ext cx="617411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34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3" y="404658"/>
            <a:ext cx="617411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grpSp>
        <p:nvGrpSpPr>
          <p:cNvPr id="18" name="组合 17"/>
          <p:cNvGrpSpPr/>
          <p:nvPr/>
        </p:nvGrpSpPr>
        <p:grpSpPr>
          <a:xfrm>
            <a:off x="115633" y="404658"/>
            <a:ext cx="617411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Sp="0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15633" y="404658"/>
            <a:ext cx="617411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71488" y="6240463"/>
            <a:ext cx="3781425" cy="457200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1_空白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496888" y="1116013"/>
            <a:ext cx="8251825" cy="5472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538480"/>
            <a:r>
              <a:rPr lang="zh-CN" altLang="en-US" dirty="0"/>
              <a:t>单击以编辑母版文本样式</a:t>
            </a:r>
            <a:endParaRPr lang="zh-CN" altLang="en-US" dirty="0"/>
          </a:p>
        </p:txBody>
      </p:sp>
      <p:cxnSp>
        <p:nvCxnSpPr>
          <p:cNvPr id="1027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0" y="404657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31" name="Rectangle 2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indent="53848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3"/>
          <p:cNvSpPr>
            <a:spLocks noGrp="1"/>
          </p:cNvSpPr>
          <p:nvPr>
            <p:ph type="body"/>
          </p:nvPr>
        </p:nvSpPr>
        <p:spPr>
          <a:xfrm>
            <a:off x="496888" y="1116013"/>
            <a:ext cx="8251825" cy="5472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538480"/>
            <a:r>
              <a:rPr lang="zh-CN" altLang="en-US" dirty="0"/>
              <a:t>单击以编辑母版文本样式</a:t>
            </a:r>
            <a:endParaRPr lang="zh-CN" altLang="en-US" dirty="0"/>
          </a:p>
        </p:txBody>
      </p:sp>
      <p:cxnSp>
        <p:nvCxnSpPr>
          <p:cNvPr id="2051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1" y="404658"/>
            <a:ext cx="617411" cy="174611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55" name="Rectangle 2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indent="53848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3"/>
          <p:cNvSpPr>
            <a:spLocks noGrp="1"/>
          </p:cNvSpPr>
          <p:nvPr>
            <p:ph type="body"/>
          </p:nvPr>
        </p:nvSpPr>
        <p:spPr>
          <a:xfrm>
            <a:off x="496888" y="1116013"/>
            <a:ext cx="8251825" cy="5472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538480"/>
            <a:r>
              <a:rPr lang="zh-CN" altLang="en-US" dirty="0"/>
              <a:t>单击以编辑母版文本样式</a:t>
            </a:r>
            <a:endParaRPr lang="zh-CN" altLang="en-US" dirty="0"/>
          </a:p>
        </p:txBody>
      </p:sp>
      <p:cxnSp>
        <p:nvCxnSpPr>
          <p:cNvPr id="3075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1" y="404657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79" name="Rectangle 2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indent="53848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3"/>
          <p:cNvSpPr>
            <a:spLocks noGrp="1"/>
          </p:cNvSpPr>
          <p:nvPr>
            <p:ph type="body"/>
          </p:nvPr>
        </p:nvSpPr>
        <p:spPr>
          <a:xfrm>
            <a:off x="496888" y="1116013"/>
            <a:ext cx="8251825" cy="5472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538480"/>
            <a:r>
              <a:rPr lang="zh-CN" altLang="en-US" dirty="0"/>
              <a:t>单击以编辑母版文本样式</a:t>
            </a:r>
            <a:endParaRPr lang="zh-CN" altLang="en-US" dirty="0"/>
          </a:p>
        </p:txBody>
      </p:sp>
      <p:cxnSp>
        <p:nvCxnSpPr>
          <p:cNvPr id="4099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2" y="404658"/>
            <a:ext cx="617411" cy="174610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103" name="Rectangle 2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indent="53848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3"/>
          <p:cNvSpPr>
            <a:spLocks noGrp="1"/>
          </p:cNvSpPr>
          <p:nvPr>
            <p:ph type="body"/>
          </p:nvPr>
        </p:nvSpPr>
        <p:spPr>
          <a:xfrm>
            <a:off x="496888" y="1116013"/>
            <a:ext cx="8251825" cy="5472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538480"/>
            <a:r>
              <a:rPr lang="zh-CN" altLang="en-US" dirty="0"/>
              <a:t>单击以编辑母版文本样式</a:t>
            </a:r>
            <a:endParaRPr lang="zh-CN" altLang="en-US" dirty="0"/>
          </a:p>
        </p:txBody>
      </p:sp>
      <p:cxnSp>
        <p:nvCxnSpPr>
          <p:cNvPr id="5123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rgbClr val="6C4C8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727075"/>
            <a:ext cx="9144000" cy="714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3" y="404658"/>
            <a:ext cx="617411" cy="174609"/>
            <a:chOff x="384175" y="480608"/>
            <a:chExt cx="348872" cy="98663"/>
          </a:xfrm>
          <a:solidFill>
            <a:srgbClr val="76AEDD"/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127" name="Rectangle 2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indent="538480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0195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矩形: 圆角 2"/>
          <p:cNvSpPr>
            <a:spLocks noChangeArrowheads="1"/>
          </p:cNvSpPr>
          <p:nvPr/>
        </p:nvSpPr>
        <p:spPr bwMode="auto">
          <a:xfrm>
            <a:off x="3179763" y="3141663"/>
            <a:ext cx="5640388" cy="57943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0" y="514350"/>
            <a:ext cx="9144000" cy="881063"/>
          </a:xfrm>
          <a:prstGeom prst="rect">
            <a:avLst/>
          </a:prstGeom>
          <a:solidFill>
            <a:srgbClr val="6C4C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0" y="1519238"/>
            <a:ext cx="9144000" cy="53975"/>
          </a:xfrm>
          <a:prstGeom prst="rect">
            <a:avLst/>
          </a:prstGeom>
          <a:solidFill>
            <a:srgbClr val="6C4C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4517" name="图片 1"/>
          <p:cNvPicPr>
            <a:picLocks noChangeAspect="1"/>
          </p:cNvPicPr>
          <p:nvPr/>
        </p:nvPicPr>
        <p:blipFill>
          <a:blip r:embed="rId1"/>
          <a:srcRect l="36591" t="61440" r="36745" b="14038"/>
          <a:stretch>
            <a:fillRect/>
          </a:stretch>
        </p:blipFill>
        <p:spPr>
          <a:xfrm>
            <a:off x="511175" y="2382838"/>
            <a:ext cx="2282825" cy="2935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矩形 28"/>
          <p:cNvSpPr/>
          <p:nvPr/>
        </p:nvSpPr>
        <p:spPr bwMode="auto">
          <a:xfrm>
            <a:off x="0" y="6121400"/>
            <a:ext cx="9155113" cy="604838"/>
          </a:xfrm>
          <a:prstGeom prst="rect">
            <a:avLst/>
          </a:prstGeom>
          <a:solidFill>
            <a:srgbClr val="76AED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4" name="Rectangle 24"/>
          <p:cNvSpPr txBox="1">
            <a:spLocks noChangeArrowheads="1"/>
          </p:cNvSpPr>
          <p:nvPr/>
        </p:nvSpPr>
        <p:spPr bwMode="auto">
          <a:xfrm>
            <a:off x="3294063" y="3074988"/>
            <a:ext cx="4899025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algn="ctr" defTabSz="914400" eaLnBrk="0" hangingPunct="0">
              <a:buClrTx/>
              <a:buSzTx/>
              <a:buFontTx/>
              <a:defRPr/>
            </a:pPr>
            <a:r>
              <a:rPr kumimoji="0" lang="zh-CN" altLang="en-US" sz="3600" b="0" kern="1200" cap="none" spc="0" normalizeH="0" baseline="0" noProof="0" dirty="0">
                <a:solidFill>
                  <a:srgbClr val="FEFFFF"/>
                </a:solidFill>
                <a:latin typeface="+mn-lt"/>
                <a:ea typeface="+mn-ea"/>
                <a:cs typeface="+mn-ea"/>
                <a:sym typeface="+mn-lt"/>
              </a:rPr>
              <a:t>串</a:t>
            </a:r>
            <a:endParaRPr kumimoji="1" lang="zh-CN" altLang="en-US" sz="4800" i="1" kern="0" cap="none" spc="0" normalizeH="0" baseline="0" noProof="0" dirty="0">
              <a:solidFill>
                <a:srgbClr val="6C4C8F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4520" name="Rectangle 24"/>
          <p:cNvSpPr txBox="1"/>
          <p:nvPr/>
        </p:nvSpPr>
        <p:spPr>
          <a:xfrm>
            <a:off x="3119438" y="2352675"/>
            <a:ext cx="2554287" cy="714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zh-CN" altLang="en-US" sz="3600" b="0" dirty="0">
                <a:solidFill>
                  <a:srgbClr val="FE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第</a:t>
            </a:r>
            <a:r>
              <a:rPr lang="en-US" altLang="zh-CN" sz="3600" b="0" dirty="0">
                <a:solidFill>
                  <a:srgbClr val="FE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r>
              <a:rPr lang="zh-CN" altLang="en-US" sz="3600" b="0" dirty="0">
                <a:solidFill>
                  <a:srgbClr val="FE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章</a:t>
            </a:r>
            <a:endParaRPr lang="zh-CN" altLang="en-US" sz="4800" b="0" dirty="0">
              <a:solidFill>
                <a:srgbClr val="362648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0" name="Rectangle 24"/>
          <p:cNvSpPr txBox="1">
            <a:spLocks noChangeArrowheads="1"/>
          </p:cNvSpPr>
          <p:nvPr/>
        </p:nvSpPr>
        <p:spPr bwMode="auto">
          <a:xfrm>
            <a:off x="300038" y="641350"/>
            <a:ext cx="8843963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0" hangingPunct="0">
              <a:buClrTx/>
              <a:buSzTx/>
              <a:buFontTx/>
              <a:defRPr/>
            </a:pPr>
            <a:r>
              <a:rPr kumimoji="0" lang="zh-CN" altLang="en-US" sz="4000" b="0" kern="1200" cap="none" spc="0" normalizeH="0" baseline="0" noProof="0" dirty="0">
                <a:solidFill>
                  <a:srgbClr val="FEFFFF"/>
                </a:solidFill>
                <a:latin typeface="+mn-lt"/>
                <a:ea typeface="+mn-ea"/>
                <a:cs typeface="+mn-ea"/>
                <a:sym typeface="+mn-lt"/>
              </a:rPr>
              <a:t>数据结构（</a:t>
            </a:r>
            <a:r>
              <a:rPr kumimoji="0" lang="en-US" altLang="zh-CN" sz="4000" b="0" kern="1200" cap="none" spc="0" normalizeH="0" baseline="0" noProof="0" dirty="0">
                <a:solidFill>
                  <a:srgbClr val="FEFFFF"/>
                </a:solidFill>
                <a:latin typeface="+mn-lt"/>
                <a:ea typeface="+mn-ea"/>
                <a:cs typeface="+mn-ea"/>
                <a:sym typeface="+mn-lt"/>
              </a:rPr>
              <a:t>C</a:t>
            </a:r>
            <a:r>
              <a:rPr kumimoji="0" lang="zh-CN" altLang="en-US" sz="4000" b="0" kern="1200" cap="none" spc="0" normalizeH="0" baseline="0" noProof="0" dirty="0">
                <a:solidFill>
                  <a:srgbClr val="FEFFFF"/>
                </a:solidFill>
                <a:latin typeface="+mn-lt"/>
                <a:ea typeface="+mn-ea"/>
                <a:cs typeface="+mn-ea"/>
                <a:sym typeface="+mn-lt"/>
              </a:rPr>
              <a:t>语言版）</a:t>
            </a:r>
            <a:endParaRPr kumimoji="1" lang="zh-CN" altLang="en-US" sz="5400" i="1" kern="0" cap="none" spc="0" normalizeH="0" baseline="0" noProof="0" dirty="0">
              <a:solidFill>
                <a:srgbClr val="6C4C8F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 bwMode="auto">
          <a:xfrm>
            <a:off x="0" y="1654175"/>
            <a:ext cx="9144000" cy="25193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147" name="AutoShape 5"/>
          <p:cNvSpPr/>
          <p:nvPr/>
        </p:nvSpPr>
        <p:spPr bwMode="auto">
          <a:xfrm>
            <a:off x="6227763" y="2043113"/>
            <a:ext cx="182563" cy="1871663"/>
          </a:xfrm>
          <a:prstGeom prst="rightBrace">
            <a:avLst>
              <a:gd name="adj1" fmla="val 97645"/>
              <a:gd name="adj2" fmla="val 50000"/>
            </a:avLst>
          </a:prstGeom>
          <a:noFill/>
          <a:ln w="349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148" name="Rectangle 6"/>
          <p:cNvSpPr>
            <a:spLocks noChangeArrowheads="1"/>
          </p:cNvSpPr>
          <p:nvPr/>
        </p:nvSpPr>
        <p:spPr bwMode="auto">
          <a:xfrm>
            <a:off x="0" y="4505325"/>
            <a:ext cx="9144000" cy="579438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可表示为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：（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32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 a</a:t>
            </a:r>
            <a:r>
              <a:rPr kumimoji="0" lang="en-US" altLang="zh-CN" sz="32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  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……,    a</a:t>
            </a:r>
            <a:r>
              <a:rPr kumimoji="0" lang="en-US" altLang="zh-CN" sz="32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 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6619875" y="2738438"/>
            <a:ext cx="1727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线性结构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150" name="Rectangle 8"/>
          <p:cNvSpPr>
            <a:spLocks noChangeArrowheads="1"/>
          </p:cNvSpPr>
          <p:nvPr/>
        </p:nvSpPr>
        <p:spPr bwMode="auto">
          <a:xfrm>
            <a:off x="844550" y="2043113"/>
            <a:ext cx="5181600" cy="1698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第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章  线性表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第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章  栈和队列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第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章  串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第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章  数组和广义表  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线性结构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 bwMode="auto">
          <a:xfrm>
            <a:off x="-20637" y="2233613"/>
            <a:ext cx="9164638" cy="3140075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补充：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语言中常用的串运算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180975" y="2233613"/>
            <a:ext cx="7367588" cy="2995613"/>
          </a:xfrm>
          <a:prstGeom prst="rect">
            <a:avLst/>
          </a:prstGeom>
          <a:noFill/>
          <a:ln w="571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串比较，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strcmp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(char s1,char s2)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串复制，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strcpy(char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to,char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from)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串连接，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strcat(char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to,char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from)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求串长，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strlen(char s)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……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-20637" y="1443038"/>
            <a:ext cx="5888038" cy="5238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调用标准库函数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#include&lt;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string.h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矩形 50"/>
          <p:cNvSpPr/>
          <p:nvPr/>
        </p:nvSpPr>
        <p:spPr bwMode="auto">
          <a:xfrm>
            <a:off x="0" y="1727200"/>
            <a:ext cx="9144000" cy="53975"/>
          </a:xfrm>
          <a:prstGeom prst="rect">
            <a:avLst/>
          </a:prstGeom>
          <a:solidFill>
            <a:srgbClr val="6C4C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9476B6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8610" name="图片 2"/>
          <p:cNvPicPr>
            <a:picLocks noChangeAspect="1"/>
          </p:cNvPicPr>
          <p:nvPr/>
        </p:nvPicPr>
        <p:blipFill>
          <a:blip r:embed="rId1"/>
          <a:srcRect l="1575" t="11116"/>
          <a:stretch>
            <a:fillRect/>
          </a:stretch>
        </p:blipFill>
        <p:spPr>
          <a:xfrm>
            <a:off x="-4762" y="0"/>
            <a:ext cx="9124950" cy="1627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" name="矩形 62"/>
          <p:cNvSpPr/>
          <p:nvPr/>
        </p:nvSpPr>
        <p:spPr bwMode="auto">
          <a:xfrm>
            <a:off x="23813" y="9525"/>
            <a:ext cx="9151938" cy="1609725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4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60450" y="2654300"/>
            <a:ext cx="7832725" cy="5715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了解串的存储方法，理解串的两种模式匹配算法。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8614" name="组合 3"/>
          <p:cNvGrpSpPr/>
          <p:nvPr/>
        </p:nvGrpSpPr>
        <p:grpSpPr>
          <a:xfrm>
            <a:off x="3684588" y="336550"/>
            <a:ext cx="1830387" cy="1831975"/>
            <a:chOff x="3117668" y="234317"/>
            <a:chExt cx="2127323" cy="2127323"/>
          </a:xfrm>
        </p:grpSpPr>
        <p:sp>
          <p:nvSpPr>
            <p:cNvPr id="46" name="椭圆 45"/>
            <p:cNvSpPr/>
            <p:nvPr/>
          </p:nvSpPr>
          <p:spPr>
            <a:xfrm>
              <a:off x="3117668" y="234317"/>
              <a:ext cx="2127323" cy="2127323"/>
            </a:xfrm>
            <a:prstGeom prst="ellipse">
              <a:avLst/>
            </a:prstGeom>
            <a:solidFill>
              <a:schemeClr val="tx1">
                <a:alpha val="3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372208" y="482505"/>
              <a:ext cx="1630947" cy="16309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glow rad="165100">
                <a:schemeClr val="tx1">
                  <a:alpha val="27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68617" name="组合 47"/>
            <p:cNvGrpSpPr/>
            <p:nvPr/>
          </p:nvGrpSpPr>
          <p:grpSpPr>
            <a:xfrm>
              <a:off x="3250509" y="768989"/>
              <a:ext cx="1800200" cy="1001573"/>
              <a:chOff x="3896925" y="1033243"/>
              <a:chExt cx="1350150" cy="751179"/>
            </a:xfrm>
          </p:grpSpPr>
          <p:sp>
            <p:nvSpPr>
              <p:cNvPr id="49" name="TextBox 7"/>
              <p:cNvSpPr txBox="1"/>
              <p:nvPr/>
            </p:nvSpPr>
            <p:spPr>
              <a:xfrm>
                <a:off x="4256708" y="1399568"/>
                <a:ext cx="690504" cy="384356"/>
              </a:xfrm>
              <a:prstGeom prst="rect">
                <a:avLst/>
              </a:prstGeom>
              <a:noFill/>
            </p:spPr>
            <p:txBody>
              <a:bodyPr lIns="0" tIns="0" rIns="0" bIns="0" anchor="b">
                <a:normAutofit/>
              </a:bodyPr>
              <a:lstStyle/>
              <a:p>
                <a:pPr marR="0" algn="dist" defTabSz="914400">
                  <a:spcBef>
                    <a:spcPct val="20000"/>
                  </a:spcBef>
                  <a:buClrTx/>
                  <a:buSzTx/>
                  <a:buFont typeface="Arial" panose="020B0604020202020204" pitchFamily="34" charset="0"/>
                  <a:defRPr/>
                </a:pPr>
                <a:r>
                  <a:rPr kumimoji="0" lang="en-US" altLang="zh-CN" sz="2135" kern="1200" cap="none" spc="0" normalizeH="0" baseline="0" noProof="0" dirty="0">
                    <a:latin typeface="+mn-lt"/>
                    <a:ea typeface="+mn-ea"/>
                    <a:cs typeface="+mn-ea"/>
                    <a:sym typeface="+mn-lt"/>
                  </a:rPr>
                  <a:t>target</a:t>
                </a:r>
                <a:endParaRPr kumimoji="0" lang="en-US" altLang="zh-CN" sz="2135" kern="1200" cap="none" spc="0" normalizeH="0" baseline="0" noProof="0" dirty="0"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0" name="Rectangle 9"/>
              <p:cNvSpPr/>
              <p:nvPr/>
            </p:nvSpPr>
            <p:spPr>
              <a:xfrm>
                <a:off x="3896926" y="1033186"/>
                <a:ext cx="1350565" cy="69267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3735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目标</a:t>
                </a:r>
                <a:endParaRPr kumimoji="0" lang="zh-CN" altLang="en-US" sz="3735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0657" name="图片 9"/>
          <p:cNvPicPr>
            <a:picLocks noChangeAspect="1"/>
          </p:cNvPicPr>
          <p:nvPr/>
        </p:nvPicPr>
        <p:blipFill>
          <a:blip r:embed="rId1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58" name="矩形: 圆角 16"/>
          <p:cNvSpPr/>
          <p:nvPr/>
        </p:nvSpPr>
        <p:spPr>
          <a:xfrm>
            <a:off x="2576513" y="2492375"/>
            <a:ext cx="5199062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</a:pP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0659" name="矩形: 圆角 15"/>
          <p:cNvSpPr/>
          <p:nvPr/>
        </p:nvSpPr>
        <p:spPr>
          <a:xfrm>
            <a:off x="1631950" y="2492375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</a:pP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0662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dist">
              <a:spcBef>
                <a:spcPct val="2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目录导航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0663" name="文本框 13"/>
          <p:cNvSpPr txBox="1"/>
          <p:nvPr/>
        </p:nvSpPr>
        <p:spPr>
          <a:xfrm>
            <a:off x="1751013" y="2420938"/>
            <a:ext cx="720725" cy="2528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4.1</a:t>
            </a:r>
            <a:endParaRPr lang="zh-CN" altLang="en-US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4.2</a:t>
            </a:r>
            <a:endParaRPr lang="en-US" altLang="zh-CN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</a:t>
            </a:r>
            <a:endParaRPr lang="en-US" altLang="zh-CN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4.4</a:t>
            </a:r>
            <a:endParaRPr lang="en-US" altLang="zh-CN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0664" name="文本框 14"/>
          <p:cNvSpPr txBox="1"/>
          <p:nvPr/>
        </p:nvSpPr>
        <p:spPr>
          <a:xfrm>
            <a:off x="2589213" y="2420938"/>
            <a:ext cx="5291137" cy="2528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串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案例引入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串的类型定义、存储结构及运算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案例分析与实现</a:t>
            </a:r>
            <a:endParaRPr lang="zh-CN" altLang="en-US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366838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串的定义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246" name="Rectangle 1118"/>
          <p:cNvSpPr>
            <a:spLocks noChangeArrowheads="1"/>
          </p:cNvSpPr>
          <p:nvPr/>
        </p:nvSpPr>
        <p:spPr bwMode="auto">
          <a:xfrm>
            <a:off x="2895600" y="2760663"/>
            <a:ext cx="304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247" name="Text Box 1120"/>
          <p:cNvSpPr txBox="1">
            <a:spLocks noChangeArrowheads="1"/>
          </p:cNvSpPr>
          <p:nvPr/>
        </p:nvSpPr>
        <p:spPr bwMode="auto">
          <a:xfrm>
            <a:off x="101600" y="1046163"/>
            <a:ext cx="906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(String)----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零个或多个字符组成的有限序列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71684" name="Object 1121"/>
          <p:cNvGraphicFramePr/>
          <p:nvPr/>
        </p:nvGraphicFramePr>
        <p:xfrm>
          <a:off x="2743200" y="2359025"/>
          <a:ext cx="436245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850265" imgH="228600" progId="Equation.3">
                  <p:embed/>
                </p:oleObj>
              </mc:Choice>
              <mc:Fallback>
                <p:oleObj name="" r:id="rId1" imgW="850265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3200" y="2359025"/>
                        <a:ext cx="4362450" cy="1173163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786" name="Text Box 1122"/>
          <p:cNvSpPr txBox="1">
            <a:spLocks noChangeArrowheads="1"/>
          </p:cNvSpPr>
          <p:nvPr/>
        </p:nvSpPr>
        <p:spPr bwMode="auto">
          <a:xfrm>
            <a:off x="762000" y="3979863"/>
            <a:ext cx="1066800" cy="588963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串名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87" name="Text Box 1123"/>
          <p:cNvSpPr txBox="1">
            <a:spLocks noChangeArrowheads="1"/>
          </p:cNvSpPr>
          <p:nvPr/>
        </p:nvSpPr>
        <p:spPr bwMode="auto">
          <a:xfrm>
            <a:off x="762000" y="4741863"/>
            <a:ext cx="1066800" cy="588963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串值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88" name="Text Box 1124"/>
          <p:cNvSpPr txBox="1">
            <a:spLocks noChangeArrowheads="1"/>
          </p:cNvSpPr>
          <p:nvPr/>
        </p:nvSpPr>
        <p:spPr bwMode="auto">
          <a:xfrm>
            <a:off x="762000" y="5503863"/>
            <a:ext cx="1066800" cy="588963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串长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Group 1125"/>
          <p:cNvGrpSpPr/>
          <p:nvPr/>
        </p:nvGrpSpPr>
        <p:grpSpPr>
          <a:xfrm>
            <a:off x="1828800" y="3522663"/>
            <a:ext cx="1143000" cy="685800"/>
            <a:chOff x="1056" y="2640"/>
            <a:chExt cx="768" cy="432"/>
          </a:xfrm>
        </p:grpSpPr>
        <p:sp>
          <p:nvSpPr>
            <p:cNvPr id="10253" name="Line 1126"/>
            <p:cNvSpPr>
              <a:spLocks noChangeShapeType="1"/>
            </p:cNvSpPr>
            <p:nvPr/>
          </p:nvSpPr>
          <p:spPr bwMode="auto">
            <a:xfrm flipV="1">
              <a:off x="1824" y="2640"/>
              <a:ext cx="0" cy="432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254" name="Line 1127"/>
            <p:cNvSpPr>
              <a:spLocks noChangeShapeType="1"/>
            </p:cNvSpPr>
            <p:nvPr/>
          </p:nvSpPr>
          <p:spPr bwMode="auto">
            <a:xfrm>
              <a:off x="1056" y="3072"/>
              <a:ext cx="768" cy="0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" name="Group 1128"/>
          <p:cNvGrpSpPr/>
          <p:nvPr/>
        </p:nvGrpSpPr>
        <p:grpSpPr>
          <a:xfrm>
            <a:off x="1905000" y="3598863"/>
            <a:ext cx="3352800" cy="1447800"/>
            <a:chOff x="1056" y="2640"/>
            <a:chExt cx="768" cy="432"/>
          </a:xfrm>
        </p:grpSpPr>
        <p:sp>
          <p:nvSpPr>
            <p:cNvPr id="10256" name="Line 1129"/>
            <p:cNvSpPr>
              <a:spLocks noChangeShapeType="1"/>
            </p:cNvSpPr>
            <p:nvPr/>
          </p:nvSpPr>
          <p:spPr bwMode="auto">
            <a:xfrm flipV="1">
              <a:off x="1824" y="2640"/>
              <a:ext cx="0" cy="432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257" name="Line 1130"/>
            <p:cNvSpPr>
              <a:spLocks noChangeShapeType="1"/>
            </p:cNvSpPr>
            <p:nvPr/>
          </p:nvSpPr>
          <p:spPr bwMode="auto">
            <a:xfrm>
              <a:off x="1056" y="3072"/>
              <a:ext cx="768" cy="0"/>
            </a:xfrm>
            <a:prstGeom prst="line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70795" name="Line 1131"/>
          <p:cNvSpPr>
            <a:spLocks noChangeShapeType="1"/>
          </p:cNvSpPr>
          <p:nvPr/>
        </p:nvSpPr>
        <p:spPr bwMode="auto">
          <a:xfrm>
            <a:off x="3962400" y="3446463"/>
            <a:ext cx="2895600" cy="0"/>
          </a:xfrm>
          <a:prstGeom prst="line">
            <a:avLst/>
          </a:prstGeom>
          <a:noFill/>
          <a:ln w="57150">
            <a:solidFill>
              <a:srgbClr val="6C4C8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96" name="Line 1132"/>
          <p:cNvSpPr>
            <a:spLocks noChangeShapeType="1"/>
          </p:cNvSpPr>
          <p:nvPr/>
        </p:nvSpPr>
        <p:spPr bwMode="auto">
          <a:xfrm>
            <a:off x="1828800" y="5808663"/>
            <a:ext cx="1371600" cy="0"/>
          </a:xfrm>
          <a:prstGeom prst="line">
            <a:avLst/>
          </a:prstGeom>
          <a:noFill/>
          <a:ln w="57150">
            <a:solidFill>
              <a:schemeClr val="accent1">
                <a:lumMod val="75000"/>
              </a:schemeClr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97" name="Text Box 1133"/>
          <p:cNvSpPr txBox="1">
            <a:spLocks noChangeArrowheads="1"/>
          </p:cNvSpPr>
          <p:nvPr/>
        </p:nvSpPr>
        <p:spPr bwMode="auto">
          <a:xfrm>
            <a:off x="3352800" y="5351463"/>
            <a:ext cx="441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98" name="Text Box 1134"/>
          <p:cNvSpPr txBox="1">
            <a:spLocks noChangeArrowheads="1"/>
          </p:cNvSpPr>
          <p:nvPr/>
        </p:nvSpPr>
        <p:spPr bwMode="auto">
          <a:xfrm>
            <a:off x="4648200" y="5503863"/>
            <a:ext cx="1066800" cy="588963"/>
          </a:xfrm>
          <a:prstGeom prst="rect">
            <a:avLst/>
          </a:prstGeom>
          <a:solidFill>
            <a:srgbClr val="CCCCFF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空串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799" name="Line 1135"/>
          <p:cNvSpPr>
            <a:spLocks noChangeShapeType="1"/>
          </p:cNvSpPr>
          <p:nvPr/>
        </p:nvSpPr>
        <p:spPr bwMode="auto">
          <a:xfrm>
            <a:off x="5867400" y="5808663"/>
            <a:ext cx="1447800" cy="0"/>
          </a:xfrm>
          <a:prstGeom prst="line">
            <a:avLst/>
          </a:prstGeom>
          <a:noFill/>
          <a:ln w="38100">
            <a:solidFill>
              <a:schemeClr val="accent1">
                <a:lumMod val="75000"/>
              </a:schemeClr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800" name="Text Box 1136"/>
          <p:cNvSpPr txBox="1">
            <a:spLocks noChangeArrowheads="1"/>
          </p:cNvSpPr>
          <p:nvPr/>
        </p:nvSpPr>
        <p:spPr bwMode="auto">
          <a:xfrm>
            <a:off x="7391400" y="5351463"/>
            <a:ext cx="10175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n=0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71700" name="直接连接符 5"/>
          <p:cNvCxnSpPr/>
          <p:nvPr/>
        </p:nvCxnSpPr>
        <p:spPr>
          <a:xfrm>
            <a:off x="179388" y="1700213"/>
            <a:ext cx="8856662" cy="0"/>
          </a:xfrm>
          <a:prstGeom prst="line">
            <a:avLst/>
          </a:prstGeom>
          <a:ln w="38100" cap="flat" cmpd="sng">
            <a:solidFill>
              <a:srgbClr val="6C4C8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0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0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0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0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0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0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97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00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0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0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70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0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786" grpId="0" animBg="1"/>
      <p:bldP spid="370787" grpId="0" animBg="1"/>
      <p:bldP spid="370788" grpId="0" animBg="1"/>
      <p:bldP spid="370797" grpId="0" advAuto="1000" build="p"/>
      <p:bldP spid="370798" grpId="0" animBg="1"/>
      <p:bldP spid="37080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Text Box 2115"/>
          <p:cNvSpPr txBox="1">
            <a:spLocks noChangeArrowheads="1"/>
          </p:cNvSpPr>
          <p:nvPr/>
        </p:nvSpPr>
        <p:spPr bwMode="auto">
          <a:xfrm>
            <a:off x="755650" y="1597025"/>
            <a:ext cx="3533775" cy="2568575"/>
          </a:xfrm>
          <a:prstGeom prst="rect">
            <a:avLst/>
          </a:prstGeom>
          <a:solidFill>
            <a:srgbClr val="CCCCFF"/>
          </a:solidFill>
          <a:ln w="38100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a=‘BEI’,           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b=‘JING’   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c=‘BEIJING’ 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d=‘BEI JING’</a:t>
            </a: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292" name="Text Box 2116"/>
          <p:cNvSpPr txBox="1">
            <a:spLocks noChangeArrowheads="1"/>
          </p:cNvSpPr>
          <p:nvPr/>
        </p:nvSpPr>
        <p:spPr bwMode="auto">
          <a:xfrm>
            <a:off x="5408613" y="1597025"/>
            <a:ext cx="1066800" cy="588963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子串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293" name="Text Box 2117"/>
          <p:cNvSpPr txBox="1">
            <a:spLocks noChangeArrowheads="1"/>
          </p:cNvSpPr>
          <p:nvPr/>
        </p:nvSpPr>
        <p:spPr bwMode="auto">
          <a:xfrm>
            <a:off x="5408613" y="3197225"/>
            <a:ext cx="2209800" cy="588963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字符位置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294" name="Text Box 2118"/>
          <p:cNvSpPr txBox="1">
            <a:spLocks noChangeArrowheads="1"/>
          </p:cNvSpPr>
          <p:nvPr/>
        </p:nvSpPr>
        <p:spPr bwMode="auto">
          <a:xfrm>
            <a:off x="5408613" y="2435225"/>
            <a:ext cx="1066800" cy="588963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主串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295" name="Text Box 2119"/>
          <p:cNvSpPr txBox="1">
            <a:spLocks noChangeArrowheads="1"/>
          </p:cNvSpPr>
          <p:nvPr/>
        </p:nvSpPr>
        <p:spPr bwMode="auto">
          <a:xfrm>
            <a:off x="5408613" y="4035425"/>
            <a:ext cx="2209800" cy="588963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子串位置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296" name="Text Box 2120"/>
          <p:cNvSpPr txBox="1">
            <a:spLocks noChangeArrowheads="1"/>
          </p:cNvSpPr>
          <p:nvPr/>
        </p:nvSpPr>
        <p:spPr bwMode="auto">
          <a:xfrm>
            <a:off x="5370513" y="4832350"/>
            <a:ext cx="2209800" cy="588963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串相等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297" name="Text Box 2121"/>
          <p:cNvSpPr txBox="1">
            <a:spLocks noChangeArrowheads="1"/>
          </p:cNvSpPr>
          <p:nvPr/>
        </p:nvSpPr>
        <p:spPr bwMode="auto">
          <a:xfrm>
            <a:off x="5370513" y="5656263"/>
            <a:ext cx="2209800" cy="588963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空格串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733425" y="4292600"/>
            <a:ext cx="3533775" cy="73025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33425" y="4492625"/>
            <a:ext cx="3533775" cy="71438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733425" y="4826000"/>
            <a:ext cx="3533775" cy="71438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733425" y="4656138"/>
            <a:ext cx="3533775" cy="71438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733425" y="5010150"/>
            <a:ext cx="3533775" cy="73025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733425" y="5186363"/>
            <a:ext cx="3533775" cy="73025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733425" y="5400675"/>
            <a:ext cx="3533775" cy="71438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733425" y="5600700"/>
            <a:ext cx="3533775" cy="73025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733425" y="5832475"/>
            <a:ext cx="3533775" cy="71438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733425" y="6019800"/>
            <a:ext cx="3533775" cy="73025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33425" y="6159500"/>
            <a:ext cx="3533775" cy="73025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标题 3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串的定义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5777" name="图片 9"/>
          <p:cNvPicPr>
            <a:picLocks noChangeAspect="1"/>
          </p:cNvPicPr>
          <p:nvPr/>
        </p:nvPicPr>
        <p:blipFill>
          <a:blip r:embed="rId1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778" name="矩形: 圆角 16"/>
          <p:cNvSpPr/>
          <p:nvPr/>
        </p:nvSpPr>
        <p:spPr>
          <a:xfrm>
            <a:off x="2576513" y="3127375"/>
            <a:ext cx="5199062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</a:pP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5779" name="矩形: 圆角 15"/>
          <p:cNvSpPr/>
          <p:nvPr/>
        </p:nvSpPr>
        <p:spPr>
          <a:xfrm>
            <a:off x="1631950" y="3127375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</a:pP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782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dist">
              <a:spcBef>
                <a:spcPct val="2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目录导航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5783" name="文本框 13"/>
          <p:cNvSpPr txBox="1"/>
          <p:nvPr/>
        </p:nvSpPr>
        <p:spPr>
          <a:xfrm>
            <a:off x="1751013" y="2420938"/>
            <a:ext cx="720725" cy="2528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4.1</a:t>
            </a:r>
            <a:endParaRPr lang="zh-CN" altLang="en-US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4.2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</a:t>
            </a:r>
            <a:endParaRPr lang="en-US" altLang="zh-CN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4.4</a:t>
            </a:r>
            <a:endParaRPr lang="en-US" altLang="zh-CN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5784" name="文本框 14"/>
          <p:cNvSpPr txBox="1"/>
          <p:nvPr/>
        </p:nvSpPr>
        <p:spPr>
          <a:xfrm>
            <a:off x="2589213" y="2420938"/>
            <a:ext cx="5291137" cy="2528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串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案例引入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串的类型定义、存储结构及运算</a:t>
            </a:r>
            <a:endParaRPr lang="zh-CN" altLang="en-US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案例分析与实现</a:t>
            </a:r>
            <a:endParaRPr lang="zh-CN" altLang="en-US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366838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Rectangle 154"/>
          <p:cNvSpPr txBox="1"/>
          <p:nvPr/>
        </p:nvSpPr>
        <p:spPr>
          <a:xfrm>
            <a:off x="755650" y="188913"/>
            <a:ext cx="49339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lt"/>
              </a:rPr>
              <a:t>病毒感染检测</a:t>
            </a:r>
            <a:endParaRPr lang="zh-CN" altLang="en-US" sz="28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4342" name="Rectangle 1044"/>
          <p:cNvSpPr>
            <a:spLocks noChangeArrowheads="1"/>
          </p:cNvSpPr>
          <p:nvPr/>
        </p:nvSpPr>
        <p:spPr bwMode="auto">
          <a:xfrm>
            <a:off x="-3175" y="1557338"/>
            <a:ext cx="9144000" cy="41544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62992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研究者将人的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和病毒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均表示成由一些字母组成的字符串序列。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62992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然后检测某种病毒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序列是否在患者的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序列中出现过，如果出现过，则此人感染了该病毒，否则没有感染。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62992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例如，假设病毒的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baa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，患者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序列为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aaabbba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，则感染，患者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序列为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babbba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，则未感染。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62992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（注意，人的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序列是线性的，而病毒的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序列是环状的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6803" name="组合 1"/>
          <p:cNvGrpSpPr/>
          <p:nvPr/>
        </p:nvGrpSpPr>
        <p:grpSpPr>
          <a:xfrm>
            <a:off x="-22225" y="5848350"/>
            <a:ext cx="9166225" cy="647700"/>
            <a:chOff x="-21952" y="5849080"/>
            <a:chExt cx="3533775" cy="646256"/>
          </a:xfrm>
        </p:grpSpPr>
        <p:sp>
          <p:nvSpPr>
            <p:cNvPr id="8" name="矩形 7"/>
            <p:cNvSpPr/>
            <p:nvPr/>
          </p:nvSpPr>
          <p:spPr bwMode="auto">
            <a:xfrm>
              <a:off x="-21952" y="5849080"/>
              <a:ext cx="3533775" cy="71279"/>
            </a:xfrm>
            <a:prstGeom prst="rect">
              <a:avLst/>
            </a:prstGeom>
            <a:solidFill>
              <a:srgbClr val="CC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/>
          </p:nvSpPr>
          <p:spPr bwMode="auto">
            <a:xfrm>
              <a:off x="-21952" y="6034404"/>
              <a:ext cx="3533775" cy="71278"/>
            </a:xfrm>
            <a:prstGeom prst="rect">
              <a:avLst/>
            </a:prstGeom>
            <a:solidFill>
              <a:srgbClr val="CC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-21952" y="6210223"/>
              <a:ext cx="3533775" cy="71279"/>
            </a:xfrm>
            <a:prstGeom prst="rect">
              <a:avLst/>
            </a:prstGeom>
            <a:solidFill>
              <a:srgbClr val="CC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-21952" y="6424058"/>
              <a:ext cx="3533775" cy="71278"/>
            </a:xfrm>
            <a:prstGeom prst="rect">
              <a:avLst/>
            </a:prstGeom>
            <a:solidFill>
              <a:srgbClr val="CC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7825" name="Object 2"/>
          <p:cNvGraphicFramePr/>
          <p:nvPr/>
        </p:nvGraphicFramePr>
        <p:xfrm>
          <a:off x="323850" y="1298575"/>
          <a:ext cx="3786188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457450" imgH="2562225" progId="Word.Picture.8">
                  <p:embed/>
                </p:oleObj>
              </mc:Choice>
              <mc:Fallback>
                <p:oleObj name="" r:id="rId1" imgW="2457450" imgH="2562225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850" y="1298575"/>
                        <a:ext cx="3786188" cy="428625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4F99E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6" name="Object 1"/>
          <p:cNvGraphicFramePr/>
          <p:nvPr/>
        </p:nvGraphicFramePr>
        <p:xfrm>
          <a:off x="4543425" y="1298575"/>
          <a:ext cx="3857625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533650" imgH="2400300" progId="Word.Picture.8">
                  <p:embed/>
                </p:oleObj>
              </mc:Choice>
              <mc:Fallback>
                <p:oleObj name="" r:id="rId3" imgW="2533650" imgH="240030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43425" y="1298575"/>
                        <a:ext cx="3857625" cy="428625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4F99E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0" y="-1587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4351338" y="2187575"/>
            <a:ext cx="4413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7830" name="Rectangle 154"/>
          <p:cNvSpPr txBox="1"/>
          <p:nvPr/>
        </p:nvSpPr>
        <p:spPr>
          <a:xfrm>
            <a:off x="755650" y="188913"/>
            <a:ext cx="49339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lt"/>
              </a:rPr>
              <a:t>病毒感染检测</a:t>
            </a:r>
            <a:endParaRPr lang="zh-CN" altLang="en-US" sz="28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8849" name="图片 9"/>
          <p:cNvPicPr>
            <a:picLocks noChangeAspect="1"/>
          </p:cNvPicPr>
          <p:nvPr/>
        </p:nvPicPr>
        <p:blipFill>
          <a:blip r:embed="rId1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850" name="矩形: 圆角 16"/>
          <p:cNvSpPr/>
          <p:nvPr/>
        </p:nvSpPr>
        <p:spPr>
          <a:xfrm>
            <a:off x="2576513" y="3754438"/>
            <a:ext cx="5199062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</a:pP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8851" name="矩形: 圆角 15"/>
          <p:cNvSpPr/>
          <p:nvPr/>
        </p:nvSpPr>
        <p:spPr>
          <a:xfrm>
            <a:off x="1631950" y="3754438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</a:pP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8854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dist">
              <a:spcBef>
                <a:spcPct val="2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目录导航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8855" name="文本框 13"/>
          <p:cNvSpPr txBox="1"/>
          <p:nvPr/>
        </p:nvSpPr>
        <p:spPr>
          <a:xfrm>
            <a:off x="1751013" y="2420938"/>
            <a:ext cx="720725" cy="2528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4.1</a:t>
            </a:r>
            <a:endParaRPr lang="zh-CN" altLang="en-US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4.2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4.4</a:t>
            </a:r>
            <a:endParaRPr lang="en-US" altLang="zh-CN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8856" name="文本框 14"/>
          <p:cNvSpPr txBox="1"/>
          <p:nvPr/>
        </p:nvSpPr>
        <p:spPr>
          <a:xfrm>
            <a:off x="2589213" y="2420938"/>
            <a:ext cx="5291137" cy="2528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串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案例引入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串的类型定义、存储结构及运算</a:t>
            </a:r>
            <a:endParaRPr lang="zh-CN" altLang="en-US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solidFill>
                  <a:srgbClr val="0D0D0D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案例分析与实现</a:t>
            </a:r>
            <a:endParaRPr lang="zh-CN" altLang="en-US" b="0" dirty="0">
              <a:solidFill>
                <a:srgbClr val="0D0D0D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366838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58"/>
          <p:cNvSpPr>
            <a:spLocks noChangeArrowheads="1"/>
          </p:cNvSpPr>
          <p:nvPr/>
        </p:nvSpPr>
        <p:spPr bwMode="auto">
          <a:xfrm>
            <a:off x="811213" y="153988"/>
            <a:ext cx="78501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串的类型定义、存储结构及运算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8" name="Object 12"/>
          <p:cNvGraphicFramePr/>
          <p:nvPr/>
        </p:nvGraphicFramePr>
        <p:xfrm>
          <a:off x="2667000" y="2028825"/>
          <a:ext cx="59436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844800" imgH="228600" progId="Equation.3">
                  <p:embed/>
                </p:oleObj>
              </mc:Choice>
              <mc:Fallback>
                <p:oleObj name="" r:id="rId1" imgW="28448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67000" y="2028825"/>
                        <a:ext cx="5943600" cy="477838"/>
                      </a:xfrm>
                      <a:prstGeom prst="rect">
                        <a:avLst/>
                      </a:prstGeom>
                      <a:solidFill>
                        <a:srgbClr val="C4B3D7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825500" y="2014538"/>
            <a:ext cx="1503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数据对象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814388" y="2698750"/>
            <a:ext cx="1503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数据关系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1" name="Object 16"/>
          <p:cNvGraphicFramePr/>
          <p:nvPr/>
        </p:nvGraphicFramePr>
        <p:xfrm>
          <a:off x="2667000" y="2714625"/>
          <a:ext cx="59436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489200" imgH="228600" progId="Equation.3">
                  <p:embed/>
                </p:oleObj>
              </mc:Choice>
              <mc:Fallback>
                <p:oleObj name="" r:id="rId3" imgW="2489200" imgH="228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7000" y="2714625"/>
                        <a:ext cx="5943600" cy="531813"/>
                      </a:xfrm>
                      <a:prstGeom prst="rect">
                        <a:avLst/>
                      </a:prstGeom>
                      <a:solidFill>
                        <a:srgbClr val="C4B3D7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790575" y="3473450"/>
            <a:ext cx="1503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基本操作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809625" y="4164013"/>
            <a:ext cx="7620000" cy="20129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(1)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StrAssign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(&amp;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T,chars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 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串赋值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(2)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StrCompare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(S,T)        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串比较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(3)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StrLength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(S)               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求串长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(4)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Concat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(&amp;T,S1,S2)       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串联          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395" name="Text Box 19"/>
          <p:cNvSpPr txBox="1">
            <a:spLocks noChangeArrowheads="1"/>
          </p:cNvSpPr>
          <p:nvPr/>
        </p:nvSpPr>
        <p:spPr bwMode="auto">
          <a:xfrm>
            <a:off x="392113" y="1341438"/>
            <a:ext cx="1925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ADT String {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47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95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147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 animBg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6935" name="Rectangle 7"/>
          <p:cNvSpPr>
            <a:spLocks noChangeArrowheads="1"/>
          </p:cNvSpPr>
          <p:nvPr/>
        </p:nvSpPr>
        <p:spPr bwMode="auto">
          <a:xfrm>
            <a:off x="1588" y="1052513"/>
            <a:ext cx="9144000" cy="55451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(5)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SubString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(&amp;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Sub,S,pos,len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求子串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(6)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StrCopy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(&amp;T,S)         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串拷贝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(7)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StrEmpty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(S)             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串判空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(8)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ClearString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(&amp;S)     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清空串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(9)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Index(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S,T,pos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子串的位置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(11) Replace(&amp;S,T,V)   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串替换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(12)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StrInsert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(&amp;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S,pos,T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子串插入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(12)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StrDelete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(&amp;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S,pos,len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子串删除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(13)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DestroyString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(&amp;S)  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串销毁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}ADT String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58"/>
          <p:cNvSpPr>
            <a:spLocks noChangeArrowheads="1"/>
          </p:cNvSpPr>
          <p:nvPr/>
        </p:nvSpPr>
        <p:spPr bwMode="auto">
          <a:xfrm>
            <a:off x="811213" y="153988"/>
            <a:ext cx="78501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串的类型定义、存储结构及运算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>
                                            <p:txEl>
                                              <p:charRg st="0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>
                                            <p:txEl>
                                              <p:charRg st="45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>
                                            <p:txEl>
                                              <p:charRg st="96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>
                                            <p:txEl>
                                              <p:charRg st="149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>
                                            <p:txEl>
                                              <p:charRg st="199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>
                                            <p:txEl>
                                              <p:charRg st="252" end="2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>
                                            <p:txEl>
                                              <p:charRg st="299" end="3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>
                                            <p:txEl>
                                              <p:charRg st="347" end="3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>
                                            <p:txEl>
                                              <p:charRg st="393" end="4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935">
                                            <p:txEl>
                                              <p:charRg st="439" end="4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5" grpId="0" animBg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6" name="Rectangle 98"/>
          <p:cNvSpPr>
            <a:spLocks noChangeArrowheads="1"/>
          </p:cNvSpPr>
          <p:nvPr/>
        </p:nvSpPr>
        <p:spPr bwMode="auto">
          <a:xfrm>
            <a:off x="900113" y="258763"/>
            <a:ext cx="525303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串的存储结构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373563" y="3225800"/>
            <a:ext cx="2711450" cy="2270125"/>
            <a:chOff x="4561682" y="2200808"/>
            <a:chExt cx="3219450" cy="2697163"/>
          </a:xfrm>
        </p:grpSpPr>
        <p:sp>
          <p:nvSpPr>
            <p:cNvPr id="81923" name="i$liḋe-Oval 12"/>
            <p:cNvSpPr/>
            <p:nvPr/>
          </p:nvSpPr>
          <p:spPr>
            <a:xfrm>
              <a:off x="4997099" y="2200808"/>
              <a:ext cx="2284528" cy="2284102"/>
            </a:xfrm>
            <a:prstGeom prst="ellipse">
              <a:avLst/>
            </a:prstGeom>
            <a:solidFill>
              <a:schemeClr val="accent1"/>
            </a:solidFill>
            <a:ln w="50800" cap="flat" cmpd="sng">
              <a:solidFill>
                <a:schemeClr val="tx1">
                  <a:alpha val="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0"/>
            <a:p>
              <a:pPr algn="ctr">
                <a:spcBef>
                  <a:spcPct val="20000"/>
                </a:spcBef>
              </a:pPr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+mn-lt"/>
                </a:rPr>
                <a:t>链式存储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8" name="i$liḋe-Oval 14"/>
            <p:cNvSpPr/>
            <p:nvPr/>
          </p:nvSpPr>
          <p:spPr bwMode="auto">
            <a:xfrm>
              <a:off x="4561682" y="3047680"/>
              <a:ext cx="326091" cy="3263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i$liḋe-Oval 15"/>
            <p:cNvSpPr/>
            <p:nvPr/>
          </p:nvSpPr>
          <p:spPr bwMode="auto">
            <a:xfrm>
              <a:off x="5877359" y="4354766"/>
              <a:ext cx="544742" cy="54320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i$liḋe-Oval 16"/>
            <p:cNvSpPr/>
            <p:nvPr/>
          </p:nvSpPr>
          <p:spPr bwMode="auto">
            <a:xfrm>
              <a:off x="6857519" y="2221556"/>
              <a:ext cx="173413" cy="175409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noFill/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i$liḋe-Oval 17"/>
            <p:cNvSpPr/>
            <p:nvPr/>
          </p:nvSpPr>
          <p:spPr bwMode="auto">
            <a:xfrm>
              <a:off x="7117639" y="3907754"/>
              <a:ext cx="403374" cy="40363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i$liḋe-Oval 18"/>
            <p:cNvSpPr/>
            <p:nvPr/>
          </p:nvSpPr>
          <p:spPr bwMode="auto">
            <a:xfrm>
              <a:off x="7292936" y="2940170"/>
              <a:ext cx="488196" cy="48850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 w="50800">
              <a:solidFill>
                <a:schemeClr val="tx1">
                  <a:alpha val="0"/>
                </a:scheme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138238" y="1828800"/>
            <a:ext cx="3000375" cy="2557463"/>
            <a:chOff x="755650" y="1929345"/>
            <a:chExt cx="3562350" cy="3037682"/>
          </a:xfrm>
        </p:grpSpPr>
        <p:sp>
          <p:nvSpPr>
            <p:cNvPr id="14" name="i$liḋe-Oval 4"/>
            <p:cNvSpPr/>
            <p:nvPr/>
          </p:nvSpPr>
          <p:spPr bwMode="auto">
            <a:xfrm>
              <a:off x="1560477" y="2263095"/>
              <a:ext cx="2222228" cy="22231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 anchor="ctr">
              <a:norm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顺序存储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i$liḋe-Oval 6"/>
            <p:cNvSpPr/>
            <p:nvPr/>
          </p:nvSpPr>
          <p:spPr bwMode="auto">
            <a:xfrm>
              <a:off x="3967420" y="3601862"/>
              <a:ext cx="350580" cy="34883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i$liḋe-Oval 7"/>
            <p:cNvSpPr/>
            <p:nvPr/>
          </p:nvSpPr>
          <p:spPr bwMode="auto">
            <a:xfrm>
              <a:off x="1524665" y="3835675"/>
              <a:ext cx="348695" cy="34883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i$liḋe-Oval 8"/>
            <p:cNvSpPr/>
            <p:nvPr/>
          </p:nvSpPr>
          <p:spPr bwMode="auto">
            <a:xfrm>
              <a:off x="2010954" y="4363639"/>
              <a:ext cx="603149" cy="60338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i$liḋe-Oval 9"/>
            <p:cNvSpPr/>
            <p:nvPr/>
          </p:nvSpPr>
          <p:spPr bwMode="auto">
            <a:xfrm>
              <a:off x="2485934" y="1929345"/>
              <a:ext cx="201677" cy="20175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i$liḋe-Oval 10"/>
            <p:cNvSpPr/>
            <p:nvPr/>
          </p:nvSpPr>
          <p:spPr bwMode="auto">
            <a:xfrm>
              <a:off x="755650" y="3109723"/>
              <a:ext cx="433513" cy="435571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9999"/>
              </a:schemeClr>
            </a:solidFill>
            <a:ln w="50800" cap="flat">
              <a:solidFill>
                <a:schemeClr val="tx1">
                  <a:alpha val="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 bwMode="auto">
          <a:xfrm>
            <a:off x="0" y="1628775"/>
            <a:ext cx="9144000" cy="3600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41046" name="Rectangle 22"/>
          <p:cNvSpPr>
            <a:spLocks noChangeArrowheads="1"/>
          </p:cNvSpPr>
          <p:nvPr/>
        </p:nvSpPr>
        <p:spPr bwMode="auto">
          <a:xfrm>
            <a:off x="539750" y="1844675"/>
            <a:ext cx="8135938" cy="327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lvl="0" indent="0" algn="just" eaLnBrk="1" fontAlgn="base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en-US" altLang="zh-CN" sz="2800" strike="noStrike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1.</a:t>
            </a:r>
            <a:r>
              <a:rPr lang="zh-CN" altLang="en-US" sz="2800" strike="noStrike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类似于线形表的顺序存储结构，用定长数组描述。</a:t>
            </a:r>
            <a:endParaRPr lang="zh-CN" altLang="en-US" sz="2800" strike="noStrike" noProof="1" dirty="0"/>
          </a:p>
          <a:p>
            <a:pPr marL="0" lvl="0" indent="0" algn="just" eaLnBrk="1" fontAlgn="base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en-US" altLang="zh-CN" sz="2800" strike="noStrike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#define  MAXSTRLEN  255    // </a:t>
            </a:r>
            <a:r>
              <a:rPr lang="zh-CN" altLang="en-US" sz="2800" strike="noStrike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用户可在</a:t>
            </a:r>
            <a:r>
              <a:rPr lang="en-US" altLang="zh-CN" sz="2800" strike="noStrike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255 </a:t>
            </a:r>
            <a:r>
              <a:rPr lang="zh-CN" altLang="en-US" sz="2800" strike="noStrike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以内定义最大串长</a:t>
            </a:r>
            <a:endParaRPr lang="zh-CN" altLang="en-US" sz="2800" strike="noStrike" noProof="1" dirty="0"/>
          </a:p>
          <a:p>
            <a:pPr marL="0" lvl="0" indent="0" algn="just" eaLnBrk="1" fontAlgn="base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en-US" altLang="zh-CN" sz="2800" strike="noStrike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typedef   unsigned   char  </a:t>
            </a:r>
            <a:r>
              <a:rPr lang="en-US" altLang="zh-CN" sz="2800" b="0" strike="noStrike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ea"/>
              </a:rPr>
              <a:t>SString</a:t>
            </a:r>
            <a:r>
              <a:rPr lang="en-US" altLang="zh-CN" sz="2800" strike="noStrike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[MAXSTRLEN+1];    //0</a:t>
            </a:r>
            <a:r>
              <a:rPr lang="zh-CN" altLang="en-US" sz="2800" strike="noStrike" noProof="1" dirty="0"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号单元存放串的长度</a:t>
            </a:r>
            <a:endParaRPr lang="zh-CN" altLang="en-US" sz="2800" strike="noStrike" noProof="1" dirty="0"/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                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459" name="Rectangle 23"/>
          <p:cNvSpPr>
            <a:spLocks noChangeArrowheads="1"/>
          </p:cNvSpPr>
          <p:nvPr/>
        </p:nvSpPr>
        <p:spPr bwMode="auto">
          <a:xfrm>
            <a:off x="827088" y="231775"/>
            <a:ext cx="35242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顺序存储表示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135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25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72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137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64104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 bwMode="auto">
          <a:xfrm>
            <a:off x="0" y="1628775"/>
            <a:ext cx="9144000" cy="3600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41046" name="Rectangle 22"/>
          <p:cNvSpPr>
            <a:spLocks noChangeArrowheads="1"/>
          </p:cNvSpPr>
          <p:nvPr/>
        </p:nvSpPr>
        <p:spPr bwMode="auto">
          <a:xfrm>
            <a:off x="539750" y="1557338"/>
            <a:ext cx="8135938" cy="368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struct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char *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       //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若串非空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则按串长分配存储区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    //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否则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NULL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int  length;       //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串长度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HString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                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459" name="Rectangle 23"/>
          <p:cNvSpPr>
            <a:spLocks noChangeArrowheads="1"/>
          </p:cNvSpPr>
          <p:nvPr/>
        </p:nvSpPr>
        <p:spPr bwMode="auto">
          <a:xfrm>
            <a:off x="827088" y="231775"/>
            <a:ext cx="35242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顺序存储表示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1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56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97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125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1046">
                                            <p:txEl>
                                              <p:charRg st="135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4104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 bwMode="auto">
          <a:xfrm>
            <a:off x="0" y="1541463"/>
            <a:ext cx="9144000" cy="3600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84994" name="Object 21"/>
          <p:cNvGraphicFramePr/>
          <p:nvPr/>
        </p:nvGraphicFramePr>
        <p:xfrm>
          <a:off x="438150" y="1684338"/>
          <a:ext cx="8356600" cy="339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7056120" imgH="2129155" progId="Visio.Drawing.5">
                  <p:embed/>
                </p:oleObj>
              </mc:Choice>
              <mc:Fallback>
                <p:oleObj name="" r:id="rId1" imgW="7056120" imgH="2129155" progId="Visio.Drawing.5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8150" y="1684338"/>
                        <a:ext cx="8356600" cy="3395662"/>
                      </a:xfrm>
                      <a:prstGeom prst="rect">
                        <a:avLst/>
                      </a:prstGeom>
                      <a:solidFill>
                        <a:srgbClr val="E2D9EB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Rectangle 22"/>
          <p:cNvSpPr>
            <a:spLocks noChangeArrowheads="1"/>
          </p:cNvSpPr>
          <p:nvPr/>
        </p:nvSpPr>
        <p:spPr bwMode="auto">
          <a:xfrm>
            <a:off x="827088" y="227013"/>
            <a:ext cx="35242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链式存储表示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262563"/>
            <a:ext cx="9144000" cy="182563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7"/>
          <p:cNvSpPr>
            <a:spLocks noChangeArrowheads="1"/>
          </p:cNvSpPr>
          <p:nvPr/>
        </p:nvSpPr>
        <p:spPr bwMode="auto">
          <a:xfrm>
            <a:off x="395288" y="1125538"/>
            <a:ext cx="8497888" cy="525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#define CHUNKSIZE 80       //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可由用户定义的块大小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struct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Chunk{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char  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ch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[CHUNKSIZE];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struct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Chunk *next;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}Chunk;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struct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Chunk *head,*tail;      //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串的头指针和尾指针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curlen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                 //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串的当前长度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LString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                     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508" name="Rectangle 29"/>
          <p:cNvSpPr>
            <a:spLocks noChangeArrowheads="1"/>
          </p:cNvSpPr>
          <p:nvPr/>
        </p:nvSpPr>
        <p:spPr bwMode="auto">
          <a:xfrm>
            <a:off x="827088" y="219075"/>
            <a:ext cx="35242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链式存储表示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237288"/>
            <a:ext cx="9144000" cy="6223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2" name="Rectangle 15"/>
          <p:cNvSpPr>
            <a:spLocks noGrp="1" noChangeArrowheads="1"/>
          </p:cNvSpPr>
          <p:nvPr>
            <p:ph type="body" sz="half" idx="1"/>
          </p:nvPr>
        </p:nvSpPr>
        <p:spPr>
          <a:xfrm>
            <a:off x="871538" y="1106488"/>
            <a:ext cx="7588250" cy="1054100"/>
          </a:xfrm>
          <a:solidFill>
            <a:schemeClr val="bg2">
              <a:lumMod val="20000"/>
              <a:lumOff val="80000"/>
            </a:schemeClr>
          </a:solidFill>
          <a:ln w="38100"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优点：操作方便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缺点：存储密度较低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39662" name="Text Box 14"/>
          <p:cNvSpPr txBox="1">
            <a:spLocks noChangeArrowheads="1"/>
          </p:cNvSpPr>
          <p:nvPr/>
        </p:nvSpPr>
        <p:spPr bwMode="auto">
          <a:xfrm>
            <a:off x="842963" y="3794125"/>
            <a:ext cx="7616825" cy="461963"/>
          </a:xfrm>
          <a:prstGeom prst="rect">
            <a:avLst/>
          </a:prstGeom>
          <a:solidFill>
            <a:srgbClr val="6C4C8F"/>
          </a:solidFill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可将多个字符存放在一个结点中，以克服其缺点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87043" name="Group 18"/>
          <p:cNvGrpSpPr>
            <a:grpSpLocks noChangeAspect="1"/>
          </p:cNvGrpSpPr>
          <p:nvPr/>
        </p:nvGrpSpPr>
        <p:grpSpPr>
          <a:xfrm>
            <a:off x="827088" y="2366963"/>
            <a:ext cx="7632700" cy="1044575"/>
            <a:chOff x="1200" y="1296"/>
            <a:chExt cx="4808" cy="658"/>
          </a:xfrm>
        </p:grpSpPr>
        <p:sp>
          <p:nvSpPr>
            <p:cNvPr id="22534" name="AutoShape 17"/>
            <p:cNvSpPr>
              <a:spLocks noChangeAspect="1" noChangeArrowheads="1" noTextEdit="1"/>
            </p:cNvSpPr>
            <p:nvPr/>
          </p:nvSpPr>
          <p:spPr bwMode="auto">
            <a:xfrm>
              <a:off x="1200" y="1296"/>
              <a:ext cx="4808" cy="658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5" name="Line 19"/>
            <p:cNvSpPr>
              <a:spLocks noChangeShapeType="1"/>
            </p:cNvSpPr>
            <p:nvPr/>
          </p:nvSpPr>
          <p:spPr bwMode="auto">
            <a:xfrm>
              <a:off x="2987" y="1635"/>
              <a:ext cx="18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6" name="Rectangle 20"/>
            <p:cNvSpPr>
              <a:spLocks noChangeArrowheads="1"/>
            </p:cNvSpPr>
            <p:nvPr/>
          </p:nvSpPr>
          <p:spPr bwMode="auto">
            <a:xfrm>
              <a:off x="2990" y="1673"/>
              <a:ext cx="180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实际分配的存储位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7" name="Rectangle 21"/>
            <p:cNvSpPr>
              <a:spLocks noChangeArrowheads="1"/>
            </p:cNvSpPr>
            <p:nvPr/>
          </p:nvSpPr>
          <p:spPr bwMode="auto">
            <a:xfrm>
              <a:off x="2980" y="1340"/>
              <a:ext cx="180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串值所占的存储位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8" name="Rectangle 22"/>
            <p:cNvSpPr>
              <a:spLocks noChangeArrowheads="1"/>
            </p:cNvSpPr>
            <p:nvPr/>
          </p:nvSpPr>
          <p:spPr bwMode="auto">
            <a:xfrm>
              <a:off x="1720" y="1489"/>
              <a:ext cx="90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存储密度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539" name="Rectangle 23"/>
            <p:cNvSpPr>
              <a:spLocks noChangeArrowheads="1"/>
            </p:cNvSpPr>
            <p:nvPr/>
          </p:nvSpPr>
          <p:spPr bwMode="auto">
            <a:xfrm>
              <a:off x="2752" y="1497"/>
              <a:ext cx="1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=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87050" name="Group 29"/>
          <p:cNvGrpSpPr/>
          <p:nvPr/>
        </p:nvGrpSpPr>
        <p:grpSpPr>
          <a:xfrm>
            <a:off x="827088" y="4368800"/>
            <a:ext cx="7632700" cy="2012950"/>
            <a:chOff x="392" y="2650"/>
            <a:chExt cx="4808" cy="1268"/>
          </a:xfrm>
        </p:grpSpPr>
        <p:graphicFrame>
          <p:nvGraphicFramePr>
            <p:cNvPr id="87051" name="Object 25"/>
            <p:cNvGraphicFramePr/>
            <p:nvPr/>
          </p:nvGraphicFramePr>
          <p:xfrm>
            <a:off x="392" y="2650"/>
            <a:ext cx="4808" cy="1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" imgW="7056120" imgH="2129155" progId="Visio.Drawing.5">
                    <p:embed/>
                  </p:oleObj>
                </mc:Choice>
                <mc:Fallback>
                  <p:oleObj name="" r:id="rId1" imgW="7056120" imgH="2129155" progId="Visio.Drawing.5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2" y="2650"/>
                          <a:ext cx="4808" cy="1268"/>
                        </a:xfrm>
                        <a:prstGeom prst="rect">
                          <a:avLst/>
                        </a:prstGeom>
                        <a:solidFill>
                          <a:srgbClr val="E2D9EB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2" name="Line 28"/>
            <p:cNvSpPr>
              <a:spLocks noChangeShapeType="1"/>
            </p:cNvSpPr>
            <p:nvPr/>
          </p:nvSpPr>
          <p:spPr bwMode="auto">
            <a:xfrm>
              <a:off x="392" y="3293"/>
              <a:ext cx="4808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2543" name="Rectangle 30"/>
          <p:cNvSpPr>
            <a:spLocks noChangeArrowheads="1"/>
          </p:cNvSpPr>
          <p:nvPr/>
        </p:nvSpPr>
        <p:spPr bwMode="auto">
          <a:xfrm>
            <a:off x="893763" y="203200"/>
            <a:ext cx="35242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链式存储表示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9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9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6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60" name="Rectangle 13"/>
          <p:cNvSpPr>
            <a:spLocks noChangeArrowheads="1"/>
          </p:cNvSpPr>
          <p:nvPr/>
        </p:nvSpPr>
        <p:spPr bwMode="auto">
          <a:xfrm>
            <a:off x="827088" y="-28575"/>
            <a:ext cx="4787900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串的模式匹配算法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椭圆 1"/>
          <p:cNvSpPr/>
          <p:nvPr/>
        </p:nvSpPr>
        <p:spPr>
          <a:xfrm>
            <a:off x="1808163" y="1487488"/>
            <a:ext cx="1585913" cy="1427163"/>
          </a:xfrm>
          <a:custGeom>
            <a:avLst/>
            <a:gdLst/>
            <a:ahLst/>
            <a:cxnLst/>
            <a:rect l="l" t="t" r="r" b="b"/>
            <a:pathLst>
              <a:path w="1648346" h="1656184">
                <a:moveTo>
                  <a:pt x="820254" y="0"/>
                </a:moveTo>
                <a:cubicBezTo>
                  <a:pt x="1277597" y="0"/>
                  <a:pt x="1648346" y="370749"/>
                  <a:pt x="1648346" y="828092"/>
                </a:cubicBezTo>
                <a:cubicBezTo>
                  <a:pt x="1648346" y="1285435"/>
                  <a:pt x="1277597" y="1656184"/>
                  <a:pt x="820254" y="1656184"/>
                </a:cubicBezTo>
                <a:cubicBezTo>
                  <a:pt x="771082" y="1656184"/>
                  <a:pt x="722910" y="1651898"/>
                  <a:pt x="676238" y="1642851"/>
                </a:cubicBezTo>
                <a:lnTo>
                  <a:pt x="676238" y="1458836"/>
                </a:lnTo>
                <a:cubicBezTo>
                  <a:pt x="722365" y="1470593"/>
                  <a:pt x="770659" y="1476164"/>
                  <a:pt x="820254" y="1476164"/>
                </a:cubicBezTo>
                <a:cubicBezTo>
                  <a:pt x="1178174" y="1476164"/>
                  <a:pt x="1468326" y="1186012"/>
                  <a:pt x="1468326" y="828092"/>
                </a:cubicBezTo>
                <a:cubicBezTo>
                  <a:pt x="1468326" y="470172"/>
                  <a:pt x="1178174" y="180020"/>
                  <a:pt x="820254" y="180020"/>
                </a:cubicBezTo>
                <a:cubicBezTo>
                  <a:pt x="499245" y="180020"/>
                  <a:pt x="232748" y="413413"/>
                  <a:pt x="183071" y="720080"/>
                </a:cubicBezTo>
                <a:lnTo>
                  <a:pt x="0" y="720080"/>
                </a:lnTo>
                <a:cubicBezTo>
                  <a:pt x="52132" y="313716"/>
                  <a:pt x="399556" y="0"/>
                  <a:pt x="820254" y="0"/>
                </a:cubicBezTo>
                <a:close/>
              </a:path>
            </a:pathLst>
          </a:custGeom>
          <a:solidFill>
            <a:srgbClr val="6C4C8F"/>
          </a:solidFill>
          <a:ln w="25400" cap="flat" cmpd="sng" algn="ctr">
            <a:noFill/>
            <a:prstDash val="solid"/>
          </a:ln>
          <a:effectLst/>
        </p:spPr>
        <p:txBody>
          <a:bodyPr lIns="117226" tIns="58613" rIns="117226" bIns="58613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椭圆 1"/>
          <p:cNvSpPr/>
          <p:nvPr/>
        </p:nvSpPr>
        <p:spPr>
          <a:xfrm>
            <a:off x="1662113" y="2746375"/>
            <a:ext cx="796925" cy="1425575"/>
          </a:xfrm>
          <a:custGeom>
            <a:avLst/>
            <a:gdLst/>
            <a:ahLst/>
            <a:cxnLst/>
            <a:rect l="l" t="t" r="r" b="b"/>
            <a:pathLst>
              <a:path w="828092" h="1656184">
                <a:moveTo>
                  <a:pt x="828092" y="0"/>
                </a:moveTo>
                <a:lnTo>
                  <a:pt x="828092" y="180020"/>
                </a:lnTo>
                <a:cubicBezTo>
                  <a:pt x="470172" y="180020"/>
                  <a:pt x="180020" y="470172"/>
                  <a:pt x="180020" y="828092"/>
                </a:cubicBezTo>
                <a:cubicBezTo>
                  <a:pt x="180020" y="1186012"/>
                  <a:pt x="470172" y="1476164"/>
                  <a:pt x="828092" y="1476164"/>
                </a:cubicBezTo>
                <a:lnTo>
                  <a:pt x="828092" y="1656184"/>
                </a:lnTo>
                <a:cubicBezTo>
                  <a:pt x="370749" y="1656184"/>
                  <a:pt x="0" y="1285435"/>
                  <a:pt x="0" y="828092"/>
                </a:cubicBezTo>
                <a:cubicBezTo>
                  <a:pt x="0" y="370749"/>
                  <a:pt x="370749" y="0"/>
                  <a:pt x="828092" y="0"/>
                </a:cubicBezTo>
                <a:close/>
              </a:path>
            </a:pathLst>
          </a:custGeom>
          <a:solidFill>
            <a:srgbClr val="6C4C8F"/>
          </a:solidFill>
          <a:ln w="25400" cap="flat" cmpd="sng" algn="ctr">
            <a:noFill/>
            <a:prstDash val="solid"/>
          </a:ln>
          <a:effectLst/>
        </p:spPr>
        <p:txBody>
          <a:bodyPr lIns="117226" tIns="58613" rIns="117226" bIns="58613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椭圆 1"/>
          <p:cNvSpPr/>
          <p:nvPr/>
        </p:nvSpPr>
        <p:spPr>
          <a:xfrm rot="5400000">
            <a:off x="1636713" y="3933825"/>
            <a:ext cx="1420813" cy="1592263"/>
          </a:xfrm>
          <a:custGeom>
            <a:avLst/>
            <a:gdLst/>
            <a:ahLst/>
            <a:cxnLst/>
            <a:rect l="l" t="t" r="r" b="b"/>
            <a:pathLst>
              <a:path w="1648346" h="1656184">
                <a:moveTo>
                  <a:pt x="820254" y="0"/>
                </a:moveTo>
                <a:cubicBezTo>
                  <a:pt x="1277597" y="0"/>
                  <a:pt x="1648346" y="370749"/>
                  <a:pt x="1648346" y="828092"/>
                </a:cubicBezTo>
                <a:cubicBezTo>
                  <a:pt x="1648346" y="1285435"/>
                  <a:pt x="1277597" y="1656184"/>
                  <a:pt x="820254" y="1656184"/>
                </a:cubicBezTo>
                <a:cubicBezTo>
                  <a:pt x="771082" y="1656184"/>
                  <a:pt x="722910" y="1651898"/>
                  <a:pt x="676238" y="1642851"/>
                </a:cubicBezTo>
                <a:lnTo>
                  <a:pt x="676238" y="1458836"/>
                </a:lnTo>
                <a:cubicBezTo>
                  <a:pt x="722365" y="1470593"/>
                  <a:pt x="770659" y="1476164"/>
                  <a:pt x="820254" y="1476164"/>
                </a:cubicBezTo>
                <a:cubicBezTo>
                  <a:pt x="1178174" y="1476164"/>
                  <a:pt x="1468326" y="1186012"/>
                  <a:pt x="1468326" y="828092"/>
                </a:cubicBezTo>
                <a:cubicBezTo>
                  <a:pt x="1468326" y="470172"/>
                  <a:pt x="1178174" y="180020"/>
                  <a:pt x="820254" y="180020"/>
                </a:cubicBezTo>
                <a:cubicBezTo>
                  <a:pt x="499245" y="180020"/>
                  <a:pt x="232748" y="413413"/>
                  <a:pt x="183071" y="720080"/>
                </a:cubicBezTo>
                <a:lnTo>
                  <a:pt x="0" y="720080"/>
                </a:lnTo>
                <a:cubicBezTo>
                  <a:pt x="52132" y="313716"/>
                  <a:pt x="399556" y="0"/>
                  <a:pt x="820254" y="0"/>
                </a:cubicBezTo>
                <a:close/>
              </a:path>
            </a:pathLst>
          </a:custGeom>
          <a:solidFill>
            <a:srgbClr val="6C4C8F"/>
          </a:solidFill>
          <a:ln w="25400" cap="flat" cmpd="sng" algn="ctr">
            <a:noFill/>
            <a:prstDash val="solid"/>
          </a:ln>
          <a:effectLst/>
        </p:spPr>
        <p:txBody>
          <a:bodyPr lIns="117226" tIns="58613" rIns="117226" bIns="58613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椭圆 1"/>
          <p:cNvSpPr/>
          <p:nvPr/>
        </p:nvSpPr>
        <p:spPr>
          <a:xfrm rot="10800000">
            <a:off x="387350" y="1298575"/>
            <a:ext cx="1584325" cy="1427163"/>
          </a:xfrm>
          <a:custGeom>
            <a:avLst/>
            <a:gdLst/>
            <a:ahLst/>
            <a:cxnLst/>
            <a:rect l="l" t="t" r="r" b="b"/>
            <a:pathLst>
              <a:path w="1648346" h="1656184">
                <a:moveTo>
                  <a:pt x="820254" y="0"/>
                </a:moveTo>
                <a:cubicBezTo>
                  <a:pt x="1277597" y="0"/>
                  <a:pt x="1648346" y="370749"/>
                  <a:pt x="1648346" y="828092"/>
                </a:cubicBezTo>
                <a:cubicBezTo>
                  <a:pt x="1648346" y="1285435"/>
                  <a:pt x="1277597" y="1656184"/>
                  <a:pt x="820254" y="1656184"/>
                </a:cubicBezTo>
                <a:cubicBezTo>
                  <a:pt x="771082" y="1656184"/>
                  <a:pt x="722910" y="1651898"/>
                  <a:pt x="676238" y="1642851"/>
                </a:cubicBezTo>
                <a:lnTo>
                  <a:pt x="676238" y="1458836"/>
                </a:lnTo>
                <a:cubicBezTo>
                  <a:pt x="722365" y="1470593"/>
                  <a:pt x="770659" y="1476164"/>
                  <a:pt x="820254" y="1476164"/>
                </a:cubicBezTo>
                <a:cubicBezTo>
                  <a:pt x="1178174" y="1476164"/>
                  <a:pt x="1468326" y="1186012"/>
                  <a:pt x="1468326" y="828092"/>
                </a:cubicBezTo>
                <a:cubicBezTo>
                  <a:pt x="1468326" y="470172"/>
                  <a:pt x="1178174" y="180020"/>
                  <a:pt x="820254" y="180020"/>
                </a:cubicBezTo>
                <a:cubicBezTo>
                  <a:pt x="499245" y="180020"/>
                  <a:pt x="232748" y="413413"/>
                  <a:pt x="183071" y="720080"/>
                </a:cubicBezTo>
                <a:lnTo>
                  <a:pt x="0" y="720080"/>
                </a:lnTo>
                <a:cubicBezTo>
                  <a:pt x="52132" y="313716"/>
                  <a:pt x="399556" y="0"/>
                  <a:pt x="820254" y="0"/>
                </a:cubicBezTo>
                <a:close/>
              </a:path>
            </a:pathLst>
          </a:custGeom>
          <a:solidFill>
            <a:srgbClr val="6C4C8F"/>
          </a:solidFill>
          <a:ln w="25400" cap="flat" cmpd="sng" algn="ctr">
            <a:noFill/>
            <a:prstDash val="solid"/>
          </a:ln>
          <a:effectLst/>
        </p:spPr>
        <p:txBody>
          <a:bodyPr lIns="117226" tIns="58613" rIns="117226" bIns="58613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椭圆 1"/>
          <p:cNvSpPr/>
          <p:nvPr/>
        </p:nvSpPr>
        <p:spPr>
          <a:xfrm rot="6199008">
            <a:off x="739775" y="3382963"/>
            <a:ext cx="714375" cy="1501775"/>
          </a:xfrm>
          <a:custGeom>
            <a:avLst/>
            <a:gdLst/>
            <a:ahLst/>
            <a:cxnLst/>
            <a:rect l="l" t="t" r="r" b="b"/>
            <a:pathLst>
              <a:path w="828092" h="1560369">
                <a:moveTo>
                  <a:pt x="16824" y="994982"/>
                </a:moveTo>
                <a:cubicBezTo>
                  <a:pt x="5793" y="941075"/>
                  <a:pt x="0" y="885260"/>
                  <a:pt x="0" y="828092"/>
                </a:cubicBezTo>
                <a:cubicBezTo>
                  <a:pt x="0" y="370749"/>
                  <a:pt x="370749" y="0"/>
                  <a:pt x="828092" y="0"/>
                </a:cubicBezTo>
                <a:lnTo>
                  <a:pt x="828092" y="180020"/>
                </a:lnTo>
                <a:cubicBezTo>
                  <a:pt x="470172" y="180020"/>
                  <a:pt x="180020" y="470172"/>
                  <a:pt x="180020" y="828092"/>
                </a:cubicBezTo>
                <a:cubicBezTo>
                  <a:pt x="180020" y="1180557"/>
                  <a:pt x="461395" y="1467304"/>
                  <a:pt x="811810" y="1474523"/>
                </a:cubicBezTo>
                <a:lnTo>
                  <a:pt x="449129" y="1560369"/>
                </a:lnTo>
                <a:cubicBezTo>
                  <a:pt x="229080" y="1450469"/>
                  <a:pt x="67556" y="1242904"/>
                  <a:pt x="16824" y="994982"/>
                </a:cubicBezTo>
                <a:close/>
              </a:path>
            </a:pathLst>
          </a:custGeom>
          <a:solidFill>
            <a:srgbClr val="6C4C8F"/>
          </a:solidFill>
          <a:ln w="25400" cap="flat" cmpd="sng" algn="ctr">
            <a:noFill/>
            <a:prstDash val="solid"/>
          </a:ln>
          <a:effectLst/>
        </p:spPr>
        <p:txBody>
          <a:bodyPr lIns="117226" tIns="58613" rIns="117226" bIns="58613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743325" y="1749425"/>
            <a:ext cx="3810000" cy="557213"/>
          </a:xfrm>
          <a:custGeom>
            <a:avLst/>
            <a:gdLst/>
            <a:ahLst/>
            <a:cxnLst/>
            <a:rect l="l" t="t" r="r" b="b"/>
            <a:pathLst>
              <a:path w="3960440" h="648072">
                <a:moveTo>
                  <a:pt x="0" y="0"/>
                </a:moveTo>
                <a:lnTo>
                  <a:pt x="3636404" y="0"/>
                </a:lnTo>
                <a:cubicBezTo>
                  <a:pt x="3815364" y="0"/>
                  <a:pt x="3960440" y="145076"/>
                  <a:pt x="3960440" y="324036"/>
                </a:cubicBezTo>
                <a:cubicBezTo>
                  <a:pt x="3960440" y="502996"/>
                  <a:pt x="3815364" y="648072"/>
                  <a:pt x="3636404" y="648072"/>
                </a:cubicBezTo>
                <a:lnTo>
                  <a:pt x="0" y="648072"/>
                </a:lnTo>
                <a:close/>
              </a:path>
            </a:pathLst>
          </a:custGeom>
          <a:solidFill>
            <a:srgbClr val="6C4C8F"/>
          </a:solidFill>
          <a:ln w="25400" cap="flat" cmpd="sng" algn="ctr">
            <a:noFill/>
            <a:prstDash val="solid"/>
          </a:ln>
          <a:effectLst/>
        </p:spPr>
        <p:txBody>
          <a:bodyPr lIns="117226" tIns="58613" rIns="117226" bIns="58613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算法目的：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圆角矩形 14"/>
          <p:cNvSpPr/>
          <p:nvPr/>
        </p:nvSpPr>
        <p:spPr>
          <a:xfrm>
            <a:off x="3743325" y="4114800"/>
            <a:ext cx="3810000" cy="558800"/>
          </a:xfrm>
          <a:custGeom>
            <a:avLst/>
            <a:gdLst/>
            <a:ahLst/>
            <a:cxnLst/>
            <a:rect l="l" t="t" r="r" b="b"/>
            <a:pathLst>
              <a:path w="3960440" h="648072">
                <a:moveTo>
                  <a:pt x="0" y="0"/>
                </a:moveTo>
                <a:lnTo>
                  <a:pt x="3636404" y="0"/>
                </a:lnTo>
                <a:cubicBezTo>
                  <a:pt x="3815364" y="0"/>
                  <a:pt x="3960440" y="145076"/>
                  <a:pt x="3960440" y="324036"/>
                </a:cubicBezTo>
                <a:cubicBezTo>
                  <a:pt x="3960440" y="502996"/>
                  <a:pt x="3815364" y="648072"/>
                  <a:pt x="3636404" y="648072"/>
                </a:cubicBezTo>
                <a:lnTo>
                  <a:pt x="0" y="648072"/>
                </a:lnTo>
                <a:close/>
              </a:path>
            </a:pathLst>
          </a:custGeom>
          <a:solidFill>
            <a:srgbClr val="6C4C8F"/>
          </a:solidFill>
          <a:ln w="25400" cap="flat" cmpd="sng" algn="ctr">
            <a:noFill/>
            <a:prstDash val="solid"/>
          </a:ln>
          <a:effectLst/>
        </p:spPr>
        <p:txBody>
          <a:bodyPr lIns="117226" tIns="58613" rIns="117226" bIns="58613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算法种类：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8073" name="TextBox 8"/>
          <p:cNvSpPr txBox="1"/>
          <p:nvPr/>
        </p:nvSpPr>
        <p:spPr>
          <a:xfrm>
            <a:off x="2244725" y="1668463"/>
            <a:ext cx="582613" cy="979487"/>
          </a:xfrm>
          <a:prstGeom prst="rect">
            <a:avLst/>
          </a:prstGeom>
          <a:noFill/>
          <a:ln w="9525">
            <a:noFill/>
          </a:ln>
        </p:spPr>
        <p:txBody>
          <a:bodyPr lIns="117226" tIns="58613" rIns="117226" bIns="58613" anchor="t" anchorCtr="0">
            <a:spAutoFit/>
          </a:bodyPr>
          <a:p>
            <a:pPr>
              <a:spcBef>
                <a:spcPct val="20000"/>
              </a:spcBef>
            </a:pPr>
            <a:r>
              <a:rPr lang="en-US" altLang="zh-CN" sz="5600" dirty="0">
                <a:solidFill>
                  <a:srgbClr val="262626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</a:t>
            </a:r>
            <a:endParaRPr lang="zh-CN" altLang="en-US" sz="5600" dirty="0">
              <a:solidFill>
                <a:srgbClr val="262626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8074" name="TextBox 9"/>
          <p:cNvSpPr txBox="1"/>
          <p:nvPr/>
        </p:nvSpPr>
        <p:spPr>
          <a:xfrm>
            <a:off x="1965325" y="4281488"/>
            <a:ext cx="582613" cy="979487"/>
          </a:xfrm>
          <a:prstGeom prst="rect">
            <a:avLst/>
          </a:prstGeom>
          <a:noFill/>
          <a:ln w="9525">
            <a:noFill/>
          </a:ln>
        </p:spPr>
        <p:txBody>
          <a:bodyPr lIns="117226" tIns="58613" rIns="117226" bIns="58613" anchor="t" anchorCtr="0">
            <a:spAutoFit/>
          </a:bodyPr>
          <a:p>
            <a:pPr>
              <a:spcBef>
                <a:spcPct val="20000"/>
              </a:spcBef>
            </a:pPr>
            <a:r>
              <a:rPr lang="en-US" altLang="zh-CN" sz="5600" dirty="0">
                <a:solidFill>
                  <a:srgbClr val="262626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</a:t>
            </a:r>
            <a:endParaRPr lang="zh-CN" altLang="en-US" sz="5600" dirty="0">
              <a:solidFill>
                <a:srgbClr val="262626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8075" name="TextBox 10"/>
          <p:cNvSpPr txBox="1"/>
          <p:nvPr/>
        </p:nvSpPr>
        <p:spPr>
          <a:xfrm>
            <a:off x="3673475" y="2424113"/>
            <a:ext cx="5205413" cy="1454150"/>
          </a:xfrm>
          <a:prstGeom prst="rect">
            <a:avLst/>
          </a:prstGeom>
          <a:noFill/>
          <a:ln w="9525">
            <a:noFill/>
          </a:ln>
        </p:spPr>
        <p:txBody>
          <a:bodyPr lIns="117226" tIns="58613" rIns="117226" bIns="58613" anchor="t" anchorCtr="0">
            <a:spAutoFit/>
          </a:bodyPr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200" b="0" dirty="0">
                <a:solidFill>
                  <a:srgbClr val="262626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确定主串中所含子串第一次出现的位置（定位）</a:t>
            </a:r>
            <a:endParaRPr lang="zh-CN" altLang="en-US" sz="2200" b="0" dirty="0">
              <a:solidFill>
                <a:srgbClr val="262626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 sz="2200" b="0" dirty="0">
                <a:solidFill>
                  <a:srgbClr val="262626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即如何实现教材</a:t>
            </a:r>
            <a:r>
              <a:rPr lang="en-US" altLang="zh-CN" sz="2200" b="0" dirty="0">
                <a:solidFill>
                  <a:srgbClr val="262626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P79 Index(S,T,pos)</a:t>
            </a:r>
            <a:r>
              <a:rPr lang="zh-CN" altLang="en-US" sz="2200" b="0" dirty="0">
                <a:solidFill>
                  <a:srgbClr val="262626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函数</a:t>
            </a:r>
            <a:endParaRPr lang="zh-CN" altLang="en-US" sz="2200" b="0" dirty="0">
              <a:solidFill>
                <a:srgbClr val="262626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0" name="TextBox 11"/>
          <p:cNvSpPr txBox="1"/>
          <p:nvPr/>
        </p:nvSpPr>
        <p:spPr>
          <a:xfrm>
            <a:off x="3743325" y="4797425"/>
            <a:ext cx="5135563" cy="1416050"/>
          </a:xfrm>
          <a:prstGeom prst="rect">
            <a:avLst/>
          </a:prstGeom>
          <a:noFill/>
          <a:ln w="9525">
            <a:noFill/>
          </a:ln>
        </p:spPr>
        <p:txBody>
          <a:bodyPr lIns="117226" tIns="58613" rIns="117226" bIns="58613" anchor="t" anchorCtr="0">
            <a:spAutoFit/>
          </a:bodyPr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BF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算法（又称古典的、经典的、朴素的、穷举的）</a:t>
            </a:r>
            <a:endParaRPr lang="zh-CN" altLang="en-US" sz="2200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342900" indent="-342900">
              <a:lnSpc>
                <a:spcPct val="125000"/>
              </a:lnSpc>
              <a:spcBef>
                <a:spcPct val="20000"/>
              </a:spcBef>
              <a:buClr>
                <a:srgbClr val="FFC000"/>
              </a:buClr>
              <a:buFont typeface="Wingdings" panose="05000000000000000000" pitchFamily="2" charset="2"/>
              <a:buChar char="n"/>
            </a:pPr>
            <a:r>
              <a:rPr lang="en-US" altLang="zh-CN" sz="2200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KMP</a:t>
            </a:r>
            <a:r>
              <a:rPr lang="zh-CN" altLang="en-US" sz="2200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算法（特点：速度快）</a:t>
            </a:r>
            <a:endParaRPr lang="zh-CN" altLang="en-US" sz="2200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 bwMode="auto">
          <a:xfrm>
            <a:off x="0" y="874713"/>
            <a:ext cx="9144000" cy="5867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9090" name="Text Box 6"/>
          <p:cNvSpPr txBox="1"/>
          <p:nvPr/>
        </p:nvSpPr>
        <p:spPr>
          <a:xfrm>
            <a:off x="904875" y="1408113"/>
            <a:ext cx="7239000" cy="10779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3200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S  : a b a b c a b c a c b a b</a:t>
            </a:r>
            <a:endParaRPr lang="en-US" altLang="zh-CN" sz="3200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/>
            <a:r>
              <a:rPr lang="en-US" altLang="zh-CN" sz="3200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  : a b c</a:t>
            </a:r>
            <a:endParaRPr lang="en-US" altLang="zh-CN" sz="3200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56743" name="Line 7"/>
          <p:cNvSpPr>
            <a:spLocks noChangeShapeType="1"/>
          </p:cNvSpPr>
          <p:nvPr/>
        </p:nvSpPr>
        <p:spPr bwMode="auto">
          <a:xfrm>
            <a:off x="1666875" y="1014413"/>
            <a:ext cx="0" cy="457200"/>
          </a:xfrm>
          <a:prstGeom prst="line">
            <a:avLst/>
          </a:prstGeom>
          <a:noFill/>
          <a:ln w="28575">
            <a:solidFill>
              <a:srgbClr val="4F99E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44" name="Line 8"/>
          <p:cNvSpPr>
            <a:spLocks noChangeShapeType="1"/>
          </p:cNvSpPr>
          <p:nvPr/>
        </p:nvSpPr>
        <p:spPr bwMode="auto">
          <a:xfrm flipV="1">
            <a:off x="1763713" y="2420938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9093" name="Text Box 9"/>
          <p:cNvSpPr txBox="1"/>
          <p:nvPr/>
        </p:nvSpPr>
        <p:spPr>
          <a:xfrm>
            <a:off x="981075" y="874713"/>
            <a:ext cx="304800" cy="579437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0" dirty="0">
                <a:solidFill>
                  <a:srgbClr val="4F99E2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i</a:t>
            </a:r>
            <a:endParaRPr lang="en-US" altLang="zh-CN" b="0" dirty="0">
              <a:solidFill>
                <a:srgbClr val="4F99E2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89094" name="Text Box 10"/>
          <p:cNvSpPr txBox="1"/>
          <p:nvPr/>
        </p:nvSpPr>
        <p:spPr>
          <a:xfrm>
            <a:off x="981075" y="2349500"/>
            <a:ext cx="304800" cy="584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en-US" altLang="zh-CN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j</a:t>
            </a:r>
            <a:endParaRPr lang="en-US" altLang="zh-CN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56747" name="Line 11"/>
          <p:cNvSpPr>
            <a:spLocks noChangeShapeType="1"/>
          </p:cNvSpPr>
          <p:nvPr/>
        </p:nvSpPr>
        <p:spPr bwMode="auto">
          <a:xfrm flipV="1">
            <a:off x="2068513" y="2420938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48" name="Line 12"/>
          <p:cNvSpPr>
            <a:spLocks noChangeShapeType="1"/>
          </p:cNvSpPr>
          <p:nvPr/>
        </p:nvSpPr>
        <p:spPr bwMode="auto">
          <a:xfrm flipV="1">
            <a:off x="2339975" y="2420938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49" name="Line 13"/>
          <p:cNvSpPr>
            <a:spLocks noChangeShapeType="1"/>
          </p:cNvSpPr>
          <p:nvPr/>
        </p:nvSpPr>
        <p:spPr bwMode="auto">
          <a:xfrm>
            <a:off x="1971675" y="1014413"/>
            <a:ext cx="0" cy="457200"/>
          </a:xfrm>
          <a:prstGeom prst="line">
            <a:avLst/>
          </a:prstGeom>
          <a:noFill/>
          <a:ln w="28575">
            <a:solidFill>
              <a:srgbClr val="4F99E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50" name="Line 14"/>
          <p:cNvSpPr>
            <a:spLocks noChangeShapeType="1"/>
          </p:cNvSpPr>
          <p:nvPr/>
        </p:nvSpPr>
        <p:spPr bwMode="auto">
          <a:xfrm>
            <a:off x="2276475" y="1014413"/>
            <a:ext cx="0" cy="457200"/>
          </a:xfrm>
          <a:prstGeom prst="line">
            <a:avLst/>
          </a:prstGeom>
          <a:noFill/>
          <a:ln w="28575">
            <a:solidFill>
              <a:srgbClr val="4F99E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51" name="Text Box 15"/>
          <p:cNvSpPr txBox="1"/>
          <p:nvPr/>
        </p:nvSpPr>
        <p:spPr>
          <a:xfrm>
            <a:off x="895350" y="3476625"/>
            <a:ext cx="7696200" cy="107632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3200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S  : a b a b c a b c a c b a b 	</a:t>
            </a:r>
            <a:endParaRPr lang="en-US" altLang="zh-CN" sz="3200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/>
            <a:r>
              <a:rPr lang="en-US" altLang="zh-CN" sz="3200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  :    a b c</a:t>
            </a:r>
            <a:endParaRPr lang="en-US" altLang="zh-CN" sz="3200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56752" name="Line 16"/>
          <p:cNvSpPr>
            <a:spLocks noChangeShapeType="1"/>
          </p:cNvSpPr>
          <p:nvPr/>
        </p:nvSpPr>
        <p:spPr bwMode="auto">
          <a:xfrm>
            <a:off x="1973263" y="3070225"/>
            <a:ext cx="0" cy="4572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53" name="Line 17"/>
          <p:cNvSpPr>
            <a:spLocks noChangeShapeType="1"/>
          </p:cNvSpPr>
          <p:nvPr/>
        </p:nvSpPr>
        <p:spPr bwMode="auto">
          <a:xfrm flipV="1">
            <a:off x="2051050" y="4437063"/>
            <a:ext cx="0" cy="457200"/>
          </a:xfrm>
          <a:prstGeom prst="line">
            <a:avLst/>
          </a:prstGeom>
          <a:noFill/>
          <a:ln w="28575">
            <a:solidFill>
              <a:srgbClr val="4F99E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54" name="Text Box 18"/>
          <p:cNvSpPr txBox="1"/>
          <p:nvPr/>
        </p:nvSpPr>
        <p:spPr>
          <a:xfrm>
            <a:off x="895350" y="5080000"/>
            <a:ext cx="5257800" cy="107632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3200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S  : a b a b c a b c a c b a b</a:t>
            </a:r>
            <a:endParaRPr lang="en-US" altLang="zh-CN" sz="3200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eaLnBrk="0" hangingPunct="0"/>
            <a:r>
              <a:rPr lang="en-US" altLang="zh-CN" sz="3200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  :       a b c</a:t>
            </a:r>
            <a:endParaRPr lang="en-US" altLang="zh-CN" sz="3200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56755" name="Line 19"/>
          <p:cNvSpPr>
            <a:spLocks noChangeShapeType="1"/>
          </p:cNvSpPr>
          <p:nvPr/>
        </p:nvSpPr>
        <p:spPr bwMode="auto">
          <a:xfrm>
            <a:off x="2289175" y="47752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56" name="Line 20"/>
          <p:cNvSpPr>
            <a:spLocks noChangeShapeType="1"/>
          </p:cNvSpPr>
          <p:nvPr/>
        </p:nvSpPr>
        <p:spPr bwMode="auto">
          <a:xfrm>
            <a:off x="2593975" y="47752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57" name="Line 21"/>
          <p:cNvSpPr>
            <a:spLocks noChangeShapeType="1"/>
          </p:cNvSpPr>
          <p:nvPr/>
        </p:nvSpPr>
        <p:spPr bwMode="auto">
          <a:xfrm>
            <a:off x="3203575" y="47752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58" name="Line 22"/>
          <p:cNvSpPr>
            <a:spLocks noChangeShapeType="1"/>
          </p:cNvSpPr>
          <p:nvPr/>
        </p:nvSpPr>
        <p:spPr bwMode="auto">
          <a:xfrm flipV="1">
            <a:off x="2343150" y="6092825"/>
            <a:ext cx="0" cy="457200"/>
          </a:xfrm>
          <a:prstGeom prst="line">
            <a:avLst/>
          </a:prstGeom>
          <a:noFill/>
          <a:ln w="28575">
            <a:solidFill>
              <a:srgbClr val="4F99E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59" name="Line 23"/>
          <p:cNvSpPr>
            <a:spLocks noChangeShapeType="1"/>
          </p:cNvSpPr>
          <p:nvPr/>
        </p:nvSpPr>
        <p:spPr bwMode="auto">
          <a:xfrm flipV="1">
            <a:off x="2647950" y="6092825"/>
            <a:ext cx="0" cy="457200"/>
          </a:xfrm>
          <a:prstGeom prst="line">
            <a:avLst/>
          </a:prstGeom>
          <a:noFill/>
          <a:ln w="28575">
            <a:solidFill>
              <a:srgbClr val="4F99E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60" name="Line 24"/>
          <p:cNvSpPr>
            <a:spLocks noChangeShapeType="1"/>
          </p:cNvSpPr>
          <p:nvPr/>
        </p:nvSpPr>
        <p:spPr bwMode="auto">
          <a:xfrm flipV="1">
            <a:off x="3257550" y="6092825"/>
            <a:ext cx="0" cy="457200"/>
          </a:xfrm>
          <a:prstGeom prst="line">
            <a:avLst/>
          </a:prstGeom>
          <a:noFill/>
          <a:ln w="28575">
            <a:solidFill>
              <a:srgbClr val="4F99E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61" name="AutoShape 25"/>
          <p:cNvSpPr>
            <a:spLocks noChangeArrowheads="1"/>
          </p:cNvSpPr>
          <p:nvPr/>
        </p:nvSpPr>
        <p:spPr bwMode="auto">
          <a:xfrm>
            <a:off x="2886075" y="2371725"/>
            <a:ext cx="2743200" cy="609600"/>
          </a:xfrm>
          <a:prstGeom prst="wedgeEllipseCallout">
            <a:avLst>
              <a:gd name="adj1" fmla="val -69097"/>
              <a:gd name="adj2" fmla="val 158593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指针回溯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62" name="Line 26"/>
          <p:cNvSpPr>
            <a:spLocks noChangeShapeType="1"/>
          </p:cNvSpPr>
          <p:nvPr/>
        </p:nvSpPr>
        <p:spPr bwMode="auto">
          <a:xfrm>
            <a:off x="2898775" y="47752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6763" name="Line 27"/>
          <p:cNvSpPr>
            <a:spLocks noChangeShapeType="1"/>
          </p:cNvSpPr>
          <p:nvPr/>
        </p:nvSpPr>
        <p:spPr bwMode="auto">
          <a:xfrm flipV="1">
            <a:off x="2952750" y="6092825"/>
            <a:ext cx="0" cy="457200"/>
          </a:xfrm>
          <a:prstGeom prst="line">
            <a:avLst/>
          </a:prstGeom>
          <a:noFill/>
          <a:ln w="28575">
            <a:solidFill>
              <a:srgbClr val="4F99E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602" name="Rectangle 29"/>
          <p:cNvSpPr>
            <a:spLocks noChangeArrowheads="1"/>
          </p:cNvSpPr>
          <p:nvPr/>
        </p:nvSpPr>
        <p:spPr bwMode="auto">
          <a:xfrm>
            <a:off x="915988" y="236538"/>
            <a:ext cx="35242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674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66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67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674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66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67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5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5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5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67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66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675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67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66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67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676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66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676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56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56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56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56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51" grpId="0"/>
      <p:bldP spid="756754" grpId="0"/>
      <p:bldP spid="75676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3668" name="Rectangle 4"/>
          <p:cNvSpPr>
            <a:spLocks noChangeArrowheads="1"/>
          </p:cNvSpPr>
          <p:nvPr/>
        </p:nvSpPr>
        <p:spPr bwMode="auto">
          <a:xfrm>
            <a:off x="582613" y="2319338"/>
            <a:ext cx="6132513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将主串的第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个字符和模式的第一个字符比较，若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相等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，继续逐个比较后续字符；若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不等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，从主串的下一字符起，重新与模式的第一个字符比较。 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3669" name="Rectangle 5"/>
          <p:cNvSpPr>
            <a:spLocks noChangeArrowheads="1"/>
          </p:cNvSpPr>
          <p:nvPr/>
        </p:nvSpPr>
        <p:spPr bwMode="auto">
          <a:xfrm>
            <a:off x="646113" y="3635375"/>
            <a:ext cx="5576888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直到主串的一个连续子串字符序列与模式相等 。返回值为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匹配的子序列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第一个字符的序号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，即匹配成功。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866775" y="211138"/>
            <a:ext cx="35242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605" name="Rectangle 7"/>
          <p:cNvSpPr>
            <a:spLocks noChangeArrowheads="1"/>
          </p:cNvSpPr>
          <p:nvPr/>
        </p:nvSpPr>
        <p:spPr bwMode="auto">
          <a:xfrm>
            <a:off x="646113" y="1296988"/>
            <a:ext cx="3024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Index(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S,T,pos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 flipV="1">
            <a:off x="646113" y="6013450"/>
            <a:ext cx="4968875" cy="0"/>
          </a:xfrm>
          <a:prstGeom prst="line">
            <a:avLst/>
          </a:prstGeom>
          <a:ln>
            <a:solidFill>
              <a:srgbClr val="F8300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118" name="组合 20"/>
          <p:cNvGrpSpPr/>
          <p:nvPr/>
        </p:nvGrpSpPr>
        <p:grpSpPr>
          <a:xfrm>
            <a:off x="5435600" y="3090863"/>
            <a:ext cx="3573463" cy="2974975"/>
            <a:chOff x="4790440" y="2492896"/>
            <a:chExt cx="4299925" cy="3579208"/>
          </a:xfrm>
        </p:grpSpPr>
        <p:sp>
          <p:nvSpPr>
            <p:cNvPr id="7" name="Freeform 5"/>
            <p:cNvSpPr/>
            <p:nvPr/>
          </p:nvSpPr>
          <p:spPr bwMode="auto">
            <a:xfrm>
              <a:off x="6821014" y="4840199"/>
              <a:ext cx="179561" cy="311319"/>
            </a:xfrm>
            <a:custGeom>
              <a:avLst/>
              <a:gdLst>
                <a:gd name="T0" fmla="*/ 18 w 24"/>
                <a:gd name="T1" fmla="*/ 12 h 33"/>
                <a:gd name="T2" fmla="*/ 24 w 24"/>
                <a:gd name="T3" fmla="*/ 12 h 33"/>
                <a:gd name="T4" fmla="*/ 12 w 24"/>
                <a:gd name="T5" fmla="*/ 0 h 33"/>
                <a:gd name="T6" fmla="*/ 0 w 24"/>
                <a:gd name="T7" fmla="*/ 12 h 33"/>
                <a:gd name="T8" fmla="*/ 6 w 24"/>
                <a:gd name="T9" fmla="*/ 12 h 33"/>
                <a:gd name="T10" fmla="*/ 6 w 24"/>
                <a:gd name="T11" fmla="*/ 27 h 33"/>
                <a:gd name="T12" fmla="*/ 6 w 24"/>
                <a:gd name="T13" fmla="*/ 27 h 33"/>
                <a:gd name="T14" fmla="*/ 12 w 24"/>
                <a:gd name="T15" fmla="*/ 33 h 33"/>
                <a:gd name="T16" fmla="*/ 18 w 24"/>
                <a:gd name="T17" fmla="*/ 27 h 33"/>
                <a:gd name="T18" fmla="*/ 18 w 24"/>
                <a:gd name="T19" fmla="*/ 27 h 33"/>
                <a:gd name="T20" fmla="*/ 18 w 24"/>
                <a:gd name="T21" fmla="*/ 27 h 33"/>
                <a:gd name="T22" fmla="*/ 18 w 24"/>
                <a:gd name="T23" fmla="*/ 1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33">
                  <a:moveTo>
                    <a:pt x="18" y="12"/>
                  </a:moveTo>
                  <a:cubicBezTo>
                    <a:pt x="24" y="12"/>
                    <a:pt x="24" y="12"/>
                    <a:pt x="24" y="1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30"/>
                    <a:pt x="9" y="33"/>
                    <a:pt x="12" y="33"/>
                  </a:cubicBezTo>
                  <a:cubicBezTo>
                    <a:pt x="16" y="33"/>
                    <a:pt x="18" y="30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7"/>
                    <a:pt x="18" y="27"/>
                  </a:cubicBezTo>
                  <a:lnTo>
                    <a:pt x="18" y="12"/>
                  </a:lnTo>
                  <a:close/>
                </a:path>
              </a:pathLst>
            </a:custGeom>
            <a:solidFill>
              <a:srgbClr val="F83003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6872589" y="5000633"/>
              <a:ext cx="179561" cy="313228"/>
            </a:xfrm>
            <a:custGeom>
              <a:avLst/>
              <a:gdLst>
                <a:gd name="T0" fmla="*/ 14 w 24"/>
                <a:gd name="T1" fmla="*/ 10 h 33"/>
                <a:gd name="T2" fmla="*/ 14 w 24"/>
                <a:gd name="T3" fmla="*/ 0 h 33"/>
                <a:gd name="T4" fmla="*/ 18 w 24"/>
                <a:gd name="T5" fmla="*/ 6 h 33"/>
                <a:gd name="T6" fmla="*/ 18 w 24"/>
                <a:gd name="T7" fmla="*/ 21 h 33"/>
                <a:gd name="T8" fmla="*/ 24 w 24"/>
                <a:gd name="T9" fmla="*/ 21 h 33"/>
                <a:gd name="T10" fmla="*/ 12 w 24"/>
                <a:gd name="T11" fmla="*/ 33 h 33"/>
                <a:gd name="T12" fmla="*/ 0 w 24"/>
                <a:gd name="T13" fmla="*/ 21 h 33"/>
                <a:gd name="T14" fmla="*/ 6 w 24"/>
                <a:gd name="T15" fmla="*/ 21 h 33"/>
                <a:gd name="T16" fmla="*/ 6 w 24"/>
                <a:gd name="T17" fmla="*/ 19 h 33"/>
                <a:gd name="T18" fmla="*/ 14 w 24"/>
                <a:gd name="T19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33">
                  <a:moveTo>
                    <a:pt x="14" y="1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6" y="1"/>
                    <a:pt x="18" y="3"/>
                    <a:pt x="18" y="6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10" y="18"/>
                    <a:pt x="14" y="14"/>
                    <a:pt x="14" y="10"/>
                  </a:cubicBezTo>
                  <a:close/>
                </a:path>
              </a:pathLst>
            </a:custGeom>
            <a:solidFill>
              <a:srgbClr val="EBAC07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6821014" y="3306526"/>
              <a:ext cx="179561" cy="301769"/>
            </a:xfrm>
            <a:custGeom>
              <a:avLst/>
              <a:gdLst>
                <a:gd name="T0" fmla="*/ 18 w 24"/>
                <a:gd name="T1" fmla="*/ 12 h 32"/>
                <a:gd name="T2" fmla="*/ 24 w 24"/>
                <a:gd name="T3" fmla="*/ 12 h 32"/>
                <a:gd name="T4" fmla="*/ 12 w 24"/>
                <a:gd name="T5" fmla="*/ 0 h 32"/>
                <a:gd name="T6" fmla="*/ 0 w 24"/>
                <a:gd name="T7" fmla="*/ 12 h 32"/>
                <a:gd name="T8" fmla="*/ 6 w 24"/>
                <a:gd name="T9" fmla="*/ 12 h 32"/>
                <a:gd name="T10" fmla="*/ 6 w 24"/>
                <a:gd name="T11" fmla="*/ 26 h 32"/>
                <a:gd name="T12" fmla="*/ 6 w 24"/>
                <a:gd name="T13" fmla="*/ 26 h 32"/>
                <a:gd name="T14" fmla="*/ 12 w 24"/>
                <a:gd name="T15" fmla="*/ 32 h 32"/>
                <a:gd name="T16" fmla="*/ 18 w 24"/>
                <a:gd name="T17" fmla="*/ 26 h 32"/>
                <a:gd name="T18" fmla="*/ 18 w 24"/>
                <a:gd name="T19" fmla="*/ 26 h 32"/>
                <a:gd name="T20" fmla="*/ 18 w 24"/>
                <a:gd name="T21" fmla="*/ 26 h 32"/>
                <a:gd name="T22" fmla="*/ 18 w 24"/>
                <a:gd name="T23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32">
                  <a:moveTo>
                    <a:pt x="18" y="12"/>
                  </a:moveTo>
                  <a:cubicBezTo>
                    <a:pt x="24" y="12"/>
                    <a:pt x="24" y="12"/>
                    <a:pt x="24" y="1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30"/>
                    <a:pt x="9" y="32"/>
                    <a:pt x="12" y="32"/>
                  </a:cubicBezTo>
                  <a:cubicBezTo>
                    <a:pt x="16" y="32"/>
                    <a:pt x="18" y="30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lnTo>
                    <a:pt x="18" y="12"/>
                  </a:lnTo>
                  <a:close/>
                </a:path>
              </a:pathLst>
            </a:custGeom>
            <a:solidFill>
              <a:srgbClr val="EBAC07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6872589" y="3466960"/>
              <a:ext cx="179561" cy="301769"/>
            </a:xfrm>
            <a:custGeom>
              <a:avLst/>
              <a:gdLst>
                <a:gd name="T0" fmla="*/ 14 w 24"/>
                <a:gd name="T1" fmla="*/ 10 h 32"/>
                <a:gd name="T2" fmla="*/ 14 w 24"/>
                <a:gd name="T3" fmla="*/ 0 h 32"/>
                <a:gd name="T4" fmla="*/ 18 w 24"/>
                <a:gd name="T5" fmla="*/ 6 h 32"/>
                <a:gd name="T6" fmla="*/ 18 w 24"/>
                <a:gd name="T7" fmla="*/ 20 h 32"/>
                <a:gd name="T8" fmla="*/ 24 w 24"/>
                <a:gd name="T9" fmla="*/ 20 h 32"/>
                <a:gd name="T10" fmla="*/ 12 w 24"/>
                <a:gd name="T11" fmla="*/ 32 h 32"/>
                <a:gd name="T12" fmla="*/ 0 w 24"/>
                <a:gd name="T13" fmla="*/ 20 h 32"/>
                <a:gd name="T14" fmla="*/ 6 w 24"/>
                <a:gd name="T15" fmla="*/ 20 h 32"/>
                <a:gd name="T16" fmla="*/ 6 w 24"/>
                <a:gd name="T17" fmla="*/ 18 h 32"/>
                <a:gd name="T18" fmla="*/ 14 w 24"/>
                <a:gd name="T19" fmla="*/ 1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32">
                  <a:moveTo>
                    <a:pt x="14" y="1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6" y="0"/>
                    <a:pt x="18" y="3"/>
                    <a:pt x="18" y="6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10" y="18"/>
                    <a:pt x="14" y="14"/>
                    <a:pt x="14" y="10"/>
                  </a:cubicBezTo>
                  <a:close/>
                </a:path>
              </a:pathLst>
            </a:custGeom>
            <a:solidFill>
              <a:srgbClr val="A2B93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6482902" y="2492896"/>
              <a:ext cx="958935" cy="603538"/>
            </a:xfrm>
            <a:custGeom>
              <a:avLst/>
              <a:gdLst>
                <a:gd name="T0" fmla="*/ 127 w 128"/>
                <a:gd name="T1" fmla="*/ 59 h 64"/>
                <a:gd name="T2" fmla="*/ 127 w 128"/>
                <a:gd name="T3" fmla="*/ 59 h 64"/>
                <a:gd name="T4" fmla="*/ 72 w 128"/>
                <a:gd name="T5" fmla="*/ 4 h 64"/>
                <a:gd name="T6" fmla="*/ 71 w 128"/>
                <a:gd name="T7" fmla="*/ 2 h 64"/>
                <a:gd name="T8" fmla="*/ 64 w 128"/>
                <a:gd name="T9" fmla="*/ 0 h 64"/>
                <a:gd name="T10" fmla="*/ 57 w 128"/>
                <a:gd name="T11" fmla="*/ 2 h 64"/>
                <a:gd name="T12" fmla="*/ 55 w 128"/>
                <a:gd name="T13" fmla="*/ 4 h 64"/>
                <a:gd name="T14" fmla="*/ 0 w 128"/>
                <a:gd name="T15" fmla="*/ 59 h 64"/>
                <a:gd name="T16" fmla="*/ 0 w 128"/>
                <a:gd name="T17" fmla="*/ 59 h 64"/>
                <a:gd name="T18" fmla="*/ 0 w 128"/>
                <a:gd name="T19" fmla="*/ 61 h 64"/>
                <a:gd name="T20" fmla="*/ 3 w 128"/>
                <a:gd name="T21" fmla="*/ 64 h 64"/>
                <a:gd name="T22" fmla="*/ 124 w 128"/>
                <a:gd name="T23" fmla="*/ 64 h 64"/>
                <a:gd name="T24" fmla="*/ 128 w 128"/>
                <a:gd name="T25" fmla="*/ 61 h 64"/>
                <a:gd name="T26" fmla="*/ 127 w 128"/>
                <a:gd name="T27" fmla="*/ 59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8" h="64">
                  <a:moveTo>
                    <a:pt x="127" y="59"/>
                  </a:moveTo>
                  <a:cubicBezTo>
                    <a:pt x="127" y="59"/>
                    <a:pt x="127" y="59"/>
                    <a:pt x="127" y="59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3"/>
                    <a:pt x="71" y="3"/>
                    <a:pt x="71" y="2"/>
                  </a:cubicBezTo>
                  <a:cubicBezTo>
                    <a:pt x="69" y="1"/>
                    <a:pt x="66" y="0"/>
                    <a:pt x="64" y="0"/>
                  </a:cubicBezTo>
                  <a:cubicBezTo>
                    <a:pt x="61" y="0"/>
                    <a:pt x="59" y="1"/>
                    <a:pt x="57" y="2"/>
                  </a:cubicBezTo>
                  <a:cubicBezTo>
                    <a:pt x="56" y="3"/>
                    <a:pt x="56" y="3"/>
                    <a:pt x="55" y="4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0"/>
                    <a:pt x="0" y="60"/>
                    <a:pt x="0" y="61"/>
                  </a:cubicBezTo>
                  <a:cubicBezTo>
                    <a:pt x="0" y="63"/>
                    <a:pt x="1" y="64"/>
                    <a:pt x="3" y="64"/>
                  </a:cubicBezTo>
                  <a:cubicBezTo>
                    <a:pt x="124" y="64"/>
                    <a:pt x="124" y="64"/>
                    <a:pt x="124" y="64"/>
                  </a:cubicBezTo>
                  <a:cubicBezTo>
                    <a:pt x="126" y="64"/>
                    <a:pt x="128" y="63"/>
                    <a:pt x="128" y="61"/>
                  </a:cubicBezTo>
                  <a:cubicBezTo>
                    <a:pt x="128" y="60"/>
                    <a:pt x="127" y="60"/>
                    <a:pt x="127" y="59"/>
                  </a:cubicBezTo>
                  <a:close/>
                </a:path>
              </a:pathLst>
            </a:custGeom>
            <a:solidFill>
              <a:srgbClr val="A2B932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569813" y="3975001"/>
              <a:ext cx="2741179" cy="622637"/>
            </a:xfrm>
            <a:custGeom>
              <a:avLst/>
              <a:gdLst>
                <a:gd name="T0" fmla="*/ 365 w 366"/>
                <a:gd name="T1" fmla="*/ 61 h 66"/>
                <a:gd name="T2" fmla="*/ 365 w 366"/>
                <a:gd name="T3" fmla="*/ 61 h 66"/>
                <a:gd name="T4" fmla="*/ 306 w 366"/>
                <a:gd name="T5" fmla="*/ 2 h 66"/>
                <a:gd name="T6" fmla="*/ 303 w 366"/>
                <a:gd name="T7" fmla="*/ 0 h 66"/>
                <a:gd name="T8" fmla="*/ 184 w 366"/>
                <a:gd name="T9" fmla="*/ 0 h 66"/>
                <a:gd name="T10" fmla="*/ 182 w 366"/>
                <a:gd name="T11" fmla="*/ 0 h 66"/>
                <a:gd name="T12" fmla="*/ 62 w 366"/>
                <a:gd name="T13" fmla="*/ 0 h 66"/>
                <a:gd name="T14" fmla="*/ 60 w 366"/>
                <a:gd name="T15" fmla="*/ 2 h 66"/>
                <a:gd name="T16" fmla="*/ 1 w 366"/>
                <a:gd name="T17" fmla="*/ 61 h 66"/>
                <a:gd name="T18" fmla="*/ 1 w 366"/>
                <a:gd name="T19" fmla="*/ 61 h 66"/>
                <a:gd name="T20" fmla="*/ 0 w 366"/>
                <a:gd name="T21" fmla="*/ 61 h 66"/>
                <a:gd name="T22" fmla="*/ 0 w 366"/>
                <a:gd name="T23" fmla="*/ 61 h 66"/>
                <a:gd name="T24" fmla="*/ 0 w 366"/>
                <a:gd name="T25" fmla="*/ 63 h 66"/>
                <a:gd name="T26" fmla="*/ 3 w 366"/>
                <a:gd name="T27" fmla="*/ 66 h 66"/>
                <a:gd name="T28" fmla="*/ 122 w 366"/>
                <a:gd name="T29" fmla="*/ 66 h 66"/>
                <a:gd name="T30" fmla="*/ 124 w 366"/>
                <a:gd name="T31" fmla="*/ 66 h 66"/>
                <a:gd name="T32" fmla="*/ 241 w 366"/>
                <a:gd name="T33" fmla="*/ 66 h 66"/>
                <a:gd name="T34" fmla="*/ 244 w 366"/>
                <a:gd name="T35" fmla="*/ 66 h 66"/>
                <a:gd name="T36" fmla="*/ 362 w 366"/>
                <a:gd name="T37" fmla="*/ 66 h 66"/>
                <a:gd name="T38" fmla="*/ 366 w 366"/>
                <a:gd name="T39" fmla="*/ 63 h 66"/>
                <a:gd name="T40" fmla="*/ 365 w 366"/>
                <a:gd name="T41" fmla="*/ 61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66" h="66">
                  <a:moveTo>
                    <a:pt x="365" y="61"/>
                  </a:moveTo>
                  <a:cubicBezTo>
                    <a:pt x="365" y="61"/>
                    <a:pt x="365" y="61"/>
                    <a:pt x="365" y="61"/>
                  </a:cubicBezTo>
                  <a:cubicBezTo>
                    <a:pt x="306" y="2"/>
                    <a:pt x="306" y="2"/>
                    <a:pt x="306" y="2"/>
                  </a:cubicBezTo>
                  <a:cubicBezTo>
                    <a:pt x="305" y="1"/>
                    <a:pt x="304" y="0"/>
                    <a:pt x="303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1" y="0"/>
                    <a:pt x="60" y="1"/>
                    <a:pt x="60" y="2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0" y="62"/>
                    <a:pt x="0" y="63"/>
                  </a:cubicBezTo>
                  <a:cubicBezTo>
                    <a:pt x="0" y="65"/>
                    <a:pt x="1" y="66"/>
                    <a:pt x="3" y="66"/>
                  </a:cubicBezTo>
                  <a:cubicBezTo>
                    <a:pt x="122" y="66"/>
                    <a:pt x="122" y="66"/>
                    <a:pt x="122" y="66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4" y="66"/>
                    <a:pt x="244" y="66"/>
                    <a:pt x="244" y="66"/>
                  </a:cubicBezTo>
                  <a:cubicBezTo>
                    <a:pt x="362" y="66"/>
                    <a:pt x="362" y="66"/>
                    <a:pt x="362" y="66"/>
                  </a:cubicBezTo>
                  <a:cubicBezTo>
                    <a:pt x="364" y="66"/>
                    <a:pt x="366" y="65"/>
                    <a:pt x="366" y="63"/>
                  </a:cubicBezTo>
                  <a:cubicBezTo>
                    <a:pt x="366" y="62"/>
                    <a:pt x="365" y="61"/>
                    <a:pt x="365" y="61"/>
                  </a:cubicBezTo>
                  <a:close/>
                </a:path>
              </a:pathLst>
            </a:custGeom>
            <a:solidFill>
              <a:srgbClr val="EBAC07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4790440" y="5495305"/>
              <a:ext cx="4299925" cy="576799"/>
            </a:xfrm>
            <a:custGeom>
              <a:avLst/>
              <a:gdLst>
                <a:gd name="T0" fmla="*/ 574 w 574"/>
                <a:gd name="T1" fmla="*/ 49 h 61"/>
                <a:gd name="T2" fmla="*/ 573 w 574"/>
                <a:gd name="T3" fmla="*/ 48 h 61"/>
                <a:gd name="T4" fmla="*/ 573 w 574"/>
                <a:gd name="T5" fmla="*/ 47 h 61"/>
                <a:gd name="T6" fmla="*/ 573 w 574"/>
                <a:gd name="T7" fmla="*/ 46 h 61"/>
                <a:gd name="T8" fmla="*/ 572 w 574"/>
                <a:gd name="T9" fmla="*/ 46 h 61"/>
                <a:gd name="T10" fmla="*/ 572 w 574"/>
                <a:gd name="T11" fmla="*/ 45 h 61"/>
                <a:gd name="T12" fmla="*/ 571 w 574"/>
                <a:gd name="T13" fmla="*/ 44 h 61"/>
                <a:gd name="T14" fmla="*/ 529 w 574"/>
                <a:gd name="T15" fmla="*/ 1 h 61"/>
                <a:gd name="T16" fmla="*/ 407 w 574"/>
                <a:gd name="T17" fmla="*/ 0 h 61"/>
                <a:gd name="T18" fmla="*/ 288 w 574"/>
                <a:gd name="T19" fmla="*/ 0 h 61"/>
                <a:gd name="T20" fmla="*/ 169 w 574"/>
                <a:gd name="T21" fmla="*/ 0 h 61"/>
                <a:gd name="T22" fmla="*/ 48 w 574"/>
                <a:gd name="T23" fmla="*/ 0 h 61"/>
                <a:gd name="T24" fmla="*/ 4 w 574"/>
                <a:gd name="T25" fmla="*/ 43 h 61"/>
                <a:gd name="T26" fmla="*/ 10 w 574"/>
                <a:gd name="T27" fmla="*/ 61 h 61"/>
                <a:gd name="T28" fmla="*/ 10 w 574"/>
                <a:gd name="T29" fmla="*/ 61 h 61"/>
                <a:gd name="T30" fmla="*/ 402 w 574"/>
                <a:gd name="T31" fmla="*/ 61 h 61"/>
                <a:gd name="T32" fmla="*/ 564 w 574"/>
                <a:gd name="T33" fmla="*/ 61 h 61"/>
                <a:gd name="T34" fmla="*/ 565 w 574"/>
                <a:gd name="T35" fmla="*/ 61 h 61"/>
                <a:gd name="T36" fmla="*/ 566 w 574"/>
                <a:gd name="T37" fmla="*/ 60 h 61"/>
                <a:gd name="T38" fmla="*/ 567 w 574"/>
                <a:gd name="T39" fmla="*/ 60 h 61"/>
                <a:gd name="T40" fmla="*/ 568 w 574"/>
                <a:gd name="T41" fmla="*/ 60 h 61"/>
                <a:gd name="T42" fmla="*/ 569 w 574"/>
                <a:gd name="T43" fmla="*/ 59 h 61"/>
                <a:gd name="T44" fmla="*/ 570 w 574"/>
                <a:gd name="T45" fmla="*/ 59 h 61"/>
                <a:gd name="T46" fmla="*/ 571 w 574"/>
                <a:gd name="T47" fmla="*/ 58 h 61"/>
                <a:gd name="T48" fmla="*/ 571 w 574"/>
                <a:gd name="T49" fmla="*/ 58 h 61"/>
                <a:gd name="T50" fmla="*/ 572 w 574"/>
                <a:gd name="T51" fmla="*/ 57 h 61"/>
                <a:gd name="T52" fmla="*/ 572 w 574"/>
                <a:gd name="T53" fmla="*/ 56 h 61"/>
                <a:gd name="T54" fmla="*/ 573 w 574"/>
                <a:gd name="T55" fmla="*/ 55 h 61"/>
                <a:gd name="T56" fmla="*/ 573 w 574"/>
                <a:gd name="T57" fmla="*/ 54 h 61"/>
                <a:gd name="T58" fmla="*/ 574 w 574"/>
                <a:gd name="T59" fmla="*/ 53 h 61"/>
                <a:gd name="T60" fmla="*/ 574 w 574"/>
                <a:gd name="T61" fmla="*/ 52 h 61"/>
                <a:gd name="T62" fmla="*/ 574 w 574"/>
                <a:gd name="T63" fmla="*/ 5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4" h="61">
                  <a:moveTo>
                    <a:pt x="574" y="50"/>
                  </a:moveTo>
                  <a:cubicBezTo>
                    <a:pt x="574" y="50"/>
                    <a:pt x="574" y="49"/>
                    <a:pt x="574" y="49"/>
                  </a:cubicBezTo>
                  <a:cubicBezTo>
                    <a:pt x="574" y="49"/>
                    <a:pt x="574" y="49"/>
                    <a:pt x="574" y="49"/>
                  </a:cubicBezTo>
                  <a:cubicBezTo>
                    <a:pt x="574" y="49"/>
                    <a:pt x="574" y="48"/>
                    <a:pt x="573" y="48"/>
                  </a:cubicBezTo>
                  <a:cubicBezTo>
                    <a:pt x="573" y="48"/>
                    <a:pt x="573" y="48"/>
                    <a:pt x="573" y="48"/>
                  </a:cubicBezTo>
                  <a:cubicBezTo>
                    <a:pt x="573" y="48"/>
                    <a:pt x="573" y="47"/>
                    <a:pt x="573" y="47"/>
                  </a:cubicBezTo>
                  <a:cubicBezTo>
                    <a:pt x="573" y="47"/>
                    <a:pt x="573" y="47"/>
                    <a:pt x="573" y="47"/>
                  </a:cubicBezTo>
                  <a:cubicBezTo>
                    <a:pt x="573" y="47"/>
                    <a:pt x="573" y="47"/>
                    <a:pt x="573" y="46"/>
                  </a:cubicBezTo>
                  <a:cubicBezTo>
                    <a:pt x="573" y="46"/>
                    <a:pt x="573" y="46"/>
                    <a:pt x="573" y="46"/>
                  </a:cubicBezTo>
                  <a:cubicBezTo>
                    <a:pt x="573" y="46"/>
                    <a:pt x="572" y="46"/>
                    <a:pt x="572" y="46"/>
                  </a:cubicBezTo>
                  <a:cubicBezTo>
                    <a:pt x="572" y="45"/>
                    <a:pt x="572" y="45"/>
                    <a:pt x="572" y="45"/>
                  </a:cubicBezTo>
                  <a:cubicBezTo>
                    <a:pt x="572" y="45"/>
                    <a:pt x="572" y="45"/>
                    <a:pt x="572" y="45"/>
                  </a:cubicBezTo>
                  <a:cubicBezTo>
                    <a:pt x="572" y="45"/>
                    <a:pt x="572" y="44"/>
                    <a:pt x="572" y="44"/>
                  </a:cubicBezTo>
                  <a:cubicBezTo>
                    <a:pt x="571" y="44"/>
                    <a:pt x="571" y="44"/>
                    <a:pt x="571" y="44"/>
                  </a:cubicBezTo>
                  <a:cubicBezTo>
                    <a:pt x="571" y="44"/>
                    <a:pt x="571" y="44"/>
                    <a:pt x="571" y="44"/>
                  </a:cubicBezTo>
                  <a:cubicBezTo>
                    <a:pt x="529" y="1"/>
                    <a:pt x="529" y="1"/>
                    <a:pt x="529" y="1"/>
                  </a:cubicBezTo>
                  <a:cubicBezTo>
                    <a:pt x="528" y="1"/>
                    <a:pt x="527" y="0"/>
                    <a:pt x="526" y="0"/>
                  </a:cubicBezTo>
                  <a:cubicBezTo>
                    <a:pt x="407" y="0"/>
                    <a:pt x="407" y="0"/>
                    <a:pt x="407" y="0"/>
                  </a:cubicBezTo>
                  <a:cubicBezTo>
                    <a:pt x="405" y="0"/>
                    <a:pt x="405" y="0"/>
                    <a:pt x="405" y="0"/>
                  </a:cubicBezTo>
                  <a:cubicBezTo>
                    <a:pt x="288" y="0"/>
                    <a:pt x="288" y="0"/>
                    <a:pt x="288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6" y="0"/>
                    <a:pt x="46" y="1"/>
                    <a:pt x="45" y="1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1" y="45"/>
                    <a:pt x="0" y="47"/>
                    <a:pt x="0" y="51"/>
                  </a:cubicBezTo>
                  <a:cubicBezTo>
                    <a:pt x="0" y="56"/>
                    <a:pt x="4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72" y="61"/>
                    <a:pt x="172" y="61"/>
                    <a:pt x="172" y="61"/>
                  </a:cubicBezTo>
                  <a:cubicBezTo>
                    <a:pt x="402" y="61"/>
                    <a:pt x="402" y="61"/>
                    <a:pt x="402" y="61"/>
                  </a:cubicBezTo>
                  <a:cubicBezTo>
                    <a:pt x="564" y="61"/>
                    <a:pt x="564" y="61"/>
                    <a:pt x="564" y="61"/>
                  </a:cubicBezTo>
                  <a:cubicBezTo>
                    <a:pt x="564" y="61"/>
                    <a:pt x="564" y="61"/>
                    <a:pt x="564" y="61"/>
                  </a:cubicBezTo>
                  <a:cubicBezTo>
                    <a:pt x="564" y="61"/>
                    <a:pt x="564" y="61"/>
                    <a:pt x="565" y="61"/>
                  </a:cubicBezTo>
                  <a:cubicBezTo>
                    <a:pt x="565" y="61"/>
                    <a:pt x="565" y="61"/>
                    <a:pt x="565" y="61"/>
                  </a:cubicBezTo>
                  <a:cubicBezTo>
                    <a:pt x="565" y="61"/>
                    <a:pt x="566" y="61"/>
                    <a:pt x="566" y="60"/>
                  </a:cubicBezTo>
                  <a:cubicBezTo>
                    <a:pt x="566" y="60"/>
                    <a:pt x="566" y="60"/>
                    <a:pt x="566" y="60"/>
                  </a:cubicBezTo>
                  <a:cubicBezTo>
                    <a:pt x="566" y="60"/>
                    <a:pt x="567" y="60"/>
                    <a:pt x="567" y="60"/>
                  </a:cubicBezTo>
                  <a:cubicBezTo>
                    <a:pt x="567" y="60"/>
                    <a:pt x="567" y="60"/>
                    <a:pt x="567" y="60"/>
                  </a:cubicBezTo>
                  <a:cubicBezTo>
                    <a:pt x="567" y="60"/>
                    <a:pt x="567" y="60"/>
                    <a:pt x="568" y="60"/>
                  </a:cubicBezTo>
                  <a:cubicBezTo>
                    <a:pt x="568" y="60"/>
                    <a:pt x="568" y="60"/>
                    <a:pt x="568" y="60"/>
                  </a:cubicBezTo>
                  <a:cubicBezTo>
                    <a:pt x="568" y="60"/>
                    <a:pt x="568" y="60"/>
                    <a:pt x="569" y="60"/>
                  </a:cubicBezTo>
                  <a:cubicBezTo>
                    <a:pt x="569" y="59"/>
                    <a:pt x="569" y="59"/>
                    <a:pt x="569" y="59"/>
                  </a:cubicBezTo>
                  <a:cubicBezTo>
                    <a:pt x="569" y="59"/>
                    <a:pt x="569" y="59"/>
                    <a:pt x="569" y="59"/>
                  </a:cubicBezTo>
                  <a:cubicBezTo>
                    <a:pt x="569" y="59"/>
                    <a:pt x="570" y="59"/>
                    <a:pt x="570" y="59"/>
                  </a:cubicBezTo>
                  <a:cubicBezTo>
                    <a:pt x="570" y="59"/>
                    <a:pt x="570" y="59"/>
                    <a:pt x="570" y="58"/>
                  </a:cubicBezTo>
                  <a:cubicBezTo>
                    <a:pt x="570" y="58"/>
                    <a:pt x="570" y="58"/>
                    <a:pt x="571" y="58"/>
                  </a:cubicBezTo>
                  <a:cubicBezTo>
                    <a:pt x="571" y="58"/>
                    <a:pt x="571" y="58"/>
                    <a:pt x="571" y="58"/>
                  </a:cubicBezTo>
                  <a:cubicBezTo>
                    <a:pt x="571" y="58"/>
                    <a:pt x="571" y="58"/>
                    <a:pt x="571" y="58"/>
                  </a:cubicBezTo>
                  <a:cubicBezTo>
                    <a:pt x="571" y="57"/>
                    <a:pt x="571" y="57"/>
                    <a:pt x="572" y="57"/>
                  </a:cubicBezTo>
                  <a:cubicBezTo>
                    <a:pt x="572" y="57"/>
                    <a:pt x="572" y="57"/>
                    <a:pt x="572" y="57"/>
                  </a:cubicBezTo>
                  <a:cubicBezTo>
                    <a:pt x="572" y="56"/>
                    <a:pt x="572" y="56"/>
                    <a:pt x="572" y="56"/>
                  </a:cubicBezTo>
                  <a:cubicBezTo>
                    <a:pt x="572" y="56"/>
                    <a:pt x="572" y="56"/>
                    <a:pt x="572" y="56"/>
                  </a:cubicBezTo>
                  <a:cubicBezTo>
                    <a:pt x="572" y="56"/>
                    <a:pt x="573" y="56"/>
                    <a:pt x="573" y="55"/>
                  </a:cubicBezTo>
                  <a:cubicBezTo>
                    <a:pt x="573" y="55"/>
                    <a:pt x="573" y="55"/>
                    <a:pt x="573" y="55"/>
                  </a:cubicBezTo>
                  <a:cubicBezTo>
                    <a:pt x="573" y="55"/>
                    <a:pt x="573" y="55"/>
                    <a:pt x="573" y="55"/>
                  </a:cubicBezTo>
                  <a:cubicBezTo>
                    <a:pt x="573" y="54"/>
                    <a:pt x="573" y="54"/>
                    <a:pt x="573" y="54"/>
                  </a:cubicBezTo>
                  <a:cubicBezTo>
                    <a:pt x="573" y="54"/>
                    <a:pt x="573" y="54"/>
                    <a:pt x="573" y="54"/>
                  </a:cubicBezTo>
                  <a:cubicBezTo>
                    <a:pt x="573" y="53"/>
                    <a:pt x="573" y="53"/>
                    <a:pt x="574" y="53"/>
                  </a:cubicBezTo>
                  <a:cubicBezTo>
                    <a:pt x="574" y="53"/>
                    <a:pt x="574" y="53"/>
                    <a:pt x="574" y="53"/>
                  </a:cubicBezTo>
                  <a:cubicBezTo>
                    <a:pt x="574" y="52"/>
                    <a:pt x="574" y="52"/>
                    <a:pt x="574" y="52"/>
                  </a:cubicBezTo>
                  <a:cubicBezTo>
                    <a:pt x="574" y="52"/>
                    <a:pt x="574" y="52"/>
                    <a:pt x="574" y="52"/>
                  </a:cubicBezTo>
                  <a:cubicBezTo>
                    <a:pt x="574" y="51"/>
                    <a:pt x="574" y="51"/>
                    <a:pt x="574" y="51"/>
                  </a:cubicBezTo>
                  <a:cubicBezTo>
                    <a:pt x="574" y="50"/>
                    <a:pt x="574" y="50"/>
                    <a:pt x="574" y="50"/>
                  </a:cubicBezTo>
                  <a:close/>
                </a:path>
              </a:pathLst>
            </a:custGeom>
            <a:solidFill>
              <a:srgbClr val="F83003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 flipH="1">
            <a:off x="628650" y="3565525"/>
            <a:ext cx="6594475" cy="0"/>
          </a:xfrm>
          <a:prstGeom prst="line">
            <a:avLst/>
          </a:prstGeom>
          <a:ln>
            <a:solidFill>
              <a:srgbClr val="A2B9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628650" y="4837113"/>
            <a:ext cx="6753225" cy="26988"/>
          </a:xfrm>
          <a:prstGeom prst="line">
            <a:avLst/>
          </a:prstGeom>
          <a:ln>
            <a:solidFill>
              <a:srgbClr val="EBAC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46113" y="5551488"/>
            <a:ext cx="4184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否则，匹配失败，返回值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5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8" grpId="0"/>
      <p:bldP spid="753669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 bwMode="auto">
          <a:xfrm>
            <a:off x="0" y="4570413"/>
            <a:ext cx="9144000" cy="2170113"/>
          </a:xfrm>
          <a:prstGeom prst="rect">
            <a:avLst/>
          </a:prstGeom>
          <a:solidFill>
            <a:srgbClr val="F6F6F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752644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3"/>
              </a:clrFrom>
              <a:clrTo>
                <a:srgbClr val="FCFEF3">
                  <a:alpha val="0"/>
                </a:srgbClr>
              </a:clrTo>
            </a:clrChange>
            <a:duotone>
              <a:prstClr val="black"/>
              <a:srgbClr val="EAEAE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26" y="4667009"/>
            <a:ext cx="6120682" cy="2060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5"/>
          <p:cNvSpPr txBox="1">
            <a:spLocks noChangeArrowheads="1"/>
          </p:cNvSpPr>
          <p:nvPr/>
        </p:nvSpPr>
        <p:spPr bwMode="auto">
          <a:xfrm>
            <a:off x="863600" y="833438"/>
            <a:ext cx="691197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 Index(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Sstring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S,Sstring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T,int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){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j=1;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while 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&lt;=S[ 0 ] &amp;&amp; j &lt;=T[ 0 ]){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if ( S[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]==T[ j ]) {++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++j; }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else{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=i-j+2;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j=1; }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if ( j&gt;T[ 0 ])   return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T[0];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else return 0;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628" name="Rectangle 6"/>
          <p:cNvSpPr>
            <a:spLocks noChangeArrowheads="1"/>
          </p:cNvSpPr>
          <p:nvPr/>
        </p:nvSpPr>
        <p:spPr bwMode="auto">
          <a:xfrm>
            <a:off x="768350" y="207963"/>
            <a:ext cx="46037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算法描述（算法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4.5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5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/>
        </p:nvSpPr>
        <p:spPr bwMode="auto">
          <a:xfrm>
            <a:off x="325438" y="2740025"/>
            <a:ext cx="8429625" cy="4000500"/>
          </a:xfrm>
          <a:prstGeom prst="rect">
            <a:avLst/>
          </a:prstGeom>
          <a:solidFill>
            <a:srgbClr val="F6F6F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7764" name="Rectangle 4"/>
          <p:cNvSpPr>
            <a:spLocks noChangeArrowheads="1"/>
          </p:cNvSpPr>
          <p:nvPr/>
        </p:nvSpPr>
        <p:spPr bwMode="auto">
          <a:xfrm>
            <a:off x="325438" y="2178050"/>
            <a:ext cx="8429625" cy="561975"/>
          </a:xfrm>
          <a:prstGeom prst="rect">
            <a:avLst/>
          </a:prstGeom>
          <a:solidFill>
            <a:srgbClr val="6C4C8F"/>
          </a:solidFill>
          <a:ln>
            <a:noFill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为主串长度，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为子串长度，最坏情况是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755650" y="201613"/>
            <a:ext cx="46037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算法时间复杂度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7766" name="Rectangle 6"/>
          <p:cNvSpPr>
            <a:spLocks noChangeArrowheads="1"/>
          </p:cNvSpPr>
          <p:nvPr/>
        </p:nvSpPr>
        <p:spPr bwMode="auto">
          <a:xfrm>
            <a:off x="539750" y="3074988"/>
            <a:ext cx="8001000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主串前面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n-m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个位置都部分匹配到子串的最后一位，即这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n-m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位各比较了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次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最后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位也各比较了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次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7767" name="Rectangle 7"/>
          <p:cNvSpPr>
            <a:spLocks noChangeArrowheads="1"/>
          </p:cNvSpPr>
          <p:nvPr/>
        </p:nvSpPr>
        <p:spPr bwMode="auto">
          <a:xfrm>
            <a:off x="560388" y="5186363"/>
            <a:ext cx="6719888" cy="1174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总次数为：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(n-m)*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m+m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＝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(n-m+1)*m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m&lt;&lt;n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，则算法复杂度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O(n*m)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654" name="Rectangle 8"/>
          <p:cNvSpPr>
            <a:spLocks noChangeArrowheads="1"/>
          </p:cNvSpPr>
          <p:nvPr/>
        </p:nvSpPr>
        <p:spPr bwMode="auto">
          <a:xfrm>
            <a:off x="381000" y="1023938"/>
            <a:ext cx="8374063" cy="914400"/>
          </a:xfrm>
          <a:prstGeom prst="rect">
            <a:avLst/>
          </a:prstGeom>
          <a:noFill/>
          <a:ln w="38100">
            <a:solidFill>
              <a:srgbClr val="6C4C8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例：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S=‘0000000001’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T=‘0001’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pos=1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25438" y="4854575"/>
            <a:ext cx="8429625" cy="1428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6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7766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6">
                                            <p:txEl>
                                              <p:charRg st="37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57766">
                                            <p:txEl>
                                              <p:charRg st="37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75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57764" grpId="0" animBg="1"/>
      <p:bldP spid="757766" grpId="0" build="p"/>
      <p:bldP spid="75776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3185" name="Picture 5" descr="d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075" y="3098800"/>
            <a:ext cx="2554288" cy="30956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8676" name="Rectangle 6"/>
          <p:cNvSpPr>
            <a:spLocks noChangeArrowheads="1"/>
          </p:cNvSpPr>
          <p:nvPr/>
        </p:nvSpPr>
        <p:spPr bwMode="auto">
          <a:xfrm>
            <a:off x="839788" y="169863"/>
            <a:ext cx="743426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Knuth Morris Pratt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）算法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677" name="Rectangle 7"/>
          <p:cNvSpPr>
            <a:spLocks noChangeArrowheads="1"/>
          </p:cNvSpPr>
          <p:nvPr/>
        </p:nvSpPr>
        <p:spPr bwMode="auto">
          <a:xfrm>
            <a:off x="1588" y="6284913"/>
            <a:ext cx="7770813" cy="457200"/>
          </a:xfrm>
          <a:prstGeom prst="rect">
            <a:avLst/>
          </a:prstGeom>
          <a:solidFill>
            <a:srgbClr val="4F99E2"/>
          </a:solidFill>
          <a:ln>
            <a:noFill/>
          </a:ln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678" name="Rectangle 8"/>
          <p:cNvSpPr>
            <a:spLocks noChangeArrowheads="1"/>
          </p:cNvSpPr>
          <p:nvPr/>
        </p:nvSpPr>
        <p:spPr bwMode="auto">
          <a:xfrm>
            <a:off x="179388" y="931863"/>
            <a:ext cx="6048375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《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计算机程序设计艺术 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卷 基本算法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》 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《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计算机程序设计艺术 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卷 半数值算法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》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《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计算机程序设计艺术 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卷 排序与查找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》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9318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275" y="2366963"/>
            <a:ext cx="3397250" cy="44656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 bwMode="auto">
          <a:xfrm>
            <a:off x="0" y="2393950"/>
            <a:ext cx="9144000" cy="3351213"/>
          </a:xfrm>
          <a:prstGeom prst="rect">
            <a:avLst/>
          </a:prstGeom>
          <a:solidFill>
            <a:srgbClr val="F6F6F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698" name="Rectangle 4"/>
          <p:cNvSpPr>
            <a:spLocks noChangeArrowheads="1"/>
          </p:cNvSpPr>
          <p:nvPr/>
        </p:nvSpPr>
        <p:spPr bwMode="auto">
          <a:xfrm>
            <a:off x="238125" y="987425"/>
            <a:ext cx="853440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利用已经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部分匹配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的结果而加快模式串的滑动速度？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且主串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的指针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不必回溯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！可提速到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n+m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600325" y="3052763"/>
            <a:ext cx="4419600" cy="1219200"/>
            <a:chOff x="1632" y="1200"/>
            <a:chExt cx="2784" cy="768"/>
          </a:xfrm>
        </p:grpSpPr>
        <p:sp>
          <p:nvSpPr>
            <p:cNvPr id="29700" name="Line 6"/>
            <p:cNvSpPr>
              <a:spLocks noChangeShapeType="1"/>
            </p:cNvSpPr>
            <p:nvPr/>
          </p:nvSpPr>
          <p:spPr bwMode="auto">
            <a:xfrm flipV="1">
              <a:off x="4416" y="120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01" name="Line 7"/>
            <p:cNvSpPr>
              <a:spLocks noChangeShapeType="1"/>
            </p:cNvSpPr>
            <p:nvPr/>
          </p:nvSpPr>
          <p:spPr bwMode="auto">
            <a:xfrm flipH="1">
              <a:off x="1632" y="1200"/>
              <a:ext cx="278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758793" name="Rectangle 9"/>
          <p:cNvSpPr>
            <a:spLocks noChangeArrowheads="1"/>
          </p:cNvSpPr>
          <p:nvPr/>
        </p:nvSpPr>
        <p:spPr bwMode="auto">
          <a:xfrm>
            <a:off x="161925" y="3128963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S=‘a b a b c a b c a c b a b’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794" name="Rectangle 10"/>
          <p:cNvSpPr>
            <a:spLocks noChangeArrowheads="1"/>
          </p:cNvSpPr>
          <p:nvPr/>
        </p:nvSpPr>
        <p:spPr bwMode="auto">
          <a:xfrm>
            <a:off x="158750" y="3509963"/>
            <a:ext cx="21605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T=‘a b c a c’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795" name="Rectangle 11"/>
          <p:cNvSpPr>
            <a:spLocks noChangeArrowheads="1"/>
          </p:cNvSpPr>
          <p:nvPr/>
        </p:nvSpPr>
        <p:spPr bwMode="auto">
          <a:xfrm>
            <a:off x="4733925" y="3128963"/>
            <a:ext cx="4306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S=‘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b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b c a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c a c b a b’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796" name="Rectangle 12"/>
          <p:cNvSpPr>
            <a:spLocks noChangeArrowheads="1"/>
          </p:cNvSpPr>
          <p:nvPr/>
        </p:nvSpPr>
        <p:spPr bwMode="auto">
          <a:xfrm>
            <a:off x="5343525" y="3509963"/>
            <a:ext cx="2159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T=‘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b c a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’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797" name="Rectangle 13"/>
          <p:cNvSpPr>
            <a:spLocks noChangeArrowheads="1"/>
          </p:cNvSpPr>
          <p:nvPr/>
        </p:nvSpPr>
        <p:spPr bwMode="auto">
          <a:xfrm>
            <a:off x="161925" y="4195763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S=‘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b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b c a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b c a c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b a b’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798" name="Rectangle 14"/>
          <p:cNvSpPr>
            <a:spLocks noChangeArrowheads="1"/>
          </p:cNvSpPr>
          <p:nvPr/>
        </p:nvSpPr>
        <p:spPr bwMode="auto">
          <a:xfrm>
            <a:off x="1533525" y="4576763"/>
            <a:ext cx="2159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T=‘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b c a c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’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Group 17"/>
          <p:cNvGrpSpPr/>
          <p:nvPr/>
        </p:nvGrpSpPr>
        <p:grpSpPr>
          <a:xfrm>
            <a:off x="5876925" y="2824163"/>
            <a:ext cx="228600" cy="533400"/>
            <a:chOff x="5184" y="2496"/>
            <a:chExt cx="144" cy="336"/>
          </a:xfrm>
        </p:grpSpPr>
        <p:sp>
          <p:nvSpPr>
            <p:cNvPr id="29709" name="Rectangle 18"/>
            <p:cNvSpPr>
              <a:spLocks noChangeArrowheads="1"/>
            </p:cNvSpPr>
            <p:nvPr/>
          </p:nvSpPr>
          <p:spPr bwMode="auto">
            <a:xfrm>
              <a:off x="5184" y="2496"/>
              <a:ext cx="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10" name="Line 19"/>
            <p:cNvSpPr>
              <a:spLocks noChangeShapeType="1"/>
            </p:cNvSpPr>
            <p:nvPr/>
          </p:nvSpPr>
          <p:spPr bwMode="auto">
            <a:xfrm>
              <a:off x="5280" y="2688"/>
              <a:ext cx="0" cy="14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" name="Group 20"/>
          <p:cNvGrpSpPr/>
          <p:nvPr/>
        </p:nvGrpSpPr>
        <p:grpSpPr>
          <a:xfrm>
            <a:off x="695325" y="2747963"/>
            <a:ext cx="228600" cy="533400"/>
            <a:chOff x="5184" y="2496"/>
            <a:chExt cx="144" cy="336"/>
          </a:xfrm>
        </p:grpSpPr>
        <p:sp>
          <p:nvSpPr>
            <p:cNvPr id="29712" name="Rectangle 21"/>
            <p:cNvSpPr>
              <a:spLocks noChangeArrowheads="1"/>
            </p:cNvSpPr>
            <p:nvPr/>
          </p:nvSpPr>
          <p:spPr bwMode="auto">
            <a:xfrm>
              <a:off x="5184" y="2496"/>
              <a:ext cx="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13" name="Line 22"/>
            <p:cNvSpPr>
              <a:spLocks noChangeShapeType="1"/>
            </p:cNvSpPr>
            <p:nvPr/>
          </p:nvSpPr>
          <p:spPr bwMode="auto">
            <a:xfrm>
              <a:off x="5280" y="2688"/>
              <a:ext cx="0" cy="14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5" name="Group 23"/>
          <p:cNvGrpSpPr/>
          <p:nvPr/>
        </p:nvGrpSpPr>
        <p:grpSpPr>
          <a:xfrm>
            <a:off x="2371725" y="3814763"/>
            <a:ext cx="228600" cy="533400"/>
            <a:chOff x="5184" y="2496"/>
            <a:chExt cx="144" cy="336"/>
          </a:xfrm>
        </p:grpSpPr>
        <p:sp>
          <p:nvSpPr>
            <p:cNvPr id="29715" name="Rectangle 24"/>
            <p:cNvSpPr>
              <a:spLocks noChangeArrowheads="1"/>
            </p:cNvSpPr>
            <p:nvPr/>
          </p:nvSpPr>
          <p:spPr bwMode="auto">
            <a:xfrm>
              <a:off x="5184" y="2496"/>
              <a:ext cx="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16" name="Line 25"/>
            <p:cNvSpPr>
              <a:spLocks noChangeShapeType="1"/>
            </p:cNvSpPr>
            <p:nvPr/>
          </p:nvSpPr>
          <p:spPr bwMode="auto">
            <a:xfrm>
              <a:off x="5280" y="2688"/>
              <a:ext cx="0" cy="14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" name="Group 26"/>
          <p:cNvGrpSpPr/>
          <p:nvPr/>
        </p:nvGrpSpPr>
        <p:grpSpPr>
          <a:xfrm>
            <a:off x="2411413" y="5033963"/>
            <a:ext cx="244475" cy="520700"/>
            <a:chOff x="3600" y="2448"/>
            <a:chExt cx="154" cy="328"/>
          </a:xfrm>
        </p:grpSpPr>
        <p:sp>
          <p:nvSpPr>
            <p:cNvPr id="29718" name="Rectangle 27"/>
            <p:cNvSpPr>
              <a:spLocks noChangeArrowheads="1"/>
            </p:cNvSpPr>
            <p:nvPr/>
          </p:nvSpPr>
          <p:spPr bwMode="auto">
            <a:xfrm>
              <a:off x="3600" y="2545"/>
              <a:ext cx="1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k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19" name="Line 28"/>
            <p:cNvSpPr>
              <a:spLocks noChangeShapeType="1"/>
            </p:cNvSpPr>
            <p:nvPr/>
          </p:nvSpPr>
          <p:spPr bwMode="auto">
            <a:xfrm flipV="1">
              <a:off x="3696" y="2448"/>
              <a:ext cx="0" cy="14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7" name="Group 29"/>
          <p:cNvGrpSpPr/>
          <p:nvPr/>
        </p:nvGrpSpPr>
        <p:grpSpPr>
          <a:xfrm>
            <a:off x="5876925" y="3903663"/>
            <a:ext cx="244475" cy="520700"/>
            <a:chOff x="3600" y="2448"/>
            <a:chExt cx="154" cy="328"/>
          </a:xfrm>
        </p:grpSpPr>
        <p:sp>
          <p:nvSpPr>
            <p:cNvPr id="29721" name="Rectangle 30"/>
            <p:cNvSpPr>
              <a:spLocks noChangeArrowheads="1"/>
            </p:cNvSpPr>
            <p:nvPr/>
          </p:nvSpPr>
          <p:spPr bwMode="auto">
            <a:xfrm>
              <a:off x="3600" y="2545"/>
              <a:ext cx="1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k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22" name="Line 31"/>
            <p:cNvSpPr>
              <a:spLocks noChangeShapeType="1"/>
            </p:cNvSpPr>
            <p:nvPr/>
          </p:nvSpPr>
          <p:spPr bwMode="auto">
            <a:xfrm flipV="1">
              <a:off x="3696" y="2448"/>
              <a:ext cx="0" cy="14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758816" name="Rectangle 32"/>
          <p:cNvSpPr>
            <a:spLocks noChangeArrowheads="1"/>
          </p:cNvSpPr>
          <p:nvPr/>
        </p:nvSpPr>
        <p:spPr bwMode="auto">
          <a:xfrm>
            <a:off x="604838" y="3128963"/>
            <a:ext cx="1004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817" name="Rectangle 33"/>
          <p:cNvSpPr>
            <a:spLocks noChangeArrowheads="1"/>
          </p:cNvSpPr>
          <p:nvPr/>
        </p:nvSpPr>
        <p:spPr bwMode="auto">
          <a:xfrm>
            <a:off x="714375" y="3509963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66FF33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8" name="Group 34"/>
          <p:cNvGrpSpPr/>
          <p:nvPr/>
        </p:nvGrpSpPr>
        <p:grpSpPr>
          <a:xfrm>
            <a:off x="1381125" y="2976563"/>
            <a:ext cx="4572000" cy="304800"/>
            <a:chOff x="864" y="1152"/>
            <a:chExt cx="2880" cy="192"/>
          </a:xfrm>
        </p:grpSpPr>
        <p:sp>
          <p:nvSpPr>
            <p:cNvPr id="29726" name="Line 35"/>
            <p:cNvSpPr>
              <a:spLocks noChangeShapeType="1"/>
            </p:cNvSpPr>
            <p:nvPr/>
          </p:nvSpPr>
          <p:spPr bwMode="auto">
            <a:xfrm flipV="1">
              <a:off x="864" y="11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27" name="Line 36"/>
            <p:cNvSpPr>
              <a:spLocks noChangeShapeType="1"/>
            </p:cNvSpPr>
            <p:nvPr/>
          </p:nvSpPr>
          <p:spPr bwMode="auto">
            <a:xfrm>
              <a:off x="864" y="115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28" name="Line 37"/>
            <p:cNvSpPr>
              <a:spLocks noChangeShapeType="1"/>
            </p:cNvSpPr>
            <p:nvPr/>
          </p:nvSpPr>
          <p:spPr bwMode="auto">
            <a:xfrm>
              <a:off x="3744" y="11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Group 38"/>
          <p:cNvGrpSpPr/>
          <p:nvPr/>
        </p:nvGrpSpPr>
        <p:grpSpPr>
          <a:xfrm>
            <a:off x="2219325" y="4500563"/>
            <a:ext cx="6019800" cy="381000"/>
            <a:chOff x="1392" y="2112"/>
            <a:chExt cx="3792" cy="240"/>
          </a:xfrm>
        </p:grpSpPr>
        <p:sp>
          <p:nvSpPr>
            <p:cNvPr id="29730" name="Line 39"/>
            <p:cNvSpPr>
              <a:spLocks noChangeShapeType="1"/>
            </p:cNvSpPr>
            <p:nvPr/>
          </p:nvSpPr>
          <p:spPr bwMode="auto">
            <a:xfrm flipV="1">
              <a:off x="5184" y="2256"/>
              <a:ext cx="0" cy="9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31" name="Line 40"/>
            <p:cNvSpPr>
              <a:spLocks noChangeShapeType="1"/>
            </p:cNvSpPr>
            <p:nvPr/>
          </p:nvSpPr>
          <p:spPr bwMode="auto">
            <a:xfrm flipH="1">
              <a:off x="1392" y="2256"/>
              <a:ext cx="3792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32" name="Line 41"/>
            <p:cNvSpPr>
              <a:spLocks noChangeShapeType="1"/>
            </p:cNvSpPr>
            <p:nvPr/>
          </p:nvSpPr>
          <p:spPr bwMode="auto">
            <a:xfrm flipV="1">
              <a:off x="1392" y="2112"/>
              <a:ext cx="0" cy="14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" name="Group 43"/>
          <p:cNvGrpSpPr/>
          <p:nvPr/>
        </p:nvGrpSpPr>
        <p:grpSpPr>
          <a:xfrm>
            <a:off x="722313" y="3890963"/>
            <a:ext cx="244475" cy="520700"/>
            <a:chOff x="3600" y="2448"/>
            <a:chExt cx="154" cy="328"/>
          </a:xfrm>
        </p:grpSpPr>
        <p:sp>
          <p:nvSpPr>
            <p:cNvPr id="29734" name="Rectangle 44"/>
            <p:cNvSpPr>
              <a:spLocks noChangeArrowheads="1"/>
            </p:cNvSpPr>
            <p:nvPr/>
          </p:nvSpPr>
          <p:spPr bwMode="auto">
            <a:xfrm>
              <a:off x="3600" y="2545"/>
              <a:ext cx="1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k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35" name="Line 45"/>
            <p:cNvSpPr>
              <a:spLocks noChangeShapeType="1"/>
            </p:cNvSpPr>
            <p:nvPr/>
          </p:nvSpPr>
          <p:spPr bwMode="auto">
            <a:xfrm flipV="1">
              <a:off x="3696" y="2448"/>
              <a:ext cx="0" cy="14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1" name="Group 46"/>
          <p:cNvGrpSpPr/>
          <p:nvPr/>
        </p:nvGrpSpPr>
        <p:grpSpPr>
          <a:xfrm>
            <a:off x="3438525" y="3814763"/>
            <a:ext cx="228600" cy="533400"/>
            <a:chOff x="5184" y="2496"/>
            <a:chExt cx="144" cy="336"/>
          </a:xfrm>
        </p:grpSpPr>
        <p:sp>
          <p:nvSpPr>
            <p:cNvPr id="29737" name="Rectangle 47"/>
            <p:cNvSpPr>
              <a:spLocks noChangeArrowheads="1"/>
            </p:cNvSpPr>
            <p:nvPr/>
          </p:nvSpPr>
          <p:spPr bwMode="auto">
            <a:xfrm>
              <a:off x="5184" y="2496"/>
              <a:ext cx="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38" name="Line 48"/>
            <p:cNvSpPr>
              <a:spLocks noChangeShapeType="1"/>
            </p:cNvSpPr>
            <p:nvPr/>
          </p:nvSpPr>
          <p:spPr bwMode="auto">
            <a:xfrm>
              <a:off x="5280" y="2688"/>
              <a:ext cx="0" cy="14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2" name="Group 49"/>
          <p:cNvGrpSpPr/>
          <p:nvPr/>
        </p:nvGrpSpPr>
        <p:grpSpPr>
          <a:xfrm>
            <a:off x="2066925" y="3814763"/>
            <a:ext cx="228600" cy="533400"/>
            <a:chOff x="5184" y="2496"/>
            <a:chExt cx="144" cy="336"/>
          </a:xfrm>
        </p:grpSpPr>
        <p:sp>
          <p:nvSpPr>
            <p:cNvPr id="29740" name="Rectangle 50"/>
            <p:cNvSpPr>
              <a:spLocks noChangeArrowheads="1"/>
            </p:cNvSpPr>
            <p:nvPr/>
          </p:nvSpPr>
          <p:spPr bwMode="auto">
            <a:xfrm>
              <a:off x="5184" y="2496"/>
              <a:ext cx="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chemeClr val="hlin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i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741" name="Line 51"/>
            <p:cNvSpPr>
              <a:spLocks noChangeShapeType="1"/>
            </p:cNvSpPr>
            <p:nvPr/>
          </p:nvSpPr>
          <p:spPr bwMode="auto">
            <a:xfrm>
              <a:off x="5280" y="2688"/>
              <a:ext cx="0" cy="144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9742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4255" name="直接连接符 13"/>
          <p:cNvCxnSpPr/>
          <p:nvPr/>
        </p:nvCxnSpPr>
        <p:spPr>
          <a:xfrm>
            <a:off x="188913" y="2157413"/>
            <a:ext cx="8583612" cy="0"/>
          </a:xfrm>
          <a:prstGeom prst="line">
            <a:avLst/>
          </a:prstGeom>
          <a:ln w="9525" cap="flat" cmpd="sng">
            <a:solidFill>
              <a:srgbClr val="4F99E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256" name="直接连接符 49"/>
          <p:cNvCxnSpPr/>
          <p:nvPr/>
        </p:nvCxnSpPr>
        <p:spPr>
          <a:xfrm>
            <a:off x="136525" y="5964238"/>
            <a:ext cx="8636000" cy="0"/>
          </a:xfrm>
          <a:prstGeom prst="line">
            <a:avLst/>
          </a:prstGeom>
          <a:ln w="9525" cap="flat" cmpd="sng">
            <a:solidFill>
              <a:srgbClr val="4F99E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5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5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5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75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5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75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75"/>
                            </p:stCondLst>
                            <p:childTnLst>
                              <p:par>
                                <p:cTn id="61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99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475"/>
                            </p:stCondLst>
                            <p:childTnLst>
                              <p:par>
                                <p:cTn id="66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475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793" grpId="0"/>
      <p:bldP spid="758794" grpId="0"/>
      <p:bldP spid="758795" grpId="0"/>
      <p:bldP spid="758796" grpId="0"/>
      <p:bldP spid="758797" grpId="0"/>
      <p:bldP spid="758798" grpId="0"/>
      <p:bldP spid="758816" grpId="0"/>
      <p:bldP spid="7588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 bwMode="auto">
          <a:xfrm>
            <a:off x="0" y="4868863"/>
            <a:ext cx="9144000" cy="1800225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5234" name="Object 2"/>
          <p:cNvGraphicFramePr>
            <a:graphicFrameLocks noGrp="1"/>
          </p:cNvGraphicFramePr>
          <p:nvPr>
            <p:ph sz="half" idx="2"/>
          </p:nvPr>
        </p:nvGraphicFramePr>
        <p:xfrm>
          <a:off x="376238" y="1184275"/>
          <a:ext cx="6583362" cy="237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039110" imgH="1094105" progId="Word.Picture.8">
                  <p:embed/>
                </p:oleObj>
              </mc:Choice>
              <mc:Fallback>
                <p:oleObj name="" r:id="rId1" imgW="3039110" imgH="1094105" progId="Word.Picture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6238" y="1184275"/>
                        <a:ext cx="6583362" cy="23701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2" name="Text Box 7"/>
          <p:cNvSpPr txBox="1">
            <a:spLocks noChangeArrowheads="1"/>
          </p:cNvSpPr>
          <p:nvPr/>
        </p:nvSpPr>
        <p:spPr bwMode="auto">
          <a:xfrm>
            <a:off x="395288" y="3536950"/>
            <a:ext cx="7705725" cy="973138"/>
          </a:xfrm>
          <a:prstGeom prst="rect">
            <a:avLst/>
          </a:prstGeom>
          <a:noFill/>
          <a:ln w="76200"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≠p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,s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=p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必有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≠p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又因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=p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,s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=p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所以必有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=p</a:t>
            </a:r>
            <a:r>
              <a:rPr kumimoji="0" lang="en-US" altLang="zh-CN" sz="2400" b="0" i="0" u="none" strike="noStrike" kern="1200" cap="none" spc="0" normalizeH="0" baseline="-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。因此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第二次匹配可直接从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=4, j=2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开始。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95288" y="5048250"/>
            <a:ext cx="8424863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改进：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每趟匹配过程中出现字符比较不等时，不回溯主指针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，利用已得到的“部分匹配”结果将模式向右滑动尽可能远的一段距离，继续进行比较。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9" name="Text Box 5"/>
          <p:cNvSpPr txBox="1"/>
          <p:nvPr/>
        </p:nvSpPr>
        <p:spPr>
          <a:xfrm>
            <a:off x="468313" y="3186113"/>
            <a:ext cx="8604250" cy="21605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主串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为    ‘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… s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i -1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…s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’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模式串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为‘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… p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j -1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j 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… p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’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 !=p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应与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中哪个字符再比较？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假设应与</a:t>
            </a:r>
            <a:r>
              <a:rPr lang="en-US" altLang="zh-CN" sz="28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继续比较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8313" y="1193800"/>
            <a:ext cx="8207375" cy="1800225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17780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i-j+1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i-j+2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i-k+1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i-k+2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i+1</a:t>
            </a:r>
            <a:endParaRPr kumimoji="1" lang="en-US" altLang="zh-CN" sz="2800" b="0" i="0" u="none" strike="noStrike" kern="0" cap="none" spc="0" normalizeH="0" baseline="-25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 ‖   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‖         ‖     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‖      ‖   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lt"/>
              </a:rPr>
              <a:t>≠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endParaRPr kumimoji="1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…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 …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j-k+1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j-k+2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j+1</a:t>
            </a:r>
            <a:endParaRPr kumimoji="1" lang="en-US" altLang="zh-CN" sz="2800" b="0" i="0" u="none" strike="noStrike" kern="0" cap="none" spc="0" normalizeH="0" baseline="-25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                      ‖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 … … … …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‖</a:t>
            </a:r>
            <a:endParaRPr kumimoji="1" lang="en-US" altLang="zh-CN" sz="2800" b="0" i="0" u="none" strike="noStrike" kern="0" cap="none" spc="0" normalizeH="0" baseline="-2500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                   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…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 … …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k-1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1" lang="en-US" altLang="zh-CN" sz="2800" b="0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k+1</a:t>
            </a:r>
            <a:endParaRPr kumimoji="1" lang="en-US" altLang="zh-CN" sz="2800" b="0" i="0" u="none" strike="noStrike" kern="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9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charRg st="3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029">
                                            <p:txEl>
                                              <p:charRg st="30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9029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charRg st="82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9029">
                                            <p:txEl>
                                              <p:charRg st="82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86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charRg st="186" end="2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250" end="3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charRg st="250" end="3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7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468313" y="1193800"/>
            <a:ext cx="8207375" cy="1800225"/>
          </a:xfrm>
          <a:solidFill>
            <a:srgbClr val="F6F6F6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17780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i-j+1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i-j+2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i-k+1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i-k+2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i-1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1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i+1</a:t>
            </a:r>
            <a:endParaRPr kumimoji="1" lang="en-US" altLang="zh-CN" sz="2800" b="0" i="0" u="none" strike="noStrike" kern="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 ‖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  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‖         ‖     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‖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‖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  <a:sym typeface="+mn-lt"/>
              </a:rPr>
              <a:t>≠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…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j-k+1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j-k+2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j-2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j-1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j+1</a:t>
            </a:r>
            <a:endParaRPr kumimoji="1" lang="en-US" altLang="zh-CN" sz="2800" b="0" i="0" u="none" strike="noStrike" kern="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‖ </a:t>
            </a:r>
            <a:r>
              <a:rPr kumimoji="1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… … … … 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ea"/>
                <a:sym typeface="+mn-lt"/>
              </a:rPr>
              <a:t>‖ 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‖</a:t>
            </a:r>
            <a:endParaRPr kumimoji="1" lang="en-US" altLang="zh-CN" sz="2800" b="0" i="0" u="none" strike="noStrike" kern="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     </a:t>
            </a:r>
            <a:r>
              <a:rPr kumimoji="1" lang="en-US" altLang="zh-CN" sz="2800" b="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</a:t>
            </a:r>
            <a:r>
              <a:rPr kumimoji="1" lang="en-US" altLang="zh-CN" sz="2800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+mn-lt"/>
              </a:rPr>
              <a:t>p</a:t>
            </a:r>
            <a:r>
              <a:rPr lang="en-US" altLang="zh-CN" sz="2800" i="0" u="none" strike="noStrike" kern="1200" cap="none" spc="0" normalizeH="0" baseline="-2500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+mn-lt"/>
              </a:rPr>
              <a:t>1</a:t>
            </a:r>
            <a:r>
              <a:rPr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+mn-lt"/>
              </a:rPr>
              <a:t>  … … …   p</a:t>
            </a:r>
            <a:r>
              <a:rPr lang="en-US" altLang="zh-CN" sz="2800" i="0" u="none" strike="noStrike" kern="1200" cap="none" spc="0" normalizeH="0" baseline="-2500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+mn-lt"/>
              </a:rPr>
              <a:t>k-1</a:t>
            </a:r>
            <a:r>
              <a:rPr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+mn-lt"/>
              </a:rPr>
              <a:t> p</a:t>
            </a:r>
            <a:r>
              <a:rPr lang="en-US" altLang="zh-CN" sz="2800" i="0" u="none" strike="noStrike" kern="1200" cap="none" spc="0" normalizeH="0" baseline="-2500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+mn-lt"/>
              </a:rPr>
              <a:t>k</a:t>
            </a:r>
            <a:r>
              <a:rPr lang="en-US" altLang="zh-CN" sz="2800" i="0" u="none" strike="noStrike" kern="1200" cap="none" spc="0" normalizeH="0" baseline="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+mn-lt"/>
              </a:rPr>
              <a:t> p</a:t>
            </a:r>
            <a:r>
              <a:rPr lang="en-US" altLang="zh-CN" sz="2800" i="0" u="none" strike="noStrike" kern="1200" cap="none" spc="0" normalizeH="0" baseline="-2500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sym typeface="+mn-lt"/>
              </a:rPr>
              <a:t>k+1</a:t>
            </a:r>
            <a:endParaRPr kumimoji="1" lang="en-US" altLang="zh-CN" sz="2800" i="0" u="none" strike="noStrike" kern="1200" cap="none" spc="0" normalizeH="0" baseline="-25000" noProof="0" dirty="0" err="1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ea"/>
              <a:sym typeface="+mn-lt"/>
            </a:endParaRP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>
            <a:off x="468313" y="3186113"/>
            <a:ext cx="8604250" cy="282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假设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应与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k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继续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比较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①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k-1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 = “s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i-k+1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i-k+2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…s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 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②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j-k+1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j-k+2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 = “s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i-k+1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i-k+2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…s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i-1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部分匹配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③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k-1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 = “p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j-k+1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j-k+2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 (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真子串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charRg st="48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9">
                                            <p:txEl>
                                              <p:charRg st="48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>
                                            <p:txEl>
                                              <p:charRg st="98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029">
                                            <p:txEl>
                                              <p:charRg st="98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0" y="1677035"/>
            <a:ext cx="9144000" cy="3126105"/>
            <a:chOff x="0" y="2754"/>
            <a:chExt cx="14400" cy="4923"/>
          </a:xfrm>
        </p:grpSpPr>
        <p:sp>
          <p:nvSpPr>
            <p:cNvPr id="2" name="矩形 1"/>
            <p:cNvSpPr/>
            <p:nvPr/>
          </p:nvSpPr>
          <p:spPr bwMode="auto">
            <a:xfrm>
              <a:off x="0" y="3647"/>
              <a:ext cx="14400" cy="4030"/>
            </a:xfrm>
            <a:prstGeom prst="rect">
              <a:avLst/>
            </a:prstGeom>
            <a:solidFill>
              <a:srgbClr val="CC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793" name="Text Box 4"/>
            <p:cNvSpPr txBox="1">
              <a:spLocks noChangeArrowheads="1"/>
            </p:cNvSpPr>
            <p:nvPr/>
          </p:nvSpPr>
          <p:spPr bwMode="auto">
            <a:xfrm>
              <a:off x="818" y="2754"/>
              <a:ext cx="13043" cy="4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          0         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当</a:t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j=1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时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en-US" altLang="zh-CN" sz="2800" b="0" strike="noStrike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          max{ k|1&lt;k&lt;j,</a:t>
              </a:r>
              <a:r>
                <a:rPr lang="zh-CN" altLang="en-US" sz="2800" b="0" strike="noStrike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且“</a:t>
              </a:r>
              <a:r>
                <a:rPr lang="en-US" altLang="zh-CN" sz="2800" b="0" strike="noStrike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p</a:t>
              </a:r>
              <a:r>
                <a:rPr lang="en-US" altLang="zh-CN" sz="2800" b="0" strike="noStrike" baseline="-3000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</a:t>
              </a:r>
              <a:r>
                <a:rPr lang="en-US" altLang="zh-CN" sz="2800" b="0" strike="noStrike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…p</a:t>
              </a:r>
              <a:r>
                <a:rPr lang="en-US" altLang="zh-CN" sz="2800" b="0" strike="noStrike" baseline="-3000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k-1</a:t>
              </a:r>
              <a:r>
                <a:rPr lang="en-US" altLang="zh-CN" sz="2800" b="0" strike="noStrike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”=“p</a:t>
              </a:r>
              <a:r>
                <a:rPr lang="en-US" altLang="zh-CN" sz="2800" b="0" strike="noStrike" baseline="-3000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j-k+1</a:t>
              </a:r>
              <a:r>
                <a:rPr lang="en-US" altLang="zh-CN" sz="2800" b="0" strike="noStrike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…p</a:t>
              </a:r>
              <a:r>
                <a:rPr lang="en-US" altLang="zh-CN" sz="2800" b="0" strike="noStrike" baseline="-3000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j-1</a:t>
              </a:r>
              <a:r>
                <a:rPr lang="en-US" altLang="zh-CN" sz="2800" b="0" strike="noStrike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” }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2800" b="0" strike="noStrike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                     当此集合非空时   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              </a:t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1         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其他情况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794" name="Text Box 5"/>
            <p:cNvSpPr txBox="1">
              <a:spLocks noChangeArrowheads="1"/>
            </p:cNvSpPr>
            <p:nvPr/>
          </p:nvSpPr>
          <p:spPr bwMode="auto">
            <a:xfrm>
              <a:off x="283" y="5288"/>
              <a:ext cx="2608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next[j]=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795" name="AutoShape 6"/>
            <p:cNvSpPr/>
            <p:nvPr/>
          </p:nvSpPr>
          <p:spPr bwMode="auto">
            <a:xfrm>
              <a:off x="2550" y="4158"/>
              <a:ext cx="340" cy="3290"/>
            </a:xfrm>
            <a:prstGeom prst="leftBrace">
              <a:avLst>
                <a:gd name="adj1" fmla="val 80548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3796" name="Rectangle 7"/>
          <p:cNvSpPr>
            <a:spLocks noChangeArrowheads="1"/>
          </p:cNvSpPr>
          <p:nvPr/>
        </p:nvSpPr>
        <p:spPr bwMode="auto">
          <a:xfrm>
            <a:off x="449263" y="844550"/>
            <a:ext cx="8351838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为此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定义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函数，表明当模式中第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个字符与主串中相应字符“失配”时，在模式中需重新和主串中该字符进行比较的字符的位置。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 bwMode="auto">
          <a:xfrm>
            <a:off x="0" y="4715828"/>
            <a:ext cx="9144000" cy="2232025"/>
          </a:xfrm>
          <a:prstGeom prst="rect">
            <a:avLst/>
          </a:prstGeom>
          <a:solidFill>
            <a:schemeClr val="accent1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14288" y="4931728"/>
            <a:ext cx="9072563" cy="19446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j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1  2  3  4  5  6  7  8 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模式串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 b  a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b  c 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c   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Rectangle 9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27250" y="601281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Rectangle 9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0835" y="6004878"/>
            <a:ext cx="1419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(k)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Line 92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85725" y="6012815"/>
            <a:ext cx="5076825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Line 93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V="1">
            <a:off x="1804988" y="5036503"/>
            <a:ext cx="9525" cy="140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Rectangle 9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487613" y="601281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Rectangle 9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846388" y="601281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Rectangle 96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06750" y="6012815"/>
            <a:ext cx="177800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Rectangle 9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567113" y="601281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Rectangle 98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927475" y="6012815"/>
            <a:ext cx="177800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Rectangle 99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329113" y="6012815"/>
            <a:ext cx="177800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Rectangle 100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4675188" y="6012815"/>
            <a:ext cx="177800" cy="430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 bwMode="auto">
          <a:xfrm>
            <a:off x="0" y="1125538"/>
            <a:ext cx="9144000" cy="5256213"/>
          </a:xfrm>
          <a:prstGeom prst="rect">
            <a:avLst/>
          </a:prstGeom>
          <a:solidFill>
            <a:srgbClr val="CCC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684213" y="1268413"/>
            <a:ext cx="7421563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Index_KMP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SString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S,SString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T, 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pos,j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=1;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while 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&lt;S[0] &amp;&amp; j&lt;T[0]) {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if (j==0 || S[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]==T[j]) {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++;j++;  }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else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j=next[j];         /*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不变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,j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后退*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}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if (j&gt;T[0])  return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-T[0];  /*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匹配成功*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else   return 0; 	         /*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返回不匹配标志*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算法描述（算法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4.6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charRg st="185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100">
                                            <p:txEl>
                                              <p:charRg st="185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3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725488" y="1117600"/>
            <a:ext cx="7569200" cy="576263"/>
          </a:xfrm>
          <a:solidFill>
            <a:srgbClr val="EAEAEA"/>
          </a:solidFill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如何求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函数值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81125" y="1989138"/>
            <a:ext cx="7294563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next[1] = 0;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表明主串从下一字符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i+1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起和模式串重新开始匹配。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i+1; j = 1;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381125" y="3357880"/>
            <a:ext cx="727646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marR="0" lvl="0" indent="-609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设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 = k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，表明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lang="en-US" altLang="zh-CN" sz="2200" b="0" kern="0" noProof="0" dirty="0">
                <a:ln>
                  <a:noFill/>
                </a:ln>
                <a:effectLst/>
                <a:uLnTx/>
                <a:uFillTx/>
                <a:ea typeface="+mn-ea"/>
                <a:cs typeface="+mn-ea"/>
                <a:sym typeface="+mn-lt"/>
              </a:rPr>
              <a:t>p</a:t>
            </a:r>
            <a:r>
              <a:rPr lang="en-US" altLang="zh-CN" sz="2200" b="0" kern="0" baseline="-25000" noProof="0" dirty="0">
                <a:ln>
                  <a:noFill/>
                </a:ln>
                <a:effectLst/>
                <a:uLnTx/>
                <a:uFillTx/>
                <a:ea typeface="+mn-ea"/>
                <a:cs typeface="+mn-ea"/>
                <a:sym typeface="+mn-lt"/>
              </a:rPr>
              <a:t>1</a:t>
            </a:r>
            <a:r>
              <a:rPr lang="en-US" altLang="zh-CN" sz="2200" b="0" kern="0" noProof="0" dirty="0">
                <a:ln>
                  <a:noFill/>
                </a:ln>
                <a:effectLst/>
                <a:uLnTx/>
                <a:uFillTx/>
                <a:ea typeface="+mn-ea"/>
                <a:cs typeface="+mn-ea"/>
                <a:sym typeface="+mn-lt"/>
              </a:rPr>
              <a:t>…p</a:t>
            </a:r>
            <a:r>
              <a:rPr lang="en-US" altLang="zh-CN" sz="2200" b="0" kern="0" baseline="-25000" noProof="0" dirty="0">
                <a:ln>
                  <a:noFill/>
                </a:ln>
                <a:effectLst/>
                <a:uLnTx/>
                <a:uFillTx/>
                <a:ea typeface="+mn-ea"/>
                <a:cs typeface="+mn-ea"/>
                <a:sym typeface="+mn-lt"/>
              </a:rPr>
              <a:t>k-1</a:t>
            </a:r>
            <a:r>
              <a:rPr lang="en-US" altLang="zh-CN" sz="2200" b="0" kern="0" noProof="0" dirty="0">
                <a:ln>
                  <a:noFill/>
                </a:ln>
                <a:effectLst/>
                <a:uLnTx/>
                <a:uFillTx/>
                <a:ea typeface="+mn-ea"/>
                <a:cs typeface="+mn-ea"/>
                <a:sym typeface="+mn-lt"/>
              </a:rPr>
              <a:t>”=“p</a:t>
            </a:r>
            <a:r>
              <a:rPr lang="en-US" altLang="zh-CN" sz="2200" b="0" kern="0" baseline="-25000" noProof="0" dirty="0">
                <a:ln>
                  <a:noFill/>
                </a:ln>
                <a:effectLst/>
                <a:uLnTx/>
                <a:uFillTx/>
                <a:ea typeface="+mn-ea"/>
                <a:cs typeface="+mn-ea"/>
                <a:sym typeface="+mn-lt"/>
              </a:rPr>
              <a:t>j-k+1</a:t>
            </a:r>
            <a:r>
              <a:rPr lang="en-US" altLang="zh-CN" sz="2200" b="0" kern="0" noProof="0" dirty="0">
                <a:ln>
                  <a:noFill/>
                </a:ln>
                <a:effectLst/>
                <a:uLnTx/>
                <a:uFillTx/>
                <a:ea typeface="+mn-ea"/>
                <a:cs typeface="+mn-ea"/>
                <a:sym typeface="+mn-lt"/>
              </a:rPr>
              <a:t>…p</a:t>
            </a:r>
            <a:r>
              <a:rPr lang="en-US" altLang="zh-CN" sz="2200" b="0" kern="0" baseline="-25000" noProof="0" dirty="0">
                <a:ln>
                  <a:noFill/>
                </a:ln>
                <a:effectLst/>
                <a:uLnTx/>
                <a:uFillTx/>
                <a:ea typeface="+mn-ea"/>
                <a:cs typeface="+mn-ea"/>
                <a:sym typeface="+mn-lt"/>
              </a:rPr>
              <a:t>j-1</a:t>
            </a:r>
            <a:r>
              <a:rPr lang="en-US" altLang="zh-CN" sz="2200" b="0" kern="0" noProof="0" dirty="0">
                <a:ln>
                  <a:noFill/>
                </a:ln>
                <a:effectLst/>
                <a:uLnTx/>
                <a:uFillTx/>
                <a:ea typeface="+mn-ea"/>
                <a:cs typeface="+mn-ea"/>
                <a:sym typeface="+mn-lt"/>
              </a:rPr>
              <a:t>”</a:t>
            </a:r>
            <a:r>
              <a:rPr lang="zh-CN" altLang="en-US" sz="2200" b="0" kern="0" noProof="0" dirty="0">
                <a:ln>
                  <a:noFill/>
                </a:ln>
                <a:effectLst/>
                <a:uLnTx/>
                <a:uFillTx/>
                <a:ea typeface="+mn-ea"/>
                <a:cs typeface="+mn-ea"/>
                <a:sym typeface="+mn-lt"/>
              </a:rPr>
              <a:t>，</a:t>
            </a: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则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next[j+1] = ?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41350" y="2133600"/>
            <a:ext cx="590550" cy="627063"/>
            <a:chOff x="6242320" y="1105727"/>
            <a:chExt cx="589918" cy="626656"/>
          </a:xfrm>
        </p:grpSpPr>
        <p:sp>
          <p:nvSpPr>
            <p:cNvPr id="100358" name="TextBox 6"/>
            <p:cNvSpPr txBox="1"/>
            <p:nvPr/>
          </p:nvSpPr>
          <p:spPr>
            <a:xfrm>
              <a:off x="6327953" y="1105727"/>
              <a:ext cx="447196" cy="49180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3200" dirty="0">
                  <a:solidFill>
                    <a:srgbClr val="FF99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01</a:t>
              </a:r>
              <a:endParaRPr lang="zh-CN" altLang="en-US" sz="3200" dirty="0">
                <a:solidFill>
                  <a:srgbClr val="FF99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0359" name="文本框 22"/>
            <p:cNvSpPr txBox="1"/>
            <p:nvPr/>
          </p:nvSpPr>
          <p:spPr>
            <a:xfrm>
              <a:off x="6242320" y="1516623"/>
              <a:ext cx="589918" cy="2157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800" dirty="0">
                  <a:solidFill>
                    <a:srgbClr val="81818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OPTION</a:t>
              </a:r>
              <a:endParaRPr lang="zh-CN" altLang="en-US" sz="800" dirty="0">
                <a:solidFill>
                  <a:srgbClr val="81818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239838" y="4265295"/>
            <a:ext cx="7743825" cy="211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marR="0" lvl="0" indent="-609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①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，则有“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k-1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”=“p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j-k+1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，如果在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j+1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发生不匹配，说明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next[j+1] = k+1 = next[j]+1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②若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≠p</a:t>
            </a:r>
            <a:r>
              <a:rPr kumimoji="0" lang="en-US" altLang="zh-CN" sz="24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，可把求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值问题看成是一个模式匹配问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题，整个模式串既是主串，又是子串。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60400" y="3462338"/>
            <a:ext cx="590550" cy="631825"/>
            <a:chOff x="6242320" y="2373233"/>
            <a:chExt cx="589918" cy="631762"/>
          </a:xfrm>
        </p:grpSpPr>
        <p:sp>
          <p:nvSpPr>
            <p:cNvPr id="100362" name="TextBox 6"/>
            <p:cNvSpPr txBox="1"/>
            <p:nvPr/>
          </p:nvSpPr>
          <p:spPr>
            <a:xfrm>
              <a:off x="6327953" y="2373233"/>
              <a:ext cx="447196" cy="49207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3200" dirty="0">
                  <a:solidFill>
                    <a:srgbClr val="01ACB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02</a:t>
              </a:r>
              <a:endParaRPr lang="zh-CN" altLang="en-US" sz="3200" dirty="0">
                <a:solidFill>
                  <a:srgbClr val="01ACBE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0363" name="文本框 23"/>
            <p:cNvSpPr txBox="1"/>
            <p:nvPr/>
          </p:nvSpPr>
          <p:spPr>
            <a:xfrm>
              <a:off x="6242320" y="2789117"/>
              <a:ext cx="589918" cy="2158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sz="800" dirty="0">
                  <a:solidFill>
                    <a:srgbClr val="81818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OPTION</a:t>
              </a:r>
              <a:endParaRPr lang="zh-CN" altLang="en-US" sz="800" dirty="0">
                <a:solidFill>
                  <a:srgbClr val="81818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1381125" y="3219450"/>
            <a:ext cx="6913563" cy="0"/>
          </a:xfrm>
          <a:prstGeom prst="line">
            <a:avLst/>
          </a:prstGeom>
          <a:ln w="9525" cap="flat" cmpd="sng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直接连接符 15"/>
          <p:cNvCxnSpPr/>
          <p:nvPr/>
        </p:nvCxnSpPr>
        <p:spPr>
          <a:xfrm>
            <a:off x="1381125" y="4202113"/>
            <a:ext cx="6913563" cy="0"/>
          </a:xfrm>
          <a:prstGeom prst="line">
            <a:avLst/>
          </a:prstGeom>
          <a:ln w="9525" cap="flat" cmpd="sng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43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charRg st="43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8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charRg st="87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116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charRg st="116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2" name="Rectangle 4"/>
          <p:cNvSpPr>
            <a:spLocks noGrp="1" noChangeArrowheads="1"/>
          </p:cNvSpPr>
          <p:nvPr>
            <p:ph idx="1" hasCustomPrompt="1"/>
          </p:nvPr>
        </p:nvSpPr>
        <p:spPr>
          <a:xfrm>
            <a:off x="285750" y="981075"/>
            <a:ext cx="8389938" cy="2376488"/>
          </a:xfrm>
          <a:solidFill>
            <a:schemeClr val="accent1">
              <a:lumMod val="20000"/>
              <a:lumOff val="80000"/>
            </a:schemeClr>
          </a:solidFill>
          <a:ln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j-k+1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j+1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next[j]=k</a:t>
            </a:r>
            <a:endParaRPr kumimoji="0" lang="en-US" altLang="zh-CN" sz="2800" b="0" i="0" u="none" strike="noStrike" kern="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‖          ‖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≠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…  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k-1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k+1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next[k]=k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’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……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’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k’+1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next[k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’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]=k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</a:t>
            </a:r>
            <a:endParaRPr kumimoji="0" lang="en-US" altLang="zh-CN" sz="2800" b="0" i="0" u="none" strike="noStrike" kern="0" cap="none" spc="0" normalizeH="0" baseline="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  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…...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’’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k’’+1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next[k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’’’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]=k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’’’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endParaRPr kumimoji="0" lang="en-US" altLang="zh-CN" sz="2800" b="0" i="0" u="none" strike="noStrike" kern="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5173" name="Text Box 5"/>
          <p:cNvSpPr txBox="1">
            <a:spLocks noChangeArrowheads="1"/>
          </p:cNvSpPr>
          <p:nvPr/>
        </p:nvSpPr>
        <p:spPr bwMode="auto">
          <a:xfrm>
            <a:off x="285750" y="3452813"/>
            <a:ext cx="8389938" cy="32131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若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’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，则有</a:t>
            </a:r>
            <a:r>
              <a:rPr lang="en-US" altLang="zh-CN" sz="2800" b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’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”=“p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j-k’+1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next[j+1]=k’+1=next[k]+1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=next[next[j]]+1.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若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，则有</a:t>
            </a:r>
            <a:r>
              <a:rPr lang="en-US" altLang="zh-CN" sz="2800" b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”=“p</a:t>
            </a:r>
            <a:r>
              <a:rPr kumimoji="0" lang="en-US" altLang="zh-CN" sz="28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j-k”+1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8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next[j+1]=k”+1=next[k’]+1=next[next[k]]+1.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next[j+1]=1.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charRg st="122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172">
                                            <p:txEl>
                                              <p:charRg st="122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charRg st="171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172">
                                            <p:txEl>
                                              <p:charRg st="171" end="2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3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3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96850" y="898525"/>
            <a:ext cx="7705725" cy="5616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void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get_next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SString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T, int &amp;next[])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j= 1; next[1] = 0; k = 0;   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while( j&lt;T[0]){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if(k==0 || T[j] == T[k]){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++j; ++k; 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next[j] = k;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}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else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k = next[k];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}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                            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求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函数值的算法（算法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4.7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623050"/>
            <a:ext cx="9144000" cy="46038"/>
          </a:xfrm>
          <a:prstGeom prst="rect">
            <a:avLst/>
          </a:prstGeom>
          <a:solidFill>
            <a:srgbClr val="FF99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4511675" y="1066800"/>
            <a:ext cx="4543425" cy="3762375"/>
          </a:xfrm>
          <a:prstGeom prst="rect">
            <a:avLst/>
          </a:prstGeom>
          <a:solidFill>
            <a:schemeClr val="accent1">
              <a:lumMod val="75000"/>
              <a:alpha val="27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Index_KMP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SString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S,SString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T, int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     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pos,j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=1;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while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&lt;S[0] &amp;&amp; j&lt;T[0]) {    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if (j==0 || S[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]==T[j]) {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++;j++;  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else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j=next[j];         /*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不变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,j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后退*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if (j&gt;T[0])  return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-T[0];  /*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匹配成功*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else   return 0; 	         /*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返回不匹配标志*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131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243">
                                            <p:txEl>
                                              <p:charRg st="131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158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8243">
                                            <p:txEl>
                                              <p:charRg st="158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charRg st="214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8243">
                                            <p:txEl>
                                              <p:charRg st="214" end="2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3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98438" y="3146425"/>
            <a:ext cx="7705725" cy="34051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void 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get_next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SString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T, int &amp;next[])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j= 1; next[1] = 0; k = 0;   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while( j&lt;T[0]){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if(k==0 || T[j] == T[k]){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++j; ++k; 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next[j] = k;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}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else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k = next[k];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}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                       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623050"/>
            <a:ext cx="9144000" cy="46038"/>
          </a:xfrm>
          <a:prstGeom prst="rect">
            <a:avLst/>
          </a:prstGeom>
          <a:solidFill>
            <a:srgbClr val="FF99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0" y="912813"/>
            <a:ext cx="9144000" cy="2232025"/>
          </a:xfrm>
          <a:prstGeom prst="rect">
            <a:avLst/>
          </a:prstGeom>
          <a:solidFill>
            <a:schemeClr val="accent1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/>
        </p:nvSpPr>
        <p:spPr>
          <a:xfrm>
            <a:off x="14288" y="1128713"/>
            <a:ext cx="9072563" cy="19446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j              1  2  3  4  5  6  7  8  9  10 11 12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模式串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 b  c   a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b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a  b   c 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b   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90"/>
          <p:cNvSpPr>
            <a:spLocks noChangeArrowheads="1"/>
          </p:cNvSpPr>
          <p:nvPr/>
        </p:nvSpPr>
        <p:spPr bwMode="auto">
          <a:xfrm>
            <a:off x="2127250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Rectangle 91"/>
          <p:cNvSpPr>
            <a:spLocks noChangeArrowheads="1"/>
          </p:cNvSpPr>
          <p:nvPr/>
        </p:nvSpPr>
        <p:spPr bwMode="auto">
          <a:xfrm>
            <a:off x="546100" y="2201863"/>
            <a:ext cx="1292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Line 92"/>
          <p:cNvSpPr>
            <a:spLocks noChangeShapeType="1"/>
          </p:cNvSpPr>
          <p:nvPr/>
        </p:nvSpPr>
        <p:spPr bwMode="auto">
          <a:xfrm flipV="1">
            <a:off x="85725" y="2209800"/>
            <a:ext cx="6521450" cy="2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Line 93"/>
          <p:cNvSpPr>
            <a:spLocks noChangeShapeType="1"/>
          </p:cNvSpPr>
          <p:nvPr/>
        </p:nvSpPr>
        <p:spPr bwMode="auto">
          <a:xfrm flipV="1">
            <a:off x="1804988" y="1233488"/>
            <a:ext cx="9525" cy="140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Rectangle 94"/>
          <p:cNvSpPr>
            <a:spLocks noChangeArrowheads="1"/>
          </p:cNvSpPr>
          <p:nvPr/>
        </p:nvSpPr>
        <p:spPr bwMode="auto">
          <a:xfrm>
            <a:off x="2487613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Rectangle 95"/>
          <p:cNvSpPr>
            <a:spLocks noChangeArrowheads="1"/>
          </p:cNvSpPr>
          <p:nvPr/>
        </p:nvSpPr>
        <p:spPr bwMode="auto">
          <a:xfrm>
            <a:off x="2846388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Rectangle 96"/>
          <p:cNvSpPr>
            <a:spLocks noChangeArrowheads="1"/>
          </p:cNvSpPr>
          <p:nvPr/>
        </p:nvSpPr>
        <p:spPr bwMode="auto">
          <a:xfrm>
            <a:off x="3206750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3567113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Rectangle 98"/>
          <p:cNvSpPr>
            <a:spLocks noChangeArrowheads="1"/>
          </p:cNvSpPr>
          <p:nvPr/>
        </p:nvSpPr>
        <p:spPr bwMode="auto">
          <a:xfrm>
            <a:off x="3927475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Rectangle 99"/>
          <p:cNvSpPr>
            <a:spLocks noChangeArrowheads="1"/>
          </p:cNvSpPr>
          <p:nvPr/>
        </p:nvSpPr>
        <p:spPr bwMode="auto">
          <a:xfrm>
            <a:off x="4329113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Rectangle 100"/>
          <p:cNvSpPr>
            <a:spLocks noChangeArrowheads="1"/>
          </p:cNvSpPr>
          <p:nvPr/>
        </p:nvSpPr>
        <p:spPr bwMode="auto">
          <a:xfrm>
            <a:off x="4675188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Rectangle 101"/>
          <p:cNvSpPr>
            <a:spLocks noChangeArrowheads="1"/>
          </p:cNvSpPr>
          <p:nvPr/>
        </p:nvSpPr>
        <p:spPr bwMode="auto">
          <a:xfrm>
            <a:off x="5006975" y="2209800"/>
            <a:ext cx="17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Rectangle 102"/>
          <p:cNvSpPr>
            <a:spLocks noChangeArrowheads="1"/>
          </p:cNvSpPr>
          <p:nvPr/>
        </p:nvSpPr>
        <p:spPr bwMode="auto">
          <a:xfrm>
            <a:off x="5395913" y="2209800"/>
            <a:ext cx="17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Rectangle 103"/>
          <p:cNvSpPr>
            <a:spLocks noChangeArrowheads="1"/>
          </p:cNvSpPr>
          <p:nvPr/>
        </p:nvSpPr>
        <p:spPr bwMode="auto">
          <a:xfrm>
            <a:off x="5870575" y="2209800"/>
            <a:ext cx="17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Rectangle 104"/>
          <p:cNvSpPr>
            <a:spLocks noChangeArrowheads="1"/>
          </p:cNvSpPr>
          <p:nvPr/>
        </p:nvSpPr>
        <p:spPr bwMode="auto">
          <a:xfrm>
            <a:off x="6288088" y="2209800"/>
            <a:ext cx="17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4226560" y="3180080"/>
            <a:ext cx="3465195" cy="49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marR="0" lvl="0" indent="-609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设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 = k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next[j+1] = ?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3496310" y="3933190"/>
            <a:ext cx="5590540" cy="1653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marR="0" lvl="0" indent="-609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①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若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18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18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，则有“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…p</a:t>
            </a:r>
            <a:r>
              <a: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k-1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”=“p</a:t>
            </a:r>
            <a:r>
              <a: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j-k+1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…p</a:t>
            </a:r>
            <a:r>
              <a: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j-1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1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，如果在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j+1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发生不匹配，说明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next[j+1] = k+1 = next[j]+1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②若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18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≠p</a:t>
            </a:r>
            <a:r>
              <a:rPr kumimoji="0" lang="en-US" altLang="zh-CN" sz="18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，可把求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值问题看成是一个模式匹配问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609600" marR="0" lvl="0" indent="-60960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题，整个模式串既是主串，又是子串。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2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43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2">
                                            <p:txEl>
                                              <p:charRg st="43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8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2">
                                            <p:txEl>
                                              <p:charRg st="87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charRg st="116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2">
                                            <p:txEl>
                                              <p:charRg st="116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 bwMode="auto">
          <a:xfrm>
            <a:off x="381000" y="2592388"/>
            <a:ext cx="8424863" cy="2551113"/>
          </a:xfrm>
          <a:prstGeom prst="roundRect">
            <a:avLst>
              <a:gd name="adj" fmla="val 4722"/>
            </a:avLst>
          </a:prstGeom>
          <a:solidFill>
            <a:srgbClr val="EAEA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381000" y="1966913"/>
            <a:ext cx="8424863" cy="503238"/>
          </a:xfrm>
          <a:prstGeom prst="round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937" name="Text Box 4"/>
          <p:cNvSpPr txBox="1">
            <a:spLocks noChangeArrowheads="1"/>
          </p:cNvSpPr>
          <p:nvPr/>
        </p:nvSpPr>
        <p:spPr bwMode="auto">
          <a:xfrm>
            <a:off x="511175" y="1844675"/>
            <a:ext cx="815340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算法的时间复杂度     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just" defTabSz="914400" rtl="0" eaLnBrk="0" fontAlgn="base" latinLnBrk="0" hangingPunct="0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设主串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的长度为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n,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模式串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长度为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m,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在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算法中求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数组的时间复杂度为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O(m),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在后面的匹配中因主串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的下标不减即不回溯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比较次数可记为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n,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所以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算法总的时间复杂度为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O(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n+m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 bwMode="auto">
          <a:xfrm>
            <a:off x="0" y="2205038"/>
            <a:ext cx="9144000" cy="2232025"/>
          </a:xfrm>
          <a:prstGeom prst="rect">
            <a:avLst/>
          </a:prstGeom>
          <a:solidFill>
            <a:schemeClr val="accent1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88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4288" y="2420938"/>
            <a:ext cx="9072563" cy="1944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j              1  2  3  4  5  6  7  8  9  10 11 12 13 14 15 16 17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模式串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 b  c   a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b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c  a   b   c   a  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b   d   a   b  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82" name="Rectangle 90"/>
          <p:cNvSpPr>
            <a:spLocks noChangeArrowheads="1"/>
          </p:cNvSpPr>
          <p:nvPr/>
        </p:nvSpPr>
        <p:spPr bwMode="auto">
          <a:xfrm>
            <a:off x="2127250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891" name="Rectangle 91"/>
          <p:cNvSpPr>
            <a:spLocks noChangeArrowheads="1"/>
          </p:cNvSpPr>
          <p:nvPr/>
        </p:nvSpPr>
        <p:spPr bwMode="auto">
          <a:xfrm>
            <a:off x="546100" y="3494088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892" name="Line 92"/>
          <p:cNvSpPr>
            <a:spLocks noChangeShapeType="1"/>
          </p:cNvSpPr>
          <p:nvPr/>
        </p:nvSpPr>
        <p:spPr bwMode="auto">
          <a:xfrm>
            <a:off x="85725" y="3522663"/>
            <a:ext cx="8713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893" name="Line 93"/>
          <p:cNvSpPr>
            <a:spLocks noChangeShapeType="1"/>
          </p:cNvSpPr>
          <p:nvPr/>
        </p:nvSpPr>
        <p:spPr bwMode="auto">
          <a:xfrm flipV="1">
            <a:off x="1804988" y="2525713"/>
            <a:ext cx="9525" cy="140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86" name="Rectangle 94"/>
          <p:cNvSpPr>
            <a:spLocks noChangeArrowheads="1"/>
          </p:cNvSpPr>
          <p:nvPr/>
        </p:nvSpPr>
        <p:spPr bwMode="auto">
          <a:xfrm>
            <a:off x="2487613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87" name="Rectangle 95"/>
          <p:cNvSpPr>
            <a:spLocks noChangeArrowheads="1"/>
          </p:cNvSpPr>
          <p:nvPr/>
        </p:nvSpPr>
        <p:spPr bwMode="auto">
          <a:xfrm>
            <a:off x="2846388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88" name="Rectangle 96"/>
          <p:cNvSpPr>
            <a:spLocks noChangeArrowheads="1"/>
          </p:cNvSpPr>
          <p:nvPr/>
        </p:nvSpPr>
        <p:spPr bwMode="auto">
          <a:xfrm>
            <a:off x="3206750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89" name="Rectangle 97"/>
          <p:cNvSpPr>
            <a:spLocks noChangeArrowheads="1"/>
          </p:cNvSpPr>
          <p:nvPr/>
        </p:nvSpPr>
        <p:spPr bwMode="auto">
          <a:xfrm>
            <a:off x="3567113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0" name="Rectangle 98"/>
          <p:cNvSpPr>
            <a:spLocks noChangeArrowheads="1"/>
          </p:cNvSpPr>
          <p:nvPr/>
        </p:nvSpPr>
        <p:spPr bwMode="auto">
          <a:xfrm>
            <a:off x="3927475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1" name="Rectangle 99"/>
          <p:cNvSpPr>
            <a:spLocks noChangeArrowheads="1"/>
          </p:cNvSpPr>
          <p:nvPr/>
        </p:nvSpPr>
        <p:spPr bwMode="auto">
          <a:xfrm>
            <a:off x="4329113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2" name="Rectangle 100"/>
          <p:cNvSpPr>
            <a:spLocks noChangeArrowheads="1"/>
          </p:cNvSpPr>
          <p:nvPr/>
        </p:nvSpPr>
        <p:spPr bwMode="auto">
          <a:xfrm>
            <a:off x="4675188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3" name="Rectangle 101"/>
          <p:cNvSpPr>
            <a:spLocks noChangeArrowheads="1"/>
          </p:cNvSpPr>
          <p:nvPr/>
        </p:nvSpPr>
        <p:spPr bwMode="auto">
          <a:xfrm>
            <a:off x="5006975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4" name="Rectangle 102"/>
          <p:cNvSpPr>
            <a:spLocks noChangeArrowheads="1"/>
          </p:cNvSpPr>
          <p:nvPr/>
        </p:nvSpPr>
        <p:spPr bwMode="auto">
          <a:xfrm>
            <a:off x="5395913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5" name="Rectangle 103"/>
          <p:cNvSpPr>
            <a:spLocks noChangeArrowheads="1"/>
          </p:cNvSpPr>
          <p:nvPr/>
        </p:nvSpPr>
        <p:spPr bwMode="auto">
          <a:xfrm>
            <a:off x="5870575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6" name="Rectangle 104"/>
          <p:cNvSpPr>
            <a:spLocks noChangeArrowheads="1"/>
          </p:cNvSpPr>
          <p:nvPr/>
        </p:nvSpPr>
        <p:spPr bwMode="auto">
          <a:xfrm>
            <a:off x="6288088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7" name="Rectangle 105"/>
          <p:cNvSpPr>
            <a:spLocks noChangeArrowheads="1"/>
          </p:cNvSpPr>
          <p:nvPr/>
        </p:nvSpPr>
        <p:spPr bwMode="auto">
          <a:xfrm>
            <a:off x="6764338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8" name="Rectangle 106"/>
          <p:cNvSpPr>
            <a:spLocks noChangeArrowheads="1"/>
          </p:cNvSpPr>
          <p:nvPr/>
        </p:nvSpPr>
        <p:spPr bwMode="auto">
          <a:xfrm>
            <a:off x="7224713" y="3502025"/>
            <a:ext cx="2063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6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9" name="Rectangle 107"/>
          <p:cNvSpPr>
            <a:spLocks noChangeArrowheads="1"/>
          </p:cNvSpPr>
          <p:nvPr/>
        </p:nvSpPr>
        <p:spPr bwMode="auto">
          <a:xfrm>
            <a:off x="7642225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7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300" name="Rectangle 108"/>
          <p:cNvSpPr>
            <a:spLocks noChangeArrowheads="1"/>
          </p:cNvSpPr>
          <p:nvPr/>
        </p:nvSpPr>
        <p:spPr bwMode="auto">
          <a:xfrm>
            <a:off x="8102600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301" name="Rectangle 109"/>
          <p:cNvSpPr>
            <a:spLocks noChangeArrowheads="1"/>
          </p:cNvSpPr>
          <p:nvPr/>
        </p:nvSpPr>
        <p:spPr bwMode="auto">
          <a:xfrm>
            <a:off x="8548688" y="35020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6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3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36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36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82" grpId="0"/>
      <p:bldP spid="136286" grpId="0"/>
      <p:bldP spid="136287" grpId="0"/>
      <p:bldP spid="136288" grpId="0"/>
      <p:bldP spid="136289" grpId="0"/>
      <p:bldP spid="136290" grpId="0"/>
      <p:bldP spid="136291" grpId="0"/>
      <p:bldP spid="136292" grpId="0"/>
      <p:bldP spid="136293" grpId="0"/>
      <p:bldP spid="136294" grpId="0"/>
      <p:bldP spid="136295" grpId="0"/>
      <p:bldP spid="136296" grpId="0"/>
      <p:bldP spid="136297" grpId="0"/>
      <p:bldP spid="136298" grpId="0"/>
      <p:bldP spid="136299" grpId="0"/>
      <p:bldP spid="136300" grpId="0"/>
      <p:bldP spid="13630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 bwMode="auto">
          <a:xfrm>
            <a:off x="0" y="1844675"/>
            <a:ext cx="4427538" cy="46799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0" y="1042988"/>
            <a:ext cx="8772525" cy="649288"/>
          </a:xfrm>
          <a:solidFill>
            <a:srgbClr val="CCCCFF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函数的改进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4583113" y="1854200"/>
            <a:ext cx="4198938" cy="2124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j          1 2 3 4 5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模式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b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 0 1 2 3 4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nextval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[j] 0 0 0 0 4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9269" name="Text Box 5"/>
          <p:cNvSpPr txBox="1">
            <a:spLocks noChangeArrowheads="1"/>
          </p:cNvSpPr>
          <p:nvPr/>
        </p:nvSpPr>
        <p:spPr bwMode="auto">
          <a:xfrm>
            <a:off x="355600" y="2297113"/>
            <a:ext cx="3384550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a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b a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b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a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a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②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a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③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a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a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b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 5; j = 1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4" name="Line 6"/>
          <p:cNvSpPr>
            <a:spLocks noChangeShapeType="1"/>
          </p:cNvSpPr>
          <p:nvPr/>
        </p:nvSpPr>
        <p:spPr bwMode="auto">
          <a:xfrm>
            <a:off x="1866900" y="2097088"/>
            <a:ext cx="0" cy="2873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5" name="Text Box 7"/>
          <p:cNvSpPr txBox="1">
            <a:spLocks noChangeArrowheads="1"/>
          </p:cNvSpPr>
          <p:nvPr/>
        </p:nvSpPr>
        <p:spPr bwMode="auto">
          <a:xfrm>
            <a:off x="1982788" y="2154238"/>
            <a:ext cx="46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i=4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6" name="Line 8"/>
          <p:cNvSpPr>
            <a:spLocks noChangeShapeType="1"/>
          </p:cNvSpPr>
          <p:nvPr/>
        </p:nvSpPr>
        <p:spPr bwMode="auto">
          <a:xfrm flipV="1">
            <a:off x="1866900" y="3233738"/>
            <a:ext cx="0" cy="2873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7" name="Text Box 9"/>
          <p:cNvSpPr txBox="1">
            <a:spLocks noChangeArrowheads="1"/>
          </p:cNvSpPr>
          <p:nvPr/>
        </p:nvSpPr>
        <p:spPr bwMode="auto">
          <a:xfrm>
            <a:off x="1939925" y="3162300"/>
            <a:ext cx="46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j=4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8" name="Text Box 10"/>
          <p:cNvSpPr txBox="1">
            <a:spLocks noChangeArrowheads="1"/>
          </p:cNvSpPr>
          <p:nvPr/>
        </p:nvSpPr>
        <p:spPr bwMode="auto">
          <a:xfrm>
            <a:off x="2011363" y="3954463"/>
            <a:ext cx="46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j=3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69" name="Text Box 11"/>
          <p:cNvSpPr txBox="1">
            <a:spLocks noChangeArrowheads="1"/>
          </p:cNvSpPr>
          <p:nvPr/>
        </p:nvSpPr>
        <p:spPr bwMode="auto">
          <a:xfrm>
            <a:off x="2011363" y="5105400"/>
            <a:ext cx="46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j=1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70" name="Text Box 12"/>
          <p:cNvSpPr txBox="1">
            <a:spLocks noChangeArrowheads="1"/>
          </p:cNvSpPr>
          <p:nvPr/>
        </p:nvSpPr>
        <p:spPr bwMode="auto">
          <a:xfrm>
            <a:off x="1997075" y="4530725"/>
            <a:ext cx="46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j=2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71" name="Line 13"/>
          <p:cNvSpPr>
            <a:spLocks noChangeShapeType="1"/>
          </p:cNvSpPr>
          <p:nvPr/>
        </p:nvSpPr>
        <p:spPr bwMode="auto">
          <a:xfrm flipV="1">
            <a:off x="1866900" y="3897313"/>
            <a:ext cx="0" cy="2873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72" name="Line 14"/>
          <p:cNvSpPr>
            <a:spLocks noChangeShapeType="1"/>
          </p:cNvSpPr>
          <p:nvPr/>
        </p:nvSpPr>
        <p:spPr bwMode="auto">
          <a:xfrm flipV="1">
            <a:off x="1866900" y="4457700"/>
            <a:ext cx="0" cy="2873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973" name="Line 15"/>
          <p:cNvSpPr>
            <a:spLocks noChangeShapeType="1"/>
          </p:cNvSpPr>
          <p:nvPr/>
        </p:nvSpPr>
        <p:spPr bwMode="auto">
          <a:xfrm flipV="1">
            <a:off x="1866900" y="5105400"/>
            <a:ext cx="0" cy="2873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9280" name="Text Box 16"/>
          <p:cNvSpPr txBox="1">
            <a:spLocks noChangeArrowheads="1"/>
          </p:cNvSpPr>
          <p:nvPr/>
        </p:nvSpPr>
        <p:spPr bwMode="auto">
          <a:xfrm>
            <a:off x="4572000" y="4138613"/>
            <a:ext cx="4195763" cy="1989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 = 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，则 主串中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j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不等时，不需再和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进行比较，而直接和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  <a:r>
              <a:rPr kumimoji="0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[k]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进行比较。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4594225" y="6288088"/>
            <a:ext cx="4187825" cy="2365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charRg st="7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269">
                                            <p:txEl>
                                              <p:charRg st="77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charRg st="105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9269">
                                            <p:txEl>
                                              <p:charRg st="105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>
                                            <p:txEl>
                                              <p:charRg st="57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9268">
                                            <p:txEl>
                                              <p:charRg st="57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8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 bwMode="auto">
          <a:xfrm>
            <a:off x="0" y="908050"/>
            <a:ext cx="9144000" cy="5616575"/>
          </a:xfrm>
          <a:prstGeom prst="rect">
            <a:avLst/>
          </a:prstGeom>
          <a:solidFill>
            <a:schemeClr val="bg2">
              <a:lumMod val="20000"/>
              <a:lumOff val="80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1316" name="Rectangle 4"/>
          <p:cNvSpPr>
            <a:spLocks noGrp="1" noChangeArrowheads="1"/>
          </p:cNvSpPr>
          <p:nvPr>
            <p:ph idx="1" hasCustomPrompt="1"/>
          </p:nvPr>
        </p:nvSpPr>
        <p:spPr>
          <a:xfrm>
            <a:off x="323850" y="908050"/>
            <a:ext cx="7129463" cy="5616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void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get_nextval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SString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T, int &amp;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nextval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[])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j= 1;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nextval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[1] = 0; k = 0;  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while( j&lt;T[0]){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if(k==0 || T[j] == T[k]){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++j; ++k;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if(T[j] != T[k])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nextval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[j] = k;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      else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nextval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[j] =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nextval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[k];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    else  k =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nextval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[k];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}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                            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1317" name="Text Box 5"/>
          <p:cNvSpPr txBox="1">
            <a:spLocks noChangeArrowheads="1"/>
          </p:cNvSpPr>
          <p:nvPr/>
        </p:nvSpPr>
        <p:spPr bwMode="auto">
          <a:xfrm>
            <a:off x="6624638" y="4583113"/>
            <a:ext cx="1655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 = j;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831850" y="2032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计算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函数修正值的算法（算法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4.8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23050"/>
            <a:ext cx="9144000" cy="46038"/>
          </a:xfrm>
          <a:prstGeom prst="rect">
            <a:avLst/>
          </a:prstGeom>
          <a:solidFill>
            <a:srgbClr val="FF99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charRg st="174" end="2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1316">
                                            <p:txEl>
                                              <p:charRg st="174" end="2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>
                                            <p:txEl>
                                              <p:charRg st="223" end="2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1316">
                                            <p:txEl>
                                              <p:charRg st="223" end="2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4"/>
          <p:cNvSpPr>
            <a:spLocks noGrp="1" noChangeArrowheads="1"/>
          </p:cNvSpPr>
          <p:nvPr>
            <p:ph idx="1" hasCustomPrompt="1"/>
          </p:nvPr>
        </p:nvSpPr>
        <p:spPr>
          <a:xfrm>
            <a:off x="-179387" y="1997075"/>
            <a:ext cx="9144000" cy="1657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j              1  2  3  4  5  6  7  8  9  10 11 12 13 14 15 16 17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模式串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 b  c  a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b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c  a   b   c   a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b   d   a   b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     0  1  1  1  2  2  3  1  1   2   3   4   5   6   7   1   2  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293" name="Rectangle 5"/>
          <p:cNvSpPr>
            <a:spLocks noChangeArrowheads="1"/>
          </p:cNvSpPr>
          <p:nvPr/>
        </p:nvSpPr>
        <p:spPr bwMode="auto">
          <a:xfrm>
            <a:off x="1900238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987" name="Rectangle 6"/>
          <p:cNvSpPr>
            <a:spLocks noChangeArrowheads="1"/>
          </p:cNvSpPr>
          <p:nvPr/>
        </p:nvSpPr>
        <p:spPr bwMode="auto">
          <a:xfrm>
            <a:off x="93663" y="3654425"/>
            <a:ext cx="143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nextval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[j]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988" name="Line 7"/>
          <p:cNvSpPr>
            <a:spLocks noChangeShapeType="1"/>
          </p:cNvSpPr>
          <p:nvPr/>
        </p:nvSpPr>
        <p:spPr bwMode="auto">
          <a:xfrm>
            <a:off x="273050" y="3151188"/>
            <a:ext cx="8713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989" name="Line 8"/>
          <p:cNvSpPr>
            <a:spLocks noChangeShapeType="1"/>
          </p:cNvSpPr>
          <p:nvPr/>
        </p:nvSpPr>
        <p:spPr bwMode="auto">
          <a:xfrm flipH="1" flipV="1">
            <a:off x="1570038" y="2143125"/>
            <a:ext cx="0" cy="1944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297" name="Rectangle 9"/>
          <p:cNvSpPr>
            <a:spLocks noChangeArrowheads="1"/>
          </p:cNvSpPr>
          <p:nvPr/>
        </p:nvSpPr>
        <p:spPr bwMode="auto">
          <a:xfrm>
            <a:off x="2246313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298" name="Rectangle 10"/>
          <p:cNvSpPr>
            <a:spLocks noChangeArrowheads="1"/>
          </p:cNvSpPr>
          <p:nvPr/>
        </p:nvSpPr>
        <p:spPr bwMode="auto">
          <a:xfrm>
            <a:off x="2592388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299" name="Rectangle 11"/>
          <p:cNvSpPr>
            <a:spLocks noChangeArrowheads="1"/>
          </p:cNvSpPr>
          <p:nvPr/>
        </p:nvSpPr>
        <p:spPr bwMode="auto">
          <a:xfrm>
            <a:off x="2967038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0" name="Rectangle 12"/>
          <p:cNvSpPr>
            <a:spLocks noChangeArrowheads="1"/>
          </p:cNvSpPr>
          <p:nvPr/>
        </p:nvSpPr>
        <p:spPr bwMode="auto">
          <a:xfrm>
            <a:off x="3327400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1" name="Rectangle 13"/>
          <p:cNvSpPr>
            <a:spLocks noChangeArrowheads="1"/>
          </p:cNvSpPr>
          <p:nvPr/>
        </p:nvSpPr>
        <p:spPr bwMode="auto">
          <a:xfrm>
            <a:off x="3686175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2" name="Rectangle 14"/>
          <p:cNvSpPr>
            <a:spLocks noChangeArrowheads="1"/>
          </p:cNvSpPr>
          <p:nvPr/>
        </p:nvSpPr>
        <p:spPr bwMode="auto">
          <a:xfrm>
            <a:off x="4046538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3" name="Rectangle 15"/>
          <p:cNvSpPr>
            <a:spLocks noChangeArrowheads="1"/>
          </p:cNvSpPr>
          <p:nvPr/>
        </p:nvSpPr>
        <p:spPr bwMode="auto">
          <a:xfrm>
            <a:off x="4392613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4" name="Rectangle 16"/>
          <p:cNvSpPr>
            <a:spLocks noChangeArrowheads="1"/>
          </p:cNvSpPr>
          <p:nvPr/>
        </p:nvSpPr>
        <p:spPr bwMode="auto">
          <a:xfrm>
            <a:off x="4752975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5" name="Rectangle 17"/>
          <p:cNvSpPr>
            <a:spLocks noChangeArrowheads="1"/>
          </p:cNvSpPr>
          <p:nvPr/>
        </p:nvSpPr>
        <p:spPr bwMode="auto">
          <a:xfrm>
            <a:off x="5170488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6" name="Rectangle 18"/>
          <p:cNvSpPr>
            <a:spLocks noChangeArrowheads="1"/>
          </p:cNvSpPr>
          <p:nvPr/>
        </p:nvSpPr>
        <p:spPr bwMode="auto">
          <a:xfrm>
            <a:off x="5602288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7" name="Rectangle 19"/>
          <p:cNvSpPr>
            <a:spLocks noChangeArrowheads="1"/>
          </p:cNvSpPr>
          <p:nvPr/>
        </p:nvSpPr>
        <p:spPr bwMode="auto">
          <a:xfrm>
            <a:off x="6107113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8" name="Rectangle 20"/>
          <p:cNvSpPr>
            <a:spLocks noChangeArrowheads="1"/>
          </p:cNvSpPr>
          <p:nvPr/>
        </p:nvSpPr>
        <p:spPr bwMode="auto">
          <a:xfrm>
            <a:off x="6538913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9" name="Rectangle 21"/>
          <p:cNvSpPr>
            <a:spLocks noChangeArrowheads="1"/>
          </p:cNvSpPr>
          <p:nvPr/>
        </p:nvSpPr>
        <p:spPr bwMode="auto">
          <a:xfrm>
            <a:off x="6970713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10" name="Rectangle 22"/>
          <p:cNvSpPr>
            <a:spLocks noChangeArrowheads="1"/>
          </p:cNvSpPr>
          <p:nvPr/>
        </p:nvSpPr>
        <p:spPr bwMode="auto">
          <a:xfrm>
            <a:off x="7431088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7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11" name="Rectangle 23"/>
          <p:cNvSpPr>
            <a:spLocks noChangeArrowheads="1"/>
          </p:cNvSpPr>
          <p:nvPr/>
        </p:nvSpPr>
        <p:spPr bwMode="auto">
          <a:xfrm>
            <a:off x="7862888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12" name="Rectangle 24"/>
          <p:cNvSpPr>
            <a:spLocks noChangeArrowheads="1"/>
          </p:cNvSpPr>
          <p:nvPr/>
        </p:nvSpPr>
        <p:spPr bwMode="auto">
          <a:xfrm>
            <a:off x="8382000" y="371157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算法设计思想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0" y="1854200"/>
            <a:ext cx="9144000" cy="2592388"/>
          </a:xfrm>
          <a:prstGeom prst="rect">
            <a:avLst/>
          </a:prstGeom>
          <a:solidFill>
            <a:schemeClr val="accent1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4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4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4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4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4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4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3" grpId="0"/>
      <p:bldP spid="140297" grpId="0"/>
      <p:bldP spid="140298" grpId="0"/>
      <p:bldP spid="140299" grpId="0"/>
      <p:bldP spid="140300" grpId="0"/>
      <p:bldP spid="140301" grpId="0"/>
      <p:bldP spid="140302" grpId="0"/>
      <p:bldP spid="140303" grpId="0"/>
      <p:bldP spid="140304" grpId="0"/>
      <p:bldP spid="140305" grpId="0"/>
      <p:bldP spid="140306" grpId="0"/>
      <p:bldP spid="140307" grpId="0"/>
      <p:bldP spid="140308" grpId="0"/>
      <p:bldP spid="140309" grpId="0"/>
      <p:bldP spid="140310" grpId="0"/>
      <p:bldP spid="140311" grpId="0"/>
      <p:bldP spid="1403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 bwMode="auto">
          <a:xfrm>
            <a:off x="0" y="912813"/>
            <a:ext cx="9144000" cy="2232025"/>
          </a:xfrm>
          <a:prstGeom prst="rect">
            <a:avLst/>
          </a:prstGeom>
          <a:solidFill>
            <a:schemeClr val="accent1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88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14288" y="1128713"/>
            <a:ext cx="9072563" cy="1944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j              1  2  3  4  5  6  7  8  9  10 11 12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模式串    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  a  b   a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b  a  a  b   a  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c    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82" name="Rectangle 90"/>
          <p:cNvSpPr>
            <a:spLocks noChangeArrowheads="1"/>
          </p:cNvSpPr>
          <p:nvPr/>
        </p:nvSpPr>
        <p:spPr bwMode="auto">
          <a:xfrm>
            <a:off x="2127250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891" name="Rectangle 91"/>
          <p:cNvSpPr>
            <a:spLocks noChangeArrowheads="1"/>
          </p:cNvSpPr>
          <p:nvPr/>
        </p:nvSpPr>
        <p:spPr bwMode="auto">
          <a:xfrm>
            <a:off x="546100" y="2201863"/>
            <a:ext cx="1358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next[j]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892" name="Line 92"/>
          <p:cNvSpPr>
            <a:spLocks noChangeShapeType="1"/>
          </p:cNvSpPr>
          <p:nvPr/>
        </p:nvSpPr>
        <p:spPr bwMode="auto">
          <a:xfrm flipV="1">
            <a:off x="85725" y="2209800"/>
            <a:ext cx="6521450" cy="22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893" name="Line 93"/>
          <p:cNvSpPr>
            <a:spLocks noChangeShapeType="1"/>
          </p:cNvSpPr>
          <p:nvPr/>
        </p:nvSpPr>
        <p:spPr bwMode="auto">
          <a:xfrm flipV="1">
            <a:off x="1804988" y="1233488"/>
            <a:ext cx="17463" cy="1831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86" name="Rectangle 94"/>
          <p:cNvSpPr>
            <a:spLocks noChangeArrowheads="1"/>
          </p:cNvSpPr>
          <p:nvPr/>
        </p:nvSpPr>
        <p:spPr bwMode="auto">
          <a:xfrm>
            <a:off x="2487613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87" name="Rectangle 95"/>
          <p:cNvSpPr>
            <a:spLocks noChangeArrowheads="1"/>
          </p:cNvSpPr>
          <p:nvPr/>
        </p:nvSpPr>
        <p:spPr bwMode="auto">
          <a:xfrm>
            <a:off x="2846388" y="220980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88" name="Rectangle 96"/>
          <p:cNvSpPr>
            <a:spLocks noChangeArrowheads="1"/>
          </p:cNvSpPr>
          <p:nvPr/>
        </p:nvSpPr>
        <p:spPr bwMode="auto">
          <a:xfrm>
            <a:off x="3206750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89" name="Rectangle 97"/>
          <p:cNvSpPr>
            <a:spLocks noChangeArrowheads="1"/>
          </p:cNvSpPr>
          <p:nvPr/>
        </p:nvSpPr>
        <p:spPr bwMode="auto">
          <a:xfrm>
            <a:off x="3567113" y="22098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0" name="Rectangle 98"/>
          <p:cNvSpPr>
            <a:spLocks noChangeArrowheads="1"/>
          </p:cNvSpPr>
          <p:nvPr/>
        </p:nvSpPr>
        <p:spPr bwMode="auto">
          <a:xfrm>
            <a:off x="3927475" y="220980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3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1" name="Rectangle 99"/>
          <p:cNvSpPr>
            <a:spLocks noChangeArrowheads="1"/>
          </p:cNvSpPr>
          <p:nvPr/>
        </p:nvSpPr>
        <p:spPr bwMode="auto">
          <a:xfrm>
            <a:off x="4329113" y="220980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4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2" name="Rectangle 100"/>
          <p:cNvSpPr>
            <a:spLocks noChangeArrowheads="1"/>
          </p:cNvSpPr>
          <p:nvPr/>
        </p:nvSpPr>
        <p:spPr bwMode="auto">
          <a:xfrm>
            <a:off x="4675188" y="220980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5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3" name="Rectangle 101"/>
          <p:cNvSpPr>
            <a:spLocks noChangeArrowheads="1"/>
          </p:cNvSpPr>
          <p:nvPr/>
        </p:nvSpPr>
        <p:spPr bwMode="auto">
          <a:xfrm>
            <a:off x="5006975" y="220980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6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4" name="Rectangle 102"/>
          <p:cNvSpPr>
            <a:spLocks noChangeArrowheads="1"/>
          </p:cNvSpPr>
          <p:nvPr/>
        </p:nvSpPr>
        <p:spPr bwMode="auto">
          <a:xfrm>
            <a:off x="5395913" y="220980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7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5" name="Rectangle 103"/>
          <p:cNvSpPr>
            <a:spLocks noChangeArrowheads="1"/>
          </p:cNvSpPr>
          <p:nvPr/>
        </p:nvSpPr>
        <p:spPr bwMode="auto">
          <a:xfrm>
            <a:off x="5870575" y="220980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8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6296" name="Rectangle 104"/>
          <p:cNvSpPr>
            <a:spLocks noChangeArrowheads="1"/>
          </p:cNvSpPr>
          <p:nvPr/>
        </p:nvSpPr>
        <p:spPr bwMode="auto">
          <a:xfrm>
            <a:off x="6288088" y="220980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9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Rectangle 53"/>
          <p:cNvSpPr>
            <a:spLocks noChangeArrowheads="1"/>
          </p:cNvSpPr>
          <p:nvPr/>
        </p:nvSpPr>
        <p:spPr bwMode="auto">
          <a:xfrm>
            <a:off x="844550" y="177800"/>
            <a:ext cx="6411913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练习题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293" name="Rectangle 5"/>
          <p:cNvSpPr>
            <a:spLocks noChangeArrowheads="1"/>
          </p:cNvSpPr>
          <p:nvPr/>
        </p:nvSpPr>
        <p:spPr bwMode="auto">
          <a:xfrm>
            <a:off x="2116138" y="263525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987" name="Rectangle 6"/>
          <p:cNvSpPr>
            <a:spLocks noChangeArrowheads="1"/>
          </p:cNvSpPr>
          <p:nvPr/>
        </p:nvSpPr>
        <p:spPr bwMode="auto">
          <a:xfrm>
            <a:off x="309563" y="2578100"/>
            <a:ext cx="143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nextval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[j]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297" name="Rectangle 9"/>
          <p:cNvSpPr>
            <a:spLocks noChangeArrowheads="1"/>
          </p:cNvSpPr>
          <p:nvPr/>
        </p:nvSpPr>
        <p:spPr bwMode="auto">
          <a:xfrm>
            <a:off x="2462213" y="263525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298" name="Rectangle 10"/>
          <p:cNvSpPr>
            <a:spLocks noChangeArrowheads="1"/>
          </p:cNvSpPr>
          <p:nvPr/>
        </p:nvSpPr>
        <p:spPr bwMode="auto">
          <a:xfrm>
            <a:off x="2808288" y="263525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299" name="Rectangle 11"/>
          <p:cNvSpPr>
            <a:spLocks noChangeArrowheads="1"/>
          </p:cNvSpPr>
          <p:nvPr/>
        </p:nvSpPr>
        <p:spPr bwMode="auto">
          <a:xfrm>
            <a:off x="3182938" y="263525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0" name="Rectangle 12"/>
          <p:cNvSpPr>
            <a:spLocks noChangeArrowheads="1"/>
          </p:cNvSpPr>
          <p:nvPr/>
        </p:nvSpPr>
        <p:spPr bwMode="auto">
          <a:xfrm>
            <a:off x="3543300" y="263525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1" name="Rectangle 13"/>
          <p:cNvSpPr>
            <a:spLocks noChangeArrowheads="1"/>
          </p:cNvSpPr>
          <p:nvPr/>
        </p:nvSpPr>
        <p:spPr bwMode="auto">
          <a:xfrm>
            <a:off x="3902075" y="263525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2" name="Rectangle 14"/>
          <p:cNvSpPr>
            <a:spLocks noChangeArrowheads="1"/>
          </p:cNvSpPr>
          <p:nvPr/>
        </p:nvSpPr>
        <p:spPr bwMode="auto">
          <a:xfrm>
            <a:off x="4262438" y="263525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3" name="Rectangle 15"/>
          <p:cNvSpPr>
            <a:spLocks noChangeArrowheads="1"/>
          </p:cNvSpPr>
          <p:nvPr/>
        </p:nvSpPr>
        <p:spPr bwMode="auto">
          <a:xfrm>
            <a:off x="4608513" y="263525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4" name="Rectangle 16"/>
          <p:cNvSpPr>
            <a:spLocks noChangeArrowheads="1"/>
          </p:cNvSpPr>
          <p:nvPr/>
        </p:nvSpPr>
        <p:spPr bwMode="auto">
          <a:xfrm>
            <a:off x="4968875" y="263525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5" name="Rectangle 17"/>
          <p:cNvSpPr>
            <a:spLocks noChangeArrowheads="1"/>
          </p:cNvSpPr>
          <p:nvPr/>
        </p:nvSpPr>
        <p:spPr bwMode="auto">
          <a:xfrm>
            <a:off x="5386388" y="263525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6" name="Rectangle 18"/>
          <p:cNvSpPr>
            <a:spLocks noChangeArrowheads="1"/>
          </p:cNvSpPr>
          <p:nvPr/>
        </p:nvSpPr>
        <p:spPr bwMode="auto">
          <a:xfrm>
            <a:off x="5818188" y="263525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307" name="Rectangle 19"/>
          <p:cNvSpPr>
            <a:spLocks noChangeArrowheads="1"/>
          </p:cNvSpPr>
          <p:nvPr/>
        </p:nvSpPr>
        <p:spPr bwMode="auto">
          <a:xfrm>
            <a:off x="6323013" y="2635250"/>
            <a:ext cx="177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9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6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4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4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4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82" grpId="0"/>
      <p:bldP spid="136286" grpId="0"/>
      <p:bldP spid="136287" grpId="0"/>
      <p:bldP spid="136288" grpId="0"/>
      <p:bldP spid="136289" grpId="0"/>
      <p:bldP spid="136290" grpId="0"/>
      <p:bldP spid="136291" grpId="0"/>
      <p:bldP spid="136292" grpId="0"/>
      <p:bldP spid="136293" grpId="0"/>
      <p:bldP spid="136294" grpId="0"/>
      <p:bldP spid="136295" grpId="0"/>
      <p:bldP spid="136296" grpId="0"/>
      <p:bldP spid="140293" grpId="0"/>
      <p:bldP spid="140297" grpId="0"/>
      <p:bldP spid="140298" grpId="0"/>
      <p:bldP spid="140299" grpId="0"/>
      <p:bldP spid="140300" grpId="0"/>
      <p:bldP spid="140301" grpId="0"/>
      <p:bldP spid="140302" grpId="0"/>
      <p:bldP spid="140303" grpId="0"/>
      <p:bldP spid="140304" grpId="0"/>
      <p:bldP spid="140305" grpId="0"/>
      <p:bldP spid="140306" grpId="0"/>
      <p:bldP spid="14030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41" name="图片 9"/>
          <p:cNvPicPr>
            <a:picLocks noChangeAspect="1"/>
          </p:cNvPicPr>
          <p:nvPr/>
        </p:nvPicPr>
        <p:blipFill>
          <a:blip r:embed="rId1"/>
          <a:srcRect l="1575"/>
          <a:stretch>
            <a:fillRect/>
          </a:stretch>
        </p:blipFill>
        <p:spPr>
          <a:xfrm>
            <a:off x="0" y="1588"/>
            <a:ext cx="9124950" cy="1831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42" name="矩形: 圆角 16"/>
          <p:cNvSpPr/>
          <p:nvPr/>
        </p:nvSpPr>
        <p:spPr>
          <a:xfrm>
            <a:off x="2576513" y="4406900"/>
            <a:ext cx="5199062" cy="504825"/>
          </a:xfrm>
          <a:prstGeom prst="roundRect">
            <a:avLst>
              <a:gd name="adj" fmla="val 16667"/>
            </a:avLst>
          </a:prstGeom>
          <a:solidFill>
            <a:srgbClr val="9476B6"/>
          </a:solidFill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</a:pP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2643" name="矩形: 圆角 15"/>
          <p:cNvSpPr/>
          <p:nvPr/>
        </p:nvSpPr>
        <p:spPr>
          <a:xfrm>
            <a:off x="1631950" y="4406900"/>
            <a:ext cx="839788" cy="504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</a:pP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525" y="1588"/>
            <a:ext cx="9151938" cy="2024063"/>
          </a:xfrm>
          <a:prstGeom prst="rect">
            <a:avLst/>
          </a:prstGeom>
          <a:solidFill>
            <a:schemeClr val="tx1">
              <a:alpha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Shape 26"/>
          <p:cNvSpPr/>
          <p:nvPr/>
        </p:nvSpPr>
        <p:spPr>
          <a:xfrm flipH="1">
            <a:off x="-36512" y="774700"/>
            <a:ext cx="9207500" cy="12604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2646" name="文本框 12"/>
          <p:cNvSpPr txBox="1"/>
          <p:nvPr/>
        </p:nvSpPr>
        <p:spPr>
          <a:xfrm>
            <a:off x="558800" y="331788"/>
            <a:ext cx="2573338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dist">
              <a:spcBef>
                <a:spcPct val="2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目录导航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12647" name="文本框 13"/>
          <p:cNvSpPr txBox="1"/>
          <p:nvPr/>
        </p:nvSpPr>
        <p:spPr>
          <a:xfrm>
            <a:off x="1751013" y="2420938"/>
            <a:ext cx="720725" cy="2528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4.1</a:t>
            </a:r>
            <a:endParaRPr lang="zh-CN" altLang="en-US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4.2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4.3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4.4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12648" name="文本框 14"/>
          <p:cNvSpPr txBox="1"/>
          <p:nvPr/>
        </p:nvSpPr>
        <p:spPr>
          <a:xfrm>
            <a:off x="2589213" y="2420938"/>
            <a:ext cx="5291137" cy="2528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串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案例引入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串的类型定义、存储结构及运算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案例分析与实现</a:t>
            </a:r>
            <a:endParaRPr lang="zh-CN" altLang="en-US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76600" y="457200"/>
            <a:ext cx="1366838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Contents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5" name="Rectangle 154"/>
          <p:cNvSpPr txBox="1"/>
          <p:nvPr/>
        </p:nvSpPr>
        <p:spPr>
          <a:xfrm>
            <a:off x="827088" y="192088"/>
            <a:ext cx="49339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lt"/>
              </a:rPr>
              <a:t>病毒感染检测</a:t>
            </a:r>
            <a:endParaRPr lang="zh-CN" altLang="en-US" sz="28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71686" name="Text Box 5"/>
          <p:cNvSpPr txBox="1">
            <a:spLocks noChangeArrowheads="1"/>
          </p:cNvSpPr>
          <p:nvPr/>
        </p:nvSpPr>
        <p:spPr bwMode="auto">
          <a:xfrm>
            <a:off x="611188" y="1125538"/>
            <a:ext cx="8718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案例分析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】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79388" y="1773238"/>
            <a:ext cx="8718550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800100" marR="0" lvl="1" indent="-342900" algn="l" defTabSz="914400" rtl="0" eaLnBrk="0" fontAlgn="base" latinLnBrk="0" hangingPunct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因为患者的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和病毒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均是由一些字母组成的字符    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串序列，要检测某种病毒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序列是否在患者的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列中出现过，实际上就是字符串的模式匹配问题。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可以利用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算法，也可以利用更高效的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但与一般的模式匹配问题不同的是，此案例中病毒的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序列是环状的。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这样需要对传统的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KMP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算法进行改进。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5"/>
          <p:cNvSpPr txBox="1">
            <a:spLocks noChangeArrowheads="1"/>
          </p:cNvSpPr>
          <p:nvPr/>
        </p:nvSpPr>
        <p:spPr bwMode="auto">
          <a:xfrm>
            <a:off x="539750" y="981075"/>
            <a:ext cx="8718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案例实现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】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4690" name="Rectangle 154"/>
          <p:cNvSpPr txBox="1"/>
          <p:nvPr/>
        </p:nvSpPr>
        <p:spPr>
          <a:xfrm>
            <a:off x="827088" y="192088"/>
            <a:ext cx="49339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lt"/>
              </a:rPr>
              <a:t>病毒感染检测</a:t>
            </a:r>
            <a:endParaRPr lang="zh-CN" altLang="en-US" sz="28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114691" name="Group 32"/>
          <p:cNvGrpSpPr/>
          <p:nvPr/>
        </p:nvGrpSpPr>
        <p:grpSpPr>
          <a:xfrm>
            <a:off x="801688" y="3500438"/>
            <a:ext cx="515937" cy="517525"/>
            <a:chOff x="6528170" y="3281715"/>
            <a:chExt cx="914400" cy="914400"/>
          </a:xfrm>
        </p:grpSpPr>
        <p:sp>
          <p:nvSpPr>
            <p:cNvPr id="26" name="Rounded Rectangle 8"/>
            <p:cNvSpPr/>
            <p:nvPr/>
          </p:nvSpPr>
          <p:spPr>
            <a:xfrm>
              <a:off x="6528170" y="3281715"/>
              <a:ext cx="914400" cy="914400"/>
            </a:xfrm>
            <a:prstGeom prst="roundRect">
              <a:avLst/>
            </a:prstGeom>
            <a:solidFill>
              <a:srgbClr val="4BACC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7" name="Group 69"/>
            <p:cNvGrpSpPr/>
            <p:nvPr/>
          </p:nvGrpSpPr>
          <p:grpSpPr>
            <a:xfrm>
              <a:off x="6759757" y="3506346"/>
              <a:ext cx="464344" cy="465138"/>
              <a:chOff x="7287419" y="3505994"/>
              <a:chExt cx="464344" cy="465138"/>
            </a:xfrm>
            <a:solidFill>
              <a:srgbClr val="EEECE1"/>
            </a:solidFill>
          </p:grpSpPr>
          <p:sp>
            <p:nvSpPr>
              <p:cNvPr id="28" name="AutoShape 37"/>
              <p:cNvSpPr/>
              <p:nvPr/>
            </p:nvSpPr>
            <p:spPr bwMode="auto">
              <a:xfrm>
                <a:off x="7287419" y="3549650"/>
                <a:ext cx="423069" cy="421482"/>
              </a:xfrm>
              <a:custGeom>
                <a:avLst/>
                <a:gdLst>
                  <a:gd name="T0" fmla="+- 0 10849 98"/>
                  <a:gd name="T1" fmla="*/ T0 w 21502"/>
                  <a:gd name="T2" fmla="*/ 10800 h 21600"/>
                  <a:gd name="T3" fmla="+- 0 10849 98"/>
                  <a:gd name="T4" fmla="*/ T3 w 21502"/>
                  <a:gd name="T5" fmla="*/ 10800 h 21600"/>
                  <a:gd name="T6" fmla="+- 0 10849 98"/>
                  <a:gd name="T7" fmla="*/ T6 w 21502"/>
                  <a:gd name="T8" fmla="*/ 10800 h 21600"/>
                  <a:gd name="T9" fmla="+- 0 10849 98"/>
                  <a:gd name="T10" fmla="*/ T9 w 21502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502" h="21600">
                    <a:moveTo>
                      <a:pt x="19917" y="7880"/>
                    </a:moveTo>
                    <a:lnTo>
                      <a:pt x="18875" y="8932"/>
                    </a:lnTo>
                    <a:cubicBezTo>
                      <a:pt x="18730" y="9079"/>
                      <a:pt x="18497" y="9079"/>
                      <a:pt x="18353" y="8932"/>
                    </a:cubicBezTo>
                    <a:lnTo>
                      <a:pt x="17048" y="7617"/>
                    </a:lnTo>
                    <a:lnTo>
                      <a:pt x="15991" y="10290"/>
                    </a:lnTo>
                    <a:lnTo>
                      <a:pt x="16080" y="10064"/>
                    </a:lnTo>
                    <a:cubicBezTo>
                      <a:pt x="13859" y="7826"/>
                      <a:pt x="11601" y="7544"/>
                      <a:pt x="9565" y="7291"/>
                    </a:cubicBezTo>
                    <a:cubicBezTo>
                      <a:pt x="8910" y="7210"/>
                      <a:pt x="8276" y="7126"/>
                      <a:pt x="7652" y="6990"/>
                    </a:cubicBezTo>
                    <a:lnTo>
                      <a:pt x="13918" y="4456"/>
                    </a:lnTo>
                    <a:lnTo>
                      <a:pt x="12652" y="3179"/>
                    </a:lnTo>
                    <a:cubicBezTo>
                      <a:pt x="12508" y="3033"/>
                      <a:pt x="12508" y="2798"/>
                      <a:pt x="12652" y="2652"/>
                    </a:cubicBezTo>
                    <a:lnTo>
                      <a:pt x="13695" y="1598"/>
                    </a:lnTo>
                    <a:cubicBezTo>
                      <a:pt x="13840" y="1453"/>
                      <a:pt x="14073" y="1453"/>
                      <a:pt x="14217" y="1598"/>
                    </a:cubicBezTo>
                    <a:lnTo>
                      <a:pt x="19917" y="7353"/>
                    </a:lnTo>
                    <a:cubicBezTo>
                      <a:pt x="20062" y="7499"/>
                      <a:pt x="20062" y="7734"/>
                      <a:pt x="19917" y="7880"/>
                    </a:cubicBezTo>
                    <a:moveTo>
                      <a:pt x="12292" y="19639"/>
                    </a:moveTo>
                    <a:cubicBezTo>
                      <a:pt x="12200" y="19872"/>
                      <a:pt x="11999" y="20044"/>
                      <a:pt x="11756" y="20095"/>
                    </a:cubicBezTo>
                    <a:cubicBezTo>
                      <a:pt x="11700" y="20106"/>
                      <a:pt x="11643" y="20111"/>
                      <a:pt x="11587" y="20110"/>
                    </a:cubicBezTo>
                    <a:cubicBezTo>
                      <a:pt x="11400" y="20105"/>
                      <a:pt x="11219" y="20030"/>
                      <a:pt x="11084" y="19892"/>
                    </a:cubicBezTo>
                    <a:lnTo>
                      <a:pt x="1692" y="10517"/>
                    </a:lnTo>
                    <a:cubicBezTo>
                      <a:pt x="1519" y="10343"/>
                      <a:pt x="1443" y="10094"/>
                      <a:pt x="1488" y="9852"/>
                    </a:cubicBezTo>
                    <a:cubicBezTo>
                      <a:pt x="1533" y="9610"/>
                      <a:pt x="1695" y="9407"/>
                      <a:pt x="1917" y="9308"/>
                    </a:cubicBezTo>
                    <a:lnTo>
                      <a:pt x="6505" y="7453"/>
                    </a:lnTo>
                    <a:cubicBezTo>
                      <a:pt x="9597" y="8490"/>
                      <a:pt x="12689" y="7491"/>
                      <a:pt x="15781" y="10821"/>
                    </a:cubicBezTo>
                    <a:cubicBezTo>
                      <a:pt x="15781" y="10821"/>
                      <a:pt x="12292" y="19639"/>
                      <a:pt x="12292" y="19639"/>
                    </a:cubicBezTo>
                    <a:close/>
                    <a:moveTo>
                      <a:pt x="15260" y="545"/>
                    </a:moveTo>
                    <a:cubicBezTo>
                      <a:pt x="14912" y="193"/>
                      <a:pt x="14449" y="0"/>
                      <a:pt x="13956" y="0"/>
                    </a:cubicBezTo>
                    <a:cubicBezTo>
                      <a:pt x="13463" y="0"/>
                      <a:pt x="13000" y="193"/>
                      <a:pt x="12651" y="546"/>
                    </a:cubicBezTo>
                    <a:lnTo>
                      <a:pt x="11610" y="1598"/>
                    </a:lnTo>
                    <a:cubicBezTo>
                      <a:pt x="11261" y="1949"/>
                      <a:pt x="11068" y="2417"/>
                      <a:pt x="11068" y="2915"/>
                    </a:cubicBezTo>
                    <a:cubicBezTo>
                      <a:pt x="11068" y="3265"/>
                      <a:pt x="11164" y="3601"/>
                      <a:pt x="11342" y="3893"/>
                    </a:cubicBezTo>
                    <a:lnTo>
                      <a:pt x="1324" y="7944"/>
                    </a:lnTo>
                    <a:cubicBezTo>
                      <a:pt x="654" y="8241"/>
                      <a:pt x="173" y="8851"/>
                      <a:pt x="38" y="9575"/>
                    </a:cubicBezTo>
                    <a:cubicBezTo>
                      <a:pt x="-98" y="10302"/>
                      <a:pt x="130" y="11048"/>
                      <a:pt x="654" y="11576"/>
                    </a:cubicBezTo>
                    <a:lnTo>
                      <a:pt x="10041" y="20946"/>
                    </a:lnTo>
                    <a:cubicBezTo>
                      <a:pt x="10445" y="21354"/>
                      <a:pt x="10982" y="21586"/>
                      <a:pt x="11549" y="21599"/>
                    </a:cubicBezTo>
                    <a:cubicBezTo>
                      <a:pt x="11562" y="21599"/>
                      <a:pt x="11593" y="21599"/>
                      <a:pt x="11605" y="21599"/>
                    </a:cubicBezTo>
                    <a:cubicBezTo>
                      <a:pt x="11754" y="21599"/>
                      <a:pt x="11906" y="21584"/>
                      <a:pt x="12056" y="21553"/>
                    </a:cubicBezTo>
                    <a:cubicBezTo>
                      <a:pt x="12789" y="21399"/>
                      <a:pt x="13390" y="20888"/>
                      <a:pt x="13662" y="20191"/>
                    </a:cubicBezTo>
                    <a:lnTo>
                      <a:pt x="17604" y="10229"/>
                    </a:lnTo>
                    <a:cubicBezTo>
                      <a:pt x="17902" y="10426"/>
                      <a:pt x="18250" y="10532"/>
                      <a:pt x="18613" y="10532"/>
                    </a:cubicBezTo>
                    <a:cubicBezTo>
                      <a:pt x="19107" y="10532"/>
                      <a:pt x="19570" y="10338"/>
                      <a:pt x="19918" y="9986"/>
                    </a:cubicBezTo>
                    <a:lnTo>
                      <a:pt x="20957" y="8937"/>
                    </a:lnTo>
                    <a:cubicBezTo>
                      <a:pt x="21308" y="8585"/>
                      <a:pt x="21502" y="8116"/>
                      <a:pt x="21502" y="7617"/>
                    </a:cubicBezTo>
                    <a:cubicBezTo>
                      <a:pt x="21502" y="7117"/>
                      <a:pt x="21308" y="6648"/>
                      <a:pt x="20961" y="6300"/>
                    </a:cubicBezTo>
                    <a:cubicBezTo>
                      <a:pt x="20961" y="6300"/>
                      <a:pt x="15260" y="545"/>
                      <a:pt x="15260" y="54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29" name="AutoShape 38"/>
              <p:cNvSpPr/>
              <p:nvPr/>
            </p:nvSpPr>
            <p:spPr bwMode="auto">
              <a:xfrm>
                <a:off x="7490619" y="3738563"/>
                <a:ext cx="72231" cy="730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4320"/>
                    </a:moveTo>
                    <a:cubicBezTo>
                      <a:pt x="14381" y="4320"/>
                      <a:pt x="17279" y="7222"/>
                      <a:pt x="17279" y="10800"/>
                    </a:cubicBezTo>
                    <a:cubicBezTo>
                      <a:pt x="17279" y="14377"/>
                      <a:pt x="14381" y="17279"/>
                      <a:pt x="10800" y="17279"/>
                    </a:cubicBezTo>
                    <a:cubicBezTo>
                      <a:pt x="7218" y="17279"/>
                      <a:pt x="4319" y="14377"/>
                      <a:pt x="4319" y="10800"/>
                    </a:cubicBezTo>
                    <a:cubicBezTo>
                      <a:pt x="4319" y="7222"/>
                      <a:pt x="7218" y="4320"/>
                      <a:pt x="10800" y="4320"/>
                    </a:cubicBezTo>
                    <a:moveTo>
                      <a:pt x="10800" y="21599"/>
                    </a:moveTo>
                    <a:cubicBezTo>
                      <a:pt x="16752" y="21599"/>
                      <a:pt x="21600" y="16756"/>
                      <a:pt x="21600" y="10800"/>
                    </a:cubicBezTo>
                    <a:cubicBezTo>
                      <a:pt x="21600" y="4843"/>
                      <a:pt x="16752" y="0"/>
                      <a:pt x="10800" y="0"/>
                    </a:cubicBezTo>
                    <a:cubicBezTo>
                      <a:pt x="4847" y="0"/>
                      <a:pt x="0" y="4843"/>
                      <a:pt x="0" y="10800"/>
                    </a:cubicBezTo>
                    <a:cubicBezTo>
                      <a:pt x="0" y="16756"/>
                      <a:pt x="4847" y="21599"/>
                      <a:pt x="10800" y="2159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0" name="AutoShape 39"/>
              <p:cNvSpPr/>
              <p:nvPr/>
            </p:nvSpPr>
            <p:spPr bwMode="auto">
              <a:xfrm>
                <a:off x="7679532" y="3505994"/>
                <a:ext cx="72231" cy="730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17279"/>
                    </a:moveTo>
                    <a:cubicBezTo>
                      <a:pt x="7218" y="17279"/>
                      <a:pt x="4320" y="14377"/>
                      <a:pt x="4320" y="10800"/>
                    </a:cubicBezTo>
                    <a:cubicBezTo>
                      <a:pt x="4320" y="7222"/>
                      <a:pt x="7218" y="4320"/>
                      <a:pt x="10800" y="4320"/>
                    </a:cubicBezTo>
                    <a:cubicBezTo>
                      <a:pt x="14381" y="4320"/>
                      <a:pt x="17280" y="7222"/>
                      <a:pt x="17280" y="10800"/>
                    </a:cubicBezTo>
                    <a:cubicBezTo>
                      <a:pt x="17280" y="14377"/>
                      <a:pt x="14381" y="17279"/>
                      <a:pt x="10800" y="17279"/>
                    </a:cubicBezTo>
                    <a:moveTo>
                      <a:pt x="10800" y="0"/>
                    </a:moveTo>
                    <a:cubicBezTo>
                      <a:pt x="4847" y="0"/>
                      <a:pt x="0" y="4843"/>
                      <a:pt x="0" y="10800"/>
                    </a:cubicBezTo>
                    <a:cubicBezTo>
                      <a:pt x="0" y="16756"/>
                      <a:pt x="4847" y="21599"/>
                      <a:pt x="10800" y="21599"/>
                    </a:cubicBezTo>
                    <a:cubicBezTo>
                      <a:pt x="16752" y="21599"/>
                      <a:pt x="21600" y="16756"/>
                      <a:pt x="21600" y="10800"/>
                    </a:cubicBezTo>
                    <a:cubicBezTo>
                      <a:pt x="21600" y="4843"/>
                      <a:pt x="16752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1" name="AutoShape 40"/>
              <p:cNvSpPr/>
              <p:nvPr/>
            </p:nvSpPr>
            <p:spPr bwMode="auto">
              <a:xfrm>
                <a:off x="7403307" y="3724275"/>
                <a:ext cx="57944" cy="579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5400"/>
                    </a:moveTo>
                    <a:cubicBezTo>
                      <a:pt x="13779" y="5400"/>
                      <a:pt x="16199" y="7815"/>
                      <a:pt x="16199" y="10800"/>
                    </a:cubicBezTo>
                    <a:cubicBezTo>
                      <a:pt x="16199" y="13784"/>
                      <a:pt x="13779" y="16200"/>
                      <a:pt x="10800" y="16200"/>
                    </a:cubicBezTo>
                    <a:cubicBezTo>
                      <a:pt x="7820" y="16200"/>
                      <a:pt x="5399" y="13784"/>
                      <a:pt x="5399" y="10800"/>
                    </a:cubicBezTo>
                    <a:cubicBezTo>
                      <a:pt x="5399" y="7815"/>
                      <a:pt x="7820" y="5400"/>
                      <a:pt x="10800" y="5400"/>
                    </a:cubicBezTo>
                    <a:moveTo>
                      <a:pt x="0" y="10800"/>
                    </a:moveTo>
                    <a:cubicBezTo>
                      <a:pt x="0" y="16753"/>
                      <a:pt x="4843" y="21599"/>
                      <a:pt x="10800" y="21599"/>
                    </a:cubicBezTo>
                    <a:cubicBezTo>
                      <a:pt x="16756" y="21599"/>
                      <a:pt x="21600" y="16753"/>
                      <a:pt x="21600" y="10800"/>
                    </a:cubicBezTo>
                    <a:cubicBezTo>
                      <a:pt x="21600" y="4846"/>
                      <a:pt x="16756" y="0"/>
                      <a:pt x="10800" y="0"/>
                    </a:cubicBezTo>
                    <a:cubicBezTo>
                      <a:pt x="4843" y="0"/>
                      <a:pt x="0" y="4846"/>
                      <a:pt x="0" y="1080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2" name="AutoShape 41"/>
              <p:cNvSpPr/>
              <p:nvPr/>
            </p:nvSpPr>
            <p:spPr bwMode="auto">
              <a:xfrm>
                <a:off x="7461250" y="3825875"/>
                <a:ext cx="29369" cy="2857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21599"/>
                    </a:moveTo>
                    <a:cubicBezTo>
                      <a:pt x="16758" y="21599"/>
                      <a:pt x="21600" y="16769"/>
                      <a:pt x="21600" y="10800"/>
                    </a:cubicBezTo>
                    <a:cubicBezTo>
                      <a:pt x="21600" y="4830"/>
                      <a:pt x="16758" y="0"/>
                      <a:pt x="10800" y="0"/>
                    </a:cubicBezTo>
                    <a:cubicBezTo>
                      <a:pt x="4841" y="0"/>
                      <a:pt x="0" y="4830"/>
                      <a:pt x="0" y="10800"/>
                    </a:cubicBezTo>
                    <a:cubicBezTo>
                      <a:pt x="0" y="16769"/>
                      <a:pt x="4841" y="21599"/>
                      <a:pt x="10800" y="21599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3" name="AutoShape 42"/>
              <p:cNvSpPr/>
              <p:nvPr/>
            </p:nvSpPr>
            <p:spPr bwMode="auto">
              <a:xfrm>
                <a:off x="7693819" y="3607594"/>
                <a:ext cx="28575" cy="2936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41" y="0"/>
                      <a:pt x="0" y="4830"/>
                      <a:pt x="0" y="10800"/>
                    </a:cubicBezTo>
                    <a:cubicBezTo>
                      <a:pt x="0" y="16769"/>
                      <a:pt x="4841" y="21599"/>
                      <a:pt x="10800" y="21599"/>
                    </a:cubicBezTo>
                    <a:cubicBezTo>
                      <a:pt x="16758" y="21599"/>
                      <a:pt x="21600" y="16769"/>
                      <a:pt x="21600" y="10800"/>
                    </a:cubicBezTo>
                    <a:cubicBezTo>
                      <a:pt x="21600" y="4830"/>
                      <a:pt x="16758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Gill Sans" charset="0"/>
                </a:endParaRPr>
              </a:p>
            </p:txBody>
          </p:sp>
        </p:grpSp>
      </p:grpSp>
      <p:grpSp>
        <p:nvGrpSpPr>
          <p:cNvPr id="114694" name="Group 33"/>
          <p:cNvGrpSpPr/>
          <p:nvPr/>
        </p:nvGrpSpPr>
        <p:grpSpPr>
          <a:xfrm>
            <a:off x="801688" y="4929188"/>
            <a:ext cx="515937" cy="515937"/>
            <a:chOff x="6528170" y="4684221"/>
            <a:chExt cx="914400" cy="914400"/>
          </a:xfrm>
        </p:grpSpPr>
        <p:sp>
          <p:nvSpPr>
            <p:cNvPr id="35" name="Rounded Rectangle 9"/>
            <p:cNvSpPr/>
            <p:nvPr/>
          </p:nvSpPr>
          <p:spPr>
            <a:xfrm>
              <a:off x="6528170" y="4684221"/>
              <a:ext cx="914400" cy="914400"/>
            </a:xfrm>
            <a:prstGeom prst="roundRect">
              <a:avLst/>
            </a:prstGeom>
            <a:solidFill>
              <a:srgbClr val="F7964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6" name="Group 76"/>
            <p:cNvGrpSpPr/>
            <p:nvPr/>
          </p:nvGrpSpPr>
          <p:grpSpPr>
            <a:xfrm>
              <a:off x="6748385" y="4909249"/>
              <a:ext cx="464344" cy="464344"/>
              <a:chOff x="7287419" y="2577307"/>
              <a:chExt cx="464344" cy="464344"/>
            </a:xfrm>
            <a:solidFill>
              <a:srgbClr val="EEECE1"/>
            </a:solidFill>
          </p:grpSpPr>
          <p:sp>
            <p:nvSpPr>
              <p:cNvPr id="37" name="AutoShape 56"/>
              <p:cNvSpPr/>
              <p:nvPr/>
            </p:nvSpPr>
            <p:spPr bwMode="auto">
              <a:xfrm>
                <a:off x="7287419" y="257730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8" name="AutoShape 57"/>
              <p:cNvSpPr/>
              <p:nvPr/>
            </p:nvSpPr>
            <p:spPr bwMode="auto">
              <a:xfrm>
                <a:off x="7606507" y="257730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39" name="AutoShape 58"/>
              <p:cNvSpPr/>
              <p:nvPr/>
            </p:nvSpPr>
            <p:spPr bwMode="auto">
              <a:xfrm>
                <a:off x="7446963" y="2577307"/>
                <a:ext cx="145257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15416"/>
                    </a:moveTo>
                    <a:cubicBezTo>
                      <a:pt x="16954" y="15452"/>
                      <a:pt x="16923" y="15487"/>
                      <a:pt x="16883" y="15523"/>
                    </a:cubicBezTo>
                    <a:cubicBezTo>
                      <a:pt x="16677" y="15701"/>
                      <a:pt x="16414" y="15870"/>
                      <a:pt x="16066" y="16020"/>
                    </a:cubicBezTo>
                    <a:cubicBezTo>
                      <a:pt x="16057" y="16024"/>
                      <a:pt x="16044" y="16027"/>
                      <a:pt x="16038" y="16031"/>
                    </a:cubicBezTo>
                    <a:cubicBezTo>
                      <a:pt x="15662" y="16192"/>
                      <a:pt x="15214" y="16334"/>
                      <a:pt x="14705" y="16454"/>
                    </a:cubicBezTo>
                    <a:cubicBezTo>
                      <a:pt x="14697" y="16457"/>
                      <a:pt x="14692" y="16458"/>
                      <a:pt x="14686" y="16459"/>
                    </a:cubicBezTo>
                    <a:cubicBezTo>
                      <a:pt x="14163" y="16582"/>
                      <a:pt x="13584" y="16681"/>
                      <a:pt x="12960" y="16749"/>
                    </a:cubicBezTo>
                    <a:cubicBezTo>
                      <a:pt x="12279" y="16826"/>
                      <a:pt x="11560" y="16875"/>
                      <a:pt x="10800" y="16875"/>
                    </a:cubicBezTo>
                    <a:cubicBezTo>
                      <a:pt x="10037" y="16875"/>
                      <a:pt x="9318" y="16826"/>
                      <a:pt x="8640" y="16749"/>
                    </a:cubicBezTo>
                    <a:cubicBezTo>
                      <a:pt x="8016" y="16681"/>
                      <a:pt x="7435" y="16582"/>
                      <a:pt x="6914" y="16459"/>
                    </a:cubicBezTo>
                    <a:cubicBezTo>
                      <a:pt x="6908" y="16458"/>
                      <a:pt x="6901" y="16457"/>
                      <a:pt x="6893" y="16454"/>
                    </a:cubicBezTo>
                    <a:cubicBezTo>
                      <a:pt x="6385" y="16334"/>
                      <a:pt x="5937" y="16192"/>
                      <a:pt x="5562" y="16031"/>
                    </a:cubicBezTo>
                    <a:cubicBezTo>
                      <a:pt x="5553" y="16027"/>
                      <a:pt x="5541" y="16024"/>
                      <a:pt x="5531" y="16020"/>
                    </a:cubicBezTo>
                    <a:cubicBezTo>
                      <a:pt x="5184" y="15870"/>
                      <a:pt x="4921" y="15701"/>
                      <a:pt x="4715" y="15523"/>
                    </a:cubicBezTo>
                    <a:cubicBezTo>
                      <a:pt x="4676" y="15487"/>
                      <a:pt x="4644" y="15452"/>
                      <a:pt x="4612" y="15416"/>
                    </a:cubicBezTo>
                    <a:cubicBezTo>
                      <a:pt x="4437" y="15236"/>
                      <a:pt x="4320" y="15047"/>
                      <a:pt x="4320" y="14850"/>
                    </a:cubicBezTo>
                    <a:cubicBezTo>
                      <a:pt x="4320" y="14650"/>
                      <a:pt x="4437" y="14462"/>
                      <a:pt x="4612" y="14281"/>
                    </a:cubicBezTo>
                    <a:cubicBezTo>
                      <a:pt x="4644" y="14246"/>
                      <a:pt x="4676" y="14210"/>
                      <a:pt x="4715" y="14176"/>
                    </a:cubicBezTo>
                    <a:cubicBezTo>
                      <a:pt x="4921" y="13998"/>
                      <a:pt x="5184" y="13829"/>
                      <a:pt x="5531" y="13677"/>
                    </a:cubicBezTo>
                    <a:cubicBezTo>
                      <a:pt x="5541" y="13674"/>
                      <a:pt x="5553" y="13671"/>
                      <a:pt x="5562" y="13667"/>
                    </a:cubicBezTo>
                    <a:cubicBezTo>
                      <a:pt x="5937" y="13507"/>
                      <a:pt x="6385" y="13364"/>
                      <a:pt x="6893" y="13244"/>
                    </a:cubicBezTo>
                    <a:cubicBezTo>
                      <a:pt x="6901" y="13242"/>
                      <a:pt x="6908" y="13240"/>
                      <a:pt x="6914" y="13238"/>
                    </a:cubicBezTo>
                    <a:cubicBezTo>
                      <a:pt x="7435" y="13117"/>
                      <a:pt x="8016" y="13018"/>
                      <a:pt x="8640" y="12948"/>
                    </a:cubicBezTo>
                    <a:cubicBezTo>
                      <a:pt x="9318" y="12873"/>
                      <a:pt x="10037" y="12825"/>
                      <a:pt x="10800" y="12825"/>
                    </a:cubicBezTo>
                    <a:cubicBezTo>
                      <a:pt x="11560" y="12825"/>
                      <a:pt x="12279" y="12873"/>
                      <a:pt x="12960" y="12948"/>
                    </a:cubicBezTo>
                    <a:cubicBezTo>
                      <a:pt x="13584" y="13018"/>
                      <a:pt x="14163" y="13117"/>
                      <a:pt x="14686" y="13238"/>
                    </a:cubicBezTo>
                    <a:cubicBezTo>
                      <a:pt x="14692" y="13240"/>
                      <a:pt x="14697" y="13242"/>
                      <a:pt x="14705" y="13244"/>
                    </a:cubicBezTo>
                    <a:cubicBezTo>
                      <a:pt x="15214" y="13364"/>
                      <a:pt x="15662" y="13507"/>
                      <a:pt x="16038" y="13667"/>
                    </a:cubicBezTo>
                    <a:cubicBezTo>
                      <a:pt x="16044" y="13671"/>
                      <a:pt x="16057" y="13674"/>
                      <a:pt x="16066" y="13677"/>
                    </a:cubicBezTo>
                    <a:cubicBezTo>
                      <a:pt x="16414" y="13829"/>
                      <a:pt x="16677" y="13998"/>
                      <a:pt x="16883" y="14176"/>
                    </a:cubicBezTo>
                    <a:cubicBezTo>
                      <a:pt x="16923" y="14210"/>
                      <a:pt x="16954" y="14246"/>
                      <a:pt x="16988" y="14281"/>
                    </a:cubicBezTo>
                    <a:cubicBezTo>
                      <a:pt x="17161" y="14462"/>
                      <a:pt x="17280" y="14650"/>
                      <a:pt x="17280" y="14850"/>
                    </a:cubicBezTo>
                    <a:cubicBezTo>
                      <a:pt x="17280" y="15047"/>
                      <a:pt x="17161" y="15236"/>
                      <a:pt x="16988" y="154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8156"/>
                    </a:lnTo>
                    <a:cubicBezTo>
                      <a:pt x="9338" y="18201"/>
                      <a:pt x="10059" y="18225"/>
                      <a:pt x="10800" y="18225"/>
                    </a:cubicBezTo>
                    <a:cubicBezTo>
                      <a:pt x="11541" y="18225"/>
                      <a:pt x="12262" y="18201"/>
                      <a:pt x="12960" y="18156"/>
                    </a:cubicBezTo>
                    <a:cubicBezTo>
                      <a:pt x="12960" y="181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11542"/>
                    </a:lnTo>
                    <a:cubicBezTo>
                      <a:pt x="12262" y="11498"/>
                      <a:pt x="11541" y="11475"/>
                      <a:pt x="10800" y="11475"/>
                    </a:cubicBezTo>
                    <a:cubicBezTo>
                      <a:pt x="10059" y="11475"/>
                      <a:pt x="9338" y="11498"/>
                      <a:pt x="8640" y="11542"/>
                    </a:cubicBezTo>
                    <a:cubicBezTo>
                      <a:pt x="8640" y="11542"/>
                      <a:pt x="8640" y="2025"/>
                      <a:pt x="8640" y="2025"/>
                    </a:cubicBezTo>
                    <a:close/>
                    <a:moveTo>
                      <a:pt x="17280" y="121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12164"/>
                    </a:lnTo>
                    <a:cubicBezTo>
                      <a:pt x="1710" y="12781"/>
                      <a:pt x="0" y="13749"/>
                      <a:pt x="0" y="14850"/>
                    </a:cubicBezTo>
                    <a:cubicBezTo>
                      <a:pt x="0" y="15950"/>
                      <a:pt x="1710" y="16918"/>
                      <a:pt x="4320" y="175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17534"/>
                    </a:lnTo>
                    <a:cubicBezTo>
                      <a:pt x="19889" y="16918"/>
                      <a:pt x="21600" y="15950"/>
                      <a:pt x="21600" y="14850"/>
                    </a:cubicBezTo>
                    <a:cubicBezTo>
                      <a:pt x="21600" y="13749"/>
                      <a:pt x="19889" y="12781"/>
                      <a:pt x="17280" y="121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</p:grpSp>
      </p:grpSp>
      <p:grpSp>
        <p:nvGrpSpPr>
          <p:cNvPr id="114697" name="Group 31"/>
          <p:cNvGrpSpPr/>
          <p:nvPr/>
        </p:nvGrpSpPr>
        <p:grpSpPr>
          <a:xfrm>
            <a:off x="801688" y="1620838"/>
            <a:ext cx="515937" cy="517525"/>
            <a:chOff x="6528170" y="1885071"/>
            <a:chExt cx="914400" cy="914400"/>
          </a:xfrm>
        </p:grpSpPr>
        <p:sp>
          <p:nvSpPr>
            <p:cNvPr id="41" name="Rounded Rectangle 7"/>
            <p:cNvSpPr/>
            <p:nvPr/>
          </p:nvSpPr>
          <p:spPr>
            <a:xfrm>
              <a:off x="6528170" y="1885071"/>
              <a:ext cx="914400" cy="914400"/>
            </a:xfrm>
            <a:prstGeom prst="roundRect">
              <a:avLst/>
            </a:prstGeom>
            <a:solidFill>
              <a:srgbClr val="8064A2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2" name="Group 83"/>
            <p:cNvGrpSpPr/>
            <p:nvPr/>
          </p:nvGrpSpPr>
          <p:grpSpPr>
            <a:xfrm>
              <a:off x="6758963" y="2110099"/>
              <a:ext cx="465138" cy="464344"/>
              <a:chOff x="2581275" y="2582069"/>
              <a:chExt cx="465138" cy="464344"/>
            </a:xfrm>
            <a:solidFill>
              <a:srgbClr val="EEECE1"/>
            </a:solidFill>
          </p:grpSpPr>
          <p:sp>
            <p:nvSpPr>
              <p:cNvPr id="43" name="AutoShape 128"/>
              <p:cNvSpPr/>
              <p:nvPr/>
            </p:nvSpPr>
            <p:spPr bwMode="auto">
              <a:xfrm>
                <a:off x="2581275" y="2582069"/>
                <a:ext cx="465138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50" y="12150"/>
                    </a:moveTo>
                    <a:cubicBezTo>
                      <a:pt x="13851" y="12150"/>
                      <a:pt x="12926" y="11859"/>
                      <a:pt x="12124" y="11386"/>
                    </a:cubicBezTo>
                    <a:lnTo>
                      <a:pt x="11892" y="11618"/>
                    </a:lnTo>
                    <a:lnTo>
                      <a:pt x="11132" y="12377"/>
                    </a:lnTo>
                    <a:lnTo>
                      <a:pt x="9846" y="13663"/>
                    </a:lnTo>
                    <a:cubicBezTo>
                      <a:pt x="9593" y="13916"/>
                      <a:pt x="9451" y="14260"/>
                      <a:pt x="9451" y="14617"/>
                    </a:cubicBezTo>
                    <a:lnTo>
                      <a:pt x="9451" y="16200"/>
                    </a:lnTo>
                    <a:lnTo>
                      <a:pt x="8101" y="16200"/>
                    </a:lnTo>
                    <a:cubicBezTo>
                      <a:pt x="7356" y="16200"/>
                      <a:pt x="6751" y="16804"/>
                      <a:pt x="6751" y="17549"/>
                    </a:cubicBezTo>
                    <a:lnTo>
                      <a:pt x="6751" y="18900"/>
                    </a:lnTo>
                    <a:lnTo>
                      <a:pt x="5170" y="18900"/>
                    </a:lnTo>
                    <a:cubicBezTo>
                      <a:pt x="4812" y="18900"/>
                      <a:pt x="4469" y="19042"/>
                      <a:pt x="4216" y="19295"/>
                    </a:cubicBezTo>
                    <a:lnTo>
                      <a:pt x="3259" y="20252"/>
                    </a:lnTo>
                    <a:lnTo>
                      <a:pt x="1352" y="20249"/>
                    </a:lnTo>
                    <a:lnTo>
                      <a:pt x="1350" y="18326"/>
                    </a:lnTo>
                    <a:lnTo>
                      <a:pt x="9223" y="10467"/>
                    </a:lnTo>
                    <a:cubicBezTo>
                      <a:pt x="9223" y="10467"/>
                      <a:pt x="9223" y="10467"/>
                      <a:pt x="9224" y="10468"/>
                    </a:cubicBezTo>
                    <a:lnTo>
                      <a:pt x="10215" y="9477"/>
                    </a:lnTo>
                    <a:cubicBezTo>
                      <a:pt x="9741" y="8674"/>
                      <a:pt x="9451" y="7748"/>
                      <a:pt x="9451" y="6750"/>
                    </a:cubicBezTo>
                    <a:cubicBezTo>
                      <a:pt x="9451" y="3767"/>
                      <a:pt x="11869" y="1350"/>
                      <a:pt x="14850" y="1350"/>
                    </a:cubicBezTo>
                    <a:cubicBezTo>
                      <a:pt x="17832" y="1350"/>
                      <a:pt x="20250" y="3767"/>
                      <a:pt x="20250" y="6750"/>
                    </a:cubicBezTo>
                    <a:cubicBezTo>
                      <a:pt x="20250" y="9732"/>
                      <a:pt x="17832" y="12150"/>
                      <a:pt x="14850" y="12150"/>
                    </a:cubicBezTo>
                    <a:moveTo>
                      <a:pt x="14850" y="0"/>
                    </a:moveTo>
                    <a:cubicBezTo>
                      <a:pt x="11123" y="0"/>
                      <a:pt x="8101" y="3022"/>
                      <a:pt x="8101" y="6750"/>
                    </a:cubicBezTo>
                    <a:cubicBezTo>
                      <a:pt x="8101" y="7617"/>
                      <a:pt x="8283" y="8438"/>
                      <a:pt x="8582" y="9199"/>
                    </a:cubicBezTo>
                    <a:lnTo>
                      <a:pt x="383" y="17400"/>
                    </a:lnTo>
                    <a:cubicBezTo>
                      <a:pt x="146" y="17637"/>
                      <a:pt x="0" y="17863"/>
                      <a:pt x="0" y="18225"/>
                    </a:cubicBezTo>
                    <a:lnTo>
                      <a:pt x="0" y="20249"/>
                    </a:lnTo>
                    <a:cubicBezTo>
                      <a:pt x="0" y="20972"/>
                      <a:pt x="626" y="21599"/>
                      <a:pt x="1349" y="21599"/>
                    </a:cubicBezTo>
                    <a:lnTo>
                      <a:pt x="3374" y="21599"/>
                    </a:lnTo>
                    <a:cubicBezTo>
                      <a:pt x="3736" y="21599"/>
                      <a:pt x="3965" y="21455"/>
                      <a:pt x="4202" y="21219"/>
                    </a:cubicBezTo>
                    <a:lnTo>
                      <a:pt x="5170" y="20249"/>
                    </a:lnTo>
                    <a:lnTo>
                      <a:pt x="6751" y="20249"/>
                    </a:lnTo>
                    <a:cubicBezTo>
                      <a:pt x="7496" y="20249"/>
                      <a:pt x="8101" y="19645"/>
                      <a:pt x="8101" y="18900"/>
                    </a:cubicBezTo>
                    <a:lnTo>
                      <a:pt x="8101" y="17549"/>
                    </a:lnTo>
                    <a:lnTo>
                      <a:pt x="9451" y="17549"/>
                    </a:lnTo>
                    <a:cubicBezTo>
                      <a:pt x="10196" y="17549"/>
                      <a:pt x="10801" y="16945"/>
                      <a:pt x="10801" y="16200"/>
                    </a:cubicBezTo>
                    <a:lnTo>
                      <a:pt x="10801" y="14617"/>
                    </a:lnTo>
                    <a:lnTo>
                      <a:pt x="12400" y="13018"/>
                    </a:lnTo>
                    <a:cubicBezTo>
                      <a:pt x="13162" y="13317"/>
                      <a:pt x="13982" y="13500"/>
                      <a:pt x="14850" y="13500"/>
                    </a:cubicBezTo>
                    <a:cubicBezTo>
                      <a:pt x="18577" y="13500"/>
                      <a:pt x="21599" y="10477"/>
                      <a:pt x="21599" y="6750"/>
                    </a:cubicBezTo>
                    <a:cubicBezTo>
                      <a:pt x="21599" y="3022"/>
                      <a:pt x="18577" y="0"/>
                      <a:pt x="1485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  <p:sp>
            <p:nvSpPr>
              <p:cNvPr id="44" name="AutoShape 129"/>
              <p:cNvSpPr/>
              <p:nvPr/>
            </p:nvSpPr>
            <p:spPr bwMode="auto">
              <a:xfrm>
                <a:off x="2871788" y="2640013"/>
                <a:ext cx="115888" cy="115888"/>
              </a:xfrm>
              <a:custGeom>
                <a:avLst/>
                <a:gdLst>
                  <a:gd name="T0" fmla="*/ 10800 w 21600"/>
                  <a:gd name="T1" fmla="+- 0 10800 134"/>
                  <a:gd name="T2" fmla="*/ 10800 h 21333"/>
                  <a:gd name="T3" fmla="*/ 10800 w 21600"/>
                  <a:gd name="T4" fmla="+- 0 10800 134"/>
                  <a:gd name="T5" fmla="*/ 10800 h 21333"/>
                  <a:gd name="T6" fmla="*/ 10800 w 21600"/>
                  <a:gd name="T7" fmla="+- 0 10800 134"/>
                  <a:gd name="T8" fmla="*/ 10800 h 21333"/>
                  <a:gd name="T9" fmla="*/ 10800 w 21600"/>
                  <a:gd name="T10" fmla="+- 0 10800 134"/>
                  <a:gd name="T11" fmla="*/ 10800 h 21333"/>
                </a:gdLst>
                <a:ahLst/>
                <a:cxnLst>
                  <a:cxn ang="0">
                    <a:pos x="T0" y="T2"/>
                  </a:cxn>
                  <a:cxn ang="0">
                    <a:pos x="T3" y="T5"/>
                  </a:cxn>
                  <a:cxn ang="0">
                    <a:pos x="T6" y="T8"/>
                  </a:cxn>
                  <a:cxn ang="0">
                    <a:pos x="T9" y="T11"/>
                  </a:cxn>
                </a:cxnLst>
                <a:rect l="0" t="0" r="r" b="b"/>
                <a:pathLst>
                  <a:path w="21600" h="21333">
                    <a:moveTo>
                      <a:pt x="13008" y="18684"/>
                    </a:moveTo>
                    <a:cubicBezTo>
                      <a:pt x="9017" y="15850"/>
                      <a:pt x="5542" y="12415"/>
                      <a:pt x="2694" y="8570"/>
                    </a:cubicBezTo>
                    <a:cubicBezTo>
                      <a:pt x="3736" y="5628"/>
                      <a:pt x="5693" y="3697"/>
                      <a:pt x="8585" y="2647"/>
                    </a:cubicBezTo>
                    <a:cubicBezTo>
                      <a:pt x="12578" y="5489"/>
                      <a:pt x="16048" y="8911"/>
                      <a:pt x="18889" y="12809"/>
                    </a:cubicBezTo>
                    <a:cubicBezTo>
                      <a:pt x="17836" y="15730"/>
                      <a:pt x="15883" y="17647"/>
                      <a:pt x="13008" y="18684"/>
                    </a:cubicBezTo>
                    <a:moveTo>
                      <a:pt x="21110" y="11295"/>
                    </a:moveTo>
                    <a:cubicBezTo>
                      <a:pt x="18081" y="7130"/>
                      <a:pt x="14396" y="3496"/>
                      <a:pt x="10161" y="484"/>
                    </a:cubicBezTo>
                    <a:cubicBezTo>
                      <a:pt x="9468" y="-8"/>
                      <a:pt x="8579" y="-134"/>
                      <a:pt x="7778" y="145"/>
                    </a:cubicBezTo>
                    <a:cubicBezTo>
                      <a:pt x="4027" y="1450"/>
                      <a:pt x="1463" y="3983"/>
                      <a:pt x="145" y="7687"/>
                    </a:cubicBezTo>
                    <a:cubicBezTo>
                      <a:pt x="46" y="7962"/>
                      <a:pt x="0" y="8252"/>
                      <a:pt x="0" y="8537"/>
                    </a:cubicBezTo>
                    <a:cubicBezTo>
                      <a:pt x="0" y="9071"/>
                      <a:pt x="167" y="9596"/>
                      <a:pt x="487" y="10041"/>
                    </a:cubicBezTo>
                    <a:cubicBezTo>
                      <a:pt x="3525" y="14213"/>
                      <a:pt x="7211" y="17850"/>
                      <a:pt x="11431" y="20850"/>
                    </a:cubicBezTo>
                    <a:cubicBezTo>
                      <a:pt x="12122" y="21338"/>
                      <a:pt x="13010" y="21466"/>
                      <a:pt x="13812" y="21188"/>
                    </a:cubicBezTo>
                    <a:cubicBezTo>
                      <a:pt x="17563" y="19893"/>
                      <a:pt x="20133" y="17356"/>
                      <a:pt x="21451" y="13647"/>
                    </a:cubicBezTo>
                    <a:cubicBezTo>
                      <a:pt x="21551" y="13372"/>
                      <a:pt x="21600" y="13081"/>
                      <a:pt x="21600" y="12796"/>
                    </a:cubicBezTo>
                    <a:cubicBezTo>
                      <a:pt x="21600" y="12265"/>
                      <a:pt x="21429" y="11740"/>
                      <a:pt x="21110" y="1129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marL="0" marR="0" lvl="0" indent="0" algn="ctr" defTabSz="228600" rtl="0" eaLnBrk="1" fontAlgn="auto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Gill Sans" charset="0"/>
                  <a:ea typeface="+mn-ea"/>
                  <a:cs typeface="+mn-cs"/>
                  <a:sym typeface="Gill Sans" charset="0"/>
                </a:endParaRPr>
              </a:p>
            </p:txBody>
          </p:sp>
        </p:grpSp>
      </p:grp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1209675" y="1484313"/>
            <a:ext cx="7556500" cy="470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对于每一个待检测的任务，假设病毒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序列的长度是</a:t>
            </a:r>
            <a:r>
              <a:rPr kumimoji="0" lang="en-US" altLang="zh-CN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因为病毒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序列是环状的，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为了线性取到每个可行的长度为</a:t>
            </a:r>
            <a:r>
              <a:rPr kumimoji="0" lang="en-US" altLang="zh-CN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的模式串，可将存储病毒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序列的字符串长度扩大为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，将病毒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序列连续存储两次。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然后循环</a:t>
            </a:r>
            <a:r>
              <a:rPr kumimoji="0" lang="en-US" altLang="zh-CN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次，依次取得每个长度为</a:t>
            </a:r>
            <a:r>
              <a:rPr kumimoji="0" lang="en-US" altLang="zh-CN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的环状字符串，将此字符串作为模式串，将人的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序列作为主串，调用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BF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算法进行模式匹配。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只要匹配成功，即可中止循环，表明该人感染了对应的病毒；否则，循环</a:t>
            </a:r>
            <a:r>
              <a:rPr kumimoji="0" lang="en-US" altLang="zh-CN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次结束循环时，可通过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BF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算法的返回值判断该人是否感染了对应的病毒。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3" name="矩形 1"/>
          <p:cNvSpPr/>
          <p:nvPr/>
        </p:nvSpPr>
        <p:spPr>
          <a:xfrm>
            <a:off x="0" y="3482975"/>
            <a:ext cx="9144000" cy="3024188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</a:pPr>
            <a:endParaRPr lang="zh-CN" altLang="en-US" sz="2800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73730" name="Text Box 5"/>
          <p:cNvSpPr txBox="1">
            <a:spLocks noChangeArrowheads="1"/>
          </p:cNvSpPr>
          <p:nvPr/>
        </p:nvSpPr>
        <p:spPr bwMode="auto">
          <a:xfrm>
            <a:off x="323850" y="1125538"/>
            <a:ext cx="87122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算法步骤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】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① 从文件中读取待检测的任务数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num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根据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num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个数依次检测每对病毒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和人的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是否匹配，循环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num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次，执行以下操作：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从文件中分别读取一对病毒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序列和人的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设置标志性变量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flag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，用来标识是否匹配成功，初始为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，表示未匹配；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病毒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序列的长度是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，将存储病毒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序列的字符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串长度扩大为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，将病毒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序列连续存储两次；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5715" name="Rectangle 154"/>
          <p:cNvSpPr txBox="1"/>
          <p:nvPr/>
        </p:nvSpPr>
        <p:spPr>
          <a:xfrm>
            <a:off x="827088" y="192088"/>
            <a:ext cx="49339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lt"/>
              </a:rPr>
              <a:t>病毒感染检测</a:t>
            </a:r>
            <a:endParaRPr lang="zh-CN" altLang="en-US" sz="28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7" name="矩形 4"/>
          <p:cNvSpPr/>
          <p:nvPr/>
        </p:nvSpPr>
        <p:spPr>
          <a:xfrm>
            <a:off x="0" y="1628775"/>
            <a:ext cx="9144000" cy="4176713"/>
          </a:xfrm>
          <a:prstGeom prst="rect">
            <a:avLst/>
          </a:prstGeom>
          <a:solidFill>
            <a:srgbClr val="CCCCFF"/>
          </a:solidFill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</a:pPr>
            <a:endParaRPr lang="zh-CN" altLang="en-US" sz="2800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73730" name="Text Box 5"/>
          <p:cNvSpPr txBox="1">
            <a:spLocks noChangeArrowheads="1"/>
          </p:cNvSpPr>
          <p:nvPr/>
        </p:nvSpPr>
        <p:spPr bwMode="auto">
          <a:xfrm>
            <a:off x="179388" y="1700213"/>
            <a:ext cx="8856663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循环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次，重复执行以下操作：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914400" marR="0" lvl="2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4F99E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依次取得每个长度为</a:t>
            </a:r>
            <a:r>
              <a:rPr kumimoji="0" lang="en-US" altLang="zh-CN" sz="2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的病毒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环状字符串；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914400" marR="0" lvl="2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4F99E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将此字符串作为模式串，将人的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DNA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序列作为主串，</a:t>
            </a:r>
            <a:b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调用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BF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算法进行模式匹配，将匹配结果返回赋值给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flag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；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914400" marR="0" lvl="2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4F99E2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若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flag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非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，表示匹配成功，中止循环，表明该人感染</a:t>
            </a:r>
            <a:b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了对应的病毒。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退出循环时，判断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flag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的值，若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flag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，输出“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YES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”，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否则，输出“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NO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”。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6739" name="Rectangle 154"/>
          <p:cNvSpPr txBox="1"/>
          <p:nvPr/>
        </p:nvSpPr>
        <p:spPr>
          <a:xfrm>
            <a:off x="827088" y="192088"/>
            <a:ext cx="49339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/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lt"/>
              </a:rPr>
              <a:t>病毒感染检测</a:t>
            </a:r>
            <a:endParaRPr lang="zh-CN" altLang="en-US" sz="28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矩形 28"/>
          <p:cNvSpPr/>
          <p:nvPr/>
        </p:nvSpPr>
        <p:spPr bwMode="auto">
          <a:xfrm>
            <a:off x="0" y="-66675"/>
            <a:ext cx="9144000" cy="6924675"/>
          </a:xfrm>
          <a:prstGeom prst="rect">
            <a:avLst/>
          </a:prstGeom>
          <a:solidFill>
            <a:schemeClr val="accent3">
              <a:alpha val="2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423863" y="1474788"/>
            <a:ext cx="7134225" cy="2644775"/>
          </a:xfrm>
          <a:prstGeom prst="parallelogram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平行四边形 20"/>
          <p:cNvSpPr/>
          <p:nvPr/>
        </p:nvSpPr>
        <p:spPr>
          <a:xfrm>
            <a:off x="1104900" y="1960563"/>
            <a:ext cx="7477125" cy="2644775"/>
          </a:xfrm>
          <a:prstGeom prst="parallelogram">
            <a:avLst/>
          </a:prstGeom>
          <a:solidFill>
            <a:srgbClr val="6C4C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19325" y="2087563"/>
            <a:ext cx="5832475" cy="831850"/>
          </a:xfrm>
          <a:prstGeom prst="rect">
            <a:avLst/>
          </a:prstGeom>
          <a:noFill/>
          <a:ln w="0">
            <a:noFill/>
          </a:ln>
        </p:spPr>
        <p:txBody>
          <a:bodyPr lIns="89535" tIns="46355" rIns="89535" bIns="46355" anchor="t" anchorCtr="0">
            <a:spAutoFit/>
          </a:bodyPr>
          <a:p>
            <a:pPr algn="dist" defTabSz="508000" eaLnBrk="0" hangingPunct="0"/>
            <a:r>
              <a:rPr lang="zh-CN" altLang="en-US" sz="48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互助互利 共同进步</a:t>
            </a:r>
            <a:endParaRPr lang="ko-KR" altLang="en-US" sz="48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952625" y="2989263"/>
            <a:ext cx="5986463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185988" y="3205163"/>
            <a:ext cx="5397500" cy="4000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89535" tIns="46355" rIns="89535" bIns="46355" anchor="t" anchorCtr="0">
            <a:spAutoFit/>
          </a:bodyPr>
          <a:p>
            <a:pPr defTabSz="508000" eaLnBrk="0" hangingPunct="0"/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数据结构（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语言版）（第</a:t>
            </a: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版）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663575" y="1166813"/>
            <a:ext cx="882650" cy="574675"/>
          </a:xfrm>
          <a:prstGeom prst="parallelogram">
            <a:avLst>
              <a:gd name="adj" fmla="val 24123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平行四边形 30"/>
          <p:cNvSpPr/>
          <p:nvPr/>
        </p:nvSpPr>
        <p:spPr>
          <a:xfrm>
            <a:off x="7583488" y="4414838"/>
            <a:ext cx="733425" cy="374650"/>
          </a:xfrm>
          <a:prstGeom prst="parallelogram">
            <a:avLst>
              <a:gd name="adj" fmla="val 24123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325" y="3776663"/>
            <a:ext cx="1638300" cy="339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Shape 26"/>
          <p:cNvSpPr/>
          <p:nvPr/>
        </p:nvSpPr>
        <p:spPr>
          <a:xfrm flipH="1">
            <a:off x="0" y="5607050"/>
            <a:ext cx="9140825" cy="12509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lnTo>
                  <a:pt x="0" y="102222"/>
                </a:lnTo>
                <a:lnTo>
                  <a:pt x="583" y="102222"/>
                </a:lnTo>
                <a:lnTo>
                  <a:pt x="583" y="89777"/>
                </a:lnTo>
                <a:lnTo>
                  <a:pt x="4166" y="89777"/>
                </a:lnTo>
                <a:lnTo>
                  <a:pt x="4166" y="79111"/>
                </a:lnTo>
                <a:lnTo>
                  <a:pt x="6416" y="79111"/>
                </a:lnTo>
                <a:lnTo>
                  <a:pt x="6416" y="91111"/>
                </a:lnTo>
                <a:lnTo>
                  <a:pt x="7625" y="91111"/>
                </a:lnTo>
                <a:lnTo>
                  <a:pt x="7625" y="79111"/>
                </a:lnTo>
                <a:lnTo>
                  <a:pt x="8958" y="79111"/>
                </a:lnTo>
                <a:lnTo>
                  <a:pt x="8958" y="45333"/>
                </a:lnTo>
                <a:lnTo>
                  <a:pt x="9541" y="45333"/>
                </a:lnTo>
                <a:lnTo>
                  <a:pt x="9541" y="39111"/>
                </a:lnTo>
                <a:lnTo>
                  <a:pt x="10958" y="39111"/>
                </a:lnTo>
                <a:lnTo>
                  <a:pt x="10958" y="45333"/>
                </a:lnTo>
                <a:lnTo>
                  <a:pt x="11583" y="45333"/>
                </a:lnTo>
                <a:lnTo>
                  <a:pt x="11583" y="76000"/>
                </a:lnTo>
                <a:lnTo>
                  <a:pt x="12083" y="76000"/>
                </a:lnTo>
                <a:lnTo>
                  <a:pt x="12083" y="95555"/>
                </a:lnTo>
                <a:lnTo>
                  <a:pt x="13250" y="95555"/>
                </a:lnTo>
                <a:lnTo>
                  <a:pt x="13250" y="60000"/>
                </a:lnTo>
                <a:lnTo>
                  <a:pt x="14041" y="60000"/>
                </a:lnTo>
                <a:lnTo>
                  <a:pt x="14041" y="45333"/>
                </a:lnTo>
                <a:lnTo>
                  <a:pt x="14583" y="45333"/>
                </a:lnTo>
                <a:lnTo>
                  <a:pt x="14583" y="27555"/>
                </a:lnTo>
                <a:lnTo>
                  <a:pt x="14958" y="27555"/>
                </a:lnTo>
                <a:lnTo>
                  <a:pt x="14958" y="14222"/>
                </a:lnTo>
                <a:lnTo>
                  <a:pt x="15333" y="14222"/>
                </a:lnTo>
                <a:lnTo>
                  <a:pt x="15333" y="0"/>
                </a:lnTo>
                <a:lnTo>
                  <a:pt x="15958" y="0"/>
                </a:lnTo>
                <a:lnTo>
                  <a:pt x="15958" y="13777"/>
                </a:lnTo>
                <a:lnTo>
                  <a:pt x="16416" y="13777"/>
                </a:lnTo>
                <a:lnTo>
                  <a:pt x="16416" y="24888"/>
                </a:lnTo>
                <a:lnTo>
                  <a:pt x="16791" y="24888"/>
                </a:lnTo>
                <a:lnTo>
                  <a:pt x="16791" y="46222"/>
                </a:lnTo>
                <a:lnTo>
                  <a:pt x="17333" y="46222"/>
                </a:lnTo>
                <a:lnTo>
                  <a:pt x="17333" y="61333"/>
                </a:lnTo>
                <a:lnTo>
                  <a:pt x="17916" y="61333"/>
                </a:lnTo>
                <a:lnTo>
                  <a:pt x="17916" y="101333"/>
                </a:lnTo>
                <a:lnTo>
                  <a:pt x="18875" y="101333"/>
                </a:lnTo>
                <a:lnTo>
                  <a:pt x="18875" y="92000"/>
                </a:lnTo>
                <a:lnTo>
                  <a:pt x="20958" y="92000"/>
                </a:lnTo>
                <a:lnTo>
                  <a:pt x="20958" y="96444"/>
                </a:lnTo>
                <a:lnTo>
                  <a:pt x="21750" y="96444"/>
                </a:lnTo>
                <a:lnTo>
                  <a:pt x="21750" y="54666"/>
                </a:lnTo>
                <a:lnTo>
                  <a:pt x="22333" y="54666"/>
                </a:lnTo>
                <a:lnTo>
                  <a:pt x="22333" y="42666"/>
                </a:lnTo>
                <a:lnTo>
                  <a:pt x="24166" y="42666"/>
                </a:lnTo>
                <a:lnTo>
                  <a:pt x="24166" y="53777"/>
                </a:lnTo>
                <a:lnTo>
                  <a:pt x="24583" y="56888"/>
                </a:lnTo>
                <a:lnTo>
                  <a:pt x="24583" y="85777"/>
                </a:lnTo>
                <a:lnTo>
                  <a:pt x="25291" y="85777"/>
                </a:lnTo>
                <a:lnTo>
                  <a:pt x="25291" y="79555"/>
                </a:lnTo>
                <a:lnTo>
                  <a:pt x="27125" y="79555"/>
                </a:lnTo>
                <a:lnTo>
                  <a:pt x="27125" y="86222"/>
                </a:lnTo>
                <a:lnTo>
                  <a:pt x="28208" y="86222"/>
                </a:lnTo>
                <a:lnTo>
                  <a:pt x="28208" y="92000"/>
                </a:lnTo>
                <a:lnTo>
                  <a:pt x="29416" y="92000"/>
                </a:lnTo>
                <a:lnTo>
                  <a:pt x="29416" y="83555"/>
                </a:lnTo>
                <a:lnTo>
                  <a:pt x="30250" y="83555"/>
                </a:lnTo>
                <a:lnTo>
                  <a:pt x="30250" y="65777"/>
                </a:lnTo>
                <a:lnTo>
                  <a:pt x="35041" y="65777"/>
                </a:lnTo>
                <a:lnTo>
                  <a:pt x="35041" y="83555"/>
                </a:lnTo>
                <a:lnTo>
                  <a:pt x="35875" y="83555"/>
                </a:lnTo>
                <a:lnTo>
                  <a:pt x="35875" y="65777"/>
                </a:lnTo>
                <a:lnTo>
                  <a:pt x="39916" y="65777"/>
                </a:lnTo>
                <a:lnTo>
                  <a:pt x="39916" y="72888"/>
                </a:lnTo>
                <a:lnTo>
                  <a:pt x="41041" y="72888"/>
                </a:lnTo>
                <a:lnTo>
                  <a:pt x="41041" y="99555"/>
                </a:lnTo>
                <a:lnTo>
                  <a:pt x="42583" y="99555"/>
                </a:lnTo>
                <a:lnTo>
                  <a:pt x="42583" y="76888"/>
                </a:lnTo>
                <a:lnTo>
                  <a:pt x="45250" y="56000"/>
                </a:lnTo>
                <a:lnTo>
                  <a:pt x="47875" y="76888"/>
                </a:lnTo>
                <a:lnTo>
                  <a:pt x="47875" y="88888"/>
                </a:lnTo>
                <a:lnTo>
                  <a:pt x="48666" y="88888"/>
                </a:lnTo>
                <a:lnTo>
                  <a:pt x="48666" y="104000"/>
                </a:lnTo>
                <a:lnTo>
                  <a:pt x="49208" y="104000"/>
                </a:lnTo>
                <a:lnTo>
                  <a:pt x="49208" y="73333"/>
                </a:lnTo>
                <a:lnTo>
                  <a:pt x="51500" y="73333"/>
                </a:lnTo>
                <a:lnTo>
                  <a:pt x="51500" y="85777"/>
                </a:lnTo>
                <a:lnTo>
                  <a:pt x="53708" y="85777"/>
                </a:lnTo>
                <a:lnTo>
                  <a:pt x="53708" y="94666"/>
                </a:lnTo>
                <a:lnTo>
                  <a:pt x="54500" y="94666"/>
                </a:lnTo>
                <a:lnTo>
                  <a:pt x="54500" y="85777"/>
                </a:lnTo>
                <a:lnTo>
                  <a:pt x="57125" y="85777"/>
                </a:lnTo>
                <a:lnTo>
                  <a:pt x="57125" y="102222"/>
                </a:lnTo>
                <a:lnTo>
                  <a:pt x="57625" y="102222"/>
                </a:lnTo>
                <a:lnTo>
                  <a:pt x="57625" y="104888"/>
                </a:lnTo>
                <a:lnTo>
                  <a:pt x="58875" y="104888"/>
                </a:lnTo>
                <a:lnTo>
                  <a:pt x="58875" y="94222"/>
                </a:lnTo>
                <a:lnTo>
                  <a:pt x="61666" y="94222"/>
                </a:lnTo>
                <a:lnTo>
                  <a:pt x="61666" y="89777"/>
                </a:lnTo>
                <a:lnTo>
                  <a:pt x="62250" y="89777"/>
                </a:lnTo>
                <a:lnTo>
                  <a:pt x="62250" y="84000"/>
                </a:lnTo>
                <a:lnTo>
                  <a:pt x="62833" y="84000"/>
                </a:lnTo>
                <a:lnTo>
                  <a:pt x="62833" y="88888"/>
                </a:lnTo>
                <a:lnTo>
                  <a:pt x="63500" y="88888"/>
                </a:lnTo>
                <a:lnTo>
                  <a:pt x="63500" y="83111"/>
                </a:lnTo>
                <a:lnTo>
                  <a:pt x="64999" y="83111"/>
                </a:lnTo>
                <a:lnTo>
                  <a:pt x="64999" y="88444"/>
                </a:lnTo>
                <a:lnTo>
                  <a:pt x="65666" y="88444"/>
                </a:lnTo>
                <a:lnTo>
                  <a:pt x="65666" y="103111"/>
                </a:lnTo>
                <a:lnTo>
                  <a:pt x="66916" y="103111"/>
                </a:lnTo>
                <a:lnTo>
                  <a:pt x="66916" y="82666"/>
                </a:lnTo>
                <a:lnTo>
                  <a:pt x="69375" y="82666"/>
                </a:lnTo>
                <a:lnTo>
                  <a:pt x="69375" y="88888"/>
                </a:lnTo>
                <a:lnTo>
                  <a:pt x="70416" y="88888"/>
                </a:lnTo>
                <a:lnTo>
                  <a:pt x="70416" y="46222"/>
                </a:lnTo>
                <a:lnTo>
                  <a:pt x="71500" y="35111"/>
                </a:lnTo>
                <a:lnTo>
                  <a:pt x="72458" y="45777"/>
                </a:lnTo>
                <a:lnTo>
                  <a:pt x="72458" y="103111"/>
                </a:lnTo>
                <a:lnTo>
                  <a:pt x="73583" y="103111"/>
                </a:lnTo>
                <a:lnTo>
                  <a:pt x="73583" y="47555"/>
                </a:lnTo>
                <a:lnTo>
                  <a:pt x="76916" y="47555"/>
                </a:lnTo>
                <a:lnTo>
                  <a:pt x="76916" y="97777"/>
                </a:lnTo>
                <a:lnTo>
                  <a:pt x="77541" y="97777"/>
                </a:lnTo>
                <a:lnTo>
                  <a:pt x="77541" y="85777"/>
                </a:lnTo>
                <a:lnTo>
                  <a:pt x="79000" y="85777"/>
                </a:lnTo>
                <a:lnTo>
                  <a:pt x="79000" y="92888"/>
                </a:lnTo>
                <a:lnTo>
                  <a:pt x="82000" y="92888"/>
                </a:lnTo>
                <a:lnTo>
                  <a:pt x="82000" y="102222"/>
                </a:lnTo>
                <a:lnTo>
                  <a:pt x="84333" y="102222"/>
                </a:lnTo>
                <a:lnTo>
                  <a:pt x="84333" y="88000"/>
                </a:lnTo>
                <a:lnTo>
                  <a:pt x="85583" y="88000"/>
                </a:lnTo>
                <a:lnTo>
                  <a:pt x="85583" y="96000"/>
                </a:lnTo>
                <a:lnTo>
                  <a:pt x="86500" y="96000"/>
                </a:lnTo>
                <a:lnTo>
                  <a:pt x="86500" y="91111"/>
                </a:lnTo>
                <a:lnTo>
                  <a:pt x="87791" y="91111"/>
                </a:lnTo>
                <a:lnTo>
                  <a:pt x="87791" y="84888"/>
                </a:lnTo>
                <a:lnTo>
                  <a:pt x="89375" y="84888"/>
                </a:lnTo>
                <a:lnTo>
                  <a:pt x="89375" y="100888"/>
                </a:lnTo>
                <a:lnTo>
                  <a:pt x="90541" y="100888"/>
                </a:lnTo>
                <a:lnTo>
                  <a:pt x="90541" y="63111"/>
                </a:lnTo>
                <a:lnTo>
                  <a:pt x="92458" y="63555"/>
                </a:lnTo>
                <a:lnTo>
                  <a:pt x="92458" y="84444"/>
                </a:lnTo>
                <a:lnTo>
                  <a:pt x="93750" y="84444"/>
                </a:lnTo>
                <a:lnTo>
                  <a:pt x="93750" y="97333"/>
                </a:lnTo>
                <a:lnTo>
                  <a:pt x="95375" y="97333"/>
                </a:lnTo>
                <a:lnTo>
                  <a:pt x="95375" y="83111"/>
                </a:lnTo>
                <a:lnTo>
                  <a:pt x="96500" y="83111"/>
                </a:lnTo>
                <a:lnTo>
                  <a:pt x="96500" y="77333"/>
                </a:lnTo>
                <a:lnTo>
                  <a:pt x="98000" y="77333"/>
                </a:lnTo>
                <a:lnTo>
                  <a:pt x="98000" y="81333"/>
                </a:lnTo>
                <a:lnTo>
                  <a:pt x="99041" y="81333"/>
                </a:lnTo>
                <a:lnTo>
                  <a:pt x="99041" y="75111"/>
                </a:lnTo>
                <a:lnTo>
                  <a:pt x="101000" y="59555"/>
                </a:lnTo>
                <a:lnTo>
                  <a:pt x="102916" y="75111"/>
                </a:lnTo>
                <a:lnTo>
                  <a:pt x="102916" y="96444"/>
                </a:lnTo>
                <a:lnTo>
                  <a:pt x="103250" y="96444"/>
                </a:lnTo>
                <a:lnTo>
                  <a:pt x="103250" y="92000"/>
                </a:lnTo>
                <a:lnTo>
                  <a:pt x="104750" y="92000"/>
                </a:lnTo>
                <a:lnTo>
                  <a:pt x="104750" y="111111"/>
                </a:lnTo>
                <a:lnTo>
                  <a:pt x="105125" y="111111"/>
                </a:lnTo>
                <a:lnTo>
                  <a:pt x="105125" y="101777"/>
                </a:lnTo>
                <a:lnTo>
                  <a:pt x="106291" y="101777"/>
                </a:lnTo>
                <a:lnTo>
                  <a:pt x="106291" y="81777"/>
                </a:lnTo>
                <a:lnTo>
                  <a:pt x="107791" y="81777"/>
                </a:lnTo>
                <a:lnTo>
                  <a:pt x="107791" y="101777"/>
                </a:lnTo>
                <a:lnTo>
                  <a:pt x="107833" y="101777"/>
                </a:lnTo>
                <a:lnTo>
                  <a:pt x="107833" y="93777"/>
                </a:lnTo>
                <a:lnTo>
                  <a:pt x="108583" y="93777"/>
                </a:lnTo>
                <a:lnTo>
                  <a:pt x="108583" y="89777"/>
                </a:lnTo>
                <a:lnTo>
                  <a:pt x="110166" y="89777"/>
                </a:lnTo>
                <a:lnTo>
                  <a:pt x="110166" y="103111"/>
                </a:lnTo>
                <a:lnTo>
                  <a:pt x="110416" y="103111"/>
                </a:lnTo>
                <a:lnTo>
                  <a:pt x="110416" y="93777"/>
                </a:lnTo>
                <a:lnTo>
                  <a:pt x="110625" y="93777"/>
                </a:lnTo>
                <a:lnTo>
                  <a:pt x="110625" y="76444"/>
                </a:lnTo>
                <a:lnTo>
                  <a:pt x="111416" y="76444"/>
                </a:lnTo>
                <a:lnTo>
                  <a:pt x="111416" y="68444"/>
                </a:lnTo>
                <a:lnTo>
                  <a:pt x="111833" y="68444"/>
                </a:lnTo>
                <a:lnTo>
                  <a:pt x="111833" y="64000"/>
                </a:lnTo>
                <a:lnTo>
                  <a:pt x="112916" y="64000"/>
                </a:lnTo>
                <a:lnTo>
                  <a:pt x="112916" y="68444"/>
                </a:lnTo>
                <a:lnTo>
                  <a:pt x="113375" y="68444"/>
                </a:lnTo>
                <a:lnTo>
                  <a:pt x="113375" y="91555"/>
                </a:lnTo>
                <a:lnTo>
                  <a:pt x="113416" y="91555"/>
                </a:lnTo>
                <a:lnTo>
                  <a:pt x="113416" y="91555"/>
                </a:lnTo>
                <a:lnTo>
                  <a:pt x="114666" y="91555"/>
                </a:lnTo>
                <a:lnTo>
                  <a:pt x="114666" y="79555"/>
                </a:lnTo>
                <a:lnTo>
                  <a:pt x="115250" y="79555"/>
                </a:lnTo>
                <a:lnTo>
                  <a:pt x="115250" y="68444"/>
                </a:lnTo>
                <a:lnTo>
                  <a:pt x="115625" y="68444"/>
                </a:lnTo>
                <a:lnTo>
                  <a:pt x="115625" y="55111"/>
                </a:lnTo>
                <a:lnTo>
                  <a:pt x="115916" y="55111"/>
                </a:lnTo>
                <a:lnTo>
                  <a:pt x="115916" y="44888"/>
                </a:lnTo>
                <a:lnTo>
                  <a:pt x="116250" y="44888"/>
                </a:lnTo>
                <a:lnTo>
                  <a:pt x="116250" y="34222"/>
                </a:lnTo>
                <a:lnTo>
                  <a:pt x="116666" y="34222"/>
                </a:lnTo>
                <a:lnTo>
                  <a:pt x="116666" y="44444"/>
                </a:lnTo>
                <a:lnTo>
                  <a:pt x="117000" y="44444"/>
                </a:lnTo>
                <a:lnTo>
                  <a:pt x="117000" y="52888"/>
                </a:lnTo>
                <a:lnTo>
                  <a:pt x="117333" y="52888"/>
                </a:lnTo>
                <a:lnTo>
                  <a:pt x="117333" y="68888"/>
                </a:lnTo>
                <a:lnTo>
                  <a:pt x="117708" y="68888"/>
                </a:lnTo>
                <a:lnTo>
                  <a:pt x="117708" y="80444"/>
                </a:lnTo>
                <a:lnTo>
                  <a:pt x="118166" y="80444"/>
                </a:lnTo>
                <a:lnTo>
                  <a:pt x="118166" y="92000"/>
                </a:lnTo>
                <a:lnTo>
                  <a:pt x="120000" y="9200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015" b="1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4" grpId="0"/>
      <p:bldP spid="26" grpId="0" animBg="1"/>
      <p:bldP spid="30" grpId="0" animBg="1"/>
      <p:bldP spid="31" grpId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PP_MARK_KEY" val="39cad29b-694b-4d6c-ac9f-46ef3660b36b"/>
  <p:tag name="COMMONDATA" val="eyJoZGlkIjoiY2RkOTFiNGE3ZGMwNWJhNzRjN2YzYTQyNDI1ZmYzMDYifQ=="/>
</p:tagLst>
</file>

<file path=ppt/theme/theme1.xml><?xml version="1.0" encoding="utf-8"?>
<a:theme xmlns:a="http://schemas.openxmlformats.org/drawingml/2006/main" name="1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bu10t2jf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bu10t2jf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bu10t2jf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bu10t2jf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bu10t2jf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9036</Words>
  <Application>WPS 演示</Application>
  <PresentationFormat>全屏显示(4:3)</PresentationFormat>
  <Paragraphs>757</Paragraphs>
  <Slides>47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47</vt:i4>
      </vt:variant>
    </vt:vector>
  </HeadingPairs>
  <TitlesOfParts>
    <vt:vector size="73" baseType="lpstr">
      <vt:lpstr>Arial</vt:lpstr>
      <vt:lpstr>宋体</vt:lpstr>
      <vt:lpstr>Wingdings</vt:lpstr>
      <vt:lpstr>Times New Roman</vt:lpstr>
      <vt:lpstr>楷体_GB2312</vt:lpstr>
      <vt:lpstr>新宋体</vt:lpstr>
      <vt:lpstr>仿宋_GB2312</vt:lpstr>
      <vt:lpstr>仿宋</vt:lpstr>
      <vt:lpstr>微软雅黑</vt:lpstr>
      <vt:lpstr>Arial Unicode MS</vt:lpstr>
      <vt:lpstr>Calibri</vt:lpstr>
      <vt:lpstr>Gill Sans</vt:lpstr>
      <vt:lpstr>Gill Sans MT</vt:lpstr>
      <vt:lpstr>1_默认设计模板</vt:lpstr>
      <vt:lpstr>2_默认设计模板</vt:lpstr>
      <vt:lpstr>3_默认设计模板</vt:lpstr>
      <vt:lpstr>4_默认设计模板</vt:lpstr>
      <vt:lpstr>6_默认设计模板</vt:lpstr>
      <vt:lpstr>Equation.3</vt:lpstr>
      <vt:lpstr>Word.Picture.8</vt:lpstr>
      <vt:lpstr>Word.Picture.8</vt:lpstr>
      <vt:lpstr>Equation.3</vt:lpstr>
      <vt:lpstr>Equation.3</vt:lpstr>
      <vt:lpstr>Visio.Drawing.5</vt:lpstr>
      <vt:lpstr>Visio.Drawing.5</vt:lpstr>
      <vt:lpstr>Word.Picture.8</vt:lpstr>
      <vt:lpstr>PowerPoint 演示文稿</vt:lpstr>
      <vt:lpstr>线性结构</vt:lpstr>
      <vt:lpstr>补充：C语言中常用的串运算</vt:lpstr>
      <vt:lpstr>PowerPoint 演示文稿</vt:lpstr>
      <vt:lpstr>PowerPoint 演示文稿</vt:lpstr>
      <vt:lpstr>串的定义</vt:lpstr>
      <vt:lpstr>串的定义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bjfu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creator>lidongmei</dc:creator>
  <cp:lastModifiedBy>Administrator</cp:lastModifiedBy>
  <cp:revision>1134</cp:revision>
  <dcterms:created xsi:type="dcterms:W3CDTF">1996-07-15T15:40:00Z</dcterms:created>
  <dcterms:modified xsi:type="dcterms:W3CDTF">2024-03-26T10:32:16Z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656286C2C89042DC976B47743F045142</vt:lpwstr>
  </property>
</Properties>
</file>