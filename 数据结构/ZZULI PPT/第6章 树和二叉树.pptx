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wmf" ContentType="image/x-w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3"/>
    <p:sldMasterId id="2147483656" r:id="rId4"/>
    <p:sldMasterId id="2147483660" r:id="rId5"/>
    <p:sldMasterId id="2147483664" r:id="rId6"/>
    <p:sldMasterId id="2147483668" r:id="rId7"/>
    <p:sldMasterId id="2147483672" r:id="rId8"/>
    <p:sldMasterId id="2147483676" r:id="rId9"/>
    <p:sldMasterId id="2147483680" r:id="rId10"/>
    <p:sldMasterId id="2147483684" r:id="rId11"/>
    <p:sldMasterId id="2147483688" r:id="rId12"/>
    <p:sldMasterId id="2147483692" r:id="rId13"/>
    <p:sldMasterId id="2147483696" r:id="rId14"/>
    <p:sldMasterId id="2147483700" r:id="rId15"/>
    <p:sldMasterId id="2147483704" r:id="rId16"/>
    <p:sldMasterId id="2147483708" r:id="rId17"/>
  </p:sldMasterIdLst>
  <p:notesMasterIdLst>
    <p:notesMasterId r:id="rId125"/>
  </p:notesMasterIdLst>
  <p:sldIdLst>
    <p:sldId id="284" r:id="rId18"/>
    <p:sldId id="285" r:id="rId19"/>
    <p:sldId id="363" r:id="rId20"/>
    <p:sldId id="366" r:id="rId21"/>
    <p:sldId id="365" r:id="rId22"/>
    <p:sldId id="364" r:id="rId23"/>
    <p:sldId id="546" r:id="rId24"/>
    <p:sldId id="367" r:id="rId25"/>
    <p:sldId id="369" r:id="rId26"/>
    <p:sldId id="368" r:id="rId27"/>
    <p:sldId id="370" r:id="rId28"/>
    <p:sldId id="377" r:id="rId29"/>
    <p:sldId id="380" r:id="rId30"/>
    <p:sldId id="379" r:id="rId31"/>
    <p:sldId id="378" r:id="rId32"/>
    <p:sldId id="382" r:id="rId33"/>
    <p:sldId id="384" r:id="rId34"/>
    <p:sldId id="383" r:id="rId35"/>
    <p:sldId id="387" r:id="rId36"/>
    <p:sldId id="381" r:id="rId37"/>
    <p:sldId id="388" r:id="rId38"/>
    <p:sldId id="547" r:id="rId39"/>
    <p:sldId id="386" r:id="rId40"/>
    <p:sldId id="389" r:id="rId41"/>
    <p:sldId id="390" r:id="rId42"/>
    <p:sldId id="391" r:id="rId43"/>
    <p:sldId id="392" r:id="rId44"/>
    <p:sldId id="385" r:id="rId45"/>
    <p:sldId id="394" r:id="rId46"/>
    <p:sldId id="396" r:id="rId47"/>
    <p:sldId id="449" r:id="rId48"/>
    <p:sldId id="471" r:id="rId49"/>
    <p:sldId id="752" r:id="rId50"/>
    <p:sldId id="473" r:id="rId51"/>
    <p:sldId id="474" r:id="rId52"/>
    <p:sldId id="475" r:id="rId53"/>
    <p:sldId id="476" r:id="rId54"/>
    <p:sldId id="470" r:id="rId55"/>
    <p:sldId id="644" r:id="rId56"/>
    <p:sldId id="645" r:id="rId57"/>
    <p:sldId id="646" r:id="rId58"/>
    <p:sldId id="647" r:id="rId59"/>
    <p:sldId id="648" r:id="rId60"/>
    <p:sldId id="649" r:id="rId61"/>
    <p:sldId id="650" r:id="rId62"/>
    <p:sldId id="651" r:id="rId63"/>
    <p:sldId id="652" r:id="rId64"/>
    <p:sldId id="540" r:id="rId65"/>
    <p:sldId id="542" r:id="rId66"/>
    <p:sldId id="544" r:id="rId67"/>
    <p:sldId id="545" r:id="rId68"/>
    <p:sldId id="472" r:id="rId69"/>
    <p:sldId id="485" r:id="rId70"/>
    <p:sldId id="486" r:id="rId71"/>
    <p:sldId id="548" r:id="rId72"/>
    <p:sldId id="484" r:id="rId73"/>
    <p:sldId id="397" r:id="rId74"/>
    <p:sldId id="398" r:id="rId75"/>
    <p:sldId id="400" r:id="rId76"/>
    <p:sldId id="401" r:id="rId77"/>
    <p:sldId id="402" r:id="rId78"/>
    <p:sldId id="839" r:id="rId79"/>
    <p:sldId id="709" r:id="rId80"/>
    <p:sldId id="494" r:id="rId81"/>
    <p:sldId id="506" r:id="rId82"/>
    <p:sldId id="507" r:id="rId83"/>
    <p:sldId id="710" r:id="rId84"/>
    <p:sldId id="508" r:id="rId85"/>
    <p:sldId id="510" r:id="rId86"/>
    <p:sldId id="495" r:id="rId87"/>
    <p:sldId id="511" r:id="rId88"/>
    <p:sldId id="512" r:id="rId89"/>
    <p:sldId id="513" r:id="rId90"/>
    <p:sldId id="842" r:id="rId91"/>
    <p:sldId id="404" r:id="rId92"/>
    <p:sldId id="428" r:id="rId93"/>
    <p:sldId id="430" r:id="rId94"/>
    <p:sldId id="429" r:id="rId95"/>
    <p:sldId id="432" r:id="rId96"/>
    <p:sldId id="431" r:id="rId97"/>
    <p:sldId id="435" r:id="rId98"/>
    <p:sldId id="434" r:id="rId99"/>
    <p:sldId id="436" r:id="rId100"/>
    <p:sldId id="433" r:id="rId101"/>
    <p:sldId id="438" r:id="rId102"/>
    <p:sldId id="439" r:id="rId103"/>
    <p:sldId id="437" r:id="rId104"/>
    <p:sldId id="442" r:id="rId105"/>
    <p:sldId id="444" r:id="rId106"/>
    <p:sldId id="441" r:id="rId107"/>
    <p:sldId id="440" r:id="rId108"/>
    <p:sldId id="445" r:id="rId109"/>
    <p:sldId id="446" r:id="rId110"/>
    <p:sldId id="448" r:id="rId111"/>
    <p:sldId id="825" r:id="rId112"/>
    <p:sldId id="447" r:id="rId113"/>
    <p:sldId id="525" r:id="rId114"/>
    <p:sldId id="526" r:id="rId115"/>
    <p:sldId id="527" r:id="rId116"/>
    <p:sldId id="528" r:id="rId117"/>
    <p:sldId id="529" r:id="rId118"/>
    <p:sldId id="530" r:id="rId119"/>
    <p:sldId id="531" r:id="rId120"/>
    <p:sldId id="532" r:id="rId121"/>
    <p:sldId id="533" r:id="rId122"/>
    <p:sldId id="534" r:id="rId123"/>
    <p:sldId id="535" r:id="rId124"/>
  </p:sldIdLst>
  <p:sldSz cx="9144000" cy="5143500" type="screen16x9"/>
  <p:notesSz cx="6858000" cy="9144000"/>
  <p:custDataLst>
    <p:tags r:id="rId129"/>
  </p:custDataLst>
  <p:defaultText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F0FB"/>
    <a:srgbClr val="00194C"/>
    <a:srgbClr val="CC6600"/>
    <a:srgbClr val="800000"/>
    <a:srgbClr val="990000"/>
    <a:srgbClr val="993300"/>
    <a:srgbClr val="3333FF"/>
    <a:srgbClr val="1A6ED1"/>
    <a:srgbClr val="3079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81115" autoAdjust="0"/>
  </p:normalViewPr>
  <p:slideViewPr>
    <p:cSldViewPr snapToGrid="0">
      <p:cViewPr varScale="1">
        <p:scale>
          <a:sx n="99" d="100"/>
          <a:sy n="99" d="100"/>
        </p:scale>
        <p:origin x="48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82.xml"/><Relationship Id="rId98" Type="http://schemas.openxmlformats.org/officeDocument/2006/relationships/slide" Target="slides/slide81.xml"/><Relationship Id="rId97" Type="http://schemas.openxmlformats.org/officeDocument/2006/relationships/slide" Target="slides/slide80.xml"/><Relationship Id="rId96" Type="http://schemas.openxmlformats.org/officeDocument/2006/relationships/slide" Target="slides/slide79.xml"/><Relationship Id="rId95" Type="http://schemas.openxmlformats.org/officeDocument/2006/relationships/slide" Target="slides/slide78.xml"/><Relationship Id="rId94" Type="http://schemas.openxmlformats.org/officeDocument/2006/relationships/slide" Target="slides/slide77.xml"/><Relationship Id="rId93" Type="http://schemas.openxmlformats.org/officeDocument/2006/relationships/slide" Target="slides/slide76.xml"/><Relationship Id="rId92" Type="http://schemas.openxmlformats.org/officeDocument/2006/relationships/slide" Target="slides/slide75.xml"/><Relationship Id="rId91" Type="http://schemas.openxmlformats.org/officeDocument/2006/relationships/slide" Target="slides/slide74.xml"/><Relationship Id="rId90" Type="http://schemas.openxmlformats.org/officeDocument/2006/relationships/slide" Target="slides/slide73.xml"/><Relationship Id="rId9" Type="http://schemas.openxmlformats.org/officeDocument/2006/relationships/slideMaster" Target="slideMasters/slideMaster8.xml"/><Relationship Id="rId89" Type="http://schemas.openxmlformats.org/officeDocument/2006/relationships/slide" Target="slides/slide72.xml"/><Relationship Id="rId88" Type="http://schemas.openxmlformats.org/officeDocument/2006/relationships/slide" Target="slides/slide71.xml"/><Relationship Id="rId87" Type="http://schemas.openxmlformats.org/officeDocument/2006/relationships/slide" Target="slides/slide70.xml"/><Relationship Id="rId86" Type="http://schemas.openxmlformats.org/officeDocument/2006/relationships/slide" Target="slides/slide69.xml"/><Relationship Id="rId85" Type="http://schemas.openxmlformats.org/officeDocument/2006/relationships/slide" Target="slides/slide68.xml"/><Relationship Id="rId84" Type="http://schemas.openxmlformats.org/officeDocument/2006/relationships/slide" Target="slides/slide67.xml"/><Relationship Id="rId83" Type="http://schemas.openxmlformats.org/officeDocument/2006/relationships/slide" Target="slides/slide66.xml"/><Relationship Id="rId82" Type="http://schemas.openxmlformats.org/officeDocument/2006/relationships/slide" Target="slides/slide65.xml"/><Relationship Id="rId81" Type="http://schemas.openxmlformats.org/officeDocument/2006/relationships/slide" Target="slides/slide64.xml"/><Relationship Id="rId80" Type="http://schemas.openxmlformats.org/officeDocument/2006/relationships/slide" Target="slides/slide63.xml"/><Relationship Id="rId8" Type="http://schemas.openxmlformats.org/officeDocument/2006/relationships/slideMaster" Target="slideMasters/slideMaster7.xml"/><Relationship Id="rId79" Type="http://schemas.openxmlformats.org/officeDocument/2006/relationships/slide" Target="slides/slide62.xml"/><Relationship Id="rId78" Type="http://schemas.openxmlformats.org/officeDocument/2006/relationships/slide" Target="slides/slide61.xml"/><Relationship Id="rId77" Type="http://schemas.openxmlformats.org/officeDocument/2006/relationships/slide" Target="slides/slide60.xml"/><Relationship Id="rId76" Type="http://schemas.openxmlformats.org/officeDocument/2006/relationships/slide" Target="slides/slide59.xml"/><Relationship Id="rId75" Type="http://schemas.openxmlformats.org/officeDocument/2006/relationships/slide" Target="slides/slide58.xml"/><Relationship Id="rId74" Type="http://schemas.openxmlformats.org/officeDocument/2006/relationships/slide" Target="slides/slide57.xml"/><Relationship Id="rId73" Type="http://schemas.openxmlformats.org/officeDocument/2006/relationships/slide" Target="slides/slide56.xml"/><Relationship Id="rId72" Type="http://schemas.openxmlformats.org/officeDocument/2006/relationships/slide" Target="slides/slide55.xml"/><Relationship Id="rId71" Type="http://schemas.openxmlformats.org/officeDocument/2006/relationships/slide" Target="slides/slide54.xml"/><Relationship Id="rId70" Type="http://schemas.openxmlformats.org/officeDocument/2006/relationships/slide" Target="slides/slide53.xml"/><Relationship Id="rId7" Type="http://schemas.openxmlformats.org/officeDocument/2006/relationships/slideMaster" Target="slideMasters/slideMaster6.xml"/><Relationship Id="rId69" Type="http://schemas.openxmlformats.org/officeDocument/2006/relationships/slide" Target="slides/slide52.xml"/><Relationship Id="rId68" Type="http://schemas.openxmlformats.org/officeDocument/2006/relationships/slide" Target="slides/slide51.xml"/><Relationship Id="rId67" Type="http://schemas.openxmlformats.org/officeDocument/2006/relationships/slide" Target="slides/slide50.xml"/><Relationship Id="rId66" Type="http://schemas.openxmlformats.org/officeDocument/2006/relationships/slide" Target="slides/slide49.xml"/><Relationship Id="rId65" Type="http://schemas.openxmlformats.org/officeDocument/2006/relationships/slide" Target="slides/slide48.xml"/><Relationship Id="rId64" Type="http://schemas.openxmlformats.org/officeDocument/2006/relationships/slide" Target="slides/slide47.xml"/><Relationship Id="rId63" Type="http://schemas.openxmlformats.org/officeDocument/2006/relationships/slide" Target="slides/slide46.xml"/><Relationship Id="rId62" Type="http://schemas.openxmlformats.org/officeDocument/2006/relationships/slide" Target="slides/slide45.xml"/><Relationship Id="rId61" Type="http://schemas.openxmlformats.org/officeDocument/2006/relationships/slide" Target="slides/slide44.xml"/><Relationship Id="rId60" Type="http://schemas.openxmlformats.org/officeDocument/2006/relationships/slide" Target="slides/slide43.xml"/><Relationship Id="rId6" Type="http://schemas.openxmlformats.org/officeDocument/2006/relationships/slideMaster" Target="slideMasters/slideMaster5.xml"/><Relationship Id="rId59" Type="http://schemas.openxmlformats.org/officeDocument/2006/relationships/slide" Target="slides/slide42.xml"/><Relationship Id="rId58" Type="http://schemas.openxmlformats.org/officeDocument/2006/relationships/slide" Target="slides/slide41.xml"/><Relationship Id="rId57" Type="http://schemas.openxmlformats.org/officeDocument/2006/relationships/slide" Target="slides/slide40.xml"/><Relationship Id="rId56" Type="http://schemas.openxmlformats.org/officeDocument/2006/relationships/slide" Target="slides/slide39.xml"/><Relationship Id="rId55" Type="http://schemas.openxmlformats.org/officeDocument/2006/relationships/slide" Target="slides/slide38.xml"/><Relationship Id="rId54" Type="http://schemas.openxmlformats.org/officeDocument/2006/relationships/slide" Target="slides/slide37.xml"/><Relationship Id="rId53" Type="http://schemas.openxmlformats.org/officeDocument/2006/relationships/slide" Target="slides/slide36.xml"/><Relationship Id="rId52" Type="http://schemas.openxmlformats.org/officeDocument/2006/relationships/slide" Target="slides/slide35.xml"/><Relationship Id="rId51" Type="http://schemas.openxmlformats.org/officeDocument/2006/relationships/slide" Target="slides/slide34.xml"/><Relationship Id="rId50" Type="http://schemas.openxmlformats.org/officeDocument/2006/relationships/slide" Target="slides/slide33.xml"/><Relationship Id="rId5" Type="http://schemas.openxmlformats.org/officeDocument/2006/relationships/slideMaster" Target="slideMasters/slideMaster4.xml"/><Relationship Id="rId49" Type="http://schemas.openxmlformats.org/officeDocument/2006/relationships/slide" Target="slides/slide32.xml"/><Relationship Id="rId48" Type="http://schemas.openxmlformats.org/officeDocument/2006/relationships/slide" Target="slides/slide31.xml"/><Relationship Id="rId47" Type="http://schemas.openxmlformats.org/officeDocument/2006/relationships/slide" Target="slides/slide30.xml"/><Relationship Id="rId46" Type="http://schemas.openxmlformats.org/officeDocument/2006/relationships/slide" Target="slides/slide29.xml"/><Relationship Id="rId45" Type="http://schemas.openxmlformats.org/officeDocument/2006/relationships/slide" Target="slides/slide28.xml"/><Relationship Id="rId44" Type="http://schemas.openxmlformats.org/officeDocument/2006/relationships/slide" Target="slides/slide27.xml"/><Relationship Id="rId43" Type="http://schemas.openxmlformats.org/officeDocument/2006/relationships/slide" Target="slides/slide26.xml"/><Relationship Id="rId42" Type="http://schemas.openxmlformats.org/officeDocument/2006/relationships/slide" Target="slides/slide25.xml"/><Relationship Id="rId41" Type="http://schemas.openxmlformats.org/officeDocument/2006/relationships/slide" Target="slides/slide24.xml"/><Relationship Id="rId40" Type="http://schemas.openxmlformats.org/officeDocument/2006/relationships/slide" Target="slides/slide23.xml"/><Relationship Id="rId4" Type="http://schemas.openxmlformats.org/officeDocument/2006/relationships/slideMaster" Target="slideMasters/slideMaster3.xml"/><Relationship Id="rId39" Type="http://schemas.openxmlformats.org/officeDocument/2006/relationships/slide" Target="slides/slide22.xml"/><Relationship Id="rId38" Type="http://schemas.openxmlformats.org/officeDocument/2006/relationships/slide" Target="slides/slide21.xml"/><Relationship Id="rId37" Type="http://schemas.openxmlformats.org/officeDocument/2006/relationships/slide" Target="slides/slide20.xml"/><Relationship Id="rId36" Type="http://schemas.openxmlformats.org/officeDocument/2006/relationships/slide" Target="slides/slide19.xml"/><Relationship Id="rId35" Type="http://schemas.openxmlformats.org/officeDocument/2006/relationships/slide" Target="slides/slide18.xml"/><Relationship Id="rId34" Type="http://schemas.openxmlformats.org/officeDocument/2006/relationships/slide" Target="slides/slide17.xml"/><Relationship Id="rId33" Type="http://schemas.openxmlformats.org/officeDocument/2006/relationships/slide" Target="slides/slide16.xml"/><Relationship Id="rId32" Type="http://schemas.openxmlformats.org/officeDocument/2006/relationships/slide" Target="slides/slide15.xml"/><Relationship Id="rId31" Type="http://schemas.openxmlformats.org/officeDocument/2006/relationships/slide" Target="slides/slide14.xml"/><Relationship Id="rId30" Type="http://schemas.openxmlformats.org/officeDocument/2006/relationships/slide" Target="slides/slide13.xml"/><Relationship Id="rId3" Type="http://schemas.openxmlformats.org/officeDocument/2006/relationships/slideMaster" Target="slideMasters/slideMaster2.xml"/><Relationship Id="rId29" Type="http://schemas.openxmlformats.org/officeDocument/2006/relationships/slide" Target="slides/slide12.xml"/><Relationship Id="rId28" Type="http://schemas.openxmlformats.org/officeDocument/2006/relationships/slide" Target="slides/slide11.xml"/><Relationship Id="rId27" Type="http://schemas.openxmlformats.org/officeDocument/2006/relationships/slide" Target="slides/slide10.xml"/><Relationship Id="rId26" Type="http://schemas.openxmlformats.org/officeDocument/2006/relationships/slide" Target="slides/slide9.xml"/><Relationship Id="rId25" Type="http://schemas.openxmlformats.org/officeDocument/2006/relationships/slide" Target="slides/slide8.xml"/><Relationship Id="rId24" Type="http://schemas.openxmlformats.org/officeDocument/2006/relationships/slide" Target="slides/slide7.xml"/><Relationship Id="rId23" Type="http://schemas.openxmlformats.org/officeDocument/2006/relationships/slide" Target="slides/slide6.xml"/><Relationship Id="rId22" Type="http://schemas.openxmlformats.org/officeDocument/2006/relationships/slide" Target="slides/slide5.xml"/><Relationship Id="rId21" Type="http://schemas.openxmlformats.org/officeDocument/2006/relationships/slide" Target="slides/slide4.xml"/><Relationship Id="rId20" Type="http://schemas.openxmlformats.org/officeDocument/2006/relationships/slide" Target="slides/slide3.xml"/><Relationship Id="rId2" Type="http://schemas.openxmlformats.org/officeDocument/2006/relationships/theme" Target="theme/theme1.xml"/><Relationship Id="rId19" Type="http://schemas.openxmlformats.org/officeDocument/2006/relationships/slide" Target="slides/slide2.xml"/><Relationship Id="rId18" Type="http://schemas.openxmlformats.org/officeDocument/2006/relationships/slide" Target="slides/slide1.xml"/><Relationship Id="rId17" Type="http://schemas.openxmlformats.org/officeDocument/2006/relationships/slideMaster" Target="slideMasters/slideMaster16.xml"/><Relationship Id="rId16" Type="http://schemas.openxmlformats.org/officeDocument/2006/relationships/slideMaster" Target="slideMasters/slideMaster15.xml"/><Relationship Id="rId15" Type="http://schemas.openxmlformats.org/officeDocument/2006/relationships/slideMaster" Target="slideMasters/slideMaster14.xml"/><Relationship Id="rId14" Type="http://schemas.openxmlformats.org/officeDocument/2006/relationships/slideMaster" Target="slideMasters/slideMaster13.xml"/><Relationship Id="rId13" Type="http://schemas.openxmlformats.org/officeDocument/2006/relationships/slideMaster" Target="slideMasters/slideMaster12.xml"/><Relationship Id="rId129" Type="http://schemas.openxmlformats.org/officeDocument/2006/relationships/tags" Target="tags/tag4.xml"/><Relationship Id="rId128" Type="http://schemas.openxmlformats.org/officeDocument/2006/relationships/tableStyles" Target="tableStyles.xml"/><Relationship Id="rId127" Type="http://schemas.openxmlformats.org/officeDocument/2006/relationships/viewProps" Target="viewProps.xml"/><Relationship Id="rId126" Type="http://schemas.openxmlformats.org/officeDocument/2006/relationships/presProps" Target="presProps.xml"/><Relationship Id="rId125" Type="http://schemas.openxmlformats.org/officeDocument/2006/relationships/notesMaster" Target="notesMasters/notesMaster1.xml"/><Relationship Id="rId124" Type="http://schemas.openxmlformats.org/officeDocument/2006/relationships/slide" Target="slides/slide107.xml"/><Relationship Id="rId123" Type="http://schemas.openxmlformats.org/officeDocument/2006/relationships/slide" Target="slides/slide106.xml"/><Relationship Id="rId122" Type="http://schemas.openxmlformats.org/officeDocument/2006/relationships/slide" Target="slides/slide105.xml"/><Relationship Id="rId121" Type="http://schemas.openxmlformats.org/officeDocument/2006/relationships/slide" Target="slides/slide104.xml"/><Relationship Id="rId120" Type="http://schemas.openxmlformats.org/officeDocument/2006/relationships/slide" Target="slides/slide103.xml"/><Relationship Id="rId12" Type="http://schemas.openxmlformats.org/officeDocument/2006/relationships/slideMaster" Target="slideMasters/slideMaster11.xml"/><Relationship Id="rId119" Type="http://schemas.openxmlformats.org/officeDocument/2006/relationships/slide" Target="slides/slide102.xml"/><Relationship Id="rId118" Type="http://schemas.openxmlformats.org/officeDocument/2006/relationships/slide" Target="slides/slide101.xml"/><Relationship Id="rId117" Type="http://schemas.openxmlformats.org/officeDocument/2006/relationships/slide" Target="slides/slide100.xml"/><Relationship Id="rId116" Type="http://schemas.openxmlformats.org/officeDocument/2006/relationships/slide" Target="slides/slide99.xml"/><Relationship Id="rId115" Type="http://schemas.openxmlformats.org/officeDocument/2006/relationships/slide" Target="slides/slide98.xml"/><Relationship Id="rId114" Type="http://schemas.openxmlformats.org/officeDocument/2006/relationships/slide" Target="slides/slide97.xml"/><Relationship Id="rId113" Type="http://schemas.openxmlformats.org/officeDocument/2006/relationships/slide" Target="slides/slide96.xml"/><Relationship Id="rId112" Type="http://schemas.openxmlformats.org/officeDocument/2006/relationships/slide" Target="slides/slide95.xml"/><Relationship Id="rId111" Type="http://schemas.openxmlformats.org/officeDocument/2006/relationships/slide" Target="slides/slide94.xml"/><Relationship Id="rId110" Type="http://schemas.openxmlformats.org/officeDocument/2006/relationships/slide" Target="slides/slide93.xml"/><Relationship Id="rId11" Type="http://schemas.openxmlformats.org/officeDocument/2006/relationships/slideMaster" Target="slideMasters/slideMaster10.xml"/><Relationship Id="rId109" Type="http://schemas.openxmlformats.org/officeDocument/2006/relationships/slide" Target="slides/slide92.xml"/><Relationship Id="rId108" Type="http://schemas.openxmlformats.org/officeDocument/2006/relationships/slide" Target="slides/slide91.xml"/><Relationship Id="rId107" Type="http://schemas.openxmlformats.org/officeDocument/2006/relationships/slide" Target="slides/slide90.xml"/><Relationship Id="rId106" Type="http://schemas.openxmlformats.org/officeDocument/2006/relationships/slide" Target="slides/slide89.xml"/><Relationship Id="rId105" Type="http://schemas.openxmlformats.org/officeDocument/2006/relationships/slide" Target="slides/slide88.xml"/><Relationship Id="rId104" Type="http://schemas.openxmlformats.org/officeDocument/2006/relationships/slide" Target="slides/slide87.xml"/><Relationship Id="rId103" Type="http://schemas.openxmlformats.org/officeDocument/2006/relationships/slide" Target="slides/slide86.xml"/><Relationship Id="rId102" Type="http://schemas.openxmlformats.org/officeDocument/2006/relationships/slide" Target="slides/slide85.xml"/><Relationship Id="rId101" Type="http://schemas.openxmlformats.org/officeDocument/2006/relationships/slide" Target="slides/slide84.xml"/><Relationship Id="rId100" Type="http://schemas.openxmlformats.org/officeDocument/2006/relationships/slide" Target="slides/slide83.xml"/><Relationship Id="rId10" Type="http://schemas.openxmlformats.org/officeDocument/2006/relationships/slideMaster" Target="slideMasters/slideMaster9.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0.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7.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8.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5.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6.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9.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0.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1.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2.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34.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35.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0460013-E2CC-49A6-99FC-33B54BFB7965}"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7AA911-2240-47A0-A152-528C1809DA1A}"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7.xml"/></Relationships>
</file>

<file path=ppt/slideLayouts/_rels/slideLayout20.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8.xml"/></Relationships>
</file>

<file path=ppt/slideLayouts/_rels/slideLayout23.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8.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9.xml"/></Relationships>
</file>

<file path=ppt/slideLayouts/_rels/slideLayout26.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9.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0.xml"/></Relationships>
</file>

<file path=ppt/slideLayouts/_rels/slideLayout29.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0.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1.xml"/></Relationships>
</file>

<file path=ppt/slideLayouts/_rels/slideLayout32.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2.xml"/></Relationships>
</file>

<file path=ppt/slideLayouts/_rels/slideLayout35.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3.xml"/></Relationships>
</file>

<file path=ppt/slideLayouts/_rels/slideLayout38.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4.xml"/></Relationships>
</file>

<file path=ppt/slideLayouts/_rels/slideLayout41.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5.xml"/></Relationships>
</file>

<file path=ppt/slideLayouts/_rels/slideLayout44.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6.xml"/></Relationships>
</file>

<file path=ppt/slideLayouts/_rels/slideLayout47.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6.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6" Type="http://schemas.openxmlformats.org/officeDocument/2006/relationships/theme" Target="../theme/theme2.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s>
</file>

<file path=ppt/slideMasters/_rels/slideMaster3.xml.rels><?xml version="1.0" encoding="UTF-8" standalone="yes"?>
<Relationships xmlns="http://schemas.openxmlformats.org/package/2006/relationships"><Relationship Id="rId6" Type="http://schemas.openxmlformats.org/officeDocument/2006/relationships/theme" Target="../theme/theme3.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9.xml"/><Relationship Id="rId2" Type="http://schemas.openxmlformats.org/officeDocument/2006/relationships/slideLayout" Target="../slideLayouts/slideLayout8.xml"/><Relationship Id="rId1" Type="http://schemas.openxmlformats.org/officeDocument/2006/relationships/slideLayout" Target="../slideLayouts/slideLayout7.xml"/></Relationships>
</file>

<file path=ppt/slideMasters/_rels/slideMaster4.xml.rels><?xml version="1.0" encoding="UTF-8" standalone="yes"?>
<Relationships xmlns="http://schemas.openxmlformats.org/package/2006/relationships"><Relationship Id="rId6" Type="http://schemas.openxmlformats.org/officeDocument/2006/relationships/theme" Target="../theme/theme4.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s>
</file>

<file path=ppt/slideMasters/_rels/slideMaster5.xml.rels><?xml version="1.0" encoding="UTF-8" standalone="yes"?>
<Relationships xmlns="http://schemas.openxmlformats.org/package/2006/relationships"><Relationship Id="rId6" Type="http://schemas.openxmlformats.org/officeDocument/2006/relationships/theme" Target="../theme/theme5.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_rels/slideMaster6.xml.rels><?xml version="1.0" encoding="UTF-8" standalone="yes"?>
<Relationships xmlns="http://schemas.openxmlformats.org/package/2006/relationships"><Relationship Id="rId6" Type="http://schemas.openxmlformats.org/officeDocument/2006/relationships/theme" Target="../theme/theme6.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18.xml"/><Relationship Id="rId2" Type="http://schemas.openxmlformats.org/officeDocument/2006/relationships/slideLayout" Target="../slideLayouts/slideLayout17.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6" Type="http://schemas.openxmlformats.org/officeDocument/2006/relationships/theme" Target="../theme/theme7.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21.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_rels/slideMaster8.xml.rels><?xml version="1.0" encoding="UTF-8" standalone="yes"?>
<Relationships xmlns="http://schemas.openxmlformats.org/package/2006/relationships"><Relationship Id="rId6" Type="http://schemas.openxmlformats.org/officeDocument/2006/relationships/theme" Target="../theme/theme8.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24.xml"/><Relationship Id="rId2" Type="http://schemas.openxmlformats.org/officeDocument/2006/relationships/slideLayout" Target="../slideLayouts/slideLayout23.xml"/><Relationship Id="rId1" Type="http://schemas.openxmlformats.org/officeDocument/2006/relationships/slideLayout" Target="../slideLayouts/slideLayout22.xml"/></Relationships>
</file>

<file path=ppt/slideMasters/_rels/slideMaster9.xml.rels><?xml version="1.0" encoding="UTF-8" standalone="yes"?>
<Relationships xmlns="http://schemas.openxmlformats.org/package/2006/relationships"><Relationship Id="rId6" Type="http://schemas.openxmlformats.org/officeDocument/2006/relationships/theme" Target="../theme/theme9.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27.xml"/><Relationship Id="rId2" Type="http://schemas.openxmlformats.org/officeDocument/2006/relationships/slideLayout" Target="../slideLayouts/slideLayout26.xml"/><Relationship Id="rId1" Type="http://schemas.openxmlformats.org/officeDocument/2006/relationships/slideLayout" Target="../slideLayouts/slideLayout25.xml"/></Relationships>
</file>

<file path=ppt/slideMasters/_rels/slideMaster10.xml.rels><?xml version="1.0" encoding="UTF-8" standalone="yes"?>
<Relationships xmlns="http://schemas.openxmlformats.org/package/2006/relationships"><Relationship Id="rId6" Type="http://schemas.openxmlformats.org/officeDocument/2006/relationships/theme" Target="../theme/theme10.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30.xml"/><Relationship Id="rId2" Type="http://schemas.openxmlformats.org/officeDocument/2006/relationships/slideLayout" Target="../slideLayouts/slideLayout29.xml"/><Relationship Id="rId1" Type="http://schemas.openxmlformats.org/officeDocument/2006/relationships/slideLayout" Target="../slideLayouts/slideLayout28.xml"/></Relationships>
</file>

<file path=ppt/slideMasters/_rels/slideMaster11.xml.rels><?xml version="1.0" encoding="UTF-8" standalone="yes"?>
<Relationships xmlns="http://schemas.openxmlformats.org/package/2006/relationships"><Relationship Id="rId6" Type="http://schemas.openxmlformats.org/officeDocument/2006/relationships/theme" Target="../theme/theme11.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33.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_rels/slideMaster12.xml.rels><?xml version="1.0" encoding="UTF-8" standalone="yes"?>
<Relationships xmlns="http://schemas.openxmlformats.org/package/2006/relationships"><Relationship Id="rId6" Type="http://schemas.openxmlformats.org/officeDocument/2006/relationships/theme" Target="../theme/theme12.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36.xml"/><Relationship Id="rId2" Type="http://schemas.openxmlformats.org/officeDocument/2006/relationships/slideLayout" Target="../slideLayouts/slideLayout35.xml"/><Relationship Id="rId1" Type="http://schemas.openxmlformats.org/officeDocument/2006/relationships/slideLayout" Target="../slideLayouts/slideLayout34.xml"/></Relationships>
</file>

<file path=ppt/slideMasters/_rels/slideMaster13.xml.rels><?xml version="1.0" encoding="UTF-8" standalone="yes"?>
<Relationships xmlns="http://schemas.openxmlformats.org/package/2006/relationships"><Relationship Id="rId6" Type="http://schemas.openxmlformats.org/officeDocument/2006/relationships/theme" Target="../theme/theme13.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39.xml"/><Relationship Id="rId2" Type="http://schemas.openxmlformats.org/officeDocument/2006/relationships/slideLayout" Target="../slideLayouts/slideLayout38.xml"/><Relationship Id="rId1" Type="http://schemas.openxmlformats.org/officeDocument/2006/relationships/slideLayout" Target="../slideLayouts/slideLayout37.xml"/></Relationships>
</file>

<file path=ppt/slideMasters/_rels/slideMaster14.xml.rels><?xml version="1.0" encoding="UTF-8" standalone="yes"?>
<Relationships xmlns="http://schemas.openxmlformats.org/package/2006/relationships"><Relationship Id="rId6" Type="http://schemas.openxmlformats.org/officeDocument/2006/relationships/theme" Target="../theme/theme14.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s>
</file>

<file path=ppt/slideMasters/_rels/slideMaster15.xml.rels><?xml version="1.0" encoding="UTF-8" standalone="yes"?>
<Relationships xmlns="http://schemas.openxmlformats.org/package/2006/relationships"><Relationship Id="rId6" Type="http://schemas.openxmlformats.org/officeDocument/2006/relationships/theme" Target="../theme/theme15.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45.xml"/><Relationship Id="rId2" Type="http://schemas.openxmlformats.org/officeDocument/2006/relationships/slideLayout" Target="../slideLayouts/slideLayout44.xml"/><Relationship Id="rId1" Type="http://schemas.openxmlformats.org/officeDocument/2006/relationships/slideLayout" Target="../slideLayouts/slideLayout43.xml"/></Relationships>
</file>

<file path=ppt/slideMasters/_rels/slideMaster16.xml.rels><?xml version="1.0" encoding="UTF-8" standalone="yes"?>
<Relationships xmlns="http://schemas.openxmlformats.org/package/2006/relationships"><Relationship Id="rId6" Type="http://schemas.openxmlformats.org/officeDocument/2006/relationships/theme" Target="../theme/theme16.xml"/><Relationship Id="rId5" Type="http://schemas.openxmlformats.org/officeDocument/2006/relationships/image" Target="../media/image5.jpeg"/><Relationship Id="rId4" Type="http://schemas.openxmlformats.org/officeDocument/2006/relationships/image" Target="../media/image4.jpeg"/><Relationship Id="rId3" Type="http://schemas.openxmlformats.org/officeDocument/2006/relationships/slideLayout" Target="../slideLayouts/slideLayout48.xml"/><Relationship Id="rId2" Type="http://schemas.openxmlformats.org/officeDocument/2006/relationships/slideLayout" Target="../slideLayouts/slideLayout47.xml"/><Relationship Id="rId1" Type="http://schemas.openxmlformats.org/officeDocument/2006/relationships/slideLayout" Target="../slideLayouts/slideLayout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7.jpeg"/><Relationship Id="rId1" Type="http://schemas.openxmlformats.org/officeDocument/2006/relationships/image" Target="../media/image6.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10.wmf"/><Relationship Id="rId1" Type="http://schemas.openxmlformats.org/officeDocument/2006/relationships/oleObject" Target="../embeddings/oleObject1.bin"/></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11.wmf"/><Relationship Id="rId1" Type="http://schemas.openxmlformats.org/officeDocument/2006/relationships/oleObject" Target="../embeddings/oleObject2.bin"/></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wmf"/></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wmf"/></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17.wmf"/><Relationship Id="rId1" Type="http://schemas.openxmlformats.org/officeDocument/2006/relationships/oleObject" Target="../embeddings/oleObject3.bin"/></Relationships>
</file>

<file path=ppt/slides/_rels/slide31.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18.wmf"/><Relationship Id="rId1" Type="http://schemas.openxmlformats.org/officeDocument/2006/relationships/oleObject" Target="../embeddings/oleObject4.bin"/></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image" Target="../media/image20.png"/><Relationship Id="rId1" Type="http://schemas.openxmlformats.org/officeDocument/2006/relationships/tags" Target="../tags/tag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26.xml"/><Relationship Id="rId1"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8.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4" Type="http://schemas.openxmlformats.org/officeDocument/2006/relationships/vmlDrawing" Target="../drawings/vmlDrawing5.vml"/><Relationship Id="rId3" Type="http://schemas.openxmlformats.org/officeDocument/2006/relationships/slideLayout" Target="../slideLayouts/slideLayout2.xml"/><Relationship Id="rId2" Type="http://schemas.openxmlformats.org/officeDocument/2006/relationships/image" Target="../media/image25.wmf"/><Relationship Id="rId1" Type="http://schemas.openxmlformats.org/officeDocument/2006/relationships/oleObject" Target="../embeddings/oleObject5.bin"/></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4" Type="http://schemas.openxmlformats.org/officeDocument/2006/relationships/vmlDrawing" Target="../drawings/vmlDrawing6.vml"/><Relationship Id="rId3" Type="http://schemas.openxmlformats.org/officeDocument/2006/relationships/slideLayout" Target="../slideLayouts/slideLayout2.xml"/><Relationship Id="rId2" Type="http://schemas.openxmlformats.org/officeDocument/2006/relationships/image" Target="../media/image26.wmf"/><Relationship Id="rId1" Type="http://schemas.openxmlformats.org/officeDocument/2006/relationships/oleObject" Target="../embeddings/oleObject6.bin"/></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5" Type="http://schemas.openxmlformats.org/officeDocument/2006/relationships/vmlDrawing" Target="../drawings/vmlDrawing7.vml"/><Relationship Id="rId4" Type="http://schemas.openxmlformats.org/officeDocument/2006/relationships/slideLayout" Target="../slideLayouts/slideLayout2.xml"/><Relationship Id="rId3" Type="http://schemas.openxmlformats.org/officeDocument/2006/relationships/image" Target="../media/image27.wmf"/><Relationship Id="rId2" Type="http://schemas.openxmlformats.org/officeDocument/2006/relationships/oleObject" Target="../embeddings/oleObject7.bin"/><Relationship Id="rId1" Type="http://schemas.openxmlformats.org/officeDocument/2006/relationships/tags" Target="../tags/tag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5" Type="http://schemas.openxmlformats.org/officeDocument/2006/relationships/vmlDrawing" Target="../drawings/vmlDrawing8.vml"/><Relationship Id="rId4" Type="http://schemas.openxmlformats.org/officeDocument/2006/relationships/slideLayout" Target="../slideLayouts/slideLayout2.xml"/><Relationship Id="rId3" Type="http://schemas.openxmlformats.org/officeDocument/2006/relationships/image" Target="../media/image27.wmf"/><Relationship Id="rId2" Type="http://schemas.openxmlformats.org/officeDocument/2006/relationships/oleObject" Target="../embeddings/oleObject8.bin"/><Relationship Id="rId1" Type="http://schemas.openxmlformats.org/officeDocument/2006/relationships/tags" Target="../tags/tag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63.xml.rels><?xml version="1.0" encoding="UTF-8" standalone="yes"?>
<Relationships xmlns="http://schemas.openxmlformats.org/package/2006/relationships"><Relationship Id="rId4" Type="http://schemas.openxmlformats.org/officeDocument/2006/relationships/vmlDrawing" Target="../drawings/vmlDrawing9.vml"/><Relationship Id="rId3" Type="http://schemas.openxmlformats.org/officeDocument/2006/relationships/slideLayout" Target="../slideLayouts/slideLayout32.xml"/><Relationship Id="rId2" Type="http://schemas.openxmlformats.org/officeDocument/2006/relationships/image" Target="../media/image28.wmf"/><Relationship Id="rId1" Type="http://schemas.openxmlformats.org/officeDocument/2006/relationships/oleObject" Target="../embeddings/oleObject9.bin"/></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4" Type="http://schemas.openxmlformats.org/officeDocument/2006/relationships/vmlDrawing" Target="../drawings/vmlDrawing10.vml"/><Relationship Id="rId3" Type="http://schemas.openxmlformats.org/officeDocument/2006/relationships/slideLayout" Target="../slideLayouts/slideLayout2.xml"/><Relationship Id="rId2" Type="http://schemas.openxmlformats.org/officeDocument/2006/relationships/image" Target="../media/image29.wmf"/><Relationship Id="rId1" Type="http://schemas.openxmlformats.org/officeDocument/2006/relationships/oleObject" Target="../embeddings/oleObject10.bin"/></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4" Type="http://schemas.openxmlformats.org/officeDocument/2006/relationships/vmlDrawing" Target="../drawings/vmlDrawing11.vml"/><Relationship Id="rId3" Type="http://schemas.openxmlformats.org/officeDocument/2006/relationships/slideLayout" Target="../slideLayouts/slideLayout35.xml"/><Relationship Id="rId2" Type="http://schemas.openxmlformats.org/officeDocument/2006/relationships/image" Target="../media/image30.wmf"/><Relationship Id="rId1" Type="http://schemas.openxmlformats.org/officeDocument/2006/relationships/oleObject" Target="../embeddings/oleObject11.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4" Type="http://schemas.openxmlformats.org/officeDocument/2006/relationships/vmlDrawing" Target="../drawings/vmlDrawing12.vml"/><Relationship Id="rId3" Type="http://schemas.openxmlformats.org/officeDocument/2006/relationships/slideLayout" Target="../slideLayouts/slideLayout2.xml"/><Relationship Id="rId2" Type="http://schemas.openxmlformats.org/officeDocument/2006/relationships/image" Target="../media/image31.wmf"/><Relationship Id="rId1" Type="http://schemas.openxmlformats.org/officeDocument/2006/relationships/oleObject" Target="../embeddings/oleObject12.bin"/></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4" Type="http://schemas.openxmlformats.org/officeDocument/2006/relationships/vmlDrawing" Target="../drawings/vmlDrawing13.vml"/><Relationship Id="rId3" Type="http://schemas.openxmlformats.org/officeDocument/2006/relationships/slideLayout" Target="../slideLayouts/slideLayout2.xml"/><Relationship Id="rId2" Type="http://schemas.openxmlformats.org/officeDocument/2006/relationships/image" Target="../media/image32.wmf"/><Relationship Id="rId1" Type="http://schemas.openxmlformats.org/officeDocument/2006/relationships/oleObject" Target="../embeddings/oleObject13.bin"/></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75.xml.rels><?xml version="1.0" encoding="UTF-8" standalone="yes"?>
<Relationships xmlns="http://schemas.openxmlformats.org/package/2006/relationships"><Relationship Id="rId4" Type="http://schemas.openxmlformats.org/officeDocument/2006/relationships/vmlDrawing" Target="../drawings/vmlDrawing14.vml"/><Relationship Id="rId3" Type="http://schemas.openxmlformats.org/officeDocument/2006/relationships/slideLayout" Target="../slideLayouts/slideLayout2.xml"/><Relationship Id="rId2" Type="http://schemas.openxmlformats.org/officeDocument/2006/relationships/image" Target="../media/image34.wmf"/><Relationship Id="rId1" Type="http://schemas.openxmlformats.org/officeDocument/2006/relationships/oleObject" Target="../embeddings/oleObject14.bin"/></Relationships>
</file>

<file path=ppt/slides/_rels/slide76.xml.rels><?xml version="1.0" encoding="UTF-8" standalone="yes"?>
<Relationships xmlns="http://schemas.openxmlformats.org/package/2006/relationships"><Relationship Id="rId4" Type="http://schemas.openxmlformats.org/officeDocument/2006/relationships/vmlDrawing" Target="../drawings/vmlDrawing15.vml"/><Relationship Id="rId3" Type="http://schemas.openxmlformats.org/officeDocument/2006/relationships/slideLayout" Target="../slideLayouts/slideLayout2.xml"/><Relationship Id="rId2" Type="http://schemas.openxmlformats.org/officeDocument/2006/relationships/image" Target="../media/image35.wmf"/><Relationship Id="rId1" Type="http://schemas.openxmlformats.org/officeDocument/2006/relationships/oleObject" Target="../embeddings/oleObject15.bin"/></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jpe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4" Type="http://schemas.openxmlformats.org/officeDocument/2006/relationships/slideLayout" Target="../slideLayouts/slideLayout41.xml"/><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image" Target="../media/image38.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1.png"/></Relationships>
</file>

<file path=ppt/slides/_rels/slide10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2.png"/><Relationship Id="rId1" Type="http://schemas.openxmlformats.org/officeDocument/2006/relationships/image" Target="../media/image4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ctrTitle"/>
          </p:nvPr>
        </p:nvSpPr>
        <p:spPr/>
        <p:txBody>
          <a:bodyPr/>
          <a:lstStyle/>
          <a:p>
            <a:r>
              <a:rPr lang="zh-CN" altLang="en-US" dirty="0"/>
              <a:t>树和二叉树</a:t>
            </a:r>
            <a:endParaRPr lang="zh-CN" altLang="en-US" dirty="0"/>
          </a:p>
        </p:txBody>
      </p:sp>
      <p:sp>
        <p:nvSpPr>
          <p:cNvPr id="4" name="文本占位符 3"/>
          <p:cNvSpPr>
            <a:spLocks noGrp="1"/>
          </p:cNvSpPr>
          <p:nvPr>
            <p:ph type="body" sz="quarter" idx="14"/>
          </p:nvPr>
        </p:nvSpPr>
        <p:spPr/>
        <p:txBody>
          <a:bodyPr/>
          <a:lstStyle/>
          <a:p>
            <a:endParaRPr lang="zh-CN" altLang="en-US"/>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50000"/>
              </a:lnSpc>
              <a:spcBef>
                <a:spcPct val="0"/>
              </a:spcBef>
            </a:pPr>
            <a:r>
              <a:rPr lang="en-US" altLang="zh-CN" sz="2400" dirty="0"/>
              <a:t>6.1   </a:t>
            </a:r>
            <a:r>
              <a:rPr lang="zh-CN" altLang="en-US" sz="2400" dirty="0"/>
              <a:t>树的定义和基本术语</a:t>
            </a:r>
            <a:endParaRPr lang="zh-CN" altLang="en-US" sz="2400" dirty="0"/>
          </a:p>
          <a:p>
            <a:pPr eaLnBrk="1" hangingPunct="1">
              <a:lnSpc>
                <a:spcPct val="150000"/>
              </a:lnSpc>
              <a:spcBef>
                <a:spcPct val="0"/>
              </a:spcBef>
            </a:pPr>
            <a:r>
              <a:rPr lang="en-US" altLang="zh-CN" sz="2400" dirty="0"/>
              <a:t>6.2   </a:t>
            </a:r>
            <a:r>
              <a:rPr lang="zh-CN" altLang="en-US" sz="2400" dirty="0">
                <a:latin typeface="宋体" panose="02010600030101010101" pitchFamily="2" charset="-122"/>
              </a:rPr>
              <a:t>二叉树</a:t>
            </a:r>
            <a:endParaRPr lang="zh-CN" altLang="en-US" sz="2400" dirty="0"/>
          </a:p>
          <a:p>
            <a:pPr eaLnBrk="1" hangingPunct="1">
              <a:lnSpc>
                <a:spcPct val="150000"/>
              </a:lnSpc>
              <a:spcBef>
                <a:spcPct val="0"/>
              </a:spcBef>
            </a:pPr>
            <a:r>
              <a:rPr lang="en-US" altLang="zh-CN" sz="2400" dirty="0"/>
              <a:t>6.3   </a:t>
            </a:r>
            <a:r>
              <a:rPr lang="zh-CN" altLang="en-US" sz="2400" dirty="0"/>
              <a:t>二叉树的遍历与线索化 </a:t>
            </a:r>
            <a:endParaRPr lang="zh-CN" altLang="en-US" sz="2400" dirty="0"/>
          </a:p>
          <a:p>
            <a:pPr eaLnBrk="1" hangingPunct="1">
              <a:lnSpc>
                <a:spcPct val="150000"/>
              </a:lnSpc>
              <a:spcBef>
                <a:spcPct val="0"/>
              </a:spcBef>
            </a:pPr>
            <a:r>
              <a:rPr lang="en-US" altLang="zh-CN" sz="2400" dirty="0"/>
              <a:t>6.4   </a:t>
            </a:r>
            <a:r>
              <a:rPr lang="zh-CN" altLang="en-US" sz="2400" dirty="0"/>
              <a:t>树、森林</a:t>
            </a:r>
            <a:endParaRPr lang="en-US" altLang="zh-CN" sz="2400" dirty="0"/>
          </a:p>
          <a:p>
            <a:pPr eaLnBrk="1" hangingPunct="1">
              <a:lnSpc>
                <a:spcPct val="150000"/>
              </a:lnSpc>
              <a:spcBef>
                <a:spcPct val="0"/>
              </a:spcBef>
            </a:pPr>
            <a:r>
              <a:rPr lang="en-US" altLang="zh-CN" sz="2400" dirty="0"/>
              <a:t>6.5   </a:t>
            </a:r>
            <a:r>
              <a:rPr lang="zh-CN" altLang="en-US" sz="2400" dirty="0"/>
              <a:t>哈夫曼树及其应用</a:t>
            </a:r>
            <a:endParaRPr lang="zh-CN" altLang="en-US" sz="2400" dirty="0"/>
          </a:p>
          <a:p>
            <a:pPr eaLnBrk="1" hangingPunct="1">
              <a:lnSpc>
                <a:spcPct val="150000"/>
              </a:lnSpc>
              <a:spcBef>
                <a:spcPct val="0"/>
              </a:spcBef>
            </a:pPr>
            <a:r>
              <a:rPr lang="en-US" altLang="zh-CN" sz="2400" dirty="0"/>
              <a:t>6.6   </a:t>
            </a:r>
            <a:r>
              <a:rPr lang="zh-CN" altLang="en-US" sz="2400" dirty="0"/>
              <a:t>树与等价问题</a:t>
            </a:r>
            <a:endParaRPr lang="zh-CN" altLang="en-US" sz="2400" dirty="0"/>
          </a:p>
        </p:txBody>
      </p:sp>
      <p:sp>
        <p:nvSpPr>
          <p:cNvPr id="3" name="标题 2"/>
          <p:cNvSpPr>
            <a:spLocks noGrp="1"/>
          </p:cNvSpPr>
          <p:nvPr>
            <p:ph type="title"/>
          </p:nvPr>
        </p:nvSpPr>
        <p:spPr/>
        <p:txBody>
          <a:bodyPr/>
          <a:lstStyle/>
          <a:p>
            <a:r>
              <a:rPr lang="zh-CN" altLang="en-US" dirty="0" smtClean="0"/>
              <a:t>本章目录</a:t>
            </a:r>
            <a:endParaRPr lang="zh-CN" alt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sz="2400" dirty="0"/>
              <a:t>客观世界中许多事物存在层次关系 </a:t>
            </a:r>
            <a:endParaRPr lang="zh-CN" altLang="en-US" sz="2400" dirty="0"/>
          </a:p>
          <a:p>
            <a:endParaRPr lang="zh-CN" altLang="en-US" dirty="0"/>
          </a:p>
        </p:txBody>
      </p:sp>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pic>
        <p:nvPicPr>
          <p:cNvPr id="4" name="Picture 6" descr="家谱"/>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233685" y="1113423"/>
            <a:ext cx="3260229" cy="23735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descr="组织机构图"/>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0" y="1113422"/>
            <a:ext cx="3429000" cy="257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spcBef>
                <a:spcPct val="0"/>
              </a:spcBef>
            </a:pPr>
            <a:r>
              <a:rPr lang="zh-CN" altLang="en-US" sz="2400" dirty="0">
                <a:solidFill>
                  <a:srgbClr val="FF0000"/>
                </a:solidFill>
              </a:rPr>
              <a:t>分层次组织在管理上具有更高的效率</a:t>
            </a:r>
            <a:r>
              <a:rPr lang="en-US" altLang="zh-CN" sz="2400" dirty="0">
                <a:solidFill>
                  <a:srgbClr val="FF0000"/>
                </a:solidFill>
              </a:rPr>
              <a:t>! </a:t>
            </a:r>
            <a:endParaRPr lang="zh-CN" altLang="en-US" sz="2400" dirty="0">
              <a:solidFill>
                <a:srgbClr val="FF0000"/>
              </a:solidFill>
            </a:endParaRPr>
          </a:p>
          <a:p>
            <a:endParaRPr lang="zh-CN" altLang="en-US" dirty="0"/>
          </a:p>
        </p:txBody>
      </p:sp>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pic>
        <p:nvPicPr>
          <p:cNvPr id="6" name="Picture 8" descr="磁盘管理"/>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690516" y="1129111"/>
            <a:ext cx="3496122" cy="29927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ct val="130000"/>
              </a:lnSpc>
              <a:spcBef>
                <a:spcPct val="0"/>
              </a:spcBef>
            </a:pPr>
            <a:r>
              <a:rPr lang="zh-CN" altLang="en-US" dirty="0"/>
              <a:t>树：</a:t>
            </a:r>
            <a:r>
              <a:rPr lang="en-US" altLang="zh-CN" dirty="0"/>
              <a:t>n</a:t>
            </a:r>
            <a:r>
              <a:rPr lang="zh-CN" altLang="en-US" dirty="0"/>
              <a:t>（</a:t>
            </a:r>
            <a:r>
              <a:rPr lang="en-US" altLang="zh-CN" dirty="0"/>
              <a:t>n≥0</a:t>
            </a:r>
            <a:r>
              <a:rPr lang="zh-CN" altLang="en-US" dirty="0"/>
              <a:t>）个结点构成的有限集合</a:t>
            </a:r>
            <a:r>
              <a:rPr lang="en-US" altLang="zh-CN" dirty="0"/>
              <a:t>T</a:t>
            </a:r>
            <a:r>
              <a:rPr lang="zh-CN" altLang="en-US" dirty="0"/>
              <a:t>。</a:t>
            </a:r>
            <a:endParaRPr lang="zh-CN" altLang="en-US" dirty="0"/>
          </a:p>
          <a:p>
            <a:pPr lvl="2">
              <a:lnSpc>
                <a:spcPct val="130000"/>
              </a:lnSpc>
              <a:spcBef>
                <a:spcPct val="0"/>
              </a:spcBef>
            </a:pPr>
            <a:r>
              <a:rPr lang="zh-CN" altLang="en-US" dirty="0"/>
              <a:t>    当</a:t>
            </a:r>
            <a:r>
              <a:rPr lang="en-US" altLang="zh-CN" dirty="0"/>
              <a:t>n=0</a:t>
            </a:r>
            <a:r>
              <a:rPr lang="zh-CN" altLang="en-US" dirty="0"/>
              <a:t>时，称为</a:t>
            </a:r>
            <a:r>
              <a:rPr lang="zh-CN" altLang="en-US" dirty="0">
                <a:solidFill>
                  <a:srgbClr val="FF0000"/>
                </a:solidFill>
              </a:rPr>
              <a:t>空树</a:t>
            </a:r>
            <a:r>
              <a:rPr lang="zh-CN" altLang="en-US" dirty="0"/>
              <a:t>；</a:t>
            </a:r>
            <a:endParaRPr lang="zh-CN" altLang="en-US" dirty="0"/>
          </a:p>
          <a:p>
            <a:pPr lvl="2">
              <a:lnSpc>
                <a:spcPct val="130000"/>
              </a:lnSpc>
              <a:spcBef>
                <a:spcPct val="0"/>
              </a:spcBef>
            </a:pPr>
            <a:r>
              <a:rPr lang="zh-CN" altLang="en-US" dirty="0"/>
              <a:t>    当</a:t>
            </a:r>
            <a:r>
              <a:rPr lang="en-US" altLang="zh-CN" dirty="0"/>
              <a:t>n&gt;0</a:t>
            </a:r>
            <a:r>
              <a:rPr lang="zh-CN" altLang="en-US" dirty="0"/>
              <a:t>时，称为</a:t>
            </a:r>
            <a:r>
              <a:rPr lang="zh-CN" altLang="en-US" dirty="0">
                <a:solidFill>
                  <a:srgbClr val="FF0000"/>
                </a:solidFill>
              </a:rPr>
              <a:t>非空树</a:t>
            </a:r>
            <a:r>
              <a:rPr lang="zh-CN" altLang="en-US" dirty="0"/>
              <a:t>，满足如下条件： </a:t>
            </a:r>
            <a:endParaRPr lang="zh-CN" altLang="en-US" dirty="0"/>
          </a:p>
          <a:p>
            <a:pPr lvl="2">
              <a:lnSpc>
                <a:spcPct val="130000"/>
              </a:lnSpc>
              <a:spcBef>
                <a:spcPct val="0"/>
              </a:spcBef>
              <a:buClr>
                <a:schemeClr val="accent1"/>
              </a:buClr>
              <a:buFont typeface="Wingdings" panose="05000000000000000000" pitchFamily="2" charset="2"/>
              <a:buChar char="Ø"/>
            </a:pPr>
            <a:r>
              <a:rPr lang="zh-CN" altLang="en-US" dirty="0"/>
              <a:t> 必有一个称为</a:t>
            </a:r>
            <a:r>
              <a:rPr lang="zh-CN" altLang="en-US" dirty="0">
                <a:solidFill>
                  <a:srgbClr val="FF0000"/>
                </a:solidFill>
              </a:rPr>
              <a:t>根（</a:t>
            </a:r>
            <a:r>
              <a:rPr lang="en-US" altLang="zh-CN" dirty="0">
                <a:solidFill>
                  <a:srgbClr val="FF0000"/>
                </a:solidFill>
              </a:rPr>
              <a:t>root</a:t>
            </a:r>
            <a:r>
              <a:rPr lang="zh-CN" altLang="en-US" dirty="0">
                <a:solidFill>
                  <a:srgbClr val="FF0000"/>
                </a:solidFill>
              </a:rPr>
              <a:t>）</a:t>
            </a:r>
            <a:r>
              <a:rPr lang="zh-CN" altLang="en-US" dirty="0"/>
              <a:t>的特定结点，它没有直接前驱，但有零个或多个直接后继。 </a:t>
            </a:r>
            <a:endParaRPr lang="zh-CN" altLang="en-US" dirty="0"/>
          </a:p>
          <a:p>
            <a:pPr lvl="2">
              <a:lnSpc>
                <a:spcPct val="130000"/>
              </a:lnSpc>
              <a:spcBef>
                <a:spcPct val="0"/>
              </a:spcBef>
              <a:buClr>
                <a:schemeClr val="accent1"/>
              </a:buClr>
              <a:buFont typeface="Wingdings" panose="05000000000000000000" pitchFamily="2" charset="2"/>
              <a:buChar char="Ø"/>
            </a:pPr>
            <a:r>
              <a:rPr lang="zh-CN" altLang="en-US" dirty="0"/>
              <a:t> 其余</a:t>
            </a:r>
            <a:r>
              <a:rPr lang="en-US" altLang="zh-CN" dirty="0"/>
              <a:t>n-1</a:t>
            </a:r>
            <a:r>
              <a:rPr lang="zh-CN" altLang="en-US" dirty="0"/>
              <a:t>个结点可以划分成</a:t>
            </a:r>
            <a:r>
              <a:rPr lang="en-US" altLang="zh-CN" dirty="0"/>
              <a:t>m</a:t>
            </a:r>
            <a:r>
              <a:rPr lang="zh-CN" altLang="en-US" dirty="0"/>
              <a:t>（</a:t>
            </a:r>
            <a:r>
              <a:rPr lang="en-US" altLang="zh-CN" dirty="0"/>
              <a:t>m≥0</a:t>
            </a:r>
            <a:r>
              <a:rPr lang="zh-CN" altLang="en-US" dirty="0"/>
              <a:t>）个</a:t>
            </a:r>
            <a:r>
              <a:rPr lang="zh-CN" altLang="en-US" dirty="0">
                <a:solidFill>
                  <a:srgbClr val="FF0000"/>
                </a:solidFill>
              </a:rPr>
              <a:t>互不相交</a:t>
            </a:r>
            <a:r>
              <a:rPr lang="zh-CN" altLang="en-US" dirty="0"/>
              <a:t>的有限集</a:t>
            </a:r>
            <a:r>
              <a:rPr lang="en-US" altLang="zh-CN" dirty="0"/>
              <a:t>T</a:t>
            </a:r>
            <a:r>
              <a:rPr lang="en-US" altLang="zh-CN" baseline="-25000" dirty="0"/>
              <a:t>1</a:t>
            </a:r>
            <a:r>
              <a:rPr lang="zh-CN" altLang="en-US" dirty="0"/>
              <a:t>，</a:t>
            </a:r>
            <a:r>
              <a:rPr lang="en-US" altLang="zh-CN" dirty="0"/>
              <a:t>T</a:t>
            </a:r>
            <a:r>
              <a:rPr lang="en-US" altLang="zh-CN" baseline="-25000" dirty="0"/>
              <a:t>2</a:t>
            </a:r>
            <a:r>
              <a:rPr lang="zh-CN" altLang="en-US" dirty="0"/>
              <a:t>，</a:t>
            </a:r>
            <a:r>
              <a:rPr lang="en-US" altLang="zh-CN" dirty="0"/>
              <a:t>T</a:t>
            </a:r>
            <a:r>
              <a:rPr lang="en-US" altLang="zh-CN" baseline="-25000" dirty="0"/>
              <a:t>3</a:t>
            </a:r>
            <a:r>
              <a:rPr lang="zh-CN" altLang="en-US" dirty="0"/>
              <a:t>，</a:t>
            </a:r>
            <a:r>
              <a:rPr lang="en-US" altLang="zh-CN" dirty="0">
                <a:latin typeface="Courier New" panose="02070309020205020404" pitchFamily="49" charset="0"/>
              </a:rPr>
              <a:t>…</a:t>
            </a:r>
            <a:r>
              <a:rPr lang="zh-CN" altLang="en-US" dirty="0"/>
              <a:t>，</a:t>
            </a:r>
            <a:r>
              <a:rPr lang="en-US" altLang="zh-CN" dirty="0"/>
              <a:t>T</a:t>
            </a:r>
            <a:r>
              <a:rPr lang="en-US" altLang="zh-CN" baseline="-25000" dirty="0"/>
              <a:t>m</a:t>
            </a:r>
            <a:r>
              <a:rPr lang="zh-CN" altLang="en-US" dirty="0"/>
              <a:t>，其中子集</a:t>
            </a:r>
            <a:r>
              <a:rPr lang="en-US" altLang="zh-CN" dirty="0" err="1">
                <a:solidFill>
                  <a:srgbClr val="FF0000"/>
                </a:solidFill>
              </a:rPr>
              <a:t>T</a:t>
            </a:r>
            <a:r>
              <a:rPr lang="en-US" altLang="zh-CN" baseline="-25000" dirty="0" err="1">
                <a:solidFill>
                  <a:srgbClr val="FF0000"/>
                </a:solidFill>
              </a:rPr>
              <a:t>i</a:t>
            </a:r>
            <a:r>
              <a:rPr lang="zh-CN" altLang="en-US" dirty="0"/>
              <a:t>又是一棵树，称为根</a:t>
            </a:r>
            <a:r>
              <a:rPr lang="en-US" altLang="zh-CN" dirty="0"/>
              <a:t>root</a:t>
            </a:r>
            <a:r>
              <a:rPr lang="zh-CN" altLang="en-US" dirty="0"/>
              <a:t>的</a:t>
            </a:r>
            <a:r>
              <a:rPr lang="zh-CN" altLang="en-US" dirty="0">
                <a:solidFill>
                  <a:srgbClr val="FF0000"/>
                </a:solidFill>
              </a:rPr>
              <a:t>子树</a:t>
            </a:r>
            <a:r>
              <a:rPr lang="zh-CN" altLang="en-US" dirty="0"/>
              <a:t>。</a:t>
            </a:r>
            <a:endParaRPr lang="zh-CN" altLang="en-US" dirty="0"/>
          </a:p>
        </p:txBody>
      </p:sp>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树</a:t>
            </a:r>
            <a:r>
              <a:rPr lang="en-US" altLang="zh-CN" dirty="0"/>
              <a:t>T</a:t>
            </a:r>
            <a:r>
              <a:rPr lang="zh-CN" altLang="en-US" dirty="0"/>
              <a:t>：</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marL="478155" lvl="2" indent="-342900">
              <a:buFont typeface="Wingdings" panose="05000000000000000000" pitchFamily="2" charset="2"/>
              <a:buChar char="Ø"/>
            </a:pPr>
            <a:r>
              <a:rPr lang="zh-CN" altLang="en-US" sz="2000" dirty="0"/>
              <a:t>除了根结点外，每个结点</a:t>
            </a:r>
            <a:r>
              <a:rPr lang="zh-CN" altLang="en-US" sz="2000" dirty="0">
                <a:solidFill>
                  <a:srgbClr val="FF0000"/>
                </a:solidFill>
              </a:rPr>
              <a:t>有且仅有一个前驱结点</a:t>
            </a:r>
            <a:r>
              <a:rPr lang="zh-CN" altLang="en-US" sz="2000" dirty="0"/>
              <a:t>； </a:t>
            </a:r>
            <a:endParaRPr lang="zh-CN" altLang="en-US" sz="2000" dirty="0"/>
          </a:p>
          <a:p>
            <a:pPr marL="478155" lvl="2" indent="-342900">
              <a:buFont typeface="Wingdings" panose="05000000000000000000" pitchFamily="2" charset="2"/>
              <a:buChar char="Ø"/>
            </a:pPr>
            <a:r>
              <a:rPr lang="zh-CN" altLang="en-US" sz="2000" dirty="0"/>
              <a:t>一棵</a:t>
            </a:r>
            <a:r>
              <a:rPr lang="en-US" altLang="zh-CN" sz="2000" dirty="0"/>
              <a:t>N</a:t>
            </a:r>
            <a:r>
              <a:rPr lang="zh-CN" altLang="en-US" sz="2000" dirty="0"/>
              <a:t>个结点的树有</a:t>
            </a:r>
            <a:r>
              <a:rPr lang="en-US" altLang="zh-CN" sz="2000" dirty="0">
                <a:solidFill>
                  <a:srgbClr val="FF0000"/>
                </a:solidFill>
              </a:rPr>
              <a:t>N-1</a:t>
            </a:r>
            <a:r>
              <a:rPr lang="zh-CN" altLang="en-US" sz="2000" dirty="0"/>
              <a:t>条边；</a:t>
            </a:r>
            <a:endParaRPr lang="en-US" altLang="zh-CN" sz="2000" dirty="0"/>
          </a:p>
          <a:p>
            <a:pPr marL="478155" lvl="2" indent="-342900">
              <a:buFont typeface="Wingdings" panose="05000000000000000000" pitchFamily="2" charset="2"/>
              <a:buChar char="Ø"/>
            </a:pPr>
            <a:r>
              <a:rPr lang="zh-CN" altLang="en-US" sz="2000" dirty="0"/>
              <a:t>子树是不相交的。  </a:t>
            </a:r>
            <a:endParaRPr lang="zh-CN" altLang="en-US" sz="2000" dirty="0"/>
          </a:p>
        </p:txBody>
      </p:sp>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grpSp>
        <p:nvGrpSpPr>
          <p:cNvPr id="4" name="组合 3"/>
          <p:cNvGrpSpPr/>
          <p:nvPr/>
        </p:nvGrpSpPr>
        <p:grpSpPr>
          <a:xfrm>
            <a:off x="1630600" y="1144822"/>
            <a:ext cx="2689748" cy="1819623"/>
            <a:chOff x="560681" y="877900"/>
            <a:chExt cx="3586330" cy="2426163"/>
          </a:xfrm>
        </p:grpSpPr>
        <p:grpSp>
          <p:nvGrpSpPr>
            <p:cNvPr id="5" name="组合 4"/>
            <p:cNvGrpSpPr/>
            <p:nvPr/>
          </p:nvGrpSpPr>
          <p:grpSpPr>
            <a:xfrm>
              <a:off x="2104910" y="877900"/>
              <a:ext cx="466576" cy="492442"/>
              <a:chOff x="1918252" y="1394734"/>
              <a:chExt cx="466576" cy="492442"/>
            </a:xfrm>
          </p:grpSpPr>
          <p:sp>
            <p:nvSpPr>
              <p:cNvPr id="54" name="椭圆 5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5" name="文本框 54"/>
              <p:cNvSpPr txBox="1"/>
              <p:nvPr/>
            </p:nvSpPr>
            <p:spPr>
              <a:xfrm>
                <a:off x="1952657" y="1394734"/>
                <a:ext cx="432171" cy="492442"/>
              </a:xfrm>
              <a:prstGeom prst="rect">
                <a:avLst/>
              </a:prstGeom>
              <a:noFill/>
            </p:spPr>
            <p:txBody>
              <a:bodyPr wrap="none" rtlCol="0">
                <a:spAutoFit/>
              </a:bodyPr>
              <a:lstStyle/>
              <a:p>
                <a:r>
                  <a:rPr lang="en-US" altLang="zh-CN" sz="1800" b="1" dirty="0"/>
                  <a:t>A</a:t>
                </a:r>
                <a:endParaRPr lang="zh-CN" altLang="en-US" sz="1800" b="1" dirty="0"/>
              </a:p>
            </p:txBody>
          </p:sp>
        </p:grpSp>
        <p:grpSp>
          <p:nvGrpSpPr>
            <p:cNvPr id="6" name="组合 5"/>
            <p:cNvGrpSpPr/>
            <p:nvPr/>
          </p:nvGrpSpPr>
          <p:grpSpPr>
            <a:xfrm>
              <a:off x="1391341" y="1521402"/>
              <a:ext cx="456039" cy="492442"/>
              <a:chOff x="1918252" y="1406890"/>
              <a:chExt cx="456039" cy="492442"/>
            </a:xfrm>
          </p:grpSpPr>
          <p:sp>
            <p:nvSpPr>
              <p:cNvPr id="52" name="椭圆 5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3" name="文本框 52"/>
              <p:cNvSpPr txBox="1"/>
              <p:nvPr/>
            </p:nvSpPr>
            <p:spPr>
              <a:xfrm>
                <a:off x="1954944" y="1406890"/>
                <a:ext cx="419347" cy="492442"/>
              </a:xfrm>
              <a:prstGeom prst="rect">
                <a:avLst/>
              </a:prstGeom>
              <a:noFill/>
            </p:spPr>
            <p:txBody>
              <a:bodyPr wrap="none" rtlCol="0">
                <a:spAutoFit/>
              </a:bodyPr>
              <a:lstStyle/>
              <a:p>
                <a:r>
                  <a:rPr lang="en-US" altLang="zh-CN" sz="1800" b="1" dirty="0"/>
                  <a:t>B</a:t>
                </a:r>
                <a:endParaRPr lang="zh-CN" altLang="en-US" sz="1800" b="1" dirty="0"/>
              </a:p>
            </p:txBody>
          </p:sp>
        </p:grpSp>
        <p:grpSp>
          <p:nvGrpSpPr>
            <p:cNvPr id="7" name="组合 6"/>
            <p:cNvGrpSpPr/>
            <p:nvPr/>
          </p:nvGrpSpPr>
          <p:grpSpPr>
            <a:xfrm>
              <a:off x="2104909" y="1522965"/>
              <a:ext cx="445351" cy="492442"/>
              <a:chOff x="1918252" y="1406890"/>
              <a:chExt cx="445351" cy="492442"/>
            </a:xfrm>
          </p:grpSpPr>
          <p:sp>
            <p:nvSpPr>
              <p:cNvPr id="50" name="椭圆 4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1" name="文本框 50"/>
              <p:cNvSpPr txBox="1"/>
              <p:nvPr/>
            </p:nvSpPr>
            <p:spPr>
              <a:xfrm>
                <a:off x="1954944" y="1406890"/>
                <a:ext cx="408659" cy="492442"/>
              </a:xfrm>
              <a:prstGeom prst="rect">
                <a:avLst/>
              </a:prstGeom>
              <a:noFill/>
            </p:spPr>
            <p:txBody>
              <a:bodyPr wrap="none" rtlCol="0">
                <a:spAutoFit/>
              </a:bodyPr>
              <a:lstStyle/>
              <a:p>
                <a:r>
                  <a:rPr lang="en-US" altLang="zh-CN" sz="1800" b="1" dirty="0"/>
                  <a:t>C</a:t>
                </a:r>
                <a:endParaRPr lang="zh-CN" altLang="en-US" sz="1800" b="1" dirty="0"/>
              </a:p>
            </p:txBody>
          </p:sp>
        </p:grpSp>
        <p:grpSp>
          <p:nvGrpSpPr>
            <p:cNvPr id="8" name="组合 7"/>
            <p:cNvGrpSpPr/>
            <p:nvPr/>
          </p:nvGrpSpPr>
          <p:grpSpPr>
            <a:xfrm>
              <a:off x="2839638" y="1521402"/>
              <a:ext cx="477412" cy="492442"/>
              <a:chOff x="1918252" y="1406890"/>
              <a:chExt cx="477412" cy="492442"/>
            </a:xfrm>
          </p:grpSpPr>
          <p:sp>
            <p:nvSpPr>
              <p:cNvPr id="48" name="椭圆 4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9" name="文本框 48"/>
              <p:cNvSpPr txBox="1"/>
              <p:nvPr/>
            </p:nvSpPr>
            <p:spPr>
              <a:xfrm>
                <a:off x="1954944" y="1406890"/>
                <a:ext cx="440720" cy="492442"/>
              </a:xfrm>
              <a:prstGeom prst="rect">
                <a:avLst/>
              </a:prstGeom>
              <a:noFill/>
            </p:spPr>
            <p:txBody>
              <a:bodyPr wrap="none" rtlCol="0">
                <a:spAutoFit/>
              </a:bodyPr>
              <a:lstStyle/>
              <a:p>
                <a:r>
                  <a:rPr lang="en-US" altLang="zh-CN" sz="1800" b="1" dirty="0"/>
                  <a:t>D</a:t>
                </a:r>
                <a:endParaRPr lang="zh-CN" altLang="en-US" sz="1800" b="1" dirty="0"/>
              </a:p>
            </p:txBody>
          </p:sp>
        </p:grpSp>
        <p:grpSp>
          <p:nvGrpSpPr>
            <p:cNvPr id="9" name="组合 8"/>
            <p:cNvGrpSpPr/>
            <p:nvPr/>
          </p:nvGrpSpPr>
          <p:grpSpPr>
            <a:xfrm>
              <a:off x="969912" y="2163224"/>
              <a:ext cx="432527" cy="492442"/>
              <a:chOff x="1918252" y="1406890"/>
              <a:chExt cx="432527" cy="492442"/>
            </a:xfrm>
          </p:grpSpPr>
          <p:sp>
            <p:nvSpPr>
              <p:cNvPr id="46" name="椭圆 4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7" name="文本框 46"/>
              <p:cNvSpPr txBox="1"/>
              <p:nvPr/>
            </p:nvSpPr>
            <p:spPr>
              <a:xfrm>
                <a:off x="1954944" y="1406890"/>
                <a:ext cx="395835" cy="492442"/>
              </a:xfrm>
              <a:prstGeom prst="rect">
                <a:avLst/>
              </a:prstGeom>
              <a:noFill/>
            </p:spPr>
            <p:txBody>
              <a:bodyPr wrap="none" rtlCol="0">
                <a:spAutoFit/>
              </a:bodyPr>
              <a:lstStyle/>
              <a:p>
                <a:r>
                  <a:rPr lang="en-US" altLang="zh-CN" sz="1800" b="1" dirty="0"/>
                  <a:t>E</a:t>
                </a:r>
                <a:endParaRPr lang="zh-CN" altLang="en-US" sz="1800" b="1" dirty="0"/>
              </a:p>
            </p:txBody>
          </p:sp>
        </p:grpSp>
        <p:grpSp>
          <p:nvGrpSpPr>
            <p:cNvPr id="10" name="组合 9"/>
            <p:cNvGrpSpPr/>
            <p:nvPr/>
          </p:nvGrpSpPr>
          <p:grpSpPr>
            <a:xfrm>
              <a:off x="1624685" y="2174477"/>
              <a:ext cx="423978" cy="492442"/>
              <a:chOff x="1918252" y="1406890"/>
              <a:chExt cx="423978" cy="492442"/>
            </a:xfrm>
          </p:grpSpPr>
          <p:sp>
            <p:nvSpPr>
              <p:cNvPr id="44" name="椭圆 4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5" name="文本框 44"/>
              <p:cNvSpPr txBox="1"/>
              <p:nvPr/>
            </p:nvSpPr>
            <p:spPr>
              <a:xfrm>
                <a:off x="1954944" y="1406890"/>
                <a:ext cx="387286" cy="492442"/>
              </a:xfrm>
              <a:prstGeom prst="rect">
                <a:avLst/>
              </a:prstGeom>
              <a:noFill/>
            </p:spPr>
            <p:txBody>
              <a:bodyPr wrap="none" rtlCol="0">
                <a:spAutoFit/>
              </a:bodyPr>
              <a:lstStyle/>
              <a:p>
                <a:r>
                  <a:rPr lang="en-US" altLang="zh-CN" sz="1800" b="1" dirty="0"/>
                  <a:t>F</a:t>
                </a:r>
                <a:endParaRPr lang="zh-CN" altLang="en-US" sz="1800" b="1" dirty="0"/>
              </a:p>
            </p:txBody>
          </p:sp>
        </p:grpSp>
        <p:grpSp>
          <p:nvGrpSpPr>
            <p:cNvPr id="11" name="组合 10"/>
            <p:cNvGrpSpPr/>
            <p:nvPr/>
          </p:nvGrpSpPr>
          <p:grpSpPr>
            <a:xfrm>
              <a:off x="2156114" y="2154310"/>
              <a:ext cx="479548" cy="492442"/>
              <a:chOff x="1918252" y="1406890"/>
              <a:chExt cx="479548" cy="492442"/>
            </a:xfrm>
          </p:grpSpPr>
          <p:sp>
            <p:nvSpPr>
              <p:cNvPr id="42" name="椭圆 4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3" name="文本框 42"/>
              <p:cNvSpPr txBox="1"/>
              <p:nvPr/>
            </p:nvSpPr>
            <p:spPr>
              <a:xfrm>
                <a:off x="1954944" y="1406890"/>
                <a:ext cx="442856" cy="492442"/>
              </a:xfrm>
              <a:prstGeom prst="rect">
                <a:avLst/>
              </a:prstGeom>
              <a:noFill/>
            </p:spPr>
            <p:txBody>
              <a:bodyPr wrap="none" rtlCol="0">
                <a:spAutoFit/>
              </a:bodyPr>
              <a:lstStyle/>
              <a:p>
                <a:r>
                  <a:rPr lang="en-US" altLang="zh-CN" sz="1800" b="1" dirty="0"/>
                  <a:t>G</a:t>
                </a:r>
                <a:endParaRPr lang="zh-CN" altLang="en-US" sz="1800" b="1" dirty="0"/>
              </a:p>
            </p:txBody>
          </p:sp>
        </p:grpSp>
        <p:grpSp>
          <p:nvGrpSpPr>
            <p:cNvPr id="12" name="组合 11"/>
            <p:cNvGrpSpPr/>
            <p:nvPr/>
          </p:nvGrpSpPr>
          <p:grpSpPr>
            <a:xfrm>
              <a:off x="2644530" y="2154309"/>
              <a:ext cx="477412" cy="492442"/>
              <a:chOff x="1918252" y="1406890"/>
              <a:chExt cx="477412" cy="492442"/>
            </a:xfrm>
          </p:grpSpPr>
          <p:sp>
            <p:nvSpPr>
              <p:cNvPr id="40" name="椭圆 3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1" name="文本框 40"/>
              <p:cNvSpPr txBox="1"/>
              <p:nvPr/>
            </p:nvSpPr>
            <p:spPr>
              <a:xfrm>
                <a:off x="1954944" y="1406890"/>
                <a:ext cx="440720" cy="492442"/>
              </a:xfrm>
              <a:prstGeom prst="rect">
                <a:avLst/>
              </a:prstGeom>
              <a:noFill/>
            </p:spPr>
            <p:txBody>
              <a:bodyPr wrap="none" rtlCol="0">
                <a:spAutoFit/>
              </a:bodyPr>
              <a:lstStyle/>
              <a:p>
                <a:r>
                  <a:rPr lang="en-US" altLang="zh-CN" sz="1800" b="1" dirty="0"/>
                  <a:t>H</a:t>
                </a:r>
                <a:endParaRPr lang="zh-CN" altLang="en-US" sz="1800" b="1" dirty="0"/>
              </a:p>
            </p:txBody>
          </p:sp>
        </p:grpSp>
        <p:grpSp>
          <p:nvGrpSpPr>
            <p:cNvPr id="13" name="组合 12"/>
            <p:cNvGrpSpPr/>
            <p:nvPr/>
          </p:nvGrpSpPr>
          <p:grpSpPr>
            <a:xfrm>
              <a:off x="3184151" y="2154308"/>
              <a:ext cx="409231" cy="492442"/>
              <a:chOff x="1918252" y="1406890"/>
              <a:chExt cx="409231" cy="492442"/>
            </a:xfrm>
          </p:grpSpPr>
          <p:sp>
            <p:nvSpPr>
              <p:cNvPr id="38" name="椭圆 3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9" name="文本框 38"/>
              <p:cNvSpPr txBox="1"/>
              <p:nvPr/>
            </p:nvSpPr>
            <p:spPr>
              <a:xfrm>
                <a:off x="1954944" y="1406890"/>
                <a:ext cx="327440" cy="492442"/>
              </a:xfrm>
              <a:prstGeom prst="rect">
                <a:avLst/>
              </a:prstGeom>
              <a:noFill/>
            </p:spPr>
            <p:txBody>
              <a:bodyPr wrap="none" rtlCol="0">
                <a:spAutoFit/>
              </a:bodyPr>
              <a:lstStyle/>
              <a:p>
                <a:r>
                  <a:rPr lang="en-US" altLang="zh-CN" sz="1800" b="1" dirty="0"/>
                  <a:t>I</a:t>
                </a:r>
                <a:endParaRPr lang="zh-CN" altLang="en-US" sz="1800" b="1" dirty="0"/>
              </a:p>
            </p:txBody>
          </p:sp>
        </p:grpSp>
        <p:grpSp>
          <p:nvGrpSpPr>
            <p:cNvPr id="14" name="组合 13"/>
            <p:cNvGrpSpPr/>
            <p:nvPr/>
          </p:nvGrpSpPr>
          <p:grpSpPr>
            <a:xfrm>
              <a:off x="3737780" y="2154307"/>
              <a:ext cx="409231" cy="492442"/>
              <a:chOff x="1918252" y="1406890"/>
              <a:chExt cx="409231" cy="492442"/>
            </a:xfrm>
          </p:grpSpPr>
          <p:sp>
            <p:nvSpPr>
              <p:cNvPr id="36" name="椭圆 3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7" name="文本框 36"/>
              <p:cNvSpPr txBox="1"/>
              <p:nvPr/>
            </p:nvSpPr>
            <p:spPr>
              <a:xfrm>
                <a:off x="1954944" y="1406890"/>
                <a:ext cx="348814" cy="492442"/>
              </a:xfrm>
              <a:prstGeom prst="rect">
                <a:avLst/>
              </a:prstGeom>
              <a:noFill/>
            </p:spPr>
            <p:txBody>
              <a:bodyPr wrap="none" rtlCol="0">
                <a:spAutoFit/>
              </a:bodyPr>
              <a:lstStyle/>
              <a:p>
                <a:r>
                  <a:rPr lang="en-US" altLang="zh-CN" sz="1800" b="1" dirty="0"/>
                  <a:t>J</a:t>
                </a:r>
                <a:endParaRPr lang="zh-CN" altLang="en-US" sz="1800" b="1" dirty="0"/>
              </a:p>
            </p:txBody>
          </p:sp>
        </p:grpSp>
        <p:grpSp>
          <p:nvGrpSpPr>
            <p:cNvPr id="15" name="组合 14"/>
            <p:cNvGrpSpPr/>
            <p:nvPr/>
          </p:nvGrpSpPr>
          <p:grpSpPr>
            <a:xfrm>
              <a:off x="560681" y="2811621"/>
              <a:ext cx="451764" cy="492442"/>
              <a:chOff x="1918252" y="1406890"/>
              <a:chExt cx="451764" cy="492442"/>
            </a:xfrm>
          </p:grpSpPr>
          <p:sp>
            <p:nvSpPr>
              <p:cNvPr id="34" name="椭圆 3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5" name="文本框 34"/>
              <p:cNvSpPr txBox="1"/>
              <p:nvPr/>
            </p:nvSpPr>
            <p:spPr>
              <a:xfrm>
                <a:off x="1954944" y="1406890"/>
                <a:ext cx="415072" cy="492442"/>
              </a:xfrm>
              <a:prstGeom prst="rect">
                <a:avLst/>
              </a:prstGeom>
              <a:noFill/>
            </p:spPr>
            <p:txBody>
              <a:bodyPr wrap="none" rtlCol="0">
                <a:spAutoFit/>
              </a:bodyPr>
              <a:lstStyle/>
              <a:p>
                <a:r>
                  <a:rPr lang="en-US" altLang="zh-CN" sz="1800" b="1" dirty="0"/>
                  <a:t>K</a:t>
                </a:r>
                <a:endParaRPr lang="zh-CN" altLang="en-US" sz="1800" b="1" dirty="0"/>
              </a:p>
            </p:txBody>
          </p:sp>
        </p:grpSp>
        <p:grpSp>
          <p:nvGrpSpPr>
            <p:cNvPr id="16" name="组合 15"/>
            <p:cNvGrpSpPr/>
            <p:nvPr/>
          </p:nvGrpSpPr>
          <p:grpSpPr>
            <a:xfrm>
              <a:off x="1272642" y="2811621"/>
              <a:ext cx="413292" cy="492442"/>
              <a:chOff x="1918252" y="1406890"/>
              <a:chExt cx="413292" cy="492442"/>
            </a:xfrm>
          </p:grpSpPr>
          <p:sp>
            <p:nvSpPr>
              <p:cNvPr id="32" name="椭圆 3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3" name="文本框 32"/>
              <p:cNvSpPr txBox="1"/>
              <p:nvPr/>
            </p:nvSpPr>
            <p:spPr>
              <a:xfrm>
                <a:off x="1954944" y="1406890"/>
                <a:ext cx="376600" cy="492442"/>
              </a:xfrm>
              <a:prstGeom prst="rect">
                <a:avLst/>
              </a:prstGeom>
              <a:noFill/>
            </p:spPr>
            <p:txBody>
              <a:bodyPr wrap="none" rtlCol="0">
                <a:spAutoFit/>
              </a:bodyPr>
              <a:lstStyle/>
              <a:p>
                <a:r>
                  <a:rPr lang="en-US" altLang="zh-CN" sz="1800" b="1" dirty="0"/>
                  <a:t>L</a:t>
                </a:r>
                <a:endParaRPr lang="zh-CN" altLang="en-US" sz="1800" b="1" dirty="0"/>
              </a:p>
            </p:txBody>
          </p:sp>
        </p:grpSp>
        <p:grpSp>
          <p:nvGrpSpPr>
            <p:cNvPr id="17" name="组合 16"/>
            <p:cNvGrpSpPr/>
            <p:nvPr/>
          </p:nvGrpSpPr>
          <p:grpSpPr>
            <a:xfrm>
              <a:off x="2625450" y="2796133"/>
              <a:ext cx="515526" cy="492442"/>
              <a:chOff x="1888972" y="1391402"/>
              <a:chExt cx="515526" cy="492442"/>
            </a:xfrm>
          </p:grpSpPr>
          <p:sp>
            <p:nvSpPr>
              <p:cNvPr id="30" name="椭圆 2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1" name="文本框 30"/>
              <p:cNvSpPr txBox="1"/>
              <p:nvPr/>
            </p:nvSpPr>
            <p:spPr>
              <a:xfrm>
                <a:off x="1888972" y="1391402"/>
                <a:ext cx="515526" cy="492442"/>
              </a:xfrm>
              <a:prstGeom prst="rect">
                <a:avLst/>
              </a:prstGeom>
              <a:noFill/>
            </p:spPr>
            <p:txBody>
              <a:bodyPr wrap="none" rtlCol="0">
                <a:spAutoFit/>
              </a:bodyPr>
              <a:lstStyle/>
              <a:p>
                <a:r>
                  <a:rPr lang="en-US" altLang="zh-CN" sz="1800" b="1" dirty="0"/>
                  <a:t>M</a:t>
                </a:r>
                <a:endParaRPr lang="zh-CN" altLang="en-US" sz="1800" b="1" dirty="0"/>
              </a:p>
            </p:txBody>
          </p:sp>
        </p:grpSp>
        <p:cxnSp>
          <p:nvCxnSpPr>
            <p:cNvPr id="18" name="直接连接符 17"/>
            <p:cNvCxnSpPr/>
            <p:nvPr/>
          </p:nvCxnSpPr>
          <p:spPr>
            <a:xfrm flipH="1">
              <a:off x="1790633" y="1284112"/>
              <a:ext cx="364268" cy="32602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a:off x="1276897" y="1956614"/>
              <a:ext cx="182134" cy="24386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flipH="1">
              <a:off x="829168" y="2562204"/>
              <a:ext cx="228420" cy="26929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2857948" y="1956614"/>
              <a:ext cx="75576" cy="20216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2309524" y="1341782"/>
              <a:ext cx="6163" cy="171244"/>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2322814" y="1981503"/>
              <a:ext cx="6163" cy="171244"/>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2849145" y="2624889"/>
              <a:ext cx="6163" cy="171244"/>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489773" y="1284112"/>
              <a:ext cx="386557" cy="32602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266964" y="1828800"/>
              <a:ext cx="507828" cy="37065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158600" y="1977174"/>
              <a:ext cx="83100" cy="22228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a:endCxn id="45" idx="0"/>
            </p:cNvCxnSpPr>
            <p:nvPr/>
          </p:nvCxnSpPr>
          <p:spPr>
            <a:xfrm>
              <a:off x="1688569" y="1989733"/>
              <a:ext cx="135673" cy="18474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1260354" y="2630568"/>
              <a:ext cx="79967" cy="20093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组合 55"/>
          <p:cNvGrpSpPr/>
          <p:nvPr/>
        </p:nvGrpSpPr>
        <p:grpSpPr>
          <a:xfrm>
            <a:off x="4552761" y="1202425"/>
            <a:ext cx="3156011" cy="1699774"/>
            <a:chOff x="4546346" y="745983"/>
            <a:chExt cx="4208015" cy="2266364"/>
          </a:xfrm>
        </p:grpSpPr>
        <p:grpSp>
          <p:nvGrpSpPr>
            <p:cNvPr id="57" name="组合 56"/>
            <p:cNvGrpSpPr/>
            <p:nvPr/>
          </p:nvGrpSpPr>
          <p:grpSpPr>
            <a:xfrm>
              <a:off x="4972694" y="745983"/>
              <a:ext cx="3781667" cy="2266364"/>
              <a:chOff x="4972694" y="745983"/>
              <a:chExt cx="3781667" cy="2266364"/>
            </a:xfrm>
          </p:grpSpPr>
          <p:sp>
            <p:nvSpPr>
              <p:cNvPr id="78" name="Rectangle 6"/>
              <p:cNvSpPr>
                <a:spLocks noChangeArrowheads="1"/>
              </p:cNvSpPr>
              <p:nvPr/>
            </p:nvSpPr>
            <p:spPr bwMode="auto">
              <a:xfrm>
                <a:off x="4972694" y="2612237"/>
                <a:ext cx="938719" cy="400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350" b="1" dirty="0"/>
                  <a:t>子树</a:t>
                </a:r>
                <a:r>
                  <a:rPr lang="en-US" altLang="zh-CN" sz="1350" b="1" dirty="0"/>
                  <a:t>T</a:t>
                </a:r>
                <a:r>
                  <a:rPr lang="en-US" altLang="zh-CN" sz="1350" b="1" baseline="-25000" dirty="0"/>
                  <a:t>1</a:t>
                </a:r>
                <a:endParaRPr lang="en-US" altLang="zh-CN" sz="1350" b="1" baseline="-25000" dirty="0"/>
              </a:p>
            </p:txBody>
          </p:sp>
          <p:sp>
            <p:nvSpPr>
              <p:cNvPr id="79" name="Rectangle 7"/>
              <p:cNvSpPr>
                <a:spLocks noChangeArrowheads="1"/>
              </p:cNvSpPr>
              <p:nvPr/>
            </p:nvSpPr>
            <p:spPr bwMode="auto">
              <a:xfrm>
                <a:off x="6015877" y="2612238"/>
                <a:ext cx="1169551" cy="400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350" dirty="0"/>
                  <a:t>    </a:t>
                </a:r>
                <a:r>
                  <a:rPr lang="zh-CN" altLang="en-US" sz="1350" b="1" dirty="0"/>
                  <a:t>子树</a:t>
                </a:r>
                <a:r>
                  <a:rPr lang="en-US" altLang="zh-CN" sz="1350" b="1" dirty="0"/>
                  <a:t>T</a:t>
                </a:r>
                <a:r>
                  <a:rPr lang="en-US" altLang="zh-CN" sz="1350" b="1" baseline="-25000" dirty="0"/>
                  <a:t>2</a:t>
                </a:r>
                <a:endParaRPr lang="en-US" altLang="zh-CN" sz="1350" b="1" baseline="-25000" dirty="0"/>
              </a:p>
            </p:txBody>
          </p:sp>
          <p:sp>
            <p:nvSpPr>
              <p:cNvPr id="80" name="Rectangle 8"/>
              <p:cNvSpPr>
                <a:spLocks noChangeArrowheads="1"/>
              </p:cNvSpPr>
              <p:nvPr/>
            </p:nvSpPr>
            <p:spPr bwMode="auto">
              <a:xfrm>
                <a:off x="7472493" y="2596777"/>
                <a:ext cx="938719" cy="400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350" b="1" dirty="0"/>
                  <a:t>子树</a:t>
                </a:r>
                <a:r>
                  <a:rPr lang="en-US" altLang="zh-CN" sz="1350" b="1" dirty="0"/>
                  <a:t>T</a:t>
                </a:r>
                <a:r>
                  <a:rPr lang="en-US" altLang="zh-CN" sz="1350" b="1" baseline="-25000" dirty="0"/>
                  <a:t>3</a:t>
                </a:r>
                <a:endParaRPr lang="en-US" altLang="zh-CN" sz="1350" b="1" baseline="-25000" dirty="0"/>
              </a:p>
            </p:txBody>
          </p:sp>
          <p:grpSp>
            <p:nvGrpSpPr>
              <p:cNvPr id="81" name="组合 80"/>
              <p:cNvGrpSpPr/>
              <p:nvPr/>
            </p:nvGrpSpPr>
            <p:grpSpPr>
              <a:xfrm>
                <a:off x="6370308" y="772348"/>
                <a:ext cx="530753" cy="1123787"/>
                <a:chOff x="4883503" y="1932757"/>
                <a:chExt cx="530753" cy="1123787"/>
              </a:xfrm>
            </p:grpSpPr>
            <p:grpSp>
              <p:nvGrpSpPr>
                <p:cNvPr id="102" name="组合 101"/>
                <p:cNvGrpSpPr/>
                <p:nvPr/>
              </p:nvGrpSpPr>
              <p:grpSpPr>
                <a:xfrm>
                  <a:off x="4883503" y="1932757"/>
                  <a:ext cx="445351" cy="492442"/>
                  <a:chOff x="1918252" y="1406890"/>
                  <a:chExt cx="445351" cy="492442"/>
                </a:xfrm>
              </p:grpSpPr>
              <p:sp>
                <p:nvSpPr>
                  <p:cNvPr id="107" name="椭圆 106"/>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108" name="文本框 107"/>
                  <p:cNvSpPr txBox="1"/>
                  <p:nvPr/>
                </p:nvSpPr>
                <p:spPr>
                  <a:xfrm>
                    <a:off x="1954944" y="1406890"/>
                    <a:ext cx="408659" cy="492442"/>
                  </a:xfrm>
                  <a:prstGeom prst="rect">
                    <a:avLst/>
                  </a:prstGeom>
                  <a:noFill/>
                </p:spPr>
                <p:txBody>
                  <a:bodyPr wrap="none" rtlCol="0">
                    <a:spAutoFit/>
                  </a:bodyPr>
                  <a:lstStyle/>
                  <a:p>
                    <a:r>
                      <a:rPr lang="en-US" altLang="zh-CN" sz="1800" b="1" dirty="0"/>
                      <a:t>C</a:t>
                    </a:r>
                    <a:endParaRPr lang="zh-CN" altLang="en-US" sz="1800" b="1" dirty="0"/>
                  </a:p>
                </p:txBody>
              </p:sp>
            </p:grpSp>
            <p:grpSp>
              <p:nvGrpSpPr>
                <p:cNvPr id="103" name="组合 102"/>
                <p:cNvGrpSpPr/>
                <p:nvPr/>
              </p:nvGrpSpPr>
              <p:grpSpPr>
                <a:xfrm>
                  <a:off x="4934708" y="2564102"/>
                  <a:ext cx="479548" cy="492442"/>
                  <a:chOff x="1918252" y="1406890"/>
                  <a:chExt cx="479548" cy="492442"/>
                </a:xfrm>
              </p:grpSpPr>
              <p:sp>
                <p:nvSpPr>
                  <p:cNvPr id="105" name="椭圆 104"/>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106" name="文本框 105"/>
                  <p:cNvSpPr txBox="1"/>
                  <p:nvPr/>
                </p:nvSpPr>
                <p:spPr>
                  <a:xfrm>
                    <a:off x="1954944" y="1406890"/>
                    <a:ext cx="442856" cy="492442"/>
                  </a:xfrm>
                  <a:prstGeom prst="rect">
                    <a:avLst/>
                  </a:prstGeom>
                  <a:noFill/>
                </p:spPr>
                <p:txBody>
                  <a:bodyPr wrap="none" rtlCol="0">
                    <a:spAutoFit/>
                  </a:bodyPr>
                  <a:lstStyle/>
                  <a:p>
                    <a:r>
                      <a:rPr lang="en-US" altLang="zh-CN" sz="1800" b="1" dirty="0"/>
                      <a:t>G</a:t>
                    </a:r>
                    <a:endParaRPr lang="zh-CN" altLang="en-US" sz="1800" b="1" dirty="0"/>
                  </a:p>
                </p:txBody>
              </p:sp>
            </p:grpSp>
            <p:cxnSp>
              <p:nvCxnSpPr>
                <p:cNvPr id="104" name="直接连接符 103"/>
                <p:cNvCxnSpPr/>
                <p:nvPr/>
              </p:nvCxnSpPr>
              <p:spPr>
                <a:xfrm>
                  <a:off x="5101408" y="2391295"/>
                  <a:ext cx="6163" cy="171244"/>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grpSp>
          <p:grpSp>
            <p:nvGrpSpPr>
              <p:cNvPr id="82" name="组合 81"/>
              <p:cNvGrpSpPr/>
              <p:nvPr/>
            </p:nvGrpSpPr>
            <p:grpSpPr>
              <a:xfrm>
                <a:off x="7232800" y="745983"/>
                <a:ext cx="1521561" cy="1767173"/>
                <a:chOff x="5998558" y="1922280"/>
                <a:chExt cx="1521561" cy="1767173"/>
              </a:xfrm>
            </p:grpSpPr>
            <p:grpSp>
              <p:nvGrpSpPr>
                <p:cNvPr id="83" name="组合 82"/>
                <p:cNvGrpSpPr/>
                <p:nvPr/>
              </p:nvGrpSpPr>
              <p:grpSpPr>
                <a:xfrm>
                  <a:off x="6212746" y="1922280"/>
                  <a:ext cx="477412" cy="492442"/>
                  <a:chOff x="1918252" y="1406890"/>
                  <a:chExt cx="477412" cy="492442"/>
                </a:xfrm>
              </p:grpSpPr>
              <p:sp>
                <p:nvSpPr>
                  <p:cNvPr id="100" name="椭圆 9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101" name="文本框 100"/>
                  <p:cNvSpPr txBox="1"/>
                  <p:nvPr/>
                </p:nvSpPr>
                <p:spPr>
                  <a:xfrm>
                    <a:off x="1954944" y="1406890"/>
                    <a:ext cx="440720" cy="492442"/>
                  </a:xfrm>
                  <a:prstGeom prst="rect">
                    <a:avLst/>
                  </a:prstGeom>
                  <a:noFill/>
                </p:spPr>
                <p:txBody>
                  <a:bodyPr wrap="none" rtlCol="0">
                    <a:spAutoFit/>
                  </a:bodyPr>
                  <a:lstStyle/>
                  <a:p>
                    <a:r>
                      <a:rPr lang="en-US" altLang="zh-CN" sz="1800" b="1" dirty="0"/>
                      <a:t>D</a:t>
                    </a:r>
                    <a:endParaRPr lang="zh-CN" altLang="en-US" sz="1800" b="1" dirty="0"/>
                  </a:p>
                </p:txBody>
              </p:sp>
            </p:grpSp>
            <p:grpSp>
              <p:nvGrpSpPr>
                <p:cNvPr id="84" name="组合 83"/>
                <p:cNvGrpSpPr/>
                <p:nvPr/>
              </p:nvGrpSpPr>
              <p:grpSpPr>
                <a:xfrm>
                  <a:off x="6017638" y="2555187"/>
                  <a:ext cx="477412" cy="492442"/>
                  <a:chOff x="1918252" y="1406890"/>
                  <a:chExt cx="477412" cy="492442"/>
                </a:xfrm>
              </p:grpSpPr>
              <p:sp>
                <p:nvSpPr>
                  <p:cNvPr id="98" name="椭圆 9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99" name="文本框 98"/>
                  <p:cNvSpPr txBox="1"/>
                  <p:nvPr/>
                </p:nvSpPr>
                <p:spPr>
                  <a:xfrm>
                    <a:off x="1954944" y="1406890"/>
                    <a:ext cx="440720" cy="492442"/>
                  </a:xfrm>
                  <a:prstGeom prst="rect">
                    <a:avLst/>
                  </a:prstGeom>
                  <a:noFill/>
                </p:spPr>
                <p:txBody>
                  <a:bodyPr wrap="none" rtlCol="0">
                    <a:spAutoFit/>
                  </a:bodyPr>
                  <a:lstStyle/>
                  <a:p>
                    <a:r>
                      <a:rPr lang="en-US" altLang="zh-CN" sz="1800" b="1" dirty="0"/>
                      <a:t>H</a:t>
                    </a:r>
                    <a:endParaRPr lang="zh-CN" altLang="en-US" sz="1800" b="1" dirty="0"/>
                  </a:p>
                </p:txBody>
              </p:sp>
            </p:grpSp>
            <p:grpSp>
              <p:nvGrpSpPr>
                <p:cNvPr id="85" name="组合 84"/>
                <p:cNvGrpSpPr/>
                <p:nvPr/>
              </p:nvGrpSpPr>
              <p:grpSpPr>
                <a:xfrm>
                  <a:off x="6557259" y="2555186"/>
                  <a:ext cx="409231" cy="492442"/>
                  <a:chOff x="1918252" y="1406890"/>
                  <a:chExt cx="409231" cy="492442"/>
                </a:xfrm>
              </p:grpSpPr>
              <p:sp>
                <p:nvSpPr>
                  <p:cNvPr id="96" name="椭圆 9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97" name="文本框 96"/>
                  <p:cNvSpPr txBox="1"/>
                  <p:nvPr/>
                </p:nvSpPr>
                <p:spPr>
                  <a:xfrm>
                    <a:off x="1954944" y="1406890"/>
                    <a:ext cx="327440" cy="492442"/>
                  </a:xfrm>
                  <a:prstGeom prst="rect">
                    <a:avLst/>
                  </a:prstGeom>
                  <a:noFill/>
                </p:spPr>
                <p:txBody>
                  <a:bodyPr wrap="none" rtlCol="0">
                    <a:spAutoFit/>
                  </a:bodyPr>
                  <a:lstStyle/>
                  <a:p>
                    <a:r>
                      <a:rPr lang="en-US" altLang="zh-CN" sz="1800" b="1" dirty="0"/>
                      <a:t>I</a:t>
                    </a:r>
                    <a:endParaRPr lang="zh-CN" altLang="en-US" sz="1800" b="1" dirty="0"/>
                  </a:p>
                </p:txBody>
              </p:sp>
            </p:grpSp>
            <p:grpSp>
              <p:nvGrpSpPr>
                <p:cNvPr id="86" name="组合 85"/>
                <p:cNvGrpSpPr/>
                <p:nvPr/>
              </p:nvGrpSpPr>
              <p:grpSpPr>
                <a:xfrm>
                  <a:off x="7110888" y="2555185"/>
                  <a:ext cx="409231" cy="492442"/>
                  <a:chOff x="1918252" y="1406890"/>
                  <a:chExt cx="409231" cy="492442"/>
                </a:xfrm>
              </p:grpSpPr>
              <p:sp>
                <p:nvSpPr>
                  <p:cNvPr id="94" name="椭圆 9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95" name="文本框 94"/>
                  <p:cNvSpPr txBox="1"/>
                  <p:nvPr/>
                </p:nvSpPr>
                <p:spPr>
                  <a:xfrm>
                    <a:off x="1954944" y="1406890"/>
                    <a:ext cx="348814" cy="492442"/>
                  </a:xfrm>
                  <a:prstGeom prst="rect">
                    <a:avLst/>
                  </a:prstGeom>
                  <a:noFill/>
                </p:spPr>
                <p:txBody>
                  <a:bodyPr wrap="none" rtlCol="0">
                    <a:spAutoFit/>
                  </a:bodyPr>
                  <a:lstStyle/>
                  <a:p>
                    <a:r>
                      <a:rPr lang="en-US" altLang="zh-CN" sz="1800" b="1" dirty="0"/>
                      <a:t>J</a:t>
                    </a:r>
                    <a:endParaRPr lang="zh-CN" altLang="en-US" sz="1800" b="1" dirty="0"/>
                  </a:p>
                </p:txBody>
              </p:sp>
            </p:grpSp>
            <p:grpSp>
              <p:nvGrpSpPr>
                <p:cNvPr id="87" name="组合 86"/>
                <p:cNvGrpSpPr/>
                <p:nvPr/>
              </p:nvGrpSpPr>
              <p:grpSpPr>
                <a:xfrm>
                  <a:off x="5998558" y="3197011"/>
                  <a:ext cx="515526" cy="492442"/>
                  <a:chOff x="1888972" y="1391402"/>
                  <a:chExt cx="515526" cy="492442"/>
                </a:xfrm>
              </p:grpSpPr>
              <p:sp>
                <p:nvSpPr>
                  <p:cNvPr id="92" name="椭圆 9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93" name="文本框 92"/>
                  <p:cNvSpPr txBox="1"/>
                  <p:nvPr/>
                </p:nvSpPr>
                <p:spPr>
                  <a:xfrm>
                    <a:off x="1888972" y="1391402"/>
                    <a:ext cx="515526" cy="492442"/>
                  </a:xfrm>
                  <a:prstGeom prst="rect">
                    <a:avLst/>
                  </a:prstGeom>
                  <a:noFill/>
                </p:spPr>
                <p:txBody>
                  <a:bodyPr wrap="none" rtlCol="0">
                    <a:spAutoFit/>
                  </a:bodyPr>
                  <a:lstStyle/>
                  <a:p>
                    <a:r>
                      <a:rPr lang="en-US" altLang="zh-CN" sz="1800" b="1" dirty="0"/>
                      <a:t>M</a:t>
                    </a:r>
                    <a:endParaRPr lang="zh-CN" altLang="en-US" sz="1800" b="1" dirty="0"/>
                  </a:p>
                </p:txBody>
              </p:sp>
            </p:grpSp>
            <p:cxnSp>
              <p:nvCxnSpPr>
                <p:cNvPr id="88" name="直接连接符 87"/>
                <p:cNvCxnSpPr/>
                <p:nvPr/>
              </p:nvCxnSpPr>
              <p:spPr>
                <a:xfrm flipH="1">
                  <a:off x="6231056" y="2357492"/>
                  <a:ext cx="75576" cy="20216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直接连接符 88"/>
                <p:cNvCxnSpPr/>
                <p:nvPr/>
              </p:nvCxnSpPr>
              <p:spPr>
                <a:xfrm>
                  <a:off x="6222253" y="3025767"/>
                  <a:ext cx="6163" cy="171244"/>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90" name="直接连接符 89"/>
                <p:cNvCxnSpPr/>
                <p:nvPr/>
              </p:nvCxnSpPr>
              <p:spPr>
                <a:xfrm>
                  <a:off x="6640072" y="2229678"/>
                  <a:ext cx="507828" cy="37065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531708" y="2378052"/>
                  <a:ext cx="83100" cy="22228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58" name="组合 57"/>
            <p:cNvGrpSpPr/>
            <p:nvPr/>
          </p:nvGrpSpPr>
          <p:grpSpPr>
            <a:xfrm>
              <a:off x="4546346" y="769935"/>
              <a:ext cx="1487982" cy="1782661"/>
              <a:chOff x="4546346" y="769935"/>
              <a:chExt cx="1487982" cy="1782661"/>
            </a:xfrm>
          </p:grpSpPr>
          <p:grpSp>
            <p:nvGrpSpPr>
              <p:cNvPr id="59" name="组合 58"/>
              <p:cNvGrpSpPr/>
              <p:nvPr/>
            </p:nvGrpSpPr>
            <p:grpSpPr>
              <a:xfrm>
                <a:off x="5377006" y="769935"/>
                <a:ext cx="456039" cy="492442"/>
                <a:chOff x="1918252" y="1406890"/>
                <a:chExt cx="456039" cy="492442"/>
              </a:xfrm>
            </p:grpSpPr>
            <p:sp>
              <p:nvSpPr>
                <p:cNvPr id="76" name="椭圆 7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77" name="文本框 76"/>
                <p:cNvSpPr txBox="1"/>
                <p:nvPr/>
              </p:nvSpPr>
              <p:spPr>
                <a:xfrm>
                  <a:off x="1954944" y="1406890"/>
                  <a:ext cx="419347" cy="492442"/>
                </a:xfrm>
                <a:prstGeom prst="rect">
                  <a:avLst/>
                </a:prstGeom>
                <a:noFill/>
              </p:spPr>
              <p:txBody>
                <a:bodyPr wrap="none" rtlCol="0">
                  <a:spAutoFit/>
                </a:bodyPr>
                <a:lstStyle/>
                <a:p>
                  <a:r>
                    <a:rPr lang="en-US" altLang="zh-CN" sz="1800" b="1" dirty="0"/>
                    <a:t>B</a:t>
                  </a:r>
                  <a:endParaRPr lang="zh-CN" altLang="en-US" sz="1800" b="1" dirty="0"/>
                </a:p>
              </p:txBody>
            </p:sp>
          </p:grpSp>
          <p:grpSp>
            <p:nvGrpSpPr>
              <p:cNvPr id="60" name="组合 59"/>
              <p:cNvGrpSpPr/>
              <p:nvPr/>
            </p:nvGrpSpPr>
            <p:grpSpPr>
              <a:xfrm>
                <a:off x="4955577" y="1411757"/>
                <a:ext cx="432527" cy="492442"/>
                <a:chOff x="1918252" y="1406890"/>
                <a:chExt cx="432527" cy="492442"/>
              </a:xfrm>
            </p:grpSpPr>
            <p:sp>
              <p:nvSpPr>
                <p:cNvPr id="74" name="椭圆 7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75" name="文本框 74"/>
                <p:cNvSpPr txBox="1"/>
                <p:nvPr/>
              </p:nvSpPr>
              <p:spPr>
                <a:xfrm>
                  <a:off x="1954944" y="1406890"/>
                  <a:ext cx="395835" cy="492442"/>
                </a:xfrm>
                <a:prstGeom prst="rect">
                  <a:avLst/>
                </a:prstGeom>
                <a:noFill/>
              </p:spPr>
              <p:txBody>
                <a:bodyPr wrap="none" rtlCol="0">
                  <a:spAutoFit/>
                </a:bodyPr>
                <a:lstStyle/>
                <a:p>
                  <a:r>
                    <a:rPr lang="en-US" altLang="zh-CN" sz="1800" b="1" dirty="0"/>
                    <a:t>E</a:t>
                  </a:r>
                  <a:endParaRPr lang="zh-CN" altLang="en-US" sz="1800" b="1" dirty="0"/>
                </a:p>
              </p:txBody>
            </p:sp>
          </p:grpSp>
          <p:grpSp>
            <p:nvGrpSpPr>
              <p:cNvPr id="61" name="组合 60"/>
              <p:cNvGrpSpPr/>
              <p:nvPr/>
            </p:nvGrpSpPr>
            <p:grpSpPr>
              <a:xfrm>
                <a:off x="5610350" y="1423010"/>
                <a:ext cx="423978" cy="492442"/>
                <a:chOff x="1918252" y="1406890"/>
                <a:chExt cx="423978" cy="492442"/>
              </a:xfrm>
            </p:grpSpPr>
            <p:sp>
              <p:nvSpPr>
                <p:cNvPr id="72" name="椭圆 7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73" name="文本框 72"/>
                <p:cNvSpPr txBox="1"/>
                <p:nvPr/>
              </p:nvSpPr>
              <p:spPr>
                <a:xfrm>
                  <a:off x="1954944" y="1406890"/>
                  <a:ext cx="387286" cy="492442"/>
                </a:xfrm>
                <a:prstGeom prst="rect">
                  <a:avLst/>
                </a:prstGeom>
                <a:noFill/>
              </p:spPr>
              <p:txBody>
                <a:bodyPr wrap="none" rtlCol="0">
                  <a:spAutoFit/>
                </a:bodyPr>
                <a:lstStyle/>
                <a:p>
                  <a:r>
                    <a:rPr lang="en-US" altLang="zh-CN" sz="1800" b="1" dirty="0"/>
                    <a:t>F</a:t>
                  </a:r>
                  <a:endParaRPr lang="zh-CN" altLang="en-US" sz="1800" b="1" dirty="0"/>
                </a:p>
              </p:txBody>
            </p:sp>
          </p:grpSp>
          <p:grpSp>
            <p:nvGrpSpPr>
              <p:cNvPr id="62" name="组合 61"/>
              <p:cNvGrpSpPr/>
              <p:nvPr/>
            </p:nvGrpSpPr>
            <p:grpSpPr>
              <a:xfrm>
                <a:off x="4546346" y="2060154"/>
                <a:ext cx="451764" cy="492442"/>
                <a:chOff x="1918252" y="1406890"/>
                <a:chExt cx="451764" cy="492442"/>
              </a:xfrm>
            </p:grpSpPr>
            <p:sp>
              <p:nvSpPr>
                <p:cNvPr id="70" name="椭圆 6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71" name="文本框 70"/>
                <p:cNvSpPr txBox="1"/>
                <p:nvPr/>
              </p:nvSpPr>
              <p:spPr>
                <a:xfrm>
                  <a:off x="1954944" y="1406890"/>
                  <a:ext cx="415072" cy="492442"/>
                </a:xfrm>
                <a:prstGeom prst="rect">
                  <a:avLst/>
                </a:prstGeom>
                <a:noFill/>
              </p:spPr>
              <p:txBody>
                <a:bodyPr wrap="none" rtlCol="0">
                  <a:spAutoFit/>
                </a:bodyPr>
                <a:lstStyle/>
                <a:p>
                  <a:r>
                    <a:rPr lang="en-US" altLang="zh-CN" sz="1800" b="1" dirty="0"/>
                    <a:t>K</a:t>
                  </a:r>
                  <a:endParaRPr lang="zh-CN" altLang="en-US" sz="1800" b="1" dirty="0"/>
                </a:p>
              </p:txBody>
            </p:sp>
          </p:grpSp>
          <p:grpSp>
            <p:nvGrpSpPr>
              <p:cNvPr id="63" name="组合 62"/>
              <p:cNvGrpSpPr/>
              <p:nvPr/>
            </p:nvGrpSpPr>
            <p:grpSpPr>
              <a:xfrm>
                <a:off x="5258307" y="2060154"/>
                <a:ext cx="413292" cy="492442"/>
                <a:chOff x="1918252" y="1406890"/>
                <a:chExt cx="413292" cy="492442"/>
              </a:xfrm>
            </p:grpSpPr>
            <p:sp>
              <p:nvSpPr>
                <p:cNvPr id="68" name="椭圆 6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69" name="文本框 68"/>
                <p:cNvSpPr txBox="1"/>
                <p:nvPr/>
              </p:nvSpPr>
              <p:spPr>
                <a:xfrm>
                  <a:off x="1954944" y="1406890"/>
                  <a:ext cx="376600" cy="492442"/>
                </a:xfrm>
                <a:prstGeom prst="rect">
                  <a:avLst/>
                </a:prstGeom>
                <a:noFill/>
              </p:spPr>
              <p:txBody>
                <a:bodyPr wrap="none" rtlCol="0">
                  <a:spAutoFit/>
                </a:bodyPr>
                <a:lstStyle/>
                <a:p>
                  <a:r>
                    <a:rPr lang="en-US" altLang="zh-CN" sz="1800" b="1" dirty="0"/>
                    <a:t>L</a:t>
                  </a:r>
                  <a:endParaRPr lang="zh-CN" altLang="en-US" sz="1800" b="1" dirty="0"/>
                </a:p>
              </p:txBody>
            </p:sp>
          </p:grpSp>
          <p:cxnSp>
            <p:nvCxnSpPr>
              <p:cNvPr id="64" name="直接连接符 63"/>
              <p:cNvCxnSpPr/>
              <p:nvPr/>
            </p:nvCxnSpPr>
            <p:spPr>
              <a:xfrm flipH="1">
                <a:off x="5262562" y="1205147"/>
                <a:ext cx="182134" cy="24386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a:off x="4814833" y="1810737"/>
                <a:ext cx="228420" cy="26929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a:endCxn id="73" idx="0"/>
              </p:cNvCxnSpPr>
              <p:nvPr/>
            </p:nvCxnSpPr>
            <p:spPr>
              <a:xfrm>
                <a:off x="5674234" y="1238266"/>
                <a:ext cx="135673" cy="18474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直接连接符 66"/>
              <p:cNvCxnSpPr/>
              <p:nvPr/>
            </p:nvCxnSpPr>
            <p:spPr>
              <a:xfrm>
                <a:off x="5246019" y="1879101"/>
                <a:ext cx="79967" cy="20093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sp>
        <p:nvSpPr>
          <p:cNvPr id="111" name="矩形 110"/>
          <p:cNvSpPr/>
          <p:nvPr/>
        </p:nvSpPr>
        <p:spPr>
          <a:xfrm>
            <a:off x="1753646" y="2488773"/>
            <a:ext cx="1357322" cy="400110"/>
          </a:xfrm>
          <a:prstGeom prst="rect">
            <a:avLst/>
          </a:prstGeom>
        </p:spPr>
        <p:txBody>
          <a:bodyPr wrap="square">
            <a:spAutoFit/>
          </a:bodyPr>
          <a:lstStyle/>
          <a:p>
            <a:r>
              <a:rPr lang="en-US" altLang="zh-CN" sz="2000" b="1" dirty="0"/>
              <a:t> </a:t>
            </a:r>
            <a:r>
              <a:rPr lang="en-US" altLang="zh-CN" sz="1400" b="1" dirty="0"/>
              <a:t>(a) </a:t>
            </a:r>
            <a:r>
              <a:rPr lang="zh-CN" altLang="zh-CN" sz="1400" b="1" dirty="0"/>
              <a:t>树</a:t>
            </a:r>
            <a:r>
              <a:rPr lang="en-US" altLang="zh-CN" sz="1400" b="1" i="1" dirty="0"/>
              <a:t>T</a:t>
            </a:r>
            <a:endParaRPr lang="zh-CN" altLang="en-US" sz="1400" b="1" dirty="0"/>
          </a:p>
        </p:txBody>
      </p:sp>
      <p:grpSp>
        <p:nvGrpSpPr>
          <p:cNvPr id="112" name="Group 1"/>
          <p:cNvGrpSpPr/>
          <p:nvPr/>
        </p:nvGrpSpPr>
        <p:grpSpPr bwMode="auto">
          <a:xfrm>
            <a:off x="1412211" y="889740"/>
            <a:ext cx="1897159" cy="1632999"/>
            <a:chOff x="2010" y="7992"/>
            <a:chExt cx="3264" cy="2562"/>
          </a:xfrm>
        </p:grpSpPr>
        <p:sp>
          <p:nvSpPr>
            <p:cNvPr id="113" name="Oval 2"/>
            <p:cNvSpPr>
              <a:spLocks noChangeArrowheads="1"/>
            </p:cNvSpPr>
            <p:nvPr/>
          </p:nvSpPr>
          <p:spPr bwMode="auto">
            <a:xfrm>
              <a:off x="3504" y="7992"/>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14" name="Text Box 3"/>
            <p:cNvSpPr txBox="1">
              <a:spLocks noChangeArrowheads="1"/>
            </p:cNvSpPr>
            <p:nvPr/>
          </p:nvSpPr>
          <p:spPr bwMode="auto">
            <a:xfrm>
              <a:off x="3582" y="8094"/>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A</a:t>
              </a:r>
              <a:endParaRPr lang="zh-CN" altLang="zh-CN" sz="1600" b="1">
                <a:latin typeface="Arial" panose="020B0604020202020204" pitchFamily="34" charset="0"/>
                <a:ea typeface="宋体" panose="02010600030101010101" pitchFamily="2" charset="-122"/>
              </a:endParaRPr>
            </a:p>
          </p:txBody>
        </p:sp>
        <p:sp>
          <p:nvSpPr>
            <p:cNvPr id="115" name="Oval 4"/>
            <p:cNvSpPr>
              <a:spLocks noChangeArrowheads="1"/>
            </p:cNvSpPr>
            <p:nvPr/>
          </p:nvSpPr>
          <p:spPr bwMode="auto">
            <a:xfrm>
              <a:off x="2340" y="887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16" name="Oval 5"/>
            <p:cNvSpPr>
              <a:spLocks noChangeArrowheads="1"/>
            </p:cNvSpPr>
            <p:nvPr/>
          </p:nvSpPr>
          <p:spPr bwMode="auto">
            <a:xfrm>
              <a:off x="3084" y="878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17" name="Oval 6"/>
            <p:cNvSpPr>
              <a:spLocks noChangeArrowheads="1"/>
            </p:cNvSpPr>
            <p:nvPr/>
          </p:nvSpPr>
          <p:spPr bwMode="auto">
            <a:xfrm>
              <a:off x="3984" y="875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18" name="Oval 7"/>
            <p:cNvSpPr>
              <a:spLocks noChangeArrowheads="1"/>
            </p:cNvSpPr>
            <p:nvPr/>
          </p:nvSpPr>
          <p:spPr bwMode="auto">
            <a:xfrm>
              <a:off x="2010" y="949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19" name="Oval 8"/>
            <p:cNvSpPr>
              <a:spLocks noChangeArrowheads="1"/>
            </p:cNvSpPr>
            <p:nvPr/>
          </p:nvSpPr>
          <p:spPr bwMode="auto">
            <a:xfrm>
              <a:off x="2595" y="949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0" name="Oval 9"/>
            <p:cNvSpPr>
              <a:spLocks noChangeArrowheads="1"/>
            </p:cNvSpPr>
            <p:nvPr/>
          </p:nvSpPr>
          <p:spPr bwMode="auto">
            <a:xfrm>
              <a:off x="2610" y="1016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1" name="Oval 10"/>
            <p:cNvSpPr>
              <a:spLocks noChangeArrowheads="1"/>
            </p:cNvSpPr>
            <p:nvPr/>
          </p:nvSpPr>
          <p:spPr bwMode="auto">
            <a:xfrm>
              <a:off x="3108" y="9486"/>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2" name="Line 11"/>
            <p:cNvSpPr>
              <a:spLocks noChangeShapeType="1"/>
            </p:cNvSpPr>
            <p:nvPr/>
          </p:nvSpPr>
          <p:spPr bwMode="auto">
            <a:xfrm flipH="1">
              <a:off x="2658" y="8304"/>
              <a:ext cx="900" cy="62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3" name="Line 12"/>
            <p:cNvSpPr>
              <a:spLocks noChangeShapeType="1"/>
            </p:cNvSpPr>
            <p:nvPr/>
          </p:nvSpPr>
          <p:spPr bwMode="auto">
            <a:xfrm flipH="1">
              <a:off x="3369" y="8349"/>
              <a:ext cx="336" cy="438"/>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4" name="Line 13"/>
            <p:cNvSpPr>
              <a:spLocks noChangeShapeType="1"/>
            </p:cNvSpPr>
            <p:nvPr/>
          </p:nvSpPr>
          <p:spPr bwMode="auto">
            <a:xfrm>
              <a:off x="3873" y="8264"/>
              <a:ext cx="1032" cy="56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5" name="Line 14"/>
            <p:cNvSpPr>
              <a:spLocks noChangeShapeType="1"/>
            </p:cNvSpPr>
            <p:nvPr/>
          </p:nvSpPr>
          <p:spPr bwMode="auto">
            <a:xfrm flipH="1">
              <a:off x="2289" y="9210"/>
              <a:ext cx="144" cy="2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6" name="Line 15"/>
            <p:cNvSpPr>
              <a:spLocks noChangeShapeType="1"/>
            </p:cNvSpPr>
            <p:nvPr/>
          </p:nvSpPr>
          <p:spPr bwMode="auto">
            <a:xfrm>
              <a:off x="2658" y="9195"/>
              <a:ext cx="51" cy="3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7" name="Oval 16"/>
            <p:cNvSpPr>
              <a:spLocks noChangeArrowheads="1"/>
            </p:cNvSpPr>
            <p:nvPr/>
          </p:nvSpPr>
          <p:spPr bwMode="auto">
            <a:xfrm>
              <a:off x="3585" y="948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8" name="Oval 17"/>
            <p:cNvSpPr>
              <a:spLocks noChangeArrowheads="1"/>
            </p:cNvSpPr>
            <p:nvPr/>
          </p:nvSpPr>
          <p:spPr bwMode="auto">
            <a:xfrm>
              <a:off x="4530" y="943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29" name="Line 18"/>
            <p:cNvSpPr>
              <a:spLocks noChangeShapeType="1"/>
            </p:cNvSpPr>
            <p:nvPr/>
          </p:nvSpPr>
          <p:spPr bwMode="auto">
            <a:xfrm flipH="1">
              <a:off x="3858" y="9099"/>
              <a:ext cx="222" cy="39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0" name="Line 19"/>
            <p:cNvSpPr>
              <a:spLocks noChangeShapeType="1"/>
            </p:cNvSpPr>
            <p:nvPr/>
          </p:nvSpPr>
          <p:spPr bwMode="auto">
            <a:xfrm>
              <a:off x="4329" y="9046"/>
              <a:ext cx="339" cy="40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1" name="Oval 20"/>
            <p:cNvSpPr>
              <a:spLocks noChangeArrowheads="1"/>
            </p:cNvSpPr>
            <p:nvPr/>
          </p:nvSpPr>
          <p:spPr bwMode="auto">
            <a:xfrm>
              <a:off x="3636" y="1018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2" name="Line 21"/>
            <p:cNvSpPr>
              <a:spLocks noChangeShapeType="1"/>
            </p:cNvSpPr>
            <p:nvPr/>
          </p:nvSpPr>
          <p:spPr bwMode="auto">
            <a:xfrm>
              <a:off x="3810" y="9864"/>
              <a:ext cx="0" cy="3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3" name="Oval 22"/>
            <p:cNvSpPr>
              <a:spLocks noChangeArrowheads="1"/>
            </p:cNvSpPr>
            <p:nvPr/>
          </p:nvSpPr>
          <p:spPr bwMode="auto">
            <a:xfrm>
              <a:off x="4032" y="949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4" name="Line 23"/>
            <p:cNvSpPr>
              <a:spLocks noChangeShapeType="1"/>
            </p:cNvSpPr>
            <p:nvPr/>
          </p:nvSpPr>
          <p:spPr bwMode="auto">
            <a:xfrm>
              <a:off x="4206" y="9142"/>
              <a:ext cx="0" cy="34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5" name="Line 24"/>
            <p:cNvSpPr>
              <a:spLocks noChangeShapeType="1"/>
            </p:cNvSpPr>
            <p:nvPr/>
          </p:nvSpPr>
          <p:spPr bwMode="auto">
            <a:xfrm>
              <a:off x="2775" y="9864"/>
              <a:ext cx="0" cy="3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6" name="Line 25"/>
            <p:cNvSpPr>
              <a:spLocks noChangeShapeType="1"/>
            </p:cNvSpPr>
            <p:nvPr/>
          </p:nvSpPr>
          <p:spPr bwMode="auto">
            <a:xfrm>
              <a:off x="3285" y="9135"/>
              <a:ext cx="0" cy="34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37" name="Text Box 26"/>
            <p:cNvSpPr txBox="1">
              <a:spLocks noChangeArrowheads="1"/>
            </p:cNvSpPr>
            <p:nvPr/>
          </p:nvSpPr>
          <p:spPr bwMode="auto">
            <a:xfrm>
              <a:off x="2436" y="8972"/>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B</a:t>
              </a:r>
              <a:endParaRPr lang="zh-CN" altLang="zh-CN" sz="1600" b="1">
                <a:latin typeface="Arial" panose="020B0604020202020204" pitchFamily="34" charset="0"/>
                <a:ea typeface="宋体" panose="02010600030101010101" pitchFamily="2" charset="-122"/>
              </a:endParaRPr>
            </a:p>
          </p:txBody>
        </p:sp>
        <p:sp>
          <p:nvSpPr>
            <p:cNvPr id="138" name="Text Box 27"/>
            <p:cNvSpPr txBox="1">
              <a:spLocks noChangeArrowheads="1"/>
            </p:cNvSpPr>
            <p:nvPr/>
          </p:nvSpPr>
          <p:spPr bwMode="auto">
            <a:xfrm>
              <a:off x="3165" y="887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C</a:t>
              </a:r>
              <a:endParaRPr lang="zh-CN" altLang="zh-CN" sz="1600" b="1">
                <a:latin typeface="Arial" panose="020B0604020202020204" pitchFamily="34" charset="0"/>
                <a:ea typeface="宋体" panose="02010600030101010101" pitchFamily="2" charset="-122"/>
              </a:endParaRPr>
            </a:p>
          </p:txBody>
        </p:sp>
        <p:sp>
          <p:nvSpPr>
            <p:cNvPr id="139" name="Text Box 28"/>
            <p:cNvSpPr txBox="1">
              <a:spLocks noChangeArrowheads="1"/>
            </p:cNvSpPr>
            <p:nvPr/>
          </p:nvSpPr>
          <p:spPr bwMode="auto">
            <a:xfrm>
              <a:off x="4080" y="884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dirty="0">
                  <a:latin typeface="Calibri" panose="020F0502020204030204" pitchFamily="34" charset="0"/>
                  <a:ea typeface="宋体" panose="02010600030101010101" pitchFamily="2" charset="-122"/>
                </a:rPr>
                <a:t>D</a:t>
              </a:r>
              <a:endParaRPr lang="zh-CN" altLang="zh-CN" sz="1600" b="1" dirty="0">
                <a:latin typeface="Arial" panose="020B0604020202020204" pitchFamily="34" charset="0"/>
                <a:ea typeface="宋体" panose="02010600030101010101" pitchFamily="2" charset="-122"/>
              </a:endParaRPr>
            </a:p>
          </p:txBody>
        </p:sp>
        <p:sp>
          <p:nvSpPr>
            <p:cNvPr id="140" name="Text Box 29"/>
            <p:cNvSpPr txBox="1">
              <a:spLocks noChangeArrowheads="1"/>
            </p:cNvSpPr>
            <p:nvPr/>
          </p:nvSpPr>
          <p:spPr bwMode="auto">
            <a:xfrm>
              <a:off x="2085" y="9590"/>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F</a:t>
              </a:r>
              <a:endParaRPr lang="zh-CN" altLang="zh-CN" sz="1600" b="1">
                <a:latin typeface="Arial" panose="020B0604020202020204" pitchFamily="34" charset="0"/>
                <a:ea typeface="宋体" panose="02010600030101010101" pitchFamily="2" charset="-122"/>
              </a:endParaRPr>
            </a:p>
          </p:txBody>
        </p:sp>
        <p:sp>
          <p:nvSpPr>
            <p:cNvPr id="141" name="Text Box 30"/>
            <p:cNvSpPr txBox="1">
              <a:spLocks noChangeArrowheads="1"/>
            </p:cNvSpPr>
            <p:nvPr/>
          </p:nvSpPr>
          <p:spPr bwMode="auto">
            <a:xfrm>
              <a:off x="2685" y="958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G</a:t>
              </a:r>
              <a:endParaRPr lang="zh-CN" altLang="zh-CN" sz="1600" b="1">
                <a:latin typeface="Arial" panose="020B0604020202020204" pitchFamily="34" charset="0"/>
                <a:ea typeface="宋体" panose="02010600030101010101" pitchFamily="2" charset="-122"/>
              </a:endParaRPr>
            </a:p>
          </p:txBody>
        </p:sp>
        <p:sp>
          <p:nvSpPr>
            <p:cNvPr id="142" name="Text Box 31"/>
            <p:cNvSpPr txBox="1">
              <a:spLocks noChangeArrowheads="1"/>
            </p:cNvSpPr>
            <p:nvPr/>
          </p:nvSpPr>
          <p:spPr bwMode="auto">
            <a:xfrm>
              <a:off x="3195" y="959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H</a:t>
              </a:r>
              <a:endParaRPr lang="zh-CN" altLang="zh-CN" sz="1600" b="1">
                <a:latin typeface="Arial" panose="020B0604020202020204" pitchFamily="34" charset="0"/>
                <a:ea typeface="宋体" panose="02010600030101010101" pitchFamily="2" charset="-122"/>
              </a:endParaRPr>
            </a:p>
          </p:txBody>
        </p:sp>
        <p:sp>
          <p:nvSpPr>
            <p:cNvPr id="143" name="Text Box 32"/>
            <p:cNvSpPr txBox="1">
              <a:spLocks noChangeArrowheads="1"/>
            </p:cNvSpPr>
            <p:nvPr/>
          </p:nvSpPr>
          <p:spPr bwMode="auto">
            <a:xfrm>
              <a:off x="3690" y="956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I</a:t>
              </a:r>
              <a:endParaRPr lang="zh-CN" altLang="zh-CN" sz="1600" b="1">
                <a:latin typeface="Arial" panose="020B0604020202020204" pitchFamily="34" charset="0"/>
                <a:ea typeface="宋体" panose="02010600030101010101" pitchFamily="2" charset="-122"/>
              </a:endParaRPr>
            </a:p>
          </p:txBody>
        </p:sp>
        <p:sp>
          <p:nvSpPr>
            <p:cNvPr id="144" name="Text Box 33"/>
            <p:cNvSpPr txBox="1">
              <a:spLocks noChangeArrowheads="1"/>
            </p:cNvSpPr>
            <p:nvPr/>
          </p:nvSpPr>
          <p:spPr bwMode="auto">
            <a:xfrm>
              <a:off x="4125" y="958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J</a:t>
              </a:r>
              <a:endParaRPr lang="zh-CN" altLang="zh-CN" sz="1600" b="1">
                <a:latin typeface="Arial" panose="020B0604020202020204" pitchFamily="34" charset="0"/>
                <a:ea typeface="宋体" panose="02010600030101010101" pitchFamily="2" charset="-122"/>
              </a:endParaRPr>
            </a:p>
          </p:txBody>
        </p:sp>
        <p:sp>
          <p:nvSpPr>
            <p:cNvPr id="145" name="Text Box 34"/>
            <p:cNvSpPr txBox="1">
              <a:spLocks noChangeArrowheads="1"/>
            </p:cNvSpPr>
            <p:nvPr/>
          </p:nvSpPr>
          <p:spPr bwMode="auto">
            <a:xfrm>
              <a:off x="4620" y="952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K</a:t>
              </a:r>
              <a:endParaRPr lang="zh-CN" altLang="zh-CN" sz="1600" b="1">
                <a:latin typeface="Arial" panose="020B0604020202020204" pitchFamily="34" charset="0"/>
                <a:ea typeface="宋体" panose="02010600030101010101" pitchFamily="2" charset="-122"/>
              </a:endParaRPr>
            </a:p>
          </p:txBody>
        </p:sp>
        <p:sp>
          <p:nvSpPr>
            <p:cNvPr id="146" name="Text Box 35"/>
            <p:cNvSpPr txBox="1">
              <a:spLocks noChangeArrowheads="1"/>
            </p:cNvSpPr>
            <p:nvPr/>
          </p:nvSpPr>
          <p:spPr bwMode="auto">
            <a:xfrm>
              <a:off x="2700" y="1026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L</a:t>
              </a:r>
              <a:endParaRPr lang="zh-CN" altLang="zh-CN" sz="1600" b="1">
                <a:latin typeface="Arial" panose="020B0604020202020204" pitchFamily="34" charset="0"/>
                <a:ea typeface="宋体" panose="02010600030101010101" pitchFamily="2" charset="-122"/>
              </a:endParaRPr>
            </a:p>
          </p:txBody>
        </p:sp>
        <p:sp>
          <p:nvSpPr>
            <p:cNvPr id="147" name="Text Box 36"/>
            <p:cNvSpPr txBox="1">
              <a:spLocks noChangeArrowheads="1"/>
            </p:cNvSpPr>
            <p:nvPr/>
          </p:nvSpPr>
          <p:spPr bwMode="auto">
            <a:xfrm>
              <a:off x="3735" y="10280"/>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M</a:t>
              </a:r>
              <a:endParaRPr lang="zh-CN" altLang="zh-CN" sz="1600" b="1">
                <a:latin typeface="Arial" panose="020B0604020202020204" pitchFamily="34" charset="0"/>
                <a:ea typeface="宋体" panose="02010600030101010101" pitchFamily="2" charset="-122"/>
              </a:endParaRPr>
            </a:p>
          </p:txBody>
        </p:sp>
        <p:sp>
          <p:nvSpPr>
            <p:cNvPr id="148" name="Oval 37"/>
            <p:cNvSpPr>
              <a:spLocks noChangeArrowheads="1"/>
            </p:cNvSpPr>
            <p:nvPr/>
          </p:nvSpPr>
          <p:spPr bwMode="auto">
            <a:xfrm>
              <a:off x="4905" y="873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49" name="Text Box 38"/>
            <p:cNvSpPr txBox="1">
              <a:spLocks noChangeArrowheads="1"/>
            </p:cNvSpPr>
            <p:nvPr/>
          </p:nvSpPr>
          <p:spPr bwMode="auto">
            <a:xfrm>
              <a:off x="4980" y="882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E</a:t>
              </a:r>
              <a:endParaRPr lang="zh-CN" altLang="zh-CN" sz="1600" b="1">
                <a:latin typeface="Arial" panose="020B0604020202020204" pitchFamily="34" charset="0"/>
                <a:ea typeface="宋体" panose="02010600030101010101" pitchFamily="2" charset="-122"/>
              </a:endParaRPr>
            </a:p>
          </p:txBody>
        </p:sp>
        <p:sp>
          <p:nvSpPr>
            <p:cNvPr id="150" name="Line 39"/>
            <p:cNvSpPr>
              <a:spLocks noChangeShapeType="1"/>
            </p:cNvSpPr>
            <p:nvPr/>
          </p:nvSpPr>
          <p:spPr bwMode="auto">
            <a:xfrm>
              <a:off x="3786" y="8349"/>
              <a:ext cx="339" cy="40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grpSp>
      <p:grpSp>
        <p:nvGrpSpPr>
          <p:cNvPr id="151" name="Group 40"/>
          <p:cNvGrpSpPr/>
          <p:nvPr/>
        </p:nvGrpSpPr>
        <p:grpSpPr bwMode="auto">
          <a:xfrm>
            <a:off x="5011119" y="1029148"/>
            <a:ext cx="389968" cy="999793"/>
            <a:chOff x="7134" y="8556"/>
            <a:chExt cx="393" cy="1074"/>
          </a:xfrm>
        </p:grpSpPr>
        <p:sp>
          <p:nvSpPr>
            <p:cNvPr id="152" name="Oval 41"/>
            <p:cNvSpPr>
              <a:spLocks noChangeArrowheads="1"/>
            </p:cNvSpPr>
            <p:nvPr/>
          </p:nvSpPr>
          <p:spPr bwMode="auto">
            <a:xfrm>
              <a:off x="7134" y="8556"/>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53" name="Oval 42"/>
            <p:cNvSpPr>
              <a:spLocks noChangeArrowheads="1"/>
            </p:cNvSpPr>
            <p:nvPr/>
          </p:nvSpPr>
          <p:spPr bwMode="auto">
            <a:xfrm>
              <a:off x="7158" y="926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54" name="Line 43"/>
            <p:cNvSpPr>
              <a:spLocks noChangeShapeType="1"/>
            </p:cNvSpPr>
            <p:nvPr/>
          </p:nvSpPr>
          <p:spPr bwMode="auto">
            <a:xfrm>
              <a:off x="7335" y="8910"/>
              <a:ext cx="0" cy="34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55" name="Text Box 44"/>
            <p:cNvSpPr txBox="1">
              <a:spLocks noChangeArrowheads="1"/>
            </p:cNvSpPr>
            <p:nvPr/>
          </p:nvSpPr>
          <p:spPr bwMode="auto">
            <a:xfrm>
              <a:off x="7215" y="865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C</a:t>
              </a:r>
              <a:endParaRPr lang="zh-CN" altLang="zh-CN" sz="1600" b="1">
                <a:latin typeface="Arial" panose="020B0604020202020204" pitchFamily="34" charset="0"/>
                <a:ea typeface="宋体" panose="02010600030101010101" pitchFamily="2" charset="-122"/>
              </a:endParaRPr>
            </a:p>
          </p:txBody>
        </p:sp>
        <p:sp>
          <p:nvSpPr>
            <p:cNvPr id="156" name="Text Box 45"/>
            <p:cNvSpPr txBox="1">
              <a:spLocks noChangeArrowheads="1"/>
            </p:cNvSpPr>
            <p:nvPr/>
          </p:nvSpPr>
          <p:spPr bwMode="auto">
            <a:xfrm>
              <a:off x="7245" y="937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H</a:t>
              </a:r>
              <a:endParaRPr lang="zh-CN" altLang="zh-CN" sz="1600" b="1">
                <a:latin typeface="Arial" panose="020B0604020202020204" pitchFamily="34" charset="0"/>
                <a:ea typeface="宋体" panose="02010600030101010101" pitchFamily="2" charset="-122"/>
              </a:endParaRPr>
            </a:p>
          </p:txBody>
        </p:sp>
      </p:grpSp>
      <p:grpSp>
        <p:nvGrpSpPr>
          <p:cNvPr id="157" name="Group 46"/>
          <p:cNvGrpSpPr/>
          <p:nvPr/>
        </p:nvGrpSpPr>
        <p:grpSpPr bwMode="auto">
          <a:xfrm>
            <a:off x="3722860" y="973692"/>
            <a:ext cx="700828" cy="1356743"/>
            <a:chOff x="5745" y="8601"/>
            <a:chExt cx="969" cy="1659"/>
          </a:xfrm>
        </p:grpSpPr>
        <p:sp>
          <p:nvSpPr>
            <p:cNvPr id="158" name="Oval 47"/>
            <p:cNvSpPr>
              <a:spLocks noChangeArrowheads="1"/>
            </p:cNvSpPr>
            <p:nvPr/>
          </p:nvSpPr>
          <p:spPr bwMode="auto">
            <a:xfrm>
              <a:off x="6075" y="860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59" name="Oval 48"/>
            <p:cNvSpPr>
              <a:spLocks noChangeArrowheads="1"/>
            </p:cNvSpPr>
            <p:nvPr/>
          </p:nvSpPr>
          <p:spPr bwMode="auto">
            <a:xfrm>
              <a:off x="5745" y="922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60" name="Oval 49"/>
            <p:cNvSpPr>
              <a:spLocks noChangeArrowheads="1"/>
            </p:cNvSpPr>
            <p:nvPr/>
          </p:nvSpPr>
          <p:spPr bwMode="auto">
            <a:xfrm>
              <a:off x="6330" y="922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61" name="Oval 50"/>
            <p:cNvSpPr>
              <a:spLocks noChangeArrowheads="1"/>
            </p:cNvSpPr>
            <p:nvPr/>
          </p:nvSpPr>
          <p:spPr bwMode="auto">
            <a:xfrm>
              <a:off x="6345" y="989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62" name="Line 51"/>
            <p:cNvSpPr>
              <a:spLocks noChangeShapeType="1"/>
            </p:cNvSpPr>
            <p:nvPr/>
          </p:nvSpPr>
          <p:spPr bwMode="auto">
            <a:xfrm flipH="1">
              <a:off x="6024" y="8940"/>
              <a:ext cx="144" cy="2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63" name="Line 52"/>
            <p:cNvSpPr>
              <a:spLocks noChangeShapeType="1"/>
            </p:cNvSpPr>
            <p:nvPr/>
          </p:nvSpPr>
          <p:spPr bwMode="auto">
            <a:xfrm>
              <a:off x="6393" y="8925"/>
              <a:ext cx="51" cy="3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64" name="Line 53"/>
            <p:cNvSpPr>
              <a:spLocks noChangeShapeType="1"/>
            </p:cNvSpPr>
            <p:nvPr/>
          </p:nvSpPr>
          <p:spPr bwMode="auto">
            <a:xfrm>
              <a:off x="6510" y="9594"/>
              <a:ext cx="0" cy="3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65" name="Text Box 54"/>
            <p:cNvSpPr txBox="1">
              <a:spLocks noChangeArrowheads="1"/>
            </p:cNvSpPr>
            <p:nvPr/>
          </p:nvSpPr>
          <p:spPr bwMode="auto">
            <a:xfrm>
              <a:off x="6171" y="8702"/>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dirty="0">
                  <a:latin typeface="Calibri" panose="020F0502020204030204" pitchFamily="34" charset="0"/>
                  <a:ea typeface="宋体" panose="02010600030101010101" pitchFamily="2" charset="-122"/>
                </a:rPr>
                <a:t>B</a:t>
              </a:r>
              <a:endParaRPr lang="zh-CN" altLang="zh-CN" sz="1600" b="1" dirty="0">
                <a:latin typeface="Arial" panose="020B0604020202020204" pitchFamily="34" charset="0"/>
                <a:ea typeface="宋体" panose="02010600030101010101" pitchFamily="2" charset="-122"/>
              </a:endParaRPr>
            </a:p>
          </p:txBody>
        </p:sp>
        <p:sp>
          <p:nvSpPr>
            <p:cNvPr id="166" name="Text Box 55"/>
            <p:cNvSpPr txBox="1">
              <a:spLocks noChangeArrowheads="1"/>
            </p:cNvSpPr>
            <p:nvPr/>
          </p:nvSpPr>
          <p:spPr bwMode="auto">
            <a:xfrm>
              <a:off x="5820" y="9320"/>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F</a:t>
              </a:r>
              <a:endParaRPr lang="zh-CN" altLang="zh-CN" sz="1600" b="1">
                <a:latin typeface="Arial" panose="020B0604020202020204" pitchFamily="34" charset="0"/>
                <a:ea typeface="宋体" panose="02010600030101010101" pitchFamily="2" charset="-122"/>
              </a:endParaRPr>
            </a:p>
          </p:txBody>
        </p:sp>
        <p:sp>
          <p:nvSpPr>
            <p:cNvPr id="167" name="Text Box 56"/>
            <p:cNvSpPr txBox="1">
              <a:spLocks noChangeArrowheads="1"/>
            </p:cNvSpPr>
            <p:nvPr/>
          </p:nvSpPr>
          <p:spPr bwMode="auto">
            <a:xfrm>
              <a:off x="6420" y="931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G</a:t>
              </a:r>
              <a:endParaRPr lang="zh-CN" altLang="zh-CN" sz="1600" b="1">
                <a:latin typeface="Arial" panose="020B0604020202020204" pitchFamily="34" charset="0"/>
                <a:ea typeface="宋体" panose="02010600030101010101" pitchFamily="2" charset="-122"/>
              </a:endParaRPr>
            </a:p>
          </p:txBody>
        </p:sp>
        <p:sp>
          <p:nvSpPr>
            <p:cNvPr id="168" name="Text Box 57"/>
            <p:cNvSpPr txBox="1">
              <a:spLocks noChangeArrowheads="1"/>
            </p:cNvSpPr>
            <p:nvPr/>
          </p:nvSpPr>
          <p:spPr bwMode="auto">
            <a:xfrm>
              <a:off x="6435" y="999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L</a:t>
              </a:r>
              <a:endParaRPr lang="zh-CN" altLang="zh-CN" sz="1600" b="1">
                <a:latin typeface="Arial" panose="020B0604020202020204" pitchFamily="34" charset="0"/>
                <a:ea typeface="宋体" panose="02010600030101010101" pitchFamily="2" charset="-122"/>
              </a:endParaRPr>
            </a:p>
          </p:txBody>
        </p:sp>
      </p:grpSp>
      <p:grpSp>
        <p:nvGrpSpPr>
          <p:cNvPr id="169" name="Group 58"/>
          <p:cNvGrpSpPr/>
          <p:nvPr/>
        </p:nvGrpSpPr>
        <p:grpSpPr bwMode="auto">
          <a:xfrm>
            <a:off x="5787079" y="989399"/>
            <a:ext cx="1306513" cy="1676397"/>
            <a:chOff x="7845" y="8541"/>
            <a:chExt cx="1314" cy="1803"/>
          </a:xfrm>
        </p:grpSpPr>
        <p:sp>
          <p:nvSpPr>
            <p:cNvPr id="170" name="Oval 59"/>
            <p:cNvSpPr>
              <a:spLocks noChangeArrowheads="1"/>
            </p:cNvSpPr>
            <p:nvPr/>
          </p:nvSpPr>
          <p:spPr bwMode="auto">
            <a:xfrm>
              <a:off x="8244" y="854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1" name="Oval 60"/>
            <p:cNvSpPr>
              <a:spLocks noChangeArrowheads="1"/>
            </p:cNvSpPr>
            <p:nvPr/>
          </p:nvSpPr>
          <p:spPr bwMode="auto">
            <a:xfrm>
              <a:off x="7845" y="927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2" name="Oval 61"/>
            <p:cNvSpPr>
              <a:spLocks noChangeArrowheads="1"/>
            </p:cNvSpPr>
            <p:nvPr/>
          </p:nvSpPr>
          <p:spPr bwMode="auto">
            <a:xfrm>
              <a:off x="8790" y="922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3" name="Line 62"/>
            <p:cNvSpPr>
              <a:spLocks noChangeShapeType="1"/>
            </p:cNvSpPr>
            <p:nvPr/>
          </p:nvSpPr>
          <p:spPr bwMode="auto">
            <a:xfrm flipH="1">
              <a:off x="8118" y="8889"/>
              <a:ext cx="222" cy="39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4" name="Line 63"/>
            <p:cNvSpPr>
              <a:spLocks noChangeShapeType="1"/>
            </p:cNvSpPr>
            <p:nvPr/>
          </p:nvSpPr>
          <p:spPr bwMode="auto">
            <a:xfrm>
              <a:off x="8589" y="8836"/>
              <a:ext cx="339" cy="40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5" name="Oval 64"/>
            <p:cNvSpPr>
              <a:spLocks noChangeArrowheads="1"/>
            </p:cNvSpPr>
            <p:nvPr/>
          </p:nvSpPr>
          <p:spPr bwMode="auto">
            <a:xfrm>
              <a:off x="7896" y="997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6" name="Line 65"/>
            <p:cNvSpPr>
              <a:spLocks noChangeShapeType="1"/>
            </p:cNvSpPr>
            <p:nvPr/>
          </p:nvSpPr>
          <p:spPr bwMode="auto">
            <a:xfrm>
              <a:off x="8070" y="9654"/>
              <a:ext cx="0" cy="3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7" name="Oval 66"/>
            <p:cNvSpPr>
              <a:spLocks noChangeArrowheads="1"/>
            </p:cNvSpPr>
            <p:nvPr/>
          </p:nvSpPr>
          <p:spPr bwMode="auto">
            <a:xfrm>
              <a:off x="8292" y="928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8" name="Line 67"/>
            <p:cNvSpPr>
              <a:spLocks noChangeShapeType="1"/>
            </p:cNvSpPr>
            <p:nvPr/>
          </p:nvSpPr>
          <p:spPr bwMode="auto">
            <a:xfrm>
              <a:off x="8466" y="8932"/>
              <a:ext cx="0" cy="34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79" name="Text Box 68"/>
            <p:cNvSpPr txBox="1">
              <a:spLocks noChangeArrowheads="1"/>
            </p:cNvSpPr>
            <p:nvPr/>
          </p:nvSpPr>
          <p:spPr bwMode="auto">
            <a:xfrm>
              <a:off x="8340" y="863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D</a:t>
              </a:r>
              <a:endParaRPr lang="zh-CN" altLang="zh-CN" sz="1600" b="1">
                <a:latin typeface="Arial" panose="020B0604020202020204" pitchFamily="34" charset="0"/>
                <a:ea typeface="宋体" panose="02010600030101010101" pitchFamily="2" charset="-122"/>
              </a:endParaRPr>
            </a:p>
          </p:txBody>
        </p:sp>
        <p:sp>
          <p:nvSpPr>
            <p:cNvPr id="180" name="Text Box 69"/>
            <p:cNvSpPr txBox="1">
              <a:spLocks noChangeArrowheads="1"/>
            </p:cNvSpPr>
            <p:nvPr/>
          </p:nvSpPr>
          <p:spPr bwMode="auto">
            <a:xfrm>
              <a:off x="7950" y="935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I</a:t>
              </a:r>
              <a:endParaRPr lang="zh-CN" altLang="zh-CN" sz="1600" b="1">
                <a:latin typeface="Arial" panose="020B0604020202020204" pitchFamily="34" charset="0"/>
                <a:ea typeface="宋体" panose="02010600030101010101" pitchFamily="2" charset="-122"/>
              </a:endParaRPr>
            </a:p>
          </p:txBody>
        </p:sp>
        <p:sp>
          <p:nvSpPr>
            <p:cNvPr id="181" name="Text Box 70"/>
            <p:cNvSpPr txBox="1">
              <a:spLocks noChangeArrowheads="1"/>
            </p:cNvSpPr>
            <p:nvPr/>
          </p:nvSpPr>
          <p:spPr bwMode="auto">
            <a:xfrm>
              <a:off x="8385" y="937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J</a:t>
              </a:r>
              <a:endParaRPr lang="zh-CN" altLang="zh-CN" sz="1600" b="1">
                <a:latin typeface="Arial" panose="020B0604020202020204" pitchFamily="34" charset="0"/>
                <a:ea typeface="宋体" panose="02010600030101010101" pitchFamily="2" charset="-122"/>
              </a:endParaRPr>
            </a:p>
          </p:txBody>
        </p:sp>
        <p:sp>
          <p:nvSpPr>
            <p:cNvPr id="182" name="Text Box 71"/>
            <p:cNvSpPr txBox="1">
              <a:spLocks noChangeArrowheads="1"/>
            </p:cNvSpPr>
            <p:nvPr/>
          </p:nvSpPr>
          <p:spPr bwMode="auto">
            <a:xfrm>
              <a:off x="8880" y="931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K</a:t>
              </a:r>
              <a:endParaRPr lang="zh-CN" altLang="zh-CN" sz="1600" b="1">
                <a:latin typeface="Arial" panose="020B0604020202020204" pitchFamily="34" charset="0"/>
                <a:ea typeface="宋体" panose="02010600030101010101" pitchFamily="2" charset="-122"/>
              </a:endParaRPr>
            </a:p>
          </p:txBody>
        </p:sp>
        <p:sp>
          <p:nvSpPr>
            <p:cNvPr id="183" name="Text Box 72"/>
            <p:cNvSpPr txBox="1">
              <a:spLocks noChangeArrowheads="1"/>
            </p:cNvSpPr>
            <p:nvPr/>
          </p:nvSpPr>
          <p:spPr bwMode="auto">
            <a:xfrm>
              <a:off x="7995" y="10070"/>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M</a:t>
              </a:r>
              <a:endParaRPr lang="zh-CN" altLang="zh-CN" sz="1600" b="1">
                <a:latin typeface="Arial" panose="020B0604020202020204" pitchFamily="34" charset="0"/>
                <a:ea typeface="宋体" panose="02010600030101010101" pitchFamily="2" charset="-122"/>
              </a:endParaRPr>
            </a:p>
          </p:txBody>
        </p:sp>
      </p:grpSp>
      <p:grpSp>
        <p:nvGrpSpPr>
          <p:cNvPr id="184" name="Group 73"/>
          <p:cNvGrpSpPr/>
          <p:nvPr/>
        </p:nvGrpSpPr>
        <p:grpSpPr bwMode="auto">
          <a:xfrm>
            <a:off x="7367431" y="989398"/>
            <a:ext cx="367612" cy="341790"/>
            <a:chOff x="9420" y="8520"/>
            <a:chExt cx="369" cy="369"/>
          </a:xfrm>
        </p:grpSpPr>
        <p:sp>
          <p:nvSpPr>
            <p:cNvPr id="185" name="Oval 74"/>
            <p:cNvSpPr>
              <a:spLocks noChangeArrowheads="1"/>
            </p:cNvSpPr>
            <p:nvPr/>
          </p:nvSpPr>
          <p:spPr bwMode="auto">
            <a:xfrm>
              <a:off x="9420" y="852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86" name="Text Box 75"/>
            <p:cNvSpPr txBox="1">
              <a:spLocks noChangeArrowheads="1"/>
            </p:cNvSpPr>
            <p:nvPr/>
          </p:nvSpPr>
          <p:spPr bwMode="auto">
            <a:xfrm>
              <a:off x="9495" y="861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dirty="0">
                  <a:latin typeface="Calibri" panose="020F0502020204030204" pitchFamily="34" charset="0"/>
                  <a:ea typeface="宋体" panose="02010600030101010101" pitchFamily="2" charset="-122"/>
                </a:rPr>
                <a:t>E</a:t>
              </a:r>
              <a:endParaRPr lang="zh-CN" altLang="zh-CN" sz="1600" b="1" dirty="0">
                <a:latin typeface="Arial" panose="020B0604020202020204" pitchFamily="34" charset="0"/>
                <a:ea typeface="宋体" panose="02010600030101010101" pitchFamily="2" charset="-122"/>
              </a:endParaRPr>
            </a:p>
          </p:txBody>
        </p:sp>
      </p:grpSp>
      <p:sp>
        <p:nvSpPr>
          <p:cNvPr id="187" name="矩形 186"/>
          <p:cNvSpPr/>
          <p:nvPr/>
        </p:nvSpPr>
        <p:spPr>
          <a:xfrm>
            <a:off x="1200470" y="588131"/>
            <a:ext cx="1287532" cy="338554"/>
          </a:xfrm>
          <a:prstGeom prst="rect">
            <a:avLst/>
          </a:prstGeom>
        </p:spPr>
        <p:txBody>
          <a:bodyPr wrap="none">
            <a:spAutoFit/>
          </a:bodyPr>
          <a:lstStyle/>
          <a:p>
            <a:r>
              <a:rPr lang="zh-CN" altLang="en-US" sz="1600" b="1" dirty="0"/>
              <a:t> </a:t>
            </a:r>
            <a:r>
              <a:rPr lang="en-US" altLang="zh-CN" sz="1600" b="1" dirty="0">
                <a:solidFill>
                  <a:schemeClr val="hlink"/>
                </a:solidFill>
                <a:sym typeface="Wingdings" panose="05000000000000000000" pitchFamily="2" charset="2"/>
              </a:rPr>
              <a:t> </a:t>
            </a:r>
            <a:r>
              <a:rPr lang="zh-CN" altLang="en-US" sz="1600" b="1" dirty="0"/>
              <a:t>树与非树</a:t>
            </a:r>
            <a:endParaRPr lang="zh-CN" altLang="en-US" sz="1600" b="1" dirty="0"/>
          </a:p>
        </p:txBody>
      </p:sp>
      <p:grpSp>
        <p:nvGrpSpPr>
          <p:cNvPr id="188" name="Group 76"/>
          <p:cNvGrpSpPr/>
          <p:nvPr/>
        </p:nvGrpSpPr>
        <p:grpSpPr bwMode="auto">
          <a:xfrm>
            <a:off x="1404985" y="2979407"/>
            <a:ext cx="2071711" cy="1998215"/>
            <a:chOff x="4065" y="2296"/>
            <a:chExt cx="1821" cy="1842"/>
          </a:xfrm>
        </p:grpSpPr>
        <p:sp>
          <p:nvSpPr>
            <p:cNvPr id="189" name="Oval 77"/>
            <p:cNvSpPr>
              <a:spLocks noChangeArrowheads="1"/>
            </p:cNvSpPr>
            <p:nvPr/>
          </p:nvSpPr>
          <p:spPr bwMode="auto">
            <a:xfrm>
              <a:off x="4719" y="2296"/>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0" name="Text Box 78"/>
            <p:cNvSpPr txBox="1">
              <a:spLocks noChangeArrowheads="1"/>
            </p:cNvSpPr>
            <p:nvPr/>
          </p:nvSpPr>
          <p:spPr bwMode="auto">
            <a:xfrm>
              <a:off x="4797" y="2398"/>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dirty="0">
                  <a:latin typeface="Calibri" panose="020F0502020204030204" pitchFamily="34" charset="0"/>
                  <a:ea typeface="宋体" panose="02010600030101010101" pitchFamily="2" charset="-122"/>
                </a:rPr>
                <a:t>A</a:t>
              </a:r>
              <a:endParaRPr lang="zh-CN" altLang="zh-CN" sz="1600" b="1" dirty="0">
                <a:latin typeface="Arial" panose="020B0604020202020204" pitchFamily="34" charset="0"/>
                <a:ea typeface="宋体" panose="02010600030101010101" pitchFamily="2" charset="-122"/>
              </a:endParaRPr>
            </a:p>
          </p:txBody>
        </p:sp>
        <p:sp>
          <p:nvSpPr>
            <p:cNvPr id="191" name="Oval 79"/>
            <p:cNvSpPr>
              <a:spLocks noChangeArrowheads="1"/>
            </p:cNvSpPr>
            <p:nvPr/>
          </p:nvSpPr>
          <p:spPr bwMode="auto">
            <a:xfrm>
              <a:off x="4065" y="314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2" name="Oval 80"/>
            <p:cNvSpPr>
              <a:spLocks noChangeArrowheads="1"/>
            </p:cNvSpPr>
            <p:nvPr/>
          </p:nvSpPr>
          <p:spPr bwMode="auto">
            <a:xfrm>
              <a:off x="4599" y="304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3" name="Oval 81"/>
            <p:cNvSpPr>
              <a:spLocks noChangeArrowheads="1"/>
            </p:cNvSpPr>
            <p:nvPr/>
          </p:nvSpPr>
          <p:spPr bwMode="auto">
            <a:xfrm>
              <a:off x="5289" y="301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4" name="Oval 82"/>
            <p:cNvSpPr>
              <a:spLocks noChangeArrowheads="1"/>
            </p:cNvSpPr>
            <p:nvPr/>
          </p:nvSpPr>
          <p:spPr bwMode="auto">
            <a:xfrm>
              <a:off x="4125" y="3769"/>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5" name="Oval 83"/>
            <p:cNvSpPr>
              <a:spLocks noChangeArrowheads="1"/>
            </p:cNvSpPr>
            <p:nvPr/>
          </p:nvSpPr>
          <p:spPr bwMode="auto">
            <a:xfrm>
              <a:off x="4593" y="374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6" name="Line 84"/>
            <p:cNvSpPr>
              <a:spLocks noChangeShapeType="1"/>
            </p:cNvSpPr>
            <p:nvPr/>
          </p:nvSpPr>
          <p:spPr bwMode="auto">
            <a:xfrm flipH="1">
              <a:off x="4365" y="2568"/>
              <a:ext cx="354" cy="60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7" name="Line 85"/>
            <p:cNvSpPr>
              <a:spLocks noChangeShapeType="1"/>
            </p:cNvSpPr>
            <p:nvPr/>
          </p:nvSpPr>
          <p:spPr bwMode="auto">
            <a:xfrm flipH="1">
              <a:off x="4797" y="2665"/>
              <a:ext cx="87" cy="37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8" name="Line 86"/>
            <p:cNvSpPr>
              <a:spLocks noChangeShapeType="1"/>
            </p:cNvSpPr>
            <p:nvPr/>
          </p:nvSpPr>
          <p:spPr bwMode="auto">
            <a:xfrm>
              <a:off x="4284" y="3499"/>
              <a:ext cx="0" cy="268"/>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199" name="Oval 87"/>
            <p:cNvSpPr>
              <a:spLocks noChangeArrowheads="1"/>
            </p:cNvSpPr>
            <p:nvPr/>
          </p:nvSpPr>
          <p:spPr bwMode="auto">
            <a:xfrm>
              <a:off x="5070" y="3739"/>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00" name="Line 88"/>
            <p:cNvSpPr>
              <a:spLocks noChangeShapeType="1"/>
            </p:cNvSpPr>
            <p:nvPr/>
          </p:nvSpPr>
          <p:spPr bwMode="auto">
            <a:xfrm flipH="1">
              <a:off x="5304" y="3381"/>
              <a:ext cx="90" cy="346"/>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01" name="Oval 89"/>
            <p:cNvSpPr>
              <a:spLocks noChangeArrowheads="1"/>
            </p:cNvSpPr>
            <p:nvPr/>
          </p:nvSpPr>
          <p:spPr bwMode="auto">
            <a:xfrm>
              <a:off x="5517" y="3754"/>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02" name="Line 90"/>
            <p:cNvSpPr>
              <a:spLocks noChangeShapeType="1"/>
            </p:cNvSpPr>
            <p:nvPr/>
          </p:nvSpPr>
          <p:spPr bwMode="auto">
            <a:xfrm>
              <a:off x="5589" y="3358"/>
              <a:ext cx="102" cy="38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03" name="Line 91"/>
            <p:cNvSpPr>
              <a:spLocks noChangeShapeType="1"/>
            </p:cNvSpPr>
            <p:nvPr/>
          </p:nvSpPr>
          <p:spPr bwMode="auto">
            <a:xfrm>
              <a:off x="4770" y="3427"/>
              <a:ext cx="0" cy="2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04" name="Text Box 92"/>
            <p:cNvSpPr txBox="1">
              <a:spLocks noChangeArrowheads="1"/>
            </p:cNvSpPr>
            <p:nvPr/>
          </p:nvSpPr>
          <p:spPr bwMode="auto">
            <a:xfrm>
              <a:off x="4161" y="3246"/>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B</a:t>
              </a:r>
              <a:endParaRPr lang="zh-CN" altLang="zh-CN" sz="1600" b="1">
                <a:latin typeface="Arial" panose="020B0604020202020204" pitchFamily="34" charset="0"/>
                <a:ea typeface="宋体" panose="02010600030101010101" pitchFamily="2" charset="-122"/>
              </a:endParaRPr>
            </a:p>
          </p:txBody>
        </p:sp>
        <p:sp>
          <p:nvSpPr>
            <p:cNvPr id="205" name="Text Box 93"/>
            <p:cNvSpPr txBox="1">
              <a:spLocks noChangeArrowheads="1"/>
            </p:cNvSpPr>
            <p:nvPr/>
          </p:nvSpPr>
          <p:spPr bwMode="auto">
            <a:xfrm>
              <a:off x="4680" y="313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C</a:t>
              </a:r>
              <a:endParaRPr lang="zh-CN" altLang="zh-CN" sz="1600" b="1">
                <a:latin typeface="Arial" panose="020B0604020202020204" pitchFamily="34" charset="0"/>
                <a:ea typeface="宋体" panose="02010600030101010101" pitchFamily="2" charset="-122"/>
              </a:endParaRPr>
            </a:p>
          </p:txBody>
        </p:sp>
        <p:sp>
          <p:nvSpPr>
            <p:cNvPr id="206" name="Text Box 94"/>
            <p:cNvSpPr txBox="1">
              <a:spLocks noChangeArrowheads="1"/>
            </p:cNvSpPr>
            <p:nvPr/>
          </p:nvSpPr>
          <p:spPr bwMode="auto">
            <a:xfrm>
              <a:off x="5385" y="310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D</a:t>
              </a:r>
              <a:endParaRPr lang="zh-CN" altLang="zh-CN" sz="1600" b="1">
                <a:latin typeface="Arial" panose="020B0604020202020204" pitchFamily="34" charset="0"/>
                <a:ea typeface="宋体" panose="02010600030101010101" pitchFamily="2" charset="-122"/>
              </a:endParaRPr>
            </a:p>
          </p:txBody>
        </p:sp>
        <p:sp>
          <p:nvSpPr>
            <p:cNvPr id="207" name="Text Box 95"/>
            <p:cNvSpPr txBox="1">
              <a:spLocks noChangeArrowheads="1"/>
            </p:cNvSpPr>
            <p:nvPr/>
          </p:nvSpPr>
          <p:spPr bwMode="auto">
            <a:xfrm>
              <a:off x="4215" y="385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E</a:t>
              </a:r>
              <a:endParaRPr lang="zh-CN" altLang="zh-CN" sz="1600" b="1">
                <a:latin typeface="Arial" panose="020B0604020202020204" pitchFamily="34" charset="0"/>
                <a:ea typeface="宋体" panose="02010600030101010101" pitchFamily="2" charset="-122"/>
              </a:endParaRPr>
            </a:p>
          </p:txBody>
        </p:sp>
        <p:sp>
          <p:nvSpPr>
            <p:cNvPr id="208" name="Text Box 96"/>
            <p:cNvSpPr txBox="1">
              <a:spLocks noChangeArrowheads="1"/>
            </p:cNvSpPr>
            <p:nvPr/>
          </p:nvSpPr>
          <p:spPr bwMode="auto">
            <a:xfrm>
              <a:off x="4680" y="385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F</a:t>
              </a:r>
              <a:endParaRPr lang="zh-CN" altLang="zh-CN" sz="1600" b="1">
                <a:latin typeface="Arial" panose="020B0604020202020204" pitchFamily="34" charset="0"/>
                <a:ea typeface="宋体" panose="02010600030101010101" pitchFamily="2" charset="-122"/>
              </a:endParaRPr>
            </a:p>
          </p:txBody>
        </p:sp>
        <p:sp>
          <p:nvSpPr>
            <p:cNvPr id="209" name="Text Box 97"/>
            <p:cNvSpPr txBox="1">
              <a:spLocks noChangeArrowheads="1"/>
            </p:cNvSpPr>
            <p:nvPr/>
          </p:nvSpPr>
          <p:spPr bwMode="auto">
            <a:xfrm>
              <a:off x="5175" y="382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G</a:t>
              </a:r>
              <a:endParaRPr lang="zh-CN" altLang="zh-CN" sz="1600" b="1">
                <a:latin typeface="Arial" panose="020B0604020202020204" pitchFamily="34" charset="0"/>
                <a:ea typeface="宋体" panose="02010600030101010101" pitchFamily="2" charset="-122"/>
              </a:endParaRPr>
            </a:p>
          </p:txBody>
        </p:sp>
        <p:sp>
          <p:nvSpPr>
            <p:cNvPr id="210" name="Text Box 98"/>
            <p:cNvSpPr txBox="1">
              <a:spLocks noChangeArrowheads="1"/>
            </p:cNvSpPr>
            <p:nvPr/>
          </p:nvSpPr>
          <p:spPr bwMode="auto">
            <a:xfrm>
              <a:off x="5610" y="3840"/>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H</a:t>
              </a:r>
              <a:endParaRPr lang="zh-CN" altLang="zh-CN" sz="1600" b="1">
                <a:latin typeface="Arial" panose="020B0604020202020204" pitchFamily="34" charset="0"/>
                <a:ea typeface="宋体" panose="02010600030101010101" pitchFamily="2" charset="-122"/>
              </a:endParaRPr>
            </a:p>
          </p:txBody>
        </p:sp>
        <p:sp>
          <p:nvSpPr>
            <p:cNvPr id="211" name="Line 99"/>
            <p:cNvSpPr>
              <a:spLocks noChangeShapeType="1"/>
            </p:cNvSpPr>
            <p:nvPr/>
          </p:nvSpPr>
          <p:spPr bwMode="auto">
            <a:xfrm>
              <a:off x="5076" y="2563"/>
              <a:ext cx="267" cy="47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12" name="Line 100"/>
            <p:cNvSpPr>
              <a:spLocks noChangeShapeType="1"/>
            </p:cNvSpPr>
            <p:nvPr/>
          </p:nvSpPr>
          <p:spPr bwMode="auto">
            <a:xfrm flipH="1">
              <a:off x="4962" y="3218"/>
              <a:ext cx="327" cy="19"/>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grpSp>
      <p:grpSp>
        <p:nvGrpSpPr>
          <p:cNvPr id="213" name="Group 101"/>
          <p:cNvGrpSpPr/>
          <p:nvPr/>
        </p:nvGrpSpPr>
        <p:grpSpPr bwMode="auto">
          <a:xfrm>
            <a:off x="3750605" y="3038586"/>
            <a:ext cx="2023191" cy="1831165"/>
            <a:chOff x="6027" y="2249"/>
            <a:chExt cx="1821" cy="1842"/>
          </a:xfrm>
        </p:grpSpPr>
        <p:sp>
          <p:nvSpPr>
            <p:cNvPr id="214" name="Oval 102"/>
            <p:cNvSpPr>
              <a:spLocks noChangeArrowheads="1"/>
            </p:cNvSpPr>
            <p:nvPr/>
          </p:nvSpPr>
          <p:spPr bwMode="auto">
            <a:xfrm>
              <a:off x="6681" y="2249"/>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15" name="Text Box 103"/>
            <p:cNvSpPr txBox="1">
              <a:spLocks noChangeArrowheads="1"/>
            </p:cNvSpPr>
            <p:nvPr/>
          </p:nvSpPr>
          <p:spPr bwMode="auto">
            <a:xfrm>
              <a:off x="6759" y="2351"/>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A</a:t>
              </a:r>
              <a:endParaRPr lang="zh-CN" altLang="zh-CN" sz="1600" b="1">
                <a:latin typeface="Arial" panose="020B0604020202020204" pitchFamily="34" charset="0"/>
                <a:ea typeface="宋体" panose="02010600030101010101" pitchFamily="2" charset="-122"/>
              </a:endParaRPr>
            </a:p>
          </p:txBody>
        </p:sp>
        <p:sp>
          <p:nvSpPr>
            <p:cNvPr id="216" name="Oval 104"/>
            <p:cNvSpPr>
              <a:spLocks noChangeArrowheads="1"/>
            </p:cNvSpPr>
            <p:nvPr/>
          </p:nvSpPr>
          <p:spPr bwMode="auto">
            <a:xfrm>
              <a:off x="6027" y="3098"/>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17" name="Oval 105"/>
            <p:cNvSpPr>
              <a:spLocks noChangeArrowheads="1"/>
            </p:cNvSpPr>
            <p:nvPr/>
          </p:nvSpPr>
          <p:spPr bwMode="auto">
            <a:xfrm>
              <a:off x="6561" y="2993"/>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18" name="Oval 106"/>
            <p:cNvSpPr>
              <a:spLocks noChangeArrowheads="1"/>
            </p:cNvSpPr>
            <p:nvPr/>
          </p:nvSpPr>
          <p:spPr bwMode="auto">
            <a:xfrm>
              <a:off x="7251" y="2963"/>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19" name="Oval 107"/>
            <p:cNvSpPr>
              <a:spLocks noChangeArrowheads="1"/>
            </p:cNvSpPr>
            <p:nvPr/>
          </p:nvSpPr>
          <p:spPr bwMode="auto">
            <a:xfrm>
              <a:off x="6087" y="3722"/>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0" name="Oval 108"/>
            <p:cNvSpPr>
              <a:spLocks noChangeArrowheads="1"/>
            </p:cNvSpPr>
            <p:nvPr/>
          </p:nvSpPr>
          <p:spPr bwMode="auto">
            <a:xfrm>
              <a:off x="6555" y="3698"/>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1" name="Line 109"/>
            <p:cNvSpPr>
              <a:spLocks noChangeShapeType="1"/>
            </p:cNvSpPr>
            <p:nvPr/>
          </p:nvSpPr>
          <p:spPr bwMode="auto">
            <a:xfrm flipH="1">
              <a:off x="6327" y="2521"/>
              <a:ext cx="354" cy="60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2" name="Line 110"/>
            <p:cNvSpPr>
              <a:spLocks noChangeShapeType="1"/>
            </p:cNvSpPr>
            <p:nvPr/>
          </p:nvSpPr>
          <p:spPr bwMode="auto">
            <a:xfrm flipH="1">
              <a:off x="6759" y="2618"/>
              <a:ext cx="87" cy="37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3" name="Line 111"/>
            <p:cNvSpPr>
              <a:spLocks noChangeShapeType="1"/>
            </p:cNvSpPr>
            <p:nvPr/>
          </p:nvSpPr>
          <p:spPr bwMode="auto">
            <a:xfrm>
              <a:off x="6246" y="3452"/>
              <a:ext cx="0" cy="268"/>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4" name="Oval 112"/>
            <p:cNvSpPr>
              <a:spLocks noChangeArrowheads="1"/>
            </p:cNvSpPr>
            <p:nvPr/>
          </p:nvSpPr>
          <p:spPr bwMode="auto">
            <a:xfrm>
              <a:off x="7032" y="3692"/>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5" name="Line 113"/>
            <p:cNvSpPr>
              <a:spLocks noChangeShapeType="1"/>
            </p:cNvSpPr>
            <p:nvPr/>
          </p:nvSpPr>
          <p:spPr bwMode="auto">
            <a:xfrm flipH="1">
              <a:off x="7266" y="3334"/>
              <a:ext cx="90" cy="346"/>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6" name="Oval 114"/>
            <p:cNvSpPr>
              <a:spLocks noChangeArrowheads="1"/>
            </p:cNvSpPr>
            <p:nvPr/>
          </p:nvSpPr>
          <p:spPr bwMode="auto">
            <a:xfrm>
              <a:off x="7479" y="3707"/>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7" name="Line 115"/>
            <p:cNvSpPr>
              <a:spLocks noChangeShapeType="1"/>
            </p:cNvSpPr>
            <p:nvPr/>
          </p:nvSpPr>
          <p:spPr bwMode="auto">
            <a:xfrm>
              <a:off x="7551" y="3311"/>
              <a:ext cx="102" cy="38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8" name="Line 116"/>
            <p:cNvSpPr>
              <a:spLocks noChangeShapeType="1"/>
            </p:cNvSpPr>
            <p:nvPr/>
          </p:nvSpPr>
          <p:spPr bwMode="auto">
            <a:xfrm>
              <a:off x="6732" y="3380"/>
              <a:ext cx="0" cy="2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29" name="Text Box 117"/>
            <p:cNvSpPr txBox="1">
              <a:spLocks noChangeArrowheads="1"/>
            </p:cNvSpPr>
            <p:nvPr/>
          </p:nvSpPr>
          <p:spPr bwMode="auto">
            <a:xfrm>
              <a:off x="6123" y="3199"/>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B</a:t>
              </a:r>
              <a:endParaRPr lang="zh-CN" altLang="zh-CN" sz="1600" b="1">
                <a:latin typeface="Arial" panose="020B0604020202020204" pitchFamily="34" charset="0"/>
                <a:ea typeface="宋体" panose="02010600030101010101" pitchFamily="2" charset="-122"/>
              </a:endParaRPr>
            </a:p>
          </p:txBody>
        </p:sp>
        <p:sp>
          <p:nvSpPr>
            <p:cNvPr id="230" name="Text Box 118"/>
            <p:cNvSpPr txBox="1">
              <a:spLocks noChangeArrowheads="1"/>
            </p:cNvSpPr>
            <p:nvPr/>
          </p:nvSpPr>
          <p:spPr bwMode="auto">
            <a:xfrm>
              <a:off x="6642" y="3088"/>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C</a:t>
              </a:r>
              <a:endParaRPr lang="zh-CN" altLang="zh-CN" sz="1600" b="1">
                <a:latin typeface="Arial" panose="020B0604020202020204" pitchFamily="34" charset="0"/>
                <a:ea typeface="宋体" panose="02010600030101010101" pitchFamily="2" charset="-122"/>
              </a:endParaRPr>
            </a:p>
          </p:txBody>
        </p:sp>
        <p:sp>
          <p:nvSpPr>
            <p:cNvPr id="231" name="Text Box 119"/>
            <p:cNvSpPr txBox="1">
              <a:spLocks noChangeArrowheads="1"/>
            </p:cNvSpPr>
            <p:nvPr/>
          </p:nvSpPr>
          <p:spPr bwMode="auto">
            <a:xfrm>
              <a:off x="7347" y="3058"/>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D</a:t>
              </a:r>
              <a:endParaRPr lang="zh-CN" altLang="zh-CN" sz="1600" b="1">
                <a:latin typeface="Arial" panose="020B0604020202020204" pitchFamily="34" charset="0"/>
                <a:ea typeface="宋体" panose="02010600030101010101" pitchFamily="2" charset="-122"/>
              </a:endParaRPr>
            </a:p>
          </p:txBody>
        </p:sp>
        <p:sp>
          <p:nvSpPr>
            <p:cNvPr id="232" name="Text Box 120"/>
            <p:cNvSpPr txBox="1">
              <a:spLocks noChangeArrowheads="1"/>
            </p:cNvSpPr>
            <p:nvPr/>
          </p:nvSpPr>
          <p:spPr bwMode="auto">
            <a:xfrm>
              <a:off x="6177" y="3808"/>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E</a:t>
              </a:r>
              <a:endParaRPr lang="zh-CN" altLang="zh-CN" sz="1600" b="1">
                <a:latin typeface="Arial" panose="020B0604020202020204" pitchFamily="34" charset="0"/>
                <a:ea typeface="宋体" panose="02010600030101010101" pitchFamily="2" charset="-122"/>
              </a:endParaRPr>
            </a:p>
          </p:txBody>
        </p:sp>
        <p:sp>
          <p:nvSpPr>
            <p:cNvPr id="233" name="Text Box 121"/>
            <p:cNvSpPr txBox="1">
              <a:spLocks noChangeArrowheads="1"/>
            </p:cNvSpPr>
            <p:nvPr/>
          </p:nvSpPr>
          <p:spPr bwMode="auto">
            <a:xfrm>
              <a:off x="6642" y="3808"/>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F</a:t>
              </a:r>
              <a:endParaRPr lang="zh-CN" altLang="zh-CN" sz="1600" b="1">
                <a:latin typeface="Arial" panose="020B0604020202020204" pitchFamily="34" charset="0"/>
                <a:ea typeface="宋体" panose="02010600030101010101" pitchFamily="2" charset="-122"/>
              </a:endParaRPr>
            </a:p>
          </p:txBody>
        </p:sp>
        <p:sp>
          <p:nvSpPr>
            <p:cNvPr id="234" name="Text Box 122"/>
            <p:cNvSpPr txBox="1">
              <a:spLocks noChangeArrowheads="1"/>
            </p:cNvSpPr>
            <p:nvPr/>
          </p:nvSpPr>
          <p:spPr bwMode="auto">
            <a:xfrm>
              <a:off x="7137" y="3778"/>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G</a:t>
              </a:r>
              <a:endParaRPr lang="zh-CN" altLang="zh-CN" sz="1600" b="1">
                <a:latin typeface="Arial" panose="020B0604020202020204" pitchFamily="34" charset="0"/>
                <a:ea typeface="宋体" panose="02010600030101010101" pitchFamily="2" charset="-122"/>
              </a:endParaRPr>
            </a:p>
          </p:txBody>
        </p:sp>
        <p:sp>
          <p:nvSpPr>
            <p:cNvPr id="235" name="Text Box 123"/>
            <p:cNvSpPr txBox="1">
              <a:spLocks noChangeArrowheads="1"/>
            </p:cNvSpPr>
            <p:nvPr/>
          </p:nvSpPr>
          <p:spPr bwMode="auto">
            <a:xfrm>
              <a:off x="7572" y="3793"/>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H</a:t>
              </a:r>
              <a:endParaRPr lang="zh-CN" altLang="zh-CN" sz="1600" b="1">
                <a:latin typeface="Arial" panose="020B0604020202020204" pitchFamily="34" charset="0"/>
                <a:ea typeface="宋体" panose="02010600030101010101" pitchFamily="2" charset="-122"/>
              </a:endParaRPr>
            </a:p>
          </p:txBody>
        </p:sp>
        <p:sp>
          <p:nvSpPr>
            <p:cNvPr id="236" name="Line 124"/>
            <p:cNvSpPr>
              <a:spLocks noChangeShapeType="1"/>
            </p:cNvSpPr>
            <p:nvPr/>
          </p:nvSpPr>
          <p:spPr bwMode="auto">
            <a:xfrm>
              <a:off x="7038" y="2516"/>
              <a:ext cx="267" cy="47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37" name="Line 125"/>
            <p:cNvSpPr>
              <a:spLocks noChangeShapeType="1"/>
            </p:cNvSpPr>
            <p:nvPr/>
          </p:nvSpPr>
          <p:spPr bwMode="auto">
            <a:xfrm flipH="1">
              <a:off x="6357" y="3320"/>
              <a:ext cx="270" cy="42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grpSp>
      <p:grpSp>
        <p:nvGrpSpPr>
          <p:cNvPr id="238" name="Group 126"/>
          <p:cNvGrpSpPr/>
          <p:nvPr/>
        </p:nvGrpSpPr>
        <p:grpSpPr bwMode="auto">
          <a:xfrm>
            <a:off x="5868987" y="2919993"/>
            <a:ext cx="1995860" cy="1980867"/>
            <a:chOff x="8052" y="2255"/>
            <a:chExt cx="1821" cy="1842"/>
          </a:xfrm>
        </p:grpSpPr>
        <p:sp>
          <p:nvSpPr>
            <p:cNvPr id="239" name="Oval 127"/>
            <p:cNvSpPr>
              <a:spLocks noChangeArrowheads="1"/>
            </p:cNvSpPr>
            <p:nvPr/>
          </p:nvSpPr>
          <p:spPr bwMode="auto">
            <a:xfrm>
              <a:off x="8706" y="2255"/>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0" name="Text Box 128"/>
            <p:cNvSpPr txBox="1">
              <a:spLocks noChangeArrowheads="1"/>
            </p:cNvSpPr>
            <p:nvPr/>
          </p:nvSpPr>
          <p:spPr bwMode="auto">
            <a:xfrm>
              <a:off x="8784" y="2357"/>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A</a:t>
              </a:r>
              <a:endParaRPr lang="zh-CN" altLang="zh-CN" sz="1600" b="1">
                <a:latin typeface="Arial" panose="020B0604020202020204" pitchFamily="34" charset="0"/>
                <a:ea typeface="宋体" panose="02010600030101010101" pitchFamily="2" charset="-122"/>
              </a:endParaRPr>
            </a:p>
          </p:txBody>
        </p:sp>
        <p:sp>
          <p:nvSpPr>
            <p:cNvPr id="241" name="Oval 129"/>
            <p:cNvSpPr>
              <a:spLocks noChangeArrowheads="1"/>
            </p:cNvSpPr>
            <p:nvPr/>
          </p:nvSpPr>
          <p:spPr bwMode="auto">
            <a:xfrm>
              <a:off x="8052" y="3104"/>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2" name="Oval 130"/>
            <p:cNvSpPr>
              <a:spLocks noChangeArrowheads="1"/>
            </p:cNvSpPr>
            <p:nvPr/>
          </p:nvSpPr>
          <p:spPr bwMode="auto">
            <a:xfrm>
              <a:off x="8586" y="2999"/>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3" name="Oval 131"/>
            <p:cNvSpPr>
              <a:spLocks noChangeArrowheads="1"/>
            </p:cNvSpPr>
            <p:nvPr/>
          </p:nvSpPr>
          <p:spPr bwMode="auto">
            <a:xfrm>
              <a:off x="9276" y="2969"/>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4" name="Oval 132"/>
            <p:cNvSpPr>
              <a:spLocks noChangeArrowheads="1"/>
            </p:cNvSpPr>
            <p:nvPr/>
          </p:nvSpPr>
          <p:spPr bwMode="auto">
            <a:xfrm>
              <a:off x="8112" y="3728"/>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5" name="Oval 133"/>
            <p:cNvSpPr>
              <a:spLocks noChangeArrowheads="1"/>
            </p:cNvSpPr>
            <p:nvPr/>
          </p:nvSpPr>
          <p:spPr bwMode="auto">
            <a:xfrm>
              <a:off x="8580" y="3704"/>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6" name="Line 134"/>
            <p:cNvSpPr>
              <a:spLocks noChangeShapeType="1"/>
            </p:cNvSpPr>
            <p:nvPr/>
          </p:nvSpPr>
          <p:spPr bwMode="auto">
            <a:xfrm flipH="1">
              <a:off x="8352" y="2527"/>
              <a:ext cx="354" cy="60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7" name="Line 135"/>
            <p:cNvSpPr>
              <a:spLocks noChangeShapeType="1"/>
            </p:cNvSpPr>
            <p:nvPr/>
          </p:nvSpPr>
          <p:spPr bwMode="auto">
            <a:xfrm flipH="1">
              <a:off x="8784" y="2624"/>
              <a:ext cx="87" cy="37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8" name="Line 136"/>
            <p:cNvSpPr>
              <a:spLocks noChangeShapeType="1"/>
            </p:cNvSpPr>
            <p:nvPr/>
          </p:nvSpPr>
          <p:spPr bwMode="auto">
            <a:xfrm>
              <a:off x="8271" y="3458"/>
              <a:ext cx="0" cy="268"/>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49" name="Oval 137"/>
            <p:cNvSpPr>
              <a:spLocks noChangeArrowheads="1"/>
            </p:cNvSpPr>
            <p:nvPr/>
          </p:nvSpPr>
          <p:spPr bwMode="auto">
            <a:xfrm>
              <a:off x="9057" y="3698"/>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50" name="Line 138"/>
            <p:cNvSpPr>
              <a:spLocks noChangeShapeType="1"/>
            </p:cNvSpPr>
            <p:nvPr/>
          </p:nvSpPr>
          <p:spPr bwMode="auto">
            <a:xfrm flipH="1">
              <a:off x="9291" y="3340"/>
              <a:ext cx="90" cy="346"/>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51" name="Oval 139"/>
            <p:cNvSpPr>
              <a:spLocks noChangeArrowheads="1"/>
            </p:cNvSpPr>
            <p:nvPr/>
          </p:nvSpPr>
          <p:spPr bwMode="auto">
            <a:xfrm>
              <a:off x="9504" y="3713"/>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52" name="Line 140"/>
            <p:cNvSpPr>
              <a:spLocks noChangeShapeType="1"/>
            </p:cNvSpPr>
            <p:nvPr/>
          </p:nvSpPr>
          <p:spPr bwMode="auto">
            <a:xfrm>
              <a:off x="9576" y="3317"/>
              <a:ext cx="102" cy="38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53" name="Line 141"/>
            <p:cNvSpPr>
              <a:spLocks noChangeShapeType="1"/>
            </p:cNvSpPr>
            <p:nvPr/>
          </p:nvSpPr>
          <p:spPr bwMode="auto">
            <a:xfrm>
              <a:off x="8757" y="3386"/>
              <a:ext cx="0" cy="2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54" name="Text Box 142"/>
            <p:cNvSpPr txBox="1">
              <a:spLocks noChangeArrowheads="1"/>
            </p:cNvSpPr>
            <p:nvPr/>
          </p:nvSpPr>
          <p:spPr bwMode="auto">
            <a:xfrm>
              <a:off x="8148" y="3205"/>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B</a:t>
              </a:r>
              <a:endParaRPr lang="zh-CN" altLang="zh-CN" sz="1600" b="1">
                <a:latin typeface="Arial" panose="020B0604020202020204" pitchFamily="34" charset="0"/>
                <a:ea typeface="宋体" panose="02010600030101010101" pitchFamily="2" charset="-122"/>
              </a:endParaRPr>
            </a:p>
          </p:txBody>
        </p:sp>
        <p:sp>
          <p:nvSpPr>
            <p:cNvPr id="255" name="Text Box 143"/>
            <p:cNvSpPr txBox="1">
              <a:spLocks noChangeArrowheads="1"/>
            </p:cNvSpPr>
            <p:nvPr/>
          </p:nvSpPr>
          <p:spPr bwMode="auto">
            <a:xfrm>
              <a:off x="8667" y="3094"/>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C</a:t>
              </a:r>
              <a:endParaRPr lang="zh-CN" altLang="zh-CN" sz="1600" b="1">
                <a:latin typeface="Arial" panose="020B0604020202020204" pitchFamily="34" charset="0"/>
                <a:ea typeface="宋体" panose="02010600030101010101" pitchFamily="2" charset="-122"/>
              </a:endParaRPr>
            </a:p>
          </p:txBody>
        </p:sp>
        <p:sp>
          <p:nvSpPr>
            <p:cNvPr id="256" name="Text Box 144"/>
            <p:cNvSpPr txBox="1">
              <a:spLocks noChangeArrowheads="1"/>
            </p:cNvSpPr>
            <p:nvPr/>
          </p:nvSpPr>
          <p:spPr bwMode="auto">
            <a:xfrm>
              <a:off x="9372" y="3064"/>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D</a:t>
              </a:r>
              <a:endParaRPr lang="zh-CN" altLang="zh-CN" sz="1600" b="1">
                <a:latin typeface="Arial" panose="020B0604020202020204" pitchFamily="34" charset="0"/>
                <a:ea typeface="宋体" panose="02010600030101010101" pitchFamily="2" charset="-122"/>
              </a:endParaRPr>
            </a:p>
          </p:txBody>
        </p:sp>
        <p:sp>
          <p:nvSpPr>
            <p:cNvPr id="257" name="Text Box 145"/>
            <p:cNvSpPr txBox="1">
              <a:spLocks noChangeArrowheads="1"/>
            </p:cNvSpPr>
            <p:nvPr/>
          </p:nvSpPr>
          <p:spPr bwMode="auto">
            <a:xfrm>
              <a:off x="8202" y="3814"/>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E</a:t>
              </a:r>
              <a:endParaRPr lang="zh-CN" altLang="zh-CN" sz="1600" b="1">
                <a:latin typeface="Arial" panose="020B0604020202020204" pitchFamily="34" charset="0"/>
                <a:ea typeface="宋体" panose="02010600030101010101" pitchFamily="2" charset="-122"/>
              </a:endParaRPr>
            </a:p>
          </p:txBody>
        </p:sp>
        <p:sp>
          <p:nvSpPr>
            <p:cNvPr id="258" name="Text Box 146"/>
            <p:cNvSpPr txBox="1">
              <a:spLocks noChangeArrowheads="1"/>
            </p:cNvSpPr>
            <p:nvPr/>
          </p:nvSpPr>
          <p:spPr bwMode="auto">
            <a:xfrm>
              <a:off x="8667" y="3814"/>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F</a:t>
              </a:r>
              <a:endParaRPr lang="zh-CN" altLang="zh-CN" sz="1600" b="1">
                <a:latin typeface="Arial" panose="020B0604020202020204" pitchFamily="34" charset="0"/>
                <a:ea typeface="宋体" panose="02010600030101010101" pitchFamily="2" charset="-122"/>
              </a:endParaRPr>
            </a:p>
          </p:txBody>
        </p:sp>
        <p:sp>
          <p:nvSpPr>
            <p:cNvPr id="259" name="Text Box 147"/>
            <p:cNvSpPr txBox="1">
              <a:spLocks noChangeArrowheads="1"/>
            </p:cNvSpPr>
            <p:nvPr/>
          </p:nvSpPr>
          <p:spPr bwMode="auto">
            <a:xfrm>
              <a:off x="9162" y="3784"/>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G</a:t>
              </a:r>
              <a:endParaRPr lang="zh-CN" altLang="zh-CN" sz="1600" b="1">
                <a:latin typeface="Arial" panose="020B0604020202020204" pitchFamily="34" charset="0"/>
                <a:ea typeface="宋体" panose="02010600030101010101" pitchFamily="2" charset="-122"/>
              </a:endParaRPr>
            </a:p>
          </p:txBody>
        </p:sp>
        <p:sp>
          <p:nvSpPr>
            <p:cNvPr id="260" name="Text Box 148"/>
            <p:cNvSpPr txBox="1">
              <a:spLocks noChangeArrowheads="1"/>
            </p:cNvSpPr>
            <p:nvPr/>
          </p:nvSpPr>
          <p:spPr bwMode="auto">
            <a:xfrm>
              <a:off x="9597" y="3799"/>
              <a:ext cx="204" cy="170"/>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80000"/>
                </a:lnSpc>
                <a:spcBef>
                  <a:spcPct val="0"/>
                </a:spcBef>
                <a:spcAft>
                  <a:spcPct val="0"/>
                </a:spcAft>
              </a:pPr>
              <a:r>
                <a:rPr lang="en-US" altLang="zh-CN" sz="1600" b="1">
                  <a:latin typeface="Calibri" panose="020F0502020204030204" pitchFamily="34" charset="0"/>
                  <a:ea typeface="宋体" panose="02010600030101010101" pitchFamily="2" charset="-122"/>
                </a:rPr>
                <a:t>H</a:t>
              </a:r>
              <a:endParaRPr lang="zh-CN" altLang="zh-CN" sz="1600" b="1">
                <a:latin typeface="Arial" panose="020B0604020202020204" pitchFamily="34" charset="0"/>
                <a:ea typeface="宋体" panose="02010600030101010101" pitchFamily="2" charset="-122"/>
              </a:endParaRPr>
            </a:p>
          </p:txBody>
        </p:sp>
        <p:sp>
          <p:nvSpPr>
            <p:cNvPr id="261" name="Line 149"/>
            <p:cNvSpPr>
              <a:spLocks noChangeShapeType="1"/>
            </p:cNvSpPr>
            <p:nvPr/>
          </p:nvSpPr>
          <p:spPr bwMode="auto">
            <a:xfrm>
              <a:off x="9063" y="2522"/>
              <a:ext cx="267" cy="47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sp>
          <p:nvSpPr>
            <p:cNvPr id="262" name="Line 150"/>
            <p:cNvSpPr>
              <a:spLocks noChangeShapeType="1"/>
            </p:cNvSpPr>
            <p:nvPr/>
          </p:nvSpPr>
          <p:spPr bwMode="auto">
            <a:xfrm>
              <a:off x="8988" y="2613"/>
              <a:ext cx="174" cy="109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600" b="1"/>
            </a:p>
          </p:txBody>
        </p:sp>
      </p:grpSp>
      <p:sp>
        <p:nvSpPr>
          <p:cNvPr id="263" name="矩形 262"/>
          <p:cNvSpPr/>
          <p:nvPr/>
        </p:nvSpPr>
        <p:spPr>
          <a:xfrm>
            <a:off x="2421536" y="3607431"/>
            <a:ext cx="397866" cy="646331"/>
          </a:xfrm>
          <a:prstGeom prst="rect">
            <a:avLst/>
          </a:prstGeom>
          <a:noFill/>
        </p:spPr>
        <p:txBody>
          <a:bodyPr wrap="none" lIns="91440" tIns="45720" rIns="91440" bIns="45720">
            <a:spAutoFit/>
          </a:bodyPr>
          <a:lstStyle/>
          <a:p>
            <a:pPr algn="ctr"/>
            <a:r>
              <a:rPr lang="en-US" altLang="zh-CN"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rPr>
              <a:t>?</a:t>
            </a:r>
            <a:endParaRPr lang="zh-CN" altLang="en-US"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endParaRPr>
          </a:p>
        </p:txBody>
      </p:sp>
      <p:sp>
        <p:nvSpPr>
          <p:cNvPr id="264" name="矩形 263"/>
          <p:cNvSpPr/>
          <p:nvPr/>
        </p:nvSpPr>
        <p:spPr>
          <a:xfrm>
            <a:off x="3818781" y="4005517"/>
            <a:ext cx="397866" cy="646331"/>
          </a:xfrm>
          <a:prstGeom prst="rect">
            <a:avLst/>
          </a:prstGeom>
          <a:noFill/>
        </p:spPr>
        <p:txBody>
          <a:bodyPr wrap="none" lIns="91440" tIns="45720" rIns="91440" bIns="45720">
            <a:spAutoFit/>
          </a:bodyPr>
          <a:lstStyle/>
          <a:p>
            <a:pPr algn="ctr"/>
            <a:r>
              <a:rPr lang="en-US" altLang="zh-CN"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rPr>
              <a:t>?</a:t>
            </a:r>
            <a:endParaRPr lang="zh-CN" altLang="en-US"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endParaRPr>
          </a:p>
        </p:txBody>
      </p:sp>
      <p:sp>
        <p:nvSpPr>
          <p:cNvPr id="265" name="矩形 264"/>
          <p:cNvSpPr/>
          <p:nvPr/>
        </p:nvSpPr>
        <p:spPr>
          <a:xfrm>
            <a:off x="4102091" y="3964261"/>
            <a:ext cx="397866" cy="646331"/>
          </a:xfrm>
          <a:prstGeom prst="rect">
            <a:avLst/>
          </a:prstGeom>
          <a:noFill/>
        </p:spPr>
        <p:txBody>
          <a:bodyPr wrap="none" lIns="91440" tIns="45720" rIns="91440" bIns="45720">
            <a:spAutoFit/>
          </a:bodyPr>
          <a:lstStyle/>
          <a:p>
            <a:pPr algn="ctr"/>
            <a:r>
              <a:rPr lang="en-US" altLang="zh-CN"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rPr>
              <a:t>?</a:t>
            </a:r>
            <a:endParaRPr lang="zh-CN" altLang="en-US"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endParaRPr>
          </a:p>
        </p:txBody>
      </p:sp>
      <p:sp>
        <p:nvSpPr>
          <p:cNvPr id="266" name="矩形 265"/>
          <p:cNvSpPr/>
          <p:nvPr/>
        </p:nvSpPr>
        <p:spPr>
          <a:xfrm>
            <a:off x="6978913" y="3102055"/>
            <a:ext cx="397866" cy="646331"/>
          </a:xfrm>
          <a:prstGeom prst="rect">
            <a:avLst/>
          </a:prstGeom>
          <a:noFill/>
        </p:spPr>
        <p:txBody>
          <a:bodyPr wrap="none" lIns="91440" tIns="45720" rIns="91440" bIns="45720">
            <a:spAutoFit/>
          </a:bodyPr>
          <a:lstStyle/>
          <a:p>
            <a:pPr algn="ctr"/>
            <a:r>
              <a:rPr lang="en-US" altLang="zh-CN"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rPr>
              <a:t>?</a:t>
            </a:r>
            <a:endParaRPr lang="zh-CN" altLang="en-US"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endParaRPr>
          </a:p>
        </p:txBody>
      </p:sp>
      <p:sp>
        <p:nvSpPr>
          <p:cNvPr id="267" name="矩形 266"/>
          <p:cNvSpPr/>
          <p:nvPr/>
        </p:nvSpPr>
        <p:spPr>
          <a:xfrm>
            <a:off x="7064198" y="3942085"/>
            <a:ext cx="397866" cy="646331"/>
          </a:xfrm>
          <a:prstGeom prst="rect">
            <a:avLst/>
          </a:prstGeom>
          <a:noFill/>
        </p:spPr>
        <p:txBody>
          <a:bodyPr wrap="none" lIns="91440" tIns="45720" rIns="91440" bIns="45720">
            <a:spAutoFit/>
          </a:bodyPr>
          <a:lstStyle/>
          <a:p>
            <a:pPr algn="ctr"/>
            <a:r>
              <a:rPr lang="en-US" altLang="zh-CN"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rPr>
              <a:t>?</a:t>
            </a:r>
            <a:endParaRPr lang="zh-CN" altLang="en-US" sz="3600" b="1" dirty="0">
              <a:ln w="17780" cmpd="sng">
                <a:solidFill>
                  <a:srgbClr val="FFFFFF"/>
                </a:solidFill>
                <a:prstDash val="solid"/>
                <a:miter lim="800000"/>
              </a:ln>
              <a:solidFill>
                <a:srgbClr val="0000FF"/>
              </a:solidFill>
              <a:effectLst>
                <a:outerShdw blurRad="38100" dist="38100" dir="2700000" algn="tl">
                  <a:srgbClr val="000000">
                    <a:alpha val="43137"/>
                  </a:srgbClr>
                </a:outerShdw>
              </a:effectLs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up)">
                                      <p:cBhvr>
                                        <p:cTn id="7" dur="500"/>
                                        <p:tgtEl>
                                          <p:spTgt spid="11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up)">
                                      <p:cBhvr>
                                        <p:cTn id="11" dur="500"/>
                                        <p:tgtEl>
                                          <p:spTgt spid="11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151"/>
                                        </p:tgtEl>
                                        <p:attrNameLst>
                                          <p:attrName>style.visibility</p:attrName>
                                        </p:attrNameLst>
                                      </p:cBhvr>
                                      <p:to>
                                        <p:strVal val="visible"/>
                                      </p:to>
                                    </p:set>
                                    <p:animEffect transition="in" filter="wipe(up)">
                                      <p:cBhvr>
                                        <p:cTn id="16" dur="500"/>
                                        <p:tgtEl>
                                          <p:spTgt spid="151"/>
                                        </p:tgtEl>
                                      </p:cBhvr>
                                    </p:animEffect>
                                  </p:childTnLst>
                                </p:cTn>
                              </p:par>
                              <p:par>
                                <p:cTn id="17" presetID="22" presetClass="entr" presetSubtype="1" fill="hold" nodeType="withEffect">
                                  <p:stCondLst>
                                    <p:cond delay="0"/>
                                  </p:stCondLst>
                                  <p:childTnLst>
                                    <p:set>
                                      <p:cBhvr>
                                        <p:cTn id="18" dur="1" fill="hold">
                                          <p:stCondLst>
                                            <p:cond delay="0"/>
                                          </p:stCondLst>
                                        </p:cTn>
                                        <p:tgtEl>
                                          <p:spTgt spid="157"/>
                                        </p:tgtEl>
                                        <p:attrNameLst>
                                          <p:attrName>style.visibility</p:attrName>
                                        </p:attrNameLst>
                                      </p:cBhvr>
                                      <p:to>
                                        <p:strVal val="visible"/>
                                      </p:to>
                                    </p:set>
                                    <p:animEffect transition="in" filter="wipe(up)">
                                      <p:cBhvr>
                                        <p:cTn id="19" dur="500"/>
                                        <p:tgtEl>
                                          <p:spTgt spid="157"/>
                                        </p:tgtEl>
                                      </p:cBhvr>
                                    </p:animEffect>
                                  </p:childTnLst>
                                </p:cTn>
                              </p:par>
                              <p:par>
                                <p:cTn id="20" presetID="22" presetClass="entr" presetSubtype="1" fill="hold" nodeType="withEffect">
                                  <p:stCondLst>
                                    <p:cond delay="0"/>
                                  </p:stCondLst>
                                  <p:childTnLst>
                                    <p:set>
                                      <p:cBhvr>
                                        <p:cTn id="21" dur="1" fill="hold">
                                          <p:stCondLst>
                                            <p:cond delay="0"/>
                                          </p:stCondLst>
                                        </p:cTn>
                                        <p:tgtEl>
                                          <p:spTgt spid="169"/>
                                        </p:tgtEl>
                                        <p:attrNameLst>
                                          <p:attrName>style.visibility</p:attrName>
                                        </p:attrNameLst>
                                      </p:cBhvr>
                                      <p:to>
                                        <p:strVal val="visible"/>
                                      </p:to>
                                    </p:set>
                                    <p:animEffect transition="in" filter="wipe(up)">
                                      <p:cBhvr>
                                        <p:cTn id="22" dur="500"/>
                                        <p:tgtEl>
                                          <p:spTgt spid="169"/>
                                        </p:tgtEl>
                                      </p:cBhvr>
                                    </p:animEffect>
                                  </p:childTnLst>
                                </p:cTn>
                              </p:par>
                              <p:par>
                                <p:cTn id="23" presetID="22" presetClass="entr" presetSubtype="1" fill="hold" nodeType="withEffect">
                                  <p:stCondLst>
                                    <p:cond delay="0"/>
                                  </p:stCondLst>
                                  <p:childTnLst>
                                    <p:set>
                                      <p:cBhvr>
                                        <p:cTn id="24" dur="1" fill="hold">
                                          <p:stCondLst>
                                            <p:cond delay="0"/>
                                          </p:stCondLst>
                                        </p:cTn>
                                        <p:tgtEl>
                                          <p:spTgt spid="184"/>
                                        </p:tgtEl>
                                        <p:attrNameLst>
                                          <p:attrName>style.visibility</p:attrName>
                                        </p:attrNameLst>
                                      </p:cBhvr>
                                      <p:to>
                                        <p:strVal val="visible"/>
                                      </p:to>
                                    </p:set>
                                    <p:animEffect transition="in" filter="wipe(up)">
                                      <p:cBhvr>
                                        <p:cTn id="25" dur="500"/>
                                        <p:tgtEl>
                                          <p:spTgt spid="18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88"/>
                                        </p:tgtEl>
                                        <p:attrNameLst>
                                          <p:attrName>style.visibility</p:attrName>
                                        </p:attrNameLst>
                                      </p:cBhvr>
                                      <p:to>
                                        <p:strVal val="visible"/>
                                      </p:to>
                                    </p:set>
                                    <p:animEffect transition="in" filter="wipe(up)">
                                      <p:cBhvr>
                                        <p:cTn id="30" dur="500"/>
                                        <p:tgtEl>
                                          <p:spTgt spid="188"/>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nodeType="clickEffect">
                                  <p:stCondLst>
                                    <p:cond delay="0"/>
                                  </p:stCondLst>
                                  <p:childTnLst>
                                    <p:set>
                                      <p:cBhvr>
                                        <p:cTn id="38" dur="1" fill="hold">
                                          <p:stCondLst>
                                            <p:cond delay="0"/>
                                          </p:stCondLst>
                                        </p:cTn>
                                        <p:tgtEl>
                                          <p:spTgt spid="213"/>
                                        </p:tgtEl>
                                        <p:attrNameLst>
                                          <p:attrName>style.visibility</p:attrName>
                                        </p:attrNameLst>
                                      </p:cBhvr>
                                      <p:to>
                                        <p:strVal val="visible"/>
                                      </p:to>
                                    </p:set>
                                    <p:animEffect transition="in" filter="box(in)">
                                      <p:cBhvr>
                                        <p:cTn id="39" dur="500"/>
                                        <p:tgtEl>
                                          <p:spTgt spid="2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6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4" presetClass="entr" presetSubtype="16" fill="hold" nodeType="clickEffect">
                                  <p:stCondLst>
                                    <p:cond delay="0"/>
                                  </p:stCondLst>
                                  <p:childTnLst>
                                    <p:set>
                                      <p:cBhvr>
                                        <p:cTn id="51" dur="1" fill="hold">
                                          <p:stCondLst>
                                            <p:cond delay="0"/>
                                          </p:stCondLst>
                                        </p:cTn>
                                        <p:tgtEl>
                                          <p:spTgt spid="238"/>
                                        </p:tgtEl>
                                        <p:attrNameLst>
                                          <p:attrName>style.visibility</p:attrName>
                                        </p:attrNameLst>
                                      </p:cBhvr>
                                      <p:to>
                                        <p:strVal val="visible"/>
                                      </p:to>
                                    </p:set>
                                    <p:animEffect transition="in" filter="box(in)">
                                      <p:cBhvr>
                                        <p:cTn id="52" dur="500"/>
                                        <p:tgtEl>
                                          <p:spTgt spid="238"/>
                                        </p:tgtEl>
                                      </p:cBhvr>
                                    </p:animEffec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6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p:bldP spid="263" grpId="0"/>
      <p:bldP spid="264" grpId="0"/>
      <p:bldP spid="265" grpId="0"/>
      <p:bldP spid="266" grpId="0"/>
      <p:bldP spid="26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结点的度</a:t>
            </a:r>
            <a:r>
              <a:rPr lang="zh-CN" altLang="en-US" sz="1800" dirty="0"/>
              <a:t>：一个结点的子树个数</a:t>
            </a:r>
            <a:endParaRPr lang="en-US" altLang="zh-CN" sz="1800" dirty="0"/>
          </a:p>
          <a:p>
            <a:pPr marL="182880" lvl="2" indent="-182880" eaLnBrk="0" fontAlgn="base" hangingPunct="0">
              <a:lnSpc>
                <a:spcPts val="3000"/>
              </a:lnSpc>
              <a:spcBef>
                <a:spcPts val="600"/>
              </a:spcBef>
              <a:spcAft>
                <a:spcPct val="0"/>
              </a:spcAft>
            </a:pPr>
            <a:r>
              <a:rPr lang="en-US" altLang="zh-CN" sz="1800" dirty="0"/>
              <a:t>                    </a:t>
            </a:r>
            <a:r>
              <a:rPr lang="zh-CN" altLang="en-US" sz="1800" dirty="0"/>
              <a:t>称为此结点的度。 </a:t>
            </a:r>
            <a:endParaRPr lang="zh-CN" altLang="en-US" sz="1800" dirty="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树的度</a:t>
            </a:r>
            <a:r>
              <a:rPr lang="zh-CN" altLang="en-US" sz="1800" dirty="0"/>
              <a:t>：树中所有结点的度的最大值。</a:t>
            </a:r>
            <a:endParaRPr lang="zh-CN" altLang="en-US" sz="1800" dirty="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叶子结点（终端结点）</a:t>
            </a:r>
            <a:r>
              <a:rPr lang="zh-CN" altLang="en-US" sz="1800" dirty="0"/>
              <a:t>：度为</a:t>
            </a:r>
            <a:r>
              <a:rPr lang="en-US" altLang="zh-CN" sz="1800" dirty="0"/>
              <a:t>0</a:t>
            </a:r>
            <a:r>
              <a:rPr lang="zh-CN" altLang="en-US" sz="1800" dirty="0"/>
              <a:t>的结点。</a:t>
            </a:r>
            <a:endParaRPr lang="en-US" altLang="zh-CN" sz="1800" dirty="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分支结点（非终端结点）</a:t>
            </a:r>
            <a:r>
              <a:rPr lang="zh-CN" altLang="en-US" sz="1800" dirty="0"/>
              <a:t>：度不为</a:t>
            </a:r>
            <a:r>
              <a:rPr lang="en-US" altLang="zh-CN" sz="1800" dirty="0"/>
              <a:t>0</a:t>
            </a:r>
            <a:r>
              <a:rPr lang="zh-CN" altLang="en-US" sz="1800" dirty="0"/>
              <a:t>的结点。 </a:t>
            </a:r>
            <a:endParaRPr lang="en-US" altLang="zh-CN" sz="1800" dirty="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孩子结点</a:t>
            </a:r>
            <a:r>
              <a:rPr lang="zh-CN" altLang="en-US" sz="1800" dirty="0"/>
              <a:t>：结点的直接后继称为该结点的孩子结点。</a:t>
            </a:r>
            <a:endParaRPr lang="en-US" altLang="zh-CN" sz="1800" dirty="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双亲结点</a:t>
            </a:r>
            <a:r>
              <a:rPr lang="zh-CN" altLang="en-US" sz="1800" dirty="0"/>
              <a:t>：结点的直接前驱称为该结点的双亲结点。</a:t>
            </a:r>
            <a:endParaRPr lang="en-US" altLang="zh-CN" sz="1800" dirty="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兄弟结点</a:t>
            </a:r>
            <a:r>
              <a:rPr lang="zh-CN" altLang="en-US" sz="1800" dirty="0"/>
              <a:t>：同一双亲结点的孩子结点互称兄弟结点</a:t>
            </a:r>
            <a:r>
              <a:rPr lang="zh-CN" altLang="en-US" sz="1800" dirty="0" smtClean="0"/>
              <a:t>。</a:t>
            </a:r>
            <a:endParaRPr lang="en-US" altLang="zh-CN" sz="1800" dirty="0" smtClean="0"/>
          </a:p>
          <a:p>
            <a:pPr marL="182880" lvl="2" indent="-182880" eaLnBrk="0" fontAlgn="base" hangingPunct="0">
              <a:lnSpc>
                <a:spcPts val="3000"/>
              </a:lnSpc>
              <a:spcBef>
                <a:spcPts val="600"/>
              </a:spcBef>
              <a:spcAft>
                <a:spcPct val="0"/>
              </a:spcAft>
              <a:buFont typeface="Wingdings" panose="05000000000000000000" pitchFamily="2" charset="2"/>
              <a:buChar char="Ø"/>
            </a:pPr>
            <a:r>
              <a:rPr lang="zh-CN" altLang="en-US" sz="1800" dirty="0">
                <a:solidFill>
                  <a:srgbClr val="FF0000"/>
                </a:solidFill>
              </a:rPr>
              <a:t>堂兄弟结点</a:t>
            </a:r>
            <a:r>
              <a:rPr lang="zh-CN" altLang="en-US" sz="1800" dirty="0" smtClean="0"/>
              <a:t>：双亲在同一层的结点互称堂兄弟。</a:t>
            </a:r>
            <a:endParaRPr lang="zh-CN" altLang="en-US" sz="1800" dirty="0"/>
          </a:p>
        </p:txBody>
      </p:sp>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pic>
        <p:nvPicPr>
          <p:cNvPr id="4" name="图片 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5562601" y="171219"/>
            <a:ext cx="2646686" cy="1860192"/>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135255" lvl="2" indent="-135255">
              <a:buFont typeface="Wingdings" panose="05000000000000000000" pitchFamily="2" charset="2"/>
              <a:buChar char="Ø"/>
            </a:pPr>
            <a:r>
              <a:rPr lang="zh-CN" altLang="en-US" sz="1800" dirty="0">
                <a:solidFill>
                  <a:srgbClr val="FF0000"/>
                </a:solidFill>
              </a:rPr>
              <a:t>祖先结点</a:t>
            </a:r>
            <a:r>
              <a:rPr lang="zh-CN" altLang="en-US" sz="1800" dirty="0"/>
              <a:t>：从根结点到该结点的</a:t>
            </a:r>
            <a:endParaRPr lang="en-US" altLang="zh-CN" sz="1800" dirty="0"/>
          </a:p>
          <a:p>
            <a:pPr marL="135255" lvl="2" indent="-135255" eaLnBrk="0" fontAlgn="base" hangingPunct="0">
              <a:lnSpc>
                <a:spcPts val="3000"/>
              </a:lnSpc>
            </a:pPr>
            <a:r>
              <a:rPr lang="en-US" altLang="zh-CN" sz="1800" dirty="0"/>
              <a:t>                       </a:t>
            </a:r>
            <a:r>
              <a:rPr lang="zh-CN" altLang="en-US" sz="1800" dirty="0"/>
              <a:t>路径上的所有结点。</a:t>
            </a:r>
            <a:endParaRPr lang="en-US" altLang="zh-CN" sz="1800" dirty="0"/>
          </a:p>
          <a:p>
            <a:pPr marL="135255" lvl="2" indent="-135255" eaLnBrk="0" fontAlgn="base" hangingPunct="0">
              <a:lnSpc>
                <a:spcPts val="3000"/>
              </a:lnSpc>
              <a:buFont typeface="Wingdings" panose="05000000000000000000" pitchFamily="2" charset="2"/>
              <a:buChar char="Ø"/>
            </a:pPr>
            <a:r>
              <a:rPr lang="zh-CN" altLang="en-US" sz="1800" dirty="0">
                <a:solidFill>
                  <a:srgbClr val="FF0000"/>
                </a:solidFill>
              </a:rPr>
              <a:t>子孙结点</a:t>
            </a:r>
            <a:r>
              <a:rPr lang="zh-CN" altLang="en-US" sz="1800" dirty="0"/>
              <a:t>：以某结点为根的子树中</a:t>
            </a:r>
            <a:endParaRPr lang="en-US" altLang="zh-CN" sz="1800" dirty="0"/>
          </a:p>
          <a:p>
            <a:pPr marL="135255" lvl="2" indent="-135255" eaLnBrk="0" fontAlgn="base" hangingPunct="0">
              <a:lnSpc>
                <a:spcPts val="3000"/>
              </a:lnSpc>
            </a:pPr>
            <a:r>
              <a:rPr lang="en-US" altLang="zh-CN" sz="1800" dirty="0"/>
              <a:t>                       </a:t>
            </a:r>
            <a:r>
              <a:rPr lang="zh-CN" altLang="en-US" sz="1800" dirty="0"/>
              <a:t>任一结点称为该结点的子孙。</a:t>
            </a:r>
            <a:endParaRPr lang="en-US" altLang="zh-CN" sz="1800" dirty="0"/>
          </a:p>
          <a:p>
            <a:pPr marL="135255" lvl="2" indent="-135255" eaLnBrk="0" fontAlgn="base" hangingPunct="0">
              <a:lnSpc>
                <a:spcPts val="3000"/>
              </a:lnSpc>
              <a:buFont typeface="Wingdings" panose="05000000000000000000" pitchFamily="2" charset="2"/>
              <a:buChar char="Ø"/>
            </a:pPr>
            <a:r>
              <a:rPr lang="zh-CN" altLang="en-US" sz="1800" dirty="0">
                <a:solidFill>
                  <a:srgbClr val="FF0000"/>
                </a:solidFill>
              </a:rPr>
              <a:t>结点的层次</a:t>
            </a:r>
            <a:r>
              <a:rPr lang="zh-CN" altLang="en-US" sz="1800" dirty="0"/>
              <a:t>：根结点的层次为</a:t>
            </a:r>
            <a:r>
              <a:rPr lang="en-US" altLang="zh-CN" sz="1800" dirty="0"/>
              <a:t>1</a:t>
            </a:r>
            <a:r>
              <a:rPr lang="zh-CN" altLang="en-US" sz="1800" dirty="0"/>
              <a:t>，根的直接后继层次为</a:t>
            </a:r>
            <a:r>
              <a:rPr lang="en-US" altLang="zh-CN" sz="1800" dirty="0"/>
              <a:t>2</a:t>
            </a:r>
            <a:r>
              <a:rPr lang="zh-CN" altLang="en-US" sz="1800" dirty="0"/>
              <a:t>，依此类推。 </a:t>
            </a:r>
            <a:endParaRPr lang="en-US" altLang="zh-CN" sz="1800" dirty="0"/>
          </a:p>
          <a:p>
            <a:pPr marL="135255" lvl="2" indent="-135255" eaLnBrk="0" fontAlgn="base" hangingPunct="0">
              <a:lnSpc>
                <a:spcPts val="3000"/>
              </a:lnSpc>
              <a:buFont typeface="Wingdings" panose="05000000000000000000" pitchFamily="2" charset="2"/>
              <a:buChar char="Ø"/>
            </a:pPr>
            <a:r>
              <a:rPr lang="zh-CN" altLang="en-US" sz="1800" dirty="0">
                <a:solidFill>
                  <a:srgbClr val="FF0000"/>
                </a:solidFill>
              </a:rPr>
              <a:t>树的高度（深度）</a:t>
            </a:r>
            <a:r>
              <a:rPr lang="zh-CN" altLang="en-US" sz="1800" dirty="0"/>
              <a:t>： 树中所有结点层次的最大值。</a:t>
            </a:r>
            <a:endParaRPr lang="en-US" altLang="zh-CN" sz="1800" dirty="0"/>
          </a:p>
          <a:p>
            <a:pPr marL="135255" lvl="2" indent="-135255" eaLnBrk="0" fontAlgn="base" hangingPunct="0">
              <a:lnSpc>
                <a:spcPts val="3000"/>
              </a:lnSpc>
              <a:buFont typeface="Wingdings" panose="05000000000000000000" pitchFamily="2" charset="2"/>
              <a:buChar char="Ø"/>
            </a:pPr>
            <a:r>
              <a:rPr lang="zh-CN" altLang="en-US" sz="1800" dirty="0">
                <a:solidFill>
                  <a:srgbClr val="FF0000"/>
                </a:solidFill>
              </a:rPr>
              <a:t>有序树</a:t>
            </a:r>
            <a:r>
              <a:rPr lang="zh-CN" altLang="en-US" sz="1800" dirty="0"/>
              <a:t>：如果各子树之间有先后次序，则称为有序树。否则称为无序树 。</a:t>
            </a:r>
            <a:endParaRPr lang="en-US" altLang="zh-CN" sz="1800" dirty="0"/>
          </a:p>
          <a:p>
            <a:pPr marL="135255" lvl="2" indent="-135255" eaLnBrk="0" fontAlgn="base" hangingPunct="0">
              <a:lnSpc>
                <a:spcPts val="3000"/>
              </a:lnSpc>
              <a:buFont typeface="Wingdings" panose="05000000000000000000" pitchFamily="2" charset="2"/>
              <a:buChar char="Ø"/>
            </a:pPr>
            <a:r>
              <a:rPr lang="zh-CN" altLang="en-US" sz="1800" dirty="0">
                <a:solidFill>
                  <a:srgbClr val="FF0000"/>
                </a:solidFill>
              </a:rPr>
              <a:t>森林</a:t>
            </a:r>
            <a:r>
              <a:rPr lang="zh-CN" altLang="en-US" sz="1800" dirty="0"/>
              <a:t>：</a:t>
            </a:r>
            <a:r>
              <a:rPr lang="en-US" altLang="zh-CN" sz="1800" dirty="0"/>
              <a:t>m</a:t>
            </a:r>
            <a:r>
              <a:rPr lang="zh-CN" altLang="en-US" sz="1800" dirty="0"/>
              <a:t>（</a:t>
            </a:r>
            <a:r>
              <a:rPr lang="en-US" altLang="zh-CN" sz="1800" dirty="0"/>
              <a:t>m≥0</a:t>
            </a:r>
            <a:r>
              <a:rPr lang="zh-CN" altLang="en-US" sz="1800" dirty="0"/>
              <a:t>）棵互不相交的树的集合。</a:t>
            </a:r>
            <a:endParaRPr lang="zh-CN" altLang="en-US" sz="1800" dirty="0"/>
          </a:p>
        </p:txBody>
      </p:sp>
      <p:sp>
        <p:nvSpPr>
          <p:cNvPr id="3" name="标题 2"/>
          <p:cNvSpPr>
            <a:spLocks noGrp="1"/>
          </p:cNvSpPr>
          <p:nvPr>
            <p:ph type="title"/>
          </p:nvPr>
        </p:nvSpPr>
        <p:spPr/>
        <p:txBody>
          <a:bodyPr/>
          <a:lstStyle/>
          <a:p>
            <a:r>
              <a:rPr lang="en-US" altLang="zh-CN" dirty="0"/>
              <a:t>6.1 </a:t>
            </a:r>
            <a:r>
              <a:rPr lang="zh-CN" altLang="en-US" dirty="0"/>
              <a:t>树的定义和基本术语</a:t>
            </a:r>
            <a:endParaRPr lang="zh-CN" altLang="en-US" dirty="0"/>
          </a:p>
        </p:txBody>
      </p:sp>
      <p:pic>
        <p:nvPicPr>
          <p:cNvPr id="4" name="图片 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5706017" y="295866"/>
            <a:ext cx="2441263" cy="1715813"/>
          </a:xfrm>
          <a:prstGeom prst="rect">
            <a:avLst/>
          </a:prstGeom>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定义：</a:t>
            </a:r>
            <a:endParaRPr lang="en-US" altLang="zh-CN" dirty="0"/>
          </a:p>
          <a:p>
            <a:pPr lvl="2">
              <a:lnSpc>
                <a:spcPts val="3000"/>
              </a:lnSpc>
            </a:pPr>
            <a:r>
              <a:rPr lang="zh-CN" altLang="en-US" sz="1800" dirty="0"/>
              <a:t>满足以下两个条件的树形结构叫做二叉树（</a:t>
            </a:r>
            <a:r>
              <a:rPr lang="en-US" altLang="zh-CN" sz="1800" dirty="0"/>
              <a:t>Binary Tree</a:t>
            </a:r>
            <a:r>
              <a:rPr lang="zh-CN" altLang="en-US" sz="1800" dirty="0"/>
              <a:t>）： </a:t>
            </a:r>
            <a:endParaRPr lang="en-US" altLang="zh-CN" sz="1800" dirty="0"/>
          </a:p>
          <a:p>
            <a:pPr lvl="2">
              <a:lnSpc>
                <a:spcPts val="3000"/>
              </a:lnSpc>
            </a:pPr>
            <a:r>
              <a:rPr lang="zh-CN" altLang="en-US" sz="1800" dirty="0"/>
              <a:t>（</a:t>
            </a:r>
            <a:r>
              <a:rPr lang="en-US" altLang="zh-CN" sz="1800" dirty="0"/>
              <a:t>1</a:t>
            </a:r>
            <a:r>
              <a:rPr lang="zh-CN" altLang="en-US" sz="1800" dirty="0"/>
              <a:t>） 每个结点</a:t>
            </a:r>
            <a:r>
              <a:rPr lang="zh-CN" altLang="en-US" sz="1800" dirty="0">
                <a:solidFill>
                  <a:srgbClr val="FF0000"/>
                </a:solidFill>
              </a:rPr>
              <a:t>至多只有二棵子树</a:t>
            </a:r>
            <a:r>
              <a:rPr lang="zh-CN" altLang="en-US" sz="1800" dirty="0"/>
              <a:t>（即度都不大于</a:t>
            </a:r>
            <a:r>
              <a:rPr lang="en-US" altLang="zh-CN" sz="1800" dirty="0"/>
              <a:t>2</a:t>
            </a:r>
            <a:r>
              <a:rPr lang="zh-CN" altLang="en-US" sz="1800" dirty="0"/>
              <a:t>）； </a:t>
            </a:r>
            <a:endParaRPr lang="zh-CN" altLang="en-US" sz="1800" dirty="0"/>
          </a:p>
          <a:p>
            <a:pPr lvl="2">
              <a:lnSpc>
                <a:spcPts val="3000"/>
              </a:lnSpc>
            </a:pPr>
            <a:r>
              <a:rPr lang="zh-CN" altLang="en-US" sz="1800" dirty="0"/>
              <a:t>（</a:t>
            </a:r>
            <a:r>
              <a:rPr lang="en-US" altLang="zh-CN" sz="1800" dirty="0"/>
              <a:t>2</a:t>
            </a:r>
            <a:r>
              <a:rPr lang="zh-CN" altLang="en-US" sz="1800" dirty="0"/>
              <a:t>）二叉树的</a:t>
            </a:r>
            <a:r>
              <a:rPr lang="zh-CN" altLang="en-US" sz="1800" dirty="0">
                <a:solidFill>
                  <a:srgbClr val="FF0000"/>
                </a:solidFill>
              </a:rPr>
              <a:t>子树有左右</a:t>
            </a:r>
            <a:r>
              <a:rPr lang="zh-CN" altLang="en-US" sz="1800" dirty="0"/>
              <a:t>之分，其次序不能任意颠倒。  </a:t>
            </a:r>
            <a:endParaRPr lang="en-US" altLang="zh-CN" sz="1800" dirty="0"/>
          </a:p>
          <a:p>
            <a:pPr lvl="2">
              <a:lnSpc>
                <a:spcPts val="3000"/>
              </a:lnSpc>
            </a:pPr>
            <a:r>
              <a:rPr lang="zh-CN" altLang="en-US" sz="1800" dirty="0"/>
              <a:t>位于左边的孩子叫做</a:t>
            </a:r>
            <a:r>
              <a:rPr lang="zh-CN" altLang="en-US" sz="1800" dirty="0">
                <a:solidFill>
                  <a:srgbClr val="FF0000"/>
                </a:solidFill>
              </a:rPr>
              <a:t>左孩子</a:t>
            </a:r>
            <a:r>
              <a:rPr lang="zh-CN" altLang="en-US" sz="1800" dirty="0"/>
              <a:t>，位于右边的孩子叫做</a:t>
            </a:r>
            <a:r>
              <a:rPr lang="zh-CN" altLang="en-US" sz="1800" dirty="0">
                <a:solidFill>
                  <a:srgbClr val="FF0000"/>
                </a:solidFill>
              </a:rPr>
              <a:t>右孩子</a:t>
            </a:r>
            <a:r>
              <a:rPr lang="zh-CN" altLang="en-US" sz="1800" dirty="0"/>
              <a:t>。</a:t>
            </a:r>
            <a:endParaRPr lang="zh-CN" altLang="en-US"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grpSp>
        <p:nvGrpSpPr>
          <p:cNvPr id="4" name="组合 3"/>
          <p:cNvGrpSpPr/>
          <p:nvPr/>
        </p:nvGrpSpPr>
        <p:grpSpPr>
          <a:xfrm>
            <a:off x="1964127" y="2752275"/>
            <a:ext cx="5483421" cy="1560617"/>
            <a:chOff x="1146170" y="2812451"/>
            <a:chExt cx="6858000" cy="1778136"/>
          </a:xfrm>
        </p:grpSpPr>
        <p:sp>
          <p:nvSpPr>
            <p:cNvPr id="5" name="Text Box 4"/>
            <p:cNvSpPr txBox="1">
              <a:spLocks noChangeArrowheads="1"/>
            </p:cNvSpPr>
            <p:nvPr/>
          </p:nvSpPr>
          <p:spPr bwMode="auto">
            <a:xfrm>
              <a:off x="2755679" y="4209229"/>
              <a:ext cx="2875345" cy="381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350" dirty="0"/>
                <a:t> </a:t>
              </a:r>
              <a:r>
                <a:rPr lang="zh-CN" altLang="en-US" sz="1575" b="1" dirty="0">
                  <a:latin typeface="华文楷体" panose="02010600040101010101" pitchFamily="2" charset="-122"/>
                  <a:ea typeface="华文楷体" panose="02010600040101010101" pitchFamily="2" charset="-122"/>
                </a:rPr>
                <a:t>二叉树的五种基本形态 </a:t>
              </a:r>
              <a:endParaRPr lang="zh-CN" altLang="en-US" sz="1575" b="1" dirty="0">
                <a:latin typeface="华文楷体" panose="02010600040101010101" pitchFamily="2" charset="-122"/>
                <a:ea typeface="华文楷体" panose="02010600040101010101" pitchFamily="2" charset="-122"/>
              </a:endParaRPr>
            </a:p>
          </p:txBody>
        </p:sp>
        <p:graphicFrame>
          <p:nvGraphicFramePr>
            <p:cNvPr id="6" name="Object 1024"/>
            <p:cNvGraphicFramePr>
              <a:graphicFrameLocks noChangeAspect="1"/>
            </p:cNvGraphicFramePr>
            <p:nvPr/>
          </p:nvGraphicFramePr>
          <p:xfrm>
            <a:off x="1146170" y="2812451"/>
            <a:ext cx="6858000" cy="1341834"/>
          </p:xfrm>
          <a:graphic>
            <a:graphicData uri="http://schemas.openxmlformats.org/presentationml/2006/ole">
              <mc:AlternateContent xmlns:mc="http://schemas.openxmlformats.org/markup-compatibility/2006">
                <mc:Choice xmlns:v="urn:schemas-microsoft-com:vml" Requires="v">
                  <p:oleObj spid="_x0000_s12347" name="" r:id="rId1" imgW="4747260" imgH="929640" progId="Visio.Drawing.4">
                    <p:embed/>
                  </p:oleObj>
                </mc:Choice>
                <mc:Fallback>
                  <p:oleObj name="" r:id="rId1" imgW="4747260" imgH="929640" progId="Visio.Drawing.4">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6170" y="2812451"/>
                          <a:ext cx="6858000" cy="1341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spcBef>
                <a:spcPts val="0"/>
              </a:spcBef>
              <a:spcAft>
                <a:spcPts val="0"/>
              </a:spcAft>
            </a:pPr>
            <a:r>
              <a:rPr lang="zh-CN" altLang="en-US" sz="2000" dirty="0"/>
              <a:t>性质</a:t>
            </a:r>
            <a:r>
              <a:rPr lang="en-US" altLang="zh-CN" sz="2000" dirty="0"/>
              <a:t>1: </a:t>
            </a:r>
            <a:r>
              <a:rPr lang="zh-CN" altLang="en-US" sz="2000" dirty="0"/>
              <a:t>在二叉树的第</a:t>
            </a:r>
            <a:r>
              <a:rPr lang="en-US" altLang="zh-CN" sz="2000" dirty="0" err="1"/>
              <a:t>i</a:t>
            </a:r>
            <a:r>
              <a:rPr lang="zh-CN" altLang="en-US" sz="2000" dirty="0"/>
              <a:t>层上至多有</a:t>
            </a:r>
            <a:r>
              <a:rPr lang="en-US" altLang="zh-CN" sz="2000" dirty="0"/>
              <a:t>2</a:t>
            </a:r>
            <a:r>
              <a:rPr lang="en-US" altLang="zh-CN" sz="2000" baseline="30000" dirty="0"/>
              <a:t>i-1</a:t>
            </a:r>
            <a:r>
              <a:rPr lang="zh-CN" altLang="en-US" sz="2000" dirty="0"/>
              <a:t>个结点</a:t>
            </a:r>
            <a:r>
              <a:rPr lang="en-US" altLang="zh-CN" sz="2000" dirty="0"/>
              <a:t>(i≥1)</a:t>
            </a:r>
            <a:r>
              <a:rPr lang="zh-CN" altLang="en-US" sz="2000" dirty="0"/>
              <a:t>。 </a:t>
            </a:r>
            <a:endParaRPr lang="zh-CN" altLang="en-US" sz="2000" dirty="0"/>
          </a:p>
          <a:p>
            <a:pPr lvl="2">
              <a:lnSpc>
                <a:spcPts val="3000"/>
              </a:lnSpc>
            </a:pPr>
            <a:r>
              <a:rPr lang="zh-CN" altLang="en-US" sz="1800" dirty="0"/>
              <a:t>证明： </a:t>
            </a:r>
            <a:r>
              <a:rPr lang="zh-CN" altLang="en-US" sz="1800" dirty="0">
                <a:solidFill>
                  <a:srgbClr val="FF0000"/>
                </a:solidFill>
              </a:rPr>
              <a:t>用数学归纳法</a:t>
            </a:r>
            <a:r>
              <a:rPr lang="zh-CN" altLang="en-US" sz="1800" dirty="0"/>
              <a:t> </a:t>
            </a:r>
            <a:endParaRPr lang="zh-CN" altLang="en-US" sz="1800" dirty="0"/>
          </a:p>
          <a:p>
            <a:pPr marL="478155" lvl="2" indent="-342900">
              <a:lnSpc>
                <a:spcPts val="3000"/>
              </a:lnSpc>
              <a:buFont typeface="Wingdings" panose="05000000000000000000" pitchFamily="2" charset="2"/>
              <a:buChar char="Ø"/>
            </a:pPr>
            <a:r>
              <a:rPr lang="zh-CN" altLang="en-US" sz="1800" dirty="0"/>
              <a:t>归纳基础：当</a:t>
            </a:r>
            <a:r>
              <a:rPr lang="en-US" altLang="zh-CN" sz="1800" dirty="0" err="1"/>
              <a:t>i</a:t>
            </a:r>
            <a:r>
              <a:rPr lang="en-US" altLang="zh-CN" sz="1800" dirty="0"/>
              <a:t>=1</a:t>
            </a:r>
            <a:r>
              <a:rPr lang="zh-CN" altLang="en-US" sz="1800" dirty="0"/>
              <a:t>时，整个二叉树只有一个根结点，此时</a:t>
            </a:r>
            <a:r>
              <a:rPr lang="en-US" altLang="zh-CN" sz="1800" dirty="0"/>
              <a:t>2</a:t>
            </a:r>
            <a:r>
              <a:rPr lang="en-US" altLang="zh-CN" sz="1800" baseline="30000" dirty="0"/>
              <a:t>i-1</a:t>
            </a:r>
            <a:r>
              <a:rPr lang="en-US" altLang="zh-CN" sz="1800" dirty="0"/>
              <a:t>=2</a:t>
            </a:r>
            <a:r>
              <a:rPr lang="en-US" altLang="zh-CN" sz="1800" baseline="30000" dirty="0"/>
              <a:t>0</a:t>
            </a:r>
            <a:r>
              <a:rPr lang="en-US" altLang="zh-CN" sz="1800" dirty="0"/>
              <a:t>=1</a:t>
            </a:r>
            <a:r>
              <a:rPr lang="zh-CN" altLang="en-US" sz="1800" dirty="0"/>
              <a:t>，结论成立。</a:t>
            </a:r>
            <a:endParaRPr lang="zh-CN" altLang="en-US" sz="1800" dirty="0"/>
          </a:p>
          <a:p>
            <a:pPr marL="478155" lvl="2" indent="-342900">
              <a:lnSpc>
                <a:spcPts val="3000"/>
              </a:lnSpc>
              <a:buFont typeface="Wingdings" panose="05000000000000000000" pitchFamily="2" charset="2"/>
              <a:buChar char="Ø"/>
            </a:pPr>
            <a:r>
              <a:rPr lang="zh-CN" altLang="en-US" sz="1800" dirty="0"/>
              <a:t>归纳假设：假设</a:t>
            </a:r>
            <a:r>
              <a:rPr lang="en-US" altLang="zh-CN" sz="1800" dirty="0" err="1"/>
              <a:t>i</a:t>
            </a:r>
            <a:r>
              <a:rPr lang="en-US" altLang="zh-CN" sz="1800" dirty="0"/>
              <a:t>=k</a:t>
            </a:r>
            <a:r>
              <a:rPr lang="zh-CN" altLang="en-US" sz="1800" dirty="0"/>
              <a:t>时结论成立，即第</a:t>
            </a:r>
            <a:r>
              <a:rPr lang="en-US" altLang="zh-CN" sz="1800" dirty="0"/>
              <a:t>k</a:t>
            </a:r>
            <a:r>
              <a:rPr lang="zh-CN" altLang="en-US" sz="1800" dirty="0"/>
              <a:t>层上结点总数最多为</a:t>
            </a:r>
            <a:r>
              <a:rPr lang="en-US" altLang="zh-CN" sz="1800" dirty="0"/>
              <a:t>2</a:t>
            </a:r>
            <a:r>
              <a:rPr lang="en-US" altLang="zh-CN" sz="1800" baseline="30000" dirty="0"/>
              <a:t>k-1</a:t>
            </a:r>
            <a:r>
              <a:rPr lang="zh-CN" altLang="en-US" sz="1800" dirty="0"/>
              <a:t>个。 </a:t>
            </a:r>
            <a:endParaRPr lang="zh-CN" altLang="en-US" sz="1800" dirty="0"/>
          </a:p>
          <a:p>
            <a:pPr marL="478155" lvl="2" indent="-342900">
              <a:lnSpc>
                <a:spcPts val="3000"/>
              </a:lnSpc>
              <a:buFont typeface="Wingdings" panose="05000000000000000000" pitchFamily="2" charset="2"/>
              <a:buChar char="Ø"/>
            </a:pPr>
            <a:r>
              <a:rPr lang="zh-CN" altLang="en-US" sz="1800" dirty="0"/>
              <a:t>现证明当</a:t>
            </a:r>
            <a:r>
              <a:rPr lang="en-US" altLang="zh-CN" sz="1800" dirty="0" err="1"/>
              <a:t>i</a:t>
            </a:r>
            <a:r>
              <a:rPr lang="en-US" altLang="zh-CN" sz="1800" dirty="0"/>
              <a:t>=k+1</a:t>
            </a:r>
            <a:r>
              <a:rPr lang="zh-CN" altLang="en-US" sz="1800" dirty="0"/>
              <a:t>时， 结论成立： </a:t>
            </a:r>
            <a:endParaRPr lang="en-US" altLang="zh-CN" sz="1800" dirty="0"/>
          </a:p>
          <a:p>
            <a:pPr lvl="2">
              <a:lnSpc>
                <a:spcPts val="3000"/>
              </a:lnSpc>
            </a:pPr>
            <a:r>
              <a:rPr lang="zh-CN" altLang="en-US" sz="1800" dirty="0"/>
              <a:t>    因为二叉树中每个结点的度最大为</a:t>
            </a:r>
            <a:r>
              <a:rPr lang="en-US" altLang="zh-CN" sz="1800" dirty="0"/>
              <a:t>2</a:t>
            </a:r>
            <a:r>
              <a:rPr lang="zh-CN" altLang="en-US" sz="1800" dirty="0"/>
              <a:t>，则第</a:t>
            </a:r>
            <a:r>
              <a:rPr lang="en-US" altLang="zh-CN" sz="1800" dirty="0"/>
              <a:t>k+1</a:t>
            </a:r>
            <a:r>
              <a:rPr lang="zh-CN" altLang="en-US" sz="1800" dirty="0"/>
              <a:t>层的结点总数最多为第</a:t>
            </a:r>
            <a:r>
              <a:rPr lang="en-US" altLang="zh-CN" sz="1800" dirty="0"/>
              <a:t>k</a:t>
            </a:r>
            <a:r>
              <a:rPr lang="zh-CN" altLang="en-US" sz="1800" dirty="0"/>
              <a:t>层上结点最大数的</a:t>
            </a:r>
            <a:r>
              <a:rPr lang="en-US" altLang="zh-CN" sz="1800" dirty="0"/>
              <a:t>2</a:t>
            </a:r>
            <a:r>
              <a:rPr lang="zh-CN" altLang="en-US" sz="1800" dirty="0"/>
              <a:t>倍，即</a:t>
            </a:r>
            <a:r>
              <a:rPr lang="en-US" altLang="zh-CN" sz="1800" dirty="0"/>
              <a:t>2×2</a:t>
            </a:r>
            <a:r>
              <a:rPr lang="en-US" altLang="zh-CN" sz="1800" baseline="30000" dirty="0"/>
              <a:t>k-1</a:t>
            </a:r>
            <a:r>
              <a:rPr lang="en-US" altLang="zh-CN" sz="1800" dirty="0"/>
              <a:t>=2</a:t>
            </a:r>
            <a:r>
              <a:rPr lang="en-US" altLang="zh-CN" sz="1800" baseline="30000" dirty="0"/>
              <a:t>(k+1)-1</a:t>
            </a:r>
            <a:r>
              <a:rPr lang="zh-CN" altLang="en-US" sz="1800" dirty="0"/>
              <a:t>，故结论成立。 </a:t>
            </a:r>
            <a:endParaRPr lang="zh-CN" altLang="en-US"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性质</a:t>
            </a:r>
            <a:r>
              <a:rPr lang="en-US" altLang="zh-CN" dirty="0"/>
              <a:t>2</a:t>
            </a:r>
            <a:r>
              <a:rPr lang="zh-CN" altLang="en-US" dirty="0"/>
              <a:t>：深度为</a:t>
            </a:r>
            <a:r>
              <a:rPr lang="en-US" altLang="zh-CN" dirty="0"/>
              <a:t>k</a:t>
            </a:r>
            <a:r>
              <a:rPr lang="zh-CN" altLang="en-US" dirty="0"/>
              <a:t>的二叉树至多有</a:t>
            </a:r>
            <a:r>
              <a:rPr lang="en-US" altLang="zh-CN" dirty="0"/>
              <a:t>2</a:t>
            </a:r>
            <a:r>
              <a:rPr lang="en-US" altLang="zh-CN" baseline="30000" dirty="0"/>
              <a:t>k</a:t>
            </a:r>
            <a:r>
              <a:rPr lang="en-US" altLang="zh-CN" dirty="0"/>
              <a:t>-1</a:t>
            </a:r>
            <a:r>
              <a:rPr lang="zh-CN" altLang="en-US" dirty="0"/>
              <a:t>个结点（</a:t>
            </a:r>
            <a:r>
              <a:rPr lang="en-US" altLang="zh-CN" dirty="0"/>
              <a:t>k≥1</a:t>
            </a:r>
            <a:r>
              <a:rPr lang="zh-CN" altLang="en-US" dirty="0"/>
              <a:t>）。 </a:t>
            </a:r>
            <a:endParaRPr lang="en-US" altLang="zh-CN" dirty="0"/>
          </a:p>
          <a:p>
            <a:pPr lvl="2"/>
            <a:r>
              <a:rPr lang="zh-CN" altLang="en-US" sz="1800" dirty="0"/>
              <a:t>证明：</a:t>
            </a:r>
            <a:endParaRPr lang="en-US" altLang="zh-CN" sz="1800" dirty="0"/>
          </a:p>
          <a:p>
            <a:pPr lvl="2"/>
            <a:r>
              <a:rPr lang="zh-CN" altLang="en-US" sz="1800" dirty="0"/>
              <a:t>因为深度为</a:t>
            </a:r>
            <a:r>
              <a:rPr lang="en-US" altLang="zh-CN" sz="1800" dirty="0"/>
              <a:t>k</a:t>
            </a:r>
            <a:r>
              <a:rPr lang="zh-CN" altLang="en-US" sz="1800" dirty="0"/>
              <a:t>的二叉树，其结点总数的最大值是将二叉树每层上结点的最大值相加，所以深度为</a:t>
            </a:r>
            <a:r>
              <a:rPr lang="en-US" altLang="zh-CN" sz="1800" dirty="0"/>
              <a:t>k</a:t>
            </a:r>
            <a:r>
              <a:rPr lang="zh-CN" altLang="en-US" sz="1800" dirty="0"/>
              <a:t>的二叉树的结点总数至多为 </a:t>
            </a:r>
            <a:endParaRPr lang="zh-CN" altLang="en-US" sz="1800" dirty="0"/>
          </a:p>
          <a:p>
            <a:endParaRPr lang="zh-CN" altLang="en-US"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graphicFrame>
        <p:nvGraphicFramePr>
          <p:cNvPr id="5" name="Object 3"/>
          <p:cNvGraphicFramePr>
            <a:graphicFrameLocks noChangeAspect="1"/>
          </p:cNvGraphicFramePr>
          <p:nvPr/>
        </p:nvGraphicFramePr>
        <p:xfrm>
          <a:off x="528435" y="2489939"/>
          <a:ext cx="4618435" cy="650081"/>
        </p:xfrm>
        <a:graphic>
          <a:graphicData uri="http://schemas.openxmlformats.org/presentationml/2006/ole">
            <mc:AlternateContent xmlns:mc="http://schemas.openxmlformats.org/markup-compatibility/2006">
              <mc:Choice xmlns:v="urn:schemas-microsoft-com:vml" Requires="v">
                <p:oleObj spid="_x0000_s13371" name="Microsoft 公式 3.0" r:id="rId1" imgW="75895200" imgH="10668000" progId="Equation.3">
                  <p:embed/>
                </p:oleObj>
              </mc:Choice>
              <mc:Fallback>
                <p:oleObj name="Microsoft 公式 3.0" r:id="rId1" imgW="75895200" imgH="10668000" progId="Equation.3">
                  <p:embed/>
                  <p:pic>
                    <p:nvPicPr>
                      <p:cNvPr id="0" name="Object 3"/>
                      <p:cNvPicPr>
                        <a:picLocks noChangeAspect="1" noChangeArrowheads="1"/>
                      </p:cNvPicPr>
                      <p:nvPr/>
                    </p:nvPicPr>
                    <p:blipFill>
                      <a:blip r:embed="rId2"/>
                      <a:srcRect/>
                      <a:stretch>
                        <a:fillRect/>
                      </a:stretch>
                    </p:blipFill>
                    <p:spPr bwMode="auto">
                      <a:xfrm>
                        <a:off x="528435" y="2489939"/>
                        <a:ext cx="4618435" cy="6500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满二叉树：深度为</a:t>
            </a:r>
            <a:r>
              <a:rPr lang="en-US" altLang="zh-CN" dirty="0"/>
              <a:t>k</a:t>
            </a:r>
            <a:r>
              <a:rPr lang="zh-CN" altLang="en-US" dirty="0"/>
              <a:t>且有</a:t>
            </a:r>
            <a:r>
              <a:rPr lang="en-US" altLang="zh-CN" dirty="0"/>
              <a:t>2</a:t>
            </a:r>
            <a:r>
              <a:rPr lang="en-US" altLang="zh-CN" baseline="30000" dirty="0"/>
              <a:t>k</a:t>
            </a:r>
            <a:r>
              <a:rPr lang="en-US" altLang="zh-CN" dirty="0"/>
              <a:t>-1</a:t>
            </a:r>
            <a:r>
              <a:rPr lang="zh-CN" altLang="en-US" dirty="0"/>
              <a:t>个结点的二叉树</a:t>
            </a:r>
            <a:endParaRPr lang="en-US" altLang="zh-CN" dirty="0"/>
          </a:p>
          <a:p>
            <a:pPr lvl="2">
              <a:lnSpc>
                <a:spcPct val="130000"/>
              </a:lnSpc>
              <a:spcBef>
                <a:spcPct val="0"/>
              </a:spcBef>
            </a:pPr>
            <a:r>
              <a:rPr lang="zh-CN" altLang="en-US" sz="1800" dirty="0"/>
              <a:t>（</a:t>
            </a:r>
            <a:r>
              <a:rPr lang="en-US" altLang="zh-CN" sz="1800" dirty="0"/>
              <a:t>1</a:t>
            </a:r>
            <a:r>
              <a:rPr lang="zh-CN" altLang="en-US" sz="1800" dirty="0"/>
              <a:t>）在满二叉树中，每层结点都是满的，即每层结点都具有最大结点数。</a:t>
            </a:r>
            <a:endParaRPr lang="en-US" altLang="zh-CN" sz="1800" dirty="0"/>
          </a:p>
          <a:p>
            <a:pPr lvl="2">
              <a:lnSpc>
                <a:spcPct val="130000"/>
              </a:lnSpc>
              <a:spcBef>
                <a:spcPct val="0"/>
              </a:spcBef>
            </a:pPr>
            <a:r>
              <a:rPr lang="zh-CN" altLang="en-US" sz="1800" dirty="0"/>
              <a:t>（</a:t>
            </a:r>
            <a:r>
              <a:rPr lang="en-US" altLang="zh-CN" sz="1800" dirty="0"/>
              <a:t>2</a:t>
            </a:r>
            <a:r>
              <a:rPr lang="zh-CN" altLang="en-US" sz="1800" dirty="0"/>
              <a:t>）满二叉树从根开始，按照从上到下、从左到右的顺序逐层进行编号（</a:t>
            </a:r>
            <a:r>
              <a:rPr lang="en-US" altLang="zh-CN" sz="1800" dirty="0"/>
              <a:t>1</a:t>
            </a:r>
            <a:r>
              <a:rPr lang="zh-CN" altLang="en-US" sz="1800" dirty="0"/>
              <a:t>， </a:t>
            </a:r>
            <a:r>
              <a:rPr lang="en-US" altLang="zh-CN" sz="1800" dirty="0"/>
              <a:t>2</a:t>
            </a:r>
            <a:r>
              <a:rPr lang="zh-CN" altLang="en-US" sz="1800" dirty="0"/>
              <a:t>， </a:t>
            </a:r>
            <a:r>
              <a:rPr lang="en-US" altLang="zh-CN" sz="1800" dirty="0"/>
              <a:t>…</a:t>
            </a:r>
            <a:r>
              <a:rPr lang="zh-CN" altLang="en-US" sz="1800" dirty="0"/>
              <a:t>， </a:t>
            </a:r>
            <a:r>
              <a:rPr lang="en-US" altLang="zh-CN" sz="1800" dirty="0"/>
              <a:t>n</a:t>
            </a:r>
            <a:r>
              <a:rPr lang="zh-CN" altLang="en-US" sz="1800" dirty="0"/>
              <a:t>），如图所示。</a:t>
            </a:r>
            <a:endParaRPr lang="zh-CN" altLang="en-US"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grpSp>
        <p:nvGrpSpPr>
          <p:cNvPr id="4" name="组合 3"/>
          <p:cNvGrpSpPr/>
          <p:nvPr/>
        </p:nvGrpSpPr>
        <p:grpSpPr>
          <a:xfrm>
            <a:off x="2683613" y="2773254"/>
            <a:ext cx="3379594" cy="1710059"/>
            <a:chOff x="2191845" y="2643108"/>
            <a:chExt cx="4506125" cy="2280078"/>
          </a:xfrm>
        </p:grpSpPr>
        <p:grpSp>
          <p:nvGrpSpPr>
            <p:cNvPr id="5" name="组合 4"/>
            <p:cNvGrpSpPr/>
            <p:nvPr/>
          </p:nvGrpSpPr>
          <p:grpSpPr>
            <a:xfrm>
              <a:off x="4089528" y="2643108"/>
              <a:ext cx="437674" cy="492442"/>
              <a:chOff x="1918252" y="1406890"/>
              <a:chExt cx="453307" cy="539974"/>
            </a:xfrm>
          </p:grpSpPr>
          <p:sp>
            <p:nvSpPr>
              <p:cNvPr id="62" name="椭圆 6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63" name="文本框 62"/>
              <p:cNvSpPr txBox="1"/>
              <p:nvPr/>
            </p:nvSpPr>
            <p:spPr>
              <a:xfrm>
                <a:off x="1954944" y="1406890"/>
                <a:ext cx="416615" cy="539974"/>
              </a:xfrm>
              <a:prstGeom prst="rect">
                <a:avLst/>
              </a:prstGeom>
              <a:noFill/>
            </p:spPr>
            <p:txBody>
              <a:bodyPr wrap="none" rtlCol="0">
                <a:spAutoFit/>
              </a:bodyPr>
              <a:lstStyle/>
              <a:p>
                <a:r>
                  <a:rPr lang="en-US" altLang="zh-CN" sz="1800" b="1" dirty="0"/>
                  <a:t>1</a:t>
                </a:r>
                <a:endParaRPr lang="zh-CN" altLang="en-US" sz="1800" b="1" dirty="0"/>
              </a:p>
            </p:txBody>
          </p:sp>
        </p:grpSp>
        <p:grpSp>
          <p:nvGrpSpPr>
            <p:cNvPr id="6" name="组合 5"/>
            <p:cNvGrpSpPr/>
            <p:nvPr/>
          </p:nvGrpSpPr>
          <p:grpSpPr>
            <a:xfrm>
              <a:off x="3113555" y="3252891"/>
              <a:ext cx="437674" cy="492442"/>
              <a:chOff x="1918252" y="1406890"/>
              <a:chExt cx="453307" cy="539974"/>
            </a:xfrm>
          </p:grpSpPr>
          <p:sp>
            <p:nvSpPr>
              <p:cNvPr id="60" name="椭圆 5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61" name="文本框 60"/>
              <p:cNvSpPr txBox="1"/>
              <p:nvPr/>
            </p:nvSpPr>
            <p:spPr>
              <a:xfrm>
                <a:off x="1954944" y="1406890"/>
                <a:ext cx="416615" cy="539974"/>
              </a:xfrm>
              <a:prstGeom prst="rect">
                <a:avLst/>
              </a:prstGeom>
              <a:noFill/>
            </p:spPr>
            <p:txBody>
              <a:bodyPr wrap="none" rtlCol="0">
                <a:spAutoFit/>
              </a:bodyPr>
              <a:lstStyle/>
              <a:p>
                <a:r>
                  <a:rPr lang="en-US" altLang="zh-CN" sz="1800" b="1" dirty="0"/>
                  <a:t>2</a:t>
                </a:r>
                <a:endParaRPr lang="zh-CN" altLang="en-US" sz="1800" b="1" dirty="0"/>
              </a:p>
            </p:txBody>
          </p:sp>
        </p:grpSp>
        <p:grpSp>
          <p:nvGrpSpPr>
            <p:cNvPr id="7" name="组合 6"/>
            <p:cNvGrpSpPr/>
            <p:nvPr/>
          </p:nvGrpSpPr>
          <p:grpSpPr>
            <a:xfrm>
              <a:off x="3213514" y="4403267"/>
              <a:ext cx="558273" cy="492442"/>
              <a:chOff x="1885762" y="1393008"/>
              <a:chExt cx="578214" cy="539974"/>
            </a:xfrm>
          </p:grpSpPr>
          <p:sp>
            <p:nvSpPr>
              <p:cNvPr id="58" name="椭圆 5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9" name="文本框 58"/>
              <p:cNvSpPr txBox="1"/>
              <p:nvPr/>
            </p:nvSpPr>
            <p:spPr>
              <a:xfrm>
                <a:off x="1885762" y="1393008"/>
                <a:ext cx="578214" cy="539974"/>
              </a:xfrm>
              <a:prstGeom prst="rect">
                <a:avLst/>
              </a:prstGeom>
              <a:noFill/>
            </p:spPr>
            <p:txBody>
              <a:bodyPr wrap="none" rtlCol="0">
                <a:spAutoFit/>
              </a:bodyPr>
              <a:lstStyle/>
              <a:p>
                <a:r>
                  <a:rPr lang="en-US" altLang="zh-CN" sz="1800" b="1" dirty="0"/>
                  <a:t>10</a:t>
                </a:r>
                <a:endParaRPr lang="zh-CN" altLang="en-US" sz="1800" b="1" dirty="0"/>
              </a:p>
            </p:txBody>
          </p:sp>
        </p:grpSp>
        <p:grpSp>
          <p:nvGrpSpPr>
            <p:cNvPr id="8" name="组合 7"/>
            <p:cNvGrpSpPr/>
            <p:nvPr/>
          </p:nvGrpSpPr>
          <p:grpSpPr>
            <a:xfrm>
              <a:off x="5223179" y="3223757"/>
              <a:ext cx="437674" cy="492442"/>
              <a:chOff x="1918252" y="1406890"/>
              <a:chExt cx="453307" cy="539974"/>
            </a:xfrm>
          </p:grpSpPr>
          <p:sp>
            <p:nvSpPr>
              <p:cNvPr id="56" name="椭圆 5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7" name="文本框 56"/>
              <p:cNvSpPr txBox="1"/>
              <p:nvPr/>
            </p:nvSpPr>
            <p:spPr>
              <a:xfrm>
                <a:off x="1954944" y="1406890"/>
                <a:ext cx="416615" cy="539974"/>
              </a:xfrm>
              <a:prstGeom prst="rect">
                <a:avLst/>
              </a:prstGeom>
              <a:noFill/>
            </p:spPr>
            <p:txBody>
              <a:bodyPr wrap="none" rtlCol="0">
                <a:spAutoFit/>
              </a:bodyPr>
              <a:lstStyle/>
              <a:p>
                <a:r>
                  <a:rPr lang="en-US" altLang="zh-CN" sz="1800" b="1" dirty="0"/>
                  <a:t>3</a:t>
                </a:r>
                <a:endParaRPr lang="zh-CN" altLang="en-US" sz="1800" b="1" dirty="0"/>
              </a:p>
            </p:txBody>
          </p:sp>
        </p:grpSp>
        <p:grpSp>
          <p:nvGrpSpPr>
            <p:cNvPr id="9" name="组合 8"/>
            <p:cNvGrpSpPr/>
            <p:nvPr/>
          </p:nvGrpSpPr>
          <p:grpSpPr>
            <a:xfrm>
              <a:off x="2506219" y="3840048"/>
              <a:ext cx="437674" cy="492442"/>
              <a:chOff x="1918252" y="1406890"/>
              <a:chExt cx="453307" cy="539974"/>
            </a:xfrm>
          </p:grpSpPr>
          <p:sp>
            <p:nvSpPr>
              <p:cNvPr id="54" name="椭圆 5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5" name="文本框 54"/>
              <p:cNvSpPr txBox="1"/>
              <p:nvPr/>
            </p:nvSpPr>
            <p:spPr>
              <a:xfrm>
                <a:off x="1954944" y="1406890"/>
                <a:ext cx="416615" cy="539974"/>
              </a:xfrm>
              <a:prstGeom prst="rect">
                <a:avLst/>
              </a:prstGeom>
              <a:noFill/>
            </p:spPr>
            <p:txBody>
              <a:bodyPr wrap="none" rtlCol="0">
                <a:spAutoFit/>
              </a:bodyPr>
              <a:lstStyle/>
              <a:p>
                <a:r>
                  <a:rPr lang="en-US" altLang="zh-CN" sz="1800" b="1" dirty="0"/>
                  <a:t>4</a:t>
                </a:r>
                <a:endParaRPr lang="zh-CN" altLang="en-US" sz="1800" b="1" dirty="0"/>
              </a:p>
            </p:txBody>
          </p:sp>
        </p:grpSp>
        <p:grpSp>
          <p:nvGrpSpPr>
            <p:cNvPr id="10" name="组合 9"/>
            <p:cNvGrpSpPr/>
            <p:nvPr/>
          </p:nvGrpSpPr>
          <p:grpSpPr>
            <a:xfrm>
              <a:off x="3587500" y="3856210"/>
              <a:ext cx="437674" cy="492442"/>
              <a:chOff x="1918252" y="1406890"/>
              <a:chExt cx="453307" cy="539974"/>
            </a:xfrm>
          </p:grpSpPr>
          <p:sp>
            <p:nvSpPr>
              <p:cNvPr id="52" name="椭圆 5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53" name="文本框 52"/>
              <p:cNvSpPr txBox="1"/>
              <p:nvPr/>
            </p:nvSpPr>
            <p:spPr>
              <a:xfrm>
                <a:off x="1954944" y="1406890"/>
                <a:ext cx="416615" cy="539974"/>
              </a:xfrm>
              <a:prstGeom prst="rect">
                <a:avLst/>
              </a:prstGeom>
              <a:noFill/>
            </p:spPr>
            <p:txBody>
              <a:bodyPr wrap="none" rtlCol="0">
                <a:spAutoFit/>
              </a:bodyPr>
              <a:lstStyle/>
              <a:p>
                <a:r>
                  <a:rPr lang="en-US" altLang="zh-CN" sz="1800" b="1" dirty="0"/>
                  <a:t>5</a:t>
                </a:r>
                <a:endParaRPr lang="zh-CN" altLang="en-US" sz="1800" b="1" dirty="0"/>
              </a:p>
            </p:txBody>
          </p:sp>
        </p:grpSp>
        <p:grpSp>
          <p:nvGrpSpPr>
            <p:cNvPr id="11" name="组合 10"/>
            <p:cNvGrpSpPr/>
            <p:nvPr/>
          </p:nvGrpSpPr>
          <p:grpSpPr>
            <a:xfrm>
              <a:off x="3797280" y="4383642"/>
              <a:ext cx="558272" cy="492442"/>
              <a:chOff x="1858189" y="1376862"/>
              <a:chExt cx="578213" cy="539975"/>
            </a:xfrm>
          </p:grpSpPr>
          <p:sp>
            <p:nvSpPr>
              <p:cNvPr id="50" name="文本框 49"/>
              <p:cNvSpPr txBox="1"/>
              <p:nvPr/>
            </p:nvSpPr>
            <p:spPr>
              <a:xfrm>
                <a:off x="1858189" y="1376862"/>
                <a:ext cx="578213" cy="539975"/>
              </a:xfrm>
              <a:prstGeom prst="rect">
                <a:avLst/>
              </a:prstGeom>
              <a:noFill/>
            </p:spPr>
            <p:txBody>
              <a:bodyPr wrap="none" rtlCol="0">
                <a:spAutoFit/>
              </a:bodyPr>
              <a:lstStyle/>
              <a:p>
                <a:r>
                  <a:rPr lang="en-US" altLang="zh-CN" sz="1800" b="1" dirty="0"/>
                  <a:t>11</a:t>
                </a:r>
                <a:endParaRPr lang="zh-CN" altLang="en-US" sz="1800" b="1" dirty="0"/>
              </a:p>
            </p:txBody>
          </p:sp>
          <p:sp>
            <p:nvSpPr>
              <p:cNvPr id="51" name="椭圆 50"/>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grpSp>
        <p:grpSp>
          <p:nvGrpSpPr>
            <p:cNvPr id="12" name="组合 11"/>
            <p:cNvGrpSpPr/>
            <p:nvPr/>
          </p:nvGrpSpPr>
          <p:grpSpPr>
            <a:xfrm>
              <a:off x="4551063" y="3856209"/>
              <a:ext cx="437674" cy="492442"/>
              <a:chOff x="1918252" y="1406890"/>
              <a:chExt cx="453307" cy="539974"/>
            </a:xfrm>
          </p:grpSpPr>
          <p:sp>
            <p:nvSpPr>
              <p:cNvPr id="48" name="椭圆 4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9" name="文本框 48"/>
              <p:cNvSpPr txBox="1"/>
              <p:nvPr/>
            </p:nvSpPr>
            <p:spPr>
              <a:xfrm>
                <a:off x="1954944" y="1406890"/>
                <a:ext cx="416615" cy="539974"/>
              </a:xfrm>
              <a:prstGeom prst="rect">
                <a:avLst/>
              </a:prstGeom>
              <a:noFill/>
            </p:spPr>
            <p:txBody>
              <a:bodyPr wrap="none" rtlCol="0">
                <a:spAutoFit/>
              </a:bodyPr>
              <a:lstStyle/>
              <a:p>
                <a:r>
                  <a:rPr lang="en-US" altLang="zh-CN" sz="1800" b="1" dirty="0"/>
                  <a:t>6</a:t>
                </a:r>
                <a:endParaRPr lang="zh-CN" altLang="en-US" sz="1800" b="1" dirty="0"/>
              </a:p>
            </p:txBody>
          </p:sp>
        </p:grpSp>
        <p:grpSp>
          <p:nvGrpSpPr>
            <p:cNvPr id="13" name="组合 12"/>
            <p:cNvGrpSpPr/>
            <p:nvPr/>
          </p:nvGrpSpPr>
          <p:grpSpPr>
            <a:xfrm>
              <a:off x="4762495" y="4378889"/>
              <a:ext cx="558272" cy="492442"/>
              <a:chOff x="1860606" y="1393487"/>
              <a:chExt cx="578214" cy="539975"/>
            </a:xfrm>
          </p:grpSpPr>
          <p:sp>
            <p:nvSpPr>
              <p:cNvPr id="46" name="椭圆 4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7" name="文本框 46"/>
              <p:cNvSpPr txBox="1"/>
              <p:nvPr/>
            </p:nvSpPr>
            <p:spPr>
              <a:xfrm>
                <a:off x="1860606" y="1393487"/>
                <a:ext cx="578214" cy="539975"/>
              </a:xfrm>
              <a:prstGeom prst="rect">
                <a:avLst/>
              </a:prstGeom>
              <a:noFill/>
            </p:spPr>
            <p:txBody>
              <a:bodyPr wrap="none" rtlCol="0">
                <a:spAutoFit/>
              </a:bodyPr>
              <a:lstStyle/>
              <a:p>
                <a:r>
                  <a:rPr lang="en-US" altLang="zh-CN" sz="1800" b="1" dirty="0"/>
                  <a:t>13</a:t>
                </a:r>
                <a:endParaRPr lang="zh-CN" altLang="en-US" sz="1800" b="1" dirty="0"/>
              </a:p>
            </p:txBody>
          </p:sp>
        </p:grpSp>
        <p:grpSp>
          <p:nvGrpSpPr>
            <p:cNvPr id="14" name="组合 13"/>
            <p:cNvGrpSpPr/>
            <p:nvPr/>
          </p:nvGrpSpPr>
          <p:grpSpPr>
            <a:xfrm>
              <a:off x="5845445" y="3857523"/>
              <a:ext cx="437674" cy="492442"/>
              <a:chOff x="1918252" y="1406890"/>
              <a:chExt cx="453307" cy="539974"/>
            </a:xfrm>
          </p:grpSpPr>
          <p:sp>
            <p:nvSpPr>
              <p:cNvPr id="44" name="椭圆 4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5" name="文本框 44"/>
              <p:cNvSpPr txBox="1"/>
              <p:nvPr/>
            </p:nvSpPr>
            <p:spPr>
              <a:xfrm>
                <a:off x="1954944" y="1406890"/>
                <a:ext cx="416615" cy="539974"/>
              </a:xfrm>
              <a:prstGeom prst="rect">
                <a:avLst/>
              </a:prstGeom>
              <a:noFill/>
            </p:spPr>
            <p:txBody>
              <a:bodyPr wrap="none" rtlCol="0">
                <a:spAutoFit/>
              </a:bodyPr>
              <a:lstStyle/>
              <a:p>
                <a:r>
                  <a:rPr lang="en-US" altLang="zh-CN" sz="1800" b="1" dirty="0"/>
                  <a:t>7</a:t>
                </a:r>
                <a:endParaRPr lang="zh-CN" altLang="en-US" sz="1800" b="1" dirty="0"/>
              </a:p>
            </p:txBody>
          </p:sp>
        </p:grpSp>
        <p:grpSp>
          <p:nvGrpSpPr>
            <p:cNvPr id="15" name="组合 14"/>
            <p:cNvGrpSpPr/>
            <p:nvPr/>
          </p:nvGrpSpPr>
          <p:grpSpPr>
            <a:xfrm>
              <a:off x="2191845" y="4421335"/>
              <a:ext cx="437674" cy="492442"/>
              <a:chOff x="1918252" y="1406890"/>
              <a:chExt cx="453307" cy="539974"/>
            </a:xfrm>
          </p:grpSpPr>
          <p:sp>
            <p:nvSpPr>
              <p:cNvPr id="42" name="椭圆 4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3" name="文本框 42"/>
              <p:cNvSpPr txBox="1"/>
              <p:nvPr/>
            </p:nvSpPr>
            <p:spPr>
              <a:xfrm>
                <a:off x="1954944" y="1406890"/>
                <a:ext cx="416615" cy="539974"/>
              </a:xfrm>
              <a:prstGeom prst="rect">
                <a:avLst/>
              </a:prstGeom>
              <a:noFill/>
            </p:spPr>
            <p:txBody>
              <a:bodyPr wrap="none" rtlCol="0">
                <a:spAutoFit/>
              </a:bodyPr>
              <a:lstStyle/>
              <a:p>
                <a:r>
                  <a:rPr lang="en-US" altLang="zh-CN" sz="1800" b="1" dirty="0"/>
                  <a:t>8</a:t>
                </a:r>
                <a:endParaRPr lang="zh-CN" altLang="en-US" sz="1800" b="1" dirty="0"/>
              </a:p>
            </p:txBody>
          </p:sp>
        </p:grpSp>
        <p:grpSp>
          <p:nvGrpSpPr>
            <p:cNvPr id="16" name="组合 15"/>
            <p:cNvGrpSpPr/>
            <p:nvPr/>
          </p:nvGrpSpPr>
          <p:grpSpPr>
            <a:xfrm>
              <a:off x="2763313" y="4430744"/>
              <a:ext cx="437674" cy="492442"/>
              <a:chOff x="1918252" y="1406890"/>
              <a:chExt cx="453307" cy="539974"/>
            </a:xfrm>
          </p:grpSpPr>
          <p:sp>
            <p:nvSpPr>
              <p:cNvPr id="40" name="椭圆 3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41" name="文本框 40"/>
              <p:cNvSpPr txBox="1"/>
              <p:nvPr/>
            </p:nvSpPr>
            <p:spPr>
              <a:xfrm>
                <a:off x="1954944" y="1406890"/>
                <a:ext cx="416615" cy="539974"/>
              </a:xfrm>
              <a:prstGeom prst="rect">
                <a:avLst/>
              </a:prstGeom>
              <a:noFill/>
            </p:spPr>
            <p:txBody>
              <a:bodyPr wrap="none" rtlCol="0">
                <a:spAutoFit/>
              </a:bodyPr>
              <a:lstStyle/>
              <a:p>
                <a:r>
                  <a:rPr lang="en-US" altLang="zh-CN" sz="1800" b="1" dirty="0"/>
                  <a:t>9</a:t>
                </a:r>
                <a:endParaRPr lang="zh-CN" altLang="en-US" sz="1800" b="1" dirty="0"/>
              </a:p>
            </p:txBody>
          </p:sp>
        </p:grpSp>
        <p:grpSp>
          <p:nvGrpSpPr>
            <p:cNvPr id="17" name="组合 16"/>
            <p:cNvGrpSpPr/>
            <p:nvPr/>
          </p:nvGrpSpPr>
          <p:grpSpPr>
            <a:xfrm>
              <a:off x="4262006" y="4390507"/>
              <a:ext cx="558272" cy="492443"/>
              <a:chOff x="1866189" y="1392133"/>
              <a:chExt cx="578215" cy="539975"/>
            </a:xfrm>
          </p:grpSpPr>
          <p:sp>
            <p:nvSpPr>
              <p:cNvPr id="38" name="椭圆 3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9" name="文本框 38"/>
              <p:cNvSpPr txBox="1"/>
              <p:nvPr/>
            </p:nvSpPr>
            <p:spPr>
              <a:xfrm>
                <a:off x="1866189" y="1392133"/>
                <a:ext cx="578215" cy="539975"/>
              </a:xfrm>
              <a:prstGeom prst="rect">
                <a:avLst/>
              </a:prstGeom>
              <a:noFill/>
            </p:spPr>
            <p:txBody>
              <a:bodyPr wrap="none" rtlCol="0">
                <a:spAutoFit/>
              </a:bodyPr>
              <a:lstStyle/>
              <a:p>
                <a:r>
                  <a:rPr lang="en-US" altLang="zh-CN" sz="1800" b="1" dirty="0"/>
                  <a:t>12</a:t>
                </a:r>
                <a:endParaRPr lang="zh-CN" altLang="en-US" sz="1800" b="1" dirty="0"/>
              </a:p>
            </p:txBody>
          </p:sp>
        </p:grpSp>
        <p:cxnSp>
          <p:nvCxnSpPr>
            <p:cNvPr id="18" name="直接连接符 17"/>
            <p:cNvCxnSpPr/>
            <p:nvPr/>
          </p:nvCxnSpPr>
          <p:spPr>
            <a:xfrm flipH="1">
              <a:off x="3506806" y="2955562"/>
              <a:ext cx="573033" cy="40926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a:off x="2847941" y="3612258"/>
              <a:ext cx="313881" cy="2439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flipH="1">
              <a:off x="2457458" y="4250768"/>
              <a:ext cx="159299" cy="16026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4925924" y="3612258"/>
              <a:ext cx="338086" cy="2912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828680" y="4227788"/>
              <a:ext cx="73295" cy="189239"/>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4510476" y="2961275"/>
              <a:ext cx="715200" cy="3623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5582544" y="3592341"/>
              <a:ext cx="299864" cy="30692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6213140" y="4208315"/>
              <a:ext cx="80234" cy="20271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465828" y="3616951"/>
              <a:ext cx="246353" cy="23925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2794404" y="4218724"/>
              <a:ext cx="137680" cy="20295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8" name="组合 27"/>
            <p:cNvGrpSpPr/>
            <p:nvPr/>
          </p:nvGrpSpPr>
          <p:grpSpPr>
            <a:xfrm>
              <a:off x="6139699" y="4378888"/>
              <a:ext cx="558271" cy="492443"/>
              <a:chOff x="1883767" y="1378607"/>
              <a:chExt cx="578213" cy="539976"/>
            </a:xfrm>
          </p:grpSpPr>
          <p:sp>
            <p:nvSpPr>
              <p:cNvPr id="36" name="椭圆 3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7" name="文本框 36"/>
              <p:cNvSpPr txBox="1"/>
              <p:nvPr/>
            </p:nvSpPr>
            <p:spPr>
              <a:xfrm>
                <a:off x="1883767" y="1378607"/>
                <a:ext cx="578213" cy="539976"/>
              </a:xfrm>
              <a:prstGeom prst="rect">
                <a:avLst/>
              </a:prstGeom>
              <a:noFill/>
            </p:spPr>
            <p:txBody>
              <a:bodyPr wrap="none" rtlCol="0">
                <a:spAutoFit/>
              </a:bodyPr>
              <a:lstStyle/>
              <a:p>
                <a:r>
                  <a:rPr lang="en-US" altLang="zh-CN" sz="1800" b="1" dirty="0"/>
                  <a:t>15</a:t>
                </a:r>
                <a:endParaRPr lang="zh-CN" altLang="en-US" sz="1800" b="1" dirty="0"/>
              </a:p>
            </p:txBody>
          </p:sp>
        </p:grpSp>
        <p:grpSp>
          <p:nvGrpSpPr>
            <p:cNvPr id="29" name="组合 28"/>
            <p:cNvGrpSpPr/>
            <p:nvPr/>
          </p:nvGrpSpPr>
          <p:grpSpPr>
            <a:xfrm>
              <a:off x="5484651" y="4378889"/>
              <a:ext cx="558272" cy="492443"/>
              <a:chOff x="1847388" y="1377018"/>
              <a:chExt cx="578214" cy="539976"/>
            </a:xfrm>
          </p:grpSpPr>
          <p:sp>
            <p:nvSpPr>
              <p:cNvPr id="34" name="椭圆 3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5" name="文本框 34"/>
              <p:cNvSpPr txBox="1"/>
              <p:nvPr/>
            </p:nvSpPr>
            <p:spPr>
              <a:xfrm>
                <a:off x="1847388" y="1377018"/>
                <a:ext cx="578214" cy="539976"/>
              </a:xfrm>
              <a:prstGeom prst="rect">
                <a:avLst/>
              </a:prstGeom>
              <a:noFill/>
            </p:spPr>
            <p:txBody>
              <a:bodyPr wrap="none" rtlCol="0">
                <a:spAutoFit/>
              </a:bodyPr>
              <a:lstStyle/>
              <a:p>
                <a:r>
                  <a:rPr lang="en-US" altLang="zh-CN" sz="1800" b="1" dirty="0"/>
                  <a:t>14</a:t>
                </a:r>
                <a:endParaRPr lang="zh-CN" altLang="en-US" sz="1800" b="1" dirty="0"/>
              </a:p>
            </p:txBody>
          </p:sp>
        </p:grpSp>
        <p:cxnSp>
          <p:nvCxnSpPr>
            <p:cNvPr id="30" name="直接连接符 29"/>
            <p:cNvCxnSpPr/>
            <p:nvPr/>
          </p:nvCxnSpPr>
          <p:spPr>
            <a:xfrm flipH="1">
              <a:off x="4536954" y="4232095"/>
              <a:ext cx="73295" cy="189239"/>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4890791" y="4236740"/>
              <a:ext cx="81403" cy="1802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3557666" y="4238197"/>
              <a:ext cx="73295" cy="189239"/>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3942126" y="4218724"/>
              <a:ext cx="80234" cy="20271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完全二叉树：</a:t>
            </a:r>
            <a:endParaRPr lang="en-US" altLang="zh-CN" dirty="0"/>
          </a:p>
          <a:p>
            <a:pPr lvl="2"/>
            <a:endParaRPr lang="en-US" altLang="zh-CN" sz="1650" dirty="0"/>
          </a:p>
          <a:p>
            <a:pPr lvl="2"/>
            <a:endParaRPr lang="en-US" altLang="zh-CN" sz="1800" dirty="0"/>
          </a:p>
          <a:p>
            <a:pPr lvl="2"/>
            <a:endParaRPr lang="en-US" altLang="zh-CN" sz="1800" dirty="0"/>
          </a:p>
          <a:p>
            <a:pPr lvl="2"/>
            <a:endParaRPr lang="en-US" altLang="zh-CN" sz="1800" dirty="0"/>
          </a:p>
          <a:p>
            <a:pPr lvl="2"/>
            <a:r>
              <a:rPr lang="zh-CN" altLang="en-US" sz="1800" dirty="0"/>
              <a:t>深度为</a:t>
            </a:r>
            <a:r>
              <a:rPr lang="en-US" altLang="zh-CN" sz="1800" dirty="0"/>
              <a:t>k</a:t>
            </a:r>
            <a:r>
              <a:rPr lang="zh-CN" altLang="en-US" sz="1800" dirty="0"/>
              <a:t>，结点数为</a:t>
            </a:r>
            <a:r>
              <a:rPr lang="en-US" altLang="zh-CN" sz="1800" dirty="0"/>
              <a:t>n</a:t>
            </a:r>
            <a:r>
              <a:rPr lang="zh-CN" altLang="en-US" sz="1800" dirty="0"/>
              <a:t>的二叉树，其结点</a:t>
            </a:r>
            <a:r>
              <a:rPr lang="en-US" altLang="zh-CN" sz="1800" dirty="0"/>
              <a:t>1~n</a:t>
            </a:r>
            <a:r>
              <a:rPr lang="zh-CN" altLang="en-US" sz="1800" dirty="0"/>
              <a:t>的位置序号分别与满二叉树的结点</a:t>
            </a:r>
            <a:r>
              <a:rPr lang="en-US" altLang="zh-CN" sz="1800" dirty="0"/>
              <a:t>1~n</a:t>
            </a:r>
            <a:r>
              <a:rPr lang="zh-CN" altLang="en-US" sz="1800" dirty="0"/>
              <a:t>的位置序号一一对应。</a:t>
            </a:r>
            <a:endParaRPr lang="en-US" altLang="zh-CN" sz="1800" dirty="0"/>
          </a:p>
          <a:p>
            <a:pPr marL="478155" lvl="2" indent="-342900">
              <a:buFont typeface="Wingdings" panose="05000000000000000000" pitchFamily="2" charset="2"/>
              <a:buChar char="Ø"/>
            </a:pPr>
            <a:r>
              <a:rPr lang="zh-CN" altLang="en-US" sz="1800" dirty="0"/>
              <a:t>满二叉树必为完全二叉树；完全二叉树不一定是满二叉树。 </a:t>
            </a:r>
            <a:endParaRPr lang="zh-CN" altLang="en-US"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pic>
        <p:nvPicPr>
          <p:cNvPr id="4" name="图片 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3058766" y="1106484"/>
            <a:ext cx="2515559" cy="1465267"/>
          </a:xfrm>
          <a:prstGeom prst="rect">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spcBef>
                <a:spcPts val="0"/>
              </a:spcBef>
              <a:spcAft>
                <a:spcPts val="0"/>
              </a:spcAft>
            </a:pPr>
            <a:r>
              <a:rPr lang="zh-CN" altLang="en-US" dirty="0"/>
              <a:t>性质</a:t>
            </a:r>
            <a:r>
              <a:rPr lang="en-US" altLang="zh-CN" dirty="0"/>
              <a:t>3</a:t>
            </a:r>
            <a:r>
              <a:rPr lang="zh-CN" altLang="en-US" dirty="0"/>
              <a:t>：对任意一棵二叉树</a:t>
            </a:r>
            <a:r>
              <a:rPr lang="en-US" altLang="zh-CN" dirty="0"/>
              <a:t>T</a:t>
            </a:r>
            <a:r>
              <a:rPr lang="zh-CN" altLang="en-US" dirty="0"/>
              <a:t>，若终端结点数为</a:t>
            </a:r>
            <a:r>
              <a:rPr lang="en-US" altLang="zh-CN" dirty="0"/>
              <a:t>n</a:t>
            </a:r>
            <a:r>
              <a:rPr lang="en-US" altLang="zh-CN" baseline="-25000" dirty="0"/>
              <a:t>0</a:t>
            </a:r>
            <a:r>
              <a:rPr lang="zh-CN" altLang="en-US" dirty="0"/>
              <a:t>，而其度数为</a:t>
            </a:r>
            <a:r>
              <a:rPr lang="en-US" altLang="zh-CN" dirty="0"/>
              <a:t>2</a:t>
            </a:r>
            <a:r>
              <a:rPr lang="zh-CN" altLang="en-US" dirty="0"/>
              <a:t>的结点数为</a:t>
            </a:r>
            <a:r>
              <a:rPr lang="en-US" altLang="zh-CN" dirty="0"/>
              <a:t>n</a:t>
            </a:r>
            <a:r>
              <a:rPr lang="en-US" altLang="zh-CN" baseline="-25000" dirty="0"/>
              <a:t>2</a:t>
            </a:r>
            <a:r>
              <a:rPr lang="zh-CN" altLang="en-US" dirty="0"/>
              <a:t>，则</a:t>
            </a:r>
            <a:r>
              <a:rPr lang="en-US" altLang="zh-CN" dirty="0"/>
              <a:t>n</a:t>
            </a:r>
            <a:r>
              <a:rPr lang="en-US" altLang="zh-CN" baseline="-25000" dirty="0"/>
              <a:t>0</a:t>
            </a:r>
            <a:r>
              <a:rPr lang="en-US" altLang="zh-CN" dirty="0"/>
              <a:t>=n</a:t>
            </a:r>
            <a:r>
              <a:rPr lang="en-US" altLang="zh-CN" baseline="-25000" dirty="0"/>
              <a:t>2</a:t>
            </a:r>
            <a:r>
              <a:rPr lang="en-US" altLang="zh-CN" dirty="0"/>
              <a:t>+1</a:t>
            </a:r>
            <a:r>
              <a:rPr lang="zh-CN" altLang="en-US" dirty="0"/>
              <a:t>。</a:t>
            </a:r>
            <a:endParaRPr lang="en-US" altLang="zh-CN" dirty="0"/>
          </a:p>
          <a:p>
            <a:pPr lvl="2"/>
            <a:r>
              <a:rPr lang="zh-CN" altLang="en-US" sz="1800" dirty="0"/>
              <a:t>证明：设二叉树中结点总数为</a:t>
            </a:r>
            <a:r>
              <a:rPr lang="en-US" altLang="zh-CN" sz="1800" dirty="0"/>
              <a:t>n</a:t>
            </a:r>
            <a:r>
              <a:rPr lang="zh-CN" altLang="en-US" sz="1800" dirty="0"/>
              <a:t>，</a:t>
            </a:r>
            <a:r>
              <a:rPr lang="en-US" altLang="zh-CN" sz="1800" dirty="0"/>
              <a:t>n</a:t>
            </a:r>
            <a:r>
              <a:rPr lang="en-US" altLang="zh-CN" sz="1800" baseline="-25000" dirty="0"/>
              <a:t>1</a:t>
            </a:r>
            <a:r>
              <a:rPr lang="zh-CN" altLang="en-US" sz="1800" dirty="0"/>
              <a:t>为二叉树中度为</a:t>
            </a:r>
            <a:r>
              <a:rPr lang="en-US" altLang="zh-CN" sz="1800" dirty="0"/>
              <a:t>1</a:t>
            </a:r>
            <a:r>
              <a:rPr lang="zh-CN" altLang="en-US" sz="1800" dirty="0"/>
              <a:t>的结点总数。因为二叉树中所有结点的度小于等于</a:t>
            </a:r>
            <a:r>
              <a:rPr lang="en-US" altLang="zh-CN" sz="1800" dirty="0"/>
              <a:t>2</a:t>
            </a:r>
            <a:r>
              <a:rPr lang="zh-CN" altLang="en-US" sz="1800" dirty="0"/>
              <a:t>，所以有</a:t>
            </a:r>
            <a:r>
              <a:rPr lang="en-US" altLang="zh-CN" sz="1800" dirty="0"/>
              <a:t>       </a:t>
            </a:r>
            <a:r>
              <a:rPr lang="en-US" altLang="zh-CN" sz="1800" dirty="0">
                <a:solidFill>
                  <a:srgbClr val="FF0000"/>
                </a:solidFill>
              </a:rPr>
              <a:t>n=n</a:t>
            </a:r>
            <a:r>
              <a:rPr lang="en-US" altLang="zh-CN" sz="1800" baseline="-25000" dirty="0">
                <a:solidFill>
                  <a:srgbClr val="FF0000"/>
                </a:solidFill>
              </a:rPr>
              <a:t>0</a:t>
            </a:r>
            <a:r>
              <a:rPr lang="en-US" altLang="zh-CN" sz="1800" dirty="0">
                <a:solidFill>
                  <a:srgbClr val="FF0000"/>
                </a:solidFill>
              </a:rPr>
              <a:t>+n</a:t>
            </a:r>
            <a:r>
              <a:rPr lang="en-US" altLang="zh-CN" sz="1800" baseline="-25000" dirty="0">
                <a:solidFill>
                  <a:srgbClr val="FF0000"/>
                </a:solidFill>
              </a:rPr>
              <a:t>1</a:t>
            </a:r>
            <a:r>
              <a:rPr lang="en-US" altLang="zh-CN" sz="1800" dirty="0">
                <a:solidFill>
                  <a:srgbClr val="FF0000"/>
                </a:solidFill>
              </a:rPr>
              <a:t>+n</a:t>
            </a:r>
            <a:r>
              <a:rPr lang="en-US" altLang="zh-CN" sz="1800" baseline="-25000" dirty="0">
                <a:solidFill>
                  <a:srgbClr val="FF0000"/>
                </a:solidFill>
              </a:rPr>
              <a:t>2</a:t>
            </a:r>
            <a:r>
              <a:rPr lang="en-US" altLang="zh-CN" sz="1800" dirty="0">
                <a:solidFill>
                  <a:srgbClr val="FF0000"/>
                </a:solidFill>
              </a:rPr>
              <a:t>                (1)</a:t>
            </a:r>
            <a:endParaRPr lang="en-US" altLang="zh-CN" sz="1800" dirty="0">
              <a:solidFill>
                <a:srgbClr val="FF0000"/>
              </a:solidFill>
            </a:endParaRPr>
          </a:p>
          <a:p>
            <a:pPr lvl="2">
              <a:lnSpc>
                <a:spcPts val="3000"/>
              </a:lnSpc>
            </a:pPr>
            <a:r>
              <a:rPr lang="zh-CN" altLang="en-US" sz="1800" dirty="0"/>
              <a:t>设二叉树分支数目为</a:t>
            </a:r>
            <a:r>
              <a:rPr lang="en-US" altLang="zh-CN" sz="1800" dirty="0"/>
              <a:t>B</a:t>
            </a:r>
            <a:r>
              <a:rPr lang="zh-CN" altLang="en-US" sz="1800" dirty="0"/>
              <a:t>，有  </a:t>
            </a:r>
            <a:r>
              <a:rPr lang="en-US" altLang="zh-CN" sz="1800" dirty="0"/>
              <a:t>n=B+1 </a:t>
            </a:r>
            <a:r>
              <a:rPr lang="zh-CN" altLang="en-US" sz="1800" dirty="0"/>
              <a:t>（分支数目</a:t>
            </a:r>
            <a:r>
              <a:rPr lang="en-US" altLang="zh-CN" sz="1800" dirty="0"/>
              <a:t>B=n</a:t>
            </a:r>
            <a:r>
              <a:rPr lang="en-US" altLang="zh-CN" sz="1800" baseline="-25000" dirty="0"/>
              <a:t>1</a:t>
            </a:r>
            <a:r>
              <a:rPr lang="en-US" altLang="zh-CN" sz="1800" dirty="0"/>
              <a:t>+2n</a:t>
            </a:r>
            <a:r>
              <a:rPr lang="en-US" altLang="zh-CN" sz="1800" baseline="-25000" dirty="0"/>
              <a:t>2</a:t>
            </a:r>
            <a:r>
              <a:rPr lang="zh-CN" altLang="en-US" sz="1800" dirty="0"/>
              <a:t>）即：</a:t>
            </a:r>
            <a:r>
              <a:rPr lang="en-US" altLang="zh-CN" sz="1800" dirty="0">
                <a:solidFill>
                  <a:srgbClr val="FF0000"/>
                </a:solidFill>
              </a:rPr>
              <a:t>n=B+1=n</a:t>
            </a:r>
            <a:r>
              <a:rPr lang="en-US" altLang="zh-CN" sz="1800" baseline="-25000" dirty="0">
                <a:solidFill>
                  <a:srgbClr val="FF0000"/>
                </a:solidFill>
              </a:rPr>
              <a:t>1</a:t>
            </a:r>
            <a:r>
              <a:rPr lang="en-US" altLang="zh-CN" sz="1800" dirty="0">
                <a:solidFill>
                  <a:srgbClr val="FF0000"/>
                </a:solidFill>
              </a:rPr>
              <a:t>+2n</a:t>
            </a:r>
            <a:r>
              <a:rPr lang="en-US" altLang="zh-CN" sz="1800" baseline="-25000" dirty="0">
                <a:solidFill>
                  <a:srgbClr val="FF0000"/>
                </a:solidFill>
              </a:rPr>
              <a:t>2</a:t>
            </a:r>
            <a:r>
              <a:rPr lang="en-US" altLang="zh-CN" sz="1800" dirty="0">
                <a:solidFill>
                  <a:srgbClr val="FF0000"/>
                </a:solidFill>
              </a:rPr>
              <a:t>+1       (2)</a:t>
            </a:r>
            <a:endParaRPr lang="en-US" altLang="zh-CN" sz="1800" dirty="0">
              <a:solidFill>
                <a:srgbClr val="FF0000"/>
              </a:solidFill>
            </a:endParaRPr>
          </a:p>
          <a:p>
            <a:pPr lvl="2">
              <a:lnSpc>
                <a:spcPts val="3000"/>
              </a:lnSpc>
            </a:pPr>
            <a:r>
              <a:rPr lang="zh-CN" altLang="en-US" sz="1800" dirty="0"/>
              <a:t>将</a:t>
            </a:r>
            <a:r>
              <a:rPr lang="en-US" altLang="zh-CN" sz="1800" dirty="0"/>
              <a:t>(1)</a:t>
            </a:r>
            <a:r>
              <a:rPr lang="zh-CN" altLang="en-US" sz="1800" dirty="0"/>
              <a:t>式代入</a:t>
            </a:r>
            <a:r>
              <a:rPr lang="en-US" altLang="zh-CN" sz="1800" dirty="0"/>
              <a:t>(2)</a:t>
            </a:r>
            <a:r>
              <a:rPr lang="zh-CN" altLang="en-US" sz="1800" dirty="0"/>
              <a:t>式，得到</a:t>
            </a:r>
            <a:r>
              <a:rPr lang="en-US" altLang="zh-CN" sz="1800" dirty="0">
                <a:solidFill>
                  <a:srgbClr val="FF0000"/>
                </a:solidFill>
              </a:rPr>
              <a:t>n</a:t>
            </a:r>
            <a:r>
              <a:rPr lang="en-US" altLang="zh-CN" sz="1800" baseline="-25000" dirty="0">
                <a:solidFill>
                  <a:srgbClr val="FF0000"/>
                </a:solidFill>
              </a:rPr>
              <a:t>0</a:t>
            </a:r>
            <a:r>
              <a:rPr lang="en-US" altLang="zh-CN" sz="1800" dirty="0">
                <a:solidFill>
                  <a:srgbClr val="FF0000"/>
                </a:solidFill>
              </a:rPr>
              <a:t>+n</a:t>
            </a:r>
            <a:r>
              <a:rPr lang="en-US" altLang="zh-CN" sz="1800" baseline="-25000" dirty="0">
                <a:solidFill>
                  <a:srgbClr val="FF0000"/>
                </a:solidFill>
              </a:rPr>
              <a:t>1</a:t>
            </a:r>
            <a:r>
              <a:rPr lang="en-US" altLang="zh-CN" sz="1800" dirty="0">
                <a:solidFill>
                  <a:srgbClr val="FF0000"/>
                </a:solidFill>
              </a:rPr>
              <a:t>+n</a:t>
            </a:r>
            <a:r>
              <a:rPr lang="en-US" altLang="zh-CN" sz="1800" baseline="-25000" dirty="0">
                <a:solidFill>
                  <a:srgbClr val="FF0000"/>
                </a:solidFill>
              </a:rPr>
              <a:t>2</a:t>
            </a:r>
            <a:r>
              <a:rPr lang="en-US" altLang="zh-CN" sz="1800" dirty="0">
                <a:solidFill>
                  <a:srgbClr val="FF0000"/>
                </a:solidFill>
              </a:rPr>
              <a:t>=n</a:t>
            </a:r>
            <a:r>
              <a:rPr lang="en-US" altLang="zh-CN" sz="1800" baseline="-25000" dirty="0">
                <a:solidFill>
                  <a:srgbClr val="FF0000"/>
                </a:solidFill>
              </a:rPr>
              <a:t>1</a:t>
            </a:r>
            <a:r>
              <a:rPr lang="en-US" altLang="zh-CN" sz="1800" dirty="0">
                <a:solidFill>
                  <a:srgbClr val="FF0000"/>
                </a:solidFill>
              </a:rPr>
              <a:t>+2n</a:t>
            </a:r>
            <a:r>
              <a:rPr lang="en-US" altLang="zh-CN" sz="1800" baseline="-25000" dirty="0">
                <a:solidFill>
                  <a:srgbClr val="FF0000"/>
                </a:solidFill>
              </a:rPr>
              <a:t>2</a:t>
            </a:r>
            <a:r>
              <a:rPr lang="en-US" altLang="zh-CN" sz="1800" dirty="0">
                <a:solidFill>
                  <a:srgbClr val="FF0000"/>
                </a:solidFill>
              </a:rPr>
              <a:t>+1</a:t>
            </a:r>
            <a:r>
              <a:rPr lang="zh-CN" altLang="en-US" sz="1800" dirty="0"/>
              <a:t>，整理后得</a:t>
            </a:r>
            <a:r>
              <a:rPr lang="en-US" altLang="zh-CN" sz="1800" dirty="0">
                <a:solidFill>
                  <a:srgbClr val="FF0000"/>
                </a:solidFill>
              </a:rPr>
              <a:t>n</a:t>
            </a:r>
            <a:r>
              <a:rPr lang="en-US" altLang="zh-CN" sz="1800" baseline="-25000" dirty="0">
                <a:solidFill>
                  <a:srgbClr val="FF0000"/>
                </a:solidFill>
              </a:rPr>
              <a:t>0</a:t>
            </a:r>
            <a:r>
              <a:rPr lang="en-US" altLang="zh-CN" sz="1800" dirty="0">
                <a:solidFill>
                  <a:srgbClr val="FF0000"/>
                </a:solidFill>
              </a:rPr>
              <a:t>=n</a:t>
            </a:r>
            <a:r>
              <a:rPr lang="en-US" altLang="zh-CN" sz="1800" baseline="-25000" dirty="0">
                <a:solidFill>
                  <a:srgbClr val="FF0000"/>
                </a:solidFill>
              </a:rPr>
              <a:t>2</a:t>
            </a:r>
            <a:r>
              <a:rPr lang="en-US" altLang="zh-CN" sz="1800" dirty="0">
                <a:solidFill>
                  <a:srgbClr val="FF0000"/>
                </a:solidFill>
              </a:rPr>
              <a:t>+1</a:t>
            </a:r>
            <a:r>
              <a:rPr lang="zh-CN" altLang="en-US" sz="1800" dirty="0"/>
              <a:t>，故结论成立。</a:t>
            </a:r>
            <a:endParaRPr lang="zh-CN" altLang="en-US"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spcBef>
                <a:spcPts val="0"/>
              </a:spcBef>
              <a:spcAft>
                <a:spcPts val="0"/>
              </a:spcAft>
            </a:pPr>
            <a:r>
              <a:rPr lang="zh-CN" altLang="en-US" dirty="0"/>
              <a:t>性质</a:t>
            </a:r>
            <a:r>
              <a:rPr lang="en-US" altLang="zh-CN" dirty="0"/>
              <a:t>4</a:t>
            </a:r>
            <a:r>
              <a:rPr lang="zh-CN" altLang="en-US" dirty="0"/>
              <a:t>：具有</a:t>
            </a:r>
            <a:r>
              <a:rPr lang="en-US" altLang="zh-CN" dirty="0"/>
              <a:t>n</a:t>
            </a:r>
            <a:r>
              <a:rPr lang="zh-CN" altLang="en-US" dirty="0"/>
              <a:t>个结点的完全二叉树的深度为［</a:t>
            </a:r>
            <a:r>
              <a:rPr lang="en-US" altLang="zh-CN" dirty="0"/>
              <a:t>log</a:t>
            </a:r>
            <a:r>
              <a:rPr lang="en-US" altLang="zh-CN" baseline="-25000" dirty="0"/>
              <a:t>2</a:t>
            </a:r>
            <a:r>
              <a:rPr lang="en-US" altLang="zh-CN" dirty="0"/>
              <a:t>n</a:t>
            </a:r>
            <a:r>
              <a:rPr lang="zh-CN" altLang="en-US" dirty="0"/>
              <a:t>］</a:t>
            </a:r>
            <a:r>
              <a:rPr lang="en-US" altLang="zh-CN" dirty="0"/>
              <a:t>+1</a:t>
            </a:r>
            <a:r>
              <a:rPr lang="zh-CN" altLang="en-US" dirty="0"/>
              <a:t>。 </a:t>
            </a:r>
            <a:endParaRPr lang="en-US" altLang="zh-CN" dirty="0"/>
          </a:p>
          <a:p>
            <a:pPr lvl="2">
              <a:lnSpc>
                <a:spcPts val="3000"/>
              </a:lnSpc>
            </a:pPr>
            <a:r>
              <a:rPr lang="zh-CN" altLang="en-US" dirty="0"/>
              <a:t>证明：假设</a:t>
            </a:r>
            <a:r>
              <a:rPr lang="en-US" altLang="zh-CN" dirty="0"/>
              <a:t>n</a:t>
            </a:r>
            <a:r>
              <a:rPr lang="zh-CN" altLang="en-US" dirty="0"/>
              <a:t>个结点的完全二叉树的深度为</a:t>
            </a:r>
            <a:r>
              <a:rPr lang="en-US" altLang="zh-CN" dirty="0"/>
              <a:t>k</a:t>
            </a:r>
            <a:r>
              <a:rPr lang="zh-CN" altLang="en-US" dirty="0"/>
              <a:t>，根据性质</a:t>
            </a:r>
            <a:r>
              <a:rPr lang="en-US" altLang="zh-CN" dirty="0"/>
              <a:t>2</a:t>
            </a:r>
            <a:r>
              <a:rPr lang="zh-CN" altLang="en-US" dirty="0"/>
              <a:t>可知，</a:t>
            </a:r>
            <a:r>
              <a:rPr lang="en-US" altLang="zh-CN" dirty="0"/>
              <a:t>k-1</a:t>
            </a:r>
            <a:r>
              <a:rPr lang="zh-CN" altLang="en-US" dirty="0"/>
              <a:t>层满二叉树的结点总数为</a:t>
            </a:r>
            <a:endParaRPr lang="en-US" altLang="zh-CN" dirty="0"/>
          </a:p>
          <a:p>
            <a:pPr lvl="2">
              <a:lnSpc>
                <a:spcPts val="3000"/>
              </a:lnSpc>
            </a:pPr>
            <a:r>
              <a:rPr lang="zh-CN" altLang="en-US" dirty="0"/>
              <a:t>           </a:t>
            </a:r>
            <a:r>
              <a:rPr lang="en-US" altLang="zh-CN" dirty="0">
                <a:solidFill>
                  <a:srgbClr val="FF0000"/>
                </a:solidFill>
              </a:rPr>
              <a:t>n</a:t>
            </a:r>
            <a:r>
              <a:rPr lang="en-US" altLang="zh-CN" baseline="-25000" dirty="0">
                <a:solidFill>
                  <a:srgbClr val="FF0000"/>
                </a:solidFill>
              </a:rPr>
              <a:t>1</a:t>
            </a:r>
            <a:r>
              <a:rPr lang="en-US" altLang="zh-CN" dirty="0">
                <a:solidFill>
                  <a:srgbClr val="FF0000"/>
                </a:solidFill>
              </a:rPr>
              <a:t>=2</a:t>
            </a:r>
            <a:r>
              <a:rPr lang="en-US" altLang="zh-CN" baseline="30000" dirty="0">
                <a:solidFill>
                  <a:srgbClr val="FF0000"/>
                </a:solidFill>
              </a:rPr>
              <a:t>k-1</a:t>
            </a:r>
            <a:r>
              <a:rPr lang="en-US" altLang="zh-CN" dirty="0">
                <a:solidFill>
                  <a:srgbClr val="FF0000"/>
                </a:solidFill>
              </a:rPr>
              <a:t>-1       </a:t>
            </a:r>
            <a:r>
              <a:rPr lang="zh-CN" altLang="en-US" dirty="0">
                <a:solidFill>
                  <a:srgbClr val="FF0000"/>
                </a:solidFill>
              </a:rPr>
              <a:t>（</a:t>
            </a:r>
            <a:r>
              <a:rPr lang="en-US" altLang="zh-CN" dirty="0">
                <a:solidFill>
                  <a:srgbClr val="FF0000"/>
                </a:solidFill>
              </a:rPr>
              <a:t>1</a:t>
            </a:r>
            <a:r>
              <a:rPr lang="zh-CN" altLang="en-US" dirty="0">
                <a:solidFill>
                  <a:srgbClr val="FF0000"/>
                </a:solidFill>
              </a:rPr>
              <a:t>）</a:t>
            </a:r>
            <a:endParaRPr lang="en-US" altLang="zh-CN" dirty="0">
              <a:solidFill>
                <a:srgbClr val="FF0000"/>
              </a:solidFill>
            </a:endParaRPr>
          </a:p>
          <a:p>
            <a:pPr lvl="2">
              <a:lnSpc>
                <a:spcPts val="3000"/>
              </a:lnSpc>
            </a:pPr>
            <a:r>
              <a:rPr lang="en-US" altLang="zh-CN" dirty="0"/>
              <a:t>k</a:t>
            </a:r>
            <a:r>
              <a:rPr lang="zh-CN" altLang="en-US" dirty="0"/>
              <a:t>层满二叉树的结点总数为  </a:t>
            </a:r>
            <a:r>
              <a:rPr lang="en-US" altLang="zh-CN" dirty="0">
                <a:solidFill>
                  <a:srgbClr val="FF0000"/>
                </a:solidFill>
              </a:rPr>
              <a:t>n</a:t>
            </a:r>
            <a:r>
              <a:rPr lang="en-US" altLang="zh-CN" baseline="-25000" dirty="0">
                <a:solidFill>
                  <a:srgbClr val="FF0000"/>
                </a:solidFill>
              </a:rPr>
              <a:t>2</a:t>
            </a:r>
            <a:r>
              <a:rPr lang="en-US" altLang="zh-CN" dirty="0">
                <a:solidFill>
                  <a:srgbClr val="FF0000"/>
                </a:solidFill>
              </a:rPr>
              <a:t>=2</a:t>
            </a:r>
            <a:r>
              <a:rPr lang="en-US" altLang="zh-CN" baseline="30000" dirty="0">
                <a:solidFill>
                  <a:srgbClr val="FF0000"/>
                </a:solidFill>
              </a:rPr>
              <a:t>k</a:t>
            </a:r>
            <a:r>
              <a:rPr lang="en-US" altLang="zh-CN" dirty="0">
                <a:solidFill>
                  <a:srgbClr val="FF0000"/>
                </a:solidFill>
              </a:rPr>
              <a:t>-1         </a:t>
            </a:r>
            <a:r>
              <a:rPr lang="zh-CN" altLang="en-US" dirty="0">
                <a:solidFill>
                  <a:srgbClr val="FF0000"/>
                </a:solidFill>
              </a:rPr>
              <a:t>（</a:t>
            </a:r>
            <a:r>
              <a:rPr lang="en-US" altLang="zh-CN" dirty="0">
                <a:solidFill>
                  <a:srgbClr val="FF0000"/>
                </a:solidFill>
              </a:rPr>
              <a:t>2</a:t>
            </a:r>
            <a:r>
              <a:rPr lang="zh-CN" altLang="en-US" dirty="0">
                <a:solidFill>
                  <a:srgbClr val="FF0000"/>
                </a:solidFill>
              </a:rPr>
              <a:t>）</a:t>
            </a:r>
            <a:endParaRPr lang="en-US" altLang="zh-CN" dirty="0">
              <a:solidFill>
                <a:srgbClr val="FF0000"/>
              </a:solidFill>
            </a:endParaRPr>
          </a:p>
          <a:p>
            <a:pPr lvl="2">
              <a:lnSpc>
                <a:spcPts val="3000"/>
              </a:lnSpc>
            </a:pPr>
            <a:r>
              <a:rPr lang="zh-CN" altLang="en-US" dirty="0"/>
              <a:t>显然有</a:t>
            </a:r>
            <a:r>
              <a:rPr lang="en-US" altLang="zh-CN" dirty="0">
                <a:solidFill>
                  <a:srgbClr val="FF0000"/>
                </a:solidFill>
              </a:rPr>
              <a:t>n</a:t>
            </a:r>
            <a:r>
              <a:rPr lang="en-US" altLang="zh-CN" baseline="-25000" dirty="0">
                <a:solidFill>
                  <a:srgbClr val="FF0000"/>
                </a:solidFill>
              </a:rPr>
              <a:t>1</a:t>
            </a:r>
            <a:r>
              <a:rPr lang="en-US" altLang="zh-CN" dirty="0">
                <a:solidFill>
                  <a:srgbClr val="FF0000"/>
                </a:solidFill>
              </a:rPr>
              <a:t>&lt;n≤n</a:t>
            </a:r>
            <a:r>
              <a:rPr lang="en-US" altLang="zh-CN" baseline="-25000" dirty="0">
                <a:solidFill>
                  <a:srgbClr val="FF0000"/>
                </a:solidFill>
              </a:rPr>
              <a:t>2</a:t>
            </a:r>
            <a:r>
              <a:rPr lang="zh-CN" altLang="en-US" dirty="0"/>
              <a:t>，可以推出</a:t>
            </a:r>
            <a:r>
              <a:rPr lang="en-US" altLang="zh-CN" dirty="0">
                <a:solidFill>
                  <a:srgbClr val="FF0000"/>
                </a:solidFill>
              </a:rPr>
              <a:t>n</a:t>
            </a:r>
            <a:r>
              <a:rPr lang="en-US" altLang="zh-CN" baseline="-25000" dirty="0">
                <a:solidFill>
                  <a:srgbClr val="FF0000"/>
                </a:solidFill>
              </a:rPr>
              <a:t>1</a:t>
            </a:r>
            <a:r>
              <a:rPr lang="en-US" altLang="zh-CN" dirty="0">
                <a:solidFill>
                  <a:srgbClr val="FF0000"/>
                </a:solidFill>
              </a:rPr>
              <a:t>+1≤n&lt;n</a:t>
            </a:r>
            <a:r>
              <a:rPr lang="en-US" altLang="zh-CN" baseline="-25000" dirty="0">
                <a:solidFill>
                  <a:srgbClr val="FF0000"/>
                </a:solidFill>
              </a:rPr>
              <a:t>2</a:t>
            </a:r>
            <a:r>
              <a:rPr lang="en-US" altLang="zh-CN" dirty="0">
                <a:solidFill>
                  <a:srgbClr val="FF0000"/>
                </a:solidFill>
              </a:rPr>
              <a:t>+1  </a:t>
            </a:r>
            <a:r>
              <a:rPr lang="zh-CN" altLang="en-US" dirty="0">
                <a:solidFill>
                  <a:srgbClr val="FF0000"/>
                </a:solidFill>
              </a:rPr>
              <a:t>（</a:t>
            </a:r>
            <a:r>
              <a:rPr lang="en-US" altLang="zh-CN" dirty="0">
                <a:solidFill>
                  <a:srgbClr val="FF0000"/>
                </a:solidFill>
              </a:rPr>
              <a:t>3</a:t>
            </a:r>
            <a:r>
              <a:rPr lang="zh-CN" altLang="en-US" dirty="0">
                <a:solidFill>
                  <a:srgbClr val="FF0000"/>
                </a:solidFill>
              </a:rPr>
              <a:t>）</a:t>
            </a:r>
            <a:endParaRPr lang="zh-CN" altLang="en-US" dirty="0"/>
          </a:p>
          <a:p>
            <a:pPr lvl="2">
              <a:lnSpc>
                <a:spcPts val="3000"/>
              </a:lnSpc>
            </a:pPr>
            <a:r>
              <a:rPr lang="zh-CN" altLang="en-US" dirty="0"/>
              <a:t>将</a:t>
            </a:r>
            <a:r>
              <a:rPr lang="en-US" altLang="zh-CN" dirty="0"/>
              <a:t>(1)</a:t>
            </a:r>
            <a:r>
              <a:rPr lang="zh-CN" altLang="en-US" dirty="0"/>
              <a:t>式和</a:t>
            </a:r>
            <a:r>
              <a:rPr lang="en-US" altLang="zh-CN" dirty="0"/>
              <a:t>(2)</a:t>
            </a:r>
            <a:r>
              <a:rPr lang="zh-CN" altLang="en-US" dirty="0"/>
              <a:t>式代入</a:t>
            </a:r>
            <a:r>
              <a:rPr lang="en-US" altLang="zh-CN" dirty="0"/>
              <a:t>(3)</a:t>
            </a:r>
            <a:r>
              <a:rPr lang="zh-CN" altLang="en-US" dirty="0"/>
              <a:t>式，可得        </a:t>
            </a:r>
            <a:r>
              <a:rPr lang="en-US" altLang="zh-CN" dirty="0">
                <a:solidFill>
                  <a:srgbClr val="FF0000"/>
                </a:solidFill>
              </a:rPr>
              <a:t>2</a:t>
            </a:r>
            <a:r>
              <a:rPr lang="en-US" altLang="zh-CN" baseline="30000" dirty="0">
                <a:solidFill>
                  <a:srgbClr val="FF0000"/>
                </a:solidFill>
              </a:rPr>
              <a:t>k-1</a:t>
            </a:r>
            <a:r>
              <a:rPr lang="en-US" altLang="zh-CN" dirty="0">
                <a:solidFill>
                  <a:srgbClr val="FF0000"/>
                </a:solidFill>
              </a:rPr>
              <a:t>≤n&lt;2</a:t>
            </a:r>
            <a:r>
              <a:rPr lang="en-US" altLang="zh-CN" baseline="30000" dirty="0">
                <a:solidFill>
                  <a:srgbClr val="FF0000"/>
                </a:solidFill>
              </a:rPr>
              <a:t>k</a:t>
            </a:r>
            <a:endParaRPr lang="en-US" altLang="zh-CN" dirty="0"/>
          </a:p>
          <a:p>
            <a:pPr lvl="2">
              <a:lnSpc>
                <a:spcPts val="3000"/>
              </a:lnSpc>
            </a:pPr>
            <a:r>
              <a:rPr lang="en-US" altLang="zh-CN" dirty="0"/>
              <a:t>      </a:t>
            </a:r>
            <a:r>
              <a:rPr lang="zh-CN" altLang="en-US" dirty="0"/>
              <a:t>即          </a:t>
            </a:r>
            <a:r>
              <a:rPr lang="en-US" altLang="zh-CN" dirty="0">
                <a:solidFill>
                  <a:srgbClr val="FF0000"/>
                </a:solidFill>
              </a:rPr>
              <a:t>k-1≤log</a:t>
            </a:r>
            <a:r>
              <a:rPr lang="en-US" altLang="zh-CN" baseline="-25000" dirty="0">
                <a:solidFill>
                  <a:srgbClr val="FF0000"/>
                </a:solidFill>
              </a:rPr>
              <a:t>2</a:t>
            </a:r>
            <a:r>
              <a:rPr lang="en-US" altLang="zh-CN" dirty="0">
                <a:solidFill>
                  <a:srgbClr val="FF0000"/>
                </a:solidFill>
              </a:rPr>
              <a:t>n&lt;k</a:t>
            </a:r>
            <a:r>
              <a:rPr lang="zh-CN" altLang="en-US" dirty="0"/>
              <a:t> </a:t>
            </a:r>
            <a:endParaRPr lang="zh-CN" altLang="en-US" dirty="0"/>
          </a:p>
          <a:p>
            <a:pPr lvl="2">
              <a:lnSpc>
                <a:spcPts val="3000"/>
              </a:lnSpc>
            </a:pPr>
            <a:r>
              <a:rPr lang="en-US" altLang="zh-CN" dirty="0"/>
              <a:t>k</a:t>
            </a:r>
            <a:r>
              <a:rPr lang="zh-CN" altLang="en-US" dirty="0"/>
              <a:t>是整数，所以</a:t>
            </a:r>
            <a:r>
              <a:rPr lang="en-US" altLang="zh-CN" dirty="0"/>
              <a:t>k-1=[log</a:t>
            </a:r>
            <a:r>
              <a:rPr lang="en-US" altLang="zh-CN" baseline="-25000" dirty="0"/>
              <a:t>2</a:t>
            </a:r>
            <a:r>
              <a:rPr lang="en-US" altLang="zh-CN" dirty="0"/>
              <a:t>n]</a:t>
            </a:r>
            <a:r>
              <a:rPr lang="zh-CN" altLang="en-US" dirty="0"/>
              <a:t>，</a:t>
            </a:r>
            <a:r>
              <a:rPr lang="en-US" altLang="zh-CN" dirty="0"/>
              <a:t>k=[log</a:t>
            </a:r>
            <a:r>
              <a:rPr lang="en-US" altLang="zh-CN" baseline="-25000" dirty="0"/>
              <a:t>2</a:t>
            </a:r>
            <a:r>
              <a:rPr lang="en-US" altLang="zh-CN" dirty="0"/>
              <a:t>n]+1, </a:t>
            </a:r>
            <a:r>
              <a:rPr lang="zh-CN" altLang="en-US" dirty="0"/>
              <a:t>结论成立。  </a:t>
            </a:r>
            <a:endParaRPr lang="zh-CN" altLang="en-US"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sz="2000" dirty="0"/>
              <a:t>性质</a:t>
            </a:r>
            <a:r>
              <a:rPr lang="en-US" altLang="zh-CN" sz="2000" dirty="0"/>
              <a:t>5</a:t>
            </a:r>
            <a:r>
              <a:rPr lang="zh-CN" altLang="en-US" sz="2000" dirty="0"/>
              <a:t>：对于具有</a:t>
            </a:r>
            <a:r>
              <a:rPr lang="en-US" altLang="zh-CN" sz="2000" dirty="0"/>
              <a:t>n</a:t>
            </a:r>
            <a:r>
              <a:rPr lang="zh-CN" altLang="en-US" sz="2000" dirty="0"/>
              <a:t>个结点的完全二叉树</a:t>
            </a:r>
            <a:endParaRPr lang="en-US" altLang="zh-CN" sz="2000" dirty="0"/>
          </a:p>
          <a:p>
            <a:pPr lvl="2">
              <a:lnSpc>
                <a:spcPts val="2250"/>
              </a:lnSpc>
            </a:pPr>
            <a:r>
              <a:rPr lang="zh-CN" altLang="en-US" sz="2000" dirty="0"/>
              <a:t>如果按照从上到下、从左到右的</a:t>
            </a:r>
            <a:endParaRPr lang="en-US" altLang="zh-CN" sz="2000" dirty="0"/>
          </a:p>
          <a:p>
            <a:pPr lvl="2">
              <a:lnSpc>
                <a:spcPts val="2250"/>
              </a:lnSpc>
            </a:pPr>
            <a:r>
              <a:rPr lang="zh-CN" altLang="en-US" sz="2000" dirty="0"/>
              <a:t>顺序对所有结点从</a:t>
            </a:r>
            <a:r>
              <a:rPr lang="en-US" altLang="zh-CN" sz="2000" dirty="0"/>
              <a:t>1</a:t>
            </a:r>
            <a:r>
              <a:rPr lang="zh-CN" altLang="en-US" sz="2000" dirty="0"/>
              <a:t>开始编号，</a:t>
            </a:r>
            <a:endParaRPr lang="en-US" altLang="zh-CN" sz="2000" dirty="0"/>
          </a:p>
          <a:p>
            <a:pPr lvl="2">
              <a:lnSpc>
                <a:spcPts val="2250"/>
              </a:lnSpc>
            </a:pPr>
            <a:r>
              <a:rPr lang="zh-CN" altLang="en-US" sz="2000" dirty="0"/>
              <a:t>则对于任意的序号为</a:t>
            </a:r>
            <a:r>
              <a:rPr lang="en-US" altLang="zh-CN" sz="2000" dirty="0" err="1"/>
              <a:t>i</a:t>
            </a:r>
            <a:r>
              <a:rPr lang="zh-CN" altLang="en-US" sz="2000" dirty="0"/>
              <a:t>的结点有： </a:t>
            </a:r>
            <a:endParaRPr lang="en-US" altLang="zh-CN" sz="2000" dirty="0"/>
          </a:p>
          <a:p>
            <a:pPr lvl="2">
              <a:lnSpc>
                <a:spcPts val="2250"/>
              </a:lnSpc>
            </a:pPr>
            <a:r>
              <a:rPr lang="zh-CN" altLang="en-US" sz="2000" dirty="0"/>
              <a:t>（</a:t>
            </a:r>
            <a:r>
              <a:rPr lang="en-US" altLang="zh-CN" sz="2000" dirty="0"/>
              <a:t>1</a:t>
            </a:r>
            <a:r>
              <a:rPr lang="zh-CN" altLang="en-US" sz="2000" dirty="0"/>
              <a:t>）如</a:t>
            </a:r>
            <a:r>
              <a:rPr lang="en-US" altLang="zh-CN" sz="2000" dirty="0" err="1"/>
              <a:t>i</a:t>
            </a:r>
            <a:r>
              <a:rPr lang="en-US" altLang="zh-CN" sz="2000" dirty="0"/>
              <a:t>=1</a:t>
            </a:r>
            <a:r>
              <a:rPr lang="zh-CN" altLang="en-US" sz="2000" dirty="0"/>
              <a:t>，则序号为</a:t>
            </a:r>
            <a:r>
              <a:rPr lang="en-US" altLang="zh-CN" sz="2000" dirty="0" err="1"/>
              <a:t>i</a:t>
            </a:r>
            <a:r>
              <a:rPr lang="zh-CN" altLang="en-US" sz="2000" dirty="0"/>
              <a:t>的结点是根结点，无双亲结点；如</a:t>
            </a:r>
            <a:r>
              <a:rPr lang="en-US" altLang="zh-CN" sz="2000" dirty="0" err="1"/>
              <a:t>i</a:t>
            </a:r>
            <a:r>
              <a:rPr lang="en-US" altLang="zh-CN" sz="2000" dirty="0"/>
              <a:t>&gt;1</a:t>
            </a:r>
            <a:r>
              <a:rPr lang="zh-CN" altLang="en-US" sz="2000" dirty="0"/>
              <a:t>，则</a:t>
            </a:r>
            <a:r>
              <a:rPr lang="zh-CN" altLang="en-US" sz="2000" dirty="0">
                <a:solidFill>
                  <a:srgbClr val="FF0000"/>
                </a:solidFill>
              </a:rPr>
              <a:t>序号为</a:t>
            </a:r>
            <a:r>
              <a:rPr lang="en-US" altLang="zh-CN" sz="2000" dirty="0" err="1">
                <a:solidFill>
                  <a:srgbClr val="FF0000"/>
                </a:solidFill>
              </a:rPr>
              <a:t>i</a:t>
            </a:r>
            <a:r>
              <a:rPr lang="zh-CN" altLang="en-US" sz="2000" dirty="0">
                <a:solidFill>
                  <a:srgbClr val="FF0000"/>
                </a:solidFill>
              </a:rPr>
              <a:t>的结点的双亲结点序号为</a:t>
            </a:r>
            <a:r>
              <a:rPr lang="en-US" altLang="zh-CN" sz="2000" dirty="0">
                <a:solidFill>
                  <a:srgbClr val="FF0000"/>
                </a:solidFill>
              </a:rPr>
              <a:t>[</a:t>
            </a:r>
            <a:r>
              <a:rPr lang="en-US" altLang="zh-CN" sz="2000" dirty="0" err="1">
                <a:solidFill>
                  <a:srgbClr val="FF0000"/>
                </a:solidFill>
              </a:rPr>
              <a:t>i</a:t>
            </a:r>
            <a:r>
              <a:rPr lang="en-US" altLang="zh-CN" sz="2000" dirty="0">
                <a:solidFill>
                  <a:srgbClr val="FF0000"/>
                </a:solidFill>
              </a:rPr>
              <a:t>/2]</a:t>
            </a:r>
            <a:r>
              <a:rPr lang="zh-CN" altLang="en-US" sz="2000" dirty="0"/>
              <a:t>。 </a:t>
            </a:r>
            <a:endParaRPr lang="zh-CN" altLang="en-US" sz="2000" dirty="0"/>
          </a:p>
          <a:p>
            <a:pPr lvl="2">
              <a:lnSpc>
                <a:spcPts val="2250"/>
              </a:lnSpc>
            </a:pPr>
            <a:r>
              <a:rPr lang="zh-CN" altLang="en-US" sz="2000" dirty="0"/>
              <a:t>（</a:t>
            </a:r>
            <a:r>
              <a:rPr lang="en-US" altLang="zh-CN" sz="2000" dirty="0"/>
              <a:t>2</a:t>
            </a:r>
            <a:r>
              <a:rPr lang="zh-CN" altLang="en-US" sz="2000" dirty="0"/>
              <a:t>）如</a:t>
            </a:r>
            <a:r>
              <a:rPr lang="en-US" altLang="zh-CN" sz="2000" dirty="0" smtClean="0"/>
              <a:t>2i&gt;n</a:t>
            </a:r>
            <a:r>
              <a:rPr lang="zh-CN" altLang="en-US" sz="2000" dirty="0"/>
              <a:t>，则序号为</a:t>
            </a:r>
            <a:r>
              <a:rPr lang="en-US" altLang="zh-CN" sz="2000" dirty="0" err="1"/>
              <a:t>i</a:t>
            </a:r>
            <a:r>
              <a:rPr lang="zh-CN" altLang="en-US" sz="2000" dirty="0"/>
              <a:t>的结点无左孩子；如</a:t>
            </a:r>
            <a:r>
              <a:rPr lang="en-US" altLang="zh-CN" sz="2000" dirty="0" smtClean="0"/>
              <a:t>2i</a:t>
            </a:r>
            <a:r>
              <a:rPr lang="en-US" altLang="zh-CN" sz="2000" dirty="0"/>
              <a:t>≤n</a:t>
            </a:r>
            <a:r>
              <a:rPr lang="zh-CN" altLang="en-US" sz="2000" dirty="0"/>
              <a:t>，则</a:t>
            </a:r>
            <a:r>
              <a:rPr lang="zh-CN" altLang="en-US" sz="2000" dirty="0">
                <a:solidFill>
                  <a:srgbClr val="FF0000"/>
                </a:solidFill>
              </a:rPr>
              <a:t>序号为</a:t>
            </a:r>
            <a:r>
              <a:rPr lang="en-US" altLang="zh-CN" sz="2000" dirty="0" err="1">
                <a:solidFill>
                  <a:srgbClr val="FF0000"/>
                </a:solidFill>
              </a:rPr>
              <a:t>i</a:t>
            </a:r>
            <a:r>
              <a:rPr lang="zh-CN" altLang="en-US" sz="2000" dirty="0">
                <a:solidFill>
                  <a:srgbClr val="FF0000"/>
                </a:solidFill>
              </a:rPr>
              <a:t>的结点的左孩子结点的序号为</a:t>
            </a:r>
            <a:r>
              <a:rPr lang="en-US" altLang="zh-CN" sz="2000" dirty="0" smtClean="0">
                <a:solidFill>
                  <a:srgbClr val="FF0000"/>
                </a:solidFill>
              </a:rPr>
              <a:t>2i</a:t>
            </a:r>
            <a:r>
              <a:rPr lang="zh-CN" altLang="en-US" sz="2000" dirty="0"/>
              <a:t>。 </a:t>
            </a:r>
            <a:endParaRPr lang="en-US" altLang="zh-CN" sz="2000" dirty="0"/>
          </a:p>
          <a:p>
            <a:pPr lvl="2">
              <a:lnSpc>
                <a:spcPts val="2250"/>
              </a:lnSpc>
            </a:pPr>
            <a:r>
              <a:rPr lang="zh-CN" altLang="en-US" sz="2000" dirty="0"/>
              <a:t>（</a:t>
            </a:r>
            <a:r>
              <a:rPr lang="en-US" altLang="zh-CN" sz="2000" dirty="0"/>
              <a:t>3</a:t>
            </a:r>
            <a:r>
              <a:rPr lang="zh-CN" altLang="en-US" sz="2000" dirty="0"/>
              <a:t>）如</a:t>
            </a:r>
            <a:r>
              <a:rPr lang="en-US" altLang="zh-CN" sz="2000" dirty="0" smtClean="0"/>
              <a:t>2i</a:t>
            </a:r>
            <a:r>
              <a:rPr lang="zh-CN" altLang="en-US" sz="2000" dirty="0"/>
              <a:t>＋</a:t>
            </a:r>
            <a:r>
              <a:rPr lang="en-US" altLang="zh-CN" sz="2000" dirty="0"/>
              <a:t>1&gt;n</a:t>
            </a:r>
            <a:r>
              <a:rPr lang="zh-CN" altLang="en-US" sz="2000" dirty="0"/>
              <a:t>，则序号为</a:t>
            </a:r>
            <a:r>
              <a:rPr lang="en-US" altLang="zh-CN" sz="2000" dirty="0" err="1"/>
              <a:t>i</a:t>
            </a:r>
            <a:r>
              <a:rPr lang="zh-CN" altLang="en-US" sz="2000" dirty="0"/>
              <a:t>的结点无右孩子；如</a:t>
            </a:r>
            <a:r>
              <a:rPr lang="en-US" altLang="zh-CN" sz="2000" dirty="0" smtClean="0"/>
              <a:t>2i</a:t>
            </a:r>
            <a:r>
              <a:rPr lang="zh-CN" altLang="en-US" sz="2000" dirty="0"/>
              <a:t>＋</a:t>
            </a:r>
            <a:r>
              <a:rPr lang="en-US" altLang="zh-CN" sz="2000" dirty="0"/>
              <a:t>1≤n</a:t>
            </a:r>
            <a:r>
              <a:rPr lang="zh-CN" altLang="en-US" sz="2000" dirty="0"/>
              <a:t>，则</a:t>
            </a:r>
            <a:r>
              <a:rPr lang="zh-CN" altLang="en-US" sz="2000" dirty="0">
                <a:solidFill>
                  <a:srgbClr val="FF0000"/>
                </a:solidFill>
              </a:rPr>
              <a:t>序号为</a:t>
            </a:r>
            <a:r>
              <a:rPr lang="en-US" altLang="zh-CN" sz="2000" dirty="0" err="1">
                <a:solidFill>
                  <a:srgbClr val="FF0000"/>
                </a:solidFill>
              </a:rPr>
              <a:t>i</a:t>
            </a:r>
            <a:r>
              <a:rPr lang="zh-CN" altLang="en-US" sz="2000" dirty="0">
                <a:solidFill>
                  <a:srgbClr val="FF0000"/>
                </a:solidFill>
              </a:rPr>
              <a:t>的结点的右孩子结点的序号为</a:t>
            </a:r>
            <a:r>
              <a:rPr lang="en-US" altLang="zh-CN" sz="2000" dirty="0" smtClean="0">
                <a:solidFill>
                  <a:srgbClr val="FF0000"/>
                </a:solidFill>
              </a:rPr>
              <a:t>2i</a:t>
            </a:r>
            <a:r>
              <a:rPr lang="zh-CN" altLang="en-US" sz="2000" dirty="0">
                <a:solidFill>
                  <a:srgbClr val="FF0000"/>
                </a:solidFill>
              </a:rPr>
              <a:t>＋</a:t>
            </a:r>
            <a:r>
              <a:rPr lang="en-US" altLang="zh-CN" sz="2000" dirty="0">
                <a:solidFill>
                  <a:srgbClr val="FF0000"/>
                </a:solidFill>
              </a:rPr>
              <a:t>1</a:t>
            </a:r>
            <a:r>
              <a:rPr lang="zh-CN" altLang="en-US" sz="2000" dirty="0"/>
              <a:t>。 </a:t>
            </a:r>
            <a:endParaRPr lang="zh-CN" altLang="en-US" sz="20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pic>
        <p:nvPicPr>
          <p:cNvPr id="4" name="图片 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5550266" y="554063"/>
            <a:ext cx="2242321" cy="130611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1. </a:t>
            </a:r>
            <a:r>
              <a:rPr lang="zh-CN" altLang="en-US" dirty="0"/>
              <a:t>顺序存储</a:t>
            </a:r>
            <a:endParaRPr lang="en-US" altLang="zh-CN" dirty="0"/>
          </a:p>
          <a:p>
            <a:pPr lvl="2"/>
            <a:r>
              <a:rPr lang="zh-CN" altLang="en-US" sz="1800" dirty="0"/>
              <a:t>用一组地址连续的存储单元，</a:t>
            </a:r>
            <a:r>
              <a:rPr lang="zh-CN" altLang="en-US" sz="1800" dirty="0">
                <a:solidFill>
                  <a:srgbClr val="FF0000"/>
                </a:solidFill>
              </a:rPr>
              <a:t>完全二叉树</a:t>
            </a:r>
            <a:r>
              <a:rPr lang="zh-CN" altLang="en-US" sz="1800" dirty="0"/>
              <a:t>最适合这种存储结构。依次自上而下、自左至右存储完全二叉树上的结点元素，即将完全二叉树上编号为</a:t>
            </a:r>
            <a:r>
              <a:rPr lang="en-US" altLang="zh-CN" sz="1800" dirty="0" err="1"/>
              <a:t>i</a:t>
            </a:r>
            <a:r>
              <a:rPr lang="zh-CN" altLang="en-US" sz="1800" dirty="0"/>
              <a:t>的结点元素存储在数组的第</a:t>
            </a:r>
            <a:r>
              <a:rPr lang="en-US" altLang="zh-CN" sz="1800" dirty="0"/>
              <a:t>i-1</a:t>
            </a:r>
            <a:r>
              <a:rPr lang="zh-CN" altLang="en-US" sz="1800" dirty="0"/>
              <a:t>个位置。 </a:t>
            </a:r>
            <a:endParaRPr lang="en-US" altLang="zh-CN"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pic>
        <p:nvPicPr>
          <p:cNvPr id="5" name="图片 4"/>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62773" y="2540323"/>
            <a:ext cx="2572649" cy="1483363"/>
          </a:xfrm>
          <a:prstGeom prst="rect">
            <a:avLst/>
          </a:prstGeom>
        </p:spPr>
      </p:pic>
      <p:graphicFrame>
        <p:nvGraphicFramePr>
          <p:cNvPr id="6" name="表格 5"/>
          <p:cNvGraphicFramePr>
            <a:graphicFrameLocks noGrp="1"/>
          </p:cNvGraphicFramePr>
          <p:nvPr/>
        </p:nvGraphicFramePr>
        <p:xfrm>
          <a:off x="346962" y="4160782"/>
          <a:ext cx="4501660" cy="563880"/>
        </p:xfrm>
        <a:graphic>
          <a:graphicData uri="http://schemas.openxmlformats.org/drawingml/2006/table">
            <a:tbl>
              <a:tblPr firstRow="1" bandRow="1">
                <a:tableStyleId>{5C22544A-7EE6-4342-B048-85BDC9FD1C3A}</a:tableStyleId>
              </a:tblPr>
              <a:tblGrid>
                <a:gridCol w="601943"/>
                <a:gridCol w="310546"/>
                <a:gridCol w="306382"/>
                <a:gridCol w="307216"/>
                <a:gridCol w="313043"/>
                <a:gridCol w="303885"/>
                <a:gridCol w="303885"/>
                <a:gridCol w="312211"/>
                <a:gridCol w="314708"/>
                <a:gridCol w="303885"/>
                <a:gridCol w="374652"/>
                <a:gridCol w="374652"/>
                <a:gridCol w="374652"/>
              </a:tblGrid>
              <a:tr h="220345">
                <a:tc>
                  <a:txBody>
                    <a:bodyPr/>
                    <a:lstStyle/>
                    <a:p>
                      <a:pPr algn="just">
                        <a:spcAft>
                          <a:spcPts val="0"/>
                        </a:spcAft>
                      </a:pPr>
                      <a:r>
                        <a:rPr lang="zh-CN" sz="1400" kern="100" dirty="0">
                          <a:effectLst/>
                        </a:rPr>
                        <a:t>数据</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0" marR="0" marT="0" marB="0"/>
                </a:tc>
                <a:tc>
                  <a:txBody>
                    <a:bodyPr/>
                    <a:lstStyle/>
                    <a:p>
                      <a:pPr algn="just">
                        <a:spcAft>
                          <a:spcPts val="0"/>
                        </a:spcAft>
                      </a:pPr>
                      <a:r>
                        <a:rPr lang="en-US" sz="1400" kern="100" dirty="0">
                          <a:effectLst/>
                        </a:rPr>
                        <a:t>A</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B</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C</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D</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E</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F</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G</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a:effectLst/>
                        </a:rPr>
                        <a:t>H</a:t>
                      </a:r>
                      <a:endParaRPr lang="zh-CN" sz="1400" kern="10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a:effectLst/>
                        </a:rPr>
                        <a:t>I</a:t>
                      </a:r>
                      <a:endParaRPr lang="zh-CN" sz="1400" kern="10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a:effectLst/>
                        </a:rPr>
                        <a:t>J</a:t>
                      </a:r>
                      <a:endParaRPr lang="zh-CN" sz="1400" kern="10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a:effectLst/>
                        </a:rPr>
                        <a:t>K</a:t>
                      </a:r>
                      <a:endParaRPr lang="zh-CN" sz="1400" kern="10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a:effectLst/>
                        </a:rPr>
                        <a:t>L</a:t>
                      </a:r>
                      <a:endParaRPr lang="zh-CN" sz="1400" kern="10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r>
              <a:tr h="198755">
                <a:tc>
                  <a:txBody>
                    <a:bodyPr/>
                    <a:lstStyle/>
                    <a:p>
                      <a:pPr algn="just">
                        <a:spcAft>
                          <a:spcPts val="0"/>
                        </a:spcAft>
                      </a:pPr>
                      <a:r>
                        <a:rPr lang="zh-CN" sz="1400" kern="100">
                          <a:effectLst/>
                        </a:rPr>
                        <a:t>编号</a:t>
                      </a:r>
                      <a:endParaRPr lang="zh-CN" sz="1400" kern="100">
                        <a:effectLst/>
                        <a:latin typeface="等线" panose="02010600030101010101" pitchFamily="2" charset="-122"/>
                        <a:ea typeface="等线" panose="02010600030101010101" pitchFamily="2" charset="-122"/>
                        <a:cs typeface="Times New Roman" panose="02020603050405020304" pitchFamily="18" charset="0"/>
                      </a:endParaRPr>
                    </a:p>
                  </a:txBody>
                  <a:tcPr marL="0" marR="0" marT="0" marB="0"/>
                </a:tc>
                <a:tc>
                  <a:txBody>
                    <a:bodyPr/>
                    <a:lstStyle/>
                    <a:p>
                      <a:pPr algn="just">
                        <a:spcAft>
                          <a:spcPts val="0"/>
                        </a:spcAft>
                      </a:pPr>
                      <a:r>
                        <a:rPr lang="en-US" sz="1400" kern="100" dirty="0">
                          <a:effectLst/>
                        </a:rPr>
                        <a:t>1</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2</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3</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4</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5</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6</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7</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8</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9</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10</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11</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c>
                  <a:txBody>
                    <a:bodyPr/>
                    <a:lstStyle/>
                    <a:p>
                      <a:pPr algn="just">
                        <a:spcAft>
                          <a:spcPts val="0"/>
                        </a:spcAft>
                      </a:pPr>
                      <a:r>
                        <a:rPr lang="en-US" sz="1400" kern="100" dirty="0">
                          <a:effectLst/>
                        </a:rPr>
                        <a:t>12</a:t>
                      </a:r>
                      <a:endParaRPr lang="zh-CN" sz="14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68580" marR="68580" marT="34290" marB="34290"/>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107294" y="528931"/>
            <a:ext cx="6070651" cy="4085639"/>
          </a:xfrm>
        </p:spPr>
        <p:txBody>
          <a:bodyPr/>
          <a:lstStyle/>
          <a:p>
            <a:r>
              <a:rPr lang="en-US" altLang="zh-CN" dirty="0"/>
              <a:t>1. </a:t>
            </a:r>
            <a:r>
              <a:rPr lang="zh-CN" altLang="en-US" dirty="0"/>
              <a:t>顺序存储</a:t>
            </a:r>
            <a:endParaRPr lang="en-US" altLang="zh-CN" dirty="0"/>
          </a:p>
          <a:p>
            <a:pPr lvl="2"/>
            <a:r>
              <a:rPr lang="zh-CN" altLang="en-US" sz="1800" dirty="0"/>
              <a:t>一般二叉树采用顺序存储，会产生空间的浪费。</a:t>
            </a:r>
            <a:endParaRPr lang="en-US" altLang="zh-CN"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grpSp>
        <p:nvGrpSpPr>
          <p:cNvPr id="23" name="Group 3"/>
          <p:cNvGrpSpPr/>
          <p:nvPr/>
        </p:nvGrpSpPr>
        <p:grpSpPr bwMode="auto">
          <a:xfrm>
            <a:off x="389125" y="1387649"/>
            <a:ext cx="5506986" cy="1797679"/>
            <a:chOff x="2724" y="12617"/>
            <a:chExt cx="6882" cy="2352"/>
          </a:xfrm>
        </p:grpSpPr>
        <p:grpSp>
          <p:nvGrpSpPr>
            <p:cNvPr id="24" name="Group 4"/>
            <p:cNvGrpSpPr/>
            <p:nvPr/>
          </p:nvGrpSpPr>
          <p:grpSpPr bwMode="auto">
            <a:xfrm>
              <a:off x="2724" y="12809"/>
              <a:ext cx="2238" cy="2007"/>
              <a:chOff x="2829" y="2879"/>
              <a:chExt cx="2238" cy="2007"/>
            </a:xfrm>
          </p:grpSpPr>
          <p:sp>
            <p:nvSpPr>
              <p:cNvPr id="69" name="Oval 5"/>
              <p:cNvSpPr>
                <a:spLocks noChangeArrowheads="1"/>
              </p:cNvSpPr>
              <p:nvPr/>
            </p:nvSpPr>
            <p:spPr bwMode="auto">
              <a:xfrm>
                <a:off x="3750" y="2879"/>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70" name="Text Box 6"/>
              <p:cNvSpPr txBox="1">
                <a:spLocks noChangeArrowheads="1"/>
              </p:cNvSpPr>
              <p:nvPr/>
            </p:nvSpPr>
            <p:spPr bwMode="auto">
              <a:xfrm>
                <a:off x="3843" y="2936"/>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A</a:t>
                </a:r>
                <a:endParaRPr lang="zh-CN" altLang="zh-CN" sz="1400" b="1">
                  <a:latin typeface="Arial" panose="020B0604020202020204" pitchFamily="34" charset="0"/>
                  <a:ea typeface="宋体" panose="02010600030101010101" pitchFamily="2" charset="-122"/>
                </a:endParaRPr>
              </a:p>
            </p:txBody>
          </p:sp>
          <p:sp>
            <p:nvSpPr>
              <p:cNvPr id="71" name="Oval 7"/>
              <p:cNvSpPr>
                <a:spLocks noChangeArrowheads="1"/>
              </p:cNvSpPr>
              <p:nvPr/>
            </p:nvSpPr>
            <p:spPr bwMode="auto">
              <a:xfrm>
                <a:off x="2829" y="3443"/>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72" name="Text Box 8"/>
              <p:cNvSpPr txBox="1">
                <a:spLocks noChangeArrowheads="1"/>
              </p:cNvSpPr>
              <p:nvPr/>
            </p:nvSpPr>
            <p:spPr bwMode="auto">
              <a:xfrm>
                <a:off x="2922" y="3500"/>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B</a:t>
                </a:r>
                <a:endParaRPr lang="zh-CN" altLang="zh-CN" sz="1400" b="1">
                  <a:latin typeface="Arial" panose="020B0604020202020204" pitchFamily="34" charset="0"/>
                  <a:ea typeface="宋体" panose="02010600030101010101" pitchFamily="2" charset="-122"/>
                </a:endParaRPr>
              </a:p>
            </p:txBody>
          </p:sp>
          <p:sp>
            <p:nvSpPr>
              <p:cNvPr id="73" name="Oval 9"/>
              <p:cNvSpPr>
                <a:spLocks noChangeArrowheads="1"/>
              </p:cNvSpPr>
              <p:nvPr/>
            </p:nvSpPr>
            <p:spPr bwMode="auto">
              <a:xfrm>
                <a:off x="4698" y="3458"/>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74" name="Text Box 10"/>
              <p:cNvSpPr txBox="1">
                <a:spLocks noChangeArrowheads="1"/>
              </p:cNvSpPr>
              <p:nvPr/>
            </p:nvSpPr>
            <p:spPr bwMode="auto">
              <a:xfrm>
                <a:off x="4791" y="3515"/>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O</a:t>
                </a:r>
                <a:endParaRPr lang="zh-CN" altLang="zh-CN" sz="1400" b="1">
                  <a:latin typeface="Arial" panose="020B0604020202020204" pitchFamily="34" charset="0"/>
                  <a:ea typeface="宋体" panose="02010600030101010101" pitchFamily="2" charset="-122"/>
                </a:endParaRPr>
              </a:p>
            </p:txBody>
          </p:sp>
          <p:sp>
            <p:nvSpPr>
              <p:cNvPr id="75" name="Line 11"/>
              <p:cNvSpPr>
                <a:spLocks noChangeShapeType="1"/>
              </p:cNvSpPr>
              <p:nvPr/>
            </p:nvSpPr>
            <p:spPr bwMode="auto">
              <a:xfrm flipH="1">
                <a:off x="3162" y="3206"/>
                <a:ext cx="666" cy="32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76" name="Line 12"/>
              <p:cNvSpPr>
                <a:spLocks noChangeShapeType="1"/>
              </p:cNvSpPr>
              <p:nvPr/>
            </p:nvSpPr>
            <p:spPr bwMode="auto">
              <a:xfrm>
                <a:off x="4071" y="3188"/>
                <a:ext cx="666" cy="32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77" name="Oval 13"/>
              <p:cNvSpPr>
                <a:spLocks noChangeArrowheads="1"/>
              </p:cNvSpPr>
              <p:nvPr/>
            </p:nvSpPr>
            <p:spPr bwMode="auto">
              <a:xfrm>
                <a:off x="4239" y="3992"/>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78" name="Text Box 14"/>
              <p:cNvSpPr txBox="1">
                <a:spLocks noChangeArrowheads="1"/>
              </p:cNvSpPr>
              <p:nvPr/>
            </p:nvSpPr>
            <p:spPr bwMode="auto">
              <a:xfrm>
                <a:off x="4332" y="4049"/>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M</a:t>
                </a:r>
                <a:endParaRPr lang="zh-CN" altLang="zh-CN" sz="1400" b="1">
                  <a:latin typeface="Arial" panose="020B0604020202020204" pitchFamily="34" charset="0"/>
                  <a:ea typeface="宋体" panose="02010600030101010101" pitchFamily="2" charset="-122"/>
                </a:endParaRPr>
              </a:p>
            </p:txBody>
          </p:sp>
          <p:sp>
            <p:nvSpPr>
              <p:cNvPr id="79" name="Line 15"/>
              <p:cNvSpPr>
                <a:spLocks noChangeShapeType="1"/>
              </p:cNvSpPr>
              <p:nvPr/>
            </p:nvSpPr>
            <p:spPr bwMode="auto">
              <a:xfrm flipH="1">
                <a:off x="4554" y="3776"/>
                <a:ext cx="210" cy="23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80" name="Oval 16"/>
              <p:cNvSpPr>
                <a:spLocks noChangeArrowheads="1"/>
              </p:cNvSpPr>
              <p:nvPr/>
            </p:nvSpPr>
            <p:spPr bwMode="auto">
              <a:xfrm>
                <a:off x="4542" y="4517"/>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81" name="Text Box 17"/>
              <p:cNvSpPr txBox="1">
                <a:spLocks noChangeArrowheads="1"/>
              </p:cNvSpPr>
              <p:nvPr/>
            </p:nvSpPr>
            <p:spPr bwMode="auto">
              <a:xfrm>
                <a:off x="4635" y="4574"/>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C</a:t>
                </a:r>
                <a:endParaRPr lang="zh-CN" altLang="zh-CN" sz="1400" b="1">
                  <a:latin typeface="Arial" panose="020B0604020202020204" pitchFamily="34" charset="0"/>
                  <a:ea typeface="宋体" panose="02010600030101010101" pitchFamily="2" charset="-122"/>
                </a:endParaRPr>
              </a:p>
            </p:txBody>
          </p:sp>
          <p:sp>
            <p:nvSpPr>
              <p:cNvPr id="82" name="Line 18"/>
              <p:cNvSpPr>
                <a:spLocks noChangeShapeType="1"/>
              </p:cNvSpPr>
              <p:nvPr/>
            </p:nvSpPr>
            <p:spPr bwMode="auto">
              <a:xfrm>
                <a:off x="4536" y="4334"/>
                <a:ext cx="69" cy="226"/>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grpSp>
        <p:grpSp>
          <p:nvGrpSpPr>
            <p:cNvPr id="25" name="Group 19"/>
            <p:cNvGrpSpPr/>
            <p:nvPr/>
          </p:nvGrpSpPr>
          <p:grpSpPr bwMode="auto">
            <a:xfrm>
              <a:off x="5997" y="12617"/>
              <a:ext cx="3609" cy="2352"/>
              <a:chOff x="6372" y="2612"/>
              <a:chExt cx="3609" cy="2352"/>
            </a:xfrm>
          </p:grpSpPr>
          <p:sp>
            <p:nvSpPr>
              <p:cNvPr id="26" name="Text Box 20"/>
              <p:cNvSpPr txBox="1">
                <a:spLocks noChangeArrowheads="1"/>
              </p:cNvSpPr>
              <p:nvPr/>
            </p:nvSpPr>
            <p:spPr bwMode="auto">
              <a:xfrm>
                <a:off x="8413" y="2612"/>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1</a:t>
                </a:r>
                <a:endParaRPr lang="zh-CN" altLang="zh-CN" sz="1400" b="1">
                  <a:latin typeface="Arial" panose="020B0604020202020204" pitchFamily="34" charset="0"/>
                  <a:ea typeface="宋体" panose="02010600030101010101" pitchFamily="2" charset="-122"/>
                </a:endParaRPr>
              </a:p>
            </p:txBody>
          </p:sp>
          <p:sp>
            <p:nvSpPr>
              <p:cNvPr id="27" name="Text Box 21"/>
              <p:cNvSpPr txBox="1">
                <a:spLocks noChangeArrowheads="1"/>
              </p:cNvSpPr>
              <p:nvPr/>
            </p:nvSpPr>
            <p:spPr bwMode="auto">
              <a:xfrm>
                <a:off x="9241" y="3194"/>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3</a:t>
                </a:r>
                <a:endParaRPr lang="zh-CN" altLang="zh-CN" sz="1400" b="1">
                  <a:latin typeface="Arial" panose="020B0604020202020204" pitchFamily="34" charset="0"/>
                  <a:ea typeface="宋体" panose="02010600030101010101" pitchFamily="2" charset="-122"/>
                </a:endParaRPr>
              </a:p>
            </p:txBody>
          </p:sp>
          <p:sp>
            <p:nvSpPr>
              <p:cNvPr id="28" name="Text Box 22"/>
              <p:cNvSpPr txBox="1">
                <a:spLocks noChangeArrowheads="1"/>
              </p:cNvSpPr>
              <p:nvPr/>
            </p:nvSpPr>
            <p:spPr bwMode="auto">
              <a:xfrm>
                <a:off x="9751" y="3707"/>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7</a:t>
                </a:r>
                <a:endParaRPr lang="zh-CN" altLang="zh-CN" sz="1400" b="1">
                  <a:latin typeface="Arial" panose="020B0604020202020204" pitchFamily="34" charset="0"/>
                  <a:ea typeface="宋体" panose="02010600030101010101" pitchFamily="2" charset="-122"/>
                </a:endParaRPr>
              </a:p>
            </p:txBody>
          </p:sp>
          <p:sp>
            <p:nvSpPr>
              <p:cNvPr id="29" name="Text Box 23"/>
              <p:cNvSpPr txBox="1">
                <a:spLocks noChangeArrowheads="1"/>
              </p:cNvSpPr>
              <p:nvPr/>
            </p:nvSpPr>
            <p:spPr bwMode="auto">
              <a:xfrm>
                <a:off x="8845" y="3737"/>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6</a:t>
                </a:r>
                <a:endParaRPr lang="zh-CN" altLang="zh-CN" sz="1400" b="1">
                  <a:latin typeface="Arial" panose="020B0604020202020204" pitchFamily="34" charset="0"/>
                  <a:ea typeface="宋体" panose="02010600030101010101" pitchFamily="2" charset="-122"/>
                </a:endParaRPr>
              </a:p>
            </p:txBody>
          </p:sp>
          <p:sp>
            <p:nvSpPr>
              <p:cNvPr id="30" name="Text Box 24"/>
              <p:cNvSpPr txBox="1">
                <a:spLocks noChangeArrowheads="1"/>
              </p:cNvSpPr>
              <p:nvPr/>
            </p:nvSpPr>
            <p:spPr bwMode="auto">
              <a:xfrm>
                <a:off x="7636" y="3662"/>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5</a:t>
                </a:r>
                <a:endParaRPr lang="zh-CN" altLang="zh-CN" sz="1400" b="1">
                  <a:latin typeface="Arial" panose="020B0604020202020204" pitchFamily="34" charset="0"/>
                  <a:ea typeface="宋体" panose="02010600030101010101" pitchFamily="2" charset="-122"/>
                </a:endParaRPr>
              </a:p>
            </p:txBody>
          </p:sp>
          <p:sp>
            <p:nvSpPr>
              <p:cNvPr id="31" name="Text Box 25"/>
              <p:cNvSpPr txBox="1">
                <a:spLocks noChangeArrowheads="1"/>
              </p:cNvSpPr>
              <p:nvPr/>
            </p:nvSpPr>
            <p:spPr bwMode="auto">
              <a:xfrm>
                <a:off x="6765" y="3681"/>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4</a:t>
                </a:r>
                <a:endParaRPr lang="zh-CN" altLang="zh-CN" sz="1400" b="1">
                  <a:latin typeface="Arial" panose="020B0604020202020204" pitchFamily="34" charset="0"/>
                  <a:ea typeface="宋体" panose="02010600030101010101" pitchFamily="2" charset="-122"/>
                </a:endParaRPr>
              </a:p>
            </p:txBody>
          </p:sp>
          <p:sp>
            <p:nvSpPr>
              <p:cNvPr id="32" name="Text Box 26"/>
              <p:cNvSpPr txBox="1">
                <a:spLocks noChangeArrowheads="1"/>
              </p:cNvSpPr>
              <p:nvPr/>
            </p:nvSpPr>
            <p:spPr bwMode="auto">
              <a:xfrm>
                <a:off x="7050" y="4296"/>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9</a:t>
                </a:r>
                <a:endParaRPr lang="zh-CN" altLang="zh-CN" sz="1400" b="1">
                  <a:latin typeface="Arial" panose="020B0604020202020204" pitchFamily="34" charset="0"/>
                  <a:ea typeface="宋体" panose="02010600030101010101" pitchFamily="2" charset="-122"/>
                </a:endParaRPr>
              </a:p>
            </p:txBody>
          </p:sp>
          <p:sp>
            <p:nvSpPr>
              <p:cNvPr id="33" name="Text Box 27"/>
              <p:cNvSpPr txBox="1">
                <a:spLocks noChangeArrowheads="1"/>
              </p:cNvSpPr>
              <p:nvPr/>
            </p:nvSpPr>
            <p:spPr bwMode="auto">
              <a:xfrm>
                <a:off x="6425" y="4316"/>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8</a:t>
                </a:r>
                <a:endParaRPr lang="zh-CN" altLang="zh-CN" sz="1400" b="1">
                  <a:latin typeface="Arial" panose="020B0604020202020204" pitchFamily="34" charset="0"/>
                  <a:ea typeface="宋体" panose="02010600030101010101" pitchFamily="2" charset="-122"/>
                </a:endParaRPr>
              </a:p>
            </p:txBody>
          </p:sp>
          <p:sp>
            <p:nvSpPr>
              <p:cNvPr id="34" name="Text Box 28"/>
              <p:cNvSpPr txBox="1">
                <a:spLocks noChangeArrowheads="1"/>
              </p:cNvSpPr>
              <p:nvPr/>
            </p:nvSpPr>
            <p:spPr bwMode="auto">
              <a:xfrm>
                <a:off x="7328" y="3154"/>
                <a:ext cx="135" cy="282"/>
              </a:xfrm>
              <a:prstGeom prst="rect">
                <a:avLst/>
              </a:prstGeom>
              <a:solidFill>
                <a:srgbClr val="FFFFFF"/>
              </a:solidFill>
              <a:ln w="9525">
                <a:noFill/>
                <a:miter lim="800000"/>
              </a:ln>
            </p:spPr>
            <p:txBody>
              <a:bodyPr vert="horz" wrap="square" lIns="0" tIns="0" rIns="0" bIns="0" numCol="1" anchor="ctr" anchorCtr="0" compatLnSpc="1">
                <a:spAutoFit/>
              </a:bodyPr>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2</a:t>
                </a:r>
                <a:endParaRPr lang="zh-CN" altLang="zh-CN" sz="1400" b="1">
                  <a:latin typeface="Arial" panose="020B0604020202020204" pitchFamily="34" charset="0"/>
                  <a:ea typeface="宋体" panose="02010600030101010101" pitchFamily="2" charset="-122"/>
                </a:endParaRPr>
              </a:p>
            </p:txBody>
          </p:sp>
          <p:sp>
            <p:nvSpPr>
              <p:cNvPr id="35" name="Oval 29"/>
              <p:cNvSpPr>
                <a:spLocks noChangeArrowheads="1"/>
              </p:cNvSpPr>
              <p:nvPr/>
            </p:nvSpPr>
            <p:spPr bwMode="auto">
              <a:xfrm>
                <a:off x="8202" y="2897"/>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36" name="Text Box 30"/>
              <p:cNvSpPr txBox="1">
                <a:spLocks noChangeArrowheads="1"/>
              </p:cNvSpPr>
              <p:nvPr/>
            </p:nvSpPr>
            <p:spPr bwMode="auto">
              <a:xfrm>
                <a:off x="8295" y="2954"/>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A</a:t>
                </a:r>
                <a:endParaRPr lang="zh-CN" altLang="zh-CN" sz="1400" b="1">
                  <a:latin typeface="Arial" panose="020B0604020202020204" pitchFamily="34" charset="0"/>
                  <a:ea typeface="宋体" panose="02010600030101010101" pitchFamily="2" charset="-122"/>
                </a:endParaRPr>
              </a:p>
            </p:txBody>
          </p:sp>
          <p:sp>
            <p:nvSpPr>
              <p:cNvPr id="37" name="Oval 31"/>
              <p:cNvSpPr>
                <a:spLocks noChangeArrowheads="1"/>
              </p:cNvSpPr>
              <p:nvPr/>
            </p:nvSpPr>
            <p:spPr bwMode="auto">
              <a:xfrm>
                <a:off x="7056" y="340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38" name="Text Box 32"/>
              <p:cNvSpPr txBox="1">
                <a:spLocks noChangeArrowheads="1"/>
              </p:cNvSpPr>
              <p:nvPr/>
            </p:nvSpPr>
            <p:spPr bwMode="auto">
              <a:xfrm>
                <a:off x="7149" y="3458"/>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B</a:t>
                </a:r>
                <a:endParaRPr lang="zh-CN" altLang="zh-CN" sz="1400" b="1">
                  <a:latin typeface="Arial" panose="020B0604020202020204" pitchFamily="34" charset="0"/>
                  <a:ea typeface="宋体" panose="02010600030101010101" pitchFamily="2" charset="-122"/>
                </a:endParaRPr>
              </a:p>
            </p:txBody>
          </p:sp>
          <p:sp>
            <p:nvSpPr>
              <p:cNvPr id="39" name="Oval 33"/>
              <p:cNvSpPr>
                <a:spLocks noChangeArrowheads="1"/>
              </p:cNvSpPr>
              <p:nvPr/>
            </p:nvSpPr>
            <p:spPr bwMode="auto">
              <a:xfrm>
                <a:off x="9150" y="3476"/>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0" name="Text Box 34"/>
              <p:cNvSpPr txBox="1">
                <a:spLocks noChangeArrowheads="1"/>
              </p:cNvSpPr>
              <p:nvPr/>
            </p:nvSpPr>
            <p:spPr bwMode="auto">
              <a:xfrm>
                <a:off x="9243" y="3533"/>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O</a:t>
                </a:r>
                <a:endParaRPr lang="zh-CN" altLang="zh-CN" sz="1400" b="1">
                  <a:latin typeface="Arial" panose="020B0604020202020204" pitchFamily="34" charset="0"/>
                  <a:ea typeface="宋体" panose="02010600030101010101" pitchFamily="2" charset="-122"/>
                </a:endParaRPr>
              </a:p>
            </p:txBody>
          </p:sp>
          <p:sp>
            <p:nvSpPr>
              <p:cNvPr id="41" name="Line 35"/>
              <p:cNvSpPr>
                <a:spLocks noChangeShapeType="1"/>
              </p:cNvSpPr>
              <p:nvPr/>
            </p:nvSpPr>
            <p:spPr bwMode="auto">
              <a:xfrm flipH="1">
                <a:off x="7389" y="3164"/>
                <a:ext cx="813" cy="32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2" name="Oval 36"/>
              <p:cNvSpPr>
                <a:spLocks noChangeArrowheads="1"/>
              </p:cNvSpPr>
              <p:nvPr/>
            </p:nvSpPr>
            <p:spPr bwMode="auto">
              <a:xfrm>
                <a:off x="6591" y="3965"/>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3" name="Oval 37"/>
              <p:cNvSpPr>
                <a:spLocks noChangeArrowheads="1"/>
              </p:cNvSpPr>
              <p:nvPr/>
            </p:nvSpPr>
            <p:spPr bwMode="auto">
              <a:xfrm>
                <a:off x="7515" y="3926"/>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4" name="Line 38"/>
              <p:cNvSpPr>
                <a:spLocks noChangeShapeType="1"/>
              </p:cNvSpPr>
              <p:nvPr/>
            </p:nvSpPr>
            <p:spPr bwMode="auto">
              <a:xfrm>
                <a:off x="7365" y="3734"/>
                <a:ext cx="219" cy="22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5" name="Line 39"/>
              <p:cNvSpPr>
                <a:spLocks noChangeShapeType="1"/>
              </p:cNvSpPr>
              <p:nvPr/>
            </p:nvSpPr>
            <p:spPr bwMode="auto">
              <a:xfrm>
                <a:off x="8523" y="3206"/>
                <a:ext cx="666" cy="32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6" name="Line 40"/>
              <p:cNvSpPr>
                <a:spLocks noChangeShapeType="1"/>
              </p:cNvSpPr>
              <p:nvPr/>
            </p:nvSpPr>
            <p:spPr bwMode="auto">
              <a:xfrm flipH="1">
                <a:off x="6909" y="3749"/>
                <a:ext cx="210" cy="23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7" name="Oval 41"/>
              <p:cNvSpPr>
                <a:spLocks noChangeArrowheads="1"/>
              </p:cNvSpPr>
              <p:nvPr/>
            </p:nvSpPr>
            <p:spPr bwMode="auto">
              <a:xfrm>
                <a:off x="6372" y="4568"/>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8" name="Oval 42"/>
              <p:cNvSpPr>
                <a:spLocks noChangeArrowheads="1"/>
              </p:cNvSpPr>
              <p:nvPr/>
            </p:nvSpPr>
            <p:spPr bwMode="auto">
              <a:xfrm>
                <a:off x="6846" y="4553"/>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49" name="Line 43"/>
              <p:cNvSpPr>
                <a:spLocks noChangeShapeType="1"/>
              </p:cNvSpPr>
              <p:nvPr/>
            </p:nvSpPr>
            <p:spPr bwMode="auto">
              <a:xfrm>
                <a:off x="6861" y="4301"/>
                <a:ext cx="93" cy="26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0" name="Line 44"/>
              <p:cNvSpPr>
                <a:spLocks noChangeShapeType="1"/>
              </p:cNvSpPr>
              <p:nvPr/>
            </p:nvSpPr>
            <p:spPr bwMode="auto">
              <a:xfrm flipH="1">
                <a:off x="6609" y="4301"/>
                <a:ext cx="96" cy="29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1" name="Oval 45"/>
              <p:cNvSpPr>
                <a:spLocks noChangeArrowheads="1"/>
              </p:cNvSpPr>
              <p:nvPr/>
            </p:nvSpPr>
            <p:spPr bwMode="auto">
              <a:xfrm>
                <a:off x="8691" y="4010"/>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2" name="Text Box 46"/>
              <p:cNvSpPr txBox="1">
                <a:spLocks noChangeArrowheads="1"/>
              </p:cNvSpPr>
              <p:nvPr/>
            </p:nvSpPr>
            <p:spPr bwMode="auto">
              <a:xfrm>
                <a:off x="8784" y="4067"/>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M</a:t>
                </a:r>
                <a:endParaRPr lang="zh-CN" altLang="zh-CN" sz="1400" b="1">
                  <a:latin typeface="Arial" panose="020B0604020202020204" pitchFamily="34" charset="0"/>
                  <a:ea typeface="宋体" panose="02010600030101010101" pitchFamily="2" charset="-122"/>
                </a:endParaRPr>
              </a:p>
            </p:txBody>
          </p:sp>
          <p:sp>
            <p:nvSpPr>
              <p:cNvPr id="53" name="Oval 47"/>
              <p:cNvSpPr>
                <a:spLocks noChangeArrowheads="1"/>
              </p:cNvSpPr>
              <p:nvPr/>
            </p:nvSpPr>
            <p:spPr bwMode="auto">
              <a:xfrm>
                <a:off x="9612" y="3971"/>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4" name="Line 48"/>
              <p:cNvSpPr>
                <a:spLocks noChangeShapeType="1"/>
              </p:cNvSpPr>
              <p:nvPr/>
            </p:nvSpPr>
            <p:spPr bwMode="auto">
              <a:xfrm>
                <a:off x="9462" y="3779"/>
                <a:ext cx="219" cy="22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5" name="Line 49"/>
              <p:cNvSpPr>
                <a:spLocks noChangeShapeType="1"/>
              </p:cNvSpPr>
              <p:nvPr/>
            </p:nvSpPr>
            <p:spPr bwMode="auto">
              <a:xfrm flipH="1">
                <a:off x="9006" y="3794"/>
                <a:ext cx="210" cy="23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6" name="Text Box 50"/>
              <p:cNvSpPr txBox="1">
                <a:spLocks noChangeArrowheads="1"/>
              </p:cNvSpPr>
              <p:nvPr/>
            </p:nvSpPr>
            <p:spPr bwMode="auto">
              <a:xfrm>
                <a:off x="9184" y="4324"/>
                <a:ext cx="263" cy="340"/>
              </a:xfrm>
              <a:prstGeom prst="rect">
                <a:avLst/>
              </a:prstGeom>
              <a:solidFill>
                <a:srgbClr val="FFFFFF"/>
              </a:solidFill>
              <a:ln w="9525">
                <a:noFill/>
                <a:miter lim="800000"/>
              </a:ln>
            </p:spPr>
            <p:txBody>
              <a:bodyPr vert="horz" wrap="square" lIns="0" tIns="0" rIns="0" bIns="0" numCol="1" anchor="ctr" anchorCtr="0" compatLnSpc="1"/>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13</a:t>
                </a:r>
                <a:endParaRPr lang="zh-CN" altLang="zh-CN" sz="1400" b="1">
                  <a:latin typeface="Arial" panose="020B0604020202020204" pitchFamily="34" charset="0"/>
                  <a:ea typeface="宋体" panose="02010600030101010101" pitchFamily="2" charset="-122"/>
                </a:endParaRPr>
              </a:p>
            </p:txBody>
          </p:sp>
          <p:sp>
            <p:nvSpPr>
              <p:cNvPr id="57" name="Oval 51"/>
              <p:cNvSpPr>
                <a:spLocks noChangeArrowheads="1"/>
              </p:cNvSpPr>
              <p:nvPr/>
            </p:nvSpPr>
            <p:spPr bwMode="auto">
              <a:xfrm>
                <a:off x="8394" y="4595"/>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8" name="Line 52"/>
              <p:cNvSpPr>
                <a:spLocks noChangeShapeType="1"/>
              </p:cNvSpPr>
              <p:nvPr/>
            </p:nvSpPr>
            <p:spPr bwMode="auto">
              <a:xfrm flipH="1">
                <a:off x="8682" y="4379"/>
                <a:ext cx="102" cy="239"/>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59" name="Oval 53"/>
              <p:cNvSpPr>
                <a:spLocks noChangeArrowheads="1"/>
              </p:cNvSpPr>
              <p:nvPr/>
            </p:nvSpPr>
            <p:spPr bwMode="auto">
              <a:xfrm>
                <a:off x="8980" y="4571"/>
                <a:ext cx="369" cy="36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60" name="Line 54"/>
              <p:cNvSpPr>
                <a:spLocks noChangeShapeType="1"/>
              </p:cNvSpPr>
              <p:nvPr/>
            </p:nvSpPr>
            <p:spPr bwMode="auto">
              <a:xfrm>
                <a:off x="8995" y="4319"/>
                <a:ext cx="93" cy="26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61" name="Text Box 55"/>
              <p:cNvSpPr txBox="1">
                <a:spLocks noChangeArrowheads="1"/>
              </p:cNvSpPr>
              <p:nvPr/>
            </p:nvSpPr>
            <p:spPr bwMode="auto">
              <a:xfrm>
                <a:off x="7917" y="4275"/>
                <a:ext cx="255" cy="262"/>
              </a:xfrm>
              <a:prstGeom prst="rect">
                <a:avLst/>
              </a:prstGeom>
              <a:solidFill>
                <a:srgbClr val="FFFFFF"/>
              </a:solidFill>
              <a:ln w="9525">
                <a:noFill/>
                <a:miter lim="800000"/>
              </a:ln>
            </p:spPr>
            <p:txBody>
              <a:bodyPr vert="horz" wrap="square" lIns="0" tIns="0" rIns="0" bIns="0" numCol="1" anchor="ctr" anchorCtr="0" compatLnSpc="1"/>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11</a:t>
                </a:r>
                <a:endParaRPr lang="zh-CN" altLang="zh-CN" sz="1400" b="1">
                  <a:latin typeface="Arial" panose="020B0604020202020204" pitchFamily="34" charset="0"/>
                  <a:ea typeface="宋体" panose="02010600030101010101" pitchFamily="2" charset="-122"/>
                </a:endParaRPr>
              </a:p>
            </p:txBody>
          </p:sp>
          <p:sp>
            <p:nvSpPr>
              <p:cNvPr id="62" name="Text Box 56"/>
              <p:cNvSpPr txBox="1">
                <a:spLocks noChangeArrowheads="1"/>
              </p:cNvSpPr>
              <p:nvPr/>
            </p:nvSpPr>
            <p:spPr bwMode="auto">
              <a:xfrm>
                <a:off x="7307" y="4271"/>
                <a:ext cx="316" cy="335"/>
              </a:xfrm>
              <a:prstGeom prst="rect">
                <a:avLst/>
              </a:prstGeom>
              <a:solidFill>
                <a:srgbClr val="FFFFFF"/>
              </a:solidFill>
              <a:ln w="9525">
                <a:noFill/>
                <a:miter lim="800000"/>
              </a:ln>
            </p:spPr>
            <p:txBody>
              <a:bodyPr vert="horz" wrap="square" lIns="0" tIns="0" rIns="0" bIns="0" numCol="1" anchor="ctr" anchorCtr="0" compatLnSpc="1"/>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10</a:t>
                </a:r>
                <a:endParaRPr lang="zh-CN" altLang="zh-CN" sz="1400" b="1">
                  <a:latin typeface="Arial" panose="020B0604020202020204" pitchFamily="34" charset="0"/>
                  <a:ea typeface="宋体" panose="02010600030101010101" pitchFamily="2" charset="-122"/>
                </a:endParaRPr>
              </a:p>
            </p:txBody>
          </p:sp>
          <p:sp>
            <p:nvSpPr>
              <p:cNvPr id="63" name="Oval 57"/>
              <p:cNvSpPr>
                <a:spLocks noChangeArrowheads="1"/>
              </p:cNvSpPr>
              <p:nvPr/>
            </p:nvSpPr>
            <p:spPr bwMode="auto">
              <a:xfrm>
                <a:off x="7299" y="4537"/>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64" name="Oval 58"/>
              <p:cNvSpPr>
                <a:spLocks noChangeArrowheads="1"/>
              </p:cNvSpPr>
              <p:nvPr/>
            </p:nvSpPr>
            <p:spPr bwMode="auto">
              <a:xfrm>
                <a:off x="7773" y="4522"/>
                <a:ext cx="369" cy="369"/>
              </a:xfrm>
              <a:prstGeom prst="ellipse">
                <a:avLst/>
              </a:prstGeom>
              <a:solidFill>
                <a:srgbClr val="BFBFBF"/>
              </a:solid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65" name="Line 59"/>
              <p:cNvSpPr>
                <a:spLocks noChangeShapeType="1"/>
              </p:cNvSpPr>
              <p:nvPr/>
            </p:nvSpPr>
            <p:spPr bwMode="auto">
              <a:xfrm>
                <a:off x="7788" y="4270"/>
                <a:ext cx="93" cy="26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66" name="Line 60"/>
              <p:cNvSpPr>
                <a:spLocks noChangeShapeType="1"/>
              </p:cNvSpPr>
              <p:nvPr/>
            </p:nvSpPr>
            <p:spPr bwMode="auto">
              <a:xfrm flipH="1">
                <a:off x="7536" y="4270"/>
                <a:ext cx="96" cy="29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b="1"/>
              </a:p>
            </p:txBody>
          </p:sp>
          <p:sp>
            <p:nvSpPr>
              <p:cNvPr id="67" name="Text Box 61"/>
              <p:cNvSpPr txBox="1">
                <a:spLocks noChangeArrowheads="1"/>
              </p:cNvSpPr>
              <p:nvPr/>
            </p:nvSpPr>
            <p:spPr bwMode="auto">
              <a:xfrm>
                <a:off x="8457" y="4305"/>
                <a:ext cx="255" cy="262"/>
              </a:xfrm>
              <a:prstGeom prst="rect">
                <a:avLst/>
              </a:prstGeom>
              <a:solidFill>
                <a:srgbClr val="FFFFFF"/>
              </a:solidFill>
              <a:ln w="9525">
                <a:noFill/>
                <a:miter lim="800000"/>
              </a:ln>
            </p:spPr>
            <p:txBody>
              <a:bodyPr vert="horz" wrap="square" lIns="0" tIns="0" rIns="0" bIns="0" numCol="1" anchor="ctr" anchorCtr="0" compatLnSpc="1"/>
              <a:lstStyle/>
              <a:p>
                <a:pPr algn="just" defTabSz="914400" fontAlgn="base">
                  <a:spcBef>
                    <a:spcPct val="0"/>
                  </a:spcBef>
                  <a:spcAft>
                    <a:spcPct val="0"/>
                  </a:spcAft>
                </a:pPr>
                <a:r>
                  <a:rPr lang="en-US" altLang="zh-CN" sz="1400" b="1">
                    <a:latin typeface="Times New Roman" panose="02020603050405020304" pitchFamily="18" charset="0"/>
                    <a:ea typeface="宋体" panose="02010600030101010101" pitchFamily="2" charset="-122"/>
                  </a:rPr>
                  <a:t>12</a:t>
                </a:r>
                <a:endParaRPr lang="zh-CN" altLang="zh-CN" sz="1400" b="1">
                  <a:latin typeface="Arial" panose="020B0604020202020204" pitchFamily="34" charset="0"/>
                  <a:ea typeface="宋体" panose="02010600030101010101" pitchFamily="2" charset="-122"/>
                </a:endParaRPr>
              </a:p>
            </p:txBody>
          </p:sp>
          <p:sp>
            <p:nvSpPr>
              <p:cNvPr id="68" name="Text Box 62"/>
              <p:cNvSpPr txBox="1">
                <a:spLocks noChangeArrowheads="1"/>
              </p:cNvSpPr>
              <p:nvPr/>
            </p:nvSpPr>
            <p:spPr bwMode="auto">
              <a:xfrm>
                <a:off x="9057" y="4637"/>
                <a:ext cx="204" cy="21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lnSpc>
                    <a:spcPct val="96000"/>
                  </a:lnSpc>
                  <a:spcBef>
                    <a:spcPct val="0"/>
                  </a:spcBef>
                  <a:spcAft>
                    <a:spcPct val="0"/>
                  </a:spcAft>
                </a:pPr>
                <a:r>
                  <a:rPr lang="en-US" altLang="zh-CN" sz="1400" b="1">
                    <a:latin typeface="Arial" panose="020B0604020202020204" pitchFamily="34" charset="0"/>
                    <a:ea typeface="宋体" panose="02010600030101010101" pitchFamily="2" charset="-122"/>
                  </a:rPr>
                  <a:t>C</a:t>
                </a:r>
                <a:endParaRPr lang="zh-CN" altLang="zh-CN" sz="1400" b="1">
                  <a:latin typeface="Arial" panose="020B0604020202020204" pitchFamily="34" charset="0"/>
                  <a:ea typeface="宋体" panose="02010600030101010101" pitchFamily="2" charset="-122"/>
                </a:endParaRPr>
              </a:p>
            </p:txBody>
          </p:sp>
        </p:grpSp>
      </p:grpSp>
      <p:sp>
        <p:nvSpPr>
          <p:cNvPr id="83" name="矩形 82"/>
          <p:cNvSpPr/>
          <p:nvPr/>
        </p:nvSpPr>
        <p:spPr>
          <a:xfrm>
            <a:off x="1004369" y="3286417"/>
            <a:ext cx="5786478" cy="300082"/>
          </a:xfrm>
          <a:prstGeom prst="rect">
            <a:avLst/>
          </a:prstGeom>
        </p:spPr>
        <p:txBody>
          <a:bodyPr wrap="square">
            <a:spAutoFit/>
          </a:bodyPr>
          <a:lstStyle/>
          <a:p>
            <a:r>
              <a:rPr lang="zh-CN" altLang="en-US" b="1" dirty="0"/>
              <a:t> </a:t>
            </a:r>
            <a:r>
              <a:rPr lang="en-US" b="1" dirty="0"/>
              <a:t>(a)</a:t>
            </a:r>
            <a:r>
              <a:rPr lang="zh-CN" altLang="en-US" b="1" dirty="0"/>
              <a:t>一般二叉树</a:t>
            </a:r>
            <a:r>
              <a:rPr lang="en-US" b="1" dirty="0"/>
              <a:t>                       (b) </a:t>
            </a:r>
            <a:r>
              <a:rPr lang="zh-CN" altLang="en-US" b="1" dirty="0"/>
              <a:t>对应</a:t>
            </a:r>
            <a:r>
              <a:rPr lang="en-US" b="1" dirty="0"/>
              <a:t>(a)</a:t>
            </a:r>
            <a:r>
              <a:rPr lang="zh-CN" altLang="en-US" b="1" dirty="0"/>
              <a:t>的完全二叉树</a:t>
            </a:r>
            <a:endParaRPr lang="zh-CN" altLang="en-US" b="1" dirty="0"/>
          </a:p>
        </p:txBody>
      </p:sp>
      <p:graphicFrame>
        <p:nvGraphicFramePr>
          <p:cNvPr id="84" name="表格 83"/>
          <p:cNvGraphicFramePr>
            <a:graphicFrameLocks noGrp="1"/>
          </p:cNvGraphicFramePr>
          <p:nvPr/>
        </p:nvGraphicFramePr>
        <p:xfrm>
          <a:off x="409721" y="3845582"/>
          <a:ext cx="6143664" cy="714380"/>
        </p:xfrm>
        <a:graphic>
          <a:graphicData uri="http://schemas.openxmlformats.org/drawingml/2006/table">
            <a:tbl>
              <a:tblPr/>
              <a:tblGrid>
                <a:gridCol w="640144"/>
                <a:gridCol w="423612"/>
                <a:gridCol w="423612"/>
                <a:gridCol w="423612"/>
                <a:gridCol w="423612"/>
                <a:gridCol w="422753"/>
                <a:gridCol w="422753"/>
                <a:gridCol w="422753"/>
                <a:gridCol w="422753"/>
                <a:gridCol w="423612"/>
                <a:gridCol w="423612"/>
                <a:gridCol w="423612"/>
                <a:gridCol w="423612"/>
                <a:gridCol w="423612"/>
              </a:tblGrid>
              <a:tr h="357190">
                <a:tc>
                  <a:txBody>
                    <a:bodyPr/>
                    <a:lstStyle/>
                    <a:p>
                      <a:pPr algn="ctr">
                        <a:spcAft>
                          <a:spcPts val="0"/>
                        </a:spcAft>
                      </a:pPr>
                      <a:r>
                        <a:rPr lang="zh-CN" sz="1400" b="1" kern="100" dirty="0">
                          <a:latin typeface="Calibri" panose="020F0502020204030204"/>
                          <a:ea typeface="宋体" panose="02010600030101010101" pitchFamily="2" charset="-122"/>
                          <a:cs typeface="Times New Roman" panose="02020603050405020304"/>
                        </a:rPr>
                        <a:t>数据</a:t>
                      </a:r>
                      <a:endParaRPr lang="zh-CN" sz="1400" b="1" kern="100" dirty="0">
                        <a:latin typeface="Calibri" panose="020F0502020204030204"/>
                        <a:ea typeface="宋体" panose="02010600030101010101" pitchFamily="2" charset="-122"/>
                        <a:cs typeface="Times New Roman" panose="02020603050405020304"/>
                      </a:endParaRPr>
                    </a:p>
                  </a:txBody>
                  <a:tcPr marL="68580" marR="68580" marT="0" marB="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latin typeface="Calibri" panose="020F0502020204030204"/>
                          <a:ea typeface="宋体" panose="02010600030101010101" pitchFamily="2" charset="-122"/>
                          <a:cs typeface="Times New Roman" panose="02020603050405020304"/>
                        </a:rPr>
                        <a:t>A</a:t>
                      </a:r>
                      <a:endParaRPr lang="zh-CN" sz="1400" b="1" kern="100" dirty="0">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latin typeface="Calibri" panose="020F0502020204030204"/>
                          <a:ea typeface="宋体" panose="02010600030101010101" pitchFamily="2" charset="-122"/>
                          <a:cs typeface="Times New Roman" panose="02020603050405020304"/>
                        </a:rPr>
                        <a:t>B</a:t>
                      </a:r>
                      <a:endParaRPr lang="zh-CN" sz="1400" b="1" kern="100" dirty="0">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latin typeface="Calibri" panose="020F0502020204030204"/>
                          <a:ea typeface="宋体" panose="02010600030101010101" pitchFamily="2" charset="-122"/>
                          <a:cs typeface="Times New Roman" panose="02020603050405020304"/>
                        </a:rPr>
                        <a:t>O</a:t>
                      </a:r>
                      <a:endParaRPr lang="zh-CN" sz="1400" b="1" kern="100" dirty="0">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dirty="0">
                          <a:solidFill>
                            <a:srgbClr val="FF0000"/>
                          </a:solidFill>
                          <a:latin typeface="Calibri" panose="020F0502020204030204"/>
                          <a:ea typeface="宋体" panose="02010600030101010101" pitchFamily="2" charset="-122"/>
                          <a:cs typeface="Times New Roman" panose="02020603050405020304"/>
                        </a:rPr>
                        <a:t>∧</a:t>
                      </a:r>
                      <a:endParaRPr lang="zh-CN" sz="1400" b="1" kern="100" dirty="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dirty="0">
                          <a:solidFill>
                            <a:srgbClr val="FF0000"/>
                          </a:solidFill>
                          <a:latin typeface="Calibri" panose="020F0502020204030204"/>
                          <a:ea typeface="宋体" panose="02010600030101010101" pitchFamily="2" charset="-122"/>
                          <a:cs typeface="Times New Roman" panose="02020603050405020304"/>
                        </a:rPr>
                        <a:t>∧</a:t>
                      </a:r>
                      <a:endParaRPr lang="zh-CN" sz="1400" b="1" kern="100" dirty="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a:latin typeface="Calibri" panose="020F0502020204030204"/>
                          <a:ea typeface="宋体" panose="02010600030101010101" pitchFamily="2" charset="-122"/>
                          <a:cs typeface="Times New Roman" panose="02020603050405020304"/>
                        </a:rPr>
                        <a:t>M</a:t>
                      </a:r>
                      <a:endParaRPr lang="zh-CN" sz="1400" b="1" kern="100">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dirty="0">
                          <a:solidFill>
                            <a:srgbClr val="FF0000"/>
                          </a:solidFill>
                          <a:latin typeface="Calibri" panose="020F0502020204030204"/>
                          <a:ea typeface="宋体" panose="02010600030101010101" pitchFamily="2" charset="-122"/>
                          <a:cs typeface="Times New Roman" panose="02020603050405020304"/>
                        </a:rPr>
                        <a:t>∧</a:t>
                      </a:r>
                      <a:endParaRPr lang="zh-CN" sz="1400" b="1" kern="100" dirty="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a:solidFill>
                            <a:srgbClr val="FF0000"/>
                          </a:solidFill>
                          <a:latin typeface="Calibri" panose="020F0502020204030204"/>
                          <a:ea typeface="宋体" panose="02010600030101010101" pitchFamily="2" charset="-122"/>
                          <a:cs typeface="Times New Roman" panose="02020603050405020304"/>
                        </a:rPr>
                        <a:t>∧</a:t>
                      </a:r>
                      <a:endParaRPr lang="zh-CN" sz="1400" b="1" kern="10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a:solidFill>
                            <a:srgbClr val="FF0000"/>
                          </a:solidFill>
                          <a:latin typeface="Calibri" panose="020F0502020204030204"/>
                          <a:ea typeface="宋体" panose="02010600030101010101" pitchFamily="2" charset="-122"/>
                          <a:cs typeface="Times New Roman" panose="02020603050405020304"/>
                        </a:rPr>
                        <a:t>∧</a:t>
                      </a:r>
                      <a:endParaRPr lang="zh-CN" sz="1400" b="1" kern="10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a:solidFill>
                            <a:srgbClr val="FF0000"/>
                          </a:solidFill>
                          <a:latin typeface="Calibri" panose="020F0502020204030204"/>
                          <a:ea typeface="宋体" panose="02010600030101010101" pitchFamily="2" charset="-122"/>
                          <a:cs typeface="Times New Roman" panose="02020603050405020304"/>
                        </a:rPr>
                        <a:t>∧</a:t>
                      </a:r>
                      <a:endParaRPr lang="zh-CN" sz="1400" b="1" kern="10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a:solidFill>
                            <a:srgbClr val="FF0000"/>
                          </a:solidFill>
                          <a:latin typeface="Calibri" panose="020F0502020204030204"/>
                          <a:ea typeface="宋体" panose="02010600030101010101" pitchFamily="2" charset="-122"/>
                          <a:cs typeface="Times New Roman" panose="02020603050405020304"/>
                        </a:rPr>
                        <a:t>∧</a:t>
                      </a:r>
                      <a:endParaRPr lang="zh-CN" sz="1400" b="1" kern="10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b="1" kern="100" dirty="0">
                          <a:solidFill>
                            <a:srgbClr val="FF0000"/>
                          </a:solidFill>
                          <a:latin typeface="Calibri" panose="020F0502020204030204"/>
                          <a:ea typeface="宋体" panose="02010600030101010101" pitchFamily="2" charset="-122"/>
                          <a:cs typeface="Times New Roman" panose="02020603050405020304"/>
                        </a:rPr>
                        <a:t>∧</a:t>
                      </a:r>
                      <a:endParaRPr lang="zh-CN" sz="1400" b="1" kern="100" dirty="0">
                        <a:solidFill>
                          <a:srgbClr val="FF0000"/>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a:latin typeface="Calibri" panose="020F0502020204030204"/>
                          <a:ea typeface="宋体" panose="02010600030101010101" pitchFamily="2" charset="-122"/>
                          <a:cs typeface="Times New Roman" panose="02020603050405020304"/>
                        </a:rPr>
                        <a:t>C</a:t>
                      </a:r>
                      <a:endParaRPr lang="zh-CN" sz="1400" b="1" kern="100">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57190">
                <a:tc>
                  <a:txBody>
                    <a:bodyPr/>
                    <a:lstStyle/>
                    <a:p>
                      <a:pPr algn="ctr">
                        <a:spcAft>
                          <a:spcPts val="0"/>
                        </a:spcAft>
                      </a:pPr>
                      <a:r>
                        <a:rPr lang="zh-CN" sz="1400" b="1" kern="100">
                          <a:latin typeface="Calibri" panose="020F0502020204030204"/>
                          <a:ea typeface="宋体" panose="02010600030101010101" pitchFamily="2" charset="-122"/>
                          <a:cs typeface="Times New Roman" panose="02020603050405020304"/>
                        </a:rPr>
                        <a:t>编号</a:t>
                      </a:r>
                      <a:endParaRPr lang="zh-CN" sz="1400" b="1" kern="100">
                        <a:latin typeface="Calibri" panose="020F0502020204030204"/>
                        <a:ea typeface="宋体" panose="02010600030101010101" pitchFamily="2" charset="-122"/>
                        <a:cs typeface="Times New Roman" panose="02020603050405020304"/>
                      </a:endParaRPr>
                    </a:p>
                  </a:txBody>
                  <a:tcPr marL="68580" marR="68580" marT="0" marB="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Calibri" panose="020F0502020204030204"/>
                          <a:ea typeface="宋体" panose="02010600030101010101" pitchFamily="2" charset="-122"/>
                          <a:cs typeface="Times New Roman" panose="02020603050405020304"/>
                        </a:rPr>
                        <a:t>1</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Calibri" panose="020F0502020204030204"/>
                          <a:ea typeface="宋体" panose="02010600030101010101" pitchFamily="2" charset="-122"/>
                          <a:cs typeface="Times New Roman" panose="02020603050405020304"/>
                        </a:rPr>
                        <a:t>2</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Calibri" panose="020F0502020204030204"/>
                          <a:ea typeface="宋体" panose="02010600030101010101" pitchFamily="2" charset="-122"/>
                          <a:cs typeface="Times New Roman" panose="02020603050405020304"/>
                        </a:rPr>
                        <a:t>3</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4</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5</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Calibri" panose="020F0502020204030204"/>
                          <a:ea typeface="宋体" panose="02010600030101010101" pitchFamily="2" charset="-122"/>
                          <a:cs typeface="Times New Roman" panose="02020603050405020304"/>
                        </a:rPr>
                        <a:t>6</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7</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8</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9</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10</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11</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宋体" panose="02010600030101010101" pitchFamily="2" charset="-122"/>
                          <a:ea typeface="宋体" panose="02010600030101010101" pitchFamily="2" charset="-122"/>
                          <a:cs typeface="Times New Roman" panose="02020603050405020304"/>
                        </a:rPr>
                        <a:t>12</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solidFill>
                            <a:srgbClr val="0000FF"/>
                          </a:solidFill>
                          <a:latin typeface="Calibri" panose="020F0502020204030204"/>
                          <a:ea typeface="宋体" panose="02010600030101010101" pitchFamily="2" charset="-122"/>
                          <a:cs typeface="Times New Roman" panose="02020603050405020304"/>
                        </a:rPr>
                        <a:t>13</a:t>
                      </a:r>
                      <a:endParaRPr lang="zh-CN" sz="1400" b="1" kern="100" dirty="0">
                        <a:solidFill>
                          <a:srgbClr val="0000FF"/>
                        </a:solidFill>
                        <a:latin typeface="Calibri" panose="020F0502020204030204"/>
                        <a:ea typeface="宋体" panose="02010600030101010101" pitchFamily="2" charset="-122"/>
                        <a:cs typeface="Times New Roman" panose="02020603050405020304"/>
                      </a:endParaRPr>
                    </a:p>
                  </a:txBody>
                  <a:tcPr marL="68580" marR="68580" marT="0" marB="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wipe(left)">
                                      <p:cBhvr>
                                        <p:cTn id="10" dur="50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nodeType="clickEffect">
                                  <p:stCondLst>
                                    <p:cond delay="0"/>
                                  </p:stCondLst>
                                  <p:childTnLst>
                                    <p:set>
                                      <p:cBhvr>
                                        <p:cTn id="14" dur="1" fill="hold">
                                          <p:stCondLst>
                                            <p:cond delay="0"/>
                                          </p:stCondLst>
                                        </p:cTn>
                                        <p:tgtEl>
                                          <p:spTgt spid="84"/>
                                        </p:tgtEl>
                                        <p:attrNameLst>
                                          <p:attrName>style.visibility</p:attrName>
                                        </p:attrNameLst>
                                      </p:cBhvr>
                                      <p:to>
                                        <p:strVal val="visible"/>
                                      </p:to>
                                    </p:set>
                                    <p:animEffect transition="in" filter="box(in)">
                                      <p:cBhvr>
                                        <p:cTn id="15"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链式存储</a:t>
            </a:r>
            <a:endParaRPr lang="en-US" altLang="zh-CN" dirty="0"/>
          </a:p>
          <a:p>
            <a:pPr lvl="2"/>
            <a:r>
              <a:rPr lang="zh-CN" altLang="en-US" dirty="0"/>
              <a:t>对于任意的二叉树来说，每个结点只有两个孩子、一个双亲。如果只存后继关系的话，可以设计每个结点包括三个域：数据域、左孩子域和右孩子域。</a:t>
            </a:r>
            <a:endParaRPr lang="en-US" altLang="zh-CN" dirty="0"/>
          </a:p>
          <a:p>
            <a:pPr eaLnBrk="1" hangingPunct="1">
              <a:lnSpc>
                <a:spcPct val="145000"/>
              </a:lnSpc>
              <a:spcBef>
                <a:spcPct val="0"/>
              </a:spcBef>
            </a:pPr>
            <a:r>
              <a:rPr lang="en-US" altLang="zh-CN" sz="1575" dirty="0">
                <a:solidFill>
                  <a:schemeClr val="tx1"/>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typedef</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struct</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BiTNode</a:t>
            </a:r>
            <a:r>
              <a:rPr lang="en-US" altLang="zh-CN" sz="1800" dirty="0">
                <a:solidFill>
                  <a:srgbClr val="00194C"/>
                </a:solidFill>
                <a:latin typeface="华文楷体" panose="02010600040101010101" pitchFamily="2" charset="-122"/>
                <a:ea typeface="华文楷体" panose="02010600040101010101" pitchFamily="2" charset="-122"/>
              </a:rPr>
              <a:t>{</a:t>
            </a:r>
            <a:endParaRPr lang="en-US" altLang="zh-CN" sz="1800" dirty="0">
              <a:solidFill>
                <a:srgbClr val="00194C"/>
              </a:solidFill>
              <a:latin typeface="华文楷体" panose="02010600040101010101" pitchFamily="2" charset="-122"/>
              <a:ea typeface="华文楷体" panose="02010600040101010101" pitchFamily="2" charset="-122"/>
            </a:endParaRPr>
          </a:p>
          <a:p>
            <a:pPr lvl="1">
              <a:lnSpc>
                <a:spcPct val="145000"/>
              </a:lnSpc>
              <a:spcBef>
                <a:spcPct val="0"/>
              </a:spcBef>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TElemType</a:t>
            </a:r>
            <a:r>
              <a:rPr lang="en-US" altLang="zh-CN" sz="1800" dirty="0">
                <a:solidFill>
                  <a:srgbClr val="00194C"/>
                </a:solidFill>
                <a:latin typeface="华文楷体" panose="02010600040101010101" pitchFamily="2" charset="-122"/>
                <a:ea typeface="华文楷体" panose="02010600040101010101" pitchFamily="2" charset="-122"/>
              </a:rPr>
              <a:t> data; </a:t>
            </a:r>
            <a:endParaRPr lang="en-US" altLang="zh-CN" sz="1800" dirty="0">
              <a:solidFill>
                <a:srgbClr val="00194C"/>
              </a:solidFill>
              <a:latin typeface="华文楷体" panose="02010600040101010101" pitchFamily="2" charset="-122"/>
              <a:ea typeface="华文楷体" panose="02010600040101010101" pitchFamily="2" charset="-122"/>
            </a:endParaRPr>
          </a:p>
          <a:p>
            <a:pPr lvl="1">
              <a:lnSpc>
                <a:spcPct val="145000"/>
              </a:lnSpc>
              <a:spcBef>
                <a:spcPct val="0"/>
              </a:spcBef>
            </a:pPr>
            <a:r>
              <a:rPr lang="en-US" altLang="zh-CN" sz="1800" dirty="0">
                <a:solidFill>
                  <a:srgbClr val="00194C"/>
                </a:solidFill>
                <a:latin typeface="华文楷体" panose="02010600040101010101" pitchFamily="2" charset="-122"/>
                <a:ea typeface="华文楷体" panose="02010600040101010101" pitchFamily="2" charset="-122"/>
              </a:rPr>
              <a:t>     struct </a:t>
            </a:r>
            <a:r>
              <a:rPr lang="en-US" altLang="zh-CN" sz="1800" dirty="0" err="1">
                <a:solidFill>
                  <a:srgbClr val="00194C"/>
                </a:solidFill>
                <a:latin typeface="华文楷体" panose="02010600040101010101" pitchFamily="2" charset="-122"/>
                <a:ea typeface="华文楷体" panose="02010600040101010101" pitchFamily="2" charset="-122"/>
              </a:rPr>
              <a:t>BiTNode</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a:t>
            </a:r>
            <a:r>
              <a:rPr lang="en-US" altLang="zh-CN" sz="1800" dirty="0" err="1" smtClean="0">
                <a:solidFill>
                  <a:srgbClr val="00194C"/>
                </a:solidFill>
                <a:latin typeface="华文楷体" panose="02010600040101010101" pitchFamily="2" charset="-122"/>
                <a:ea typeface="华文楷体" panose="02010600040101010101" pitchFamily="2" charset="-122"/>
              </a:rPr>
              <a:t>lchild</a:t>
            </a:r>
            <a:r>
              <a:rPr lang="en-US" altLang="zh-CN" sz="1800" dirty="0">
                <a:solidFill>
                  <a:srgbClr val="00194C"/>
                </a:solidFill>
                <a:latin typeface="华文楷体" panose="02010600040101010101" pitchFamily="2" charset="-122"/>
                <a:ea typeface="华文楷体" panose="02010600040101010101" pitchFamily="2" charset="-122"/>
              </a:rPr>
              <a:t>; </a:t>
            </a:r>
            <a:endParaRPr lang="en-US" altLang="zh-CN" sz="1800" dirty="0">
              <a:solidFill>
                <a:srgbClr val="00194C"/>
              </a:solidFill>
              <a:latin typeface="华文楷体" panose="02010600040101010101" pitchFamily="2" charset="-122"/>
              <a:ea typeface="华文楷体" panose="02010600040101010101" pitchFamily="2" charset="-122"/>
            </a:endParaRPr>
          </a:p>
          <a:p>
            <a:pPr lvl="1">
              <a:lnSpc>
                <a:spcPct val="145000"/>
              </a:lnSpc>
              <a:spcBef>
                <a:spcPct val="0"/>
              </a:spcBef>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struct</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BiTNode</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a:t>
            </a:r>
            <a:r>
              <a:rPr lang="en-US" altLang="zh-CN" sz="1800" dirty="0" err="1" smtClean="0">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a:t>
            </a:r>
            <a:endParaRPr lang="en-US" altLang="zh-CN" sz="1800" dirty="0">
              <a:solidFill>
                <a:srgbClr val="00194C"/>
              </a:solidFill>
              <a:latin typeface="华文楷体" panose="02010600040101010101" pitchFamily="2" charset="-122"/>
              <a:ea typeface="华文楷体" panose="02010600040101010101" pitchFamily="2" charset="-122"/>
            </a:endParaRPr>
          </a:p>
          <a:p>
            <a:pPr eaLnBrk="1" hangingPunct="1">
              <a:lnSpc>
                <a:spcPct val="145000"/>
              </a:lnSpc>
              <a:spcBef>
                <a:spcPct val="0"/>
              </a:spcBef>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BiTNode</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BiTree</a:t>
            </a:r>
            <a:r>
              <a:rPr lang="en-US" altLang="zh-CN" sz="1800" dirty="0">
                <a:solidFill>
                  <a:srgbClr val="00194C"/>
                </a:solidFill>
                <a:latin typeface="华文楷体" panose="02010600040101010101" pitchFamily="2" charset="-122"/>
                <a:ea typeface="华文楷体" panose="02010600040101010101" pitchFamily="2" charset="-122"/>
              </a:rPr>
              <a:t>; </a:t>
            </a:r>
            <a:endParaRPr lang="zh-CN" altLang="en-US"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graphicFrame>
        <p:nvGraphicFramePr>
          <p:cNvPr id="4" name="表格 3"/>
          <p:cNvGraphicFramePr>
            <a:graphicFrameLocks noGrp="1"/>
          </p:cNvGraphicFramePr>
          <p:nvPr/>
        </p:nvGraphicFramePr>
        <p:xfrm>
          <a:off x="5023711" y="2636144"/>
          <a:ext cx="2428893" cy="267831"/>
        </p:xfrm>
        <a:graphic>
          <a:graphicData uri="http://schemas.openxmlformats.org/drawingml/2006/table">
            <a:tbl>
              <a:tblPr/>
              <a:tblGrid>
                <a:gridCol w="809631"/>
                <a:gridCol w="809631"/>
                <a:gridCol w="809631"/>
              </a:tblGrid>
              <a:tr h="267831">
                <a:tc>
                  <a:txBody>
                    <a:bodyPr/>
                    <a:lstStyle/>
                    <a:p>
                      <a:pPr algn="ctr">
                        <a:spcAft>
                          <a:spcPts val="0"/>
                        </a:spcAft>
                      </a:pPr>
                      <a:r>
                        <a:rPr lang="en-US" sz="1400" b="1" kern="100" dirty="0" err="1" smtClean="0">
                          <a:latin typeface="Times New Roman" panose="02020603050405020304" pitchFamily="18" charset="0"/>
                          <a:ea typeface="宋体" panose="02010600030101010101" pitchFamily="2" charset="-122"/>
                          <a:cs typeface="Times New Roman" panose="02020603050405020304" pitchFamily="18" charset="0"/>
                        </a:rPr>
                        <a:t>lchild</a:t>
                      </a:r>
                      <a:endParaRPr lang="zh-CN" sz="1400" b="1" kern="100" dirty="0">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a:latin typeface="Times New Roman" panose="02020603050405020304" pitchFamily="18" charset="0"/>
                          <a:ea typeface="宋体" panose="02010600030101010101" pitchFamily="2" charset="-122"/>
                          <a:cs typeface="Times New Roman" panose="02020603050405020304" pitchFamily="18" charset="0"/>
                        </a:rPr>
                        <a:t>d</a:t>
                      </a:r>
                      <a:r>
                        <a:rPr lang="en-US" sz="1400" b="1" kern="100" dirty="0" smtClean="0">
                          <a:latin typeface="Times New Roman" panose="02020603050405020304" pitchFamily="18" charset="0"/>
                          <a:ea typeface="宋体" panose="02010600030101010101" pitchFamily="2" charset="-122"/>
                          <a:cs typeface="Times New Roman" panose="02020603050405020304" pitchFamily="18" charset="0"/>
                        </a:rPr>
                        <a:t>ata</a:t>
                      </a:r>
                      <a:endParaRPr lang="zh-CN" sz="1400" b="1" kern="100" dirty="0">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b="1" kern="100" dirty="0" err="1" smtClean="0">
                          <a:latin typeface="Times New Roman" panose="02020603050405020304" pitchFamily="18" charset="0"/>
                          <a:ea typeface="宋体" panose="02010600030101010101" pitchFamily="2" charset="-122"/>
                          <a:cs typeface="Times New Roman" panose="02020603050405020304" pitchFamily="18" charset="0"/>
                        </a:rPr>
                        <a:t>rchild</a:t>
                      </a:r>
                      <a:endParaRPr lang="zh-CN" sz="1400" b="1" kern="100" dirty="0">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grpSp>
        <p:nvGrpSpPr>
          <p:cNvPr id="5" name="Group 1"/>
          <p:cNvGrpSpPr/>
          <p:nvPr/>
        </p:nvGrpSpPr>
        <p:grpSpPr bwMode="auto">
          <a:xfrm>
            <a:off x="5104097" y="3293071"/>
            <a:ext cx="2268880" cy="1249042"/>
            <a:chOff x="7380" y="4308"/>
            <a:chExt cx="2160" cy="1344"/>
          </a:xfrm>
        </p:grpSpPr>
        <p:sp>
          <p:nvSpPr>
            <p:cNvPr id="6" name="Oval 2"/>
            <p:cNvSpPr>
              <a:spLocks noChangeArrowheads="1"/>
            </p:cNvSpPr>
            <p:nvPr/>
          </p:nvSpPr>
          <p:spPr bwMode="auto">
            <a:xfrm>
              <a:off x="8130" y="4308"/>
              <a:ext cx="652" cy="652"/>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sz="1400" b="1">
                <a:latin typeface="Times New Roman" panose="02020603050405020304" pitchFamily="18" charset="0"/>
                <a:cs typeface="Times New Roman" panose="02020603050405020304" pitchFamily="18" charset="0"/>
              </a:endParaRPr>
            </a:p>
          </p:txBody>
        </p:sp>
        <p:sp>
          <p:nvSpPr>
            <p:cNvPr id="7" name="Text Box 3"/>
            <p:cNvSpPr txBox="1">
              <a:spLocks noChangeArrowheads="1"/>
            </p:cNvSpPr>
            <p:nvPr/>
          </p:nvSpPr>
          <p:spPr bwMode="auto">
            <a:xfrm>
              <a:off x="8256" y="4479"/>
              <a:ext cx="425" cy="255"/>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spcBef>
                  <a:spcPct val="0"/>
                </a:spcBef>
                <a:spcAft>
                  <a:spcPct val="0"/>
                </a:spcAft>
              </a:pPr>
              <a:r>
                <a:rPr lang="en-US" altLang="zh-CN" sz="1400" b="1" dirty="0">
                  <a:latin typeface="Times New Roman" panose="02020603050405020304" pitchFamily="18" charset="0"/>
                  <a:ea typeface="宋体" panose="02010600030101010101" pitchFamily="2" charset="-122"/>
                  <a:cs typeface="Times New Roman" panose="02020603050405020304" pitchFamily="18" charset="0"/>
                </a:rPr>
                <a:t>d</a:t>
              </a:r>
              <a:r>
                <a:rPr lang="en-US" altLang="zh-CN" sz="1400" b="1" dirty="0" smtClean="0">
                  <a:latin typeface="Times New Roman" panose="02020603050405020304" pitchFamily="18" charset="0"/>
                  <a:ea typeface="宋体" panose="02010600030101010101" pitchFamily="2" charset="-122"/>
                  <a:cs typeface="Times New Roman" panose="02020603050405020304" pitchFamily="18" charset="0"/>
                </a:rPr>
                <a:t>ata</a:t>
              </a:r>
              <a:endParaRPr lang="zh-CN" altLang="zh-CN" sz="1400" b="1"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8" name="Line 4"/>
            <p:cNvSpPr>
              <a:spLocks noChangeShapeType="1"/>
            </p:cNvSpPr>
            <p:nvPr/>
          </p:nvSpPr>
          <p:spPr bwMode="auto">
            <a:xfrm flipH="1">
              <a:off x="8082" y="4902"/>
              <a:ext cx="180" cy="378"/>
            </a:xfrm>
            <a:prstGeom prst="line">
              <a:avLst/>
            </a:prstGeom>
            <a:noFill/>
            <a:ln w="9525">
              <a:solidFill>
                <a:srgbClr val="000000"/>
              </a:solidFill>
              <a:round/>
              <a:tailEnd type="arrow" w="sm" len="sm"/>
            </a:ln>
          </p:spPr>
          <p:txBody>
            <a:bodyPr vert="horz" wrap="square" lIns="91440" tIns="45720" rIns="91440" bIns="45720" numCol="1" anchor="t" anchorCtr="0" compatLnSpc="1"/>
            <a:lstStyle/>
            <a:p>
              <a:endParaRPr lang="zh-CN" altLang="en-US" sz="1400" b="1">
                <a:latin typeface="Times New Roman" panose="02020603050405020304" pitchFamily="18" charset="0"/>
                <a:cs typeface="Times New Roman" panose="02020603050405020304" pitchFamily="18" charset="0"/>
              </a:endParaRPr>
            </a:p>
          </p:txBody>
        </p:sp>
        <p:sp>
          <p:nvSpPr>
            <p:cNvPr id="9" name="Line 5"/>
            <p:cNvSpPr>
              <a:spLocks noChangeShapeType="1"/>
            </p:cNvSpPr>
            <p:nvPr/>
          </p:nvSpPr>
          <p:spPr bwMode="auto">
            <a:xfrm>
              <a:off x="8640" y="4887"/>
              <a:ext cx="180" cy="378"/>
            </a:xfrm>
            <a:prstGeom prst="line">
              <a:avLst/>
            </a:prstGeom>
            <a:noFill/>
            <a:ln w="9525">
              <a:solidFill>
                <a:srgbClr val="000000"/>
              </a:solidFill>
              <a:round/>
              <a:tailEnd type="arrow" w="sm" len="sm"/>
            </a:ln>
          </p:spPr>
          <p:txBody>
            <a:bodyPr vert="horz" wrap="square" lIns="91440" tIns="45720" rIns="91440" bIns="45720" numCol="1" anchor="t" anchorCtr="0" compatLnSpc="1"/>
            <a:lstStyle/>
            <a:p>
              <a:endParaRPr lang="zh-CN" altLang="en-US" sz="1400" b="1">
                <a:latin typeface="Times New Roman" panose="02020603050405020304" pitchFamily="18" charset="0"/>
                <a:cs typeface="Times New Roman" panose="02020603050405020304" pitchFamily="18" charset="0"/>
              </a:endParaRPr>
            </a:p>
          </p:txBody>
        </p:sp>
        <p:sp>
          <p:nvSpPr>
            <p:cNvPr id="10" name="Text Box 6"/>
            <p:cNvSpPr txBox="1">
              <a:spLocks noChangeArrowheads="1"/>
            </p:cNvSpPr>
            <p:nvPr/>
          </p:nvSpPr>
          <p:spPr bwMode="auto">
            <a:xfrm>
              <a:off x="7380" y="5340"/>
              <a:ext cx="900" cy="312"/>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spcBef>
                  <a:spcPct val="0"/>
                </a:spcBef>
                <a:spcAft>
                  <a:spcPct val="0"/>
                </a:spcAft>
              </a:pPr>
              <a:r>
                <a:rPr lang="en-US" altLang="zh-CN" sz="1400" b="1" dirty="0" err="1" smtClean="0">
                  <a:latin typeface="Times New Roman" panose="02020603050405020304" pitchFamily="18" charset="0"/>
                  <a:ea typeface="宋体" panose="02010600030101010101" pitchFamily="2" charset="-122"/>
                  <a:cs typeface="Times New Roman" panose="02020603050405020304" pitchFamily="18" charset="0"/>
                </a:rPr>
                <a:t>lchild</a:t>
              </a:r>
              <a:endParaRPr lang="zh-CN" altLang="zh-CN" sz="1400" b="1"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11" name="Text Box 7"/>
            <p:cNvSpPr txBox="1">
              <a:spLocks noChangeArrowheads="1"/>
            </p:cNvSpPr>
            <p:nvPr/>
          </p:nvSpPr>
          <p:spPr bwMode="auto">
            <a:xfrm>
              <a:off x="8460" y="5340"/>
              <a:ext cx="1080" cy="312"/>
            </a:xfrm>
            <a:prstGeom prst="rect">
              <a:avLst/>
            </a:prstGeom>
            <a:solidFill>
              <a:srgbClr val="FFFFFF"/>
            </a:solidFill>
            <a:ln w="9525">
              <a:noFill/>
              <a:miter lim="800000"/>
            </a:ln>
          </p:spPr>
          <p:txBody>
            <a:bodyPr vert="horz" wrap="square" lIns="0" tIns="0" rIns="0" bIns="0" numCol="1" anchor="t" anchorCtr="0" compatLnSpc="1"/>
            <a:lstStyle/>
            <a:p>
              <a:pPr algn="ctr" defTabSz="914400" fontAlgn="base">
                <a:spcBef>
                  <a:spcPct val="0"/>
                </a:spcBef>
                <a:spcAft>
                  <a:spcPct val="0"/>
                </a:spcAft>
              </a:pPr>
              <a:r>
                <a:rPr lang="en-US" altLang="zh-CN" sz="1400" b="1" dirty="0" err="1" smtClean="0">
                  <a:latin typeface="Times New Roman" panose="02020603050405020304" pitchFamily="18" charset="0"/>
                  <a:ea typeface="宋体" panose="02010600030101010101" pitchFamily="2" charset="-122"/>
                  <a:cs typeface="Times New Roman" panose="02020603050405020304" pitchFamily="18" charset="0"/>
                </a:rPr>
                <a:t>rchild</a:t>
              </a:r>
              <a:endParaRPr lang="zh-CN" altLang="zh-CN" sz="1400" b="1" dirty="0">
                <a:latin typeface="Times New Roman" panose="02020603050405020304" pitchFamily="18" charset="0"/>
                <a:ea typeface="宋体" panose="02010600030101010101" pitchFamily="2" charset="-122"/>
                <a:cs typeface="Times New Roman" panose="02020603050405020304" pitchFamily="18"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链式存储</a:t>
            </a:r>
            <a:endParaRPr lang="zh-CN" altLang="en-US" dirty="0"/>
          </a:p>
          <a:p>
            <a:pPr lvl="2"/>
            <a:r>
              <a:rPr lang="zh-CN" altLang="en-US" sz="1800" dirty="0"/>
              <a:t>二叉树的链式存储表示</a:t>
            </a:r>
            <a:endParaRPr lang="zh-CN" altLang="en-US" sz="1800" dirty="0"/>
          </a:p>
        </p:txBody>
      </p:sp>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grpSp>
        <p:nvGrpSpPr>
          <p:cNvPr id="4" name="组合 3"/>
          <p:cNvGrpSpPr/>
          <p:nvPr/>
        </p:nvGrpSpPr>
        <p:grpSpPr>
          <a:xfrm>
            <a:off x="416661" y="1846074"/>
            <a:ext cx="1966205" cy="1760635"/>
            <a:chOff x="1115764" y="1643255"/>
            <a:chExt cx="2621607" cy="2347513"/>
          </a:xfrm>
        </p:grpSpPr>
        <p:grpSp>
          <p:nvGrpSpPr>
            <p:cNvPr id="5" name="组合 4"/>
            <p:cNvGrpSpPr/>
            <p:nvPr/>
          </p:nvGrpSpPr>
          <p:grpSpPr>
            <a:xfrm>
              <a:off x="2205135" y="1643255"/>
              <a:ext cx="456684" cy="492442"/>
              <a:chOff x="1918252" y="1406890"/>
              <a:chExt cx="456684" cy="492442"/>
            </a:xfrm>
          </p:grpSpPr>
          <p:sp>
            <p:nvSpPr>
              <p:cNvPr id="30" name="椭圆 2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31" name="文本框 30"/>
              <p:cNvSpPr txBox="1"/>
              <p:nvPr/>
            </p:nvSpPr>
            <p:spPr>
              <a:xfrm>
                <a:off x="1942765" y="1406890"/>
                <a:ext cx="432171" cy="492442"/>
              </a:xfrm>
              <a:prstGeom prst="rect">
                <a:avLst/>
              </a:prstGeom>
              <a:noFill/>
            </p:spPr>
            <p:txBody>
              <a:bodyPr wrap="none" rtlCol="0">
                <a:spAutoFit/>
              </a:bodyPr>
              <a:lstStyle/>
              <a:p>
                <a:r>
                  <a:rPr lang="en-US" altLang="zh-CN" sz="1800" b="1" dirty="0"/>
                  <a:t>A</a:t>
                </a:r>
                <a:endParaRPr lang="zh-CN" altLang="en-US" sz="1800" b="1" dirty="0"/>
              </a:p>
            </p:txBody>
          </p:sp>
        </p:grpSp>
        <p:grpSp>
          <p:nvGrpSpPr>
            <p:cNvPr id="6" name="组合 5"/>
            <p:cNvGrpSpPr/>
            <p:nvPr/>
          </p:nvGrpSpPr>
          <p:grpSpPr>
            <a:xfrm>
              <a:off x="1576959" y="2189865"/>
              <a:ext cx="444063" cy="492442"/>
              <a:chOff x="1918252" y="1388925"/>
              <a:chExt cx="444063" cy="492442"/>
            </a:xfrm>
          </p:grpSpPr>
          <p:sp>
            <p:nvSpPr>
              <p:cNvPr id="28" name="椭圆 2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29" name="文本框 28"/>
              <p:cNvSpPr txBox="1"/>
              <p:nvPr/>
            </p:nvSpPr>
            <p:spPr>
              <a:xfrm>
                <a:off x="1942968" y="1388925"/>
                <a:ext cx="419347" cy="492442"/>
              </a:xfrm>
              <a:prstGeom prst="rect">
                <a:avLst/>
              </a:prstGeom>
              <a:noFill/>
            </p:spPr>
            <p:txBody>
              <a:bodyPr wrap="none" rtlCol="0">
                <a:spAutoFit/>
              </a:bodyPr>
              <a:lstStyle/>
              <a:p>
                <a:r>
                  <a:rPr lang="en-US" altLang="zh-CN" sz="1800" b="1" dirty="0"/>
                  <a:t>B</a:t>
                </a:r>
                <a:endParaRPr lang="zh-CN" altLang="en-US" sz="1800" b="1" dirty="0"/>
              </a:p>
            </p:txBody>
          </p:sp>
        </p:grpSp>
        <p:grpSp>
          <p:nvGrpSpPr>
            <p:cNvPr id="7" name="组合 6"/>
            <p:cNvGrpSpPr/>
            <p:nvPr/>
          </p:nvGrpSpPr>
          <p:grpSpPr>
            <a:xfrm>
              <a:off x="2786052" y="2204515"/>
              <a:ext cx="432339" cy="495757"/>
              <a:chOff x="1918252" y="1406890"/>
              <a:chExt cx="432339" cy="495757"/>
            </a:xfrm>
          </p:grpSpPr>
          <p:sp>
            <p:nvSpPr>
              <p:cNvPr id="26" name="椭圆 25"/>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27" name="文本框 26"/>
              <p:cNvSpPr txBox="1"/>
              <p:nvPr/>
            </p:nvSpPr>
            <p:spPr>
              <a:xfrm>
                <a:off x="1941932" y="1410205"/>
                <a:ext cx="408659" cy="492442"/>
              </a:xfrm>
              <a:prstGeom prst="rect">
                <a:avLst/>
              </a:prstGeom>
              <a:noFill/>
            </p:spPr>
            <p:txBody>
              <a:bodyPr wrap="none" rtlCol="0">
                <a:spAutoFit/>
              </a:bodyPr>
              <a:lstStyle/>
              <a:p>
                <a:r>
                  <a:rPr lang="en-US" altLang="zh-CN" sz="1800" b="1" dirty="0"/>
                  <a:t>C</a:t>
                </a:r>
                <a:endParaRPr lang="zh-CN" altLang="en-US" sz="1800" b="1" dirty="0"/>
              </a:p>
            </p:txBody>
          </p:sp>
        </p:grpSp>
        <p:grpSp>
          <p:nvGrpSpPr>
            <p:cNvPr id="8" name="组合 7"/>
            <p:cNvGrpSpPr/>
            <p:nvPr/>
          </p:nvGrpSpPr>
          <p:grpSpPr>
            <a:xfrm>
              <a:off x="1115764" y="2842135"/>
              <a:ext cx="467397" cy="492442"/>
              <a:chOff x="1918252" y="1394089"/>
              <a:chExt cx="467397" cy="492442"/>
            </a:xfrm>
          </p:grpSpPr>
          <p:sp>
            <p:nvSpPr>
              <p:cNvPr id="24" name="椭圆 23"/>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25" name="文本框 24"/>
              <p:cNvSpPr txBox="1"/>
              <p:nvPr/>
            </p:nvSpPr>
            <p:spPr>
              <a:xfrm>
                <a:off x="1944929" y="1394089"/>
                <a:ext cx="440720" cy="492442"/>
              </a:xfrm>
              <a:prstGeom prst="rect">
                <a:avLst/>
              </a:prstGeom>
              <a:noFill/>
            </p:spPr>
            <p:txBody>
              <a:bodyPr wrap="none" rtlCol="0">
                <a:spAutoFit/>
              </a:bodyPr>
              <a:lstStyle/>
              <a:p>
                <a:r>
                  <a:rPr lang="en-US" altLang="zh-CN" sz="1800" b="1" dirty="0"/>
                  <a:t>D</a:t>
                </a:r>
                <a:endParaRPr lang="zh-CN" altLang="en-US" sz="1800" b="1" dirty="0"/>
              </a:p>
            </p:txBody>
          </p:sp>
        </p:grpSp>
        <p:grpSp>
          <p:nvGrpSpPr>
            <p:cNvPr id="9" name="组合 8"/>
            <p:cNvGrpSpPr/>
            <p:nvPr/>
          </p:nvGrpSpPr>
          <p:grpSpPr>
            <a:xfrm>
              <a:off x="2339644" y="2864020"/>
              <a:ext cx="423208" cy="508466"/>
              <a:chOff x="1918252" y="1406890"/>
              <a:chExt cx="423208" cy="508466"/>
            </a:xfrm>
          </p:grpSpPr>
          <p:sp>
            <p:nvSpPr>
              <p:cNvPr id="22" name="椭圆 21"/>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23" name="文本框 22"/>
              <p:cNvSpPr txBox="1"/>
              <p:nvPr/>
            </p:nvSpPr>
            <p:spPr>
              <a:xfrm>
                <a:off x="1945625" y="1422914"/>
                <a:ext cx="395835" cy="492442"/>
              </a:xfrm>
              <a:prstGeom prst="rect">
                <a:avLst/>
              </a:prstGeom>
              <a:noFill/>
            </p:spPr>
            <p:txBody>
              <a:bodyPr wrap="none" rtlCol="0">
                <a:spAutoFit/>
              </a:bodyPr>
              <a:lstStyle/>
              <a:p>
                <a:r>
                  <a:rPr lang="en-US" altLang="zh-CN" sz="1800" b="1" dirty="0"/>
                  <a:t>E</a:t>
                </a:r>
                <a:endParaRPr lang="zh-CN" altLang="en-US" sz="1800" b="1" dirty="0"/>
              </a:p>
            </p:txBody>
          </p:sp>
        </p:grpSp>
        <p:grpSp>
          <p:nvGrpSpPr>
            <p:cNvPr id="10" name="组合 9"/>
            <p:cNvGrpSpPr/>
            <p:nvPr/>
          </p:nvGrpSpPr>
          <p:grpSpPr>
            <a:xfrm>
              <a:off x="3297044" y="2853348"/>
              <a:ext cx="440327" cy="492442"/>
              <a:chOff x="1918252" y="1406890"/>
              <a:chExt cx="440327" cy="492442"/>
            </a:xfrm>
          </p:grpSpPr>
          <p:sp>
            <p:nvSpPr>
              <p:cNvPr id="20" name="椭圆 19"/>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21" name="文本框 20"/>
              <p:cNvSpPr txBox="1"/>
              <p:nvPr/>
            </p:nvSpPr>
            <p:spPr>
              <a:xfrm>
                <a:off x="1971293" y="1406890"/>
                <a:ext cx="387286" cy="492442"/>
              </a:xfrm>
              <a:prstGeom prst="rect">
                <a:avLst/>
              </a:prstGeom>
              <a:noFill/>
            </p:spPr>
            <p:txBody>
              <a:bodyPr wrap="none" rtlCol="0">
                <a:spAutoFit/>
              </a:bodyPr>
              <a:lstStyle/>
              <a:p>
                <a:r>
                  <a:rPr lang="en-US" altLang="zh-CN" sz="1800" b="1" dirty="0"/>
                  <a:t>F</a:t>
                </a:r>
                <a:endParaRPr lang="zh-CN" altLang="en-US" sz="1800" b="1" dirty="0"/>
              </a:p>
            </p:txBody>
          </p:sp>
        </p:grpSp>
        <p:grpSp>
          <p:nvGrpSpPr>
            <p:cNvPr id="11" name="组合 10"/>
            <p:cNvGrpSpPr/>
            <p:nvPr/>
          </p:nvGrpSpPr>
          <p:grpSpPr>
            <a:xfrm>
              <a:off x="1579617" y="3498325"/>
              <a:ext cx="451235" cy="492443"/>
              <a:chOff x="1918252" y="1400132"/>
              <a:chExt cx="451235" cy="492443"/>
            </a:xfrm>
          </p:grpSpPr>
          <p:sp>
            <p:nvSpPr>
              <p:cNvPr id="18" name="椭圆 17"/>
              <p:cNvSpPr/>
              <p:nvPr/>
            </p:nvSpPr>
            <p:spPr>
              <a:xfrm>
                <a:off x="1918252" y="1406890"/>
                <a:ext cx="409231" cy="461665"/>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15"/>
              </a:p>
            </p:txBody>
          </p:sp>
          <p:sp>
            <p:nvSpPr>
              <p:cNvPr id="19" name="文本框 18"/>
              <p:cNvSpPr txBox="1"/>
              <p:nvPr/>
            </p:nvSpPr>
            <p:spPr>
              <a:xfrm>
                <a:off x="1926631" y="1400132"/>
                <a:ext cx="442856" cy="492443"/>
              </a:xfrm>
              <a:prstGeom prst="rect">
                <a:avLst/>
              </a:prstGeom>
              <a:noFill/>
            </p:spPr>
            <p:txBody>
              <a:bodyPr wrap="none" rtlCol="0">
                <a:spAutoFit/>
              </a:bodyPr>
              <a:lstStyle/>
              <a:p>
                <a:r>
                  <a:rPr lang="en-US" altLang="zh-CN" sz="1800" b="1" dirty="0"/>
                  <a:t>G</a:t>
                </a:r>
                <a:endParaRPr lang="zh-CN" altLang="en-US" sz="1800" b="1" dirty="0"/>
              </a:p>
            </p:txBody>
          </p:sp>
        </p:grpSp>
        <p:cxnSp>
          <p:nvCxnSpPr>
            <p:cNvPr id="12" name="直接连接符 11"/>
            <p:cNvCxnSpPr/>
            <p:nvPr/>
          </p:nvCxnSpPr>
          <p:spPr>
            <a:xfrm flipH="1">
              <a:off x="1966626" y="2037311"/>
              <a:ext cx="288814" cy="25925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2583221" y="2018418"/>
              <a:ext cx="269654" cy="25930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flipH="1">
              <a:off x="1367829" y="2604764"/>
              <a:ext cx="288814" cy="25925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2590682" y="2617110"/>
              <a:ext cx="288814" cy="25925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3116398" y="2619919"/>
              <a:ext cx="269654" cy="25930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1398850" y="3303800"/>
              <a:ext cx="269654" cy="25930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aphicFrame>
        <p:nvGraphicFramePr>
          <p:cNvPr id="32" name="表格 31"/>
          <p:cNvGraphicFramePr>
            <a:graphicFrameLocks noGrp="1"/>
          </p:cNvGraphicFramePr>
          <p:nvPr/>
        </p:nvGraphicFramePr>
        <p:xfrm>
          <a:off x="4189459" y="1662602"/>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algn="ctr"/>
                      <a:endParaRPr lang="zh-CN" altLang="en-US" sz="1000"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A</a:t>
                      </a:r>
                      <a:endParaRPr lang="zh-CN" altLang="en-US" sz="15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endParaRPr lang="zh-CN" altLang="en-US" sz="1500" b="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33" name="表格 32"/>
          <p:cNvGraphicFramePr>
            <a:graphicFrameLocks noGrp="1"/>
          </p:cNvGraphicFramePr>
          <p:nvPr/>
        </p:nvGraphicFramePr>
        <p:xfrm>
          <a:off x="3350857" y="2243549"/>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algn="ctr"/>
                      <a:endParaRPr lang="zh-CN" altLang="en-US" sz="1000"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B</a:t>
                      </a:r>
                      <a:endParaRPr lang="zh-CN" altLang="en-US" sz="15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34" name="表格 33"/>
          <p:cNvGraphicFramePr>
            <a:graphicFrameLocks noGrp="1"/>
          </p:cNvGraphicFramePr>
          <p:nvPr/>
        </p:nvGraphicFramePr>
        <p:xfrm>
          <a:off x="4400689" y="2824495"/>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E</a:t>
                      </a:r>
                      <a:endParaRPr lang="zh-CN" altLang="en-US" sz="15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35" name="表格 34"/>
          <p:cNvGraphicFramePr>
            <a:graphicFrameLocks noGrp="1"/>
          </p:cNvGraphicFramePr>
          <p:nvPr/>
        </p:nvGraphicFramePr>
        <p:xfrm>
          <a:off x="2687762" y="2824495"/>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D</a:t>
                      </a:r>
                      <a:endParaRPr lang="zh-CN" altLang="en-US" sz="15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000"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36" name="表格 35"/>
          <p:cNvGraphicFramePr>
            <a:graphicFrameLocks noGrp="1"/>
          </p:cNvGraphicFramePr>
          <p:nvPr/>
        </p:nvGraphicFramePr>
        <p:xfrm>
          <a:off x="3465881" y="3448669"/>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G</a:t>
                      </a:r>
                      <a:endParaRPr lang="zh-CN" altLang="en-US" sz="15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cxnSp>
        <p:nvCxnSpPr>
          <p:cNvPr id="37" name="直接箭头连接符 36"/>
          <p:cNvCxnSpPr>
            <a:endCxn id="33" idx="0"/>
          </p:cNvCxnSpPr>
          <p:nvPr/>
        </p:nvCxnSpPr>
        <p:spPr>
          <a:xfrm flipH="1">
            <a:off x="3865809" y="1916555"/>
            <a:ext cx="514953" cy="32699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p:cNvCxnSpPr/>
          <p:nvPr/>
        </p:nvCxnSpPr>
        <p:spPr>
          <a:xfrm flipH="1">
            <a:off x="3066431" y="2490282"/>
            <a:ext cx="514952" cy="32699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p:cNvCxnSpPr/>
          <p:nvPr/>
        </p:nvCxnSpPr>
        <p:spPr>
          <a:xfrm>
            <a:off x="5909922" y="2463707"/>
            <a:ext cx="514952" cy="36078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a:off x="3544225" y="3080662"/>
            <a:ext cx="514952" cy="36078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1" name="表格 40"/>
          <p:cNvGraphicFramePr>
            <a:graphicFrameLocks noGrp="1"/>
          </p:cNvGraphicFramePr>
          <p:nvPr/>
        </p:nvGraphicFramePr>
        <p:xfrm>
          <a:off x="5105886" y="2235020"/>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algn="ctr"/>
                      <a:endParaRPr lang="zh-CN" altLang="en-US" sz="1000"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C</a:t>
                      </a:r>
                      <a:endParaRPr lang="zh-CN" altLang="en-US" sz="15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000"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42" name="表格 41"/>
          <p:cNvGraphicFramePr>
            <a:graphicFrameLocks noGrp="1"/>
          </p:cNvGraphicFramePr>
          <p:nvPr/>
        </p:nvGraphicFramePr>
        <p:xfrm>
          <a:off x="5815334" y="2807438"/>
          <a:ext cx="1029903" cy="297180"/>
        </p:xfrm>
        <a:graphic>
          <a:graphicData uri="http://schemas.openxmlformats.org/drawingml/2006/table">
            <a:tbl>
              <a:tblPr firstRow="1" bandRow="1">
                <a:tableStyleId>{5C22544A-7EE6-4342-B048-85BDC9FD1C3A}</a:tableStyleId>
              </a:tblPr>
              <a:tblGrid>
                <a:gridCol w="343301"/>
                <a:gridCol w="343301"/>
                <a:gridCol w="343301"/>
              </a:tblGrid>
              <a:tr h="297180">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dirty="0">
                          <a:solidFill>
                            <a:schemeClr val="tx1"/>
                          </a:solidFill>
                        </a:rPr>
                        <a:t>F</a:t>
                      </a:r>
                      <a:endParaRPr lang="zh-CN" altLang="en-US" sz="15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kern="1200" dirty="0">
                          <a:solidFill>
                            <a:srgbClr val="FF0000"/>
                          </a:solidFill>
                          <a:latin typeface="+mn-lt"/>
                          <a:ea typeface="+mn-ea"/>
                          <a:cs typeface="+mn-cs"/>
                        </a:rPr>
                        <a:t>˄</a:t>
                      </a:r>
                      <a:endParaRPr lang="zh-CN" altLang="en-US" sz="1500" b="1" kern="1200" dirty="0">
                        <a:solidFill>
                          <a:srgbClr val="FF0000"/>
                        </a:solidFill>
                        <a:latin typeface="+mn-lt"/>
                        <a:ea typeface="+mn-ea"/>
                        <a:cs typeface="+mn-cs"/>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cxnSp>
        <p:nvCxnSpPr>
          <p:cNvPr id="43" name="直接箭头连接符 42"/>
          <p:cNvCxnSpPr/>
          <p:nvPr/>
        </p:nvCxnSpPr>
        <p:spPr>
          <a:xfrm>
            <a:off x="5028059" y="1873837"/>
            <a:ext cx="514952" cy="36078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H="1">
            <a:off x="4796553" y="2490282"/>
            <a:ext cx="514953" cy="32699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98664" y="4297580"/>
            <a:ext cx="6591294" cy="368300"/>
          </a:xfrm>
          <a:prstGeom prst="rect">
            <a:avLst/>
          </a:prstGeom>
        </p:spPr>
        <p:txBody>
          <a:bodyPr wrap="square">
            <a:spAutoFit/>
          </a:bodyPr>
          <a:lstStyle/>
          <a:p>
            <a:pPr lvl="2" indent="-659130"/>
            <a:r>
              <a:rPr lang="zh-CN" altLang="en-US" sz="1800" b="1" dirty="0">
                <a:solidFill>
                  <a:srgbClr val="00194C"/>
                </a:solidFill>
                <a:latin typeface="华文楷体" panose="02010600040101010101" pitchFamily="2" charset="-122"/>
                <a:ea typeface="华文楷体" panose="02010600040101010101" pitchFamily="2" charset="-122"/>
              </a:rPr>
              <a:t>一个含有</a:t>
            </a:r>
            <a:r>
              <a:rPr lang="en-US" altLang="zh-CN" sz="1800" b="1" dirty="0">
                <a:solidFill>
                  <a:srgbClr val="00194C"/>
                </a:solidFill>
                <a:latin typeface="华文楷体" panose="02010600040101010101" pitchFamily="2" charset="-122"/>
                <a:ea typeface="华文楷体" panose="02010600040101010101" pitchFamily="2" charset="-122"/>
              </a:rPr>
              <a:t>n</a:t>
            </a:r>
            <a:r>
              <a:rPr lang="zh-CN" altLang="en-US" sz="1800" b="1" dirty="0">
                <a:solidFill>
                  <a:srgbClr val="00194C"/>
                </a:solidFill>
                <a:latin typeface="华文楷体" panose="02010600040101010101" pitchFamily="2" charset="-122"/>
                <a:ea typeface="华文楷体" panose="02010600040101010101" pitchFamily="2" charset="-122"/>
              </a:rPr>
              <a:t>个结点的二叉链表必有</a:t>
            </a:r>
            <a:r>
              <a:rPr lang="en-US" altLang="zh-CN" sz="1800" b="1" dirty="0">
                <a:solidFill>
                  <a:srgbClr val="FF0000"/>
                </a:solidFill>
                <a:latin typeface="华文楷体" panose="02010600040101010101" pitchFamily="2" charset="-122"/>
                <a:ea typeface="华文楷体" panose="02010600040101010101" pitchFamily="2" charset="-122"/>
              </a:rPr>
              <a:t>n</a:t>
            </a:r>
            <a:r>
              <a:rPr lang="zh-CN" altLang="en-US" sz="1800" b="1" dirty="0">
                <a:solidFill>
                  <a:srgbClr val="FF0000"/>
                </a:solidFill>
                <a:latin typeface="华文楷体" panose="02010600040101010101" pitchFamily="2" charset="-122"/>
                <a:ea typeface="华文楷体" panose="02010600040101010101" pitchFamily="2" charset="-122"/>
              </a:rPr>
              <a:t>＋</a:t>
            </a:r>
            <a:r>
              <a:rPr lang="en-US" altLang="zh-CN" sz="1800" b="1" dirty="0">
                <a:solidFill>
                  <a:srgbClr val="FF0000"/>
                </a:solidFill>
                <a:latin typeface="华文楷体" panose="02010600040101010101" pitchFamily="2" charset="-122"/>
                <a:ea typeface="华文楷体" panose="02010600040101010101" pitchFamily="2" charset="-122"/>
              </a:rPr>
              <a:t>1</a:t>
            </a:r>
            <a:r>
              <a:rPr lang="zh-CN" altLang="en-US" sz="1800" b="1" dirty="0">
                <a:solidFill>
                  <a:srgbClr val="00194C"/>
                </a:solidFill>
                <a:latin typeface="华文楷体" panose="02010600040101010101" pitchFamily="2" charset="-122"/>
                <a:ea typeface="华文楷体" panose="02010600040101010101" pitchFamily="2" charset="-122"/>
              </a:rPr>
              <a:t>个空链域。（如何证明？）</a:t>
            </a:r>
            <a:endParaRPr lang="zh-CN" altLang="en-US" sz="1800" b="1" dirty="0">
              <a:solidFill>
                <a:srgbClr val="00194C"/>
              </a:solidFill>
              <a:latin typeface="华文楷体" panose="02010600040101010101" pitchFamily="2" charset="-122"/>
              <a:ea typeface="华文楷体" panose="02010600040101010101" pitchFamily="2"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6.2 </a:t>
            </a:r>
            <a:r>
              <a:rPr lang="zh-CN" altLang="en-US" dirty="0"/>
              <a:t>二叉树</a:t>
            </a:r>
            <a:endParaRPr lang="zh-CN" altLang="en-US" dirty="0"/>
          </a:p>
        </p:txBody>
      </p:sp>
      <p:sp>
        <p:nvSpPr>
          <p:cNvPr id="48" name="矩形 2"/>
          <p:cNvSpPr>
            <a:spLocks noChangeArrowheads="1"/>
          </p:cNvSpPr>
          <p:nvPr/>
        </p:nvSpPr>
        <p:spPr bwMode="auto">
          <a:xfrm>
            <a:off x="93845" y="591856"/>
            <a:ext cx="7929562" cy="369332"/>
          </a:xfrm>
          <a:prstGeom prst="rect">
            <a:avLst/>
          </a:prstGeom>
          <a:noFill/>
          <a:ln w="9525">
            <a:noFill/>
            <a:miter lim="800000"/>
          </a:ln>
        </p:spPr>
        <p:txBody>
          <a:bodyPr>
            <a:spAutoFit/>
          </a:bodyPr>
          <a:lstStyle/>
          <a:p>
            <a:r>
              <a:rPr lang="en-US" altLang="zh-CN" sz="1800" b="1" dirty="0">
                <a:latin typeface="Times New Roman" panose="02020603050405020304" pitchFamily="18" charset="0"/>
                <a:cs typeface="Times New Roman" panose="02020603050405020304" pitchFamily="18" charset="0"/>
              </a:rPr>
              <a:t>【</a:t>
            </a:r>
            <a:r>
              <a:rPr lang="zh-CN" altLang="en-US" sz="1800" b="1" dirty="0">
                <a:latin typeface="Times New Roman" panose="02020603050405020304" pitchFamily="18" charset="0"/>
                <a:cs typeface="Times New Roman" panose="02020603050405020304" pitchFamily="18" charset="0"/>
              </a:rPr>
              <a:t>定义</a:t>
            </a:r>
            <a:r>
              <a:rPr lang="en-US" altLang="zh-CN" sz="1800" b="1" dirty="0">
                <a:latin typeface="Times New Roman" panose="02020603050405020304" pitchFamily="18" charset="0"/>
                <a:cs typeface="Times New Roman" panose="02020603050405020304" pitchFamily="18" charset="0"/>
              </a:rPr>
              <a:t>】</a:t>
            </a:r>
            <a:r>
              <a:rPr lang="zh-CN" altLang="en-US" sz="1800" b="1" dirty="0">
                <a:latin typeface="Times New Roman" panose="02020603050405020304" pitchFamily="18" charset="0"/>
                <a:cs typeface="Times New Roman" panose="02020603050405020304" pitchFamily="18" charset="0"/>
              </a:rPr>
              <a:t>“二叉树</a:t>
            </a:r>
            <a:r>
              <a:rPr lang="en-US" altLang="zh-CN" sz="1800" b="1" dirty="0">
                <a:solidFill>
                  <a:srgbClr val="0070C0"/>
                </a:solidFill>
                <a:latin typeface="Times New Roman" panose="02020603050405020304" pitchFamily="18" charset="0"/>
                <a:cs typeface="Times New Roman" panose="02020603050405020304" pitchFamily="18" charset="0"/>
              </a:rPr>
              <a:t>(Binary Trees)</a:t>
            </a:r>
            <a:r>
              <a:rPr lang="en-US" altLang="zh-CN" sz="1800" b="1" dirty="0">
                <a:latin typeface="Times New Roman" panose="02020603050405020304" pitchFamily="18" charset="0"/>
                <a:cs typeface="Times New Roman" panose="02020603050405020304" pitchFamily="18" charset="0"/>
              </a:rPr>
              <a:t>”</a:t>
            </a:r>
            <a:r>
              <a:rPr lang="zh-CN" altLang="en-US" sz="1800" b="1" dirty="0">
                <a:latin typeface="Times New Roman" panose="02020603050405020304" pitchFamily="18" charset="0"/>
                <a:cs typeface="Times New Roman" panose="02020603050405020304" pitchFamily="18" charset="0"/>
              </a:rPr>
              <a:t>抽象数据类型定义。</a:t>
            </a:r>
            <a:endParaRPr lang="en-US" altLang="zh-CN" sz="1800" b="1" dirty="0">
              <a:latin typeface="Times New Roman" panose="02020603050405020304" pitchFamily="18" charset="0"/>
              <a:cs typeface="Times New Roman" panose="02020603050405020304" pitchFamily="18" charset="0"/>
            </a:endParaRPr>
          </a:p>
        </p:txBody>
      </p:sp>
      <p:sp>
        <p:nvSpPr>
          <p:cNvPr id="49" name="Text Box 13"/>
          <p:cNvSpPr txBox="1">
            <a:spLocks noChangeArrowheads="1"/>
          </p:cNvSpPr>
          <p:nvPr/>
        </p:nvSpPr>
        <p:spPr bwMode="auto">
          <a:xfrm>
            <a:off x="295656" y="961189"/>
            <a:ext cx="6650831" cy="2148797"/>
          </a:xfrm>
          <a:prstGeom prst="rect">
            <a:avLst/>
          </a:prstGeom>
          <a:noFill/>
          <a:ln w="9525">
            <a:solidFill>
              <a:schemeClr val="tx1"/>
            </a:solidFill>
            <a:miter lim="800000"/>
          </a:ln>
          <a:effectLst/>
        </p:spPr>
        <p:txBody>
          <a:bodyPr/>
          <a:lstStyle/>
          <a:p>
            <a:pPr marL="342900" indent="-342900">
              <a:spcAft>
                <a:spcPct val="20000"/>
              </a:spcAft>
              <a:defRPr/>
            </a:pPr>
            <a:r>
              <a:rPr lang="zh-CN" altLang="en-US" sz="1400" b="1" dirty="0">
                <a:solidFill>
                  <a:schemeClr val="tx2"/>
                </a:solidFill>
                <a:latin typeface="Times New Roman" panose="02020603050405020304" pitchFamily="18" charset="0"/>
                <a:cs typeface="Times New Roman" panose="02020603050405020304" pitchFamily="18" charset="0"/>
              </a:rPr>
              <a:t>类型名称：二叉树</a:t>
            </a:r>
            <a:r>
              <a:rPr lang="zh-CN" altLang="en-US" sz="1400" b="1" dirty="0">
                <a:latin typeface="Times New Roman" panose="02020603050405020304" pitchFamily="18" charset="0"/>
                <a:cs typeface="Times New Roman" panose="02020603050405020304" pitchFamily="18" charset="0"/>
              </a:rPr>
              <a:t>（</a:t>
            </a:r>
            <a:r>
              <a:rPr lang="en-US" altLang="zh-CN" sz="1400" b="1" dirty="0" err="1">
                <a:latin typeface="Times New Roman" panose="02020603050405020304" pitchFamily="18" charset="0"/>
                <a:cs typeface="Times New Roman" panose="02020603050405020304" pitchFamily="18" charset="0"/>
              </a:rPr>
              <a:t>BinTree</a:t>
            </a:r>
            <a:r>
              <a:rPr lang="zh-CN" altLang="en-US" sz="1400" b="1" dirty="0">
                <a:latin typeface="Times New Roman" panose="02020603050405020304" pitchFamily="18" charset="0"/>
                <a:cs typeface="Times New Roman" panose="02020603050405020304" pitchFamily="18" charset="0"/>
              </a:rPr>
              <a:t>）</a:t>
            </a:r>
            <a:endParaRPr lang="zh-CN" altLang="en-US" sz="1400" b="1" dirty="0">
              <a:latin typeface="Times New Roman" panose="02020603050405020304" pitchFamily="18" charset="0"/>
              <a:cs typeface="Times New Roman" panose="02020603050405020304" pitchFamily="18" charset="0"/>
            </a:endParaRPr>
          </a:p>
          <a:p>
            <a:pPr marL="342900" indent="-342900">
              <a:spcAft>
                <a:spcPct val="20000"/>
              </a:spcAft>
              <a:defRPr/>
            </a:pPr>
            <a:r>
              <a:rPr lang="zh-CN" altLang="en-US" sz="1400" b="1" dirty="0">
                <a:solidFill>
                  <a:schemeClr val="tx2"/>
                </a:solidFill>
                <a:latin typeface="Times New Roman" panose="02020603050405020304" pitchFamily="18" charset="0"/>
                <a:cs typeface="Times New Roman" panose="02020603050405020304" pitchFamily="18" charset="0"/>
              </a:rPr>
              <a:t>数据对象集：</a:t>
            </a:r>
            <a:r>
              <a:rPr lang="zh-CN" altLang="en-US" sz="1400" b="1" dirty="0">
                <a:latin typeface="Times New Roman" panose="02020603050405020304" pitchFamily="18" charset="0"/>
                <a:cs typeface="Times New Roman" panose="02020603050405020304" pitchFamily="18" charset="0"/>
              </a:rPr>
              <a:t>一个有穷的结点集合。这个集合可以为空，若不为空，则它是由</a:t>
            </a:r>
            <a:r>
              <a:rPr lang="zh-CN" altLang="en-US" sz="1400" b="1" dirty="0">
                <a:solidFill>
                  <a:srgbClr val="0000FF"/>
                </a:solidFill>
                <a:latin typeface="Times New Roman" panose="02020603050405020304" pitchFamily="18" charset="0"/>
                <a:cs typeface="Times New Roman" panose="02020603050405020304" pitchFamily="18" charset="0"/>
              </a:rPr>
              <a:t>根结点和其左、右二叉子树</a:t>
            </a:r>
            <a:r>
              <a:rPr lang="zh-CN" altLang="en-US" sz="1400" b="1" dirty="0">
                <a:latin typeface="Times New Roman" panose="02020603050405020304" pitchFamily="18" charset="0"/>
                <a:cs typeface="Times New Roman" panose="02020603050405020304" pitchFamily="18" charset="0"/>
              </a:rPr>
              <a:t>组成。</a:t>
            </a:r>
            <a:endParaRPr lang="zh-CN" altLang="en-US" sz="1400" b="1" dirty="0">
              <a:solidFill>
                <a:schemeClr val="tx2"/>
              </a:solidFill>
              <a:latin typeface="Times New Roman" panose="02020603050405020304" pitchFamily="18" charset="0"/>
              <a:cs typeface="Times New Roman" panose="02020603050405020304" pitchFamily="18" charset="0"/>
            </a:endParaRPr>
          </a:p>
          <a:p>
            <a:pPr>
              <a:defRPr/>
            </a:pPr>
            <a:r>
              <a:rPr lang="zh-CN" altLang="en-US" sz="1400" b="1" dirty="0">
                <a:solidFill>
                  <a:schemeClr val="tx2"/>
                </a:solidFill>
                <a:latin typeface="Times New Roman" panose="02020603050405020304" pitchFamily="18" charset="0"/>
                <a:cs typeface="Times New Roman" panose="02020603050405020304" pitchFamily="18" charset="0"/>
              </a:rPr>
              <a:t>操作集：</a:t>
            </a:r>
            <a:r>
              <a:rPr lang="zh-CN" altLang="en-US" sz="1400" b="1" dirty="0">
                <a:latin typeface="Times New Roman" panose="02020603050405020304" pitchFamily="18" charset="0"/>
                <a:cs typeface="Times New Roman" panose="02020603050405020304" pitchFamily="18" charset="0"/>
              </a:rPr>
              <a:t>对于所有 </a:t>
            </a:r>
            <a:r>
              <a:rPr lang="en-US" sz="1400" b="1" dirty="0">
                <a:latin typeface="Times New Roman" panose="02020603050405020304" pitchFamily="18" charset="0"/>
                <a:cs typeface="Times New Roman" panose="02020603050405020304" pitchFamily="18" charset="0"/>
              </a:rPr>
              <a:t>BT</a:t>
            </a:r>
            <a:r>
              <a:rPr lang="en-US" sz="1400" b="1" dirty="0">
                <a:latin typeface="Times New Roman" panose="02020603050405020304" pitchFamily="18" charset="0"/>
                <a:cs typeface="Times New Roman" panose="02020603050405020304" pitchFamily="18" charset="0"/>
                <a:sym typeface="Symbol" panose="05050102010706020507"/>
              </a:rPr>
              <a:t></a:t>
            </a:r>
            <a:r>
              <a:rPr lang="en-US" sz="1400" b="1" dirty="0">
                <a:latin typeface="Times New Roman" panose="02020603050405020304" pitchFamily="18" charset="0"/>
                <a:cs typeface="Times New Roman" panose="02020603050405020304" pitchFamily="18" charset="0"/>
              </a:rPr>
              <a:t> </a:t>
            </a:r>
            <a:r>
              <a:rPr lang="en-US" sz="1400" b="1" dirty="0" err="1">
                <a:latin typeface="Times New Roman" panose="02020603050405020304" pitchFamily="18" charset="0"/>
                <a:cs typeface="Times New Roman" panose="02020603050405020304" pitchFamily="18" charset="0"/>
              </a:rPr>
              <a:t>BinTree</a:t>
            </a:r>
            <a:r>
              <a:rPr lang="zh-CN" altLang="en-US" sz="1400" b="1" dirty="0">
                <a:latin typeface="Times New Roman" panose="02020603050405020304" pitchFamily="18" charset="0"/>
                <a:cs typeface="Times New Roman" panose="02020603050405020304" pitchFamily="18" charset="0"/>
              </a:rPr>
              <a:t>，重要的操作有：</a:t>
            </a:r>
            <a:endParaRPr lang="zh-CN" altLang="en-US" sz="1400" b="1" dirty="0">
              <a:latin typeface="Times New Roman" panose="02020603050405020304" pitchFamily="18" charset="0"/>
              <a:cs typeface="Times New Roman" panose="02020603050405020304" pitchFamily="18" charset="0"/>
            </a:endParaRPr>
          </a:p>
          <a:p>
            <a:pPr lvl="0">
              <a:defRPr/>
            </a:pPr>
            <a:r>
              <a:rPr lang="en-US" sz="1400" b="1" dirty="0">
                <a:latin typeface="Times New Roman" panose="02020603050405020304" pitchFamily="18" charset="0"/>
                <a:cs typeface="Times New Roman" panose="02020603050405020304" pitchFamily="18" charset="0"/>
              </a:rPr>
              <a:t>1</a:t>
            </a:r>
            <a:r>
              <a:rPr lang="zh-CN" altLang="en-US" sz="1400" b="1" dirty="0">
                <a:latin typeface="Times New Roman" panose="02020603050405020304" pitchFamily="18" charset="0"/>
                <a:cs typeface="Times New Roman" panose="02020603050405020304" pitchFamily="18" charset="0"/>
              </a:rPr>
              <a:t>、</a:t>
            </a:r>
            <a:r>
              <a:rPr lang="en-US" sz="1400" b="1" dirty="0" err="1">
                <a:solidFill>
                  <a:srgbClr val="0000FF"/>
                </a:solidFill>
                <a:latin typeface="Times New Roman" panose="02020603050405020304" pitchFamily="18" charset="0"/>
                <a:cs typeface="Times New Roman" panose="02020603050405020304" pitchFamily="18" charset="0"/>
              </a:rPr>
              <a:t>bool</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IsEmpty</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BT )</a:t>
            </a:r>
            <a:r>
              <a:rPr lang="zh-CN" altLang="en-US" sz="1400" b="1" dirty="0">
                <a:latin typeface="Times New Roman" panose="02020603050405020304" pitchFamily="18" charset="0"/>
                <a:cs typeface="Times New Roman" panose="02020603050405020304" pitchFamily="18" charset="0"/>
              </a:rPr>
              <a:t>： 若</a:t>
            </a:r>
            <a:r>
              <a:rPr lang="en-US" sz="1400" b="1" dirty="0">
                <a:latin typeface="Times New Roman" panose="02020603050405020304" pitchFamily="18" charset="0"/>
                <a:cs typeface="Times New Roman" panose="02020603050405020304" pitchFamily="18" charset="0"/>
              </a:rPr>
              <a:t>BT</a:t>
            </a:r>
            <a:r>
              <a:rPr lang="zh-CN" altLang="en-US" sz="1400" b="1" dirty="0">
                <a:latin typeface="Times New Roman" panose="02020603050405020304" pitchFamily="18" charset="0"/>
                <a:cs typeface="Times New Roman" panose="02020603050405020304" pitchFamily="18" charset="0"/>
              </a:rPr>
              <a:t>为空返回</a:t>
            </a:r>
            <a:r>
              <a:rPr lang="en-US" sz="1400" b="1" dirty="0">
                <a:latin typeface="Times New Roman" panose="02020603050405020304" pitchFamily="18" charset="0"/>
                <a:cs typeface="Times New Roman" panose="02020603050405020304" pitchFamily="18" charset="0"/>
              </a:rPr>
              <a:t>true; </a:t>
            </a:r>
            <a:r>
              <a:rPr lang="zh-CN" altLang="en-US" sz="1400" b="1" dirty="0">
                <a:latin typeface="Times New Roman" panose="02020603050405020304" pitchFamily="18" charset="0"/>
                <a:cs typeface="Times New Roman" panose="02020603050405020304" pitchFamily="18" charset="0"/>
              </a:rPr>
              <a:t>否则返回</a:t>
            </a:r>
            <a:r>
              <a:rPr lang="en-US" sz="1400" b="1" dirty="0">
                <a:latin typeface="Times New Roman" panose="02020603050405020304" pitchFamily="18" charset="0"/>
                <a:cs typeface="Times New Roman" panose="02020603050405020304" pitchFamily="18" charset="0"/>
              </a:rPr>
              <a:t>false</a:t>
            </a:r>
            <a:r>
              <a:rPr lang="zh-CN" altLang="en-US" sz="1400" b="1" dirty="0">
                <a:latin typeface="Times New Roman" panose="02020603050405020304" pitchFamily="18" charset="0"/>
                <a:cs typeface="Times New Roman" panose="02020603050405020304" pitchFamily="18" charset="0"/>
              </a:rPr>
              <a:t>；</a:t>
            </a:r>
            <a:endParaRPr lang="zh-CN" altLang="en-US" sz="1400" b="1" dirty="0">
              <a:latin typeface="Times New Roman" panose="02020603050405020304" pitchFamily="18" charset="0"/>
              <a:cs typeface="Times New Roman" panose="02020603050405020304" pitchFamily="18" charset="0"/>
            </a:endParaRPr>
          </a:p>
          <a:p>
            <a:pPr>
              <a:defRPr/>
            </a:pPr>
            <a:r>
              <a:rPr lang="en-US" sz="1400" b="1" dirty="0">
                <a:latin typeface="Times New Roman" panose="02020603050405020304" pitchFamily="18" charset="0"/>
                <a:cs typeface="Times New Roman" panose="02020603050405020304" pitchFamily="18" charset="0"/>
              </a:rPr>
              <a:t>2</a:t>
            </a:r>
            <a:r>
              <a:rPr lang="zh-CN" altLang="en-US" sz="1400" b="1" dirty="0">
                <a:latin typeface="Times New Roman" panose="02020603050405020304" pitchFamily="18" charset="0"/>
                <a:cs typeface="Times New Roman" panose="02020603050405020304" pitchFamily="18" charset="0"/>
              </a:rPr>
              <a:t>、</a:t>
            </a:r>
            <a:r>
              <a:rPr lang="en-US" sz="1400" b="1" dirty="0">
                <a:solidFill>
                  <a:srgbClr val="0000FF"/>
                </a:solidFill>
                <a:latin typeface="Times New Roman" panose="02020603050405020304" pitchFamily="18" charset="0"/>
                <a:cs typeface="Times New Roman" panose="02020603050405020304" pitchFamily="18" charset="0"/>
              </a:rPr>
              <a:t>void Traversal( </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BT )</a:t>
            </a:r>
            <a:r>
              <a:rPr lang="zh-CN" altLang="en-US" sz="1400" b="1" dirty="0">
                <a:latin typeface="Times New Roman" panose="02020603050405020304" pitchFamily="18" charset="0"/>
                <a:cs typeface="Times New Roman" panose="02020603050405020304" pitchFamily="18" charset="0"/>
              </a:rPr>
              <a:t>：二叉树的遍历，即按某一顺序访问二叉树中的每个结点仅一次；</a:t>
            </a:r>
            <a:endParaRPr lang="zh-CN" altLang="en-US" sz="1400" b="1" dirty="0">
              <a:latin typeface="Times New Roman" panose="02020603050405020304" pitchFamily="18" charset="0"/>
              <a:cs typeface="Times New Roman" panose="02020603050405020304" pitchFamily="18" charset="0"/>
            </a:endParaRPr>
          </a:p>
          <a:p>
            <a:pPr>
              <a:defRPr/>
            </a:pPr>
            <a:r>
              <a:rPr lang="en-US" sz="1400" b="1" dirty="0">
                <a:latin typeface="Times New Roman" panose="02020603050405020304" pitchFamily="18" charset="0"/>
                <a:cs typeface="Times New Roman" panose="02020603050405020304" pitchFamily="18" charset="0"/>
              </a:rPr>
              <a:t>3</a:t>
            </a:r>
            <a:r>
              <a:rPr lang="zh-CN" altLang="en-US" sz="1400" b="1" dirty="0">
                <a:latin typeface="Times New Roman" panose="02020603050405020304" pitchFamily="18" charset="0"/>
                <a:cs typeface="Times New Roman" panose="02020603050405020304" pitchFamily="18" charset="0"/>
              </a:rPr>
              <a:t>、</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CreatBinTree</a:t>
            </a:r>
            <a:r>
              <a:rPr lang="en-US" sz="1400" b="1" dirty="0">
                <a:solidFill>
                  <a:srgbClr val="0000FF"/>
                </a:solidFill>
                <a:latin typeface="Times New Roman" panose="02020603050405020304" pitchFamily="18" charset="0"/>
                <a:cs typeface="Times New Roman" panose="02020603050405020304" pitchFamily="18" charset="0"/>
              </a:rPr>
              <a:t>( )</a:t>
            </a:r>
            <a:r>
              <a:rPr lang="zh-CN" altLang="en-US" sz="1400" b="1" dirty="0">
                <a:latin typeface="Times New Roman" panose="02020603050405020304" pitchFamily="18" charset="0"/>
                <a:cs typeface="Times New Roman" panose="02020603050405020304" pitchFamily="18" charset="0"/>
              </a:rPr>
              <a:t>：创建一个二叉树。</a:t>
            </a:r>
            <a:endParaRPr lang="zh-CN" altLang="en-US" sz="1400" b="1" dirty="0">
              <a:latin typeface="Times New Roman" panose="02020603050405020304" pitchFamily="18" charset="0"/>
              <a:cs typeface="Times New Roman" panose="02020603050405020304" pitchFamily="18" charset="0"/>
            </a:endParaRPr>
          </a:p>
        </p:txBody>
      </p:sp>
      <p:sp>
        <p:nvSpPr>
          <p:cNvPr id="50" name="Text Box 13"/>
          <p:cNvSpPr txBox="1">
            <a:spLocks noChangeArrowheads="1"/>
          </p:cNvSpPr>
          <p:nvPr/>
        </p:nvSpPr>
        <p:spPr bwMode="auto">
          <a:xfrm>
            <a:off x="295656" y="3235769"/>
            <a:ext cx="6650831" cy="1643074"/>
          </a:xfrm>
          <a:prstGeom prst="rect">
            <a:avLst/>
          </a:prstGeom>
          <a:noFill/>
          <a:ln w="9525">
            <a:solidFill>
              <a:schemeClr val="tx1"/>
            </a:solidFill>
            <a:miter lim="800000"/>
          </a:ln>
          <a:effectLst/>
        </p:spPr>
        <p:txBody>
          <a:bodyPr/>
          <a:lstStyle/>
          <a:p>
            <a:pPr>
              <a:defRPr/>
            </a:pPr>
            <a:r>
              <a:rPr lang="zh-CN" altLang="en-US" sz="1400" b="1" dirty="0">
                <a:latin typeface="Times New Roman" panose="02020603050405020304" pitchFamily="18" charset="0"/>
                <a:cs typeface="Times New Roman" panose="02020603050405020304" pitchFamily="18" charset="0"/>
              </a:rPr>
              <a:t>常用的遍历方法有：</a:t>
            </a:r>
            <a:endParaRPr lang="en-US" sz="1400" b="1" dirty="0">
              <a:latin typeface="Times New Roman" panose="02020603050405020304" pitchFamily="18" charset="0"/>
              <a:cs typeface="Times New Roman" panose="02020603050405020304" pitchFamily="18" charset="0"/>
            </a:endParaRPr>
          </a:p>
          <a:p>
            <a:pPr>
              <a:spcBef>
                <a:spcPts val="600"/>
              </a:spcBef>
              <a:defRPr/>
            </a:pPr>
            <a:r>
              <a:rPr lang="en-US" sz="1400" b="1" dirty="0">
                <a:latin typeface="Times New Roman" panose="02020603050405020304" pitchFamily="18" charset="0"/>
                <a:cs typeface="Times New Roman" panose="02020603050405020304" pitchFamily="18" charset="0"/>
              </a:rPr>
              <a:t>1</a:t>
            </a:r>
            <a:r>
              <a:rPr lang="zh-CN" altLang="en-US" sz="1400" b="1" dirty="0">
                <a:latin typeface="Times New Roman" panose="02020603050405020304" pitchFamily="18" charset="0"/>
                <a:cs typeface="Times New Roman" panose="02020603050405020304" pitchFamily="18" charset="0"/>
              </a:rPr>
              <a:t>、</a:t>
            </a:r>
            <a:r>
              <a:rPr lang="en-US" sz="1400" b="1" dirty="0">
                <a:solidFill>
                  <a:srgbClr val="0000FF"/>
                </a:solidFill>
                <a:latin typeface="Times New Roman" panose="02020603050405020304" pitchFamily="18" charset="0"/>
                <a:cs typeface="Times New Roman" panose="02020603050405020304" pitchFamily="18" charset="0"/>
              </a:rPr>
              <a:t>void </a:t>
            </a:r>
            <a:r>
              <a:rPr lang="en-US" sz="1400" b="1" dirty="0" err="1">
                <a:solidFill>
                  <a:srgbClr val="0000FF"/>
                </a:solidFill>
                <a:latin typeface="Times New Roman" panose="02020603050405020304" pitchFamily="18" charset="0"/>
                <a:cs typeface="Times New Roman" panose="02020603050405020304" pitchFamily="18" charset="0"/>
              </a:rPr>
              <a:t>InOrderTraversal</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BT )</a:t>
            </a:r>
            <a:r>
              <a:rPr lang="zh-CN" altLang="en-US" sz="1400" b="1" dirty="0">
                <a:solidFill>
                  <a:srgbClr val="0000FF"/>
                </a:solidFill>
                <a:latin typeface="Times New Roman" panose="02020603050405020304" pitchFamily="18" charset="0"/>
                <a:cs typeface="Times New Roman" panose="02020603050405020304" pitchFamily="18" charset="0"/>
              </a:rPr>
              <a:t>：</a:t>
            </a:r>
            <a:r>
              <a:rPr lang="zh-CN" altLang="en-US" sz="1400" b="1" dirty="0">
                <a:latin typeface="Times New Roman" panose="02020603050405020304" pitchFamily="18" charset="0"/>
                <a:cs typeface="Times New Roman" panose="02020603050405020304" pitchFamily="18" charset="0"/>
              </a:rPr>
              <a:t>根结点的访问次序在左、右子树之间；</a:t>
            </a:r>
            <a:endParaRPr lang="zh-CN" altLang="en-US" sz="1400" b="1" dirty="0">
              <a:latin typeface="Times New Roman" panose="02020603050405020304" pitchFamily="18" charset="0"/>
              <a:cs typeface="Times New Roman" panose="02020603050405020304" pitchFamily="18" charset="0"/>
            </a:endParaRPr>
          </a:p>
          <a:p>
            <a:pPr>
              <a:spcBef>
                <a:spcPts val="600"/>
              </a:spcBef>
              <a:defRPr/>
            </a:pPr>
            <a:r>
              <a:rPr lang="en-US" sz="1400" b="1" dirty="0">
                <a:latin typeface="Times New Roman" panose="02020603050405020304" pitchFamily="18" charset="0"/>
                <a:cs typeface="Times New Roman" panose="02020603050405020304" pitchFamily="18" charset="0"/>
              </a:rPr>
              <a:t>2</a:t>
            </a:r>
            <a:r>
              <a:rPr lang="zh-CN" altLang="en-US" sz="1400" b="1" dirty="0">
                <a:latin typeface="Times New Roman" panose="02020603050405020304" pitchFamily="18" charset="0"/>
                <a:cs typeface="Times New Roman" panose="02020603050405020304" pitchFamily="18" charset="0"/>
              </a:rPr>
              <a:t>、</a:t>
            </a:r>
            <a:r>
              <a:rPr lang="en-US" sz="1400" b="1" dirty="0">
                <a:solidFill>
                  <a:srgbClr val="0000FF"/>
                </a:solidFill>
                <a:latin typeface="Times New Roman" panose="02020603050405020304" pitchFamily="18" charset="0"/>
                <a:cs typeface="Times New Roman" panose="02020603050405020304" pitchFamily="18" charset="0"/>
              </a:rPr>
              <a:t>void </a:t>
            </a:r>
            <a:r>
              <a:rPr lang="en-US" altLang="zh-CN" sz="1400" b="1" dirty="0" err="1">
                <a:solidFill>
                  <a:srgbClr val="0000FF"/>
                </a:solidFill>
                <a:latin typeface="Times New Roman" panose="02020603050405020304" pitchFamily="18" charset="0"/>
                <a:cs typeface="Times New Roman" panose="02020603050405020304" pitchFamily="18" charset="0"/>
              </a:rPr>
              <a:t>Pre</a:t>
            </a:r>
            <a:r>
              <a:rPr lang="en-US" sz="1400" b="1" dirty="0" err="1">
                <a:solidFill>
                  <a:srgbClr val="0000FF"/>
                </a:solidFill>
                <a:latin typeface="Times New Roman" panose="02020603050405020304" pitchFamily="18" charset="0"/>
                <a:cs typeface="Times New Roman" panose="02020603050405020304" pitchFamily="18" charset="0"/>
              </a:rPr>
              <a:t>OrderTraversal</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BT )</a:t>
            </a:r>
            <a:r>
              <a:rPr lang="zh-CN" altLang="en-US" sz="1400" b="1" dirty="0">
                <a:latin typeface="Times New Roman" panose="02020603050405020304" pitchFamily="18" charset="0"/>
                <a:cs typeface="Times New Roman" panose="02020603050405020304" pitchFamily="18" charset="0"/>
              </a:rPr>
              <a:t>：根结点的访问次序在左、右子树之前；</a:t>
            </a:r>
            <a:endParaRPr lang="zh-CN" altLang="en-US" sz="1400" b="1" dirty="0">
              <a:latin typeface="Times New Roman" panose="02020603050405020304" pitchFamily="18" charset="0"/>
              <a:cs typeface="Times New Roman" panose="02020603050405020304" pitchFamily="18" charset="0"/>
            </a:endParaRPr>
          </a:p>
          <a:p>
            <a:pPr>
              <a:spcBef>
                <a:spcPts val="600"/>
              </a:spcBef>
              <a:defRPr/>
            </a:pPr>
            <a:r>
              <a:rPr lang="en-US" sz="1400" b="1" dirty="0">
                <a:latin typeface="Times New Roman" panose="02020603050405020304" pitchFamily="18" charset="0"/>
                <a:cs typeface="Times New Roman" panose="02020603050405020304" pitchFamily="18" charset="0"/>
              </a:rPr>
              <a:t>3</a:t>
            </a:r>
            <a:r>
              <a:rPr lang="zh-CN" altLang="en-US" sz="1400" b="1" dirty="0">
                <a:latin typeface="Times New Roman" panose="02020603050405020304" pitchFamily="18" charset="0"/>
                <a:cs typeface="Times New Roman" panose="02020603050405020304" pitchFamily="18" charset="0"/>
              </a:rPr>
              <a:t>、</a:t>
            </a:r>
            <a:r>
              <a:rPr lang="en-US" sz="1400" b="1" dirty="0">
                <a:solidFill>
                  <a:srgbClr val="0000FF"/>
                </a:solidFill>
                <a:latin typeface="Times New Roman" panose="02020603050405020304" pitchFamily="18" charset="0"/>
                <a:cs typeface="Times New Roman" panose="02020603050405020304" pitchFamily="18" charset="0"/>
              </a:rPr>
              <a:t> void </a:t>
            </a:r>
            <a:r>
              <a:rPr lang="en-US" altLang="zh-CN" sz="1400" b="1" dirty="0" err="1">
                <a:solidFill>
                  <a:srgbClr val="0000FF"/>
                </a:solidFill>
                <a:latin typeface="Times New Roman" panose="02020603050405020304" pitchFamily="18" charset="0"/>
                <a:cs typeface="Times New Roman" panose="02020603050405020304" pitchFamily="18" charset="0"/>
              </a:rPr>
              <a:t>Post</a:t>
            </a:r>
            <a:r>
              <a:rPr lang="en-US" sz="1400" b="1" dirty="0" err="1">
                <a:solidFill>
                  <a:srgbClr val="0000FF"/>
                </a:solidFill>
                <a:latin typeface="Times New Roman" panose="02020603050405020304" pitchFamily="18" charset="0"/>
                <a:cs typeface="Times New Roman" panose="02020603050405020304" pitchFamily="18" charset="0"/>
              </a:rPr>
              <a:t>OrderTraversal</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BT )</a:t>
            </a:r>
            <a:r>
              <a:rPr lang="zh-CN" altLang="en-US" sz="1400" b="1" dirty="0">
                <a:latin typeface="Times New Roman" panose="02020603050405020304" pitchFamily="18" charset="0"/>
                <a:cs typeface="Times New Roman" panose="02020603050405020304" pitchFamily="18" charset="0"/>
              </a:rPr>
              <a:t>：根结点的访问次序在左、右子树之后 。</a:t>
            </a:r>
            <a:endParaRPr lang="en-US" altLang="zh-CN" sz="1400" b="1" dirty="0">
              <a:latin typeface="Times New Roman" panose="02020603050405020304" pitchFamily="18" charset="0"/>
              <a:cs typeface="Times New Roman" panose="02020603050405020304" pitchFamily="18" charset="0"/>
            </a:endParaRPr>
          </a:p>
          <a:p>
            <a:pPr>
              <a:spcBef>
                <a:spcPts val="600"/>
              </a:spcBef>
              <a:defRPr/>
            </a:pPr>
            <a:r>
              <a:rPr lang="en-US" sz="1400" b="1" dirty="0">
                <a:latin typeface="Times New Roman" panose="02020603050405020304" pitchFamily="18" charset="0"/>
                <a:cs typeface="Times New Roman" panose="02020603050405020304" pitchFamily="18" charset="0"/>
              </a:rPr>
              <a:t>4</a:t>
            </a:r>
            <a:r>
              <a:rPr lang="zh-CN" altLang="en-US" sz="1400" b="1" dirty="0">
                <a:latin typeface="Times New Roman" panose="02020603050405020304" pitchFamily="18" charset="0"/>
                <a:cs typeface="Times New Roman" panose="02020603050405020304" pitchFamily="18" charset="0"/>
              </a:rPr>
              <a:t>、</a:t>
            </a:r>
            <a:r>
              <a:rPr lang="en-US" sz="1400" b="1" dirty="0">
                <a:solidFill>
                  <a:srgbClr val="0000FF"/>
                </a:solidFill>
                <a:latin typeface="Times New Roman" panose="02020603050405020304" pitchFamily="18" charset="0"/>
                <a:cs typeface="Times New Roman" panose="02020603050405020304" pitchFamily="18" charset="0"/>
              </a:rPr>
              <a:t> void </a:t>
            </a:r>
            <a:r>
              <a:rPr lang="en-US" altLang="zh-CN" sz="1400" b="1" dirty="0" err="1">
                <a:solidFill>
                  <a:srgbClr val="0000FF"/>
                </a:solidFill>
                <a:latin typeface="Times New Roman" panose="02020603050405020304" pitchFamily="18" charset="0"/>
                <a:cs typeface="Times New Roman" panose="02020603050405020304" pitchFamily="18" charset="0"/>
              </a:rPr>
              <a:t>Level</a:t>
            </a:r>
            <a:r>
              <a:rPr lang="en-US" sz="1400" b="1" dirty="0" err="1">
                <a:solidFill>
                  <a:srgbClr val="0000FF"/>
                </a:solidFill>
                <a:latin typeface="Times New Roman" panose="02020603050405020304" pitchFamily="18" charset="0"/>
                <a:cs typeface="Times New Roman" panose="02020603050405020304" pitchFamily="18" charset="0"/>
              </a:rPr>
              <a:t>OrderTraversal</a:t>
            </a:r>
            <a:r>
              <a:rPr lang="en-US" sz="1400" b="1" dirty="0">
                <a:solidFill>
                  <a:srgbClr val="0000FF"/>
                </a:solidFill>
                <a:latin typeface="Times New Roman" panose="02020603050405020304" pitchFamily="18" charset="0"/>
                <a:cs typeface="Times New Roman" panose="02020603050405020304" pitchFamily="18" charset="0"/>
              </a:rPr>
              <a:t>( </a:t>
            </a:r>
            <a:r>
              <a:rPr lang="en-US" sz="1400" b="1" dirty="0" err="1">
                <a:solidFill>
                  <a:srgbClr val="0000FF"/>
                </a:solidFill>
                <a:latin typeface="Times New Roman" panose="02020603050405020304" pitchFamily="18" charset="0"/>
                <a:cs typeface="Times New Roman" panose="02020603050405020304" pitchFamily="18" charset="0"/>
              </a:rPr>
              <a:t>BinTree</a:t>
            </a:r>
            <a:r>
              <a:rPr lang="en-US" sz="1400" b="1" dirty="0">
                <a:solidFill>
                  <a:srgbClr val="0000FF"/>
                </a:solidFill>
                <a:latin typeface="Times New Roman" panose="02020603050405020304" pitchFamily="18" charset="0"/>
                <a:cs typeface="Times New Roman" panose="02020603050405020304" pitchFamily="18" charset="0"/>
              </a:rPr>
              <a:t> BT )</a:t>
            </a:r>
            <a:r>
              <a:rPr lang="zh-CN" altLang="en-US" sz="1400" b="1" dirty="0">
                <a:latin typeface="Times New Roman" panose="02020603050405020304" pitchFamily="18" charset="0"/>
                <a:cs typeface="Times New Roman" panose="02020603050405020304" pitchFamily="18" charset="0"/>
              </a:rPr>
              <a:t>：按层从小到大、从左到右的次序遍历。</a:t>
            </a:r>
            <a:endParaRPr lang="zh-CN" altLang="en-US" sz="1400" b="1"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wipe(up)">
                                      <p:cBhvr>
                                        <p:cTn id="7" dur="500"/>
                                        <p:tgtEl>
                                          <p:spTgt spid="49"/>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strips(downRight)">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二叉树的遍历</a:t>
            </a:r>
            <a:endParaRPr lang="en-US" altLang="zh-CN" dirty="0"/>
          </a:p>
          <a:p>
            <a:pPr lvl="2"/>
            <a:r>
              <a:rPr lang="zh-CN" altLang="en-US" sz="1800" dirty="0"/>
              <a:t>按某种搜索路径，使二叉树每个结点均被访问一次，且仅被访问一次。二叉树的遍历可按二叉树的构成以及访问结点的顺序分为四种方式，即</a:t>
            </a:r>
            <a:r>
              <a:rPr lang="zh-CN" altLang="en-US" sz="1800" dirty="0">
                <a:solidFill>
                  <a:srgbClr val="0000FF"/>
                </a:solidFill>
              </a:rPr>
              <a:t>先序遍历、中序遍历、后序遍历和层次遍历</a:t>
            </a:r>
            <a:r>
              <a:rPr lang="zh-CN" altLang="en-US" sz="1800" dirty="0"/>
              <a:t>。</a:t>
            </a:r>
            <a:endParaRPr lang="en-US" altLang="zh-CN" sz="1800" dirty="0"/>
          </a:p>
          <a:p>
            <a:pPr marL="478155" lvl="2" indent="-342900">
              <a:lnSpc>
                <a:spcPct val="135000"/>
              </a:lnSpc>
              <a:spcBef>
                <a:spcPts val="1200"/>
              </a:spcBef>
              <a:buFont typeface="Wingdings" panose="05000000000000000000" pitchFamily="2" charset="2"/>
              <a:buChar char="Ø"/>
            </a:pPr>
            <a:r>
              <a:rPr lang="en-US" altLang="zh-CN" sz="1800" dirty="0"/>
              <a:t>“</a:t>
            </a:r>
            <a:r>
              <a:rPr lang="zh-CN" altLang="en-US" sz="1800" dirty="0">
                <a:solidFill>
                  <a:srgbClr val="FF0000"/>
                </a:solidFill>
              </a:rPr>
              <a:t>访问</a:t>
            </a:r>
            <a:r>
              <a:rPr lang="zh-CN" altLang="en-US" sz="1800" dirty="0"/>
              <a:t>”的含义可以很广，如：输出或修改结点的信息等。</a:t>
            </a:r>
            <a:endParaRPr lang="en-US" altLang="zh-CN" sz="1800" dirty="0"/>
          </a:p>
          <a:p>
            <a:pPr marL="478155" lvl="2" indent="-342900">
              <a:lnSpc>
                <a:spcPct val="135000"/>
              </a:lnSpc>
              <a:spcBef>
                <a:spcPts val="1200"/>
              </a:spcBef>
              <a:buFont typeface="Wingdings" panose="05000000000000000000" pitchFamily="2" charset="2"/>
              <a:buChar char="Ø"/>
            </a:pPr>
            <a:r>
              <a:rPr lang="zh-CN" altLang="en-US" sz="1800" dirty="0"/>
              <a:t>二叉树的遍历实际上就是把一个</a:t>
            </a:r>
            <a:r>
              <a:rPr lang="zh-CN" altLang="en-US" sz="1800" dirty="0">
                <a:solidFill>
                  <a:srgbClr val="FF0000"/>
                </a:solidFill>
              </a:rPr>
              <a:t>非线性结构</a:t>
            </a:r>
            <a:r>
              <a:rPr lang="zh-CN" altLang="en-US" sz="1800" dirty="0"/>
              <a:t>转化为一个</a:t>
            </a:r>
            <a:r>
              <a:rPr lang="zh-CN" altLang="en-US" sz="1800" dirty="0">
                <a:solidFill>
                  <a:srgbClr val="FF0000"/>
                </a:solidFill>
              </a:rPr>
              <a:t>线性结构</a:t>
            </a:r>
            <a:r>
              <a:rPr lang="zh-CN" altLang="en-US" sz="1800" dirty="0"/>
              <a:t>。</a:t>
            </a:r>
            <a:endParaRPr lang="zh-CN" altLang="en-US" sz="1800" dirty="0"/>
          </a:p>
          <a:p>
            <a:endParaRPr lang="en-US" altLang="zh-CN" dirty="0"/>
          </a:p>
          <a:p>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6.3.1 </a:t>
            </a:r>
            <a:r>
              <a:rPr lang="zh-CN" altLang="en-US" dirty="0"/>
              <a:t>二叉树的遍历</a:t>
            </a:r>
            <a:endParaRPr lang="en-US" altLang="zh-CN" dirty="0"/>
          </a:p>
          <a:p>
            <a:pPr lvl="2">
              <a:defRPr/>
            </a:pPr>
            <a:r>
              <a:rPr lang="zh-CN" altLang="en-US" sz="2000" dirty="0"/>
              <a:t>我们用</a:t>
            </a:r>
            <a:r>
              <a:rPr lang="en-US" altLang="zh-CN" sz="2000" dirty="0"/>
              <a:t>L</a:t>
            </a:r>
            <a:r>
              <a:rPr lang="zh-CN" altLang="en-US" sz="2000" dirty="0"/>
              <a:t>、</a:t>
            </a:r>
            <a:r>
              <a:rPr lang="en-US" altLang="zh-CN" sz="2000" dirty="0"/>
              <a:t>D</a:t>
            </a:r>
            <a:r>
              <a:rPr lang="zh-CN" altLang="en-US" sz="2000" dirty="0"/>
              <a:t>、</a:t>
            </a:r>
            <a:r>
              <a:rPr lang="en-US" altLang="zh-CN" sz="2000" dirty="0"/>
              <a:t>R</a:t>
            </a:r>
            <a:r>
              <a:rPr lang="zh-CN" altLang="en-US" sz="2000" dirty="0"/>
              <a:t>分别表示遍历左子树、访问根结点、 遍历右子树，约定遍历顺序为先左后右，那么就有三种方式： </a:t>
            </a:r>
            <a:endParaRPr lang="zh-CN" altLang="en-US" sz="2000" dirty="0"/>
          </a:p>
          <a:p>
            <a:pPr lvl="2" fontAlgn="base">
              <a:spcAft>
                <a:spcPct val="0"/>
              </a:spcAft>
              <a:defRPr/>
            </a:pPr>
            <a:r>
              <a:rPr lang="en-US" altLang="zh-CN" sz="2000" dirty="0"/>
              <a:t>(1) </a:t>
            </a:r>
            <a:r>
              <a:rPr lang="zh-CN" altLang="en-US" sz="2000" dirty="0"/>
              <a:t>访问根，遍历左子树，遍历右子树 （记做</a:t>
            </a:r>
            <a:r>
              <a:rPr lang="en-US" altLang="zh-CN" sz="2000" dirty="0">
                <a:solidFill>
                  <a:srgbClr val="FF0000"/>
                </a:solidFill>
              </a:rPr>
              <a:t>DLR</a:t>
            </a:r>
            <a:r>
              <a:rPr lang="zh-CN" altLang="en-US" sz="2000" dirty="0"/>
              <a:t>）</a:t>
            </a:r>
            <a:endParaRPr lang="zh-CN" altLang="en-US" sz="2000" dirty="0"/>
          </a:p>
          <a:p>
            <a:pPr lvl="2" fontAlgn="base">
              <a:spcAft>
                <a:spcPct val="0"/>
              </a:spcAft>
              <a:defRPr/>
            </a:pPr>
            <a:r>
              <a:rPr lang="en-US" altLang="zh-CN" sz="2000" dirty="0"/>
              <a:t>(2) </a:t>
            </a:r>
            <a:r>
              <a:rPr lang="zh-CN" altLang="en-US" sz="2000" dirty="0"/>
              <a:t>遍历左子树，访问根，遍历右子树 （记做</a:t>
            </a:r>
            <a:r>
              <a:rPr lang="en-US" altLang="zh-CN" sz="2000" dirty="0">
                <a:solidFill>
                  <a:srgbClr val="FF0000"/>
                </a:solidFill>
              </a:rPr>
              <a:t>LDR</a:t>
            </a:r>
            <a:r>
              <a:rPr lang="zh-CN" altLang="en-US" sz="2000" dirty="0"/>
              <a:t>）</a:t>
            </a:r>
            <a:endParaRPr lang="zh-CN" altLang="en-US" sz="2000" dirty="0"/>
          </a:p>
          <a:p>
            <a:pPr lvl="2" fontAlgn="base">
              <a:spcAft>
                <a:spcPct val="0"/>
              </a:spcAft>
              <a:defRPr/>
            </a:pPr>
            <a:r>
              <a:rPr lang="en-US" altLang="zh-CN" sz="2000" dirty="0"/>
              <a:t>(3) </a:t>
            </a:r>
            <a:r>
              <a:rPr lang="zh-CN" altLang="en-US" sz="2000" dirty="0"/>
              <a:t>遍历左子树，遍历右子树，访问根 （记做</a:t>
            </a:r>
            <a:r>
              <a:rPr lang="en-US" altLang="zh-CN" sz="2000" dirty="0">
                <a:solidFill>
                  <a:srgbClr val="FF0000"/>
                </a:solidFill>
              </a:rPr>
              <a:t>LRD</a:t>
            </a:r>
            <a:r>
              <a:rPr lang="zh-CN" altLang="en-US" sz="2000" dirty="0"/>
              <a:t>） </a:t>
            </a:r>
            <a:endParaRPr lang="zh-CN" altLang="en-US" sz="20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1. </a:t>
            </a:r>
            <a:r>
              <a:rPr lang="zh-CN" altLang="en-US" dirty="0"/>
              <a:t>先序遍历（</a:t>
            </a:r>
            <a:r>
              <a:rPr lang="en-US" altLang="zh-CN" dirty="0">
                <a:solidFill>
                  <a:srgbClr val="FF0000"/>
                </a:solidFill>
              </a:rPr>
              <a:t>D</a:t>
            </a:r>
            <a:r>
              <a:rPr lang="en-US" altLang="zh-CN" dirty="0"/>
              <a:t>LR</a:t>
            </a:r>
            <a:r>
              <a:rPr lang="zh-CN" altLang="en-US" dirty="0"/>
              <a:t>）</a:t>
            </a:r>
            <a:endParaRPr lang="en-US" altLang="zh-CN" dirty="0"/>
          </a:p>
          <a:p>
            <a:pPr lvl="2">
              <a:lnSpc>
                <a:spcPts val="2500"/>
              </a:lnSpc>
            </a:pPr>
            <a:r>
              <a:rPr lang="zh-CN" altLang="en-US" dirty="0"/>
              <a:t>若二叉树为空</a:t>
            </a:r>
            <a:r>
              <a:rPr lang="en-US" altLang="zh-CN" dirty="0"/>
              <a:t>,</a:t>
            </a:r>
            <a:r>
              <a:rPr lang="zh-CN" altLang="en-US" dirty="0"/>
              <a:t> 则空操作</a:t>
            </a:r>
            <a:r>
              <a:rPr lang="en-US" altLang="zh-CN" dirty="0"/>
              <a:t>;</a:t>
            </a:r>
            <a:r>
              <a:rPr lang="zh-CN" altLang="en-US" dirty="0"/>
              <a:t> 否则： </a:t>
            </a:r>
            <a:endParaRPr lang="zh-CN" altLang="en-US" dirty="0"/>
          </a:p>
          <a:p>
            <a:pPr marL="0" lvl="2">
              <a:lnSpc>
                <a:spcPts val="2500"/>
              </a:lnSpc>
            </a:pPr>
            <a:r>
              <a:rPr lang="zh-CN" altLang="en-US" dirty="0"/>
              <a:t>    </a:t>
            </a:r>
            <a:r>
              <a:rPr lang="en-US" altLang="zh-CN" dirty="0"/>
              <a:t>(1) </a:t>
            </a:r>
            <a:r>
              <a:rPr lang="zh-CN" altLang="en-US" dirty="0"/>
              <a:t>访问根结点； </a:t>
            </a:r>
            <a:endParaRPr lang="zh-CN" altLang="en-US" dirty="0"/>
          </a:p>
          <a:p>
            <a:pPr marL="0" lvl="2">
              <a:lnSpc>
                <a:spcPts val="2500"/>
              </a:lnSpc>
            </a:pPr>
            <a:r>
              <a:rPr lang="zh-CN" altLang="en-US" dirty="0"/>
              <a:t>    </a:t>
            </a:r>
            <a:r>
              <a:rPr lang="en-US" altLang="zh-CN" dirty="0"/>
              <a:t>(2) </a:t>
            </a:r>
            <a:r>
              <a:rPr lang="zh-CN" altLang="en-US" dirty="0"/>
              <a:t>先序遍历左子树；</a:t>
            </a:r>
            <a:endParaRPr lang="en-US" altLang="zh-CN" dirty="0"/>
          </a:p>
          <a:p>
            <a:pPr marL="0" lvl="2">
              <a:lnSpc>
                <a:spcPts val="2500"/>
              </a:lnSpc>
            </a:pPr>
            <a:r>
              <a:rPr lang="zh-CN" altLang="en-US" dirty="0"/>
              <a:t>    </a:t>
            </a:r>
            <a:r>
              <a:rPr lang="en-US" altLang="zh-CN" dirty="0"/>
              <a:t>(3) </a:t>
            </a:r>
            <a:r>
              <a:rPr lang="zh-CN" altLang="en-US" dirty="0"/>
              <a:t>先序遍历右子树。</a:t>
            </a:r>
            <a:endParaRPr lang="en-US" altLang="zh-CN" dirty="0"/>
          </a:p>
          <a:p>
            <a:pPr lvl="2">
              <a:lnSpc>
                <a:spcPts val="2500"/>
              </a:lnSpc>
            </a:pPr>
            <a:r>
              <a:rPr lang="en-US" altLang="zh-CN" dirty="0"/>
              <a:t>void </a:t>
            </a:r>
            <a:r>
              <a:rPr lang="en-US" altLang="zh-CN" dirty="0" err="1">
                <a:solidFill>
                  <a:srgbClr val="FF0000"/>
                </a:solidFill>
              </a:rPr>
              <a:t>Pre</a:t>
            </a:r>
            <a:r>
              <a:rPr lang="en-US" altLang="zh-CN" dirty="0" err="1"/>
              <a:t>Order</a:t>
            </a:r>
            <a:r>
              <a:rPr lang="en-US" altLang="zh-CN" dirty="0"/>
              <a:t> (</a:t>
            </a:r>
            <a:r>
              <a:rPr lang="en-US" altLang="zh-CN" dirty="0" err="1"/>
              <a:t>Bitree</a:t>
            </a:r>
            <a:r>
              <a:rPr lang="en-US" altLang="zh-CN" dirty="0"/>
              <a:t> T)    </a:t>
            </a:r>
            <a:endParaRPr lang="en-US" altLang="zh-CN" dirty="0"/>
          </a:p>
          <a:p>
            <a:pPr lvl="2">
              <a:lnSpc>
                <a:spcPts val="2500"/>
              </a:lnSpc>
            </a:pPr>
            <a:r>
              <a:rPr lang="en-US" altLang="zh-CN" dirty="0"/>
              <a:t>{ </a:t>
            </a:r>
            <a:endParaRPr lang="en-US" altLang="zh-CN" dirty="0"/>
          </a:p>
          <a:p>
            <a:pPr lvl="2">
              <a:lnSpc>
                <a:spcPts val="2500"/>
              </a:lnSpc>
            </a:pPr>
            <a:r>
              <a:rPr lang="en-US" altLang="zh-CN" dirty="0"/>
              <a:t>      if (T != NULL){</a:t>
            </a:r>
            <a:endParaRPr lang="en-US" altLang="zh-CN" dirty="0"/>
          </a:p>
          <a:p>
            <a:pPr lvl="2">
              <a:lnSpc>
                <a:spcPts val="2500"/>
              </a:lnSpc>
            </a:pPr>
            <a:r>
              <a:rPr lang="en-US" altLang="zh-CN" dirty="0"/>
              <a:t>          Visit ( T-&gt;data) ; 	 </a:t>
            </a:r>
            <a:endParaRPr lang="en-US" altLang="zh-CN" dirty="0"/>
          </a:p>
          <a:p>
            <a:pPr lvl="2">
              <a:lnSpc>
                <a:spcPts val="2500"/>
              </a:lnSpc>
            </a:pPr>
            <a:r>
              <a:rPr lang="en-US" altLang="zh-CN" dirty="0"/>
              <a:t>           </a:t>
            </a:r>
            <a:r>
              <a:rPr lang="en-US" altLang="zh-CN" dirty="0" err="1">
                <a:solidFill>
                  <a:srgbClr val="FF0000"/>
                </a:solidFill>
              </a:rPr>
              <a:t>Pre</a:t>
            </a:r>
            <a:r>
              <a:rPr lang="en-US" altLang="zh-CN" dirty="0" err="1"/>
              <a:t>Order</a:t>
            </a:r>
            <a:r>
              <a:rPr lang="en-US" altLang="zh-CN" dirty="0"/>
              <a:t> (T-&gt; </a:t>
            </a:r>
            <a:r>
              <a:rPr lang="en-US" altLang="zh-CN" dirty="0" err="1" smtClean="0"/>
              <a:t>lchild</a:t>
            </a:r>
            <a:r>
              <a:rPr lang="en-US" altLang="zh-CN" dirty="0"/>
              <a:t>); </a:t>
            </a:r>
            <a:endParaRPr lang="en-US" altLang="zh-CN" dirty="0"/>
          </a:p>
          <a:p>
            <a:pPr lvl="2">
              <a:lnSpc>
                <a:spcPts val="2500"/>
              </a:lnSpc>
            </a:pPr>
            <a:r>
              <a:rPr lang="en-US" altLang="zh-CN" dirty="0">
                <a:solidFill>
                  <a:srgbClr val="FF0000"/>
                </a:solidFill>
              </a:rPr>
              <a:t>           </a:t>
            </a:r>
            <a:r>
              <a:rPr lang="en-US" altLang="zh-CN" dirty="0" err="1">
                <a:solidFill>
                  <a:srgbClr val="FF0000"/>
                </a:solidFill>
              </a:rPr>
              <a:t>Pre</a:t>
            </a:r>
            <a:r>
              <a:rPr lang="en-US" altLang="zh-CN" dirty="0" err="1"/>
              <a:t>Order</a:t>
            </a:r>
            <a:r>
              <a:rPr lang="en-US" altLang="zh-CN" dirty="0"/>
              <a:t> (T-&gt; </a:t>
            </a:r>
            <a:r>
              <a:rPr lang="en-US" altLang="zh-CN" dirty="0" err="1" smtClean="0"/>
              <a:t>rchild</a:t>
            </a:r>
            <a:r>
              <a:rPr lang="en-US" altLang="zh-CN" dirty="0"/>
              <a:t>);</a:t>
            </a:r>
            <a:endParaRPr lang="en-US" altLang="zh-CN" dirty="0"/>
          </a:p>
          <a:p>
            <a:pPr lvl="2">
              <a:lnSpc>
                <a:spcPts val="2500"/>
              </a:lnSpc>
            </a:pPr>
            <a:r>
              <a:rPr lang="en-US" altLang="zh-CN" dirty="0"/>
              <a:t>}</a:t>
            </a:r>
            <a:endParaRPr lang="zh-CN" altLang="en-US" sz="20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pic>
        <p:nvPicPr>
          <p:cNvPr id="4"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575170" y="120869"/>
            <a:ext cx="2359891" cy="251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ts val="2500"/>
              </a:lnSpc>
              <a:spcBef>
                <a:spcPts val="0"/>
              </a:spcBef>
              <a:spcAft>
                <a:spcPts val="0"/>
              </a:spcAft>
            </a:pPr>
            <a:r>
              <a:rPr lang="en-US" altLang="zh-CN" dirty="0"/>
              <a:t>2. </a:t>
            </a:r>
            <a:r>
              <a:rPr lang="zh-CN" altLang="en-US" dirty="0"/>
              <a:t>中序遍历（</a:t>
            </a:r>
            <a:r>
              <a:rPr lang="en-US" altLang="zh-CN" dirty="0"/>
              <a:t>L</a:t>
            </a:r>
            <a:r>
              <a:rPr lang="en-US" altLang="zh-CN" dirty="0">
                <a:solidFill>
                  <a:srgbClr val="FF0000"/>
                </a:solidFill>
              </a:rPr>
              <a:t>D</a:t>
            </a:r>
            <a:r>
              <a:rPr lang="en-US" altLang="zh-CN" dirty="0"/>
              <a:t>R</a:t>
            </a:r>
            <a:r>
              <a:rPr lang="zh-CN" altLang="en-US" dirty="0"/>
              <a:t>）</a:t>
            </a:r>
            <a:endParaRPr lang="en-US" altLang="zh-CN" dirty="0"/>
          </a:p>
          <a:p>
            <a:pPr lvl="2">
              <a:lnSpc>
                <a:spcPts val="2500"/>
              </a:lnSpc>
            </a:pPr>
            <a:r>
              <a:rPr lang="zh-CN" altLang="en-US" dirty="0"/>
              <a:t>若二叉树为空</a:t>
            </a:r>
            <a:r>
              <a:rPr lang="en-US" altLang="zh-CN" dirty="0"/>
              <a:t>,</a:t>
            </a:r>
            <a:r>
              <a:rPr lang="zh-CN" altLang="en-US" dirty="0"/>
              <a:t> 则空操作</a:t>
            </a:r>
            <a:r>
              <a:rPr lang="en-US" altLang="zh-CN" dirty="0"/>
              <a:t>;</a:t>
            </a:r>
            <a:r>
              <a:rPr lang="zh-CN" altLang="en-US" dirty="0"/>
              <a:t> 否则： </a:t>
            </a:r>
            <a:endParaRPr lang="zh-CN" altLang="en-US" dirty="0"/>
          </a:p>
          <a:p>
            <a:pPr lvl="2">
              <a:lnSpc>
                <a:spcPts val="2500"/>
              </a:lnSpc>
            </a:pPr>
            <a:r>
              <a:rPr lang="zh-CN" altLang="en-US" sz="1500" dirty="0"/>
              <a:t>    </a:t>
            </a:r>
            <a:r>
              <a:rPr lang="en-US" altLang="zh-CN" dirty="0"/>
              <a:t>(1) </a:t>
            </a:r>
            <a:r>
              <a:rPr lang="zh-CN" altLang="en-US" dirty="0"/>
              <a:t>中序遍历左子树；</a:t>
            </a:r>
            <a:endParaRPr lang="zh-CN" altLang="en-US" dirty="0"/>
          </a:p>
          <a:p>
            <a:pPr lvl="2">
              <a:lnSpc>
                <a:spcPts val="2500"/>
              </a:lnSpc>
            </a:pPr>
            <a:r>
              <a:rPr lang="zh-CN" altLang="en-US" dirty="0"/>
              <a:t>   </a:t>
            </a:r>
            <a:r>
              <a:rPr lang="en-US" altLang="zh-CN" dirty="0"/>
              <a:t>(2) </a:t>
            </a:r>
            <a:r>
              <a:rPr lang="zh-CN" altLang="en-US" dirty="0"/>
              <a:t>访问根结点；</a:t>
            </a:r>
            <a:endParaRPr lang="zh-CN" altLang="en-US" dirty="0"/>
          </a:p>
          <a:p>
            <a:pPr lvl="2">
              <a:lnSpc>
                <a:spcPts val="2500"/>
              </a:lnSpc>
            </a:pPr>
            <a:r>
              <a:rPr lang="zh-CN" altLang="en-US" dirty="0"/>
              <a:t>   </a:t>
            </a:r>
            <a:r>
              <a:rPr lang="en-US" altLang="zh-CN" dirty="0"/>
              <a:t>(3) </a:t>
            </a:r>
            <a:r>
              <a:rPr lang="zh-CN" altLang="en-US" dirty="0"/>
              <a:t>中序遍历右子树。</a:t>
            </a:r>
            <a:endParaRPr lang="en-US" altLang="zh-CN" dirty="0"/>
          </a:p>
          <a:p>
            <a:pPr lvl="2">
              <a:lnSpc>
                <a:spcPts val="2500"/>
              </a:lnSpc>
            </a:pPr>
            <a:r>
              <a:rPr lang="en-US" altLang="zh-CN" dirty="0"/>
              <a:t>void  </a:t>
            </a:r>
            <a:r>
              <a:rPr lang="en-US" altLang="zh-CN" dirty="0" err="1">
                <a:solidFill>
                  <a:srgbClr val="FF0000"/>
                </a:solidFill>
              </a:rPr>
              <a:t>In</a:t>
            </a:r>
            <a:r>
              <a:rPr lang="en-US" altLang="zh-CN" dirty="0" err="1"/>
              <a:t>Order</a:t>
            </a:r>
            <a:r>
              <a:rPr lang="en-US" altLang="zh-CN" dirty="0"/>
              <a:t> ( </a:t>
            </a:r>
            <a:r>
              <a:rPr lang="en-US" altLang="zh-CN" dirty="0" err="1"/>
              <a:t>Bitree</a:t>
            </a:r>
            <a:r>
              <a:rPr lang="en-US" altLang="zh-CN" dirty="0"/>
              <a:t> T) </a:t>
            </a:r>
            <a:endParaRPr lang="en-US" altLang="zh-CN" dirty="0"/>
          </a:p>
          <a:p>
            <a:pPr lvl="2">
              <a:lnSpc>
                <a:spcPts val="2500"/>
              </a:lnSpc>
            </a:pPr>
            <a:r>
              <a:rPr lang="en-US" altLang="zh-CN" dirty="0"/>
              <a:t>{</a:t>
            </a:r>
            <a:endParaRPr lang="en-US" altLang="zh-CN" dirty="0"/>
          </a:p>
          <a:p>
            <a:pPr lvl="2">
              <a:lnSpc>
                <a:spcPts val="2500"/>
              </a:lnSpc>
            </a:pPr>
            <a:r>
              <a:rPr lang="en-US" altLang="zh-CN" dirty="0">
                <a:solidFill>
                  <a:srgbClr val="FF0000"/>
                </a:solidFill>
              </a:rPr>
              <a:t>1</a:t>
            </a:r>
            <a:r>
              <a:rPr lang="en-US" altLang="zh-CN" dirty="0"/>
              <a:t>  if ( T != NULL) {</a:t>
            </a:r>
            <a:endParaRPr lang="en-US" altLang="zh-CN" dirty="0"/>
          </a:p>
          <a:p>
            <a:pPr lvl="2">
              <a:lnSpc>
                <a:spcPts val="2500"/>
              </a:lnSpc>
            </a:pPr>
            <a:r>
              <a:rPr lang="en-US" altLang="zh-CN" dirty="0">
                <a:solidFill>
                  <a:srgbClr val="FF0000"/>
                </a:solidFill>
              </a:rPr>
              <a:t>2</a:t>
            </a:r>
            <a:r>
              <a:rPr lang="en-US" altLang="zh-CN" dirty="0"/>
              <a:t>	    </a:t>
            </a:r>
            <a:r>
              <a:rPr lang="en-US" altLang="zh-CN" dirty="0" err="1">
                <a:solidFill>
                  <a:srgbClr val="FF0000"/>
                </a:solidFill>
              </a:rPr>
              <a:t>In</a:t>
            </a:r>
            <a:r>
              <a:rPr lang="en-US" altLang="zh-CN" dirty="0" err="1"/>
              <a:t>Order</a:t>
            </a:r>
            <a:r>
              <a:rPr lang="en-US" altLang="zh-CN" dirty="0"/>
              <a:t> ( T-&gt;</a:t>
            </a:r>
            <a:r>
              <a:rPr lang="en-US" altLang="zh-CN" dirty="0" err="1"/>
              <a:t>lchild</a:t>
            </a:r>
            <a:r>
              <a:rPr lang="en-US" altLang="zh-CN" dirty="0"/>
              <a:t> );</a:t>
            </a:r>
            <a:endParaRPr lang="en-US" altLang="zh-CN" dirty="0"/>
          </a:p>
          <a:p>
            <a:pPr lvl="2">
              <a:lnSpc>
                <a:spcPts val="2500"/>
              </a:lnSpc>
            </a:pPr>
            <a:r>
              <a:rPr lang="en-US" altLang="zh-CN" dirty="0">
                <a:solidFill>
                  <a:srgbClr val="FF0000"/>
                </a:solidFill>
              </a:rPr>
              <a:t>3</a:t>
            </a:r>
            <a:r>
              <a:rPr lang="en-US" altLang="zh-CN" dirty="0"/>
              <a:t>          Visit ( T-&gt;data ) ;</a:t>
            </a:r>
            <a:endParaRPr lang="en-US" altLang="zh-CN" dirty="0"/>
          </a:p>
          <a:p>
            <a:pPr lvl="2">
              <a:lnSpc>
                <a:spcPts val="2500"/>
              </a:lnSpc>
            </a:pPr>
            <a:r>
              <a:rPr lang="en-US" altLang="zh-CN" dirty="0">
                <a:solidFill>
                  <a:srgbClr val="FF0000"/>
                </a:solidFill>
              </a:rPr>
              <a:t>4</a:t>
            </a:r>
            <a:r>
              <a:rPr lang="en-US" altLang="zh-CN" dirty="0"/>
              <a:t>         </a:t>
            </a:r>
            <a:r>
              <a:rPr lang="en-US" altLang="zh-CN" dirty="0" err="1">
                <a:solidFill>
                  <a:srgbClr val="FF0000"/>
                </a:solidFill>
              </a:rPr>
              <a:t>In</a:t>
            </a:r>
            <a:r>
              <a:rPr lang="en-US" altLang="zh-CN" dirty="0" err="1"/>
              <a:t>Order</a:t>
            </a:r>
            <a:r>
              <a:rPr lang="en-US" altLang="zh-CN" dirty="0"/>
              <a:t>( T-&gt;</a:t>
            </a:r>
            <a:r>
              <a:rPr lang="en-US" altLang="zh-CN" dirty="0" err="1"/>
              <a:t>rchild</a:t>
            </a:r>
            <a:r>
              <a:rPr lang="en-US" altLang="zh-CN" dirty="0"/>
              <a:t> );</a:t>
            </a:r>
            <a:endParaRPr lang="en-US" altLang="zh-CN" dirty="0"/>
          </a:p>
          <a:p>
            <a:pPr lvl="2">
              <a:lnSpc>
                <a:spcPts val="2500"/>
              </a:lnSpc>
            </a:pPr>
            <a:r>
              <a:rPr lang="en-US" altLang="zh-CN" dirty="0">
                <a:solidFill>
                  <a:srgbClr val="FF0000"/>
                </a:solidFill>
              </a:rPr>
              <a:t>5</a:t>
            </a:r>
            <a:r>
              <a:rPr lang="en-US" altLang="zh-CN" dirty="0"/>
              <a:t>  } </a:t>
            </a:r>
            <a:endParaRPr lang="en-US" altLang="zh-CN" dirty="0"/>
          </a:p>
          <a:p>
            <a:pPr lvl="2">
              <a:lnSpc>
                <a:spcPts val="2500"/>
              </a:lnSpc>
            </a:pPr>
            <a:r>
              <a:rPr lang="en-US" altLang="zh-CN" dirty="0">
                <a:solidFill>
                  <a:srgbClr val="FF0000"/>
                </a:solidFill>
              </a:rPr>
              <a:t>6</a:t>
            </a:r>
            <a:r>
              <a:rPr lang="en-US" altLang="zh-CN" dirty="0"/>
              <a:t> }</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pic>
        <p:nvPicPr>
          <p:cNvPr id="4" name="Picture 5"/>
          <p:cNvPicPr>
            <a:picLocks noChangeAspect="1" noChangeArrowheads="1"/>
          </p:cNvPicPr>
          <p:nvPr/>
        </p:nvPicPr>
        <p:blipFill>
          <a:blip r:embed="rId1">
            <a:extLst>
              <a:ext uri="{28A0092B-C50C-407E-A947-70E740481C1C}">
                <a14:useLocalDpi xmlns:a14="http://schemas.microsoft.com/office/drawing/2010/main" val="0"/>
              </a:ext>
            </a:extLst>
          </a:blip>
          <a:srcRect r="8644" b="4553"/>
          <a:stretch>
            <a:fillRect/>
          </a:stretch>
        </p:blipFill>
        <p:spPr bwMode="auto">
          <a:xfrm>
            <a:off x="4188795" y="78765"/>
            <a:ext cx="2481417" cy="25573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3. </a:t>
            </a:r>
            <a:r>
              <a:rPr lang="zh-CN" altLang="en-US" dirty="0"/>
              <a:t>后序遍历（</a:t>
            </a:r>
            <a:r>
              <a:rPr lang="en-US" altLang="zh-CN" dirty="0"/>
              <a:t>LR</a:t>
            </a:r>
            <a:r>
              <a:rPr lang="en-US" altLang="zh-CN" dirty="0">
                <a:solidFill>
                  <a:srgbClr val="FF0000"/>
                </a:solidFill>
              </a:rPr>
              <a:t>D</a:t>
            </a:r>
            <a:r>
              <a:rPr lang="zh-CN" altLang="en-US" dirty="0"/>
              <a:t>）</a:t>
            </a:r>
            <a:endParaRPr lang="en-US" altLang="zh-CN" dirty="0"/>
          </a:p>
          <a:p>
            <a:pPr lvl="2">
              <a:lnSpc>
                <a:spcPts val="2500"/>
              </a:lnSpc>
            </a:pPr>
            <a:r>
              <a:rPr lang="zh-CN" altLang="en-US" dirty="0"/>
              <a:t>若二叉树为空</a:t>
            </a:r>
            <a:r>
              <a:rPr lang="en-US" altLang="zh-CN" dirty="0"/>
              <a:t>,</a:t>
            </a:r>
            <a:r>
              <a:rPr lang="zh-CN" altLang="en-US" dirty="0"/>
              <a:t> 则空操作</a:t>
            </a:r>
            <a:r>
              <a:rPr lang="en-US" altLang="zh-CN" dirty="0"/>
              <a:t>;</a:t>
            </a:r>
            <a:r>
              <a:rPr lang="zh-CN" altLang="en-US" dirty="0"/>
              <a:t> 否则： </a:t>
            </a:r>
            <a:endParaRPr lang="zh-CN" altLang="en-US" dirty="0"/>
          </a:p>
          <a:p>
            <a:pPr eaLnBrk="1" hangingPunct="1">
              <a:lnSpc>
                <a:spcPts val="2500"/>
              </a:lnSpc>
              <a:spcBef>
                <a:spcPts val="0"/>
              </a:spcBef>
              <a:spcAft>
                <a:spcPts val="0"/>
              </a:spcAft>
            </a:pPr>
            <a:r>
              <a:rPr lang="zh-CN" altLang="en-US"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(1) </a:t>
            </a:r>
            <a:r>
              <a:rPr lang="zh-CN" altLang="en-US" sz="2100" dirty="0">
                <a:solidFill>
                  <a:srgbClr val="00194C"/>
                </a:solidFill>
                <a:latin typeface="华文楷体" panose="02010600040101010101" pitchFamily="2" charset="-122"/>
                <a:ea typeface="华文楷体" panose="02010600040101010101" pitchFamily="2" charset="-122"/>
              </a:rPr>
              <a:t>后序遍历左子树</a:t>
            </a:r>
            <a:r>
              <a:rPr lang="en-US" altLang="zh-CN" sz="2100" dirty="0">
                <a:solidFill>
                  <a:srgbClr val="00194C"/>
                </a:solidFill>
                <a:latin typeface="华文楷体" panose="02010600040101010101" pitchFamily="2" charset="-122"/>
                <a:ea typeface="华文楷体" panose="02010600040101010101" pitchFamily="2" charset="-122"/>
              </a:rPr>
              <a:t>;</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spcAft>
                <a:spcPts val="0"/>
              </a:spcAft>
            </a:pPr>
            <a:r>
              <a:rPr lang="zh-CN" altLang="en-US"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(2) </a:t>
            </a:r>
            <a:r>
              <a:rPr lang="zh-CN" altLang="en-US" sz="2100" dirty="0">
                <a:solidFill>
                  <a:srgbClr val="00194C"/>
                </a:solidFill>
                <a:latin typeface="华文楷体" panose="02010600040101010101" pitchFamily="2" charset="-122"/>
                <a:ea typeface="华文楷体" panose="02010600040101010101" pitchFamily="2" charset="-122"/>
              </a:rPr>
              <a:t>后序遍历右子树</a:t>
            </a:r>
            <a:r>
              <a:rPr lang="en-US" altLang="zh-CN" sz="2100" dirty="0">
                <a:solidFill>
                  <a:srgbClr val="00194C"/>
                </a:solidFill>
                <a:latin typeface="华文楷体" panose="02010600040101010101" pitchFamily="2" charset="-122"/>
                <a:ea typeface="华文楷体" panose="02010600040101010101" pitchFamily="2" charset="-122"/>
              </a:rPr>
              <a:t>;</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spcAft>
                <a:spcPts val="0"/>
              </a:spcAft>
            </a:pPr>
            <a:r>
              <a:rPr lang="zh-CN" altLang="en-US"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(3) </a:t>
            </a:r>
            <a:r>
              <a:rPr lang="zh-CN" altLang="en-US" sz="2100" dirty="0">
                <a:solidFill>
                  <a:srgbClr val="00194C"/>
                </a:solidFill>
                <a:latin typeface="华文楷体" panose="02010600040101010101" pitchFamily="2" charset="-122"/>
                <a:ea typeface="华文楷体" panose="02010600040101010101" pitchFamily="2" charset="-122"/>
              </a:rPr>
              <a:t>访问根结点。</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void  </a:t>
            </a:r>
            <a:r>
              <a:rPr lang="en-US" altLang="zh-CN" sz="2100" dirty="0" err="1">
                <a:solidFill>
                  <a:srgbClr val="00194C"/>
                </a:solidFill>
                <a:latin typeface="华文楷体" panose="02010600040101010101" pitchFamily="2" charset="-122"/>
                <a:ea typeface="华文楷体" panose="02010600040101010101" pitchFamily="2" charset="-122"/>
              </a:rPr>
              <a:t>PostOrder</a:t>
            </a:r>
            <a:r>
              <a:rPr lang="en-US" altLang="zh-CN" sz="2100" dirty="0">
                <a:solidFill>
                  <a:srgbClr val="00194C"/>
                </a:solidFill>
                <a:latin typeface="华文楷体" panose="02010600040101010101" pitchFamily="2" charset="-122"/>
                <a:ea typeface="华文楷体" panose="02010600040101010101" pitchFamily="2" charset="-122"/>
              </a:rPr>
              <a:t> ( </a:t>
            </a:r>
            <a:r>
              <a:rPr lang="en-US" altLang="zh-CN" sz="2100" dirty="0" err="1">
                <a:solidFill>
                  <a:srgbClr val="00194C"/>
                </a:solidFill>
                <a:latin typeface="华文楷体" panose="02010600040101010101" pitchFamily="2" charset="-122"/>
                <a:ea typeface="华文楷体" panose="02010600040101010101" pitchFamily="2" charset="-122"/>
              </a:rPr>
              <a:t>Bitree</a:t>
            </a:r>
            <a:r>
              <a:rPr lang="en-US" altLang="zh-CN" sz="2100" dirty="0">
                <a:solidFill>
                  <a:srgbClr val="00194C"/>
                </a:solidFill>
                <a:latin typeface="华文楷体" panose="02010600040101010101" pitchFamily="2" charset="-122"/>
                <a:ea typeface="华文楷体" panose="02010600040101010101" pitchFamily="2" charset="-122"/>
              </a:rPr>
              <a:t> T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if ( T != NULL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PostOrder</a:t>
            </a:r>
            <a:r>
              <a:rPr lang="en-US" altLang="zh-CN" sz="2100" dirty="0">
                <a:solidFill>
                  <a:srgbClr val="00194C"/>
                </a:solidFill>
                <a:latin typeface="华文楷体" panose="02010600040101010101" pitchFamily="2" charset="-122"/>
                <a:ea typeface="华文楷体" panose="02010600040101010101" pitchFamily="2" charset="-122"/>
              </a:rPr>
              <a:t> ( T-&gt;</a:t>
            </a:r>
            <a:r>
              <a:rPr lang="en-US" altLang="zh-CN" sz="2100" dirty="0" err="1">
                <a:solidFill>
                  <a:srgbClr val="00194C"/>
                </a:solidFill>
                <a:latin typeface="华文楷体" panose="02010600040101010101" pitchFamily="2" charset="-122"/>
                <a:ea typeface="华文楷体" panose="02010600040101010101" pitchFamily="2" charset="-122"/>
              </a:rPr>
              <a:t>lchild</a:t>
            </a:r>
            <a:r>
              <a:rPr lang="en-US" altLang="zh-CN" sz="2100" dirty="0">
                <a:solidFill>
                  <a:srgbClr val="00194C"/>
                </a:solidFill>
                <a:latin typeface="华文楷体" panose="02010600040101010101" pitchFamily="2" charset="-122"/>
                <a:ea typeface="华文楷体" panose="02010600040101010101" pitchFamily="2" charset="-122"/>
              </a:rPr>
              <a:t>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PostOrder</a:t>
            </a:r>
            <a:r>
              <a:rPr lang="en-US" altLang="zh-CN" sz="2100" dirty="0">
                <a:solidFill>
                  <a:srgbClr val="00194C"/>
                </a:solidFill>
                <a:latin typeface="华文楷体" panose="02010600040101010101" pitchFamily="2" charset="-122"/>
                <a:ea typeface="华文楷体" panose="02010600040101010101" pitchFamily="2" charset="-122"/>
              </a:rPr>
              <a:t> ( T-&gt;</a:t>
            </a:r>
            <a:r>
              <a:rPr lang="en-US" altLang="zh-CN" sz="2100" dirty="0" err="1">
                <a:solidFill>
                  <a:srgbClr val="00194C"/>
                </a:solidFill>
                <a:latin typeface="华文楷体" panose="02010600040101010101" pitchFamily="2" charset="-122"/>
                <a:ea typeface="华文楷体" panose="02010600040101010101" pitchFamily="2" charset="-122"/>
              </a:rPr>
              <a:t>rchild</a:t>
            </a:r>
            <a:r>
              <a:rPr lang="en-US" altLang="zh-CN" sz="2100" dirty="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Visit ( T-&gt;data )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5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pic>
        <p:nvPicPr>
          <p:cNvPr id="4"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265018" y="171219"/>
            <a:ext cx="2595165" cy="2714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先序遍历：</a:t>
            </a:r>
            <a:endParaRPr lang="en-US" altLang="zh-CN" dirty="0"/>
          </a:p>
          <a:p>
            <a:pPr lvl="2">
              <a:lnSpc>
                <a:spcPts val="3000"/>
              </a:lnSpc>
            </a:pPr>
            <a:r>
              <a:rPr lang="en-US" altLang="zh-CN" dirty="0"/>
              <a:t>void </a:t>
            </a:r>
            <a:r>
              <a:rPr lang="en-US" altLang="zh-CN" dirty="0" err="1">
                <a:solidFill>
                  <a:srgbClr val="FF0000"/>
                </a:solidFill>
              </a:rPr>
              <a:t>Pre</a:t>
            </a:r>
            <a:r>
              <a:rPr lang="en-US" altLang="zh-CN" dirty="0" err="1"/>
              <a:t>Order</a:t>
            </a:r>
            <a:r>
              <a:rPr lang="en-US" altLang="zh-CN" dirty="0"/>
              <a:t> (</a:t>
            </a:r>
            <a:r>
              <a:rPr lang="en-US" altLang="zh-CN" dirty="0" err="1"/>
              <a:t>Bitree</a:t>
            </a:r>
            <a:r>
              <a:rPr lang="en-US" altLang="zh-CN" dirty="0"/>
              <a:t> T)    //</a:t>
            </a:r>
            <a:r>
              <a:rPr lang="zh-CN" altLang="en-US" dirty="0"/>
              <a:t>先序遍历二叉树</a:t>
            </a:r>
            <a:endParaRPr lang="en-US" altLang="zh-CN" dirty="0"/>
          </a:p>
          <a:p>
            <a:pPr lvl="2">
              <a:lnSpc>
                <a:spcPts val="3000"/>
              </a:lnSpc>
            </a:pPr>
            <a:r>
              <a:rPr lang="en-US" altLang="zh-CN" dirty="0"/>
              <a:t>{ </a:t>
            </a:r>
            <a:endParaRPr lang="en-US" altLang="zh-CN" dirty="0"/>
          </a:p>
          <a:p>
            <a:pPr lvl="2">
              <a:lnSpc>
                <a:spcPts val="3000"/>
              </a:lnSpc>
            </a:pPr>
            <a:r>
              <a:rPr lang="en-US" altLang="zh-CN" dirty="0"/>
              <a:t>      if (T != NULL){</a:t>
            </a:r>
            <a:endParaRPr lang="en-US" altLang="zh-CN" dirty="0"/>
          </a:p>
          <a:p>
            <a:pPr lvl="2">
              <a:lnSpc>
                <a:spcPts val="3000"/>
              </a:lnSpc>
            </a:pPr>
            <a:r>
              <a:rPr lang="en-US" altLang="zh-CN" dirty="0"/>
              <a:t>          Visit ( T-&gt;data) ;     //</a:t>
            </a:r>
            <a:r>
              <a:rPr lang="zh-CN" altLang="en-US" dirty="0"/>
              <a:t>访问根结点</a:t>
            </a:r>
            <a:r>
              <a:rPr lang="en-US" altLang="zh-CN" dirty="0"/>
              <a:t>	 </a:t>
            </a:r>
            <a:endParaRPr lang="en-US" altLang="zh-CN" dirty="0"/>
          </a:p>
          <a:p>
            <a:pPr lvl="2">
              <a:lnSpc>
                <a:spcPts val="3000"/>
              </a:lnSpc>
            </a:pPr>
            <a:r>
              <a:rPr lang="en-US" altLang="zh-CN" dirty="0"/>
              <a:t>           </a:t>
            </a:r>
            <a:r>
              <a:rPr lang="en-US" altLang="zh-CN" dirty="0" err="1">
                <a:solidFill>
                  <a:srgbClr val="FF0000"/>
                </a:solidFill>
              </a:rPr>
              <a:t>Pre</a:t>
            </a:r>
            <a:r>
              <a:rPr lang="en-US" altLang="zh-CN" dirty="0" err="1"/>
              <a:t>Order</a:t>
            </a:r>
            <a:r>
              <a:rPr lang="en-US" altLang="zh-CN" dirty="0"/>
              <a:t> (T-&gt; </a:t>
            </a:r>
            <a:r>
              <a:rPr lang="en-US" altLang="zh-CN" dirty="0" err="1" smtClean="0"/>
              <a:t>lchild</a:t>
            </a:r>
            <a:r>
              <a:rPr lang="en-US" altLang="zh-CN" dirty="0"/>
              <a:t>);    //</a:t>
            </a:r>
            <a:r>
              <a:rPr lang="zh-CN" altLang="en-US" dirty="0"/>
              <a:t>先序遍历左子树</a:t>
            </a:r>
            <a:endParaRPr lang="en-US" altLang="zh-CN" dirty="0"/>
          </a:p>
          <a:p>
            <a:pPr lvl="2">
              <a:lnSpc>
                <a:spcPts val="3000"/>
              </a:lnSpc>
            </a:pPr>
            <a:r>
              <a:rPr lang="en-US" altLang="zh-CN" dirty="0"/>
              <a:t>           </a:t>
            </a:r>
            <a:r>
              <a:rPr lang="en-US" altLang="zh-CN" dirty="0" err="1">
                <a:solidFill>
                  <a:srgbClr val="FF0000"/>
                </a:solidFill>
              </a:rPr>
              <a:t>Pre</a:t>
            </a:r>
            <a:r>
              <a:rPr lang="en-US" altLang="zh-CN" dirty="0" err="1"/>
              <a:t>Order</a:t>
            </a:r>
            <a:r>
              <a:rPr lang="en-US" altLang="zh-CN" dirty="0"/>
              <a:t> (T-&gt; </a:t>
            </a:r>
            <a:r>
              <a:rPr lang="en-US" altLang="zh-CN" dirty="0" err="1" smtClean="0"/>
              <a:t>rchild</a:t>
            </a:r>
            <a:r>
              <a:rPr lang="en-US" altLang="zh-CN" dirty="0"/>
              <a:t>);    //</a:t>
            </a:r>
            <a:r>
              <a:rPr lang="zh-CN" altLang="en-US" dirty="0"/>
              <a:t>先序遍历右子树</a:t>
            </a:r>
            <a:endParaRPr lang="en-US" altLang="zh-CN" dirty="0"/>
          </a:p>
          <a:p>
            <a:pPr lvl="2">
              <a:lnSpc>
                <a:spcPts val="3000"/>
              </a:lnSpc>
            </a:pPr>
            <a:r>
              <a:rPr lang="en-US" altLang="zh-CN" dirty="0"/>
              <a:t>       }         </a:t>
            </a:r>
            <a:endParaRPr lang="en-US" altLang="zh-CN" dirty="0"/>
          </a:p>
          <a:p>
            <a:pPr lvl="2">
              <a:lnSpc>
                <a:spcPts val="3000"/>
              </a:lnSpc>
            </a:pPr>
            <a:r>
              <a:rPr lang="en-US" altLang="zh-CN" dirty="0"/>
              <a:t>}</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先序遍历：</a:t>
            </a:r>
            <a:endParaRPr lang="en-US" altLang="zh-CN" dirty="0"/>
          </a:p>
          <a:p>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pSp>
        <p:nvGrpSpPr>
          <p:cNvPr id="4" name="Group 2"/>
          <p:cNvGrpSpPr/>
          <p:nvPr/>
        </p:nvGrpSpPr>
        <p:grpSpPr bwMode="auto">
          <a:xfrm>
            <a:off x="3809198" y="295868"/>
            <a:ext cx="2097606" cy="981293"/>
            <a:chOff x="612" y="189"/>
            <a:chExt cx="1542" cy="1034"/>
          </a:xfrm>
        </p:grpSpPr>
        <p:sp>
          <p:nvSpPr>
            <p:cNvPr id="5" name="Oval 3"/>
            <p:cNvSpPr>
              <a:spLocks noChangeArrowheads="1"/>
            </p:cNvSpPr>
            <p:nvPr/>
          </p:nvSpPr>
          <p:spPr bwMode="auto">
            <a:xfrm>
              <a:off x="1202" y="189"/>
              <a:ext cx="336" cy="288"/>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2400" b="1">
                  <a:latin typeface="黑体" panose="02010609060101010101" pitchFamily="49" charset="-122"/>
                  <a:ea typeface="黑体" panose="02010609060101010101" pitchFamily="49" charset="-122"/>
                </a:rPr>
                <a:t>A</a:t>
              </a:r>
              <a:endParaRPr kumimoji="1" lang="en-US" altLang="zh-CN" sz="2400" b="1">
                <a:latin typeface="黑体" panose="02010609060101010101" pitchFamily="49" charset="-122"/>
                <a:ea typeface="黑体" panose="02010609060101010101" pitchFamily="49" charset="-122"/>
              </a:endParaRPr>
            </a:p>
          </p:txBody>
        </p:sp>
        <p:sp>
          <p:nvSpPr>
            <p:cNvPr id="6" name="Oval 4"/>
            <p:cNvSpPr>
              <a:spLocks noChangeArrowheads="1"/>
            </p:cNvSpPr>
            <p:nvPr/>
          </p:nvSpPr>
          <p:spPr bwMode="auto">
            <a:xfrm>
              <a:off x="1818" y="572"/>
              <a:ext cx="336" cy="288"/>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2400" b="1">
                  <a:latin typeface="黑体" panose="02010609060101010101" pitchFamily="49" charset="-122"/>
                  <a:ea typeface="黑体" panose="02010609060101010101" pitchFamily="49" charset="-122"/>
                </a:rPr>
                <a:t>C</a:t>
              </a:r>
              <a:endParaRPr kumimoji="1" lang="en-US" altLang="zh-CN" sz="2400" b="1">
                <a:latin typeface="黑体" panose="02010609060101010101" pitchFamily="49" charset="-122"/>
                <a:ea typeface="黑体" panose="02010609060101010101" pitchFamily="49" charset="-122"/>
              </a:endParaRPr>
            </a:p>
          </p:txBody>
        </p:sp>
        <p:sp>
          <p:nvSpPr>
            <p:cNvPr id="7" name="Oval 5"/>
            <p:cNvSpPr>
              <a:spLocks noChangeArrowheads="1"/>
            </p:cNvSpPr>
            <p:nvPr/>
          </p:nvSpPr>
          <p:spPr bwMode="auto">
            <a:xfrm>
              <a:off x="612" y="572"/>
              <a:ext cx="336" cy="288"/>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2400" b="1">
                  <a:latin typeface="黑体" panose="02010609060101010101" pitchFamily="49" charset="-122"/>
                  <a:ea typeface="黑体" panose="02010609060101010101" pitchFamily="49" charset="-122"/>
                </a:rPr>
                <a:t>B</a:t>
              </a:r>
              <a:endParaRPr kumimoji="1" lang="en-US" altLang="zh-CN" sz="2400" b="1">
                <a:latin typeface="黑体" panose="02010609060101010101" pitchFamily="49" charset="-122"/>
                <a:ea typeface="黑体" panose="02010609060101010101" pitchFamily="49" charset="-122"/>
              </a:endParaRPr>
            </a:p>
          </p:txBody>
        </p:sp>
        <p:sp>
          <p:nvSpPr>
            <p:cNvPr id="8" name="Oval 6"/>
            <p:cNvSpPr>
              <a:spLocks noChangeArrowheads="1"/>
            </p:cNvSpPr>
            <p:nvPr/>
          </p:nvSpPr>
          <p:spPr bwMode="auto">
            <a:xfrm>
              <a:off x="1156" y="935"/>
              <a:ext cx="336" cy="288"/>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2400" b="1">
                  <a:latin typeface="黑体" panose="02010609060101010101" pitchFamily="49" charset="-122"/>
                  <a:ea typeface="黑体" panose="02010609060101010101" pitchFamily="49" charset="-122"/>
                </a:rPr>
                <a:t>D</a:t>
              </a:r>
              <a:endParaRPr kumimoji="1" lang="en-US" altLang="zh-CN" sz="2400" b="1">
                <a:latin typeface="黑体" panose="02010609060101010101" pitchFamily="49" charset="-122"/>
                <a:ea typeface="黑体" panose="02010609060101010101" pitchFamily="49" charset="-122"/>
              </a:endParaRPr>
            </a:p>
          </p:txBody>
        </p:sp>
        <p:cxnSp>
          <p:nvCxnSpPr>
            <p:cNvPr id="9" name="AutoShape 7"/>
            <p:cNvCxnSpPr>
              <a:cxnSpLocks noChangeShapeType="1"/>
              <a:stCxn id="5" idx="3"/>
              <a:endCxn id="7" idx="7"/>
            </p:cNvCxnSpPr>
            <p:nvPr/>
          </p:nvCxnSpPr>
          <p:spPr bwMode="auto">
            <a:xfrm flipH="1">
              <a:off x="899" y="435"/>
              <a:ext cx="352" cy="179"/>
            </a:xfrm>
            <a:prstGeom prst="straightConnector1">
              <a:avLst/>
            </a:prstGeom>
            <a:noFill/>
            <a:ln w="9525">
              <a:solidFill>
                <a:schemeClr val="tx1"/>
              </a:solidFill>
              <a:round/>
            </a:ln>
            <a:extLst>
              <a:ext uri="{909E8E84-426E-40DD-AFC4-6F175D3DCCD1}">
                <a14:hiddenFill xmlns:a14="http://schemas.microsoft.com/office/drawing/2010/main">
                  <a:noFill/>
                </a14:hiddenFill>
              </a:ext>
            </a:extLst>
          </p:spPr>
        </p:cxnSp>
        <p:cxnSp>
          <p:nvCxnSpPr>
            <p:cNvPr id="10" name="AutoShape 8"/>
            <p:cNvCxnSpPr>
              <a:cxnSpLocks noChangeShapeType="1"/>
              <a:stCxn id="5" idx="5"/>
              <a:endCxn id="6" idx="1"/>
            </p:cNvCxnSpPr>
            <p:nvPr/>
          </p:nvCxnSpPr>
          <p:spPr bwMode="auto">
            <a:xfrm>
              <a:off x="1489" y="435"/>
              <a:ext cx="378" cy="179"/>
            </a:xfrm>
            <a:prstGeom prst="straightConnector1">
              <a:avLst/>
            </a:prstGeom>
            <a:noFill/>
            <a:ln w="9525">
              <a:solidFill>
                <a:schemeClr val="tx1"/>
              </a:solidFill>
              <a:round/>
            </a:ln>
            <a:extLst>
              <a:ext uri="{909E8E84-426E-40DD-AFC4-6F175D3DCCD1}">
                <a14:hiddenFill xmlns:a14="http://schemas.microsoft.com/office/drawing/2010/main">
                  <a:noFill/>
                </a14:hiddenFill>
              </a:ext>
            </a:extLst>
          </p:spPr>
        </p:cxnSp>
        <p:cxnSp>
          <p:nvCxnSpPr>
            <p:cNvPr id="11" name="AutoShape 9"/>
            <p:cNvCxnSpPr>
              <a:cxnSpLocks noChangeShapeType="1"/>
              <a:stCxn id="7" idx="5"/>
              <a:endCxn id="8" idx="1"/>
            </p:cNvCxnSpPr>
            <p:nvPr/>
          </p:nvCxnSpPr>
          <p:spPr bwMode="auto">
            <a:xfrm>
              <a:off x="899" y="818"/>
              <a:ext cx="306" cy="159"/>
            </a:xfrm>
            <a:prstGeom prst="straightConnector1">
              <a:avLst/>
            </a:prstGeom>
            <a:noFill/>
            <a:ln w="9525">
              <a:solidFill>
                <a:schemeClr val="tx1"/>
              </a:solidFill>
              <a:round/>
            </a:ln>
            <a:extLst>
              <a:ext uri="{909E8E84-426E-40DD-AFC4-6F175D3DCCD1}">
                <a14:hiddenFill xmlns:a14="http://schemas.microsoft.com/office/drawing/2010/main">
                  <a:noFill/>
                </a14:hiddenFill>
              </a:ext>
            </a:extLst>
          </p:spPr>
        </p:cxnSp>
      </p:grpSp>
      <p:grpSp>
        <p:nvGrpSpPr>
          <p:cNvPr id="13" name="Group 121"/>
          <p:cNvGrpSpPr/>
          <p:nvPr/>
        </p:nvGrpSpPr>
        <p:grpSpPr bwMode="auto">
          <a:xfrm>
            <a:off x="1692101" y="1513356"/>
            <a:ext cx="350838" cy="1378744"/>
            <a:chOff x="516" y="1253"/>
            <a:chExt cx="221" cy="1158"/>
          </a:xfrm>
        </p:grpSpPr>
        <p:sp>
          <p:nvSpPr>
            <p:cNvPr id="14" name="Line 11"/>
            <p:cNvSpPr>
              <a:spLocks noChangeShapeType="1"/>
            </p:cNvSpPr>
            <p:nvPr/>
          </p:nvSpPr>
          <p:spPr bwMode="auto">
            <a:xfrm>
              <a:off x="628" y="2075"/>
              <a:ext cx="0" cy="336"/>
            </a:xfrm>
            <a:prstGeom prst="line">
              <a:avLst/>
            </a:prstGeom>
            <a:noFill/>
            <a:ln w="19050">
              <a:solidFill>
                <a:srgbClr val="FF3300"/>
              </a:solidFill>
              <a:round/>
              <a:tailEnd type="triangle" w="med" len="med"/>
            </a:ln>
          </p:spPr>
          <p:txBody>
            <a:bodyPr/>
            <a:lstStyle/>
            <a:p>
              <a:pPr>
                <a:defRPr/>
              </a:pPr>
              <a:endParaRPr lang="zh-CN" altLang="en-US" sz="1050"/>
            </a:p>
          </p:txBody>
        </p:sp>
        <p:sp>
          <p:nvSpPr>
            <p:cNvPr id="15" name="Text Box 12"/>
            <p:cNvSpPr txBox="1">
              <a:spLocks noChangeArrowheads="1"/>
            </p:cNvSpPr>
            <p:nvPr/>
          </p:nvSpPr>
          <p:spPr bwMode="auto">
            <a:xfrm>
              <a:off x="516" y="1253"/>
              <a:ext cx="221" cy="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zh-CN" altLang="en-US" sz="1400" b="1" dirty="0">
                  <a:latin typeface="Times New Roman" panose="02020603050405020304" pitchFamily="18" charset="0"/>
                </a:rPr>
                <a:t>主</a:t>
              </a:r>
              <a:endParaRPr kumimoji="1" lang="zh-CN" altLang="en-US" sz="1400" b="1" dirty="0">
                <a:latin typeface="Times New Roman" panose="02020603050405020304" pitchFamily="18" charset="0"/>
              </a:endParaRPr>
            </a:p>
            <a:p>
              <a:pPr eaLnBrk="1" hangingPunct="1">
                <a:spcBef>
                  <a:spcPct val="50000"/>
                </a:spcBef>
              </a:pPr>
              <a:r>
                <a:rPr kumimoji="1" lang="zh-CN" altLang="en-US" sz="1400" b="1" dirty="0">
                  <a:latin typeface="Times New Roman" panose="02020603050405020304" pitchFamily="18" charset="0"/>
                </a:rPr>
                <a:t>程</a:t>
              </a:r>
              <a:endParaRPr kumimoji="1" lang="zh-CN" altLang="en-US" sz="1400" b="1" dirty="0">
                <a:latin typeface="Times New Roman" panose="02020603050405020304" pitchFamily="18" charset="0"/>
              </a:endParaRPr>
            </a:p>
            <a:p>
              <a:pPr eaLnBrk="1" hangingPunct="1">
                <a:spcBef>
                  <a:spcPct val="50000"/>
                </a:spcBef>
              </a:pPr>
              <a:r>
                <a:rPr kumimoji="1" lang="zh-CN" altLang="en-US" sz="1400" b="1" dirty="0">
                  <a:latin typeface="Times New Roman" panose="02020603050405020304" pitchFamily="18" charset="0"/>
                </a:rPr>
                <a:t>序</a:t>
              </a:r>
              <a:endParaRPr kumimoji="1" lang="zh-CN" altLang="en-US" sz="1400" b="1" dirty="0">
                <a:latin typeface="Times New Roman" panose="02020603050405020304" pitchFamily="18" charset="0"/>
              </a:endParaRPr>
            </a:p>
          </p:txBody>
        </p:sp>
      </p:grpSp>
      <p:sp>
        <p:nvSpPr>
          <p:cNvPr id="16" name="Text Box 13"/>
          <p:cNvSpPr txBox="1">
            <a:spLocks noChangeArrowheads="1"/>
          </p:cNvSpPr>
          <p:nvPr/>
        </p:nvSpPr>
        <p:spPr bwMode="auto">
          <a:xfrm>
            <a:off x="1591823" y="2848715"/>
            <a:ext cx="7351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 T )</a:t>
            </a:r>
            <a:endParaRPr kumimoji="1" lang="en-US" altLang="zh-CN" sz="1400" b="1" dirty="0">
              <a:latin typeface="Times New Roman" panose="02020603050405020304" pitchFamily="18" charset="0"/>
            </a:endParaRPr>
          </a:p>
        </p:txBody>
      </p:sp>
      <p:sp>
        <p:nvSpPr>
          <p:cNvPr id="17" name="Line 14"/>
          <p:cNvSpPr>
            <a:spLocks noChangeShapeType="1"/>
          </p:cNvSpPr>
          <p:nvPr/>
        </p:nvSpPr>
        <p:spPr bwMode="auto">
          <a:xfrm>
            <a:off x="1879073" y="3170837"/>
            <a:ext cx="0" cy="457200"/>
          </a:xfrm>
          <a:prstGeom prst="line">
            <a:avLst/>
          </a:prstGeom>
          <a:noFill/>
          <a:ln w="19050">
            <a:solidFill>
              <a:srgbClr val="FF3300"/>
            </a:solidFill>
            <a:round/>
            <a:tailEnd type="triangle" w="med" len="med"/>
          </a:ln>
        </p:spPr>
        <p:txBody>
          <a:bodyPr/>
          <a:lstStyle/>
          <a:p>
            <a:pPr>
              <a:defRPr/>
            </a:pPr>
            <a:endParaRPr lang="zh-CN" altLang="en-US" sz="1050"/>
          </a:p>
        </p:txBody>
      </p:sp>
      <p:grpSp>
        <p:nvGrpSpPr>
          <p:cNvPr id="18" name="Group 137"/>
          <p:cNvGrpSpPr/>
          <p:nvPr/>
        </p:nvGrpSpPr>
        <p:grpSpPr bwMode="auto">
          <a:xfrm>
            <a:off x="3962912" y="4129925"/>
            <a:ext cx="1168100" cy="307182"/>
            <a:chOff x="2405" y="3765"/>
            <a:chExt cx="864" cy="258"/>
          </a:xfrm>
        </p:grpSpPr>
        <p:sp>
          <p:nvSpPr>
            <p:cNvPr id="19" name="Text Box 29"/>
            <p:cNvSpPr txBox="1">
              <a:spLocks noChangeArrowheads="1"/>
            </p:cNvSpPr>
            <p:nvPr/>
          </p:nvSpPr>
          <p:spPr bwMode="auto">
            <a:xfrm>
              <a:off x="2405" y="3765"/>
              <a:ext cx="864"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r);</a:t>
              </a:r>
              <a:endParaRPr kumimoji="1" lang="en-US" altLang="zh-CN" sz="1400" b="1" dirty="0">
                <a:latin typeface="Times New Roman" panose="02020603050405020304" pitchFamily="18" charset="0"/>
              </a:endParaRPr>
            </a:p>
          </p:txBody>
        </p:sp>
        <p:sp>
          <p:nvSpPr>
            <p:cNvPr id="20" name="Line 30"/>
            <p:cNvSpPr>
              <a:spLocks noChangeShapeType="1"/>
            </p:cNvSpPr>
            <p:nvPr/>
          </p:nvSpPr>
          <p:spPr bwMode="auto">
            <a:xfrm>
              <a:off x="2800" y="3880"/>
              <a:ext cx="144" cy="0"/>
            </a:xfrm>
            <a:prstGeom prst="line">
              <a:avLst/>
            </a:prstGeom>
            <a:noFill/>
            <a:ln w="9525">
              <a:solidFill>
                <a:schemeClr val="tx1"/>
              </a:solidFill>
              <a:round/>
              <a:tailEnd type="triangle" w="med" len="med"/>
            </a:ln>
          </p:spPr>
          <p:txBody>
            <a:bodyPr/>
            <a:lstStyle/>
            <a:p>
              <a:pPr>
                <a:defRPr/>
              </a:pPr>
              <a:endParaRPr lang="zh-CN" altLang="en-US" sz="1050"/>
            </a:p>
          </p:txBody>
        </p:sp>
      </p:grpSp>
      <p:grpSp>
        <p:nvGrpSpPr>
          <p:cNvPr id="21" name="Group 128"/>
          <p:cNvGrpSpPr/>
          <p:nvPr/>
        </p:nvGrpSpPr>
        <p:grpSpPr bwMode="auto">
          <a:xfrm>
            <a:off x="5497946" y="2918156"/>
            <a:ext cx="1113241" cy="307182"/>
            <a:chOff x="3572" y="2433"/>
            <a:chExt cx="864" cy="258"/>
          </a:xfrm>
        </p:grpSpPr>
        <p:sp>
          <p:nvSpPr>
            <p:cNvPr id="22" name="Text Box 56"/>
            <p:cNvSpPr txBox="1">
              <a:spLocks noChangeArrowheads="1"/>
            </p:cNvSpPr>
            <p:nvPr/>
          </p:nvSpPr>
          <p:spPr bwMode="auto">
            <a:xfrm>
              <a:off x="3572" y="2433"/>
              <a:ext cx="864"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r);</a:t>
              </a:r>
              <a:endParaRPr kumimoji="1" lang="en-US" altLang="zh-CN" sz="1400" b="1" dirty="0">
                <a:latin typeface="Times New Roman" panose="02020603050405020304" pitchFamily="18" charset="0"/>
              </a:endParaRPr>
            </a:p>
          </p:txBody>
        </p:sp>
        <p:sp>
          <p:nvSpPr>
            <p:cNvPr id="23" name="Line 57"/>
            <p:cNvSpPr>
              <a:spLocks noChangeShapeType="1"/>
            </p:cNvSpPr>
            <p:nvPr/>
          </p:nvSpPr>
          <p:spPr bwMode="auto">
            <a:xfrm>
              <a:off x="3966" y="2577"/>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nvGrpSpPr>
          <p:cNvPr id="24" name="Group 134"/>
          <p:cNvGrpSpPr/>
          <p:nvPr/>
        </p:nvGrpSpPr>
        <p:grpSpPr bwMode="auto">
          <a:xfrm>
            <a:off x="2278283" y="2249225"/>
            <a:ext cx="1257690" cy="1218806"/>
            <a:chOff x="1082" y="1776"/>
            <a:chExt cx="1039" cy="1104"/>
          </a:xfrm>
        </p:grpSpPr>
        <p:grpSp>
          <p:nvGrpSpPr>
            <p:cNvPr id="25" name="Group 122"/>
            <p:cNvGrpSpPr/>
            <p:nvPr/>
          </p:nvGrpSpPr>
          <p:grpSpPr bwMode="auto">
            <a:xfrm>
              <a:off x="1082" y="1776"/>
              <a:ext cx="262" cy="1104"/>
              <a:chOff x="1082" y="1776"/>
              <a:chExt cx="262" cy="1104"/>
            </a:xfrm>
          </p:grpSpPr>
          <p:sp>
            <p:nvSpPr>
              <p:cNvPr id="33" name="Line 41"/>
              <p:cNvSpPr>
                <a:spLocks noChangeShapeType="1"/>
              </p:cNvSpPr>
              <p:nvPr/>
            </p:nvSpPr>
            <p:spPr bwMode="auto">
              <a:xfrm>
                <a:off x="1082" y="2479"/>
                <a:ext cx="109" cy="1"/>
              </a:xfrm>
              <a:prstGeom prst="line">
                <a:avLst/>
              </a:prstGeom>
              <a:noFill/>
              <a:ln w="19050">
                <a:solidFill>
                  <a:srgbClr val="FF3300"/>
                </a:solidFill>
                <a:round/>
              </a:ln>
            </p:spPr>
            <p:txBody>
              <a:bodyPr/>
              <a:lstStyle/>
              <a:p>
                <a:pPr>
                  <a:defRPr/>
                </a:pPr>
                <a:endParaRPr lang="zh-CN" altLang="en-US" sz="1050"/>
              </a:p>
            </p:txBody>
          </p:sp>
          <p:grpSp>
            <p:nvGrpSpPr>
              <p:cNvPr id="34" name="Group 42"/>
              <p:cNvGrpSpPr/>
              <p:nvPr/>
            </p:nvGrpSpPr>
            <p:grpSpPr bwMode="auto">
              <a:xfrm>
                <a:off x="1200" y="1776"/>
                <a:ext cx="144" cy="1104"/>
                <a:chOff x="1056" y="1761"/>
                <a:chExt cx="144" cy="1104"/>
              </a:xfrm>
            </p:grpSpPr>
            <p:sp>
              <p:nvSpPr>
                <p:cNvPr id="35" name="Line 43"/>
                <p:cNvSpPr>
                  <a:spLocks noChangeShapeType="1"/>
                </p:cNvSpPr>
                <p:nvPr/>
              </p:nvSpPr>
              <p:spPr bwMode="auto">
                <a:xfrm>
                  <a:off x="1056" y="1761"/>
                  <a:ext cx="144" cy="0"/>
                </a:xfrm>
                <a:prstGeom prst="line">
                  <a:avLst/>
                </a:prstGeom>
                <a:noFill/>
                <a:ln w="19050">
                  <a:solidFill>
                    <a:srgbClr val="FF3300"/>
                  </a:solidFill>
                  <a:round/>
                </a:ln>
              </p:spPr>
              <p:txBody>
                <a:bodyPr/>
                <a:lstStyle/>
                <a:p>
                  <a:pPr>
                    <a:defRPr/>
                  </a:pPr>
                  <a:endParaRPr lang="zh-CN" altLang="en-US" sz="1050"/>
                </a:p>
              </p:txBody>
            </p:sp>
            <p:sp>
              <p:nvSpPr>
                <p:cNvPr id="36" name="Line 44"/>
                <p:cNvSpPr>
                  <a:spLocks noChangeShapeType="1"/>
                </p:cNvSpPr>
                <p:nvPr/>
              </p:nvSpPr>
              <p:spPr bwMode="auto">
                <a:xfrm>
                  <a:off x="1056" y="2865"/>
                  <a:ext cx="144" cy="0"/>
                </a:xfrm>
                <a:prstGeom prst="line">
                  <a:avLst/>
                </a:prstGeom>
                <a:noFill/>
                <a:ln w="19050">
                  <a:solidFill>
                    <a:srgbClr val="FF3300"/>
                  </a:solidFill>
                  <a:round/>
                </a:ln>
              </p:spPr>
              <p:txBody>
                <a:bodyPr/>
                <a:lstStyle/>
                <a:p>
                  <a:pPr>
                    <a:defRPr/>
                  </a:pPr>
                  <a:endParaRPr lang="zh-CN" altLang="en-US" sz="1050"/>
                </a:p>
              </p:txBody>
            </p:sp>
            <p:sp>
              <p:nvSpPr>
                <p:cNvPr id="37" name="Line 45"/>
                <p:cNvSpPr>
                  <a:spLocks noChangeShapeType="1"/>
                </p:cNvSpPr>
                <p:nvPr/>
              </p:nvSpPr>
              <p:spPr bwMode="auto">
                <a:xfrm flipV="1">
                  <a:off x="1056" y="1761"/>
                  <a:ext cx="0" cy="1104"/>
                </a:xfrm>
                <a:prstGeom prst="line">
                  <a:avLst/>
                </a:prstGeom>
                <a:noFill/>
                <a:ln w="19050">
                  <a:solidFill>
                    <a:srgbClr val="FF3300"/>
                  </a:solidFill>
                  <a:round/>
                </a:ln>
              </p:spPr>
              <p:txBody>
                <a:bodyPr/>
                <a:lstStyle/>
                <a:p>
                  <a:pPr>
                    <a:defRPr/>
                  </a:pPr>
                  <a:endParaRPr lang="zh-CN" altLang="en-US" sz="1050"/>
                </a:p>
              </p:txBody>
            </p:sp>
          </p:grpSp>
        </p:grpSp>
        <p:grpSp>
          <p:nvGrpSpPr>
            <p:cNvPr id="26" name="Group 65"/>
            <p:cNvGrpSpPr/>
            <p:nvPr/>
          </p:nvGrpSpPr>
          <p:grpSpPr bwMode="auto">
            <a:xfrm>
              <a:off x="1257" y="1792"/>
              <a:ext cx="864" cy="807"/>
              <a:chOff x="1200" y="1920"/>
              <a:chExt cx="864" cy="807"/>
            </a:xfrm>
          </p:grpSpPr>
          <p:sp>
            <p:nvSpPr>
              <p:cNvPr id="27" name="Text Box 66"/>
              <p:cNvSpPr txBox="1">
                <a:spLocks noChangeArrowheads="1"/>
              </p:cNvSpPr>
              <p:nvPr/>
            </p:nvSpPr>
            <p:spPr bwMode="auto">
              <a:xfrm>
                <a:off x="1200" y="1920"/>
                <a:ext cx="240" cy="2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T</a:t>
                </a:r>
                <a:endParaRPr kumimoji="1" lang="en-US" altLang="zh-CN" sz="1400" b="1" dirty="0">
                  <a:latin typeface="Times New Roman" panose="02020603050405020304" pitchFamily="18" charset="0"/>
                </a:endParaRPr>
              </a:p>
            </p:txBody>
          </p:sp>
          <p:sp>
            <p:nvSpPr>
              <p:cNvPr id="28" name="Line 67"/>
              <p:cNvSpPr>
                <a:spLocks noChangeShapeType="1"/>
              </p:cNvSpPr>
              <p:nvPr/>
            </p:nvSpPr>
            <p:spPr bwMode="auto">
              <a:xfrm>
                <a:off x="1393" y="2064"/>
                <a:ext cx="192" cy="0"/>
              </a:xfrm>
              <a:prstGeom prst="line">
                <a:avLst/>
              </a:prstGeom>
              <a:noFill/>
              <a:ln w="9525">
                <a:solidFill>
                  <a:schemeClr val="tx1"/>
                </a:solidFill>
                <a:round/>
                <a:tailEnd type="triangle" w="med" len="med"/>
              </a:ln>
            </p:spPr>
            <p:txBody>
              <a:bodyPr/>
              <a:lstStyle/>
              <a:p>
                <a:pPr>
                  <a:defRPr/>
                </a:pPr>
                <a:endParaRPr lang="zh-CN" altLang="en-US" sz="1050"/>
              </a:p>
            </p:txBody>
          </p:sp>
          <p:sp>
            <p:nvSpPr>
              <p:cNvPr id="29" name="Oval 68"/>
              <p:cNvSpPr>
                <a:spLocks noChangeArrowheads="1"/>
              </p:cNvSpPr>
              <p:nvPr/>
            </p:nvSpPr>
            <p:spPr bwMode="auto">
              <a:xfrm>
                <a:off x="1584" y="1968"/>
                <a:ext cx="192" cy="192"/>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400" b="1" dirty="0">
                    <a:solidFill>
                      <a:srgbClr val="3333FF"/>
                    </a:solidFill>
                    <a:latin typeface="Times New Roman" panose="02020603050405020304" pitchFamily="18" charset="0"/>
                  </a:rPr>
                  <a:t>A</a:t>
                </a:r>
                <a:endParaRPr kumimoji="1" lang="en-US" altLang="zh-CN" sz="1400" b="1" dirty="0">
                  <a:solidFill>
                    <a:srgbClr val="3333FF"/>
                  </a:solidFill>
                  <a:latin typeface="Times New Roman" panose="02020603050405020304" pitchFamily="18" charset="0"/>
                </a:endParaRPr>
              </a:p>
            </p:txBody>
          </p:sp>
          <p:sp>
            <p:nvSpPr>
              <p:cNvPr id="30" name="Text Box 69"/>
              <p:cNvSpPr txBox="1">
                <a:spLocks noChangeArrowheads="1"/>
              </p:cNvSpPr>
              <p:nvPr/>
            </p:nvSpPr>
            <p:spPr bwMode="auto">
              <a:xfrm>
                <a:off x="1200" y="2208"/>
                <a:ext cx="864" cy="2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Visit(A);</a:t>
                </a:r>
                <a:endParaRPr kumimoji="1" lang="en-US" altLang="zh-CN" sz="1400" b="1" dirty="0">
                  <a:latin typeface="Times New Roman" panose="02020603050405020304" pitchFamily="18" charset="0"/>
                </a:endParaRPr>
              </a:p>
            </p:txBody>
          </p:sp>
          <p:sp>
            <p:nvSpPr>
              <p:cNvPr id="31" name="Text Box 70"/>
              <p:cNvSpPr txBox="1">
                <a:spLocks noChangeArrowheads="1"/>
              </p:cNvSpPr>
              <p:nvPr/>
            </p:nvSpPr>
            <p:spPr bwMode="auto">
              <a:xfrm>
                <a:off x="1200" y="2448"/>
                <a:ext cx="864" cy="2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l);</a:t>
                </a:r>
                <a:endParaRPr kumimoji="1" lang="en-US" altLang="zh-CN" sz="1400" b="1" dirty="0">
                  <a:latin typeface="Times New Roman" panose="02020603050405020304" pitchFamily="18" charset="0"/>
                </a:endParaRPr>
              </a:p>
            </p:txBody>
          </p:sp>
          <p:sp>
            <p:nvSpPr>
              <p:cNvPr id="32" name="Line 71"/>
              <p:cNvSpPr>
                <a:spLocks noChangeShapeType="1"/>
              </p:cNvSpPr>
              <p:nvPr/>
            </p:nvSpPr>
            <p:spPr bwMode="auto">
              <a:xfrm>
                <a:off x="1632" y="2592"/>
                <a:ext cx="144"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38" name="Group 133"/>
          <p:cNvGrpSpPr/>
          <p:nvPr/>
        </p:nvGrpSpPr>
        <p:grpSpPr bwMode="auto">
          <a:xfrm>
            <a:off x="4994291" y="1977692"/>
            <a:ext cx="1566903" cy="1314450"/>
            <a:chOff x="3170" y="1617"/>
            <a:chExt cx="1266" cy="1104"/>
          </a:xfrm>
        </p:grpSpPr>
        <p:grpSp>
          <p:nvGrpSpPr>
            <p:cNvPr id="39" name="Group 125"/>
            <p:cNvGrpSpPr/>
            <p:nvPr/>
          </p:nvGrpSpPr>
          <p:grpSpPr bwMode="auto">
            <a:xfrm>
              <a:off x="3170" y="1617"/>
              <a:ext cx="480" cy="1104"/>
              <a:chOff x="3170" y="1617"/>
              <a:chExt cx="480" cy="1104"/>
            </a:xfrm>
          </p:grpSpPr>
          <p:sp>
            <p:nvSpPr>
              <p:cNvPr id="47" name="Line 46"/>
              <p:cNvSpPr>
                <a:spLocks noChangeShapeType="1"/>
              </p:cNvSpPr>
              <p:nvPr/>
            </p:nvSpPr>
            <p:spPr bwMode="auto">
              <a:xfrm>
                <a:off x="3506" y="1617"/>
                <a:ext cx="144" cy="0"/>
              </a:xfrm>
              <a:prstGeom prst="line">
                <a:avLst/>
              </a:prstGeom>
              <a:noFill/>
              <a:ln w="19050">
                <a:solidFill>
                  <a:srgbClr val="FF3300"/>
                </a:solidFill>
                <a:round/>
              </a:ln>
            </p:spPr>
            <p:txBody>
              <a:bodyPr/>
              <a:lstStyle/>
              <a:p>
                <a:pPr>
                  <a:defRPr/>
                </a:pPr>
                <a:endParaRPr lang="zh-CN" altLang="en-US" sz="1050"/>
              </a:p>
            </p:txBody>
          </p:sp>
          <p:sp>
            <p:nvSpPr>
              <p:cNvPr id="48" name="Line 47"/>
              <p:cNvSpPr>
                <a:spLocks noChangeShapeType="1"/>
              </p:cNvSpPr>
              <p:nvPr/>
            </p:nvSpPr>
            <p:spPr bwMode="auto">
              <a:xfrm>
                <a:off x="3506" y="2721"/>
                <a:ext cx="144" cy="0"/>
              </a:xfrm>
              <a:prstGeom prst="line">
                <a:avLst/>
              </a:prstGeom>
              <a:noFill/>
              <a:ln w="19050">
                <a:solidFill>
                  <a:srgbClr val="FF3300"/>
                </a:solidFill>
                <a:round/>
              </a:ln>
            </p:spPr>
            <p:txBody>
              <a:bodyPr/>
              <a:lstStyle/>
              <a:p>
                <a:pPr>
                  <a:defRPr/>
                </a:pPr>
                <a:endParaRPr lang="zh-CN" altLang="en-US" sz="1050"/>
              </a:p>
            </p:txBody>
          </p:sp>
          <p:sp>
            <p:nvSpPr>
              <p:cNvPr id="49" name="Line 48"/>
              <p:cNvSpPr>
                <a:spLocks noChangeShapeType="1"/>
              </p:cNvSpPr>
              <p:nvPr/>
            </p:nvSpPr>
            <p:spPr bwMode="auto">
              <a:xfrm>
                <a:off x="3170" y="2433"/>
                <a:ext cx="336" cy="0"/>
              </a:xfrm>
              <a:prstGeom prst="line">
                <a:avLst/>
              </a:prstGeom>
              <a:noFill/>
              <a:ln w="19050">
                <a:solidFill>
                  <a:srgbClr val="FF3300"/>
                </a:solidFill>
                <a:round/>
              </a:ln>
            </p:spPr>
            <p:txBody>
              <a:bodyPr/>
              <a:lstStyle/>
              <a:p>
                <a:pPr>
                  <a:defRPr/>
                </a:pPr>
                <a:endParaRPr lang="zh-CN" altLang="en-US" sz="1050"/>
              </a:p>
            </p:txBody>
          </p:sp>
          <p:sp>
            <p:nvSpPr>
              <p:cNvPr id="50" name="Line 49"/>
              <p:cNvSpPr>
                <a:spLocks noChangeShapeType="1"/>
              </p:cNvSpPr>
              <p:nvPr/>
            </p:nvSpPr>
            <p:spPr bwMode="auto">
              <a:xfrm flipV="1">
                <a:off x="3506" y="1617"/>
                <a:ext cx="0" cy="1104"/>
              </a:xfrm>
              <a:prstGeom prst="line">
                <a:avLst/>
              </a:prstGeom>
              <a:noFill/>
              <a:ln w="19050">
                <a:solidFill>
                  <a:srgbClr val="FF3300"/>
                </a:solidFill>
                <a:round/>
              </a:ln>
            </p:spPr>
            <p:txBody>
              <a:bodyPr/>
              <a:lstStyle/>
              <a:p>
                <a:pPr>
                  <a:defRPr/>
                </a:pPr>
                <a:endParaRPr lang="zh-CN" altLang="en-US" sz="1050"/>
              </a:p>
            </p:txBody>
          </p:sp>
        </p:grpSp>
        <p:grpSp>
          <p:nvGrpSpPr>
            <p:cNvPr id="40" name="Group 72"/>
            <p:cNvGrpSpPr/>
            <p:nvPr/>
          </p:nvGrpSpPr>
          <p:grpSpPr bwMode="auto">
            <a:xfrm>
              <a:off x="3572" y="1670"/>
              <a:ext cx="864" cy="787"/>
              <a:chOff x="3744" y="1776"/>
              <a:chExt cx="864" cy="787"/>
            </a:xfrm>
          </p:grpSpPr>
          <p:sp>
            <p:nvSpPr>
              <p:cNvPr id="41" name="Text Box 73"/>
              <p:cNvSpPr txBox="1">
                <a:spLocks noChangeArrowheads="1"/>
              </p:cNvSpPr>
              <p:nvPr/>
            </p:nvSpPr>
            <p:spPr bwMode="auto">
              <a:xfrm>
                <a:off x="3744" y="1776"/>
                <a:ext cx="24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42" name="Line 74"/>
              <p:cNvSpPr>
                <a:spLocks noChangeShapeType="1"/>
              </p:cNvSpPr>
              <p:nvPr/>
            </p:nvSpPr>
            <p:spPr bwMode="auto">
              <a:xfrm>
                <a:off x="3936" y="1920"/>
                <a:ext cx="192" cy="0"/>
              </a:xfrm>
              <a:prstGeom prst="line">
                <a:avLst/>
              </a:prstGeom>
              <a:noFill/>
              <a:ln w="9525">
                <a:solidFill>
                  <a:schemeClr val="tx1"/>
                </a:solidFill>
                <a:round/>
                <a:tailEnd type="triangle" w="med" len="med"/>
              </a:ln>
            </p:spPr>
            <p:txBody>
              <a:bodyPr/>
              <a:lstStyle/>
              <a:p>
                <a:pPr>
                  <a:defRPr/>
                </a:pPr>
                <a:endParaRPr lang="zh-CN" altLang="en-US" sz="1050"/>
              </a:p>
            </p:txBody>
          </p:sp>
          <p:sp>
            <p:nvSpPr>
              <p:cNvPr id="43" name="Oval 75"/>
              <p:cNvSpPr>
                <a:spLocks noChangeArrowheads="1"/>
              </p:cNvSpPr>
              <p:nvPr/>
            </p:nvSpPr>
            <p:spPr bwMode="auto">
              <a:xfrm>
                <a:off x="4176" y="1824"/>
                <a:ext cx="192" cy="192"/>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400" b="1" dirty="0">
                    <a:solidFill>
                      <a:srgbClr val="3333FF"/>
                    </a:solidFill>
                    <a:latin typeface="Times New Roman" panose="02020603050405020304" pitchFamily="18" charset="0"/>
                  </a:rPr>
                  <a:t>D</a:t>
                </a:r>
                <a:endParaRPr kumimoji="1" lang="en-US" altLang="zh-CN" sz="1400" b="1" dirty="0">
                  <a:solidFill>
                    <a:srgbClr val="3333FF"/>
                  </a:solidFill>
                  <a:latin typeface="Times New Roman" panose="02020603050405020304" pitchFamily="18" charset="0"/>
                </a:endParaRPr>
              </a:p>
            </p:txBody>
          </p:sp>
          <p:sp>
            <p:nvSpPr>
              <p:cNvPr id="44" name="Text Box 76"/>
              <p:cNvSpPr txBox="1">
                <a:spLocks noChangeArrowheads="1"/>
              </p:cNvSpPr>
              <p:nvPr/>
            </p:nvSpPr>
            <p:spPr bwMode="auto">
              <a:xfrm>
                <a:off x="3744" y="2064"/>
                <a:ext cx="864"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Visit(D);</a:t>
                </a:r>
                <a:endParaRPr kumimoji="1" lang="en-US" altLang="zh-CN" sz="1400" b="1" dirty="0">
                  <a:latin typeface="Times New Roman" panose="02020603050405020304" pitchFamily="18" charset="0"/>
                </a:endParaRPr>
              </a:p>
            </p:txBody>
          </p:sp>
          <p:sp>
            <p:nvSpPr>
              <p:cNvPr id="45" name="Text Box 77"/>
              <p:cNvSpPr txBox="1">
                <a:spLocks noChangeArrowheads="1"/>
              </p:cNvSpPr>
              <p:nvPr/>
            </p:nvSpPr>
            <p:spPr bwMode="auto">
              <a:xfrm>
                <a:off x="3744" y="2304"/>
                <a:ext cx="864"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l);</a:t>
                </a:r>
                <a:endParaRPr kumimoji="1" lang="en-US" altLang="zh-CN" sz="1400" b="1" dirty="0">
                  <a:latin typeface="Times New Roman" panose="02020603050405020304" pitchFamily="18" charset="0"/>
                </a:endParaRPr>
              </a:p>
            </p:txBody>
          </p:sp>
          <p:sp>
            <p:nvSpPr>
              <p:cNvPr id="46" name="Line 78"/>
              <p:cNvSpPr>
                <a:spLocks noChangeShapeType="1"/>
              </p:cNvSpPr>
              <p:nvPr/>
            </p:nvSpPr>
            <p:spPr bwMode="auto">
              <a:xfrm>
                <a:off x="4158" y="2448"/>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51" name="Group 130"/>
          <p:cNvGrpSpPr/>
          <p:nvPr/>
        </p:nvGrpSpPr>
        <p:grpSpPr bwMode="auto">
          <a:xfrm>
            <a:off x="3563833" y="3197157"/>
            <a:ext cx="1478580" cy="1314450"/>
            <a:chOff x="2073" y="2625"/>
            <a:chExt cx="1182" cy="1104"/>
          </a:xfrm>
        </p:grpSpPr>
        <p:sp>
          <p:nvSpPr>
            <p:cNvPr id="52" name="Line 25"/>
            <p:cNvSpPr>
              <a:spLocks noChangeShapeType="1"/>
            </p:cNvSpPr>
            <p:nvPr/>
          </p:nvSpPr>
          <p:spPr bwMode="auto">
            <a:xfrm>
              <a:off x="2073" y="2721"/>
              <a:ext cx="240" cy="0"/>
            </a:xfrm>
            <a:prstGeom prst="line">
              <a:avLst/>
            </a:prstGeom>
            <a:noFill/>
            <a:ln w="19050">
              <a:solidFill>
                <a:srgbClr val="FF3300"/>
              </a:solidFill>
              <a:round/>
            </a:ln>
          </p:spPr>
          <p:txBody>
            <a:bodyPr/>
            <a:lstStyle/>
            <a:p>
              <a:pPr>
                <a:defRPr/>
              </a:pPr>
              <a:endParaRPr lang="zh-CN" altLang="en-US" sz="1050"/>
            </a:p>
          </p:txBody>
        </p:sp>
        <p:sp>
          <p:nvSpPr>
            <p:cNvPr id="53" name="Line 26"/>
            <p:cNvSpPr>
              <a:spLocks noChangeShapeType="1"/>
            </p:cNvSpPr>
            <p:nvPr/>
          </p:nvSpPr>
          <p:spPr bwMode="auto">
            <a:xfrm>
              <a:off x="2313" y="2625"/>
              <a:ext cx="0" cy="1104"/>
            </a:xfrm>
            <a:prstGeom prst="line">
              <a:avLst/>
            </a:prstGeom>
            <a:noFill/>
            <a:ln w="19050">
              <a:solidFill>
                <a:srgbClr val="FF3300"/>
              </a:solidFill>
              <a:round/>
            </a:ln>
          </p:spPr>
          <p:txBody>
            <a:bodyPr/>
            <a:lstStyle/>
            <a:p>
              <a:pPr>
                <a:defRPr/>
              </a:pPr>
              <a:endParaRPr lang="zh-CN" altLang="en-US" sz="1050"/>
            </a:p>
          </p:txBody>
        </p:sp>
        <p:sp>
          <p:nvSpPr>
            <p:cNvPr id="54" name="Line 27"/>
            <p:cNvSpPr>
              <a:spLocks noChangeShapeType="1"/>
            </p:cNvSpPr>
            <p:nvPr/>
          </p:nvSpPr>
          <p:spPr bwMode="auto">
            <a:xfrm>
              <a:off x="2313" y="2625"/>
              <a:ext cx="144" cy="0"/>
            </a:xfrm>
            <a:prstGeom prst="line">
              <a:avLst/>
            </a:prstGeom>
            <a:noFill/>
            <a:ln w="19050">
              <a:solidFill>
                <a:srgbClr val="FF3300"/>
              </a:solidFill>
              <a:round/>
            </a:ln>
          </p:spPr>
          <p:txBody>
            <a:bodyPr/>
            <a:lstStyle/>
            <a:p>
              <a:pPr>
                <a:defRPr/>
              </a:pPr>
              <a:endParaRPr lang="zh-CN" altLang="en-US" sz="1050"/>
            </a:p>
          </p:txBody>
        </p:sp>
        <p:sp>
          <p:nvSpPr>
            <p:cNvPr id="55" name="Line 28"/>
            <p:cNvSpPr>
              <a:spLocks noChangeShapeType="1"/>
            </p:cNvSpPr>
            <p:nvPr/>
          </p:nvSpPr>
          <p:spPr bwMode="auto">
            <a:xfrm>
              <a:off x="2313" y="3729"/>
              <a:ext cx="144" cy="0"/>
            </a:xfrm>
            <a:prstGeom prst="line">
              <a:avLst/>
            </a:prstGeom>
            <a:noFill/>
            <a:ln w="19050">
              <a:solidFill>
                <a:srgbClr val="FF3300"/>
              </a:solidFill>
              <a:round/>
            </a:ln>
          </p:spPr>
          <p:txBody>
            <a:bodyPr/>
            <a:lstStyle/>
            <a:p>
              <a:pPr>
                <a:defRPr/>
              </a:pPr>
              <a:endParaRPr lang="zh-CN" altLang="en-US" sz="1050"/>
            </a:p>
          </p:txBody>
        </p:sp>
        <p:grpSp>
          <p:nvGrpSpPr>
            <p:cNvPr id="56" name="Group 79"/>
            <p:cNvGrpSpPr/>
            <p:nvPr/>
          </p:nvGrpSpPr>
          <p:grpSpPr bwMode="auto">
            <a:xfrm>
              <a:off x="2391" y="2673"/>
              <a:ext cx="864" cy="787"/>
              <a:chOff x="2448" y="2784"/>
              <a:chExt cx="864" cy="787"/>
            </a:xfrm>
          </p:grpSpPr>
          <p:sp>
            <p:nvSpPr>
              <p:cNvPr id="57" name="Text Box 80"/>
              <p:cNvSpPr txBox="1">
                <a:spLocks noChangeArrowheads="1"/>
              </p:cNvSpPr>
              <p:nvPr/>
            </p:nvSpPr>
            <p:spPr bwMode="auto">
              <a:xfrm>
                <a:off x="2448" y="2784"/>
                <a:ext cx="24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58" name="Line 81"/>
              <p:cNvSpPr>
                <a:spLocks noChangeShapeType="1"/>
              </p:cNvSpPr>
              <p:nvPr/>
            </p:nvSpPr>
            <p:spPr bwMode="auto">
              <a:xfrm>
                <a:off x="2640" y="2928"/>
                <a:ext cx="192" cy="0"/>
              </a:xfrm>
              <a:prstGeom prst="line">
                <a:avLst/>
              </a:prstGeom>
              <a:noFill/>
              <a:ln w="9525">
                <a:solidFill>
                  <a:schemeClr val="tx1"/>
                </a:solidFill>
                <a:round/>
                <a:tailEnd type="triangle" w="med" len="med"/>
              </a:ln>
            </p:spPr>
            <p:txBody>
              <a:bodyPr/>
              <a:lstStyle/>
              <a:p>
                <a:pPr>
                  <a:defRPr/>
                </a:pPr>
                <a:endParaRPr lang="zh-CN" altLang="en-US" sz="1050"/>
              </a:p>
            </p:txBody>
          </p:sp>
          <p:sp>
            <p:nvSpPr>
              <p:cNvPr id="59" name="Oval 82"/>
              <p:cNvSpPr>
                <a:spLocks noChangeArrowheads="1"/>
              </p:cNvSpPr>
              <p:nvPr/>
            </p:nvSpPr>
            <p:spPr bwMode="auto">
              <a:xfrm>
                <a:off x="2880" y="2832"/>
                <a:ext cx="192" cy="192"/>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400" b="1" dirty="0">
                    <a:solidFill>
                      <a:srgbClr val="3333FF"/>
                    </a:solidFill>
                    <a:latin typeface="Times New Roman" panose="02020603050405020304" pitchFamily="18" charset="0"/>
                  </a:rPr>
                  <a:t>C</a:t>
                </a:r>
                <a:endParaRPr kumimoji="1" lang="en-US" altLang="zh-CN" sz="1400" b="1" dirty="0">
                  <a:solidFill>
                    <a:srgbClr val="3333FF"/>
                  </a:solidFill>
                  <a:latin typeface="Times New Roman" panose="02020603050405020304" pitchFamily="18" charset="0"/>
                </a:endParaRPr>
              </a:p>
            </p:txBody>
          </p:sp>
          <p:sp>
            <p:nvSpPr>
              <p:cNvPr id="60" name="Text Box 83"/>
              <p:cNvSpPr txBox="1">
                <a:spLocks noChangeArrowheads="1"/>
              </p:cNvSpPr>
              <p:nvPr/>
            </p:nvSpPr>
            <p:spPr bwMode="auto">
              <a:xfrm>
                <a:off x="2448" y="3072"/>
                <a:ext cx="864"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Visit(C);</a:t>
                </a:r>
                <a:endParaRPr kumimoji="1" lang="en-US" altLang="zh-CN" sz="1400" b="1">
                  <a:latin typeface="Times New Roman" panose="02020603050405020304" pitchFamily="18" charset="0"/>
                </a:endParaRPr>
              </a:p>
            </p:txBody>
          </p:sp>
          <p:sp>
            <p:nvSpPr>
              <p:cNvPr id="61" name="Text Box 84"/>
              <p:cNvSpPr txBox="1">
                <a:spLocks noChangeArrowheads="1"/>
              </p:cNvSpPr>
              <p:nvPr/>
            </p:nvSpPr>
            <p:spPr bwMode="auto">
              <a:xfrm>
                <a:off x="2448" y="3312"/>
                <a:ext cx="864"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l);</a:t>
                </a:r>
                <a:endParaRPr kumimoji="1" lang="en-US" altLang="zh-CN" sz="1400" b="1" dirty="0">
                  <a:latin typeface="Times New Roman" panose="02020603050405020304" pitchFamily="18" charset="0"/>
                </a:endParaRPr>
              </a:p>
            </p:txBody>
          </p:sp>
          <p:sp>
            <p:nvSpPr>
              <p:cNvPr id="62" name="Line 85"/>
              <p:cNvSpPr>
                <a:spLocks noChangeShapeType="1"/>
              </p:cNvSpPr>
              <p:nvPr/>
            </p:nvSpPr>
            <p:spPr bwMode="auto">
              <a:xfrm>
                <a:off x="2880" y="3456"/>
                <a:ext cx="144"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63" name="Group 135"/>
          <p:cNvGrpSpPr/>
          <p:nvPr/>
        </p:nvGrpSpPr>
        <p:grpSpPr bwMode="auto">
          <a:xfrm>
            <a:off x="3594809" y="1814400"/>
            <a:ext cx="1477365" cy="1314450"/>
            <a:chOff x="2073" y="1473"/>
            <a:chExt cx="1138" cy="1104"/>
          </a:xfrm>
        </p:grpSpPr>
        <p:grpSp>
          <p:nvGrpSpPr>
            <p:cNvPr id="64" name="Group 58"/>
            <p:cNvGrpSpPr/>
            <p:nvPr/>
          </p:nvGrpSpPr>
          <p:grpSpPr bwMode="auto">
            <a:xfrm>
              <a:off x="2347" y="1513"/>
              <a:ext cx="864" cy="787"/>
              <a:chOff x="2400" y="1632"/>
              <a:chExt cx="864" cy="787"/>
            </a:xfrm>
          </p:grpSpPr>
          <p:sp>
            <p:nvSpPr>
              <p:cNvPr id="70" name="Text Box 59"/>
              <p:cNvSpPr txBox="1">
                <a:spLocks noChangeArrowheads="1"/>
              </p:cNvSpPr>
              <p:nvPr/>
            </p:nvSpPr>
            <p:spPr bwMode="auto">
              <a:xfrm>
                <a:off x="2400" y="1632"/>
                <a:ext cx="24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71" name="Line 60"/>
              <p:cNvSpPr>
                <a:spLocks noChangeShapeType="1"/>
              </p:cNvSpPr>
              <p:nvPr/>
            </p:nvSpPr>
            <p:spPr bwMode="auto">
              <a:xfrm>
                <a:off x="2592" y="1776"/>
                <a:ext cx="196" cy="0"/>
              </a:xfrm>
              <a:prstGeom prst="line">
                <a:avLst/>
              </a:prstGeom>
              <a:noFill/>
              <a:ln w="9525">
                <a:solidFill>
                  <a:schemeClr val="tx1"/>
                </a:solidFill>
                <a:round/>
                <a:tailEnd type="triangle" w="med" len="med"/>
              </a:ln>
            </p:spPr>
            <p:txBody>
              <a:bodyPr/>
              <a:lstStyle/>
              <a:p>
                <a:pPr>
                  <a:defRPr/>
                </a:pPr>
                <a:endParaRPr lang="zh-CN" altLang="en-US" sz="1050"/>
              </a:p>
            </p:txBody>
          </p:sp>
          <p:sp>
            <p:nvSpPr>
              <p:cNvPr id="72" name="Oval 61"/>
              <p:cNvSpPr>
                <a:spLocks noChangeArrowheads="1"/>
              </p:cNvSpPr>
              <p:nvPr/>
            </p:nvSpPr>
            <p:spPr bwMode="auto">
              <a:xfrm>
                <a:off x="2784" y="1680"/>
                <a:ext cx="192" cy="192"/>
              </a:xfrm>
              <a:prstGeom prst="ellipse">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400" b="1" dirty="0">
                    <a:solidFill>
                      <a:srgbClr val="3333FF"/>
                    </a:solidFill>
                    <a:latin typeface="Times New Roman" panose="02020603050405020304" pitchFamily="18" charset="0"/>
                  </a:rPr>
                  <a:t>B</a:t>
                </a:r>
                <a:endParaRPr kumimoji="1" lang="en-US" altLang="zh-CN" sz="1400" b="1" dirty="0">
                  <a:solidFill>
                    <a:srgbClr val="3333FF"/>
                  </a:solidFill>
                  <a:latin typeface="Times New Roman" panose="02020603050405020304" pitchFamily="18" charset="0"/>
                </a:endParaRPr>
              </a:p>
            </p:txBody>
          </p:sp>
          <p:sp>
            <p:nvSpPr>
              <p:cNvPr id="73" name="Text Box 62"/>
              <p:cNvSpPr txBox="1">
                <a:spLocks noChangeArrowheads="1"/>
              </p:cNvSpPr>
              <p:nvPr/>
            </p:nvSpPr>
            <p:spPr bwMode="auto">
              <a:xfrm>
                <a:off x="2400" y="1920"/>
                <a:ext cx="864"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Visit(B);</a:t>
                </a:r>
                <a:endParaRPr kumimoji="1" lang="en-US" altLang="zh-CN" sz="1400" b="1">
                  <a:latin typeface="Times New Roman" panose="02020603050405020304" pitchFamily="18" charset="0"/>
                </a:endParaRPr>
              </a:p>
            </p:txBody>
          </p:sp>
          <p:sp>
            <p:nvSpPr>
              <p:cNvPr id="74" name="Text Box 63"/>
              <p:cNvSpPr txBox="1">
                <a:spLocks noChangeArrowheads="1"/>
              </p:cNvSpPr>
              <p:nvPr/>
            </p:nvSpPr>
            <p:spPr bwMode="auto">
              <a:xfrm>
                <a:off x="2400" y="2160"/>
                <a:ext cx="864"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l);</a:t>
                </a:r>
                <a:endParaRPr kumimoji="1" lang="en-US" altLang="zh-CN" sz="1400" b="1" dirty="0">
                  <a:latin typeface="Times New Roman" panose="02020603050405020304" pitchFamily="18" charset="0"/>
                </a:endParaRPr>
              </a:p>
            </p:txBody>
          </p:sp>
          <p:sp>
            <p:nvSpPr>
              <p:cNvPr id="75" name="Line 64"/>
              <p:cNvSpPr>
                <a:spLocks noChangeShapeType="1"/>
              </p:cNvSpPr>
              <p:nvPr/>
            </p:nvSpPr>
            <p:spPr bwMode="auto">
              <a:xfrm>
                <a:off x="2832" y="2304"/>
                <a:ext cx="144" cy="0"/>
              </a:xfrm>
              <a:prstGeom prst="line">
                <a:avLst/>
              </a:prstGeom>
              <a:noFill/>
              <a:ln w="9525">
                <a:solidFill>
                  <a:schemeClr val="tx1"/>
                </a:solidFill>
                <a:round/>
                <a:tailEnd type="triangle" w="med" len="med"/>
              </a:ln>
            </p:spPr>
            <p:txBody>
              <a:bodyPr/>
              <a:lstStyle/>
              <a:p>
                <a:pPr>
                  <a:defRPr/>
                </a:pPr>
                <a:endParaRPr lang="zh-CN" altLang="en-US" sz="1050"/>
              </a:p>
            </p:txBody>
          </p:sp>
        </p:grpSp>
        <p:grpSp>
          <p:nvGrpSpPr>
            <p:cNvPr id="65" name="Group 86"/>
            <p:cNvGrpSpPr/>
            <p:nvPr/>
          </p:nvGrpSpPr>
          <p:grpSpPr bwMode="auto">
            <a:xfrm>
              <a:off x="2073" y="1473"/>
              <a:ext cx="384" cy="1104"/>
              <a:chOff x="2016" y="1584"/>
              <a:chExt cx="384" cy="1104"/>
            </a:xfrm>
          </p:grpSpPr>
          <p:sp>
            <p:nvSpPr>
              <p:cNvPr id="66" name="Line 87"/>
              <p:cNvSpPr>
                <a:spLocks noChangeShapeType="1"/>
              </p:cNvSpPr>
              <p:nvPr/>
            </p:nvSpPr>
            <p:spPr bwMode="auto">
              <a:xfrm>
                <a:off x="2256" y="1584"/>
                <a:ext cx="144" cy="0"/>
              </a:xfrm>
              <a:prstGeom prst="line">
                <a:avLst/>
              </a:prstGeom>
              <a:noFill/>
              <a:ln w="19050">
                <a:solidFill>
                  <a:srgbClr val="FF3300"/>
                </a:solidFill>
                <a:round/>
              </a:ln>
            </p:spPr>
            <p:txBody>
              <a:bodyPr/>
              <a:lstStyle/>
              <a:p>
                <a:pPr>
                  <a:defRPr/>
                </a:pPr>
                <a:endParaRPr lang="zh-CN" altLang="en-US" sz="1050"/>
              </a:p>
            </p:txBody>
          </p:sp>
          <p:sp>
            <p:nvSpPr>
              <p:cNvPr id="67" name="Line 88"/>
              <p:cNvSpPr>
                <a:spLocks noChangeShapeType="1"/>
              </p:cNvSpPr>
              <p:nvPr/>
            </p:nvSpPr>
            <p:spPr bwMode="auto">
              <a:xfrm>
                <a:off x="2256" y="2688"/>
                <a:ext cx="144" cy="0"/>
              </a:xfrm>
              <a:prstGeom prst="line">
                <a:avLst/>
              </a:prstGeom>
              <a:noFill/>
              <a:ln w="19050">
                <a:solidFill>
                  <a:srgbClr val="FF3300"/>
                </a:solidFill>
                <a:round/>
              </a:ln>
            </p:spPr>
            <p:txBody>
              <a:bodyPr/>
              <a:lstStyle/>
              <a:p>
                <a:pPr>
                  <a:defRPr/>
                </a:pPr>
                <a:endParaRPr lang="zh-CN" altLang="en-US" sz="1050"/>
              </a:p>
            </p:txBody>
          </p:sp>
          <p:sp>
            <p:nvSpPr>
              <p:cNvPr id="68" name="Line 89"/>
              <p:cNvSpPr>
                <a:spLocks noChangeShapeType="1"/>
              </p:cNvSpPr>
              <p:nvPr/>
            </p:nvSpPr>
            <p:spPr bwMode="auto">
              <a:xfrm>
                <a:off x="2016" y="2592"/>
                <a:ext cx="240" cy="0"/>
              </a:xfrm>
              <a:prstGeom prst="line">
                <a:avLst/>
              </a:prstGeom>
              <a:noFill/>
              <a:ln w="19050">
                <a:solidFill>
                  <a:srgbClr val="FF3300"/>
                </a:solidFill>
                <a:round/>
              </a:ln>
            </p:spPr>
            <p:txBody>
              <a:bodyPr/>
              <a:lstStyle/>
              <a:p>
                <a:pPr>
                  <a:defRPr/>
                </a:pPr>
                <a:endParaRPr lang="zh-CN" altLang="en-US" sz="1050"/>
              </a:p>
            </p:txBody>
          </p:sp>
          <p:sp>
            <p:nvSpPr>
              <p:cNvPr id="69" name="Line 90"/>
              <p:cNvSpPr>
                <a:spLocks noChangeShapeType="1"/>
              </p:cNvSpPr>
              <p:nvPr/>
            </p:nvSpPr>
            <p:spPr bwMode="auto">
              <a:xfrm flipV="1">
                <a:off x="2256" y="1584"/>
                <a:ext cx="0" cy="1104"/>
              </a:xfrm>
              <a:prstGeom prst="line">
                <a:avLst/>
              </a:prstGeom>
              <a:noFill/>
              <a:ln w="19050">
                <a:solidFill>
                  <a:srgbClr val="FF3300"/>
                </a:solidFill>
                <a:round/>
              </a:ln>
            </p:spPr>
            <p:txBody>
              <a:bodyPr/>
              <a:lstStyle/>
              <a:p>
                <a:pPr>
                  <a:defRPr/>
                </a:pPr>
                <a:endParaRPr lang="zh-CN" altLang="en-US" sz="1050"/>
              </a:p>
            </p:txBody>
          </p:sp>
        </p:grpSp>
      </p:grpSp>
      <p:grpSp>
        <p:nvGrpSpPr>
          <p:cNvPr id="76" name="Group 127"/>
          <p:cNvGrpSpPr/>
          <p:nvPr/>
        </p:nvGrpSpPr>
        <p:grpSpPr bwMode="auto">
          <a:xfrm>
            <a:off x="4994293" y="1335875"/>
            <a:ext cx="1320707" cy="1336675"/>
            <a:chOff x="3166" y="1071"/>
            <a:chExt cx="1112" cy="1122"/>
          </a:xfrm>
        </p:grpSpPr>
        <p:grpSp>
          <p:nvGrpSpPr>
            <p:cNvPr id="77" name="Group 123"/>
            <p:cNvGrpSpPr/>
            <p:nvPr/>
          </p:nvGrpSpPr>
          <p:grpSpPr bwMode="auto">
            <a:xfrm>
              <a:off x="3166" y="1071"/>
              <a:ext cx="484" cy="1122"/>
              <a:chOff x="3166" y="1071"/>
              <a:chExt cx="484" cy="1122"/>
            </a:xfrm>
          </p:grpSpPr>
          <p:sp>
            <p:nvSpPr>
              <p:cNvPr id="84" name="Line 50"/>
              <p:cNvSpPr>
                <a:spLocks noChangeShapeType="1"/>
              </p:cNvSpPr>
              <p:nvPr/>
            </p:nvSpPr>
            <p:spPr bwMode="auto">
              <a:xfrm>
                <a:off x="3358" y="1377"/>
                <a:ext cx="144" cy="0"/>
              </a:xfrm>
              <a:prstGeom prst="line">
                <a:avLst/>
              </a:prstGeom>
              <a:noFill/>
              <a:ln w="19050">
                <a:solidFill>
                  <a:srgbClr val="FF3300"/>
                </a:solidFill>
                <a:round/>
              </a:ln>
            </p:spPr>
            <p:txBody>
              <a:bodyPr/>
              <a:lstStyle/>
              <a:p>
                <a:pPr>
                  <a:defRPr/>
                </a:pPr>
                <a:endParaRPr lang="zh-CN" altLang="en-US" sz="1050"/>
              </a:p>
            </p:txBody>
          </p:sp>
          <p:sp>
            <p:nvSpPr>
              <p:cNvPr id="85" name="Line 51"/>
              <p:cNvSpPr>
                <a:spLocks noChangeShapeType="1"/>
              </p:cNvSpPr>
              <p:nvPr/>
            </p:nvSpPr>
            <p:spPr bwMode="auto">
              <a:xfrm>
                <a:off x="3506" y="1071"/>
                <a:ext cx="144" cy="0"/>
              </a:xfrm>
              <a:prstGeom prst="line">
                <a:avLst/>
              </a:prstGeom>
              <a:noFill/>
              <a:ln w="19050">
                <a:solidFill>
                  <a:srgbClr val="FF3300"/>
                </a:solidFill>
                <a:round/>
              </a:ln>
            </p:spPr>
            <p:txBody>
              <a:bodyPr/>
              <a:lstStyle/>
              <a:p>
                <a:pPr>
                  <a:defRPr/>
                </a:pPr>
                <a:endParaRPr lang="zh-CN" altLang="en-US" sz="1050"/>
              </a:p>
            </p:txBody>
          </p:sp>
          <p:sp>
            <p:nvSpPr>
              <p:cNvPr id="86" name="Line 52"/>
              <p:cNvSpPr>
                <a:spLocks noChangeShapeType="1"/>
              </p:cNvSpPr>
              <p:nvPr/>
            </p:nvSpPr>
            <p:spPr bwMode="auto">
              <a:xfrm>
                <a:off x="3502" y="1561"/>
                <a:ext cx="144" cy="0"/>
              </a:xfrm>
              <a:prstGeom prst="line">
                <a:avLst/>
              </a:prstGeom>
              <a:noFill/>
              <a:ln w="19050">
                <a:solidFill>
                  <a:srgbClr val="FF3300"/>
                </a:solidFill>
                <a:round/>
              </a:ln>
            </p:spPr>
            <p:txBody>
              <a:bodyPr/>
              <a:lstStyle/>
              <a:p>
                <a:pPr>
                  <a:defRPr/>
                </a:pPr>
                <a:endParaRPr lang="zh-CN" altLang="en-US" sz="1050"/>
              </a:p>
            </p:txBody>
          </p:sp>
          <p:sp>
            <p:nvSpPr>
              <p:cNvPr id="87" name="Line 53"/>
              <p:cNvSpPr>
                <a:spLocks noChangeShapeType="1"/>
              </p:cNvSpPr>
              <p:nvPr/>
            </p:nvSpPr>
            <p:spPr bwMode="auto">
              <a:xfrm flipV="1">
                <a:off x="3502" y="1071"/>
                <a:ext cx="0" cy="482"/>
              </a:xfrm>
              <a:prstGeom prst="line">
                <a:avLst/>
              </a:prstGeom>
              <a:noFill/>
              <a:ln w="19050">
                <a:solidFill>
                  <a:srgbClr val="FF3300"/>
                </a:solidFill>
                <a:round/>
              </a:ln>
            </p:spPr>
            <p:txBody>
              <a:bodyPr/>
              <a:lstStyle/>
              <a:p>
                <a:pPr>
                  <a:defRPr/>
                </a:pPr>
                <a:endParaRPr lang="zh-CN" altLang="en-US" sz="1050"/>
              </a:p>
            </p:txBody>
          </p:sp>
          <p:sp>
            <p:nvSpPr>
              <p:cNvPr id="88" name="Line 54"/>
              <p:cNvSpPr>
                <a:spLocks noChangeShapeType="1"/>
              </p:cNvSpPr>
              <p:nvPr/>
            </p:nvSpPr>
            <p:spPr bwMode="auto">
              <a:xfrm>
                <a:off x="3166" y="2193"/>
                <a:ext cx="192" cy="0"/>
              </a:xfrm>
              <a:prstGeom prst="line">
                <a:avLst/>
              </a:prstGeom>
              <a:noFill/>
              <a:ln w="19050">
                <a:solidFill>
                  <a:srgbClr val="FF3300"/>
                </a:solidFill>
                <a:round/>
              </a:ln>
            </p:spPr>
            <p:txBody>
              <a:bodyPr/>
              <a:lstStyle/>
              <a:p>
                <a:pPr>
                  <a:defRPr/>
                </a:pPr>
                <a:endParaRPr lang="zh-CN" altLang="en-US" sz="1050"/>
              </a:p>
            </p:txBody>
          </p:sp>
          <p:sp>
            <p:nvSpPr>
              <p:cNvPr id="89" name="Line 55"/>
              <p:cNvSpPr>
                <a:spLocks noChangeShapeType="1"/>
              </p:cNvSpPr>
              <p:nvPr/>
            </p:nvSpPr>
            <p:spPr bwMode="auto">
              <a:xfrm flipV="1">
                <a:off x="3358" y="1377"/>
                <a:ext cx="0" cy="816"/>
              </a:xfrm>
              <a:prstGeom prst="line">
                <a:avLst/>
              </a:prstGeom>
              <a:noFill/>
              <a:ln w="19050">
                <a:solidFill>
                  <a:srgbClr val="FF3300"/>
                </a:solidFill>
                <a:round/>
              </a:ln>
            </p:spPr>
            <p:txBody>
              <a:bodyPr/>
              <a:lstStyle/>
              <a:p>
                <a:pPr>
                  <a:defRPr/>
                </a:pPr>
                <a:endParaRPr lang="zh-CN" altLang="en-US" sz="1050"/>
              </a:p>
            </p:txBody>
          </p:sp>
        </p:grpSp>
        <p:grpSp>
          <p:nvGrpSpPr>
            <p:cNvPr id="78" name="Group 124"/>
            <p:cNvGrpSpPr/>
            <p:nvPr/>
          </p:nvGrpSpPr>
          <p:grpSpPr bwMode="auto">
            <a:xfrm>
              <a:off x="3635" y="1072"/>
              <a:ext cx="643" cy="499"/>
              <a:chOff x="3635" y="1072"/>
              <a:chExt cx="643" cy="499"/>
            </a:xfrm>
          </p:grpSpPr>
          <p:sp>
            <p:nvSpPr>
              <p:cNvPr id="79" name="Text Box 91"/>
              <p:cNvSpPr txBox="1">
                <a:spLocks noChangeArrowheads="1"/>
              </p:cNvSpPr>
              <p:nvPr/>
            </p:nvSpPr>
            <p:spPr bwMode="auto">
              <a:xfrm>
                <a:off x="3648" y="1313"/>
                <a:ext cx="480"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zh-CN" altLang="en-US" sz="1400" b="1" dirty="0">
                    <a:latin typeface="Times New Roman" panose="02020603050405020304" pitchFamily="18" charset="0"/>
                  </a:rPr>
                  <a:t>返回</a:t>
                </a:r>
                <a:endParaRPr kumimoji="1" lang="zh-CN" altLang="en-US" sz="1400" b="1" dirty="0">
                  <a:latin typeface="Times New Roman" panose="02020603050405020304" pitchFamily="18" charset="0"/>
                </a:endParaRPr>
              </a:p>
            </p:txBody>
          </p:sp>
          <p:grpSp>
            <p:nvGrpSpPr>
              <p:cNvPr id="80" name="Group 92"/>
              <p:cNvGrpSpPr/>
              <p:nvPr/>
            </p:nvGrpSpPr>
            <p:grpSpPr bwMode="auto">
              <a:xfrm>
                <a:off x="3635" y="1072"/>
                <a:ext cx="643" cy="293"/>
                <a:chOff x="3747" y="1153"/>
                <a:chExt cx="643" cy="293"/>
              </a:xfrm>
            </p:grpSpPr>
            <p:sp>
              <p:nvSpPr>
                <p:cNvPr id="81" name="Text Box 93"/>
                <p:cNvSpPr txBox="1">
                  <a:spLocks noChangeArrowheads="1"/>
                </p:cNvSpPr>
                <p:nvPr/>
              </p:nvSpPr>
              <p:spPr bwMode="auto">
                <a:xfrm>
                  <a:off x="3747" y="1153"/>
                  <a:ext cx="240"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82" name="Text Box 94"/>
                <p:cNvSpPr txBox="1">
                  <a:spLocks noChangeArrowheads="1"/>
                </p:cNvSpPr>
                <p:nvPr/>
              </p:nvSpPr>
              <p:spPr bwMode="auto">
                <a:xfrm rot="16291683">
                  <a:off x="4128" y="1183"/>
                  <a:ext cx="240" cy="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600" b="1">
                      <a:latin typeface="Times New Roman" panose="02020603050405020304" pitchFamily="18" charset="0"/>
                    </a:rPr>
                    <a:t>&gt;</a:t>
                  </a:r>
                  <a:endParaRPr kumimoji="1" lang="en-US" altLang="zh-CN" sz="1600" b="1">
                    <a:latin typeface="Times New Roman" panose="02020603050405020304" pitchFamily="18" charset="0"/>
                  </a:endParaRPr>
                </a:p>
              </p:txBody>
            </p:sp>
            <p:sp>
              <p:nvSpPr>
                <p:cNvPr id="83" name="Line 95"/>
                <p:cNvSpPr>
                  <a:spLocks noChangeShapeType="1"/>
                </p:cNvSpPr>
                <p:nvPr/>
              </p:nvSpPr>
              <p:spPr bwMode="auto">
                <a:xfrm>
                  <a:off x="3939" y="1297"/>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grpSp>
        <p:nvGrpSpPr>
          <p:cNvPr id="90" name="Group 96"/>
          <p:cNvGrpSpPr/>
          <p:nvPr/>
        </p:nvGrpSpPr>
        <p:grpSpPr bwMode="auto">
          <a:xfrm>
            <a:off x="3947697" y="2747254"/>
            <a:ext cx="1169345" cy="307182"/>
            <a:chOff x="2435" y="2411"/>
            <a:chExt cx="864" cy="258"/>
          </a:xfrm>
        </p:grpSpPr>
        <p:sp>
          <p:nvSpPr>
            <p:cNvPr id="91" name="Text Box 97"/>
            <p:cNvSpPr txBox="1">
              <a:spLocks noChangeArrowheads="1"/>
            </p:cNvSpPr>
            <p:nvPr/>
          </p:nvSpPr>
          <p:spPr bwMode="auto">
            <a:xfrm>
              <a:off x="2435" y="2411"/>
              <a:ext cx="864"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r);</a:t>
              </a:r>
              <a:endParaRPr kumimoji="1" lang="en-US" altLang="zh-CN" sz="1400" b="1" dirty="0">
                <a:latin typeface="Times New Roman" panose="02020603050405020304" pitchFamily="18" charset="0"/>
              </a:endParaRPr>
            </a:p>
          </p:txBody>
        </p:sp>
        <p:sp>
          <p:nvSpPr>
            <p:cNvPr id="92" name="Line 98"/>
            <p:cNvSpPr>
              <a:spLocks noChangeShapeType="1"/>
            </p:cNvSpPr>
            <p:nvPr/>
          </p:nvSpPr>
          <p:spPr bwMode="auto">
            <a:xfrm>
              <a:off x="2832" y="2544"/>
              <a:ext cx="144" cy="0"/>
            </a:xfrm>
            <a:prstGeom prst="line">
              <a:avLst/>
            </a:prstGeom>
            <a:noFill/>
            <a:ln w="9525">
              <a:solidFill>
                <a:schemeClr val="tx1"/>
              </a:solidFill>
              <a:round/>
              <a:tailEnd type="triangle" w="med" len="med"/>
            </a:ln>
          </p:spPr>
          <p:txBody>
            <a:bodyPr/>
            <a:lstStyle/>
            <a:p>
              <a:pPr>
                <a:defRPr/>
              </a:pPr>
              <a:endParaRPr lang="zh-CN" altLang="en-US" sz="1050"/>
            </a:p>
          </p:txBody>
        </p:sp>
      </p:grpSp>
      <p:grpSp>
        <p:nvGrpSpPr>
          <p:cNvPr id="93" name="Group 126"/>
          <p:cNvGrpSpPr/>
          <p:nvPr/>
        </p:nvGrpSpPr>
        <p:grpSpPr bwMode="auto">
          <a:xfrm>
            <a:off x="6501786" y="2266889"/>
            <a:ext cx="1198229" cy="651272"/>
            <a:chOff x="4389" y="1857"/>
            <a:chExt cx="925" cy="547"/>
          </a:xfrm>
        </p:grpSpPr>
        <p:sp>
          <p:nvSpPr>
            <p:cNvPr id="94" name="Text Box 15"/>
            <p:cNvSpPr txBox="1">
              <a:spLocks noChangeArrowheads="1"/>
            </p:cNvSpPr>
            <p:nvPr/>
          </p:nvSpPr>
          <p:spPr bwMode="auto">
            <a:xfrm>
              <a:off x="4687" y="2145"/>
              <a:ext cx="48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zh-CN" altLang="en-US" sz="1400" b="1">
                  <a:latin typeface="Times New Roman" panose="02020603050405020304" pitchFamily="18" charset="0"/>
                </a:rPr>
                <a:t>返回</a:t>
              </a:r>
              <a:endParaRPr kumimoji="1" lang="zh-CN" altLang="en-US" sz="1400" b="1">
                <a:latin typeface="Times New Roman" panose="02020603050405020304" pitchFamily="18" charset="0"/>
              </a:endParaRPr>
            </a:p>
          </p:txBody>
        </p:sp>
        <p:sp>
          <p:nvSpPr>
            <p:cNvPr id="95" name="Line 16"/>
            <p:cNvSpPr>
              <a:spLocks noChangeShapeType="1"/>
            </p:cNvSpPr>
            <p:nvPr/>
          </p:nvSpPr>
          <p:spPr bwMode="auto">
            <a:xfrm>
              <a:off x="4389" y="2337"/>
              <a:ext cx="192" cy="0"/>
            </a:xfrm>
            <a:prstGeom prst="line">
              <a:avLst/>
            </a:prstGeom>
            <a:noFill/>
            <a:ln w="19050">
              <a:solidFill>
                <a:srgbClr val="FF3300"/>
              </a:solidFill>
              <a:round/>
            </a:ln>
          </p:spPr>
          <p:txBody>
            <a:bodyPr/>
            <a:lstStyle/>
            <a:p>
              <a:pPr>
                <a:defRPr/>
              </a:pPr>
              <a:endParaRPr lang="zh-CN" altLang="en-US" sz="1050"/>
            </a:p>
          </p:txBody>
        </p:sp>
        <p:sp>
          <p:nvSpPr>
            <p:cNvPr id="96" name="Line 17"/>
            <p:cNvSpPr>
              <a:spLocks noChangeShapeType="1"/>
            </p:cNvSpPr>
            <p:nvPr/>
          </p:nvSpPr>
          <p:spPr bwMode="auto">
            <a:xfrm>
              <a:off x="4581" y="1857"/>
              <a:ext cx="144" cy="0"/>
            </a:xfrm>
            <a:prstGeom prst="line">
              <a:avLst/>
            </a:prstGeom>
            <a:noFill/>
            <a:ln w="19050">
              <a:solidFill>
                <a:srgbClr val="FF3300"/>
              </a:solidFill>
              <a:round/>
            </a:ln>
          </p:spPr>
          <p:txBody>
            <a:bodyPr/>
            <a:lstStyle/>
            <a:p>
              <a:pPr>
                <a:defRPr/>
              </a:pPr>
              <a:endParaRPr lang="zh-CN" altLang="en-US" sz="1050"/>
            </a:p>
          </p:txBody>
        </p:sp>
        <p:sp>
          <p:nvSpPr>
            <p:cNvPr id="97" name="Line 18"/>
            <p:cNvSpPr>
              <a:spLocks noChangeShapeType="1"/>
            </p:cNvSpPr>
            <p:nvPr/>
          </p:nvSpPr>
          <p:spPr bwMode="auto">
            <a:xfrm>
              <a:off x="4581" y="2385"/>
              <a:ext cx="144" cy="0"/>
            </a:xfrm>
            <a:prstGeom prst="line">
              <a:avLst/>
            </a:prstGeom>
            <a:noFill/>
            <a:ln w="19050">
              <a:solidFill>
                <a:srgbClr val="FF3300"/>
              </a:solidFill>
              <a:round/>
            </a:ln>
          </p:spPr>
          <p:txBody>
            <a:bodyPr/>
            <a:lstStyle/>
            <a:p>
              <a:pPr>
                <a:defRPr/>
              </a:pPr>
              <a:endParaRPr lang="zh-CN" altLang="en-US" sz="1050"/>
            </a:p>
          </p:txBody>
        </p:sp>
        <p:sp>
          <p:nvSpPr>
            <p:cNvPr id="98" name="Line 19"/>
            <p:cNvSpPr>
              <a:spLocks noChangeShapeType="1"/>
            </p:cNvSpPr>
            <p:nvPr/>
          </p:nvSpPr>
          <p:spPr bwMode="auto">
            <a:xfrm flipV="1">
              <a:off x="4581" y="1857"/>
              <a:ext cx="0" cy="528"/>
            </a:xfrm>
            <a:prstGeom prst="line">
              <a:avLst/>
            </a:prstGeom>
            <a:noFill/>
            <a:ln w="19050">
              <a:solidFill>
                <a:srgbClr val="FF3300"/>
              </a:solidFill>
              <a:round/>
            </a:ln>
          </p:spPr>
          <p:txBody>
            <a:bodyPr/>
            <a:lstStyle/>
            <a:p>
              <a:pPr>
                <a:defRPr/>
              </a:pPr>
              <a:endParaRPr lang="zh-CN" altLang="en-US" sz="1050"/>
            </a:p>
          </p:txBody>
        </p:sp>
        <p:grpSp>
          <p:nvGrpSpPr>
            <p:cNvPr id="99" name="Group 99"/>
            <p:cNvGrpSpPr/>
            <p:nvPr/>
          </p:nvGrpSpPr>
          <p:grpSpPr bwMode="auto">
            <a:xfrm>
              <a:off x="4704" y="1857"/>
              <a:ext cx="610" cy="258"/>
              <a:chOff x="4944" y="1968"/>
              <a:chExt cx="610" cy="258"/>
            </a:xfrm>
          </p:grpSpPr>
          <p:sp>
            <p:nvSpPr>
              <p:cNvPr id="100" name="Text Box 100"/>
              <p:cNvSpPr txBox="1">
                <a:spLocks noChangeArrowheads="1"/>
              </p:cNvSpPr>
              <p:nvPr/>
            </p:nvSpPr>
            <p:spPr bwMode="auto">
              <a:xfrm>
                <a:off x="4944" y="1968"/>
                <a:ext cx="240"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101" name="Text Box 101"/>
              <p:cNvSpPr txBox="1">
                <a:spLocks noChangeArrowheads="1"/>
              </p:cNvSpPr>
              <p:nvPr/>
            </p:nvSpPr>
            <p:spPr bwMode="auto">
              <a:xfrm rot="16291683">
                <a:off x="5304" y="1958"/>
                <a:ext cx="240" cy="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600" b="1">
                    <a:latin typeface="Times New Roman" panose="02020603050405020304" pitchFamily="18" charset="0"/>
                  </a:rPr>
                  <a:t>&gt;</a:t>
                </a:r>
                <a:endParaRPr kumimoji="1" lang="en-US" altLang="zh-CN" sz="1600" b="1">
                  <a:latin typeface="Times New Roman" panose="02020603050405020304" pitchFamily="18" charset="0"/>
                </a:endParaRPr>
              </a:p>
            </p:txBody>
          </p:sp>
          <p:sp>
            <p:nvSpPr>
              <p:cNvPr id="102" name="Line 102"/>
              <p:cNvSpPr>
                <a:spLocks noChangeShapeType="1"/>
              </p:cNvSpPr>
              <p:nvPr/>
            </p:nvSpPr>
            <p:spPr bwMode="auto">
              <a:xfrm>
                <a:off x="5136" y="2064"/>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103" name="Group 129"/>
          <p:cNvGrpSpPr/>
          <p:nvPr/>
        </p:nvGrpSpPr>
        <p:grpSpPr bwMode="auto">
          <a:xfrm>
            <a:off x="6519247" y="2982850"/>
            <a:ext cx="1165845" cy="651272"/>
            <a:chOff x="4389" y="2433"/>
            <a:chExt cx="900" cy="547"/>
          </a:xfrm>
        </p:grpSpPr>
        <p:sp>
          <p:nvSpPr>
            <p:cNvPr id="104" name="Text Box 20"/>
            <p:cNvSpPr txBox="1">
              <a:spLocks noChangeArrowheads="1"/>
            </p:cNvSpPr>
            <p:nvPr/>
          </p:nvSpPr>
          <p:spPr bwMode="auto">
            <a:xfrm>
              <a:off x="4687" y="2721"/>
              <a:ext cx="48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zh-CN" altLang="en-US" sz="1400" b="1">
                  <a:latin typeface="Times New Roman" panose="02020603050405020304" pitchFamily="18" charset="0"/>
                </a:rPr>
                <a:t>返回</a:t>
              </a:r>
              <a:endParaRPr kumimoji="1" lang="zh-CN" altLang="en-US" sz="1400" b="1">
                <a:latin typeface="Times New Roman" panose="02020603050405020304" pitchFamily="18" charset="0"/>
              </a:endParaRPr>
            </a:p>
          </p:txBody>
        </p:sp>
        <p:sp>
          <p:nvSpPr>
            <p:cNvPr id="105" name="Line 21"/>
            <p:cNvSpPr>
              <a:spLocks noChangeShapeType="1"/>
            </p:cNvSpPr>
            <p:nvPr/>
          </p:nvSpPr>
          <p:spPr bwMode="auto">
            <a:xfrm>
              <a:off x="4389" y="2577"/>
              <a:ext cx="192" cy="0"/>
            </a:xfrm>
            <a:prstGeom prst="line">
              <a:avLst/>
            </a:prstGeom>
            <a:noFill/>
            <a:ln w="19050">
              <a:solidFill>
                <a:srgbClr val="FF3300"/>
              </a:solidFill>
              <a:round/>
            </a:ln>
          </p:spPr>
          <p:txBody>
            <a:bodyPr/>
            <a:lstStyle/>
            <a:p>
              <a:pPr>
                <a:defRPr/>
              </a:pPr>
              <a:endParaRPr lang="zh-CN" altLang="en-US" sz="1050"/>
            </a:p>
          </p:txBody>
        </p:sp>
        <p:sp>
          <p:nvSpPr>
            <p:cNvPr id="106" name="Line 22"/>
            <p:cNvSpPr>
              <a:spLocks noChangeShapeType="1"/>
            </p:cNvSpPr>
            <p:nvPr/>
          </p:nvSpPr>
          <p:spPr bwMode="auto">
            <a:xfrm>
              <a:off x="4581" y="2433"/>
              <a:ext cx="144" cy="0"/>
            </a:xfrm>
            <a:prstGeom prst="line">
              <a:avLst/>
            </a:prstGeom>
            <a:noFill/>
            <a:ln w="19050">
              <a:solidFill>
                <a:srgbClr val="FF3300"/>
              </a:solidFill>
              <a:round/>
            </a:ln>
          </p:spPr>
          <p:txBody>
            <a:bodyPr/>
            <a:lstStyle/>
            <a:p>
              <a:pPr>
                <a:defRPr/>
              </a:pPr>
              <a:endParaRPr lang="zh-CN" altLang="en-US" sz="1050"/>
            </a:p>
          </p:txBody>
        </p:sp>
        <p:sp>
          <p:nvSpPr>
            <p:cNvPr id="107" name="Line 23"/>
            <p:cNvSpPr>
              <a:spLocks noChangeShapeType="1"/>
            </p:cNvSpPr>
            <p:nvPr/>
          </p:nvSpPr>
          <p:spPr bwMode="auto">
            <a:xfrm>
              <a:off x="4581" y="2961"/>
              <a:ext cx="144" cy="0"/>
            </a:xfrm>
            <a:prstGeom prst="line">
              <a:avLst/>
            </a:prstGeom>
            <a:noFill/>
            <a:ln w="19050">
              <a:solidFill>
                <a:srgbClr val="FF3300"/>
              </a:solidFill>
              <a:round/>
            </a:ln>
          </p:spPr>
          <p:txBody>
            <a:bodyPr/>
            <a:lstStyle/>
            <a:p>
              <a:pPr>
                <a:defRPr/>
              </a:pPr>
              <a:endParaRPr lang="zh-CN" altLang="en-US" sz="1050"/>
            </a:p>
          </p:txBody>
        </p:sp>
        <p:sp>
          <p:nvSpPr>
            <p:cNvPr id="108" name="Line 24"/>
            <p:cNvSpPr>
              <a:spLocks noChangeShapeType="1"/>
            </p:cNvSpPr>
            <p:nvPr/>
          </p:nvSpPr>
          <p:spPr bwMode="auto">
            <a:xfrm flipV="1">
              <a:off x="4581" y="2433"/>
              <a:ext cx="0" cy="528"/>
            </a:xfrm>
            <a:prstGeom prst="line">
              <a:avLst/>
            </a:prstGeom>
            <a:noFill/>
            <a:ln w="19050">
              <a:solidFill>
                <a:srgbClr val="FF3300"/>
              </a:solidFill>
              <a:round/>
            </a:ln>
          </p:spPr>
          <p:txBody>
            <a:bodyPr/>
            <a:lstStyle/>
            <a:p>
              <a:pPr>
                <a:defRPr/>
              </a:pPr>
              <a:endParaRPr lang="zh-CN" altLang="en-US" sz="1050"/>
            </a:p>
          </p:txBody>
        </p:sp>
        <p:grpSp>
          <p:nvGrpSpPr>
            <p:cNvPr id="109" name="Group 103"/>
            <p:cNvGrpSpPr/>
            <p:nvPr/>
          </p:nvGrpSpPr>
          <p:grpSpPr bwMode="auto">
            <a:xfrm>
              <a:off x="4679" y="2433"/>
              <a:ext cx="610" cy="258"/>
              <a:chOff x="4944" y="2544"/>
              <a:chExt cx="610" cy="258"/>
            </a:xfrm>
          </p:grpSpPr>
          <p:sp>
            <p:nvSpPr>
              <p:cNvPr id="110" name="Text Box 104"/>
              <p:cNvSpPr txBox="1">
                <a:spLocks noChangeArrowheads="1"/>
              </p:cNvSpPr>
              <p:nvPr/>
            </p:nvSpPr>
            <p:spPr bwMode="auto">
              <a:xfrm>
                <a:off x="4944" y="2544"/>
                <a:ext cx="240"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111" name="Text Box 105"/>
              <p:cNvSpPr txBox="1">
                <a:spLocks noChangeArrowheads="1"/>
              </p:cNvSpPr>
              <p:nvPr/>
            </p:nvSpPr>
            <p:spPr bwMode="auto">
              <a:xfrm rot="16291683">
                <a:off x="5304" y="2534"/>
                <a:ext cx="240" cy="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600" b="1">
                    <a:latin typeface="Times New Roman" panose="02020603050405020304" pitchFamily="18" charset="0"/>
                  </a:rPr>
                  <a:t>&gt;</a:t>
                </a:r>
                <a:endParaRPr kumimoji="1" lang="en-US" altLang="zh-CN" sz="1600" b="1">
                  <a:latin typeface="Times New Roman" panose="02020603050405020304" pitchFamily="18" charset="0"/>
                </a:endParaRPr>
              </a:p>
            </p:txBody>
          </p:sp>
          <p:sp>
            <p:nvSpPr>
              <p:cNvPr id="112" name="Line 106"/>
              <p:cNvSpPr>
                <a:spLocks noChangeShapeType="1"/>
              </p:cNvSpPr>
              <p:nvPr/>
            </p:nvSpPr>
            <p:spPr bwMode="auto">
              <a:xfrm>
                <a:off x="5136" y="2640"/>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113" name="Group 131"/>
          <p:cNvGrpSpPr/>
          <p:nvPr/>
        </p:nvGrpSpPr>
        <p:grpSpPr bwMode="auto">
          <a:xfrm>
            <a:off x="5034910" y="3499777"/>
            <a:ext cx="1231401" cy="651272"/>
            <a:chOff x="3322" y="2865"/>
            <a:chExt cx="907" cy="547"/>
          </a:xfrm>
        </p:grpSpPr>
        <p:sp>
          <p:nvSpPr>
            <p:cNvPr id="114" name="Text Box 31"/>
            <p:cNvSpPr txBox="1">
              <a:spLocks noChangeArrowheads="1"/>
            </p:cNvSpPr>
            <p:nvPr/>
          </p:nvSpPr>
          <p:spPr bwMode="auto">
            <a:xfrm>
              <a:off x="3617" y="3153"/>
              <a:ext cx="48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zh-CN" altLang="en-US" sz="1400" b="1">
                  <a:latin typeface="Times New Roman" panose="02020603050405020304" pitchFamily="18" charset="0"/>
                </a:rPr>
                <a:t>返回</a:t>
              </a:r>
              <a:endParaRPr kumimoji="1" lang="zh-CN" altLang="en-US" sz="1400" b="1">
                <a:latin typeface="Times New Roman" panose="02020603050405020304" pitchFamily="18" charset="0"/>
              </a:endParaRPr>
            </a:p>
          </p:txBody>
        </p:sp>
        <p:sp>
          <p:nvSpPr>
            <p:cNvPr id="115" name="Line 32"/>
            <p:cNvSpPr>
              <a:spLocks noChangeShapeType="1"/>
            </p:cNvSpPr>
            <p:nvPr/>
          </p:nvSpPr>
          <p:spPr bwMode="auto">
            <a:xfrm>
              <a:off x="3322" y="3345"/>
              <a:ext cx="192" cy="0"/>
            </a:xfrm>
            <a:prstGeom prst="line">
              <a:avLst/>
            </a:prstGeom>
            <a:noFill/>
            <a:ln w="19050">
              <a:solidFill>
                <a:srgbClr val="FF3300"/>
              </a:solidFill>
              <a:round/>
            </a:ln>
          </p:spPr>
          <p:txBody>
            <a:bodyPr/>
            <a:lstStyle/>
            <a:p>
              <a:pPr>
                <a:defRPr/>
              </a:pPr>
              <a:endParaRPr lang="zh-CN" altLang="en-US" sz="1050"/>
            </a:p>
          </p:txBody>
        </p:sp>
        <p:sp>
          <p:nvSpPr>
            <p:cNvPr id="116" name="Line 33"/>
            <p:cNvSpPr>
              <a:spLocks noChangeShapeType="1"/>
            </p:cNvSpPr>
            <p:nvPr/>
          </p:nvSpPr>
          <p:spPr bwMode="auto">
            <a:xfrm>
              <a:off x="3514" y="2865"/>
              <a:ext cx="144" cy="0"/>
            </a:xfrm>
            <a:prstGeom prst="line">
              <a:avLst/>
            </a:prstGeom>
            <a:noFill/>
            <a:ln w="19050">
              <a:solidFill>
                <a:srgbClr val="FF3300"/>
              </a:solidFill>
              <a:round/>
            </a:ln>
          </p:spPr>
          <p:txBody>
            <a:bodyPr/>
            <a:lstStyle/>
            <a:p>
              <a:pPr>
                <a:defRPr/>
              </a:pPr>
              <a:endParaRPr lang="zh-CN" altLang="en-US" sz="1050"/>
            </a:p>
          </p:txBody>
        </p:sp>
        <p:sp>
          <p:nvSpPr>
            <p:cNvPr id="117" name="Line 34"/>
            <p:cNvSpPr>
              <a:spLocks noChangeShapeType="1"/>
            </p:cNvSpPr>
            <p:nvPr/>
          </p:nvSpPr>
          <p:spPr bwMode="auto">
            <a:xfrm>
              <a:off x="3514" y="3393"/>
              <a:ext cx="144" cy="0"/>
            </a:xfrm>
            <a:prstGeom prst="line">
              <a:avLst/>
            </a:prstGeom>
            <a:noFill/>
            <a:ln w="19050">
              <a:solidFill>
                <a:srgbClr val="FF3300"/>
              </a:solidFill>
              <a:round/>
            </a:ln>
          </p:spPr>
          <p:txBody>
            <a:bodyPr/>
            <a:lstStyle/>
            <a:p>
              <a:pPr>
                <a:defRPr/>
              </a:pPr>
              <a:endParaRPr lang="zh-CN" altLang="en-US" sz="1050"/>
            </a:p>
          </p:txBody>
        </p:sp>
        <p:sp>
          <p:nvSpPr>
            <p:cNvPr id="118" name="Line 35"/>
            <p:cNvSpPr>
              <a:spLocks noChangeShapeType="1"/>
            </p:cNvSpPr>
            <p:nvPr/>
          </p:nvSpPr>
          <p:spPr bwMode="auto">
            <a:xfrm flipV="1">
              <a:off x="3514" y="2865"/>
              <a:ext cx="0" cy="528"/>
            </a:xfrm>
            <a:prstGeom prst="line">
              <a:avLst/>
            </a:prstGeom>
            <a:noFill/>
            <a:ln w="19050">
              <a:solidFill>
                <a:srgbClr val="FF3300"/>
              </a:solidFill>
              <a:round/>
            </a:ln>
          </p:spPr>
          <p:txBody>
            <a:bodyPr/>
            <a:lstStyle/>
            <a:p>
              <a:pPr>
                <a:defRPr/>
              </a:pPr>
              <a:endParaRPr lang="zh-CN" altLang="en-US" sz="1050"/>
            </a:p>
          </p:txBody>
        </p:sp>
        <p:grpSp>
          <p:nvGrpSpPr>
            <p:cNvPr id="119" name="Group 107"/>
            <p:cNvGrpSpPr/>
            <p:nvPr/>
          </p:nvGrpSpPr>
          <p:grpSpPr bwMode="auto">
            <a:xfrm>
              <a:off x="3617" y="2865"/>
              <a:ext cx="612" cy="273"/>
              <a:chOff x="3648" y="2976"/>
              <a:chExt cx="612" cy="273"/>
            </a:xfrm>
          </p:grpSpPr>
          <p:sp>
            <p:nvSpPr>
              <p:cNvPr id="120" name="Text Box 108"/>
              <p:cNvSpPr txBox="1">
                <a:spLocks noChangeArrowheads="1"/>
              </p:cNvSpPr>
              <p:nvPr/>
            </p:nvSpPr>
            <p:spPr bwMode="auto">
              <a:xfrm>
                <a:off x="3648" y="2976"/>
                <a:ext cx="240"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121" name="Text Box 109"/>
              <p:cNvSpPr txBox="1">
                <a:spLocks noChangeArrowheads="1"/>
              </p:cNvSpPr>
              <p:nvPr/>
            </p:nvSpPr>
            <p:spPr bwMode="auto">
              <a:xfrm rot="16291683">
                <a:off x="4016" y="3004"/>
                <a:ext cx="240" cy="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600" b="1">
                    <a:latin typeface="Times New Roman" panose="02020603050405020304" pitchFamily="18" charset="0"/>
                  </a:rPr>
                  <a:t>&gt;</a:t>
                </a:r>
                <a:endParaRPr kumimoji="1" lang="en-US" altLang="zh-CN" sz="1600" b="1">
                  <a:latin typeface="Times New Roman" panose="02020603050405020304" pitchFamily="18" charset="0"/>
                </a:endParaRPr>
              </a:p>
            </p:txBody>
          </p:sp>
          <p:sp>
            <p:nvSpPr>
              <p:cNvPr id="122" name="Line 110"/>
              <p:cNvSpPr>
                <a:spLocks noChangeShapeType="1"/>
              </p:cNvSpPr>
              <p:nvPr/>
            </p:nvSpPr>
            <p:spPr bwMode="auto">
              <a:xfrm>
                <a:off x="3840" y="3120"/>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123" name="Group 132"/>
          <p:cNvGrpSpPr/>
          <p:nvPr/>
        </p:nvGrpSpPr>
        <p:grpSpPr bwMode="auto">
          <a:xfrm>
            <a:off x="5028062" y="4162117"/>
            <a:ext cx="1197891" cy="651272"/>
            <a:chOff x="3322" y="3441"/>
            <a:chExt cx="911" cy="547"/>
          </a:xfrm>
        </p:grpSpPr>
        <p:sp>
          <p:nvSpPr>
            <p:cNvPr id="124" name="Text Box 36"/>
            <p:cNvSpPr txBox="1">
              <a:spLocks noChangeArrowheads="1"/>
            </p:cNvSpPr>
            <p:nvPr/>
          </p:nvSpPr>
          <p:spPr bwMode="auto">
            <a:xfrm>
              <a:off x="3617" y="3729"/>
              <a:ext cx="48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zh-CN" altLang="en-US" sz="1400" b="1">
                  <a:latin typeface="Times New Roman" panose="02020603050405020304" pitchFamily="18" charset="0"/>
                </a:rPr>
                <a:t>返回</a:t>
              </a:r>
              <a:endParaRPr kumimoji="1" lang="zh-CN" altLang="en-US" sz="1400" b="1">
                <a:latin typeface="Times New Roman" panose="02020603050405020304" pitchFamily="18" charset="0"/>
              </a:endParaRPr>
            </a:p>
          </p:txBody>
        </p:sp>
        <p:sp>
          <p:nvSpPr>
            <p:cNvPr id="125" name="Line 37"/>
            <p:cNvSpPr>
              <a:spLocks noChangeShapeType="1"/>
            </p:cNvSpPr>
            <p:nvPr/>
          </p:nvSpPr>
          <p:spPr bwMode="auto">
            <a:xfrm>
              <a:off x="3322" y="3585"/>
              <a:ext cx="192" cy="0"/>
            </a:xfrm>
            <a:prstGeom prst="line">
              <a:avLst/>
            </a:prstGeom>
            <a:noFill/>
            <a:ln w="19050">
              <a:solidFill>
                <a:srgbClr val="FF3300"/>
              </a:solidFill>
              <a:round/>
            </a:ln>
          </p:spPr>
          <p:txBody>
            <a:bodyPr/>
            <a:lstStyle/>
            <a:p>
              <a:pPr>
                <a:defRPr/>
              </a:pPr>
              <a:endParaRPr lang="zh-CN" altLang="en-US" sz="1050"/>
            </a:p>
          </p:txBody>
        </p:sp>
        <p:sp>
          <p:nvSpPr>
            <p:cNvPr id="126" name="Line 38"/>
            <p:cNvSpPr>
              <a:spLocks noChangeShapeType="1"/>
            </p:cNvSpPr>
            <p:nvPr/>
          </p:nvSpPr>
          <p:spPr bwMode="auto">
            <a:xfrm>
              <a:off x="3506" y="3441"/>
              <a:ext cx="144" cy="0"/>
            </a:xfrm>
            <a:prstGeom prst="line">
              <a:avLst/>
            </a:prstGeom>
            <a:noFill/>
            <a:ln w="19050">
              <a:solidFill>
                <a:srgbClr val="FF3300"/>
              </a:solidFill>
              <a:round/>
            </a:ln>
          </p:spPr>
          <p:txBody>
            <a:bodyPr/>
            <a:lstStyle/>
            <a:p>
              <a:pPr>
                <a:defRPr/>
              </a:pPr>
              <a:endParaRPr lang="zh-CN" altLang="en-US" sz="1050"/>
            </a:p>
          </p:txBody>
        </p:sp>
        <p:sp>
          <p:nvSpPr>
            <p:cNvPr id="127" name="Line 39"/>
            <p:cNvSpPr>
              <a:spLocks noChangeShapeType="1"/>
            </p:cNvSpPr>
            <p:nvPr/>
          </p:nvSpPr>
          <p:spPr bwMode="auto">
            <a:xfrm>
              <a:off x="3506" y="3969"/>
              <a:ext cx="144" cy="0"/>
            </a:xfrm>
            <a:prstGeom prst="line">
              <a:avLst/>
            </a:prstGeom>
            <a:noFill/>
            <a:ln w="19050">
              <a:solidFill>
                <a:srgbClr val="FF3300"/>
              </a:solidFill>
              <a:round/>
            </a:ln>
          </p:spPr>
          <p:txBody>
            <a:bodyPr/>
            <a:lstStyle/>
            <a:p>
              <a:pPr>
                <a:defRPr/>
              </a:pPr>
              <a:endParaRPr lang="zh-CN" altLang="en-US" sz="1050"/>
            </a:p>
          </p:txBody>
        </p:sp>
        <p:sp>
          <p:nvSpPr>
            <p:cNvPr id="128" name="Line 40"/>
            <p:cNvSpPr>
              <a:spLocks noChangeShapeType="1"/>
            </p:cNvSpPr>
            <p:nvPr/>
          </p:nvSpPr>
          <p:spPr bwMode="auto">
            <a:xfrm flipV="1">
              <a:off x="3506" y="3441"/>
              <a:ext cx="0" cy="528"/>
            </a:xfrm>
            <a:prstGeom prst="line">
              <a:avLst/>
            </a:prstGeom>
            <a:noFill/>
            <a:ln w="19050">
              <a:solidFill>
                <a:srgbClr val="FF3300"/>
              </a:solidFill>
              <a:round/>
            </a:ln>
          </p:spPr>
          <p:txBody>
            <a:bodyPr/>
            <a:lstStyle/>
            <a:p>
              <a:pPr>
                <a:defRPr/>
              </a:pPr>
              <a:endParaRPr lang="zh-CN" altLang="en-US" sz="1050"/>
            </a:p>
          </p:txBody>
        </p:sp>
        <p:grpSp>
          <p:nvGrpSpPr>
            <p:cNvPr id="129" name="Group 111"/>
            <p:cNvGrpSpPr/>
            <p:nvPr/>
          </p:nvGrpSpPr>
          <p:grpSpPr bwMode="auto">
            <a:xfrm>
              <a:off x="3617" y="3441"/>
              <a:ext cx="616" cy="305"/>
              <a:chOff x="3648" y="3552"/>
              <a:chExt cx="616" cy="305"/>
            </a:xfrm>
          </p:grpSpPr>
          <p:sp>
            <p:nvSpPr>
              <p:cNvPr id="130" name="Text Box 112"/>
              <p:cNvSpPr txBox="1">
                <a:spLocks noChangeArrowheads="1"/>
              </p:cNvSpPr>
              <p:nvPr/>
            </p:nvSpPr>
            <p:spPr bwMode="auto">
              <a:xfrm>
                <a:off x="3648" y="3552"/>
                <a:ext cx="240" cy="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a:latin typeface="Times New Roman" panose="02020603050405020304" pitchFamily="18" charset="0"/>
                  </a:rPr>
                  <a:t>T</a:t>
                </a:r>
                <a:endParaRPr kumimoji="1" lang="en-US" altLang="zh-CN" sz="1400" b="1">
                  <a:latin typeface="Times New Roman" panose="02020603050405020304" pitchFamily="18" charset="0"/>
                </a:endParaRPr>
              </a:p>
            </p:txBody>
          </p:sp>
          <p:sp>
            <p:nvSpPr>
              <p:cNvPr id="131" name="Text Box 113"/>
              <p:cNvSpPr txBox="1">
                <a:spLocks noChangeArrowheads="1"/>
              </p:cNvSpPr>
              <p:nvPr/>
            </p:nvSpPr>
            <p:spPr bwMode="auto">
              <a:xfrm rot="16291683">
                <a:off x="4016" y="3608"/>
                <a:ext cx="240" cy="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600" b="1">
                    <a:latin typeface="Times New Roman" panose="02020603050405020304" pitchFamily="18" charset="0"/>
                  </a:rPr>
                  <a:t>&gt;</a:t>
                </a:r>
                <a:endParaRPr kumimoji="1" lang="en-US" altLang="zh-CN" sz="1600" b="1">
                  <a:latin typeface="Times New Roman" panose="02020603050405020304" pitchFamily="18" charset="0"/>
                </a:endParaRPr>
              </a:p>
            </p:txBody>
          </p:sp>
          <p:sp>
            <p:nvSpPr>
              <p:cNvPr id="132" name="Line 114"/>
              <p:cNvSpPr>
                <a:spLocks noChangeShapeType="1"/>
              </p:cNvSpPr>
              <p:nvPr/>
            </p:nvSpPr>
            <p:spPr bwMode="auto">
              <a:xfrm>
                <a:off x="3840" y="3696"/>
                <a:ext cx="192" cy="0"/>
              </a:xfrm>
              <a:prstGeom prst="line">
                <a:avLst/>
              </a:prstGeom>
              <a:noFill/>
              <a:ln w="9525">
                <a:solidFill>
                  <a:schemeClr val="tx1"/>
                </a:solidFill>
                <a:round/>
                <a:tailEnd type="triangle" w="med" len="med"/>
              </a:ln>
            </p:spPr>
            <p:txBody>
              <a:bodyPr/>
              <a:lstStyle/>
              <a:p>
                <a:pPr>
                  <a:defRPr/>
                </a:pPr>
                <a:endParaRPr lang="zh-CN" altLang="en-US" sz="1050"/>
              </a:p>
            </p:txBody>
          </p:sp>
        </p:grpSp>
      </p:grpSp>
      <p:grpSp>
        <p:nvGrpSpPr>
          <p:cNvPr id="133" name="Group 136"/>
          <p:cNvGrpSpPr/>
          <p:nvPr/>
        </p:nvGrpSpPr>
        <p:grpSpPr bwMode="auto">
          <a:xfrm>
            <a:off x="2495417" y="3128851"/>
            <a:ext cx="1112485" cy="307182"/>
            <a:chOff x="1255" y="3397"/>
            <a:chExt cx="864" cy="258"/>
          </a:xfrm>
        </p:grpSpPr>
        <p:sp>
          <p:nvSpPr>
            <p:cNvPr id="134" name="Line 115"/>
            <p:cNvSpPr>
              <a:spLocks noChangeShapeType="1"/>
            </p:cNvSpPr>
            <p:nvPr/>
          </p:nvSpPr>
          <p:spPr bwMode="auto">
            <a:xfrm>
              <a:off x="1696" y="3544"/>
              <a:ext cx="144" cy="0"/>
            </a:xfrm>
            <a:prstGeom prst="line">
              <a:avLst/>
            </a:prstGeom>
            <a:noFill/>
            <a:ln w="9525">
              <a:solidFill>
                <a:schemeClr val="tx1"/>
              </a:solidFill>
              <a:round/>
              <a:tailEnd type="triangle" w="med" len="med"/>
            </a:ln>
          </p:spPr>
          <p:txBody>
            <a:bodyPr wrap="none" anchor="ctr"/>
            <a:lstStyle/>
            <a:p>
              <a:pPr>
                <a:defRPr/>
              </a:pPr>
              <a:endParaRPr lang="zh-CN" altLang="en-US" sz="1050"/>
            </a:p>
          </p:txBody>
        </p:sp>
        <p:grpSp>
          <p:nvGrpSpPr>
            <p:cNvPr id="135" name="Group 116"/>
            <p:cNvGrpSpPr/>
            <p:nvPr/>
          </p:nvGrpSpPr>
          <p:grpSpPr bwMode="auto">
            <a:xfrm>
              <a:off x="1255" y="3397"/>
              <a:ext cx="864" cy="258"/>
              <a:chOff x="1207" y="2677"/>
              <a:chExt cx="864" cy="258"/>
            </a:xfrm>
          </p:grpSpPr>
          <p:sp>
            <p:nvSpPr>
              <p:cNvPr id="136" name="Text Box 117"/>
              <p:cNvSpPr txBox="1">
                <a:spLocks noChangeArrowheads="1"/>
              </p:cNvSpPr>
              <p:nvPr/>
            </p:nvSpPr>
            <p:spPr bwMode="auto">
              <a:xfrm>
                <a:off x="1207" y="2677"/>
                <a:ext cx="864" cy="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kumimoji="1" lang="en-US" altLang="zh-CN" sz="1400" b="1" dirty="0">
                    <a:latin typeface="Times New Roman" panose="02020603050405020304" pitchFamily="18" charset="0"/>
                  </a:rPr>
                  <a:t>Pre(T     </a:t>
                </a:r>
                <a:r>
                  <a:rPr kumimoji="1" lang="en-US" altLang="zh-CN" sz="1400" b="1" dirty="0" smtClean="0">
                    <a:latin typeface="Times New Roman" panose="02020603050405020304" pitchFamily="18" charset="0"/>
                  </a:rPr>
                  <a:t>r);</a:t>
                </a:r>
                <a:endParaRPr kumimoji="1" lang="en-US" altLang="zh-CN" sz="1400" b="1" dirty="0">
                  <a:latin typeface="Times New Roman" panose="02020603050405020304" pitchFamily="18" charset="0"/>
                </a:endParaRPr>
              </a:p>
            </p:txBody>
          </p:sp>
          <p:sp>
            <p:nvSpPr>
              <p:cNvPr id="137" name="Line 118"/>
              <p:cNvSpPr>
                <a:spLocks noChangeShapeType="1"/>
              </p:cNvSpPr>
              <p:nvPr/>
            </p:nvSpPr>
            <p:spPr bwMode="auto">
              <a:xfrm>
                <a:off x="1587" y="2832"/>
                <a:ext cx="144" cy="0"/>
              </a:xfrm>
              <a:prstGeom prst="line">
                <a:avLst/>
              </a:prstGeom>
              <a:noFill/>
              <a:ln w="19050">
                <a:noFill/>
                <a:round/>
                <a:tailEnd type="triangle" w="med" len="med"/>
              </a:ln>
            </p:spPr>
            <p:txBody>
              <a:bodyPr/>
              <a:lstStyle/>
              <a:p>
                <a:pPr>
                  <a:defRPr/>
                </a:pPr>
                <a:endParaRPr lang="zh-CN" altLang="en-US" sz="1050"/>
              </a:p>
            </p:txBody>
          </p:sp>
        </p:grpSp>
      </p:grpSp>
      <p:sp>
        <p:nvSpPr>
          <p:cNvPr id="138" name="Text Box 138"/>
          <p:cNvSpPr txBox="1">
            <a:spLocks noChangeArrowheads="1"/>
          </p:cNvSpPr>
          <p:nvPr/>
        </p:nvSpPr>
        <p:spPr bwMode="auto">
          <a:xfrm>
            <a:off x="1663929" y="4419139"/>
            <a:ext cx="4176713"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300">
                <a:solidFill>
                  <a:schemeClr val="tx1"/>
                </a:solidFill>
                <a:latin typeface="Arial" panose="020B0604020202020204" pitchFamily="34" charset="0"/>
                <a:ea typeface="宋体" panose="02010600030101010101" pitchFamily="2" charset="-122"/>
              </a:defRPr>
            </a:lvl1pPr>
            <a:lvl2pPr marL="742950" indent="-285750">
              <a:defRPr sz="1300">
                <a:solidFill>
                  <a:schemeClr val="tx1"/>
                </a:solidFill>
                <a:latin typeface="Arial" panose="020B0604020202020204" pitchFamily="34" charset="0"/>
                <a:ea typeface="宋体" panose="02010600030101010101" pitchFamily="2" charset="-122"/>
              </a:defRPr>
            </a:lvl2pPr>
            <a:lvl3pPr marL="1143000" indent="-228600">
              <a:defRPr sz="1300">
                <a:solidFill>
                  <a:schemeClr val="tx1"/>
                </a:solidFill>
                <a:latin typeface="Arial" panose="020B0604020202020204" pitchFamily="34" charset="0"/>
                <a:ea typeface="宋体" panose="02010600030101010101" pitchFamily="2" charset="-122"/>
              </a:defRPr>
            </a:lvl3pPr>
            <a:lvl4pPr marL="1600200" indent="-228600">
              <a:defRPr sz="1300">
                <a:solidFill>
                  <a:schemeClr val="tx1"/>
                </a:solidFill>
                <a:latin typeface="Arial" panose="020B0604020202020204" pitchFamily="34" charset="0"/>
                <a:ea typeface="宋体" panose="02010600030101010101" pitchFamily="2" charset="-122"/>
              </a:defRPr>
            </a:lvl4pPr>
            <a:lvl5pPr marL="2057400" indent="-228600">
              <a:defRPr sz="1300">
                <a:solidFill>
                  <a:schemeClr val="tx1"/>
                </a:solidFill>
                <a:latin typeface="Arial" panose="020B0604020202020204" pitchFamily="34" charset="0"/>
                <a:ea typeface="宋体" panose="02010600030101010101" pitchFamily="2"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lang="zh-CN" altLang="en-US" sz="2000" b="1" dirty="0">
                <a:latin typeface="楷体" panose="02010609060101010101" pitchFamily="49" charset="-122"/>
                <a:ea typeface="楷体" panose="02010609060101010101" pitchFamily="49" charset="-122"/>
              </a:rPr>
              <a:t>遍历次序为：</a:t>
            </a:r>
            <a:r>
              <a:rPr lang="en-US" altLang="zh-CN" sz="2000" b="1" dirty="0">
                <a:solidFill>
                  <a:srgbClr val="3333FF"/>
                </a:solidFill>
                <a:latin typeface="黑体" panose="02010609060101010101" pitchFamily="49" charset="-122"/>
                <a:ea typeface="黑体" panose="02010609060101010101" pitchFamily="49" charset="-122"/>
              </a:rPr>
              <a:t>A B D C</a:t>
            </a:r>
            <a:endParaRPr lang="en-US" altLang="zh-CN" sz="2000" b="1" dirty="0">
              <a:solidFill>
                <a:srgbClr val="3333FF"/>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dissolv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dissolve">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dissolve">
                                      <p:cBhvr>
                                        <p:cTn id="22" dur="5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dissolve">
                                      <p:cBhvr>
                                        <p:cTn id="27" dur="500"/>
                                        <p:tgtEl>
                                          <p:spTgt spid="7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90"/>
                                        </p:tgtEl>
                                        <p:attrNameLst>
                                          <p:attrName>style.visibility</p:attrName>
                                        </p:attrNameLst>
                                      </p:cBhvr>
                                      <p:to>
                                        <p:strVal val="visible"/>
                                      </p:to>
                                    </p:set>
                                    <p:animEffect transition="in" filter="dissolve">
                                      <p:cBhvr>
                                        <p:cTn id="32" dur="500"/>
                                        <p:tgtEl>
                                          <p:spTgt spid="9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dissolve">
                                      <p:cBhvr>
                                        <p:cTn id="37" dur="5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93"/>
                                        </p:tgtEl>
                                        <p:attrNameLst>
                                          <p:attrName>style.visibility</p:attrName>
                                        </p:attrNameLst>
                                      </p:cBhvr>
                                      <p:to>
                                        <p:strVal val="visible"/>
                                      </p:to>
                                    </p:set>
                                    <p:animEffect transition="in" filter="dissolve">
                                      <p:cBhvr>
                                        <p:cTn id="42" dur="500"/>
                                        <p:tgtEl>
                                          <p:spTgt spid="93"/>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dissolve">
                                      <p:cBhvr>
                                        <p:cTn id="47" dur="500"/>
                                        <p:tgtEl>
                                          <p:spTgt spid="21"/>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nodeType="clickEffect">
                                  <p:stCondLst>
                                    <p:cond delay="0"/>
                                  </p:stCondLst>
                                  <p:childTnLst>
                                    <p:set>
                                      <p:cBhvr>
                                        <p:cTn id="51" dur="1" fill="hold">
                                          <p:stCondLst>
                                            <p:cond delay="0"/>
                                          </p:stCondLst>
                                        </p:cTn>
                                        <p:tgtEl>
                                          <p:spTgt spid="103"/>
                                        </p:tgtEl>
                                        <p:attrNameLst>
                                          <p:attrName>style.visibility</p:attrName>
                                        </p:attrNameLst>
                                      </p:cBhvr>
                                      <p:to>
                                        <p:strVal val="visible"/>
                                      </p:to>
                                    </p:set>
                                    <p:animEffect transition="in" filter="dissolve">
                                      <p:cBhvr>
                                        <p:cTn id="52" dur="500"/>
                                        <p:tgtEl>
                                          <p:spTgt spid="103"/>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nodeType="clickEffect">
                                  <p:stCondLst>
                                    <p:cond delay="0"/>
                                  </p:stCondLst>
                                  <p:childTnLst>
                                    <p:set>
                                      <p:cBhvr>
                                        <p:cTn id="56" dur="1" fill="hold">
                                          <p:stCondLst>
                                            <p:cond delay="0"/>
                                          </p:stCondLst>
                                        </p:cTn>
                                        <p:tgtEl>
                                          <p:spTgt spid="133"/>
                                        </p:tgtEl>
                                        <p:attrNameLst>
                                          <p:attrName>style.visibility</p:attrName>
                                        </p:attrNameLst>
                                      </p:cBhvr>
                                      <p:to>
                                        <p:strVal val="visible"/>
                                      </p:to>
                                    </p:set>
                                    <p:animEffect transition="in" filter="dissolve">
                                      <p:cBhvr>
                                        <p:cTn id="57" dur="500"/>
                                        <p:tgtEl>
                                          <p:spTgt spid="133"/>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nodeType="clickEffect">
                                  <p:stCondLst>
                                    <p:cond delay="0"/>
                                  </p:stCondLst>
                                  <p:childTnLst>
                                    <p:set>
                                      <p:cBhvr>
                                        <p:cTn id="61" dur="1" fill="hold">
                                          <p:stCondLst>
                                            <p:cond delay="0"/>
                                          </p:stCondLst>
                                        </p:cTn>
                                        <p:tgtEl>
                                          <p:spTgt spid="51"/>
                                        </p:tgtEl>
                                        <p:attrNameLst>
                                          <p:attrName>style.visibility</p:attrName>
                                        </p:attrNameLst>
                                      </p:cBhvr>
                                      <p:to>
                                        <p:strVal val="visible"/>
                                      </p:to>
                                    </p:set>
                                    <p:animEffect transition="in" filter="dissolve">
                                      <p:cBhvr>
                                        <p:cTn id="62" dur="500"/>
                                        <p:tgtEl>
                                          <p:spTgt spid="51"/>
                                        </p:tgtEl>
                                      </p:cBhvr>
                                    </p:animEffect>
                                  </p:childTnLst>
                                </p:cTn>
                              </p:par>
                            </p:childTnLst>
                          </p:cTn>
                        </p:par>
                      </p:childTnLst>
                    </p:cTn>
                  </p:par>
                  <p:par>
                    <p:cTn id="63" fill="hold">
                      <p:stCondLst>
                        <p:cond delay="indefinite"/>
                      </p:stCondLst>
                      <p:childTnLst>
                        <p:par>
                          <p:cTn id="64" fill="hold">
                            <p:stCondLst>
                              <p:cond delay="0"/>
                            </p:stCondLst>
                            <p:childTnLst>
                              <p:par>
                                <p:cTn id="65" presetID="9" presetClass="entr" presetSubtype="0" fill="hold" nodeType="clickEffect">
                                  <p:stCondLst>
                                    <p:cond delay="0"/>
                                  </p:stCondLst>
                                  <p:childTnLst>
                                    <p:set>
                                      <p:cBhvr>
                                        <p:cTn id="66" dur="1" fill="hold">
                                          <p:stCondLst>
                                            <p:cond delay="0"/>
                                          </p:stCondLst>
                                        </p:cTn>
                                        <p:tgtEl>
                                          <p:spTgt spid="113"/>
                                        </p:tgtEl>
                                        <p:attrNameLst>
                                          <p:attrName>style.visibility</p:attrName>
                                        </p:attrNameLst>
                                      </p:cBhvr>
                                      <p:to>
                                        <p:strVal val="visible"/>
                                      </p:to>
                                    </p:set>
                                    <p:animEffect transition="in" filter="dissolve">
                                      <p:cBhvr>
                                        <p:cTn id="67" dur="500"/>
                                        <p:tgtEl>
                                          <p:spTgt spid="113"/>
                                        </p:tgtEl>
                                      </p:cBhvr>
                                    </p:animEffect>
                                  </p:childTnLst>
                                </p:cTn>
                              </p:par>
                            </p:childTnLst>
                          </p:cTn>
                        </p:par>
                      </p:childTnLst>
                    </p:cTn>
                  </p:par>
                  <p:par>
                    <p:cTn id="68" fill="hold">
                      <p:stCondLst>
                        <p:cond delay="indefinite"/>
                      </p:stCondLst>
                      <p:childTnLst>
                        <p:par>
                          <p:cTn id="69" fill="hold">
                            <p:stCondLst>
                              <p:cond delay="0"/>
                            </p:stCondLst>
                            <p:childTnLst>
                              <p:par>
                                <p:cTn id="70" presetID="9" presetClass="entr" presetSubtype="0" fill="hold"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dissolve">
                                      <p:cBhvr>
                                        <p:cTn id="72" dur="500"/>
                                        <p:tgtEl>
                                          <p:spTgt spid="18"/>
                                        </p:tgtEl>
                                      </p:cBhvr>
                                    </p:animEffect>
                                  </p:childTnLst>
                                </p:cTn>
                              </p:par>
                            </p:childTnLst>
                          </p:cTn>
                        </p:par>
                      </p:childTnLst>
                    </p:cTn>
                  </p:par>
                  <p:par>
                    <p:cTn id="73" fill="hold">
                      <p:stCondLst>
                        <p:cond delay="indefinite"/>
                      </p:stCondLst>
                      <p:childTnLst>
                        <p:par>
                          <p:cTn id="74" fill="hold">
                            <p:stCondLst>
                              <p:cond delay="0"/>
                            </p:stCondLst>
                            <p:childTnLst>
                              <p:par>
                                <p:cTn id="75" presetID="9" presetClass="entr" presetSubtype="0" fill="hold" nodeType="clickEffect">
                                  <p:stCondLst>
                                    <p:cond delay="0"/>
                                  </p:stCondLst>
                                  <p:childTnLst>
                                    <p:set>
                                      <p:cBhvr>
                                        <p:cTn id="76" dur="1" fill="hold">
                                          <p:stCondLst>
                                            <p:cond delay="0"/>
                                          </p:stCondLst>
                                        </p:cTn>
                                        <p:tgtEl>
                                          <p:spTgt spid="123"/>
                                        </p:tgtEl>
                                        <p:attrNameLst>
                                          <p:attrName>style.visibility</p:attrName>
                                        </p:attrNameLst>
                                      </p:cBhvr>
                                      <p:to>
                                        <p:strVal val="visible"/>
                                      </p:to>
                                    </p:set>
                                    <p:animEffect transition="in" filter="dissolve">
                                      <p:cBhvr>
                                        <p:cTn id="77" dur="500"/>
                                        <p:tgtEl>
                                          <p:spTgt spid="123"/>
                                        </p:tgtEl>
                                      </p:cBhvr>
                                    </p:animEffect>
                                  </p:childTnLst>
                                </p:cTn>
                              </p:par>
                            </p:childTnLst>
                          </p:cTn>
                        </p:par>
                      </p:childTnLst>
                    </p:cTn>
                  </p:par>
                  <p:par>
                    <p:cTn id="78" fill="hold">
                      <p:stCondLst>
                        <p:cond delay="indefinite"/>
                      </p:stCondLst>
                      <p:childTnLst>
                        <p:par>
                          <p:cTn id="79" fill="hold">
                            <p:stCondLst>
                              <p:cond delay="0"/>
                            </p:stCondLst>
                            <p:childTnLst>
                              <p:par>
                                <p:cTn id="80" presetID="9" presetClass="entr" presetSubtype="0" fill="hold" nodeType="click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dissolve">
                                      <p:cBhvr>
                                        <p:cTn id="82" dur="500"/>
                                        <p:tgtEl>
                                          <p:spTgt spid="1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138"/>
                                        </p:tgtEl>
                                        <p:attrNameLst>
                                          <p:attrName>style.visibility</p:attrName>
                                        </p:attrNameLst>
                                      </p:cBhvr>
                                      <p:to>
                                        <p:strVal val="visible"/>
                                      </p:to>
                                    </p:set>
                                    <p:animEffect transition="in" filter="fade">
                                      <p:cBhvr>
                                        <p:cTn id="87" dur="2000"/>
                                        <p:tgtEl>
                                          <p:spTgt spid="1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utoUpdateAnimBg="0"/>
      <p:bldP spid="13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作业：</a:t>
            </a:r>
            <a:r>
              <a:rPr lang="zh-CN" altLang="en-US" sz="2400" dirty="0">
                <a:latin typeface="华文楷体" panose="02010600040101010101" pitchFamily="2" charset="-122"/>
              </a:rPr>
              <a:t>写出二叉树三种遍历的访问序列 </a:t>
            </a:r>
            <a:endParaRPr lang="zh-CN" altLang="en-US" sz="2400" dirty="0">
              <a:latin typeface="华文楷体" panose="02010600040101010101" pitchFamily="2" charset="-122"/>
            </a:endParaRPr>
          </a:p>
          <a:p>
            <a:endParaRPr lang="en-US" altLang="zh-CN" dirty="0"/>
          </a:p>
          <a:p>
            <a:endParaRPr lang="en-US" altLang="zh-CN" dirty="0"/>
          </a:p>
          <a:p>
            <a:endParaRPr lang="en-US" altLang="zh-CN" dirty="0"/>
          </a:p>
          <a:p>
            <a:endParaRPr lang="en-US" altLang="zh-CN"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31" name="Object 1024"/>
          <p:cNvGraphicFramePr>
            <a:graphicFrameLocks noChangeAspect="1"/>
          </p:cNvGraphicFramePr>
          <p:nvPr/>
        </p:nvGraphicFramePr>
        <p:xfrm>
          <a:off x="211506" y="1314417"/>
          <a:ext cx="3434080" cy="2419985"/>
        </p:xfrm>
        <a:graphic>
          <a:graphicData uri="http://schemas.openxmlformats.org/presentationml/2006/ole">
            <mc:AlternateContent xmlns:mc="http://schemas.openxmlformats.org/markup-compatibility/2006">
              <mc:Choice xmlns:v="urn:schemas-microsoft-com:vml" Requires="v">
                <p:oleObj spid="_x0000_s14391" name="" r:id="rId1" imgW="1546860" imgH="1089660" progId="Visio.Drawing.11">
                  <p:embed/>
                </p:oleObj>
              </mc:Choice>
              <mc:Fallback>
                <p:oleObj name="" r:id="rId1" imgW="1546860" imgH="1089660" progId="Visio.Drawing.11">
                  <p:embed/>
                  <p:pic>
                    <p:nvPicPr>
                      <p:cNvPr id="0" name="Object 1024"/>
                      <p:cNvPicPr>
                        <a:picLocks noChangeAspect="1" noChangeArrowheads="1"/>
                      </p:cNvPicPr>
                      <p:nvPr/>
                    </p:nvPicPr>
                    <p:blipFill>
                      <a:blip r:embed="rId2"/>
                      <a:srcRect/>
                      <a:stretch>
                        <a:fillRect/>
                      </a:stretch>
                    </p:blipFill>
                    <p:spPr bwMode="auto">
                      <a:xfrm>
                        <a:off x="211506" y="1314417"/>
                        <a:ext cx="3434080" cy="2419985"/>
                      </a:xfrm>
                      <a:prstGeom prst="rect">
                        <a:avLst/>
                      </a:prstGeom>
                      <a:noFill/>
                      <a:ln>
                        <a:noFill/>
                      </a:ln>
                    </p:spPr>
                  </p:pic>
                </p:oleObj>
              </mc:Fallback>
            </mc:AlternateContent>
          </a:graphicData>
        </a:graphic>
      </p:graphicFrame>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dirty="0"/>
              <a:t>例如用二叉树表示（</a:t>
            </a:r>
            <a:r>
              <a:rPr lang="en-US" altLang="zh-CN" dirty="0" err="1"/>
              <a:t>a+b</a:t>
            </a:r>
            <a:r>
              <a:rPr lang="en-US" altLang="zh-CN" dirty="0"/>
              <a:t>*c</a:t>
            </a:r>
            <a:r>
              <a:rPr lang="zh-CN" altLang="en-US" dirty="0"/>
              <a:t>）</a:t>
            </a:r>
            <a:r>
              <a:rPr lang="en-US" altLang="zh-CN" dirty="0"/>
              <a:t>-d/e  </a:t>
            </a:r>
            <a:endParaRPr lang="zh-CN" altLang="en-US" dirty="0"/>
          </a:p>
          <a:p>
            <a:endParaRPr lang="en-US" altLang="zh-CN" dirty="0"/>
          </a:p>
          <a:p>
            <a:endParaRPr lang="en-US" altLang="zh-CN" sz="2100" dirty="0">
              <a:solidFill>
                <a:srgbClr val="00194C"/>
              </a:solidFill>
              <a:latin typeface="华文楷体" panose="02010600040101010101" pitchFamily="2" charset="-122"/>
              <a:ea typeface="华文楷体" panose="02010600040101010101" pitchFamily="2" charset="-122"/>
            </a:endParaRPr>
          </a:p>
          <a:p>
            <a:endParaRPr lang="en-US" altLang="zh-CN" dirty="0"/>
          </a:p>
          <a:p>
            <a:endParaRPr lang="en-US" altLang="zh-CN"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5" name="Object 0"/>
          <p:cNvGraphicFramePr>
            <a:graphicFrameLocks noChangeAspect="1"/>
          </p:cNvGraphicFramePr>
          <p:nvPr/>
        </p:nvGraphicFramePr>
        <p:xfrm>
          <a:off x="278143" y="1286274"/>
          <a:ext cx="2608446" cy="2391496"/>
        </p:xfrm>
        <a:graphic>
          <a:graphicData uri="http://schemas.openxmlformats.org/presentationml/2006/ole">
            <mc:AlternateContent xmlns:mc="http://schemas.openxmlformats.org/markup-compatibility/2006">
              <mc:Choice xmlns:v="urn:schemas-microsoft-com:vml" Requires="v">
                <p:oleObj spid="_x0000_s19497" name="" r:id="rId1" imgW="1546860" imgH="1089660" progId="Visio.Drawing.4">
                  <p:embed/>
                </p:oleObj>
              </mc:Choice>
              <mc:Fallback>
                <p:oleObj name="" r:id="rId1" imgW="1546860" imgH="1089660" progId="Visio.Drawing.4">
                  <p:embed/>
                  <p:pic>
                    <p:nvPicPr>
                      <p:cNvPr id="0" name="Object 0"/>
                      <p:cNvPicPr>
                        <a:picLocks noChangeAspect="1" noChangeArrowheads="1"/>
                      </p:cNvPicPr>
                      <p:nvPr/>
                    </p:nvPicPr>
                    <p:blipFill>
                      <a:blip r:embed="rId2">
                        <a:extLst>
                          <a:ext uri="{28A0092B-C50C-407E-A947-70E740481C1C}">
                            <a14:useLocalDpi xmlns:a14="http://schemas.microsoft.com/office/drawing/2010/main" val="0"/>
                          </a:ext>
                        </a:extLst>
                      </a:blip>
                      <a:srcRect l="10803" r="12262"/>
                      <a:stretch>
                        <a:fillRect/>
                      </a:stretch>
                    </p:blipFill>
                    <p:spPr bwMode="auto">
                      <a:xfrm>
                        <a:off x="278143" y="1286274"/>
                        <a:ext cx="2608446" cy="2391496"/>
                      </a:xfrm>
                      <a:prstGeom prst="rect">
                        <a:avLst/>
                      </a:prstGeom>
                      <a:noFill/>
                      <a:ln>
                        <a:noFill/>
                      </a:ln>
                      <a:effectLst/>
                    </p:spPr>
                  </p:pic>
                </p:oleObj>
              </mc:Fallback>
            </mc:AlternateContent>
          </a:graphicData>
        </a:graphic>
      </p:graphicFrame>
      <p:sp>
        <p:nvSpPr>
          <p:cNvPr id="4" name="矩形 3"/>
          <p:cNvSpPr/>
          <p:nvPr/>
        </p:nvSpPr>
        <p:spPr>
          <a:xfrm>
            <a:off x="2886589" y="1286274"/>
            <a:ext cx="3569557" cy="2751522"/>
          </a:xfrm>
          <a:prstGeom prst="rect">
            <a:avLst/>
          </a:prstGeom>
        </p:spPr>
        <p:txBody>
          <a:bodyPr wrap="square">
            <a:spAutoFit/>
          </a:bodyPr>
          <a:lstStyle/>
          <a:p>
            <a:pPr algn="just">
              <a:lnSpc>
                <a:spcPct val="135000"/>
              </a:lnSpc>
              <a:spcBef>
                <a:spcPct val="50000"/>
              </a:spcBef>
            </a:pPr>
            <a:r>
              <a:rPr lang="zh-CN" altLang="en-US" sz="1800" b="1" dirty="0">
                <a:solidFill>
                  <a:srgbClr val="00194C"/>
                </a:solidFill>
                <a:latin typeface="华文楷体" panose="02010600040101010101" pitchFamily="2" charset="-122"/>
                <a:ea typeface="华文楷体" panose="02010600040101010101" pitchFamily="2" charset="-122"/>
              </a:rPr>
              <a:t>对二叉树进行先序、中序、后序遍历时，便可获得表达式的前缀、中缀、后缀书写形式： </a:t>
            </a:r>
            <a:endParaRPr lang="zh-CN" altLang="en-US" sz="1800" b="1" dirty="0">
              <a:solidFill>
                <a:srgbClr val="00194C"/>
              </a:solidFill>
              <a:latin typeface="华文楷体" panose="02010600040101010101" pitchFamily="2" charset="-122"/>
              <a:ea typeface="华文楷体" panose="02010600040101010101" pitchFamily="2" charset="-122"/>
            </a:endParaRPr>
          </a:p>
          <a:p>
            <a:pPr algn="just">
              <a:lnSpc>
                <a:spcPct val="135000"/>
              </a:lnSpc>
              <a:spcBef>
                <a:spcPct val="50000"/>
              </a:spcBef>
            </a:pPr>
            <a:r>
              <a:rPr lang="zh-CN" altLang="en-US" sz="1800" b="1" dirty="0">
                <a:solidFill>
                  <a:srgbClr val="FF0000"/>
                </a:solidFill>
                <a:latin typeface="华文楷体" panose="02010600040101010101" pitchFamily="2" charset="-122"/>
                <a:ea typeface="华文楷体" panose="02010600040101010101" pitchFamily="2" charset="-122"/>
              </a:rPr>
              <a:t>前缀： </a:t>
            </a:r>
            <a:r>
              <a:rPr lang="en-US" altLang="zh-CN" sz="1800" b="1" dirty="0">
                <a:solidFill>
                  <a:srgbClr val="FF0000"/>
                </a:solidFill>
                <a:latin typeface="华文楷体" panose="02010600040101010101" pitchFamily="2" charset="-122"/>
                <a:ea typeface="华文楷体" panose="02010600040101010101" pitchFamily="2" charset="-122"/>
              </a:rPr>
              <a:t>-+a*</a:t>
            </a:r>
            <a:r>
              <a:rPr lang="en-US" altLang="zh-CN" sz="1800" b="1" dirty="0" err="1">
                <a:solidFill>
                  <a:srgbClr val="FF0000"/>
                </a:solidFill>
                <a:latin typeface="华文楷体" panose="02010600040101010101" pitchFamily="2" charset="-122"/>
                <a:ea typeface="华文楷体" panose="02010600040101010101" pitchFamily="2" charset="-122"/>
              </a:rPr>
              <a:t>bc</a:t>
            </a:r>
            <a:r>
              <a:rPr lang="en-US" altLang="zh-CN" sz="1800" b="1" dirty="0">
                <a:solidFill>
                  <a:srgbClr val="FF0000"/>
                </a:solidFill>
                <a:latin typeface="华文楷体" panose="02010600040101010101" pitchFamily="2" charset="-122"/>
                <a:ea typeface="华文楷体" panose="02010600040101010101" pitchFamily="2" charset="-122"/>
              </a:rPr>
              <a:t>/de</a:t>
            </a:r>
            <a:r>
              <a:rPr lang="zh-CN" altLang="en-US" sz="1800" b="1" dirty="0">
                <a:solidFill>
                  <a:srgbClr val="FF0000"/>
                </a:solidFill>
                <a:latin typeface="华文楷体" panose="02010600040101010101" pitchFamily="2" charset="-122"/>
                <a:ea typeface="华文楷体" panose="02010600040101010101" pitchFamily="2" charset="-122"/>
              </a:rPr>
              <a:t>（波兰表达式）</a:t>
            </a:r>
            <a:endParaRPr lang="zh-CN" altLang="en-US" sz="1800" b="1" dirty="0">
              <a:solidFill>
                <a:srgbClr val="FF0000"/>
              </a:solidFill>
              <a:latin typeface="华文楷体" panose="02010600040101010101" pitchFamily="2" charset="-122"/>
              <a:ea typeface="华文楷体" panose="02010600040101010101" pitchFamily="2" charset="-122"/>
            </a:endParaRPr>
          </a:p>
          <a:p>
            <a:pPr algn="just">
              <a:lnSpc>
                <a:spcPct val="135000"/>
              </a:lnSpc>
              <a:spcBef>
                <a:spcPct val="50000"/>
              </a:spcBef>
            </a:pPr>
            <a:r>
              <a:rPr lang="zh-CN" altLang="en-US" sz="1800" b="1" dirty="0">
                <a:solidFill>
                  <a:srgbClr val="FF0000"/>
                </a:solidFill>
                <a:latin typeface="华文楷体" panose="02010600040101010101" pitchFamily="2" charset="-122"/>
                <a:ea typeface="华文楷体" panose="02010600040101010101" pitchFamily="2" charset="-122"/>
              </a:rPr>
              <a:t>中缀： </a:t>
            </a:r>
            <a:r>
              <a:rPr lang="en-US" altLang="zh-CN" sz="1800" b="1" dirty="0" err="1">
                <a:solidFill>
                  <a:srgbClr val="FF0000"/>
                </a:solidFill>
                <a:latin typeface="华文楷体" panose="02010600040101010101" pitchFamily="2" charset="-122"/>
                <a:ea typeface="华文楷体" panose="02010600040101010101" pitchFamily="2" charset="-122"/>
              </a:rPr>
              <a:t>a+b</a:t>
            </a:r>
            <a:r>
              <a:rPr lang="en-US" altLang="zh-CN" sz="1800" b="1" dirty="0">
                <a:solidFill>
                  <a:srgbClr val="FF0000"/>
                </a:solidFill>
                <a:latin typeface="华文楷体" panose="02010600040101010101" pitchFamily="2" charset="-122"/>
                <a:ea typeface="华文楷体" panose="02010600040101010101" pitchFamily="2" charset="-122"/>
              </a:rPr>
              <a:t>*c-d/e </a:t>
            </a:r>
            <a:endParaRPr lang="en-US" altLang="zh-CN" sz="1800" b="1" dirty="0">
              <a:solidFill>
                <a:srgbClr val="FF0000"/>
              </a:solidFill>
              <a:latin typeface="华文楷体" panose="02010600040101010101" pitchFamily="2" charset="-122"/>
              <a:ea typeface="华文楷体" panose="02010600040101010101" pitchFamily="2" charset="-122"/>
            </a:endParaRPr>
          </a:p>
          <a:p>
            <a:pPr algn="just">
              <a:lnSpc>
                <a:spcPct val="135000"/>
              </a:lnSpc>
              <a:spcBef>
                <a:spcPct val="50000"/>
              </a:spcBef>
            </a:pPr>
            <a:r>
              <a:rPr lang="zh-CN" altLang="en-US" sz="1800" b="1" dirty="0">
                <a:solidFill>
                  <a:srgbClr val="FF0000"/>
                </a:solidFill>
                <a:latin typeface="华文楷体" panose="02010600040101010101" pitchFamily="2" charset="-122"/>
                <a:ea typeface="华文楷体" panose="02010600040101010101" pitchFamily="2" charset="-122"/>
              </a:rPr>
              <a:t>后缀： </a:t>
            </a:r>
            <a:r>
              <a:rPr lang="en-US" altLang="zh-CN" sz="1800" b="1" dirty="0" err="1">
                <a:solidFill>
                  <a:srgbClr val="FF0000"/>
                </a:solidFill>
                <a:latin typeface="华文楷体" panose="02010600040101010101" pitchFamily="2" charset="-122"/>
                <a:ea typeface="华文楷体" panose="02010600040101010101" pitchFamily="2" charset="-122"/>
              </a:rPr>
              <a:t>abc</a:t>
            </a:r>
            <a:r>
              <a:rPr lang="en-US" altLang="zh-CN" sz="1800" b="1" dirty="0">
                <a:solidFill>
                  <a:srgbClr val="FF0000"/>
                </a:solidFill>
                <a:latin typeface="华文楷体" panose="02010600040101010101" pitchFamily="2" charset="-122"/>
                <a:ea typeface="华文楷体" panose="02010600040101010101" pitchFamily="2" charset="-122"/>
              </a:rPr>
              <a:t>*+de/-</a:t>
            </a:r>
            <a:r>
              <a:rPr lang="zh-CN" altLang="en-US" sz="1800" b="1" dirty="0">
                <a:solidFill>
                  <a:srgbClr val="FF0000"/>
                </a:solidFill>
                <a:latin typeface="华文楷体" panose="02010600040101010101" pitchFamily="2" charset="-122"/>
                <a:ea typeface="华文楷体" panose="02010600040101010101" pitchFamily="2" charset="-122"/>
              </a:rPr>
              <a:t>（逆波兰表达式）</a:t>
            </a:r>
            <a:endParaRPr lang="zh-CN" altLang="en-US" sz="1800" b="1" dirty="0">
              <a:solidFill>
                <a:srgbClr val="FF0000"/>
              </a:solidFill>
              <a:latin typeface="华文楷体" panose="02010600040101010101" pitchFamily="2" charset="-122"/>
              <a:ea typeface="华文楷体" panose="02010600040101010101" pitchFamily="2" charset="-122"/>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中序遍历非递归算法：</a:t>
            </a:r>
            <a:r>
              <a:rPr lang="zh-CN" altLang="en-US" dirty="0">
                <a:solidFill>
                  <a:srgbClr val="FF0000"/>
                </a:solidFill>
              </a:rPr>
              <a:t>基于栈的递归消除 </a:t>
            </a:r>
            <a:endParaRPr lang="en-US" altLang="zh-CN" dirty="0">
              <a:solidFill>
                <a:srgbClr val="FF0000"/>
              </a:solidFill>
            </a:endParaRPr>
          </a:p>
          <a:p>
            <a:pPr lvl="2"/>
            <a:r>
              <a:rPr lang="zh-CN" altLang="en-US" sz="2000" dirty="0"/>
              <a:t>依</a:t>
            </a:r>
            <a:r>
              <a:rPr lang="zh-CN" altLang="en-US" sz="2000" dirty="0">
                <a:solidFill>
                  <a:srgbClr val="FF0000"/>
                </a:solidFill>
              </a:rPr>
              <a:t>栈</a:t>
            </a:r>
            <a:r>
              <a:rPr lang="zh-CN" altLang="en-US" sz="2000" dirty="0"/>
              <a:t>的状态变化，可直接写出相应的非递归算法，栈元素包含指向根结点的指针。</a:t>
            </a:r>
            <a:endParaRPr lang="en-US" altLang="zh-CN" sz="2000" dirty="0"/>
          </a:p>
          <a:p>
            <a:pPr lvl="2"/>
            <a:r>
              <a:rPr lang="zh-CN" altLang="en-US" sz="1800" dirty="0"/>
              <a:t>非递归操作：</a:t>
            </a:r>
            <a:endParaRPr lang="zh-CN" altLang="en-US" sz="1800" dirty="0"/>
          </a:p>
          <a:p>
            <a:pPr marL="478155" lvl="2" indent="-342900">
              <a:buFont typeface="Wingdings" panose="05000000000000000000" pitchFamily="2" charset="2"/>
              <a:buChar char="Ø"/>
            </a:pPr>
            <a:r>
              <a:rPr lang="zh-CN" altLang="en-US" sz="1800" dirty="0"/>
              <a:t>遇到一个结点，就把它压栈，并去遍历它的左子树； </a:t>
            </a:r>
            <a:endParaRPr lang="zh-CN" altLang="en-US" sz="1800" dirty="0"/>
          </a:p>
          <a:p>
            <a:pPr marL="478155" lvl="2" indent="-342900">
              <a:buFont typeface="Wingdings" panose="05000000000000000000" pitchFamily="2" charset="2"/>
              <a:buChar char="Ø"/>
            </a:pPr>
            <a:r>
              <a:rPr lang="zh-CN" altLang="en-US" sz="1800" dirty="0"/>
              <a:t>当左子树遍历结束后，从栈顶弹出这个结点并访问它； </a:t>
            </a:r>
            <a:endParaRPr lang="zh-CN" altLang="en-US" sz="1800" dirty="0"/>
          </a:p>
          <a:p>
            <a:pPr marL="478155" lvl="2" indent="-342900">
              <a:buFont typeface="Wingdings" panose="05000000000000000000" pitchFamily="2" charset="2"/>
              <a:buChar char="Ø"/>
            </a:pPr>
            <a:r>
              <a:rPr lang="zh-CN" altLang="en-US" sz="1800" dirty="0"/>
              <a:t>然后按其右指针再去中序遍历该结点的右子树。 </a:t>
            </a:r>
            <a:endParaRPr lang="zh-CN" altLang="en-US" sz="1800" dirty="0"/>
          </a:p>
          <a:p>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中序遍历非递归算法：</a:t>
            </a:r>
            <a:endParaRPr lang="en-US" altLang="zh-CN" dirty="0"/>
          </a:p>
          <a:p>
            <a:pPr lvl="2">
              <a:lnSpc>
                <a:spcPts val="2500"/>
              </a:lnSpc>
              <a:spcBef>
                <a:spcPct val="0"/>
              </a:spcBef>
            </a:pPr>
            <a:r>
              <a:rPr lang="en-US" altLang="zh-CN" sz="1600" dirty="0"/>
              <a:t>Status </a:t>
            </a:r>
            <a:r>
              <a:rPr lang="en-US" altLang="zh-CN" sz="1600" dirty="0" err="1"/>
              <a:t>InOrderTraverse</a:t>
            </a:r>
            <a:r>
              <a:rPr lang="en-US" altLang="zh-CN" sz="1600" dirty="0"/>
              <a:t> (</a:t>
            </a:r>
            <a:r>
              <a:rPr lang="en-US" altLang="zh-CN" sz="1600" dirty="0" err="1"/>
              <a:t>BiTree</a:t>
            </a:r>
            <a:r>
              <a:rPr lang="en-US" altLang="zh-CN" sz="1600" dirty="0"/>
              <a:t> T, Status (*Visit) (</a:t>
            </a:r>
            <a:r>
              <a:rPr lang="en-US" altLang="zh-CN" sz="1600" dirty="0" err="1"/>
              <a:t>TelemType</a:t>
            </a:r>
            <a:r>
              <a:rPr lang="en-US" altLang="zh-CN" sz="1600" dirty="0"/>
              <a:t> e)){</a:t>
            </a:r>
            <a:endParaRPr lang="en-US" altLang="zh-CN" sz="1600" dirty="0"/>
          </a:p>
          <a:p>
            <a:pPr lvl="2">
              <a:lnSpc>
                <a:spcPts val="2500"/>
              </a:lnSpc>
              <a:spcBef>
                <a:spcPct val="0"/>
              </a:spcBef>
            </a:pPr>
            <a:r>
              <a:rPr lang="en-US" altLang="zh-CN" sz="1600" dirty="0"/>
              <a:t>        </a:t>
            </a:r>
            <a:r>
              <a:rPr lang="en-US" altLang="zh-CN" sz="1600" dirty="0" err="1"/>
              <a:t>InitStack</a:t>
            </a:r>
            <a:r>
              <a:rPr lang="en-US" altLang="zh-CN" sz="1600" dirty="0"/>
              <a:t> ( S );  Push(S,  T);</a:t>
            </a:r>
            <a:endParaRPr lang="en-US" altLang="zh-CN" sz="1600" dirty="0"/>
          </a:p>
          <a:p>
            <a:pPr lvl="2">
              <a:lnSpc>
                <a:spcPts val="2500"/>
              </a:lnSpc>
              <a:spcBef>
                <a:spcPct val="0"/>
              </a:spcBef>
            </a:pPr>
            <a:r>
              <a:rPr lang="en-US" altLang="zh-CN" sz="1600" dirty="0"/>
              <a:t>        while (  !</a:t>
            </a:r>
            <a:r>
              <a:rPr lang="en-US" altLang="zh-CN" sz="1600" dirty="0" err="1"/>
              <a:t>StackEmpty</a:t>
            </a:r>
            <a:r>
              <a:rPr lang="en-US" altLang="zh-CN" sz="1600" dirty="0"/>
              <a:t> ( S ) ){</a:t>
            </a:r>
            <a:endParaRPr lang="en-US" altLang="zh-CN" sz="1600" dirty="0"/>
          </a:p>
          <a:p>
            <a:pPr lvl="2">
              <a:lnSpc>
                <a:spcPts val="2500"/>
              </a:lnSpc>
              <a:spcBef>
                <a:spcPct val="0"/>
              </a:spcBef>
            </a:pPr>
            <a:r>
              <a:rPr lang="en-US" altLang="zh-CN" sz="1600" dirty="0"/>
              <a:t>	    while(GetTop(S, p) &amp;&amp; p) Push( S, p-&gt;lchild);</a:t>
            </a:r>
            <a:endParaRPr lang="en-US" altLang="zh-CN" sz="1600" dirty="0"/>
          </a:p>
          <a:p>
            <a:pPr lvl="2">
              <a:lnSpc>
                <a:spcPts val="2500"/>
              </a:lnSpc>
              <a:spcBef>
                <a:spcPct val="0"/>
              </a:spcBef>
            </a:pPr>
            <a:r>
              <a:rPr lang="en-US" altLang="zh-CN" sz="1600" dirty="0"/>
              <a:t>	    Pop( S, p);                   </a:t>
            </a:r>
            <a:endParaRPr lang="en-US" altLang="zh-CN" sz="1600" dirty="0"/>
          </a:p>
          <a:p>
            <a:pPr lvl="2">
              <a:lnSpc>
                <a:spcPts val="2500"/>
              </a:lnSpc>
              <a:spcBef>
                <a:spcPct val="0"/>
              </a:spcBef>
            </a:pPr>
            <a:r>
              <a:rPr lang="en-US" altLang="zh-CN" sz="1600" dirty="0"/>
              <a:t>	    if ( </a:t>
            </a:r>
            <a:r>
              <a:rPr sz="1600">
                <a:sym typeface="+mn-ea"/>
              </a:rPr>
              <a:t>!</a:t>
            </a:r>
            <a:r>
              <a:rPr sz="1600" dirty="0" err="1">
                <a:sym typeface="+mn-ea"/>
              </a:rPr>
              <a:t>StackEmpty</a:t>
            </a:r>
            <a:r>
              <a:rPr sz="1600">
                <a:sym typeface="+mn-ea"/>
              </a:rPr>
              <a:t> ( S )</a:t>
            </a:r>
            <a:r>
              <a:rPr lang="en-US" altLang="zh-CN" sz="1600" dirty="0"/>
              <a:t> ) {</a:t>
            </a:r>
            <a:endParaRPr lang="en-US" altLang="zh-CN" sz="1600" dirty="0"/>
          </a:p>
          <a:p>
            <a:pPr lvl="2">
              <a:lnSpc>
                <a:spcPts val="2500"/>
              </a:lnSpc>
              <a:spcBef>
                <a:spcPct val="0"/>
              </a:spcBef>
            </a:pPr>
            <a:r>
              <a:rPr lang="en-US" altLang="zh-CN" sz="1600" dirty="0"/>
              <a:t>                           Pop ( S, p );  if ( !Visit ( p-&gt;data ) ) return ERROR;</a:t>
            </a:r>
            <a:endParaRPr lang="en-US" altLang="zh-CN" sz="1600" dirty="0"/>
          </a:p>
          <a:p>
            <a:pPr lvl="2">
              <a:lnSpc>
                <a:spcPts val="2500"/>
              </a:lnSpc>
              <a:spcBef>
                <a:spcPct val="0"/>
              </a:spcBef>
            </a:pPr>
            <a:r>
              <a:rPr lang="en-US" altLang="zh-CN" sz="1600" dirty="0"/>
              <a:t>                           Push( S, p-&gt;</a:t>
            </a:r>
            <a:r>
              <a:rPr lang="en-US" altLang="zh-CN" sz="1600" dirty="0" err="1"/>
              <a:t>rchild)</a:t>
            </a:r>
            <a:r>
              <a:rPr lang="en-US" altLang="zh-CN" sz="1600" dirty="0"/>
              <a:t>; </a:t>
            </a:r>
            <a:endParaRPr lang="en-US" altLang="zh-CN" sz="1600" dirty="0"/>
          </a:p>
          <a:p>
            <a:pPr lvl="2">
              <a:lnSpc>
                <a:spcPts val="2500"/>
              </a:lnSpc>
              <a:spcBef>
                <a:spcPct val="0"/>
              </a:spcBef>
            </a:pPr>
            <a:r>
              <a:rPr lang="en-US" altLang="zh-CN" sz="1600" dirty="0"/>
              <a:t>               }</a:t>
            </a:r>
            <a:endParaRPr lang="en-US" altLang="zh-CN" sz="1600" dirty="0"/>
          </a:p>
          <a:p>
            <a:pPr lvl="2">
              <a:lnSpc>
                <a:spcPts val="2500"/>
              </a:lnSpc>
              <a:spcBef>
                <a:spcPct val="0"/>
              </a:spcBef>
            </a:pPr>
            <a:r>
              <a:rPr lang="en-US" altLang="zh-CN" sz="1600" dirty="0"/>
              <a:t>       }</a:t>
            </a:r>
            <a:endParaRPr lang="en-US" altLang="zh-CN" sz="1600" dirty="0"/>
          </a:p>
          <a:p>
            <a:pPr lvl="2">
              <a:lnSpc>
                <a:spcPts val="2500"/>
              </a:lnSpc>
              <a:spcBef>
                <a:spcPct val="0"/>
              </a:spcBef>
            </a:pPr>
            <a:r>
              <a:rPr lang="en-US" altLang="zh-CN" sz="1600" dirty="0"/>
              <a:t>        return OK;</a:t>
            </a:r>
            <a:endParaRPr lang="en-US" altLang="zh-CN" sz="1600" dirty="0"/>
          </a:p>
          <a:p>
            <a:pPr lvl="2">
              <a:lnSpc>
                <a:spcPts val="2500"/>
              </a:lnSpc>
              <a:spcBef>
                <a:spcPct val="0"/>
              </a:spcBef>
            </a:pPr>
            <a:r>
              <a:rPr lang="en-US" altLang="zh-CN" sz="1600" dirty="0"/>
              <a:t>} </a:t>
            </a:r>
            <a:endParaRPr lang="en-US" altLang="zh-CN" sz="16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中序遍历非递归算法：</a:t>
            </a:r>
            <a:endParaRPr lang="en-US" altLang="zh-CN" dirty="0"/>
          </a:p>
          <a:p>
            <a:pPr lvl="2">
              <a:lnSpc>
                <a:spcPts val="2500"/>
              </a:lnSpc>
              <a:spcBef>
                <a:spcPct val="0"/>
              </a:spcBef>
            </a:pPr>
            <a:r>
              <a:rPr lang="en-US" altLang="zh-CN" sz="1600" dirty="0"/>
              <a:t>Status </a:t>
            </a:r>
            <a:r>
              <a:rPr lang="en-US" altLang="zh-CN" sz="1600" dirty="0" err="1"/>
              <a:t>InOrderTraverse</a:t>
            </a:r>
            <a:r>
              <a:rPr lang="en-US" altLang="zh-CN" sz="1600" dirty="0"/>
              <a:t> (</a:t>
            </a:r>
            <a:r>
              <a:rPr lang="en-US" altLang="zh-CN" sz="1600" dirty="0" err="1"/>
              <a:t>BiTree</a:t>
            </a:r>
            <a:r>
              <a:rPr lang="en-US" altLang="zh-CN" sz="1600" dirty="0"/>
              <a:t> T, Status (*Visit) (</a:t>
            </a:r>
            <a:r>
              <a:rPr lang="en-US" altLang="zh-CN" sz="1600" dirty="0" err="1"/>
              <a:t>TelemType</a:t>
            </a:r>
            <a:r>
              <a:rPr lang="en-US" altLang="zh-CN" sz="1600" dirty="0"/>
              <a:t> e)){</a:t>
            </a:r>
            <a:endParaRPr lang="en-US" altLang="zh-CN" sz="1600" dirty="0"/>
          </a:p>
          <a:p>
            <a:pPr lvl="2">
              <a:lnSpc>
                <a:spcPts val="2500"/>
              </a:lnSpc>
              <a:spcBef>
                <a:spcPct val="0"/>
              </a:spcBef>
            </a:pPr>
            <a:r>
              <a:rPr lang="en-US" altLang="zh-CN" sz="1600" dirty="0"/>
              <a:t>        </a:t>
            </a:r>
            <a:r>
              <a:rPr lang="en-US" altLang="zh-CN" sz="1600" dirty="0" err="1"/>
              <a:t>InitStack</a:t>
            </a:r>
            <a:r>
              <a:rPr lang="en-US" altLang="zh-CN" sz="1600" dirty="0"/>
              <a:t> ( S ); p = T;</a:t>
            </a:r>
            <a:endParaRPr lang="en-US" altLang="zh-CN" sz="1600" dirty="0"/>
          </a:p>
          <a:p>
            <a:pPr lvl="2">
              <a:lnSpc>
                <a:spcPts val="2500"/>
              </a:lnSpc>
              <a:spcBef>
                <a:spcPct val="0"/>
              </a:spcBef>
            </a:pPr>
            <a:r>
              <a:rPr lang="en-US" altLang="zh-CN" sz="1600" dirty="0"/>
              <a:t>        while ( p || !</a:t>
            </a:r>
            <a:r>
              <a:rPr lang="en-US" altLang="zh-CN" sz="1600" dirty="0" err="1"/>
              <a:t>StackEmpty</a:t>
            </a:r>
            <a:r>
              <a:rPr lang="en-US" altLang="zh-CN" sz="1600" dirty="0"/>
              <a:t> ( S ) ){</a:t>
            </a:r>
            <a:endParaRPr lang="en-US" altLang="zh-CN" sz="1600" dirty="0"/>
          </a:p>
          <a:p>
            <a:pPr lvl="2">
              <a:lnSpc>
                <a:spcPts val="2500"/>
              </a:lnSpc>
              <a:spcBef>
                <a:spcPct val="0"/>
              </a:spcBef>
            </a:pPr>
            <a:r>
              <a:rPr lang="en-US" altLang="zh-CN" sz="1600" dirty="0"/>
              <a:t>                   if ( p ) {   Push ( S, p );   p=p-&gt;</a:t>
            </a:r>
            <a:r>
              <a:rPr lang="en-US" altLang="zh-CN" sz="1600" dirty="0" err="1"/>
              <a:t>lchild</a:t>
            </a:r>
            <a:r>
              <a:rPr lang="en-US" altLang="zh-CN" sz="1600" dirty="0"/>
              <a:t>;   } //</a:t>
            </a:r>
            <a:r>
              <a:rPr lang="zh-CN" altLang="en-US" sz="1600" dirty="0"/>
              <a:t>遍历左子树</a:t>
            </a:r>
            <a:endParaRPr lang="zh-CN" altLang="en-US" sz="1600" dirty="0"/>
          </a:p>
          <a:p>
            <a:pPr lvl="2">
              <a:lnSpc>
                <a:spcPts val="2500"/>
              </a:lnSpc>
              <a:spcBef>
                <a:spcPct val="0"/>
              </a:spcBef>
            </a:pPr>
            <a:r>
              <a:rPr lang="en-US" altLang="zh-CN" sz="1600" dirty="0"/>
              <a:t>                   else{</a:t>
            </a:r>
            <a:endParaRPr lang="en-US" altLang="zh-CN" sz="1600" dirty="0"/>
          </a:p>
          <a:p>
            <a:pPr lvl="2">
              <a:lnSpc>
                <a:spcPts val="2500"/>
              </a:lnSpc>
              <a:spcBef>
                <a:spcPct val="0"/>
              </a:spcBef>
            </a:pPr>
            <a:r>
              <a:rPr lang="en-US" altLang="zh-CN" sz="1600" dirty="0"/>
              <a:t>                           Pop ( S, p ); if ( !Visit ( p-&gt;data ) ) return ERROR;</a:t>
            </a:r>
            <a:endParaRPr lang="en-US" altLang="zh-CN" sz="1600" dirty="0"/>
          </a:p>
          <a:p>
            <a:pPr lvl="2">
              <a:lnSpc>
                <a:spcPts val="2500"/>
              </a:lnSpc>
              <a:spcBef>
                <a:spcPct val="0"/>
              </a:spcBef>
            </a:pPr>
            <a:r>
              <a:rPr lang="en-US" altLang="zh-CN" sz="1600" dirty="0"/>
              <a:t>                           p=p-&gt;</a:t>
            </a:r>
            <a:r>
              <a:rPr lang="en-US" altLang="zh-CN" sz="1600" dirty="0" err="1"/>
              <a:t>rchild</a:t>
            </a:r>
            <a:r>
              <a:rPr lang="en-US" altLang="zh-CN" sz="1600" dirty="0"/>
              <a:t>;   //</a:t>
            </a:r>
            <a:r>
              <a:rPr lang="zh-CN" altLang="en-US" sz="1600" dirty="0"/>
              <a:t>访问根结点、遍历右子树</a:t>
            </a:r>
            <a:endParaRPr lang="zh-CN" altLang="en-US" sz="1600" dirty="0"/>
          </a:p>
          <a:p>
            <a:pPr lvl="2">
              <a:lnSpc>
                <a:spcPts val="2500"/>
              </a:lnSpc>
              <a:spcBef>
                <a:spcPct val="0"/>
              </a:spcBef>
            </a:pPr>
            <a:r>
              <a:rPr lang="en-US" altLang="zh-CN" sz="1600" dirty="0"/>
              <a:t>                   }</a:t>
            </a:r>
            <a:endParaRPr lang="en-US" altLang="zh-CN" sz="1600" dirty="0"/>
          </a:p>
          <a:p>
            <a:pPr lvl="2">
              <a:lnSpc>
                <a:spcPts val="2500"/>
              </a:lnSpc>
              <a:spcBef>
                <a:spcPct val="0"/>
              </a:spcBef>
            </a:pPr>
            <a:r>
              <a:rPr lang="en-US" altLang="zh-CN" sz="1600" dirty="0"/>
              <a:t>       }</a:t>
            </a:r>
            <a:endParaRPr lang="en-US" altLang="zh-CN" sz="1600" dirty="0"/>
          </a:p>
          <a:p>
            <a:pPr lvl="2">
              <a:lnSpc>
                <a:spcPts val="2500"/>
              </a:lnSpc>
              <a:spcBef>
                <a:spcPct val="0"/>
              </a:spcBef>
            </a:pPr>
            <a:r>
              <a:rPr lang="en-US" altLang="zh-CN" sz="1600" dirty="0"/>
              <a:t>        return OK;</a:t>
            </a:r>
            <a:endParaRPr lang="en-US" altLang="zh-CN" sz="1600" dirty="0"/>
          </a:p>
          <a:p>
            <a:pPr lvl="2">
              <a:lnSpc>
                <a:spcPts val="2500"/>
              </a:lnSpc>
              <a:spcBef>
                <a:spcPct val="0"/>
              </a:spcBef>
            </a:pPr>
            <a:r>
              <a:rPr lang="en-US" altLang="zh-CN" sz="1600" dirty="0"/>
              <a:t>} </a:t>
            </a:r>
            <a:endParaRPr lang="en-US" altLang="zh-CN" sz="16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按层次遍历：</a:t>
            </a:r>
            <a:endParaRPr lang="en-US" altLang="zh-CN" dirty="0"/>
          </a:p>
          <a:p>
            <a:pPr marL="421005" lvl="2" indent="-285750">
              <a:lnSpc>
                <a:spcPts val="2500"/>
              </a:lnSpc>
              <a:buFont typeface="Wingdings" panose="05000000000000000000" pitchFamily="2" charset="2"/>
              <a:buChar char="Ø"/>
            </a:pPr>
            <a:r>
              <a:rPr lang="zh-CN" altLang="en-US" sz="1800" dirty="0"/>
              <a:t> 访问根结点（</a:t>
            </a:r>
            <a:r>
              <a:rPr lang="en-US" altLang="zh-CN" sz="1800" dirty="0"/>
              <a:t>D</a:t>
            </a:r>
            <a:r>
              <a:rPr lang="zh-CN" altLang="en-US" sz="1800" dirty="0"/>
              <a:t>）</a:t>
            </a:r>
            <a:endParaRPr lang="en-US" altLang="zh-CN" sz="1800" dirty="0"/>
          </a:p>
          <a:p>
            <a:pPr marL="421005" lvl="2" indent="-285750">
              <a:lnSpc>
                <a:spcPts val="2500"/>
              </a:lnSpc>
              <a:buFont typeface="Wingdings" panose="05000000000000000000" pitchFamily="2" charset="2"/>
              <a:buChar char="Ø"/>
            </a:pPr>
            <a:r>
              <a:rPr lang="zh-CN" altLang="en-US" sz="1800" dirty="0"/>
              <a:t> 按照从左到右的顺序访问第二层结点（根的左右孩子</a:t>
            </a:r>
            <a:r>
              <a:rPr lang="en-US" altLang="zh-CN" sz="1800" dirty="0"/>
              <a:t>DL</a:t>
            </a:r>
            <a:r>
              <a:rPr lang="zh-CN" altLang="en-US" sz="1800" dirty="0"/>
              <a:t>、</a:t>
            </a:r>
            <a:r>
              <a:rPr lang="en-US" altLang="zh-CN" sz="1800" dirty="0"/>
              <a:t>DR</a:t>
            </a:r>
            <a:r>
              <a:rPr lang="zh-CN" altLang="en-US" sz="1800" dirty="0"/>
              <a:t>）</a:t>
            </a:r>
            <a:endParaRPr lang="en-US" altLang="zh-CN" sz="1800" dirty="0"/>
          </a:p>
          <a:p>
            <a:pPr marL="421005" lvl="2" indent="-285750">
              <a:lnSpc>
                <a:spcPts val="2500"/>
              </a:lnSpc>
              <a:buFont typeface="Wingdings" panose="05000000000000000000" pitchFamily="2" charset="2"/>
              <a:buChar char="Ø"/>
            </a:pPr>
            <a:r>
              <a:rPr lang="zh-CN" altLang="en-US" sz="1800" dirty="0"/>
              <a:t> 按照从左到右的顺序访问第三层结点（</a:t>
            </a:r>
            <a:r>
              <a:rPr lang="en-US" altLang="zh-CN" sz="1800" dirty="0"/>
              <a:t>DL</a:t>
            </a:r>
            <a:r>
              <a:rPr lang="zh-CN" altLang="en-US" sz="1800" dirty="0"/>
              <a:t>的左右孩子，</a:t>
            </a:r>
            <a:r>
              <a:rPr lang="en-US" altLang="zh-CN" sz="1800" dirty="0"/>
              <a:t>DR</a:t>
            </a:r>
            <a:r>
              <a:rPr lang="zh-CN" altLang="en-US" sz="1800" dirty="0"/>
              <a:t>的左右孩子）</a:t>
            </a:r>
            <a:endParaRPr lang="en-US" altLang="zh-CN" sz="1800" dirty="0"/>
          </a:p>
          <a:p>
            <a:pPr marL="421005" lvl="2" indent="-285750">
              <a:lnSpc>
                <a:spcPts val="2500"/>
              </a:lnSpc>
              <a:buFont typeface="Wingdings" panose="05000000000000000000" pitchFamily="2" charset="2"/>
              <a:buChar char="Ø"/>
            </a:pPr>
            <a:r>
              <a:rPr lang="en-US" altLang="zh-CN" sz="1800" dirty="0"/>
              <a:t>……</a:t>
            </a:r>
            <a:endParaRPr lang="zh-CN" altLang="en-US" sz="1800" dirty="0"/>
          </a:p>
          <a:p>
            <a:pPr lvl="2">
              <a:lnSpc>
                <a:spcPts val="2500"/>
              </a:lnSpc>
            </a:pPr>
            <a:r>
              <a:rPr lang="zh-CN" altLang="en-US" sz="1800" dirty="0"/>
              <a:t>问题：</a:t>
            </a:r>
            <a:endParaRPr lang="en-US" altLang="zh-CN" sz="1800" dirty="0"/>
          </a:p>
          <a:p>
            <a:pPr lvl="2">
              <a:lnSpc>
                <a:spcPts val="2500"/>
              </a:lnSpc>
            </a:pPr>
            <a:r>
              <a:rPr lang="en-US" altLang="zh-CN" sz="1800" dirty="0"/>
              <a:t>     </a:t>
            </a:r>
            <a:r>
              <a:rPr lang="zh-CN" altLang="en-US" sz="1800" dirty="0"/>
              <a:t>如何保证访问顺序正确？</a:t>
            </a:r>
            <a:endParaRPr lang="en-US" altLang="zh-CN" sz="1800" dirty="0"/>
          </a:p>
          <a:p>
            <a:pPr lvl="2">
              <a:lnSpc>
                <a:spcPts val="2500"/>
              </a:lnSpc>
            </a:pPr>
            <a:r>
              <a:rPr lang="zh-CN" altLang="en-US" sz="1800" dirty="0"/>
              <a:t>分析：</a:t>
            </a:r>
            <a:endParaRPr lang="en-US" altLang="zh-CN" sz="1800" dirty="0"/>
          </a:p>
          <a:p>
            <a:pPr lvl="2">
              <a:lnSpc>
                <a:spcPts val="2500"/>
              </a:lnSpc>
            </a:pPr>
            <a:r>
              <a:rPr lang="en-US" altLang="zh-CN" sz="1800" dirty="0"/>
              <a:t>    </a:t>
            </a:r>
            <a:r>
              <a:rPr lang="zh-CN" altLang="en-US" sz="1800" dirty="0">
                <a:solidFill>
                  <a:srgbClr val="FF0000"/>
                </a:solidFill>
              </a:rPr>
              <a:t>先访问的结点，它的孩子也是下一层最先被访问到的。</a:t>
            </a:r>
            <a:endParaRPr lang="en-US" altLang="zh-CN" sz="1800" dirty="0">
              <a:solidFill>
                <a:srgbClr val="FF0000"/>
              </a:solidFill>
            </a:endParaRPr>
          </a:p>
          <a:p>
            <a:pPr lvl="2">
              <a:lnSpc>
                <a:spcPts val="2500"/>
              </a:lnSpc>
            </a:pPr>
            <a:r>
              <a:rPr lang="zh-CN" altLang="en-US" sz="1800" dirty="0"/>
              <a:t>    需要一个存储结构有效控制访问顺序</a:t>
            </a:r>
            <a:endParaRPr lang="zh-CN" altLang="en-US" sz="1800" dirty="0"/>
          </a:p>
          <a:p>
            <a:pPr lvl="2">
              <a:lnSpc>
                <a:spcPts val="2500"/>
              </a:lnSpc>
            </a:pPr>
            <a:r>
              <a:rPr lang="zh-CN" altLang="en-US" sz="1800" dirty="0"/>
              <a:t>    </a:t>
            </a:r>
            <a:r>
              <a:rPr lang="zh-CN" altLang="en-US" sz="1800" dirty="0">
                <a:solidFill>
                  <a:srgbClr val="FF0000"/>
                </a:solidFill>
              </a:rPr>
              <a:t>存储结构：队列 </a:t>
            </a:r>
            <a:endParaRPr lang="zh-CN" altLang="en-US" sz="1800" dirty="0">
              <a:solidFill>
                <a:srgbClr val="FF0000"/>
              </a:solidFill>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按层次遍历：</a:t>
            </a:r>
            <a:endParaRPr lang="en-US" altLang="zh-CN" dirty="0"/>
          </a:p>
          <a:p>
            <a:pPr lvl="2"/>
            <a:r>
              <a:rPr lang="zh-CN" altLang="en-US" dirty="0"/>
              <a:t>队列实现：遍历从根结点开始，首先将根结点入队，然后开始执行循环：</a:t>
            </a:r>
            <a:r>
              <a:rPr lang="zh-CN" altLang="en-US" dirty="0">
                <a:solidFill>
                  <a:srgbClr val="FF0000"/>
                </a:solidFill>
              </a:rPr>
              <a:t>结点出队、访问该结点、其左右儿子入队 </a:t>
            </a:r>
            <a:endParaRPr lang="zh-CN" altLang="en-US" dirty="0">
              <a:solidFill>
                <a:srgbClr val="FF0000"/>
              </a:solidFill>
            </a:endParaRPr>
          </a:p>
          <a:p>
            <a:endParaRPr lang="en-US" altLang="zh-CN"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pic>
        <p:nvPicPr>
          <p:cNvPr id="4"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687517" y="2084435"/>
            <a:ext cx="2093119" cy="2293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矩形 3"/>
          <p:cNvSpPr>
            <a:spLocks noChangeArrowheads="1"/>
          </p:cNvSpPr>
          <p:nvPr/>
        </p:nvSpPr>
        <p:spPr bwMode="auto">
          <a:xfrm>
            <a:off x="1729800" y="3340155"/>
            <a:ext cx="17139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a:t>按层次遍历 </a:t>
            </a:r>
            <a:r>
              <a:rPr lang="en-US" altLang="zh-CN" sz="1800"/>
              <a:t>=&gt; </a:t>
            </a:r>
            <a:endParaRPr lang="zh-CN" altLang="en-US" sz="1800"/>
          </a:p>
        </p:txBody>
      </p:sp>
      <p:sp>
        <p:nvSpPr>
          <p:cNvPr id="6" name="TextBox 5"/>
          <p:cNvSpPr txBox="1">
            <a:spLocks noChangeArrowheads="1"/>
          </p:cNvSpPr>
          <p:nvPr/>
        </p:nvSpPr>
        <p:spPr bwMode="auto">
          <a:xfrm>
            <a:off x="2379804" y="2590061"/>
            <a:ext cx="2357438" cy="369332"/>
          </a:xfrm>
          <a:prstGeom prst="rect">
            <a:avLst/>
          </a:prstGeom>
          <a:solidFill>
            <a:srgbClr val="FFC000"/>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7" name="矩形 6"/>
          <p:cNvSpPr>
            <a:spLocks noChangeArrowheads="1"/>
          </p:cNvSpPr>
          <p:nvPr/>
        </p:nvSpPr>
        <p:spPr bwMode="auto">
          <a:xfrm>
            <a:off x="2379804" y="2590061"/>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A</a:t>
            </a:r>
            <a:endParaRPr lang="zh-CN" altLang="en-US" sz="1800"/>
          </a:p>
        </p:txBody>
      </p:sp>
      <p:sp>
        <p:nvSpPr>
          <p:cNvPr id="8" name="矩形 7"/>
          <p:cNvSpPr>
            <a:spLocks noChangeArrowheads="1"/>
          </p:cNvSpPr>
          <p:nvPr/>
        </p:nvSpPr>
        <p:spPr bwMode="auto">
          <a:xfrm>
            <a:off x="2379804" y="2590061"/>
            <a:ext cx="33855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B</a:t>
            </a:r>
            <a:endParaRPr lang="zh-CN" altLang="en-US" sz="1800"/>
          </a:p>
        </p:txBody>
      </p:sp>
      <p:sp>
        <p:nvSpPr>
          <p:cNvPr id="9" name="矩形 8"/>
          <p:cNvSpPr>
            <a:spLocks noChangeArrowheads="1"/>
          </p:cNvSpPr>
          <p:nvPr/>
        </p:nvSpPr>
        <p:spPr bwMode="auto">
          <a:xfrm>
            <a:off x="2609594" y="2590061"/>
            <a:ext cx="33855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C</a:t>
            </a:r>
            <a:endParaRPr lang="zh-CN" altLang="en-US" sz="1800"/>
          </a:p>
        </p:txBody>
      </p:sp>
      <p:sp>
        <p:nvSpPr>
          <p:cNvPr id="10" name="矩形 9"/>
          <p:cNvSpPr>
            <a:spLocks noChangeArrowheads="1"/>
          </p:cNvSpPr>
          <p:nvPr/>
        </p:nvSpPr>
        <p:spPr bwMode="auto">
          <a:xfrm>
            <a:off x="2862007" y="2590061"/>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D</a:t>
            </a:r>
            <a:endParaRPr lang="zh-CN" altLang="en-US" sz="1800"/>
          </a:p>
        </p:txBody>
      </p:sp>
      <p:sp>
        <p:nvSpPr>
          <p:cNvPr id="11" name="矩形 10"/>
          <p:cNvSpPr>
            <a:spLocks noChangeArrowheads="1"/>
          </p:cNvSpPr>
          <p:nvPr/>
        </p:nvSpPr>
        <p:spPr bwMode="auto">
          <a:xfrm>
            <a:off x="3129898" y="2590061"/>
            <a:ext cx="32573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E</a:t>
            </a:r>
            <a:endParaRPr lang="zh-CN" altLang="en-US" sz="1800"/>
          </a:p>
        </p:txBody>
      </p:sp>
      <p:sp>
        <p:nvSpPr>
          <p:cNvPr id="12" name="矩形 11"/>
          <p:cNvSpPr>
            <a:spLocks noChangeArrowheads="1"/>
          </p:cNvSpPr>
          <p:nvPr/>
        </p:nvSpPr>
        <p:spPr bwMode="auto">
          <a:xfrm>
            <a:off x="3815698" y="2590061"/>
            <a:ext cx="31290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F</a:t>
            </a:r>
            <a:endParaRPr lang="zh-CN" altLang="en-US" sz="1800"/>
          </a:p>
        </p:txBody>
      </p:sp>
      <p:sp>
        <p:nvSpPr>
          <p:cNvPr id="13" name="矩形 12"/>
          <p:cNvSpPr>
            <a:spLocks noChangeArrowheads="1"/>
          </p:cNvSpPr>
          <p:nvPr/>
        </p:nvSpPr>
        <p:spPr bwMode="auto">
          <a:xfrm>
            <a:off x="3344210" y="2590061"/>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G</a:t>
            </a:r>
            <a:endParaRPr lang="zh-CN" altLang="en-US" sz="1800"/>
          </a:p>
        </p:txBody>
      </p:sp>
      <p:sp>
        <p:nvSpPr>
          <p:cNvPr id="14" name="矩形 13"/>
          <p:cNvSpPr>
            <a:spLocks noChangeArrowheads="1"/>
          </p:cNvSpPr>
          <p:nvPr/>
        </p:nvSpPr>
        <p:spPr bwMode="auto">
          <a:xfrm>
            <a:off x="4040726" y="2590061"/>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a:t>
            </a:r>
            <a:endParaRPr lang="zh-CN" altLang="en-US" sz="1800"/>
          </a:p>
        </p:txBody>
      </p:sp>
      <p:sp>
        <p:nvSpPr>
          <p:cNvPr id="15" name="矩形 14"/>
          <p:cNvSpPr>
            <a:spLocks noChangeArrowheads="1"/>
          </p:cNvSpPr>
          <p:nvPr/>
        </p:nvSpPr>
        <p:spPr bwMode="auto">
          <a:xfrm>
            <a:off x="3612101" y="2590061"/>
            <a:ext cx="26161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I</a:t>
            </a:r>
            <a:endParaRPr lang="zh-CN" altLang="en-US" sz="1800"/>
          </a:p>
        </p:txBody>
      </p:sp>
      <p:sp>
        <p:nvSpPr>
          <p:cNvPr id="16" name="矩形 15"/>
          <p:cNvSpPr>
            <a:spLocks noChangeArrowheads="1"/>
          </p:cNvSpPr>
          <p:nvPr/>
        </p:nvSpPr>
        <p:spPr bwMode="auto">
          <a:xfrm>
            <a:off x="3283563" y="3340155"/>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A</a:t>
            </a:r>
            <a:endParaRPr lang="zh-CN" altLang="en-US" sz="1800"/>
          </a:p>
        </p:txBody>
      </p:sp>
      <p:sp>
        <p:nvSpPr>
          <p:cNvPr id="17" name="矩形 16"/>
          <p:cNvSpPr>
            <a:spLocks noChangeArrowheads="1"/>
          </p:cNvSpPr>
          <p:nvPr/>
        </p:nvSpPr>
        <p:spPr bwMode="auto">
          <a:xfrm>
            <a:off x="3497876" y="3340155"/>
            <a:ext cx="33855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B</a:t>
            </a:r>
            <a:endParaRPr lang="zh-CN" altLang="en-US" sz="1800"/>
          </a:p>
        </p:txBody>
      </p:sp>
      <p:sp>
        <p:nvSpPr>
          <p:cNvPr id="18" name="矩形 17"/>
          <p:cNvSpPr>
            <a:spLocks noChangeArrowheads="1"/>
          </p:cNvSpPr>
          <p:nvPr/>
        </p:nvSpPr>
        <p:spPr bwMode="auto">
          <a:xfrm>
            <a:off x="3712188" y="3340155"/>
            <a:ext cx="33855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C</a:t>
            </a:r>
            <a:endParaRPr lang="zh-CN" altLang="en-US" sz="1800"/>
          </a:p>
        </p:txBody>
      </p:sp>
      <p:sp>
        <p:nvSpPr>
          <p:cNvPr id="19" name="矩形 18"/>
          <p:cNvSpPr>
            <a:spLocks noChangeArrowheads="1"/>
          </p:cNvSpPr>
          <p:nvPr/>
        </p:nvSpPr>
        <p:spPr bwMode="auto">
          <a:xfrm>
            <a:off x="3926501" y="3340155"/>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D</a:t>
            </a:r>
            <a:endParaRPr lang="zh-CN" altLang="en-US" sz="1800"/>
          </a:p>
        </p:txBody>
      </p:sp>
      <p:sp>
        <p:nvSpPr>
          <p:cNvPr id="20" name="矩形 19"/>
          <p:cNvSpPr>
            <a:spLocks noChangeArrowheads="1"/>
          </p:cNvSpPr>
          <p:nvPr/>
        </p:nvSpPr>
        <p:spPr bwMode="auto">
          <a:xfrm>
            <a:off x="4169388" y="3340155"/>
            <a:ext cx="32573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E</a:t>
            </a:r>
            <a:endParaRPr lang="zh-CN" altLang="en-US" sz="1800"/>
          </a:p>
        </p:txBody>
      </p:sp>
      <p:sp>
        <p:nvSpPr>
          <p:cNvPr id="21" name="矩形 20"/>
          <p:cNvSpPr>
            <a:spLocks noChangeArrowheads="1"/>
          </p:cNvSpPr>
          <p:nvPr/>
        </p:nvSpPr>
        <p:spPr bwMode="auto">
          <a:xfrm>
            <a:off x="4408704" y="3340155"/>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G</a:t>
            </a:r>
            <a:endParaRPr lang="zh-CN" altLang="en-US" sz="1800"/>
          </a:p>
        </p:txBody>
      </p:sp>
      <p:sp>
        <p:nvSpPr>
          <p:cNvPr id="22" name="矩形 21"/>
          <p:cNvSpPr>
            <a:spLocks noChangeArrowheads="1"/>
          </p:cNvSpPr>
          <p:nvPr/>
        </p:nvSpPr>
        <p:spPr bwMode="auto">
          <a:xfrm>
            <a:off x="4676595" y="3340155"/>
            <a:ext cx="26161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I</a:t>
            </a:r>
            <a:endParaRPr lang="zh-CN" altLang="en-US" sz="1800"/>
          </a:p>
        </p:txBody>
      </p:sp>
      <p:sp>
        <p:nvSpPr>
          <p:cNvPr id="23" name="矩形 22"/>
          <p:cNvSpPr>
            <a:spLocks noChangeArrowheads="1"/>
          </p:cNvSpPr>
          <p:nvPr/>
        </p:nvSpPr>
        <p:spPr bwMode="auto">
          <a:xfrm>
            <a:off x="4837329" y="3340155"/>
            <a:ext cx="31290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F</a:t>
            </a:r>
            <a:endParaRPr lang="zh-CN" altLang="en-US" sz="1800"/>
          </a:p>
        </p:txBody>
      </p:sp>
      <p:sp>
        <p:nvSpPr>
          <p:cNvPr id="24" name="矩形 23"/>
          <p:cNvSpPr>
            <a:spLocks noChangeArrowheads="1"/>
          </p:cNvSpPr>
          <p:nvPr/>
        </p:nvSpPr>
        <p:spPr bwMode="auto">
          <a:xfrm>
            <a:off x="5051642" y="3340155"/>
            <a:ext cx="3513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a:t>
            </a:r>
            <a:endParaRPr lang="zh-CN" altLang="en-US" sz="1800"/>
          </a:p>
        </p:txBody>
      </p:sp>
      <p:sp>
        <p:nvSpPr>
          <p:cNvPr id="25" name="矩形 26"/>
          <p:cNvSpPr>
            <a:spLocks noChangeArrowheads="1"/>
          </p:cNvSpPr>
          <p:nvPr/>
        </p:nvSpPr>
        <p:spPr bwMode="auto">
          <a:xfrm>
            <a:off x="1736868" y="2590061"/>
            <a:ext cx="6463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a:t>队列</a:t>
            </a:r>
            <a:endParaRPr lang="zh-CN" altLang="en-US" sz="18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1"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8" fill="hold" grpId="0" nodeType="clickEffect">
                                  <p:stCondLst>
                                    <p:cond delay="0"/>
                                  </p:stCondLst>
                                  <p:childTnLst>
                                    <p:anim calcmode="lin" valueType="num">
                                      <p:cBhvr additive="base">
                                        <p:cTn id="12" dur="500"/>
                                        <p:tgtEl>
                                          <p:spTgt spid="7"/>
                                        </p:tgtEl>
                                        <p:attrNameLst>
                                          <p:attrName>ppt_x</p:attrName>
                                        </p:attrNameLst>
                                      </p:cBhvr>
                                      <p:tavLst>
                                        <p:tav tm="0">
                                          <p:val>
                                            <p:strVal val="ppt_x"/>
                                          </p:val>
                                        </p:tav>
                                        <p:tav tm="100000">
                                          <p:val>
                                            <p:strVal val="0-ppt_w/2"/>
                                          </p:val>
                                        </p:tav>
                                      </p:tavLst>
                                    </p:anim>
                                    <p:anim calcmode="lin" valueType="num">
                                      <p:cBhvr additive="base">
                                        <p:cTn id="13" dur="500"/>
                                        <p:tgtEl>
                                          <p:spTgt spid="7"/>
                                        </p:tgtEl>
                                        <p:attrNameLst>
                                          <p:attrName>ppt_y</p:attrName>
                                        </p:attrNameLst>
                                      </p:cBhvr>
                                      <p:tavLst>
                                        <p:tav tm="0">
                                          <p:val>
                                            <p:strVal val="ppt_y"/>
                                          </p:val>
                                        </p:tav>
                                        <p:tav tm="100000">
                                          <p:val>
                                            <p:strVal val="ppt_y"/>
                                          </p:val>
                                        </p:tav>
                                      </p:tavLst>
                                    </p:anim>
                                    <p:set>
                                      <p:cBhvr>
                                        <p:cTn id="14" dur="1" fill="hold">
                                          <p:stCondLst>
                                            <p:cond delay="499"/>
                                          </p:stCondLst>
                                        </p:cTn>
                                        <p:tgtEl>
                                          <p:spTgt spid="7"/>
                                        </p:tgtEl>
                                        <p:attrNameLst>
                                          <p:attrName>style.visibility</p:attrName>
                                        </p:attrNameLst>
                                      </p:cBhvr>
                                      <p:to>
                                        <p:strVal val="hidden"/>
                                      </p:to>
                                    </p:set>
                                  </p:childTnLst>
                                </p:cTn>
                              </p:par>
                            </p:childTnLst>
                          </p:cTn>
                        </p:par>
                        <p:par>
                          <p:cTn id="15" fill="hold">
                            <p:stCondLst>
                              <p:cond delay="500"/>
                            </p:stCondLst>
                            <p:childTnLst>
                              <p:par>
                                <p:cTn id="16" presetID="9" presetClass="entr" presetSubtype="0" fill="hold" grpId="0" nodeType="after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dissolve">
                                      <p:cBhvr>
                                        <p:cTn id="18" dur="500"/>
                                        <p:tgtEl>
                                          <p:spTgt spid="16"/>
                                        </p:tgtEl>
                                      </p:cBhvr>
                                    </p:animEffect>
                                  </p:childTnLst>
                                </p:cTn>
                              </p:par>
                            </p:childTnLst>
                          </p:cTn>
                        </p:par>
                        <p:par>
                          <p:cTn id="19" fill="hold">
                            <p:stCondLst>
                              <p:cond delay="1000"/>
                            </p:stCondLst>
                            <p:childTnLst>
                              <p:par>
                                <p:cTn id="20" presetID="2" presetClass="entr" presetSubtype="2"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ppt_x</p:attrName>
                                        </p:attrNameLst>
                                      </p:cBhvr>
                                      <p:tavLst>
                                        <p:tav tm="0">
                                          <p:val>
                                            <p:strVal val="1+#ppt_w/2"/>
                                          </p:val>
                                        </p:tav>
                                        <p:tav tm="100000">
                                          <p:val>
                                            <p:strVal val="#ppt_x"/>
                                          </p:val>
                                        </p:tav>
                                      </p:tavLst>
                                    </p:anim>
                                    <p:anim calcmode="lin" valueType="num">
                                      <p:cBhvr additive="base">
                                        <p:cTn id="23" dur="500" fill="hold"/>
                                        <p:tgtEl>
                                          <p:spTgt spid="8"/>
                                        </p:tgtEl>
                                        <p:attrNameLst>
                                          <p:attrName>ppt_y</p:attrName>
                                        </p:attrNameLst>
                                      </p:cBhvr>
                                      <p:tavLst>
                                        <p:tav tm="0">
                                          <p:val>
                                            <p:strVal val="#ppt_y"/>
                                          </p:val>
                                        </p:tav>
                                        <p:tav tm="100000">
                                          <p:val>
                                            <p:strVal val="#ppt_y"/>
                                          </p:val>
                                        </p:tav>
                                      </p:tavLst>
                                    </p:anim>
                                  </p:childTnLst>
                                </p:cTn>
                              </p:par>
                            </p:childTnLst>
                          </p:cTn>
                        </p:par>
                        <p:par>
                          <p:cTn id="24" fill="hold">
                            <p:stCondLst>
                              <p:cond delay="1500"/>
                            </p:stCondLst>
                            <p:childTnLst>
                              <p:par>
                                <p:cTn id="25" presetID="2" presetClass="entr" presetSubtype="2"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1+#ppt_w/2"/>
                                          </p:val>
                                        </p:tav>
                                        <p:tav tm="100000">
                                          <p:val>
                                            <p:strVal val="#ppt_x"/>
                                          </p:val>
                                        </p:tav>
                                      </p:tavLst>
                                    </p:anim>
                                    <p:anim calcmode="lin" valueType="num">
                                      <p:cBhvr additive="base">
                                        <p:cTn id="28"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8" fill="hold" grpId="1" nodeType="clickEffect">
                                  <p:stCondLst>
                                    <p:cond delay="0"/>
                                  </p:stCondLst>
                                  <p:childTnLst>
                                    <p:anim calcmode="lin" valueType="num">
                                      <p:cBhvr additive="base">
                                        <p:cTn id="32" dur="500"/>
                                        <p:tgtEl>
                                          <p:spTgt spid="8"/>
                                        </p:tgtEl>
                                        <p:attrNameLst>
                                          <p:attrName>ppt_x</p:attrName>
                                        </p:attrNameLst>
                                      </p:cBhvr>
                                      <p:tavLst>
                                        <p:tav tm="0">
                                          <p:val>
                                            <p:strVal val="ppt_x"/>
                                          </p:val>
                                        </p:tav>
                                        <p:tav tm="100000">
                                          <p:val>
                                            <p:strVal val="0-ppt_w/2"/>
                                          </p:val>
                                        </p:tav>
                                      </p:tavLst>
                                    </p:anim>
                                    <p:anim calcmode="lin" valueType="num">
                                      <p:cBhvr additive="base">
                                        <p:cTn id="33" dur="500"/>
                                        <p:tgtEl>
                                          <p:spTgt spid="8"/>
                                        </p:tgtEl>
                                        <p:attrNameLst>
                                          <p:attrName>ppt_y</p:attrName>
                                        </p:attrNameLst>
                                      </p:cBhvr>
                                      <p:tavLst>
                                        <p:tav tm="0">
                                          <p:val>
                                            <p:strVal val="ppt_y"/>
                                          </p:val>
                                        </p:tav>
                                        <p:tav tm="100000">
                                          <p:val>
                                            <p:strVal val="ppt_y"/>
                                          </p:val>
                                        </p:tav>
                                      </p:tavLst>
                                    </p:anim>
                                    <p:set>
                                      <p:cBhvr>
                                        <p:cTn id="34" dur="1" fill="hold">
                                          <p:stCondLst>
                                            <p:cond delay="499"/>
                                          </p:stCondLst>
                                        </p:cTn>
                                        <p:tgtEl>
                                          <p:spTgt spid="8"/>
                                        </p:tgtEl>
                                        <p:attrNameLst>
                                          <p:attrName>style.visibility</p:attrName>
                                        </p:attrNameLst>
                                      </p:cBhvr>
                                      <p:to>
                                        <p:strVal val="hidden"/>
                                      </p:to>
                                    </p:set>
                                  </p:childTnLst>
                                </p:cTn>
                              </p:par>
                            </p:childTnLst>
                          </p:cTn>
                        </p:par>
                        <p:par>
                          <p:cTn id="35" fill="hold">
                            <p:stCondLst>
                              <p:cond delay="500"/>
                            </p:stCondLst>
                            <p:childTnLst>
                              <p:par>
                                <p:cTn id="36" presetID="9"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dissolve">
                                      <p:cBhvr>
                                        <p:cTn id="38" dur="500"/>
                                        <p:tgtEl>
                                          <p:spTgt spid="17"/>
                                        </p:tgtEl>
                                      </p:cBhvr>
                                    </p:animEffect>
                                  </p:childTnLst>
                                </p:cTn>
                              </p:par>
                            </p:childTnLst>
                          </p:cTn>
                        </p:par>
                        <p:par>
                          <p:cTn id="39" fill="hold">
                            <p:stCondLst>
                              <p:cond delay="1000"/>
                            </p:stCondLst>
                            <p:childTnLst>
                              <p:par>
                                <p:cTn id="40" presetID="2" presetClass="entr" presetSubtype="2"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 calcmode="lin" valueType="num">
                                      <p:cBhvr additive="base">
                                        <p:cTn id="42" dur="500" fill="hold"/>
                                        <p:tgtEl>
                                          <p:spTgt spid="10"/>
                                        </p:tgtEl>
                                        <p:attrNameLst>
                                          <p:attrName>ppt_x</p:attrName>
                                        </p:attrNameLst>
                                      </p:cBhvr>
                                      <p:tavLst>
                                        <p:tav tm="0">
                                          <p:val>
                                            <p:strVal val="1+#ppt_w/2"/>
                                          </p:val>
                                        </p:tav>
                                        <p:tav tm="100000">
                                          <p:val>
                                            <p:strVal val="#ppt_x"/>
                                          </p:val>
                                        </p:tav>
                                      </p:tavLst>
                                    </p:anim>
                                    <p:anim calcmode="lin" valueType="num">
                                      <p:cBhvr additive="base">
                                        <p:cTn id="43" dur="500" fill="hold"/>
                                        <p:tgtEl>
                                          <p:spTgt spid="10"/>
                                        </p:tgtEl>
                                        <p:attrNameLst>
                                          <p:attrName>ppt_y</p:attrName>
                                        </p:attrNameLst>
                                      </p:cBhvr>
                                      <p:tavLst>
                                        <p:tav tm="0">
                                          <p:val>
                                            <p:strVal val="#ppt_y"/>
                                          </p:val>
                                        </p:tav>
                                        <p:tav tm="100000">
                                          <p:val>
                                            <p:strVal val="#ppt_y"/>
                                          </p:val>
                                        </p:tav>
                                      </p:tavLst>
                                    </p:anim>
                                  </p:childTnLst>
                                </p:cTn>
                              </p:par>
                            </p:childTnLst>
                          </p:cTn>
                        </p:par>
                        <p:par>
                          <p:cTn id="44" fill="hold">
                            <p:stCondLst>
                              <p:cond delay="1500"/>
                            </p:stCondLst>
                            <p:childTnLst>
                              <p:par>
                                <p:cTn id="45" presetID="2" presetClass="entr" presetSubtype="2"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1+#ppt_w/2"/>
                                          </p:val>
                                        </p:tav>
                                        <p:tav tm="100000">
                                          <p:val>
                                            <p:strVal val="#ppt_x"/>
                                          </p:val>
                                        </p:tav>
                                      </p:tavLst>
                                    </p:anim>
                                    <p:anim calcmode="lin" valueType="num">
                                      <p:cBhvr additive="base">
                                        <p:cTn id="48" dur="5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xit" presetSubtype="8" fill="hold" grpId="1" nodeType="clickEffect">
                                  <p:stCondLst>
                                    <p:cond delay="0"/>
                                  </p:stCondLst>
                                  <p:childTnLst>
                                    <p:anim calcmode="lin" valueType="num">
                                      <p:cBhvr additive="base">
                                        <p:cTn id="52" dur="500"/>
                                        <p:tgtEl>
                                          <p:spTgt spid="9"/>
                                        </p:tgtEl>
                                        <p:attrNameLst>
                                          <p:attrName>ppt_x</p:attrName>
                                        </p:attrNameLst>
                                      </p:cBhvr>
                                      <p:tavLst>
                                        <p:tav tm="0">
                                          <p:val>
                                            <p:strVal val="ppt_x"/>
                                          </p:val>
                                        </p:tav>
                                        <p:tav tm="100000">
                                          <p:val>
                                            <p:strVal val="0-ppt_w/2"/>
                                          </p:val>
                                        </p:tav>
                                      </p:tavLst>
                                    </p:anim>
                                    <p:anim calcmode="lin" valueType="num">
                                      <p:cBhvr additive="base">
                                        <p:cTn id="53" dur="500"/>
                                        <p:tgtEl>
                                          <p:spTgt spid="9"/>
                                        </p:tgtEl>
                                        <p:attrNameLst>
                                          <p:attrName>ppt_y</p:attrName>
                                        </p:attrNameLst>
                                      </p:cBhvr>
                                      <p:tavLst>
                                        <p:tav tm="0">
                                          <p:val>
                                            <p:strVal val="ppt_y"/>
                                          </p:val>
                                        </p:tav>
                                        <p:tav tm="100000">
                                          <p:val>
                                            <p:strVal val="ppt_y"/>
                                          </p:val>
                                        </p:tav>
                                      </p:tavLst>
                                    </p:anim>
                                    <p:set>
                                      <p:cBhvr>
                                        <p:cTn id="54" dur="1" fill="hold">
                                          <p:stCondLst>
                                            <p:cond delay="499"/>
                                          </p:stCondLst>
                                        </p:cTn>
                                        <p:tgtEl>
                                          <p:spTgt spid="9"/>
                                        </p:tgtEl>
                                        <p:attrNameLst>
                                          <p:attrName>style.visibility</p:attrName>
                                        </p:attrNameLst>
                                      </p:cBhvr>
                                      <p:to>
                                        <p:strVal val="hidden"/>
                                      </p:to>
                                    </p:set>
                                  </p:childTnLst>
                                </p:cTn>
                              </p:par>
                            </p:childTnLst>
                          </p:cTn>
                        </p:par>
                        <p:par>
                          <p:cTn id="55" fill="hold">
                            <p:stCondLst>
                              <p:cond delay="500"/>
                            </p:stCondLst>
                            <p:childTnLst>
                              <p:par>
                                <p:cTn id="56" presetID="9"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dissolve">
                                      <p:cBhvr>
                                        <p:cTn id="58" dur="500"/>
                                        <p:tgtEl>
                                          <p:spTgt spid="18"/>
                                        </p:tgtEl>
                                      </p:cBhvr>
                                    </p:animEffect>
                                  </p:childTnLst>
                                </p:cTn>
                              </p:par>
                            </p:childTnLst>
                          </p:cTn>
                        </p:par>
                        <p:par>
                          <p:cTn id="59" fill="hold">
                            <p:stCondLst>
                              <p:cond delay="1000"/>
                            </p:stCondLst>
                            <p:childTnLst>
                              <p:par>
                                <p:cTn id="60" presetID="2" presetClass="entr" presetSubtype="2" fill="hold" grpId="0" nodeType="afterEffect">
                                  <p:stCondLst>
                                    <p:cond delay="0"/>
                                  </p:stCondLst>
                                  <p:childTnLst>
                                    <p:set>
                                      <p:cBhvr>
                                        <p:cTn id="61" dur="1" fill="hold">
                                          <p:stCondLst>
                                            <p:cond delay="0"/>
                                          </p:stCondLst>
                                        </p:cTn>
                                        <p:tgtEl>
                                          <p:spTgt spid="13"/>
                                        </p:tgtEl>
                                        <p:attrNameLst>
                                          <p:attrName>style.visibility</p:attrName>
                                        </p:attrNameLst>
                                      </p:cBhvr>
                                      <p:to>
                                        <p:strVal val="visible"/>
                                      </p:to>
                                    </p:set>
                                    <p:anim calcmode="lin" valueType="num">
                                      <p:cBhvr additive="base">
                                        <p:cTn id="62" dur="500" fill="hold"/>
                                        <p:tgtEl>
                                          <p:spTgt spid="13"/>
                                        </p:tgtEl>
                                        <p:attrNameLst>
                                          <p:attrName>ppt_x</p:attrName>
                                        </p:attrNameLst>
                                      </p:cBhvr>
                                      <p:tavLst>
                                        <p:tav tm="0">
                                          <p:val>
                                            <p:strVal val="1+#ppt_w/2"/>
                                          </p:val>
                                        </p:tav>
                                        <p:tav tm="100000">
                                          <p:val>
                                            <p:strVal val="#ppt_x"/>
                                          </p:val>
                                        </p:tav>
                                      </p:tavLst>
                                    </p:anim>
                                    <p:anim calcmode="lin" valueType="num">
                                      <p:cBhvr additive="base">
                                        <p:cTn id="63" dur="500" fill="hold"/>
                                        <p:tgtEl>
                                          <p:spTgt spid="13"/>
                                        </p:tgtEl>
                                        <p:attrNameLst>
                                          <p:attrName>ppt_y</p:attrName>
                                        </p:attrNameLst>
                                      </p:cBhvr>
                                      <p:tavLst>
                                        <p:tav tm="0">
                                          <p:val>
                                            <p:strVal val="#ppt_y"/>
                                          </p:val>
                                        </p:tav>
                                        <p:tav tm="100000">
                                          <p:val>
                                            <p:strVal val="#ppt_y"/>
                                          </p:val>
                                        </p:tav>
                                      </p:tavLst>
                                    </p:anim>
                                  </p:childTnLst>
                                </p:cTn>
                              </p:par>
                            </p:childTnLst>
                          </p:cTn>
                        </p:par>
                        <p:par>
                          <p:cTn id="64" fill="hold">
                            <p:stCondLst>
                              <p:cond delay="1500"/>
                            </p:stCondLst>
                            <p:childTnLst>
                              <p:par>
                                <p:cTn id="65" presetID="2" presetClass="entr" presetSubtype="2" fill="hold" grpId="0" nodeType="afterEffect">
                                  <p:stCondLst>
                                    <p:cond delay="0"/>
                                  </p:stCondLst>
                                  <p:childTnLst>
                                    <p:set>
                                      <p:cBhvr>
                                        <p:cTn id="66" dur="1" fill="hold">
                                          <p:stCondLst>
                                            <p:cond delay="0"/>
                                          </p:stCondLst>
                                        </p:cTn>
                                        <p:tgtEl>
                                          <p:spTgt spid="15"/>
                                        </p:tgtEl>
                                        <p:attrNameLst>
                                          <p:attrName>style.visibility</p:attrName>
                                        </p:attrNameLst>
                                      </p:cBhvr>
                                      <p:to>
                                        <p:strVal val="visible"/>
                                      </p:to>
                                    </p:set>
                                    <p:anim calcmode="lin" valueType="num">
                                      <p:cBhvr additive="base">
                                        <p:cTn id="67" dur="500" fill="hold"/>
                                        <p:tgtEl>
                                          <p:spTgt spid="15"/>
                                        </p:tgtEl>
                                        <p:attrNameLst>
                                          <p:attrName>ppt_x</p:attrName>
                                        </p:attrNameLst>
                                      </p:cBhvr>
                                      <p:tavLst>
                                        <p:tav tm="0">
                                          <p:val>
                                            <p:strVal val="1+#ppt_w/2"/>
                                          </p:val>
                                        </p:tav>
                                        <p:tav tm="100000">
                                          <p:val>
                                            <p:strVal val="#ppt_x"/>
                                          </p:val>
                                        </p:tav>
                                      </p:tavLst>
                                    </p:anim>
                                    <p:anim calcmode="lin" valueType="num">
                                      <p:cBhvr additive="base">
                                        <p:cTn id="68"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xit" presetSubtype="8" fill="hold" grpId="1" nodeType="clickEffect">
                                  <p:stCondLst>
                                    <p:cond delay="0"/>
                                  </p:stCondLst>
                                  <p:childTnLst>
                                    <p:anim calcmode="lin" valueType="num">
                                      <p:cBhvr additive="base">
                                        <p:cTn id="72" dur="500"/>
                                        <p:tgtEl>
                                          <p:spTgt spid="10"/>
                                        </p:tgtEl>
                                        <p:attrNameLst>
                                          <p:attrName>ppt_x</p:attrName>
                                        </p:attrNameLst>
                                      </p:cBhvr>
                                      <p:tavLst>
                                        <p:tav tm="0">
                                          <p:val>
                                            <p:strVal val="ppt_x"/>
                                          </p:val>
                                        </p:tav>
                                        <p:tav tm="100000">
                                          <p:val>
                                            <p:strVal val="0-ppt_w/2"/>
                                          </p:val>
                                        </p:tav>
                                      </p:tavLst>
                                    </p:anim>
                                    <p:anim calcmode="lin" valueType="num">
                                      <p:cBhvr additive="base">
                                        <p:cTn id="73" dur="500"/>
                                        <p:tgtEl>
                                          <p:spTgt spid="10"/>
                                        </p:tgtEl>
                                        <p:attrNameLst>
                                          <p:attrName>ppt_y</p:attrName>
                                        </p:attrNameLst>
                                      </p:cBhvr>
                                      <p:tavLst>
                                        <p:tav tm="0">
                                          <p:val>
                                            <p:strVal val="ppt_y"/>
                                          </p:val>
                                        </p:tav>
                                        <p:tav tm="100000">
                                          <p:val>
                                            <p:strVal val="ppt_y"/>
                                          </p:val>
                                        </p:tav>
                                      </p:tavLst>
                                    </p:anim>
                                    <p:set>
                                      <p:cBhvr>
                                        <p:cTn id="74" dur="1" fill="hold">
                                          <p:stCondLst>
                                            <p:cond delay="499"/>
                                          </p:stCondLst>
                                        </p:cTn>
                                        <p:tgtEl>
                                          <p:spTgt spid="10"/>
                                        </p:tgtEl>
                                        <p:attrNameLst>
                                          <p:attrName>style.visibility</p:attrName>
                                        </p:attrNameLst>
                                      </p:cBhvr>
                                      <p:to>
                                        <p:strVal val="hidden"/>
                                      </p:to>
                                    </p:set>
                                  </p:childTnLst>
                                </p:cTn>
                              </p:par>
                            </p:childTnLst>
                          </p:cTn>
                        </p:par>
                        <p:par>
                          <p:cTn id="75" fill="hold">
                            <p:stCondLst>
                              <p:cond delay="500"/>
                            </p:stCondLst>
                            <p:childTnLst>
                              <p:par>
                                <p:cTn id="76" presetID="9" presetClass="entr" presetSubtype="0" fill="hold" grpId="0" nodeType="afterEffect">
                                  <p:stCondLst>
                                    <p:cond delay="0"/>
                                  </p:stCondLst>
                                  <p:childTnLst>
                                    <p:set>
                                      <p:cBhvr>
                                        <p:cTn id="77" dur="1" fill="hold">
                                          <p:stCondLst>
                                            <p:cond delay="0"/>
                                          </p:stCondLst>
                                        </p:cTn>
                                        <p:tgtEl>
                                          <p:spTgt spid="19"/>
                                        </p:tgtEl>
                                        <p:attrNameLst>
                                          <p:attrName>style.visibility</p:attrName>
                                        </p:attrNameLst>
                                      </p:cBhvr>
                                      <p:to>
                                        <p:strVal val="visible"/>
                                      </p:to>
                                    </p:set>
                                    <p:animEffect transition="in" filter="dissolve">
                                      <p:cBhvr>
                                        <p:cTn id="78" dur="500"/>
                                        <p:tgtEl>
                                          <p:spTgt spid="19"/>
                                        </p:tgtEl>
                                      </p:cBhvr>
                                    </p:animEffect>
                                  </p:childTnLst>
                                </p:cTn>
                              </p:par>
                            </p:childTnLst>
                          </p:cTn>
                        </p:par>
                      </p:childTnLst>
                    </p:cTn>
                  </p:par>
                  <p:par>
                    <p:cTn id="79" fill="hold">
                      <p:stCondLst>
                        <p:cond delay="indefinite"/>
                      </p:stCondLst>
                      <p:childTnLst>
                        <p:par>
                          <p:cTn id="80" fill="hold">
                            <p:stCondLst>
                              <p:cond delay="0"/>
                            </p:stCondLst>
                            <p:childTnLst>
                              <p:par>
                                <p:cTn id="81" presetID="2" presetClass="exit" presetSubtype="8" fill="hold" grpId="1" nodeType="clickEffect">
                                  <p:stCondLst>
                                    <p:cond delay="0"/>
                                  </p:stCondLst>
                                  <p:childTnLst>
                                    <p:anim calcmode="lin" valueType="num">
                                      <p:cBhvr additive="base">
                                        <p:cTn id="82" dur="500"/>
                                        <p:tgtEl>
                                          <p:spTgt spid="11"/>
                                        </p:tgtEl>
                                        <p:attrNameLst>
                                          <p:attrName>ppt_x</p:attrName>
                                        </p:attrNameLst>
                                      </p:cBhvr>
                                      <p:tavLst>
                                        <p:tav tm="0">
                                          <p:val>
                                            <p:strVal val="ppt_x"/>
                                          </p:val>
                                        </p:tav>
                                        <p:tav tm="100000">
                                          <p:val>
                                            <p:strVal val="0-ppt_w/2"/>
                                          </p:val>
                                        </p:tav>
                                      </p:tavLst>
                                    </p:anim>
                                    <p:anim calcmode="lin" valueType="num">
                                      <p:cBhvr additive="base">
                                        <p:cTn id="83" dur="500"/>
                                        <p:tgtEl>
                                          <p:spTgt spid="11"/>
                                        </p:tgtEl>
                                        <p:attrNameLst>
                                          <p:attrName>ppt_y</p:attrName>
                                        </p:attrNameLst>
                                      </p:cBhvr>
                                      <p:tavLst>
                                        <p:tav tm="0">
                                          <p:val>
                                            <p:strVal val="ppt_y"/>
                                          </p:val>
                                        </p:tav>
                                        <p:tav tm="100000">
                                          <p:val>
                                            <p:strVal val="ppt_y"/>
                                          </p:val>
                                        </p:tav>
                                      </p:tavLst>
                                    </p:anim>
                                    <p:set>
                                      <p:cBhvr>
                                        <p:cTn id="84" dur="1" fill="hold">
                                          <p:stCondLst>
                                            <p:cond delay="499"/>
                                          </p:stCondLst>
                                        </p:cTn>
                                        <p:tgtEl>
                                          <p:spTgt spid="11"/>
                                        </p:tgtEl>
                                        <p:attrNameLst>
                                          <p:attrName>style.visibility</p:attrName>
                                        </p:attrNameLst>
                                      </p:cBhvr>
                                      <p:to>
                                        <p:strVal val="hidden"/>
                                      </p:to>
                                    </p:set>
                                  </p:childTnLst>
                                </p:cTn>
                              </p:par>
                            </p:childTnLst>
                          </p:cTn>
                        </p:par>
                        <p:par>
                          <p:cTn id="85" fill="hold">
                            <p:stCondLst>
                              <p:cond delay="500"/>
                            </p:stCondLst>
                            <p:childTnLst>
                              <p:par>
                                <p:cTn id="86" presetID="9" presetClass="entr" presetSubtype="0" fill="hold" grpId="0" nodeType="after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dissolve">
                                      <p:cBhvr>
                                        <p:cTn id="88" dur="500"/>
                                        <p:tgtEl>
                                          <p:spTgt spid="20"/>
                                        </p:tgtEl>
                                      </p:cBhvr>
                                    </p:animEffect>
                                  </p:childTnLst>
                                </p:cTn>
                              </p:par>
                            </p:childTnLst>
                          </p:cTn>
                        </p:par>
                        <p:par>
                          <p:cTn id="89" fill="hold">
                            <p:stCondLst>
                              <p:cond delay="1000"/>
                            </p:stCondLst>
                            <p:childTnLst>
                              <p:par>
                                <p:cTn id="90" presetID="2" presetClass="entr" presetSubtype="2" fill="hold" grpId="0" nodeType="afterEffect">
                                  <p:stCondLst>
                                    <p:cond delay="0"/>
                                  </p:stCondLst>
                                  <p:childTnLst>
                                    <p:set>
                                      <p:cBhvr>
                                        <p:cTn id="91" dur="1" fill="hold">
                                          <p:stCondLst>
                                            <p:cond delay="0"/>
                                          </p:stCondLst>
                                        </p:cTn>
                                        <p:tgtEl>
                                          <p:spTgt spid="12"/>
                                        </p:tgtEl>
                                        <p:attrNameLst>
                                          <p:attrName>style.visibility</p:attrName>
                                        </p:attrNameLst>
                                      </p:cBhvr>
                                      <p:to>
                                        <p:strVal val="visible"/>
                                      </p:to>
                                    </p:set>
                                    <p:anim calcmode="lin" valueType="num">
                                      <p:cBhvr additive="base">
                                        <p:cTn id="92" dur="500" fill="hold"/>
                                        <p:tgtEl>
                                          <p:spTgt spid="12"/>
                                        </p:tgtEl>
                                        <p:attrNameLst>
                                          <p:attrName>ppt_x</p:attrName>
                                        </p:attrNameLst>
                                      </p:cBhvr>
                                      <p:tavLst>
                                        <p:tav tm="0">
                                          <p:val>
                                            <p:strVal val="1+#ppt_w/2"/>
                                          </p:val>
                                        </p:tav>
                                        <p:tav tm="100000">
                                          <p:val>
                                            <p:strVal val="#ppt_x"/>
                                          </p:val>
                                        </p:tav>
                                      </p:tavLst>
                                    </p:anim>
                                    <p:anim calcmode="lin" valueType="num">
                                      <p:cBhvr additive="base">
                                        <p:cTn id="93"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2" presetClass="exit" presetSubtype="8" fill="hold" grpId="1" nodeType="clickEffect">
                                  <p:stCondLst>
                                    <p:cond delay="0"/>
                                  </p:stCondLst>
                                  <p:childTnLst>
                                    <p:anim calcmode="lin" valueType="num">
                                      <p:cBhvr additive="base">
                                        <p:cTn id="97" dur="500"/>
                                        <p:tgtEl>
                                          <p:spTgt spid="13"/>
                                        </p:tgtEl>
                                        <p:attrNameLst>
                                          <p:attrName>ppt_x</p:attrName>
                                        </p:attrNameLst>
                                      </p:cBhvr>
                                      <p:tavLst>
                                        <p:tav tm="0">
                                          <p:val>
                                            <p:strVal val="ppt_x"/>
                                          </p:val>
                                        </p:tav>
                                        <p:tav tm="100000">
                                          <p:val>
                                            <p:strVal val="0-ppt_w/2"/>
                                          </p:val>
                                        </p:tav>
                                      </p:tavLst>
                                    </p:anim>
                                    <p:anim calcmode="lin" valueType="num">
                                      <p:cBhvr additive="base">
                                        <p:cTn id="98" dur="500"/>
                                        <p:tgtEl>
                                          <p:spTgt spid="13"/>
                                        </p:tgtEl>
                                        <p:attrNameLst>
                                          <p:attrName>ppt_y</p:attrName>
                                        </p:attrNameLst>
                                      </p:cBhvr>
                                      <p:tavLst>
                                        <p:tav tm="0">
                                          <p:val>
                                            <p:strVal val="ppt_y"/>
                                          </p:val>
                                        </p:tav>
                                        <p:tav tm="100000">
                                          <p:val>
                                            <p:strVal val="ppt_y"/>
                                          </p:val>
                                        </p:tav>
                                      </p:tavLst>
                                    </p:anim>
                                    <p:set>
                                      <p:cBhvr>
                                        <p:cTn id="99" dur="1" fill="hold">
                                          <p:stCondLst>
                                            <p:cond delay="499"/>
                                          </p:stCondLst>
                                        </p:cTn>
                                        <p:tgtEl>
                                          <p:spTgt spid="13"/>
                                        </p:tgtEl>
                                        <p:attrNameLst>
                                          <p:attrName>style.visibility</p:attrName>
                                        </p:attrNameLst>
                                      </p:cBhvr>
                                      <p:to>
                                        <p:strVal val="hidden"/>
                                      </p:to>
                                    </p:set>
                                  </p:childTnLst>
                                </p:cTn>
                              </p:par>
                            </p:childTnLst>
                          </p:cTn>
                        </p:par>
                        <p:par>
                          <p:cTn id="100" fill="hold">
                            <p:stCondLst>
                              <p:cond delay="500"/>
                            </p:stCondLst>
                            <p:childTnLst>
                              <p:par>
                                <p:cTn id="101" presetID="9" presetClass="entr" presetSubtype="0" fill="hold" grpId="0" nodeType="after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dissolve">
                                      <p:cBhvr>
                                        <p:cTn id="103" dur="500"/>
                                        <p:tgtEl>
                                          <p:spTgt spid="21"/>
                                        </p:tgtEl>
                                      </p:cBhvr>
                                    </p:animEffect>
                                  </p:childTnLst>
                                </p:cTn>
                              </p:par>
                            </p:childTnLst>
                          </p:cTn>
                        </p:par>
                        <p:par>
                          <p:cTn id="104" fill="hold">
                            <p:stCondLst>
                              <p:cond delay="1000"/>
                            </p:stCondLst>
                            <p:childTnLst>
                              <p:par>
                                <p:cTn id="105" presetID="2" presetClass="entr" presetSubtype="2" fill="hold" grpId="0" nodeType="afterEffect">
                                  <p:stCondLst>
                                    <p:cond delay="0"/>
                                  </p:stCondLst>
                                  <p:childTnLst>
                                    <p:set>
                                      <p:cBhvr>
                                        <p:cTn id="106" dur="1" fill="hold">
                                          <p:stCondLst>
                                            <p:cond delay="0"/>
                                          </p:stCondLst>
                                        </p:cTn>
                                        <p:tgtEl>
                                          <p:spTgt spid="14"/>
                                        </p:tgtEl>
                                        <p:attrNameLst>
                                          <p:attrName>style.visibility</p:attrName>
                                        </p:attrNameLst>
                                      </p:cBhvr>
                                      <p:to>
                                        <p:strVal val="visible"/>
                                      </p:to>
                                    </p:set>
                                    <p:anim calcmode="lin" valueType="num">
                                      <p:cBhvr additive="base">
                                        <p:cTn id="107" dur="500" fill="hold"/>
                                        <p:tgtEl>
                                          <p:spTgt spid="14"/>
                                        </p:tgtEl>
                                        <p:attrNameLst>
                                          <p:attrName>ppt_x</p:attrName>
                                        </p:attrNameLst>
                                      </p:cBhvr>
                                      <p:tavLst>
                                        <p:tav tm="0">
                                          <p:val>
                                            <p:strVal val="1+#ppt_w/2"/>
                                          </p:val>
                                        </p:tav>
                                        <p:tav tm="100000">
                                          <p:val>
                                            <p:strVal val="#ppt_x"/>
                                          </p:val>
                                        </p:tav>
                                      </p:tavLst>
                                    </p:anim>
                                    <p:anim calcmode="lin" valueType="num">
                                      <p:cBhvr additive="base">
                                        <p:cTn id="108" dur="500" fill="hold"/>
                                        <p:tgtEl>
                                          <p:spTgt spid="14"/>
                                        </p:tgtEl>
                                        <p:attrNameLst>
                                          <p:attrName>ppt_y</p:attrName>
                                        </p:attrNameLst>
                                      </p:cBhvr>
                                      <p:tavLst>
                                        <p:tav tm="0">
                                          <p:val>
                                            <p:strVal val="#ppt_y"/>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2" presetClass="exit" presetSubtype="8" fill="hold" grpId="1" nodeType="clickEffect">
                                  <p:stCondLst>
                                    <p:cond delay="0"/>
                                  </p:stCondLst>
                                  <p:childTnLst>
                                    <p:anim calcmode="lin" valueType="num">
                                      <p:cBhvr additive="base">
                                        <p:cTn id="112" dur="500"/>
                                        <p:tgtEl>
                                          <p:spTgt spid="15"/>
                                        </p:tgtEl>
                                        <p:attrNameLst>
                                          <p:attrName>ppt_x</p:attrName>
                                        </p:attrNameLst>
                                      </p:cBhvr>
                                      <p:tavLst>
                                        <p:tav tm="0">
                                          <p:val>
                                            <p:strVal val="ppt_x"/>
                                          </p:val>
                                        </p:tav>
                                        <p:tav tm="100000">
                                          <p:val>
                                            <p:strVal val="0-ppt_w/2"/>
                                          </p:val>
                                        </p:tav>
                                      </p:tavLst>
                                    </p:anim>
                                    <p:anim calcmode="lin" valueType="num">
                                      <p:cBhvr additive="base">
                                        <p:cTn id="113" dur="500"/>
                                        <p:tgtEl>
                                          <p:spTgt spid="15"/>
                                        </p:tgtEl>
                                        <p:attrNameLst>
                                          <p:attrName>ppt_y</p:attrName>
                                        </p:attrNameLst>
                                      </p:cBhvr>
                                      <p:tavLst>
                                        <p:tav tm="0">
                                          <p:val>
                                            <p:strVal val="ppt_y"/>
                                          </p:val>
                                        </p:tav>
                                        <p:tav tm="100000">
                                          <p:val>
                                            <p:strVal val="ppt_y"/>
                                          </p:val>
                                        </p:tav>
                                      </p:tavLst>
                                    </p:anim>
                                    <p:set>
                                      <p:cBhvr>
                                        <p:cTn id="114" dur="1" fill="hold">
                                          <p:stCondLst>
                                            <p:cond delay="499"/>
                                          </p:stCondLst>
                                        </p:cTn>
                                        <p:tgtEl>
                                          <p:spTgt spid="15"/>
                                        </p:tgtEl>
                                        <p:attrNameLst>
                                          <p:attrName>style.visibility</p:attrName>
                                        </p:attrNameLst>
                                      </p:cBhvr>
                                      <p:to>
                                        <p:strVal val="hidden"/>
                                      </p:to>
                                    </p:set>
                                  </p:childTnLst>
                                </p:cTn>
                              </p:par>
                            </p:childTnLst>
                          </p:cTn>
                        </p:par>
                        <p:par>
                          <p:cTn id="115" fill="hold">
                            <p:stCondLst>
                              <p:cond delay="500"/>
                            </p:stCondLst>
                            <p:childTnLst>
                              <p:par>
                                <p:cTn id="116" presetID="9" presetClass="entr" presetSubtype="0" fill="hold" grpId="0" nodeType="afterEffect">
                                  <p:stCondLst>
                                    <p:cond delay="0"/>
                                  </p:stCondLst>
                                  <p:childTnLst>
                                    <p:set>
                                      <p:cBhvr>
                                        <p:cTn id="117" dur="1" fill="hold">
                                          <p:stCondLst>
                                            <p:cond delay="0"/>
                                          </p:stCondLst>
                                        </p:cTn>
                                        <p:tgtEl>
                                          <p:spTgt spid="22"/>
                                        </p:tgtEl>
                                        <p:attrNameLst>
                                          <p:attrName>style.visibility</p:attrName>
                                        </p:attrNameLst>
                                      </p:cBhvr>
                                      <p:to>
                                        <p:strVal val="visible"/>
                                      </p:to>
                                    </p:set>
                                    <p:animEffect transition="in" filter="dissolve">
                                      <p:cBhvr>
                                        <p:cTn id="118" dur="500"/>
                                        <p:tgtEl>
                                          <p:spTgt spid="22"/>
                                        </p:tgtEl>
                                      </p:cBhvr>
                                    </p:animEffect>
                                  </p:childTnLst>
                                </p:cTn>
                              </p:par>
                            </p:childTnLst>
                          </p:cTn>
                        </p:par>
                      </p:childTnLst>
                    </p:cTn>
                  </p:par>
                  <p:par>
                    <p:cTn id="119" fill="hold">
                      <p:stCondLst>
                        <p:cond delay="indefinite"/>
                      </p:stCondLst>
                      <p:childTnLst>
                        <p:par>
                          <p:cTn id="120" fill="hold">
                            <p:stCondLst>
                              <p:cond delay="0"/>
                            </p:stCondLst>
                            <p:childTnLst>
                              <p:par>
                                <p:cTn id="121" presetID="2" presetClass="exit" presetSubtype="8" fill="hold" grpId="1" nodeType="clickEffect">
                                  <p:stCondLst>
                                    <p:cond delay="0"/>
                                  </p:stCondLst>
                                  <p:childTnLst>
                                    <p:anim calcmode="lin" valueType="num">
                                      <p:cBhvr additive="base">
                                        <p:cTn id="122" dur="500"/>
                                        <p:tgtEl>
                                          <p:spTgt spid="12"/>
                                        </p:tgtEl>
                                        <p:attrNameLst>
                                          <p:attrName>ppt_x</p:attrName>
                                        </p:attrNameLst>
                                      </p:cBhvr>
                                      <p:tavLst>
                                        <p:tav tm="0">
                                          <p:val>
                                            <p:strVal val="ppt_x"/>
                                          </p:val>
                                        </p:tav>
                                        <p:tav tm="100000">
                                          <p:val>
                                            <p:strVal val="0-ppt_w/2"/>
                                          </p:val>
                                        </p:tav>
                                      </p:tavLst>
                                    </p:anim>
                                    <p:anim calcmode="lin" valueType="num">
                                      <p:cBhvr additive="base">
                                        <p:cTn id="123" dur="500"/>
                                        <p:tgtEl>
                                          <p:spTgt spid="12"/>
                                        </p:tgtEl>
                                        <p:attrNameLst>
                                          <p:attrName>ppt_y</p:attrName>
                                        </p:attrNameLst>
                                      </p:cBhvr>
                                      <p:tavLst>
                                        <p:tav tm="0">
                                          <p:val>
                                            <p:strVal val="ppt_y"/>
                                          </p:val>
                                        </p:tav>
                                        <p:tav tm="100000">
                                          <p:val>
                                            <p:strVal val="ppt_y"/>
                                          </p:val>
                                        </p:tav>
                                      </p:tavLst>
                                    </p:anim>
                                    <p:set>
                                      <p:cBhvr>
                                        <p:cTn id="124" dur="1" fill="hold">
                                          <p:stCondLst>
                                            <p:cond delay="499"/>
                                          </p:stCondLst>
                                        </p:cTn>
                                        <p:tgtEl>
                                          <p:spTgt spid="12"/>
                                        </p:tgtEl>
                                        <p:attrNameLst>
                                          <p:attrName>style.visibility</p:attrName>
                                        </p:attrNameLst>
                                      </p:cBhvr>
                                      <p:to>
                                        <p:strVal val="hidden"/>
                                      </p:to>
                                    </p:set>
                                  </p:childTnLst>
                                </p:cTn>
                              </p:par>
                            </p:childTnLst>
                          </p:cTn>
                        </p:par>
                        <p:par>
                          <p:cTn id="125" fill="hold">
                            <p:stCondLst>
                              <p:cond delay="500"/>
                            </p:stCondLst>
                            <p:childTnLst>
                              <p:par>
                                <p:cTn id="126" presetID="9" presetClass="entr" presetSubtype="0" fill="hold" grpId="0" nodeType="afterEffect">
                                  <p:stCondLst>
                                    <p:cond delay="0"/>
                                  </p:stCondLst>
                                  <p:childTnLst>
                                    <p:set>
                                      <p:cBhvr>
                                        <p:cTn id="127" dur="1" fill="hold">
                                          <p:stCondLst>
                                            <p:cond delay="0"/>
                                          </p:stCondLst>
                                        </p:cTn>
                                        <p:tgtEl>
                                          <p:spTgt spid="23"/>
                                        </p:tgtEl>
                                        <p:attrNameLst>
                                          <p:attrName>style.visibility</p:attrName>
                                        </p:attrNameLst>
                                      </p:cBhvr>
                                      <p:to>
                                        <p:strVal val="visible"/>
                                      </p:to>
                                    </p:set>
                                    <p:animEffect transition="in" filter="dissolve">
                                      <p:cBhvr>
                                        <p:cTn id="128" dur="500"/>
                                        <p:tgtEl>
                                          <p:spTgt spid="23"/>
                                        </p:tgtEl>
                                      </p:cBhvr>
                                    </p:animEffect>
                                  </p:childTnLst>
                                </p:cTn>
                              </p:par>
                            </p:childTnLst>
                          </p:cTn>
                        </p:par>
                      </p:childTnLst>
                    </p:cTn>
                  </p:par>
                  <p:par>
                    <p:cTn id="129" fill="hold">
                      <p:stCondLst>
                        <p:cond delay="indefinite"/>
                      </p:stCondLst>
                      <p:childTnLst>
                        <p:par>
                          <p:cTn id="130" fill="hold">
                            <p:stCondLst>
                              <p:cond delay="0"/>
                            </p:stCondLst>
                            <p:childTnLst>
                              <p:par>
                                <p:cTn id="131" presetID="2" presetClass="exit" presetSubtype="8" fill="hold" grpId="1" nodeType="clickEffect">
                                  <p:stCondLst>
                                    <p:cond delay="0"/>
                                  </p:stCondLst>
                                  <p:childTnLst>
                                    <p:anim calcmode="lin" valueType="num">
                                      <p:cBhvr additive="base">
                                        <p:cTn id="132" dur="500"/>
                                        <p:tgtEl>
                                          <p:spTgt spid="14"/>
                                        </p:tgtEl>
                                        <p:attrNameLst>
                                          <p:attrName>ppt_x</p:attrName>
                                        </p:attrNameLst>
                                      </p:cBhvr>
                                      <p:tavLst>
                                        <p:tav tm="0">
                                          <p:val>
                                            <p:strVal val="ppt_x"/>
                                          </p:val>
                                        </p:tav>
                                        <p:tav tm="100000">
                                          <p:val>
                                            <p:strVal val="0-ppt_w/2"/>
                                          </p:val>
                                        </p:tav>
                                      </p:tavLst>
                                    </p:anim>
                                    <p:anim calcmode="lin" valueType="num">
                                      <p:cBhvr additive="base">
                                        <p:cTn id="133" dur="500"/>
                                        <p:tgtEl>
                                          <p:spTgt spid="14"/>
                                        </p:tgtEl>
                                        <p:attrNameLst>
                                          <p:attrName>ppt_y</p:attrName>
                                        </p:attrNameLst>
                                      </p:cBhvr>
                                      <p:tavLst>
                                        <p:tav tm="0">
                                          <p:val>
                                            <p:strVal val="ppt_y"/>
                                          </p:val>
                                        </p:tav>
                                        <p:tav tm="100000">
                                          <p:val>
                                            <p:strVal val="ppt_y"/>
                                          </p:val>
                                        </p:tav>
                                      </p:tavLst>
                                    </p:anim>
                                    <p:set>
                                      <p:cBhvr>
                                        <p:cTn id="134" dur="1" fill="hold">
                                          <p:stCondLst>
                                            <p:cond delay="499"/>
                                          </p:stCondLst>
                                        </p:cTn>
                                        <p:tgtEl>
                                          <p:spTgt spid="14"/>
                                        </p:tgtEl>
                                        <p:attrNameLst>
                                          <p:attrName>style.visibility</p:attrName>
                                        </p:attrNameLst>
                                      </p:cBhvr>
                                      <p:to>
                                        <p:strVal val="hidden"/>
                                      </p:to>
                                    </p:set>
                                  </p:childTnLst>
                                </p:cTn>
                              </p:par>
                            </p:childTnLst>
                          </p:cTn>
                        </p:par>
                        <p:par>
                          <p:cTn id="135" fill="hold">
                            <p:stCondLst>
                              <p:cond delay="500"/>
                            </p:stCondLst>
                            <p:childTnLst>
                              <p:par>
                                <p:cTn id="136" presetID="9" presetClass="entr" presetSubtype="0" fill="hold" grpId="0" nodeType="after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dissolv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9" grpId="0"/>
      <p:bldP spid="9" grpId="1"/>
      <p:bldP spid="10" grpId="0"/>
      <p:bldP spid="10" grpId="1"/>
      <p:bldP spid="11" grpId="0"/>
      <p:bldP spid="11" grpId="1"/>
      <p:bldP spid="12" grpId="0"/>
      <p:bldP spid="12" grpId="1"/>
      <p:bldP spid="13" grpId="0"/>
      <p:bldP spid="13" grpId="1"/>
      <p:bldP spid="14" grpId="0"/>
      <p:bldP spid="14" grpId="1"/>
      <p:bldP spid="15" grpId="0"/>
      <p:bldP spid="15" grpId="1"/>
      <p:bldP spid="16" grpId="0"/>
      <p:bldP spid="17" grpId="0"/>
      <p:bldP spid="18" grpId="0"/>
      <p:bldP spid="19" grpId="0"/>
      <p:bldP spid="20" grpId="0"/>
      <p:bldP spid="21" grpId="0"/>
      <p:bldP spid="22" grpId="0"/>
      <p:bldP spid="23" grpId="0"/>
      <p:bldP spid="2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ts val="2500"/>
              </a:lnSpc>
              <a:spcBef>
                <a:spcPts val="0"/>
              </a:spcBef>
              <a:spcAft>
                <a:spcPts val="0"/>
              </a:spcAft>
            </a:pPr>
            <a:r>
              <a:rPr lang="zh-CN" altLang="en-US" dirty="0"/>
              <a:t>按层次遍历：</a:t>
            </a:r>
            <a:endParaRPr lang="zh-CN" altLang="en-US" sz="2400" dirty="0"/>
          </a:p>
          <a:p>
            <a:pPr lvl="2">
              <a:lnSpc>
                <a:spcPts val="2500"/>
              </a:lnSpc>
            </a:pPr>
            <a:r>
              <a:rPr lang="en-US" altLang="zh-CN" sz="1800" dirty="0"/>
              <a:t>void </a:t>
            </a:r>
            <a:r>
              <a:rPr lang="en-US" altLang="zh-CN" sz="1800" dirty="0" err="1"/>
              <a:t>LevelOrderTraversal</a:t>
            </a:r>
            <a:r>
              <a:rPr lang="en-US" altLang="zh-CN" sz="1800" dirty="0"/>
              <a:t> ( </a:t>
            </a:r>
            <a:r>
              <a:rPr lang="en-US" altLang="zh-CN" sz="1800" dirty="0" err="1"/>
              <a:t>BiTree</a:t>
            </a:r>
            <a:r>
              <a:rPr lang="en-US" altLang="zh-CN" sz="1800" dirty="0"/>
              <a:t>  BT ) { </a:t>
            </a:r>
            <a:endParaRPr lang="en-US" altLang="zh-CN" sz="1800" dirty="0"/>
          </a:p>
          <a:p>
            <a:pPr lvl="2">
              <a:lnSpc>
                <a:spcPts val="2500"/>
              </a:lnSpc>
            </a:pPr>
            <a:r>
              <a:rPr lang="en-US" altLang="zh-CN" sz="1800" dirty="0"/>
              <a:t>        Queue Q; </a:t>
            </a:r>
            <a:r>
              <a:rPr lang="en-US" altLang="zh-CN" sz="1800" dirty="0" err="1"/>
              <a:t>BiTree</a:t>
            </a:r>
            <a:r>
              <a:rPr lang="en-US" altLang="zh-CN" sz="1800" dirty="0"/>
              <a:t> T; </a:t>
            </a:r>
            <a:endParaRPr lang="en-US" altLang="zh-CN" sz="1800" dirty="0"/>
          </a:p>
          <a:p>
            <a:pPr lvl="2">
              <a:lnSpc>
                <a:spcPts val="2500"/>
              </a:lnSpc>
            </a:pPr>
            <a:r>
              <a:rPr lang="en-US" altLang="zh-CN" sz="1800" dirty="0"/>
              <a:t>        if ( !BT ) return;    /* </a:t>
            </a:r>
            <a:r>
              <a:rPr lang="zh-CN" altLang="en-US" sz="1800" dirty="0"/>
              <a:t>若是空树则直接返回 *</a:t>
            </a:r>
            <a:r>
              <a:rPr lang="en-US" altLang="zh-CN" sz="1800" dirty="0"/>
              <a:t>/ </a:t>
            </a:r>
            <a:endParaRPr lang="en-US" altLang="zh-CN" sz="1800" dirty="0"/>
          </a:p>
          <a:p>
            <a:pPr lvl="2">
              <a:lnSpc>
                <a:spcPts val="2500"/>
              </a:lnSpc>
            </a:pPr>
            <a:r>
              <a:rPr lang="en-US" altLang="zh-CN" sz="1800" dirty="0"/>
              <a:t>        </a:t>
            </a:r>
            <a:r>
              <a:rPr lang="en-US" altLang="zh-CN" sz="1800" dirty="0" err="1"/>
              <a:t>InitQueue</a:t>
            </a:r>
            <a:r>
              <a:rPr lang="en-US" altLang="zh-CN" sz="1800" dirty="0"/>
              <a:t>( Q );     /*</a:t>
            </a:r>
            <a:r>
              <a:rPr lang="zh-CN" altLang="en-US" sz="1800" dirty="0"/>
              <a:t>创建并初始化队列</a:t>
            </a:r>
            <a:r>
              <a:rPr lang="en-US" altLang="zh-CN" sz="1800" dirty="0"/>
              <a:t>Q*/ </a:t>
            </a:r>
            <a:endParaRPr lang="en-US" altLang="zh-CN" sz="1800" dirty="0"/>
          </a:p>
          <a:p>
            <a:pPr lvl="2">
              <a:lnSpc>
                <a:spcPts val="2500"/>
              </a:lnSpc>
            </a:pPr>
            <a:r>
              <a:rPr lang="en-US" altLang="zh-CN" sz="1800" dirty="0"/>
              <a:t>        </a:t>
            </a:r>
            <a:r>
              <a:rPr lang="en-US" altLang="zh-CN" sz="1800" dirty="0" err="1"/>
              <a:t>EnQueue</a:t>
            </a:r>
            <a:r>
              <a:rPr lang="en-US" altLang="zh-CN" sz="1800" dirty="0"/>
              <a:t>( Q, BT ); </a:t>
            </a:r>
            <a:endParaRPr lang="en-US" altLang="zh-CN" sz="1800" dirty="0"/>
          </a:p>
          <a:p>
            <a:pPr lvl="2">
              <a:lnSpc>
                <a:spcPts val="2500"/>
              </a:lnSpc>
            </a:pPr>
            <a:r>
              <a:rPr lang="en-US" altLang="zh-CN" sz="1800" dirty="0"/>
              <a:t>        while ( !</a:t>
            </a:r>
            <a:r>
              <a:rPr lang="en-US" altLang="zh-CN" sz="1800" dirty="0" err="1"/>
              <a:t>IsEmptyQueue</a:t>
            </a:r>
            <a:r>
              <a:rPr lang="en-US" altLang="zh-CN" sz="1800" dirty="0"/>
              <a:t>( Q ) ) { </a:t>
            </a:r>
            <a:endParaRPr lang="en-US" altLang="zh-CN" sz="1800" dirty="0"/>
          </a:p>
          <a:p>
            <a:pPr lvl="2">
              <a:lnSpc>
                <a:spcPts val="2500"/>
              </a:lnSpc>
            </a:pPr>
            <a:r>
              <a:rPr lang="en-US" altLang="zh-CN" sz="1800" dirty="0"/>
              <a:t>	</a:t>
            </a:r>
            <a:r>
              <a:rPr lang="en-US" altLang="zh-CN" sz="1800" dirty="0" err="1"/>
              <a:t>DeQueue</a:t>
            </a:r>
            <a:r>
              <a:rPr lang="en-US" altLang="zh-CN" sz="1800" dirty="0"/>
              <a:t>( Q, T ); </a:t>
            </a:r>
            <a:endParaRPr lang="en-US" altLang="zh-CN" sz="1800" dirty="0"/>
          </a:p>
          <a:p>
            <a:pPr lvl="2">
              <a:lnSpc>
                <a:spcPts val="2500"/>
              </a:lnSpc>
            </a:pPr>
            <a:r>
              <a:rPr lang="en-US" altLang="zh-CN" sz="1800" dirty="0"/>
              <a:t>	</a:t>
            </a:r>
            <a:r>
              <a:rPr lang="en-US" altLang="zh-CN" sz="1800" dirty="0" err="1"/>
              <a:t>printf</a:t>
            </a:r>
            <a:r>
              <a:rPr lang="en-US" altLang="zh-CN" sz="1800" dirty="0"/>
              <a:t>(“%d\n”, T-</a:t>
            </a:r>
            <a:r>
              <a:rPr lang="en-US" altLang="zh-CN" sz="1800" dirty="0" smtClean="0"/>
              <a:t>&gt;data</a:t>
            </a:r>
            <a:r>
              <a:rPr lang="en-US" altLang="zh-CN" sz="1800" dirty="0"/>
              <a:t>); /*</a:t>
            </a:r>
            <a:r>
              <a:rPr lang="zh-CN" altLang="en-US" sz="1800" dirty="0"/>
              <a:t>访问取出队列的结点*</a:t>
            </a:r>
            <a:r>
              <a:rPr lang="en-US" altLang="zh-CN" sz="1800" dirty="0"/>
              <a:t>/ </a:t>
            </a:r>
            <a:endParaRPr lang="en-US" altLang="zh-CN" sz="1800" dirty="0"/>
          </a:p>
          <a:p>
            <a:pPr lvl="2">
              <a:lnSpc>
                <a:spcPts val="2500"/>
              </a:lnSpc>
            </a:pPr>
            <a:r>
              <a:rPr lang="en-US" altLang="zh-CN" sz="1800" dirty="0"/>
              <a:t>	if ( T-</a:t>
            </a:r>
            <a:r>
              <a:rPr lang="en-US" altLang="zh-CN" sz="1800" dirty="0" smtClean="0"/>
              <a:t>&gt;</a:t>
            </a:r>
            <a:r>
              <a:rPr lang="en-US" altLang="zh-CN" sz="1800" dirty="0" err="1" smtClean="0"/>
              <a:t>lchild</a:t>
            </a:r>
            <a:r>
              <a:rPr lang="en-US" altLang="zh-CN" sz="1800" dirty="0" smtClean="0"/>
              <a:t> </a:t>
            </a:r>
            <a:r>
              <a:rPr lang="en-US" altLang="zh-CN" sz="1800" dirty="0"/>
              <a:t>) </a:t>
            </a:r>
            <a:r>
              <a:rPr lang="en-US" altLang="zh-CN" sz="1800" dirty="0" err="1"/>
              <a:t>EnQueue</a:t>
            </a:r>
            <a:r>
              <a:rPr lang="en-US" altLang="zh-CN" sz="1800" dirty="0"/>
              <a:t>( Q, T-</a:t>
            </a:r>
            <a:r>
              <a:rPr lang="en-US" altLang="zh-CN" sz="1800" dirty="0" smtClean="0"/>
              <a:t>&gt;</a:t>
            </a:r>
            <a:r>
              <a:rPr lang="en-US" altLang="zh-CN" sz="1800" dirty="0" err="1" smtClean="0"/>
              <a:t>lchild</a:t>
            </a:r>
            <a:r>
              <a:rPr lang="en-US" altLang="zh-CN" sz="1800" dirty="0" smtClean="0"/>
              <a:t> </a:t>
            </a:r>
            <a:r>
              <a:rPr lang="en-US" altLang="zh-CN" sz="1800" dirty="0"/>
              <a:t>);  /*</a:t>
            </a:r>
            <a:r>
              <a:rPr lang="zh-CN" altLang="en-US" sz="1800" dirty="0"/>
              <a:t>左孩子入队</a:t>
            </a:r>
            <a:r>
              <a:rPr lang="en-US" altLang="zh-CN" sz="1800" dirty="0"/>
              <a:t>*/</a:t>
            </a:r>
            <a:endParaRPr lang="en-US" altLang="zh-CN" sz="1800" dirty="0"/>
          </a:p>
          <a:p>
            <a:pPr lvl="2">
              <a:lnSpc>
                <a:spcPts val="2500"/>
              </a:lnSpc>
            </a:pPr>
            <a:r>
              <a:rPr lang="en-US" altLang="zh-CN" sz="1800" dirty="0"/>
              <a:t>	if ( T-</a:t>
            </a:r>
            <a:r>
              <a:rPr lang="en-US" altLang="zh-CN" sz="1800" dirty="0" smtClean="0"/>
              <a:t>&gt;right) </a:t>
            </a:r>
            <a:r>
              <a:rPr lang="en-US" altLang="zh-CN" sz="1800" dirty="0" err="1"/>
              <a:t>EnQueue</a:t>
            </a:r>
            <a:r>
              <a:rPr lang="en-US" altLang="zh-CN" sz="1800" dirty="0"/>
              <a:t>( Q, T-</a:t>
            </a:r>
            <a:r>
              <a:rPr lang="en-US" altLang="zh-CN" sz="1800" dirty="0" smtClean="0"/>
              <a:t>&gt;</a:t>
            </a:r>
            <a:r>
              <a:rPr lang="en-US" altLang="zh-CN" sz="1800" dirty="0" err="1" smtClean="0"/>
              <a:t>rchild</a:t>
            </a:r>
            <a:r>
              <a:rPr lang="en-US" altLang="zh-CN" sz="1800" dirty="0" smtClean="0"/>
              <a:t>); </a:t>
            </a:r>
            <a:r>
              <a:rPr lang="en-US" altLang="zh-CN" sz="1800" dirty="0"/>
              <a:t>/*</a:t>
            </a:r>
            <a:r>
              <a:rPr lang="zh-CN" altLang="en-US" sz="1800" dirty="0"/>
              <a:t>右孩子入队</a:t>
            </a:r>
            <a:r>
              <a:rPr lang="en-US" altLang="zh-CN" sz="1800" dirty="0"/>
              <a:t>*/</a:t>
            </a:r>
            <a:endParaRPr lang="en-US" altLang="zh-CN" sz="1800" dirty="0"/>
          </a:p>
          <a:p>
            <a:pPr lvl="2">
              <a:lnSpc>
                <a:spcPts val="2500"/>
              </a:lnSpc>
            </a:pPr>
            <a:r>
              <a:rPr lang="en-US" altLang="zh-CN" sz="1800" dirty="0"/>
              <a:t>        } </a:t>
            </a:r>
            <a:endParaRPr lang="en-US" altLang="zh-CN" sz="1800" dirty="0"/>
          </a:p>
          <a:p>
            <a:pPr lvl="2">
              <a:lnSpc>
                <a:spcPts val="2500"/>
              </a:lnSpc>
            </a:pPr>
            <a:r>
              <a:rPr lang="en-US" altLang="zh-CN" sz="1800" dirty="0"/>
              <a:t>} </a:t>
            </a:r>
            <a:endParaRPr lang="zh-CN" altLang="en-US" sz="22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遍历算法的其他应用：</a:t>
            </a:r>
            <a:endParaRPr lang="en-US" altLang="zh-CN" dirty="0"/>
          </a:p>
          <a:p>
            <a:pPr marL="478155" lvl="2" indent="-342900">
              <a:buFont typeface="Wingdings" panose="05000000000000000000" pitchFamily="2" charset="2"/>
              <a:buChar char="Ø"/>
            </a:pPr>
            <a:r>
              <a:rPr lang="zh-CN" altLang="en-US" dirty="0"/>
              <a:t>输出二叉树中的叶子结点</a:t>
            </a:r>
            <a:endParaRPr lang="en-US" altLang="zh-CN" dirty="0"/>
          </a:p>
          <a:p>
            <a:pPr marL="478155" lvl="2" indent="-342900">
              <a:buFont typeface="Wingdings" panose="05000000000000000000" pitchFamily="2" charset="2"/>
              <a:buChar char="Ø"/>
            </a:pPr>
            <a:r>
              <a:rPr lang="zh-CN" altLang="en-US" dirty="0"/>
              <a:t>统计叶子结点数目 </a:t>
            </a:r>
            <a:endParaRPr lang="en-US" altLang="zh-CN" dirty="0"/>
          </a:p>
          <a:p>
            <a:pPr marL="478155" lvl="2" indent="-342900">
              <a:buFont typeface="Wingdings" panose="05000000000000000000" pitchFamily="2" charset="2"/>
              <a:buChar char="Ø"/>
            </a:pPr>
            <a:r>
              <a:rPr lang="zh-CN" altLang="en-US" dirty="0"/>
              <a:t>建立二叉链表方式存储的二叉树</a:t>
            </a:r>
            <a:endParaRPr lang="en-US" altLang="zh-CN" dirty="0"/>
          </a:p>
          <a:p>
            <a:pPr marL="478155" lvl="2" indent="-342900">
              <a:buFont typeface="Wingdings" panose="05000000000000000000" pitchFamily="2" charset="2"/>
              <a:buChar char="Ø"/>
            </a:pPr>
            <a:r>
              <a:rPr lang="zh-CN" altLang="en-US" dirty="0"/>
              <a:t>求二叉树的高度</a:t>
            </a:r>
            <a:endParaRPr lang="en-US" altLang="zh-CN" dirty="0"/>
          </a:p>
          <a:p>
            <a:pPr marL="478155" lvl="2" indent="-342900">
              <a:buFont typeface="Wingdings" panose="05000000000000000000" pitchFamily="2" charset="2"/>
              <a:buChar char="Ø"/>
            </a:pPr>
            <a:r>
              <a:rPr lang="zh-CN" altLang="en-US" dirty="0"/>
              <a:t>按树状打印二叉树</a:t>
            </a:r>
            <a:endParaRPr lang="en-US" altLang="zh-CN" dirty="0"/>
          </a:p>
          <a:p>
            <a:pPr marL="478155" lvl="2" indent="-342900">
              <a:buFont typeface="Wingdings" panose="05000000000000000000" pitchFamily="2" charset="2"/>
              <a:buChar char="Ø"/>
            </a:pPr>
            <a:r>
              <a:rPr lang="en-US" altLang="zh-CN" dirty="0"/>
              <a:t>......</a:t>
            </a:r>
            <a:endParaRPr lang="zh-CN" altLang="en-US" dirty="0"/>
          </a:p>
          <a:p>
            <a:endParaRPr lang="zh-CN" altLang="en-US" sz="2400" dirty="0">
              <a:solidFill>
                <a:srgbClr val="0070C0"/>
              </a:solidFill>
            </a:endParaRPr>
          </a:p>
          <a:p>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遍历算法的其他应用：</a:t>
            </a:r>
            <a:endParaRPr lang="en-US" altLang="zh-CN" dirty="0"/>
          </a:p>
          <a:p>
            <a:pPr lvl="2">
              <a:buFont typeface="Wingdings" panose="05000000000000000000" pitchFamily="2" charset="2"/>
            </a:pPr>
            <a:r>
              <a:rPr dirty="0"/>
              <a:t>1. </a:t>
            </a:r>
            <a:r>
              <a:rPr lang="zh-CN" altLang="en-US" dirty="0"/>
              <a:t>输出二叉树中</a:t>
            </a:r>
            <a:r>
              <a:rPr lang="zh-CN" altLang="en-US" dirty="0" smtClean="0"/>
              <a:t>的结点</a:t>
            </a:r>
            <a:endParaRPr lang="zh-CN" altLang="en-US" dirty="0"/>
          </a:p>
          <a:p>
            <a:pPr lvl="2">
              <a:buFont typeface="Wingdings" panose="05000000000000000000" pitchFamily="2" charset="2"/>
            </a:pPr>
            <a:r>
              <a:rPr lang="zh-CN" altLang="en-US" dirty="0">
                <a:sym typeface="+mn-ea"/>
              </a:rPr>
              <a:t>    遍历算法将走遍二叉树中的每一个结点，故输出二叉树中的结点并无次序要求，因此可用三种遍历中的任何一种算法完成。</a:t>
            </a:r>
            <a:endParaRPr lang="zh-CN" altLang="en-US" dirty="0">
              <a:sym typeface="+mn-ea"/>
            </a:endParaRPr>
          </a:p>
          <a:p>
            <a:pPr lvl="2">
              <a:buFont typeface="Wingdings" panose="05000000000000000000" pitchFamily="2" charset="2"/>
            </a:pPr>
            <a:r>
              <a:rPr lang="en-US" altLang="zh-CN" sz="2100" dirty="0">
                <a:solidFill>
                  <a:srgbClr val="00194C"/>
                </a:solidFill>
                <a:latin typeface="华文楷体" panose="02010600040101010101" pitchFamily="2" charset="-122"/>
                <a:ea typeface="华文楷体" panose="02010600040101010101" pitchFamily="2" charset="-122"/>
                <a:sym typeface="+mn-ea"/>
              </a:rPr>
              <a:t>2. </a:t>
            </a:r>
            <a:r>
              <a:rPr lang="zh-CN" altLang="en-US" sz="2100" dirty="0">
                <a:solidFill>
                  <a:srgbClr val="00194C"/>
                </a:solidFill>
                <a:latin typeface="华文楷体" panose="02010600040101010101" pitchFamily="2" charset="-122"/>
                <a:ea typeface="华文楷体" panose="02010600040101010101" pitchFamily="2" charset="-122"/>
                <a:sym typeface="+mn-ea"/>
              </a:rPr>
              <a:t>输出二叉树中的叶子结点</a:t>
            </a:r>
            <a:endParaRPr lang="zh-CN" altLang="en-US" sz="2100" dirty="0">
              <a:solidFill>
                <a:srgbClr val="00194C"/>
              </a:solidFill>
              <a:latin typeface="华文楷体" panose="02010600040101010101" pitchFamily="2" charset="-122"/>
              <a:ea typeface="华文楷体" panose="02010600040101010101" pitchFamily="2" charset="-122"/>
              <a:sym typeface="+mn-ea"/>
            </a:endParaRPr>
          </a:p>
          <a:p>
            <a:pPr lvl="2">
              <a:buFont typeface="Wingdings" panose="05000000000000000000" pitchFamily="2" charset="2"/>
            </a:pPr>
            <a:r>
              <a:rPr lang="zh-CN" altLang="en-US" sz="2100" dirty="0">
                <a:solidFill>
                  <a:srgbClr val="00194C"/>
                </a:solidFill>
                <a:latin typeface="华文楷体" panose="02010600040101010101" pitchFamily="2" charset="-122"/>
                <a:ea typeface="华文楷体" panose="02010600040101010101" pitchFamily="2" charset="-122"/>
                <a:sym typeface="+mn-ea"/>
              </a:rPr>
              <a:t>    输出二叉树中的叶子结点，是一个有条件的输出问题，即</a:t>
            </a:r>
            <a:r>
              <a:rPr lang="zh-CN" altLang="en-US" sz="2100" dirty="0">
                <a:solidFill>
                  <a:srgbClr val="FF0000"/>
                </a:solidFill>
                <a:latin typeface="华文楷体" panose="02010600040101010101" pitchFamily="2" charset="-122"/>
                <a:ea typeface="华文楷体" panose="02010600040101010101" pitchFamily="2" charset="-122"/>
                <a:sym typeface="+mn-ea"/>
              </a:rPr>
              <a:t>在遍历过程中走到每一个结点时需进行测试，看是否有满足叶子结点的条件。</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sz="1800" dirty="0">
                <a:solidFill>
                  <a:srgbClr val="00194C"/>
                </a:solidFill>
                <a:latin typeface="华文楷体" panose="02010600040101010101" pitchFamily="2" charset="-122"/>
                <a:ea typeface="华文楷体" panose="02010600040101010101" pitchFamily="2" charset="-122"/>
                <a:sym typeface="+mn-ea"/>
              </a:rPr>
              <a:t>/* 先序遍历输出二叉树中的叶子结点,  root为指向二叉树根结点的指针 */</a:t>
            </a:r>
            <a:endParaRPr lang="zh-CN" altLang="en-US" sz="1800" dirty="0">
              <a:sym typeface="+mn-ea"/>
            </a:endParaRPr>
          </a:p>
          <a:p>
            <a:r>
              <a:rPr sz="2000" dirty="0">
                <a:solidFill>
                  <a:srgbClr val="00194C"/>
                </a:solidFill>
                <a:latin typeface="华文楷体" panose="02010600040101010101" pitchFamily="2" charset="-122"/>
                <a:ea typeface="华文楷体" panose="02010600040101010101" pitchFamily="2" charset="-122"/>
                <a:sym typeface="+mn-ea"/>
              </a:rPr>
              <a:t>void  PreOrder(BiTree </a:t>
            </a:r>
            <a:r>
              <a:rPr lang="zh-CN" altLang="en-US" sz="2000" dirty="0">
                <a:solidFill>
                  <a:srgbClr val="00194C"/>
                </a:solidFill>
                <a:latin typeface="华文楷体" panose="02010600040101010101" pitchFamily="2" charset="-122"/>
                <a:ea typeface="华文楷体" panose="02010600040101010101" pitchFamily="2" charset="-122"/>
                <a:sym typeface="+mn-ea"/>
              </a:rPr>
              <a:t>T</a:t>
            </a:r>
            <a:r>
              <a:rPr sz="2000" dirty="0">
                <a:solidFill>
                  <a:srgbClr val="00194C"/>
                </a:solidFill>
                <a:latin typeface="华文楷体" panose="02010600040101010101" pitchFamily="2" charset="-122"/>
                <a:ea typeface="华文楷体" panose="02010600040101010101" pitchFamily="2" charset="-122"/>
                <a:sym typeface="+mn-ea"/>
              </a:rPr>
              <a:t>) </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if (</a:t>
            </a:r>
            <a:r>
              <a:rPr lang="zh-CN" altLang="en-US" sz="2000" dirty="0">
                <a:solidFill>
                  <a:srgbClr val="00194C"/>
                </a:solidFill>
                <a:latin typeface="华文楷体" panose="02010600040101010101" pitchFamily="2" charset="-122"/>
                <a:ea typeface="华文楷体" panose="02010600040101010101" pitchFamily="2" charset="-122"/>
                <a:sym typeface="+mn-ea"/>
              </a:rPr>
              <a:t>T </a:t>
            </a:r>
            <a:r>
              <a:rPr sz="2000" dirty="0">
                <a:solidFill>
                  <a:srgbClr val="00194C"/>
                </a:solidFill>
                <a:latin typeface="华文楷体" panose="02010600040101010101" pitchFamily="2" charset="-122"/>
                <a:ea typeface="华文楷体" panose="02010600040101010101" pitchFamily="2" charset="-122"/>
                <a:sym typeface="+mn-ea"/>
              </a:rPr>
              <a:t>! =NULL)</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a:t>
            </a:r>
            <a:r>
              <a:rPr sz="2000" dirty="0">
                <a:solidFill>
                  <a:srgbClr val="FF0000"/>
                </a:solidFill>
                <a:latin typeface="华文楷体" panose="02010600040101010101" pitchFamily="2" charset="-122"/>
                <a:ea typeface="华文楷体" panose="02010600040101010101" pitchFamily="2" charset="-122"/>
                <a:sym typeface="+mn-ea"/>
              </a:rPr>
              <a:t>if (</a:t>
            </a:r>
            <a:r>
              <a:rPr lang="zh-CN" altLang="en-US" sz="2000" dirty="0">
                <a:solidFill>
                  <a:srgbClr val="FF0000"/>
                </a:solidFill>
                <a:latin typeface="华文楷体" panose="02010600040101010101" pitchFamily="2" charset="-122"/>
                <a:ea typeface="华文楷体" panose="02010600040101010101" pitchFamily="2" charset="-122"/>
                <a:sym typeface="+mn-ea"/>
              </a:rPr>
              <a:t>T</a:t>
            </a:r>
            <a:r>
              <a:rPr sz="2000" dirty="0">
                <a:solidFill>
                  <a:srgbClr val="FF0000"/>
                </a:solidFill>
                <a:latin typeface="华文楷体" panose="02010600040101010101" pitchFamily="2" charset="-122"/>
                <a:ea typeface="华文楷体" panose="02010600040101010101" pitchFamily="2" charset="-122"/>
                <a:sym typeface="+mn-ea"/>
              </a:rPr>
              <a:t> </a:t>
            </a:r>
            <a:r>
              <a:rPr sz="2000" dirty="0" smtClean="0">
                <a:solidFill>
                  <a:srgbClr val="FF0000"/>
                </a:solidFill>
                <a:latin typeface="华文楷体" panose="02010600040101010101" pitchFamily="2" charset="-122"/>
                <a:ea typeface="华文楷体" panose="02010600040101010101" pitchFamily="2" charset="-122"/>
                <a:sym typeface="+mn-ea"/>
              </a:rPr>
              <a:t>-&gt;</a:t>
            </a:r>
            <a:r>
              <a:rPr lang="en-US" sz="2000" dirty="0" err="1" smtClean="0">
                <a:solidFill>
                  <a:srgbClr val="FF0000"/>
                </a:solidFill>
                <a:latin typeface="华文楷体" panose="02010600040101010101" pitchFamily="2" charset="-122"/>
                <a:ea typeface="华文楷体" panose="02010600040101010101" pitchFamily="2" charset="-122"/>
                <a:sym typeface="+mn-ea"/>
              </a:rPr>
              <a:t>lc</a:t>
            </a:r>
            <a:r>
              <a:rPr sz="2000" dirty="0" smtClean="0">
                <a:solidFill>
                  <a:srgbClr val="FF0000"/>
                </a:solidFill>
                <a:latin typeface="华文楷体" panose="02010600040101010101" pitchFamily="2" charset="-122"/>
                <a:ea typeface="华文楷体" panose="02010600040101010101" pitchFamily="2" charset="-122"/>
                <a:sym typeface="+mn-ea"/>
              </a:rPr>
              <a:t>hild</a:t>
            </a:r>
            <a:r>
              <a:rPr sz="2000" dirty="0">
                <a:solidFill>
                  <a:srgbClr val="FF0000"/>
                </a:solidFill>
                <a:latin typeface="华文楷体" panose="02010600040101010101" pitchFamily="2" charset="-122"/>
                <a:ea typeface="华文楷体" panose="02010600040101010101" pitchFamily="2" charset="-122"/>
                <a:sym typeface="+mn-ea"/>
              </a:rPr>
              <a:t>==NULL &amp;&amp; </a:t>
            </a:r>
            <a:r>
              <a:rPr lang="zh-CN" altLang="en-US" sz="2000" dirty="0">
                <a:solidFill>
                  <a:srgbClr val="FF0000"/>
                </a:solidFill>
                <a:latin typeface="华文楷体" panose="02010600040101010101" pitchFamily="2" charset="-122"/>
                <a:ea typeface="华文楷体" panose="02010600040101010101" pitchFamily="2" charset="-122"/>
                <a:sym typeface="+mn-ea"/>
              </a:rPr>
              <a:t>T</a:t>
            </a:r>
            <a:r>
              <a:rPr sz="2000" dirty="0">
                <a:solidFill>
                  <a:srgbClr val="FF0000"/>
                </a:solidFill>
                <a:latin typeface="华文楷体" panose="02010600040101010101" pitchFamily="2" charset="-122"/>
                <a:ea typeface="华文楷体" panose="02010600040101010101" pitchFamily="2" charset="-122"/>
                <a:sym typeface="+mn-ea"/>
              </a:rPr>
              <a:t> </a:t>
            </a:r>
            <a:r>
              <a:rPr sz="2000" dirty="0" smtClean="0">
                <a:solidFill>
                  <a:srgbClr val="FF0000"/>
                </a:solidFill>
                <a:latin typeface="华文楷体" panose="02010600040101010101" pitchFamily="2" charset="-122"/>
                <a:ea typeface="华文楷体" panose="02010600040101010101" pitchFamily="2" charset="-122"/>
                <a:sym typeface="+mn-ea"/>
              </a:rPr>
              <a:t>-&gt;</a:t>
            </a:r>
            <a:r>
              <a:rPr lang="en-US" sz="2000" dirty="0" err="1" smtClean="0">
                <a:solidFill>
                  <a:srgbClr val="FF0000"/>
                </a:solidFill>
                <a:latin typeface="华文楷体" panose="02010600040101010101" pitchFamily="2" charset="-122"/>
                <a:ea typeface="华文楷体" panose="02010600040101010101" pitchFamily="2" charset="-122"/>
                <a:sym typeface="+mn-ea"/>
              </a:rPr>
              <a:t>rc</a:t>
            </a:r>
            <a:r>
              <a:rPr sz="2000" dirty="0" smtClean="0">
                <a:solidFill>
                  <a:srgbClr val="FF0000"/>
                </a:solidFill>
                <a:latin typeface="华文楷体" panose="02010600040101010101" pitchFamily="2" charset="-122"/>
                <a:ea typeface="华文楷体" panose="02010600040101010101" pitchFamily="2" charset="-122"/>
                <a:sym typeface="+mn-ea"/>
              </a:rPr>
              <a:t>hild</a:t>
            </a:r>
            <a:r>
              <a:rPr sz="2000" dirty="0">
                <a:solidFill>
                  <a:srgbClr val="FF0000"/>
                </a:solidFill>
                <a:latin typeface="华文楷体" panose="02010600040101010101" pitchFamily="2" charset="-122"/>
                <a:ea typeface="华文楷体" panose="02010600040101010101" pitchFamily="2" charset="-122"/>
                <a:sym typeface="+mn-ea"/>
              </a:rPr>
              <a:t>==NULL)</a:t>
            </a:r>
            <a:endParaRPr sz="2000" dirty="0">
              <a:solidFill>
                <a:srgbClr val="FF0000"/>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FF0000"/>
                </a:solidFill>
                <a:latin typeface="华文楷体" panose="02010600040101010101" pitchFamily="2" charset="-122"/>
                <a:ea typeface="华文楷体" panose="02010600040101010101" pitchFamily="2" charset="-122"/>
                <a:sym typeface="+mn-ea"/>
              </a:rPr>
              <a:t>                       printf (</a:t>
            </a:r>
            <a:r>
              <a:rPr lang="zh-CN" altLang="en-US" sz="2000" dirty="0">
                <a:solidFill>
                  <a:srgbClr val="FF0000"/>
                </a:solidFill>
                <a:latin typeface="华文楷体" panose="02010600040101010101" pitchFamily="2" charset="-122"/>
                <a:ea typeface="华文楷体" panose="02010600040101010101" pitchFamily="2" charset="-122"/>
                <a:sym typeface="+mn-ea"/>
              </a:rPr>
              <a:t>T</a:t>
            </a:r>
            <a:r>
              <a:rPr sz="2000" dirty="0">
                <a:solidFill>
                  <a:srgbClr val="FF0000"/>
                </a:solidFill>
                <a:latin typeface="华文楷体" panose="02010600040101010101" pitchFamily="2" charset="-122"/>
                <a:ea typeface="华文楷体" panose="02010600040101010101" pitchFamily="2" charset="-122"/>
                <a:sym typeface="+mn-ea"/>
              </a:rPr>
              <a:t> -&gt;data);    </a:t>
            </a:r>
            <a:r>
              <a:rPr sz="2000" dirty="0">
                <a:solidFill>
                  <a:srgbClr val="00194C"/>
                </a:solidFill>
                <a:latin typeface="华文楷体" panose="02010600040101010101" pitchFamily="2" charset="-122"/>
                <a:ea typeface="华文楷体" panose="02010600040101010101" pitchFamily="2" charset="-122"/>
                <a:sym typeface="+mn-ea"/>
              </a:rPr>
              <a:t>   /* </a:t>
            </a:r>
            <a:r>
              <a:rPr lang="zh-CN" altLang="en-US" sz="2000" dirty="0">
                <a:solidFill>
                  <a:srgbClr val="00194C"/>
                </a:solidFill>
                <a:latin typeface="华文楷体" panose="02010600040101010101" pitchFamily="2" charset="-122"/>
                <a:ea typeface="华文楷体" panose="02010600040101010101" pitchFamily="2" charset="-122"/>
                <a:sym typeface="+mn-ea"/>
              </a:rPr>
              <a:t>输出叶子结点 *</a:t>
            </a:r>
            <a:r>
              <a:rPr sz="2000" dirty="0">
                <a:solidFill>
                  <a:srgbClr val="00194C"/>
                </a:solidFill>
                <a:latin typeface="华文楷体" panose="02010600040101010101" pitchFamily="2" charset="-122"/>
                <a:ea typeface="华文楷体" panose="02010600040101010101" pitchFamily="2" charset="-122"/>
                <a:sym typeface="+mn-ea"/>
              </a:rPr>
              <a:t>/       </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PreOrder(</a:t>
            </a:r>
            <a:r>
              <a:rPr lang="zh-CN" altLang="en-US" sz="2000" dirty="0">
                <a:solidFill>
                  <a:srgbClr val="00194C"/>
                </a:solidFill>
                <a:latin typeface="华文楷体" panose="02010600040101010101" pitchFamily="2" charset="-122"/>
                <a:ea typeface="华文楷体" panose="02010600040101010101" pitchFamily="2" charset="-122"/>
                <a:sym typeface="+mn-ea"/>
              </a:rPr>
              <a:t>T</a:t>
            </a:r>
            <a:r>
              <a:rPr sz="2000" dirty="0">
                <a:solidFill>
                  <a:srgbClr val="00194C"/>
                </a:solidFill>
                <a:latin typeface="华文楷体" panose="02010600040101010101" pitchFamily="2" charset="-122"/>
                <a:ea typeface="华文楷体" panose="02010600040101010101" pitchFamily="2" charset="-122"/>
                <a:sym typeface="+mn-ea"/>
              </a:rPr>
              <a:t> </a:t>
            </a:r>
            <a:r>
              <a:rPr sz="2000" dirty="0" smtClean="0">
                <a:solidFill>
                  <a:srgbClr val="00194C"/>
                </a:solidFill>
                <a:latin typeface="华文楷体" panose="02010600040101010101" pitchFamily="2" charset="-122"/>
                <a:ea typeface="华文楷体" panose="02010600040101010101" pitchFamily="2" charset="-122"/>
                <a:sym typeface="+mn-ea"/>
              </a:rPr>
              <a:t>-&gt;</a:t>
            </a:r>
            <a:r>
              <a:rPr lang="en-US" sz="2000" dirty="0" err="1" smtClean="0">
                <a:solidFill>
                  <a:srgbClr val="00194C"/>
                </a:solidFill>
                <a:latin typeface="华文楷体" panose="02010600040101010101" pitchFamily="2" charset="-122"/>
                <a:ea typeface="华文楷体" panose="02010600040101010101" pitchFamily="2" charset="-122"/>
                <a:sym typeface="+mn-ea"/>
              </a:rPr>
              <a:t>lc</a:t>
            </a:r>
            <a:r>
              <a:rPr sz="2000" dirty="0" smtClean="0">
                <a:solidFill>
                  <a:srgbClr val="00194C"/>
                </a:solidFill>
                <a:latin typeface="华文楷体" panose="02010600040101010101" pitchFamily="2" charset="-122"/>
                <a:ea typeface="华文楷体" panose="02010600040101010101" pitchFamily="2" charset="-122"/>
                <a:sym typeface="+mn-ea"/>
              </a:rPr>
              <a:t>hild</a:t>
            </a:r>
            <a:r>
              <a:rPr sz="2000" dirty="0">
                <a:solidFill>
                  <a:srgbClr val="00194C"/>
                </a:solidFill>
                <a:latin typeface="华文楷体" panose="02010600040101010101" pitchFamily="2" charset="-122"/>
                <a:ea typeface="华文楷体" panose="02010600040101010101" pitchFamily="2" charset="-122"/>
                <a:sym typeface="+mn-ea"/>
              </a:rPr>
              <a:t>); /* </a:t>
            </a:r>
            <a:r>
              <a:rPr lang="zh-CN" altLang="en-US" sz="2000" dirty="0">
                <a:solidFill>
                  <a:srgbClr val="00194C"/>
                </a:solidFill>
                <a:latin typeface="华文楷体" panose="02010600040101010101" pitchFamily="2" charset="-122"/>
                <a:ea typeface="华文楷体" panose="02010600040101010101" pitchFamily="2" charset="-122"/>
                <a:sym typeface="+mn-ea"/>
              </a:rPr>
              <a:t>先序遍历左子树 *</a:t>
            </a:r>
            <a:r>
              <a:rPr sz="2000" dirty="0">
                <a:solidFill>
                  <a:srgbClr val="00194C"/>
                </a:solidFill>
                <a:latin typeface="华文楷体" panose="02010600040101010101" pitchFamily="2" charset="-122"/>
                <a:ea typeface="华文楷体" panose="02010600040101010101" pitchFamily="2" charset="-122"/>
                <a:sym typeface="+mn-ea"/>
              </a:rPr>
              <a:t>/</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PreOrder(</a:t>
            </a:r>
            <a:r>
              <a:rPr lang="zh-CN" altLang="en-US" sz="2000" dirty="0">
                <a:solidFill>
                  <a:srgbClr val="00194C"/>
                </a:solidFill>
                <a:latin typeface="华文楷体" panose="02010600040101010101" pitchFamily="2" charset="-122"/>
                <a:ea typeface="华文楷体" panose="02010600040101010101" pitchFamily="2" charset="-122"/>
                <a:sym typeface="+mn-ea"/>
              </a:rPr>
              <a:t>T</a:t>
            </a:r>
            <a:r>
              <a:rPr sz="2000" dirty="0">
                <a:solidFill>
                  <a:srgbClr val="00194C"/>
                </a:solidFill>
                <a:latin typeface="华文楷体" panose="02010600040101010101" pitchFamily="2" charset="-122"/>
                <a:ea typeface="华文楷体" panose="02010600040101010101" pitchFamily="2" charset="-122"/>
                <a:sym typeface="+mn-ea"/>
              </a:rPr>
              <a:t> </a:t>
            </a:r>
            <a:r>
              <a:rPr sz="2000" dirty="0" smtClean="0">
                <a:solidFill>
                  <a:srgbClr val="00194C"/>
                </a:solidFill>
                <a:latin typeface="华文楷体" panose="02010600040101010101" pitchFamily="2" charset="-122"/>
                <a:ea typeface="华文楷体" panose="02010600040101010101" pitchFamily="2" charset="-122"/>
                <a:sym typeface="+mn-ea"/>
              </a:rPr>
              <a:t>-&gt;</a:t>
            </a:r>
            <a:r>
              <a:rPr lang="en-US" sz="2000" dirty="0" err="1" smtClean="0">
                <a:solidFill>
                  <a:srgbClr val="00194C"/>
                </a:solidFill>
                <a:latin typeface="华文楷体" panose="02010600040101010101" pitchFamily="2" charset="-122"/>
                <a:ea typeface="华文楷体" panose="02010600040101010101" pitchFamily="2" charset="-122"/>
                <a:sym typeface="+mn-ea"/>
              </a:rPr>
              <a:t>rc</a:t>
            </a:r>
            <a:r>
              <a:rPr sz="2000" dirty="0" smtClean="0">
                <a:solidFill>
                  <a:srgbClr val="00194C"/>
                </a:solidFill>
                <a:latin typeface="华文楷体" panose="02010600040101010101" pitchFamily="2" charset="-122"/>
                <a:ea typeface="华文楷体" panose="02010600040101010101" pitchFamily="2" charset="-122"/>
                <a:sym typeface="+mn-ea"/>
              </a:rPr>
              <a:t>hild</a:t>
            </a:r>
            <a:r>
              <a:rPr sz="2000" dirty="0">
                <a:solidFill>
                  <a:srgbClr val="00194C"/>
                </a:solidFill>
                <a:latin typeface="华文楷体" panose="02010600040101010101" pitchFamily="2" charset="-122"/>
                <a:ea typeface="华文楷体" panose="02010600040101010101" pitchFamily="2" charset="-122"/>
                <a:sym typeface="+mn-ea"/>
              </a:rPr>
              <a:t>); /* </a:t>
            </a:r>
            <a:r>
              <a:rPr lang="zh-CN" altLang="en-US" sz="2000" dirty="0">
                <a:solidFill>
                  <a:srgbClr val="00194C"/>
                </a:solidFill>
                <a:latin typeface="华文楷体" panose="02010600040101010101" pitchFamily="2" charset="-122"/>
                <a:ea typeface="华文楷体" panose="02010600040101010101" pitchFamily="2" charset="-122"/>
                <a:sym typeface="+mn-ea"/>
              </a:rPr>
              <a:t>先序遍历右子树 *</a:t>
            </a:r>
            <a:r>
              <a:rPr sz="2000" dirty="0">
                <a:solidFill>
                  <a:srgbClr val="00194C"/>
                </a:solidFill>
                <a:latin typeface="华文楷体" panose="02010600040101010101" pitchFamily="2" charset="-122"/>
                <a:ea typeface="华文楷体" panose="02010600040101010101" pitchFamily="2" charset="-122"/>
                <a:sym typeface="+mn-ea"/>
              </a:rPr>
              <a:t>/</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a:t>
            </a:r>
            <a:endParaRPr sz="20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00000"/>
              </a:lnSpc>
              <a:spcBef>
                <a:spcPct val="0"/>
              </a:spcBef>
              <a:buNone/>
            </a:pPr>
            <a:r>
              <a:rPr sz="2000" dirty="0">
                <a:solidFill>
                  <a:srgbClr val="00194C"/>
                </a:solidFill>
                <a:latin typeface="华文楷体" panose="02010600040101010101" pitchFamily="2" charset="-122"/>
                <a:ea typeface="华文楷体" panose="02010600040101010101" pitchFamily="2" charset="-122"/>
                <a:sym typeface="+mn-ea"/>
              </a:rPr>
              <a:t>} </a:t>
            </a:r>
            <a:endParaRPr lang="zh-CN" altLang="en-US" sz="2000" dirty="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453390"/>
            <a:ext cx="8094345" cy="4550410"/>
          </a:xfrm>
        </p:spPr>
        <p:txBody>
          <a:bodyPr/>
          <a:lstStyle/>
          <a:p>
            <a:r>
              <a:rPr lang="en-US" altLang="zh-CN" sz="1600" dirty="0">
                <a:solidFill>
                  <a:srgbClr val="00194C"/>
                </a:solidFill>
                <a:latin typeface="华文楷体" panose="02010600040101010101" pitchFamily="2" charset="-122"/>
                <a:ea typeface="华文楷体" panose="02010600040101010101" pitchFamily="2" charset="-122"/>
                <a:sym typeface="+mn-ea"/>
              </a:rPr>
              <a:t>3.</a:t>
            </a:r>
            <a:r>
              <a:rPr sz="1600" dirty="0">
                <a:solidFill>
                  <a:srgbClr val="00194C"/>
                </a:solidFill>
                <a:latin typeface="华文楷体" panose="02010600040101010101" pitchFamily="2" charset="-122"/>
                <a:ea typeface="华文楷体" panose="02010600040101010101" pitchFamily="2" charset="-122"/>
                <a:sym typeface="+mn-ea"/>
              </a:rPr>
              <a:t> 统计叶子结点数目</a:t>
            </a:r>
            <a:endParaRPr lang="zh-CN" altLang="en-US" sz="1600" dirty="0">
              <a:sym typeface="+mn-ea"/>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如果是空树，返回0；如果只有一个结点，返回1；否则为左右子树叶子结点数之和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int leaf(BiTree T)</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int LeafCount;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if(T==NULL)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LeafCount =0;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else if((T-</a:t>
            </a:r>
            <a:r>
              <a:rPr sz="1600" dirty="0" smtClean="0">
                <a:solidFill>
                  <a:srgbClr val="00194C"/>
                </a:solidFill>
                <a:latin typeface="华文楷体" panose="02010600040101010101" pitchFamily="2" charset="-122"/>
                <a:ea typeface="华文楷体" panose="02010600040101010101" pitchFamily="2" charset="-122"/>
                <a:sym typeface="+mn-ea"/>
              </a:rPr>
              <a:t>&gt;</a:t>
            </a:r>
            <a:r>
              <a:rPr lang="en-US" sz="1600" dirty="0" err="1" smtClean="0">
                <a:solidFill>
                  <a:srgbClr val="00194C"/>
                </a:solidFill>
                <a:latin typeface="华文楷体" panose="02010600040101010101" pitchFamily="2" charset="-122"/>
                <a:ea typeface="华文楷体" panose="02010600040101010101" pitchFamily="2" charset="-122"/>
                <a:sym typeface="+mn-ea"/>
              </a:rPr>
              <a:t>lc</a:t>
            </a:r>
            <a:r>
              <a:rPr sz="1600" dirty="0" smtClean="0">
                <a:solidFill>
                  <a:srgbClr val="00194C"/>
                </a:solidFill>
                <a:latin typeface="华文楷体" panose="02010600040101010101" pitchFamily="2" charset="-122"/>
                <a:ea typeface="华文楷体" panose="02010600040101010101" pitchFamily="2" charset="-122"/>
                <a:sym typeface="+mn-ea"/>
              </a:rPr>
              <a:t>hild</a:t>
            </a:r>
            <a:r>
              <a:rPr sz="1600" dirty="0">
                <a:solidFill>
                  <a:srgbClr val="00194C"/>
                </a:solidFill>
                <a:latin typeface="华文楷体" panose="02010600040101010101" pitchFamily="2" charset="-122"/>
                <a:ea typeface="华文楷体" panose="02010600040101010101" pitchFamily="2" charset="-122"/>
                <a:sym typeface="+mn-ea"/>
              </a:rPr>
              <a:t>==NULL)&amp;&amp;(T-</a:t>
            </a:r>
            <a:r>
              <a:rPr sz="1600" dirty="0" smtClean="0">
                <a:solidFill>
                  <a:srgbClr val="00194C"/>
                </a:solidFill>
                <a:latin typeface="华文楷体" panose="02010600040101010101" pitchFamily="2" charset="-122"/>
                <a:ea typeface="华文楷体" panose="02010600040101010101" pitchFamily="2" charset="-122"/>
                <a:sym typeface="+mn-ea"/>
              </a:rPr>
              <a:t>&gt;</a:t>
            </a:r>
            <a:r>
              <a:rPr lang="en-US" sz="1600" dirty="0" err="1" smtClean="0">
                <a:solidFill>
                  <a:srgbClr val="00194C"/>
                </a:solidFill>
                <a:latin typeface="华文楷体" panose="02010600040101010101" pitchFamily="2" charset="-122"/>
                <a:ea typeface="华文楷体" panose="02010600040101010101" pitchFamily="2" charset="-122"/>
                <a:sym typeface="+mn-ea"/>
              </a:rPr>
              <a:t>rc</a:t>
            </a:r>
            <a:r>
              <a:rPr sz="1600" dirty="0" smtClean="0">
                <a:solidFill>
                  <a:srgbClr val="00194C"/>
                </a:solidFill>
                <a:latin typeface="华文楷体" panose="02010600040101010101" pitchFamily="2" charset="-122"/>
                <a:ea typeface="华文楷体" panose="02010600040101010101" pitchFamily="2" charset="-122"/>
                <a:sym typeface="+mn-ea"/>
              </a:rPr>
              <a:t>hild</a:t>
            </a:r>
            <a:r>
              <a:rPr sz="1600" dirty="0">
                <a:solidFill>
                  <a:srgbClr val="00194C"/>
                </a:solidFill>
                <a:latin typeface="华文楷体" panose="02010600040101010101" pitchFamily="2" charset="-122"/>
                <a:ea typeface="华文楷体" panose="02010600040101010101" pitchFamily="2" charset="-122"/>
                <a:sym typeface="+mn-ea"/>
              </a:rPr>
              <a:t>==NULL))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LeafCount =1;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else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LeafCount =leaf(T-</a:t>
            </a:r>
            <a:r>
              <a:rPr sz="1600" dirty="0" smtClean="0">
                <a:solidFill>
                  <a:srgbClr val="00194C"/>
                </a:solidFill>
                <a:latin typeface="华文楷体" panose="02010600040101010101" pitchFamily="2" charset="-122"/>
                <a:ea typeface="华文楷体" panose="02010600040101010101" pitchFamily="2" charset="-122"/>
                <a:sym typeface="+mn-ea"/>
              </a:rPr>
              <a:t>&gt;</a:t>
            </a:r>
            <a:r>
              <a:rPr lang="en-US" sz="1600" dirty="0" err="1" smtClean="0">
                <a:solidFill>
                  <a:srgbClr val="00194C"/>
                </a:solidFill>
                <a:latin typeface="华文楷体" panose="02010600040101010101" pitchFamily="2" charset="-122"/>
                <a:ea typeface="华文楷体" panose="02010600040101010101" pitchFamily="2" charset="-122"/>
                <a:sym typeface="+mn-ea"/>
              </a:rPr>
              <a:t>lc</a:t>
            </a:r>
            <a:r>
              <a:rPr sz="1600" dirty="0" smtClean="0">
                <a:solidFill>
                  <a:srgbClr val="00194C"/>
                </a:solidFill>
                <a:latin typeface="华文楷体" panose="02010600040101010101" pitchFamily="2" charset="-122"/>
                <a:ea typeface="华文楷体" panose="02010600040101010101" pitchFamily="2" charset="-122"/>
                <a:sym typeface="+mn-ea"/>
              </a:rPr>
              <a:t>hild</a:t>
            </a:r>
            <a:r>
              <a:rPr sz="1600" dirty="0">
                <a:solidFill>
                  <a:srgbClr val="00194C"/>
                </a:solidFill>
                <a:latin typeface="华文楷体" panose="02010600040101010101" pitchFamily="2" charset="-122"/>
                <a:ea typeface="华文楷体" panose="02010600040101010101" pitchFamily="2" charset="-122"/>
                <a:sym typeface="+mn-ea"/>
              </a:rPr>
              <a:t>)+leaf(T-</a:t>
            </a:r>
            <a:r>
              <a:rPr sz="1600" dirty="0" smtClean="0">
                <a:solidFill>
                  <a:srgbClr val="00194C"/>
                </a:solidFill>
                <a:latin typeface="华文楷体" panose="02010600040101010101" pitchFamily="2" charset="-122"/>
                <a:ea typeface="华文楷体" panose="02010600040101010101" pitchFamily="2" charset="-122"/>
                <a:sym typeface="+mn-ea"/>
              </a:rPr>
              <a:t>&gt;</a:t>
            </a:r>
            <a:r>
              <a:rPr lang="en-US" sz="1600" dirty="0" err="1" smtClean="0">
                <a:solidFill>
                  <a:srgbClr val="00194C"/>
                </a:solidFill>
                <a:latin typeface="华文楷体" panose="02010600040101010101" pitchFamily="2" charset="-122"/>
                <a:ea typeface="华文楷体" panose="02010600040101010101" pitchFamily="2" charset="-122"/>
                <a:sym typeface="+mn-ea"/>
              </a:rPr>
              <a:t>rc</a:t>
            </a:r>
            <a:r>
              <a:rPr sz="1600" dirty="0" smtClean="0">
                <a:solidFill>
                  <a:srgbClr val="00194C"/>
                </a:solidFill>
                <a:latin typeface="华文楷体" panose="02010600040101010101" pitchFamily="2" charset="-122"/>
                <a:ea typeface="华文楷体" panose="02010600040101010101" pitchFamily="2" charset="-122"/>
                <a:sym typeface="+mn-ea"/>
              </a:rPr>
              <a:t>hild</a:t>
            </a:r>
            <a:r>
              <a:rPr sz="1600" dirty="0">
                <a:solidFill>
                  <a:srgbClr val="00194C"/>
                </a:solidFill>
                <a:latin typeface="华文楷体" panose="02010600040101010101" pitchFamily="2" charset="-122"/>
                <a:ea typeface="华文楷体" panose="02010600040101010101" pitchFamily="2" charset="-122"/>
                <a:sym typeface="+mn-ea"/>
              </a:rPr>
              <a:t>);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 叶子数为左右子树的叶子数目之和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return LeafCount;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a:t>
            </a:r>
            <a:endParaRPr lang="zh-CN" altLang="en-US" sz="1600" dirty="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593090"/>
            <a:ext cx="8094345" cy="4550410"/>
          </a:xfrm>
        </p:spPr>
        <p:txBody>
          <a:bodyPr/>
          <a:lstStyle/>
          <a:p>
            <a:r>
              <a:rPr lang="en-US" altLang="zh-CN" sz="1600">
                <a:solidFill>
                  <a:srgbClr val="00194C"/>
                </a:solidFill>
                <a:latin typeface="华文楷体" panose="02010600040101010101" pitchFamily="2" charset="-122"/>
                <a:ea typeface="华文楷体" panose="02010600040101010101" pitchFamily="2" charset="-122"/>
                <a:sym typeface="+mn-ea"/>
              </a:rPr>
              <a:t>4.</a:t>
            </a:r>
            <a:r>
              <a:rPr sz="1600">
                <a:solidFill>
                  <a:srgbClr val="00194C"/>
                </a:solidFill>
                <a:latin typeface="华文楷体" panose="02010600040101010101" pitchFamily="2" charset="-122"/>
                <a:ea typeface="华文楷体" panose="02010600040101010101" pitchFamily="2" charset="-122"/>
                <a:sym typeface="+mn-ea"/>
              </a:rPr>
              <a:t>  建立二叉链表方式存储的二叉树</a:t>
            </a:r>
            <a:endParaRPr lang="zh-CN" altLang="en-US" sz="1600" b="1">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35000"/>
              </a:lnSpc>
              <a:spcBef>
                <a:spcPct val="50000"/>
              </a:spcBef>
              <a:buNone/>
            </a:pPr>
            <a:r>
              <a:rPr sz="1600">
                <a:solidFill>
                  <a:srgbClr val="00194C"/>
                </a:solidFill>
                <a:latin typeface="华文楷体" panose="02010600040101010101" pitchFamily="2" charset="-122"/>
                <a:ea typeface="华文楷体" panose="02010600040101010101" pitchFamily="2" charset="-122"/>
                <a:sym typeface="+mn-ea"/>
              </a:rPr>
              <a:t>    给定一棵二叉树，我们可以得到它的遍历序列；反过来，给定一棵二叉树的遍历序列，我们也可以创建相应的二叉链表。 这里所说的遍历序列是一种“扩展的遍历序列”。在通常的遍历序列中，均忽略空子树，而在扩展的遍历序列中，必须用特定的元素表示空子树。</a:t>
            </a:r>
            <a:endParaRPr lang="zh-CN" altLang="en-US"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35000"/>
              </a:lnSpc>
              <a:spcBef>
                <a:spcPct val="50000"/>
              </a:spcBef>
              <a:buNone/>
            </a:pPr>
            <a:r>
              <a:rPr sz="1600">
                <a:solidFill>
                  <a:srgbClr val="00194C"/>
                </a:solidFill>
                <a:latin typeface="华文楷体" panose="02010600040101010101" pitchFamily="2" charset="-122"/>
                <a:ea typeface="华文楷体" panose="02010600040101010101" pitchFamily="2" charset="-122"/>
                <a:sym typeface="+mn-ea"/>
              </a:rPr>
              <a:t>A B C Φ Φ D E Φ G Φ Φ F Φ Φ Φ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35000"/>
              </a:lnSpc>
              <a:spcBef>
                <a:spcPct val="50000"/>
              </a:spcBef>
              <a:buNone/>
            </a:pPr>
            <a:r>
              <a:rPr sz="1600">
                <a:solidFill>
                  <a:srgbClr val="00194C"/>
                </a:solidFill>
                <a:latin typeface="华文楷体" panose="02010600040101010101" pitchFamily="2" charset="-122"/>
                <a:ea typeface="华文楷体" panose="02010600040101010101" pitchFamily="2" charset="-122"/>
                <a:sym typeface="+mn-ea"/>
              </a:rPr>
              <a:t>其中用Φ表示空子树。</a:t>
            </a:r>
            <a:endParaRPr lang="zh-CN" altLang="en-US" sz="160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30000"/>
              </a:lnSpc>
              <a:spcBef>
                <a:spcPct val="0"/>
              </a:spcBef>
              <a:buNone/>
            </a:pPr>
            <a:endParaRPr lang="zh-CN" altLang="en-US" sz="160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593090"/>
            <a:ext cx="8094345" cy="4550410"/>
          </a:xfrm>
        </p:spPr>
        <p:txBody>
          <a:bodyPr/>
          <a:lstStyle/>
          <a:p>
            <a:pPr marL="0" lvl="0" indent="0"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Status CreateBiTree( BiTree &amp;T ) {</a:t>
            </a:r>
            <a:endParaRPr sz="160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scanf ( &amp;ch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if ( ch ==</a:t>
            </a:r>
            <a:r>
              <a:rPr lang="en-US" altLang="zh-CN" sz="1600">
                <a:solidFill>
                  <a:srgbClr val="00194C"/>
                </a:solidFill>
                <a:latin typeface="华文楷体" panose="02010600040101010101" pitchFamily="2" charset="-122"/>
                <a:ea typeface="华文楷体" panose="02010600040101010101" pitchFamily="2" charset="-122"/>
                <a:sym typeface="+mn-ea"/>
              </a:rPr>
              <a:t>' ' </a:t>
            </a:r>
            <a:r>
              <a:rPr sz="1600">
                <a:solidFill>
                  <a:srgbClr val="00194C"/>
                </a:solidFill>
                <a:latin typeface="华文楷体" panose="02010600040101010101" pitchFamily="2" charset="-122"/>
                <a:ea typeface="华文楷体" panose="02010600040101010101" pitchFamily="2" charset="-122"/>
                <a:sym typeface="+mn-ea"/>
              </a:rPr>
              <a:t>) T = NULL;</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else{</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if ( !( T=( BiTNode * ) malloc (sizeof(BiTNode ) ) )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exit ( OVERFLOW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T-&gt;data=ch;</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CreateBiTree( T-&gt;lchild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CreateBiTree( T-&gt;rchild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a:t>
            </a:r>
            <a:endParaRPr sz="1600">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return OK;</a:t>
            </a:r>
            <a:endParaRPr sz="160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45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 </a:t>
            </a:r>
            <a:endParaRPr lang="zh-CN" altLang="en-US" sz="160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593090"/>
            <a:ext cx="8094345" cy="3921760"/>
          </a:xfrm>
        </p:spPr>
        <p:txBody>
          <a:bodyPr/>
          <a:lstStyle/>
          <a:p>
            <a:r>
              <a:rPr lang="en-US" altLang="zh-CN" sz="1600">
                <a:solidFill>
                  <a:srgbClr val="00194C"/>
                </a:solidFill>
                <a:latin typeface="华文楷体" panose="02010600040101010101" pitchFamily="2" charset="-122"/>
                <a:ea typeface="华文楷体" panose="02010600040101010101" pitchFamily="2" charset="-122"/>
                <a:sym typeface="+mn-ea"/>
              </a:rPr>
              <a:t>5.</a:t>
            </a:r>
            <a:r>
              <a:rPr sz="1600">
                <a:solidFill>
                  <a:srgbClr val="00194C"/>
                </a:solidFill>
                <a:latin typeface="华文楷体" panose="02010600040101010101" pitchFamily="2" charset="-122"/>
                <a:ea typeface="华文楷体" panose="02010600040101010101" pitchFamily="2" charset="-122"/>
                <a:sym typeface="+mn-ea"/>
              </a:rPr>
              <a:t>  求二叉树的高度</a:t>
            </a:r>
            <a:endParaRPr lang="zh-CN" altLang="en-US" sz="1600" b="1">
              <a:solidFill>
                <a:srgbClr val="00194C"/>
              </a:solidFill>
              <a:latin typeface="华文楷体" panose="02010600040101010101" pitchFamily="2" charset="-122"/>
              <a:ea typeface="华文楷体" panose="02010600040101010101" pitchFamily="2" charset="-122"/>
            </a:endParaRPr>
          </a:p>
          <a:p>
            <a:pPr marL="0" lvl="0" indent="0" algn="just" eaLnBrk="1" hangingPunct="1">
              <a:lnSpc>
                <a:spcPct val="135000"/>
              </a:lnSpc>
              <a:spcBef>
                <a:spcPct val="50000"/>
              </a:spcBef>
              <a:buNone/>
            </a:pPr>
            <a:r>
              <a:rPr sz="1600">
                <a:solidFill>
                  <a:srgbClr val="00194C"/>
                </a:solidFill>
                <a:latin typeface="华文楷体" panose="02010600040101010101" pitchFamily="2" charset="-122"/>
                <a:ea typeface="华文楷体" panose="02010600040101010101" pitchFamily="2" charset="-122"/>
                <a:sym typeface="+mn-ea"/>
              </a:rPr>
              <a:t>    </a:t>
            </a:r>
            <a:endParaRPr sz="1600">
              <a:solidFill>
                <a:srgbClr val="00194C"/>
              </a:solidFill>
              <a:latin typeface="华文楷体" panose="02010600040101010101" pitchFamily="2" charset="-122"/>
              <a:ea typeface="华文楷体" panose="02010600040101010101" pitchFamily="2" charset="-122"/>
              <a:sym typeface="+mn-ea"/>
            </a:endParaRPr>
          </a:p>
          <a:p>
            <a:pPr marL="0" lvl="0" indent="0" algn="just" eaLnBrk="1" hangingPunct="1">
              <a:lnSpc>
                <a:spcPct val="135000"/>
              </a:lnSpc>
              <a:spcBef>
                <a:spcPct val="50000"/>
              </a:spcBef>
              <a:buNone/>
            </a:pPr>
            <a:endParaRPr sz="1600">
              <a:solidFill>
                <a:srgbClr val="00194C"/>
              </a:solidFill>
              <a:latin typeface="华文楷体" panose="02010600040101010101" pitchFamily="2" charset="-122"/>
              <a:ea typeface="华文楷体" panose="02010600040101010101" pitchFamily="2" charset="-122"/>
              <a:sym typeface="+mn-ea"/>
            </a:endParaRPr>
          </a:p>
          <a:p>
            <a:pPr marL="0" lvl="0" indent="0" algn="just" eaLnBrk="1" hangingPunct="1">
              <a:lnSpc>
                <a:spcPct val="135000"/>
              </a:lnSpc>
              <a:spcBef>
                <a:spcPct val="50000"/>
              </a:spcBef>
              <a:buNone/>
            </a:pPr>
            <a:endParaRPr sz="1600">
              <a:solidFill>
                <a:srgbClr val="00194C"/>
              </a:solidFill>
              <a:latin typeface="华文楷体" panose="02010600040101010101" pitchFamily="2" charset="-122"/>
              <a:ea typeface="华文楷体" panose="02010600040101010101" pitchFamily="2" charset="-122"/>
              <a:sym typeface="+mn-ea"/>
            </a:endParaRPr>
          </a:p>
          <a:p>
            <a:pPr marL="0" lvl="0" indent="0" algn="just" eaLnBrk="1" hangingPunct="1">
              <a:lnSpc>
                <a:spcPct val="135000"/>
              </a:lnSpc>
              <a:spcBef>
                <a:spcPct val="50000"/>
              </a:spcBef>
              <a:buNone/>
            </a:pPr>
            <a:endParaRPr sz="1600">
              <a:solidFill>
                <a:srgbClr val="00194C"/>
              </a:solidFill>
              <a:latin typeface="华文楷体" panose="02010600040101010101" pitchFamily="2" charset="-122"/>
              <a:ea typeface="华文楷体" panose="02010600040101010101" pitchFamily="2" charset="-122"/>
              <a:sym typeface="+mn-ea"/>
            </a:endParaRPr>
          </a:p>
          <a:p>
            <a:pPr marL="0" lvl="0" algn="just">
              <a:lnSpc>
                <a:spcPts val="3000"/>
              </a:lnSpc>
              <a:spcBef>
                <a:spcPts val="600"/>
              </a:spcBef>
              <a:buNone/>
            </a:pPr>
            <a:r>
              <a:rPr sz="1600">
                <a:solidFill>
                  <a:srgbClr val="00194C"/>
                </a:solidFill>
                <a:latin typeface="华文楷体" panose="02010600040101010101" pitchFamily="2" charset="-122"/>
                <a:ea typeface="华文楷体" panose="02010600040101010101" pitchFamily="2" charset="-122"/>
                <a:sym typeface="+mn-ea"/>
              </a:rPr>
              <a:t>递归算法定义如下：</a:t>
            </a:r>
            <a:endParaRPr sz="1600">
              <a:solidFill>
                <a:srgbClr val="00194C"/>
              </a:solidFill>
              <a:latin typeface="华文楷体" panose="02010600040101010101" pitchFamily="2" charset="-122"/>
              <a:ea typeface="华文楷体" panose="02010600040101010101" pitchFamily="2" charset="-122"/>
            </a:endParaRPr>
          </a:p>
          <a:p>
            <a:pPr marL="0" lvl="0" algn="just">
              <a:lnSpc>
                <a:spcPts val="3000"/>
              </a:lnSpc>
              <a:spcBef>
                <a:spcPts val="600"/>
              </a:spcBef>
              <a:buNone/>
            </a:pPr>
            <a:r>
              <a:rPr sz="1600">
                <a:solidFill>
                  <a:srgbClr val="00194C"/>
                </a:solidFill>
                <a:latin typeface="华文楷体" panose="02010600040101010101" pitchFamily="2" charset="-122"/>
                <a:ea typeface="华文楷体" panose="02010600040101010101" pitchFamily="2" charset="-122"/>
                <a:sym typeface="+mn-ea"/>
              </a:rPr>
              <a:t> </a:t>
            </a:r>
            <a:r>
              <a:rPr lang="en-US" altLang="zh-CN" sz="1600">
                <a:solidFill>
                  <a:srgbClr val="00194C"/>
                </a:solidFill>
                <a:latin typeface="华文楷体" panose="02010600040101010101" pitchFamily="2" charset="-122"/>
                <a:ea typeface="华文楷体" panose="02010600040101010101" pitchFamily="2" charset="-122"/>
                <a:sym typeface="+mn-ea"/>
              </a:rPr>
              <a:t>1. </a:t>
            </a:r>
            <a:r>
              <a:rPr sz="1600">
                <a:solidFill>
                  <a:srgbClr val="00194C"/>
                </a:solidFill>
                <a:latin typeface="华文楷体" panose="02010600040101010101" pitchFamily="2" charset="-122"/>
                <a:ea typeface="华文楷体" panose="02010600040101010101" pitchFamily="2" charset="-122"/>
                <a:sym typeface="+mn-ea"/>
              </a:rPr>
              <a:t>若bt为空，则高度为0。</a:t>
            </a:r>
            <a:endParaRPr lang="zh-CN" altLang="en-US" sz="1600">
              <a:solidFill>
                <a:srgbClr val="00194C"/>
              </a:solidFill>
              <a:latin typeface="华文楷体" panose="02010600040101010101" pitchFamily="2" charset="-122"/>
              <a:ea typeface="华文楷体" panose="02010600040101010101" pitchFamily="2" charset="-122"/>
            </a:endParaRPr>
          </a:p>
          <a:p>
            <a:pPr marL="0" lvl="0" algn="just">
              <a:lnSpc>
                <a:spcPts val="3000"/>
              </a:lnSpc>
              <a:spcBef>
                <a:spcPts val="600"/>
              </a:spcBef>
              <a:buNone/>
            </a:pPr>
            <a:r>
              <a:rPr sz="1600">
                <a:solidFill>
                  <a:srgbClr val="00194C"/>
                </a:solidFill>
                <a:latin typeface="华文楷体" panose="02010600040101010101" pitchFamily="2" charset="-122"/>
                <a:ea typeface="华文楷体" panose="02010600040101010101" pitchFamily="2" charset="-122"/>
                <a:sym typeface="+mn-ea"/>
              </a:rPr>
              <a:t>  </a:t>
            </a:r>
            <a:r>
              <a:rPr lang="en-US" altLang="zh-CN" sz="1600">
                <a:solidFill>
                  <a:srgbClr val="00194C"/>
                </a:solidFill>
                <a:latin typeface="华文楷体" panose="02010600040101010101" pitchFamily="2" charset="-122"/>
                <a:ea typeface="华文楷体" panose="02010600040101010101" pitchFamily="2" charset="-122"/>
                <a:sym typeface="+mn-ea"/>
              </a:rPr>
              <a:t>2. </a:t>
            </a:r>
            <a:r>
              <a:rPr sz="1600">
                <a:solidFill>
                  <a:srgbClr val="00194C"/>
                </a:solidFill>
                <a:latin typeface="华文楷体" panose="02010600040101010101" pitchFamily="2" charset="-122"/>
                <a:ea typeface="华文楷体" panose="02010600040101010101" pitchFamily="2" charset="-122"/>
                <a:sym typeface="+mn-ea"/>
              </a:rPr>
              <a:t>若bt非空，其高度应为其</a:t>
            </a:r>
            <a:r>
              <a:rPr sz="1600">
                <a:solidFill>
                  <a:srgbClr val="FF0000"/>
                </a:solidFill>
                <a:latin typeface="华文楷体" panose="02010600040101010101" pitchFamily="2" charset="-122"/>
                <a:ea typeface="华文楷体" panose="02010600040101010101" pitchFamily="2" charset="-122"/>
                <a:sym typeface="+mn-ea"/>
              </a:rPr>
              <a:t>左右子树高度的最大值加1。</a:t>
            </a:r>
            <a:endParaRPr lang="zh-CN" altLang="en-US" sz="1600">
              <a:solidFill>
                <a:srgbClr val="FF0000"/>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pic>
        <p:nvPicPr>
          <p:cNvPr id="41986" name="Picture 5"/>
          <p:cNvPicPr>
            <a:picLocks noChangeAspect="1"/>
          </p:cNvPicPr>
          <p:nvPr>
            <p:custDataLst>
              <p:tags r:id="rId1"/>
            </p:custDataLst>
          </p:nvPr>
        </p:nvPicPr>
        <p:blipFill>
          <a:blip r:embed="rId2"/>
          <a:stretch>
            <a:fillRect/>
          </a:stretch>
        </p:blipFill>
        <p:spPr>
          <a:xfrm>
            <a:off x="746125" y="1145540"/>
            <a:ext cx="4273550" cy="1637030"/>
          </a:xfrm>
          <a:prstGeom prst="rect">
            <a:avLst/>
          </a:prstGeom>
          <a:noFill/>
          <a:ln w="9525">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593090"/>
            <a:ext cx="8094345" cy="4550410"/>
          </a:xfrm>
        </p:spPr>
        <p:txBody>
          <a:bodyPr/>
          <a:lstStyle/>
          <a:p>
            <a:pPr marL="0" lvl="0" indent="0" eaLnBrk="1" hangingPunct="1">
              <a:lnSpc>
                <a:spcPct val="145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int PostTreeDepth(BiTree T)       /* 后序遍历求二叉树的高度递归算法 */</a:t>
            </a:r>
            <a:endParaRPr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45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a:t>
            </a:r>
            <a:endParaRPr sz="1600" dirty="0">
              <a:solidFill>
                <a:srgbClr val="00194C"/>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00194C"/>
                </a:solidFill>
                <a:latin typeface="华文楷体" panose="02010600040101010101" pitchFamily="2" charset="-122"/>
                <a:ea typeface="华文楷体" panose="02010600040101010101" pitchFamily="2" charset="-122"/>
                <a:sym typeface="+mn-ea"/>
              </a:rPr>
              <a:t>   int hl, hr, max; </a:t>
            </a:r>
            <a:endParaRPr lang="zh-CN" altLang="en-US" sz="1600" dirty="0">
              <a:solidFill>
                <a:srgbClr val="00194C"/>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00194C"/>
                </a:solidFill>
                <a:latin typeface="华文楷体" panose="02010600040101010101" pitchFamily="2" charset="-122"/>
                <a:ea typeface="华文楷体" panose="02010600040101010101" pitchFamily="2" charset="-122"/>
                <a:sym typeface="+mn-ea"/>
              </a:rPr>
              <a:t>   if(T !=NULL)</a:t>
            </a:r>
            <a:endParaRPr lang="zh-CN" altLang="en-US" sz="1600" dirty="0">
              <a:solidFill>
                <a:srgbClr val="00194C"/>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00194C"/>
                </a:solidFill>
                <a:latin typeface="华文楷体" panose="02010600040101010101" pitchFamily="2" charset="-122"/>
                <a:ea typeface="华文楷体" panose="02010600040101010101" pitchFamily="2" charset="-122"/>
                <a:sym typeface="+mn-ea"/>
              </a:rPr>
              <a:t>   {</a:t>
            </a:r>
            <a:endParaRPr lang="zh-CN" altLang="en-US" sz="1600" dirty="0">
              <a:solidFill>
                <a:srgbClr val="00194C"/>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00194C"/>
                </a:solidFill>
                <a:latin typeface="华文楷体" panose="02010600040101010101" pitchFamily="2" charset="-122"/>
                <a:ea typeface="华文楷体" panose="02010600040101010101" pitchFamily="2" charset="-122"/>
                <a:sym typeface="+mn-ea"/>
              </a:rPr>
              <a:t>       </a:t>
            </a:r>
            <a:r>
              <a:rPr lang="zh-CN" altLang="en-US" sz="1600" dirty="0">
                <a:solidFill>
                  <a:srgbClr val="FF0000"/>
                </a:solidFill>
                <a:latin typeface="华文楷体" panose="02010600040101010101" pitchFamily="2" charset="-122"/>
                <a:ea typeface="华文楷体" panose="02010600040101010101" pitchFamily="2" charset="-122"/>
                <a:sym typeface="+mn-ea"/>
              </a:rPr>
              <a:t>hl=PostTreeDepth(T</a:t>
            </a:r>
            <a:r>
              <a:rPr lang="zh-CN" altLang="en-US" sz="1600" dirty="0" smtClean="0">
                <a:solidFill>
                  <a:srgbClr val="FF0000"/>
                </a:solidFill>
                <a:latin typeface="华文楷体" panose="02010600040101010101" pitchFamily="2" charset="-122"/>
                <a:ea typeface="华文楷体" panose="02010600040101010101" pitchFamily="2" charset="-122"/>
                <a:sym typeface="+mn-ea"/>
              </a:rPr>
              <a:t>-&gt;</a:t>
            </a:r>
            <a:r>
              <a:rPr lang="en-US" altLang="zh-CN" sz="1600" dirty="0" err="1" smtClean="0">
                <a:solidFill>
                  <a:srgbClr val="FF0000"/>
                </a:solidFill>
                <a:latin typeface="华文楷体" panose="02010600040101010101" pitchFamily="2" charset="-122"/>
                <a:ea typeface="华文楷体" panose="02010600040101010101" pitchFamily="2" charset="-122"/>
                <a:sym typeface="+mn-ea"/>
              </a:rPr>
              <a:t>lc</a:t>
            </a:r>
            <a:r>
              <a:rPr lang="zh-CN" altLang="en-US" sz="1600" dirty="0" smtClean="0">
                <a:solidFill>
                  <a:srgbClr val="FF0000"/>
                </a:solidFill>
                <a:latin typeface="华文楷体" panose="02010600040101010101" pitchFamily="2" charset="-122"/>
                <a:ea typeface="华文楷体" panose="02010600040101010101" pitchFamily="2" charset="-122"/>
                <a:sym typeface="+mn-ea"/>
              </a:rPr>
              <a:t>hild</a:t>
            </a:r>
            <a:r>
              <a:rPr lang="zh-CN" altLang="en-US" sz="1600" dirty="0">
                <a:solidFill>
                  <a:srgbClr val="FF0000"/>
                </a:solidFill>
                <a:latin typeface="华文楷体" panose="02010600040101010101" pitchFamily="2" charset="-122"/>
                <a:ea typeface="华文楷体" panose="02010600040101010101" pitchFamily="2" charset="-122"/>
                <a:sym typeface="+mn-ea"/>
              </a:rPr>
              <a:t>);    /* 求左子树的深度 */</a:t>
            </a:r>
            <a:endParaRPr lang="zh-CN" altLang="en-US" sz="1600" dirty="0">
              <a:solidFill>
                <a:srgbClr val="FF0000"/>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FF0000"/>
                </a:solidFill>
                <a:latin typeface="华文楷体" panose="02010600040101010101" pitchFamily="2" charset="-122"/>
                <a:ea typeface="华文楷体" panose="02010600040101010101" pitchFamily="2" charset="-122"/>
                <a:sym typeface="+mn-ea"/>
              </a:rPr>
              <a:t>       hr=PostTreeDepth(T</a:t>
            </a:r>
            <a:r>
              <a:rPr lang="zh-CN" altLang="en-US" sz="1600" dirty="0" smtClean="0">
                <a:solidFill>
                  <a:srgbClr val="FF0000"/>
                </a:solidFill>
                <a:latin typeface="华文楷体" panose="02010600040101010101" pitchFamily="2" charset="-122"/>
                <a:ea typeface="华文楷体" panose="02010600040101010101" pitchFamily="2" charset="-122"/>
                <a:sym typeface="+mn-ea"/>
              </a:rPr>
              <a:t>-&gt;</a:t>
            </a:r>
            <a:r>
              <a:rPr lang="en-US" altLang="zh-CN" sz="1600" dirty="0" err="1" smtClean="0">
                <a:solidFill>
                  <a:srgbClr val="FF0000"/>
                </a:solidFill>
                <a:latin typeface="华文楷体" panose="02010600040101010101" pitchFamily="2" charset="-122"/>
                <a:ea typeface="华文楷体" panose="02010600040101010101" pitchFamily="2" charset="-122"/>
                <a:sym typeface="+mn-ea"/>
              </a:rPr>
              <a:t>rc</a:t>
            </a:r>
            <a:r>
              <a:rPr lang="zh-CN" altLang="en-US" sz="1600" dirty="0" smtClean="0">
                <a:solidFill>
                  <a:srgbClr val="FF0000"/>
                </a:solidFill>
                <a:latin typeface="华文楷体" panose="02010600040101010101" pitchFamily="2" charset="-122"/>
                <a:ea typeface="华文楷体" panose="02010600040101010101" pitchFamily="2" charset="-122"/>
                <a:sym typeface="+mn-ea"/>
              </a:rPr>
              <a:t>hild</a:t>
            </a:r>
            <a:r>
              <a:rPr lang="zh-CN" altLang="en-US" sz="1600" dirty="0">
                <a:solidFill>
                  <a:srgbClr val="FF0000"/>
                </a:solidFill>
                <a:latin typeface="华文楷体" panose="02010600040101010101" pitchFamily="2" charset="-122"/>
                <a:ea typeface="华文楷体" panose="02010600040101010101" pitchFamily="2" charset="-122"/>
                <a:sym typeface="+mn-ea"/>
              </a:rPr>
              <a:t>);    /* 求右子树的深度 */</a:t>
            </a:r>
            <a:endParaRPr lang="zh-CN" altLang="en-US" sz="1600" dirty="0">
              <a:solidFill>
                <a:srgbClr val="FF0000"/>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FF0000"/>
                </a:solidFill>
                <a:latin typeface="华文楷体" panose="02010600040101010101" pitchFamily="2" charset="-122"/>
                <a:ea typeface="华文楷体" panose="02010600040101010101" pitchFamily="2" charset="-122"/>
                <a:sym typeface="+mn-ea"/>
              </a:rPr>
              <a:t>       max=hl&gt;hr?hl: hr;        /* 得到左、 右子树深度较大者*/</a:t>
            </a:r>
            <a:endParaRPr lang="zh-CN" altLang="en-US" sz="1600" dirty="0">
              <a:solidFill>
                <a:srgbClr val="FF0000"/>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FF0000"/>
                </a:solidFill>
                <a:latin typeface="华文楷体" panose="02010600040101010101" pitchFamily="2" charset="-122"/>
                <a:ea typeface="华文楷体" panose="02010600040101010101" pitchFamily="2" charset="-122"/>
                <a:sym typeface="+mn-ea"/>
              </a:rPr>
              <a:t>       return  max+1;        /* 返回树的深度 */</a:t>
            </a:r>
            <a:endParaRPr lang="zh-CN" altLang="en-US" sz="1600" dirty="0">
              <a:solidFill>
                <a:srgbClr val="FF0000"/>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00194C"/>
                </a:solidFill>
                <a:latin typeface="华文楷体" panose="02010600040101010101" pitchFamily="2" charset="-122"/>
                <a:ea typeface="华文楷体" panose="02010600040101010101" pitchFamily="2" charset="-122"/>
                <a:sym typeface="+mn-ea"/>
              </a:rPr>
              <a:t>    }</a:t>
            </a:r>
            <a:endParaRPr lang="zh-CN" altLang="en-US" sz="1600" dirty="0">
              <a:solidFill>
                <a:srgbClr val="00194C"/>
              </a:solidFill>
              <a:latin typeface="华文楷体" panose="02010600040101010101" pitchFamily="2" charset="-122"/>
              <a:ea typeface="华文楷体" panose="02010600040101010101" pitchFamily="2" charset="-122"/>
            </a:endParaRPr>
          </a:p>
          <a:p>
            <a:pPr marL="457200" lvl="1" indent="0" eaLnBrk="1" hangingPunct="1">
              <a:lnSpc>
                <a:spcPct val="145000"/>
              </a:lnSpc>
              <a:spcBef>
                <a:spcPct val="0"/>
              </a:spcBef>
              <a:buNone/>
            </a:pPr>
            <a:r>
              <a:rPr lang="zh-CN" altLang="en-US" sz="1600" dirty="0">
                <a:solidFill>
                  <a:srgbClr val="00194C"/>
                </a:solidFill>
                <a:latin typeface="华文楷体" panose="02010600040101010101" pitchFamily="2" charset="-122"/>
                <a:ea typeface="华文楷体" panose="02010600040101010101" pitchFamily="2" charset="-122"/>
                <a:sym typeface="+mn-ea"/>
              </a:rPr>
              <a:t>    else return 0;        /* 如果是空树， 则返回0 */</a:t>
            </a:r>
            <a:endParaRPr lang="zh-CN" altLang="en-US" sz="1600" dirty="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45000"/>
              </a:lnSpc>
              <a:spcBef>
                <a:spcPct val="0"/>
              </a:spcBef>
              <a:buNone/>
            </a:pPr>
            <a:r>
              <a:rPr sz="1600" dirty="0">
                <a:solidFill>
                  <a:srgbClr val="00194C"/>
                </a:solidFill>
                <a:latin typeface="华文楷体" panose="02010600040101010101" pitchFamily="2" charset="-122"/>
                <a:ea typeface="华文楷体" panose="02010600040101010101" pitchFamily="2" charset="-122"/>
                <a:sym typeface="+mn-ea"/>
              </a:rPr>
              <a:t>} </a:t>
            </a:r>
            <a:endParaRPr lang="zh-CN" altLang="en-US" sz="1600" dirty="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593090"/>
            <a:ext cx="8094345" cy="3921760"/>
          </a:xfrm>
        </p:spPr>
        <p:txBody>
          <a:bodyPr/>
          <a:lstStyle/>
          <a:p>
            <a:r>
              <a:rPr lang="en-US" altLang="zh-CN" sz="1600">
                <a:solidFill>
                  <a:srgbClr val="00194C"/>
                </a:solidFill>
                <a:latin typeface="华文楷体" panose="02010600040101010101" pitchFamily="2" charset="-122"/>
                <a:ea typeface="华文楷体" panose="02010600040101010101" pitchFamily="2" charset="-122"/>
                <a:sym typeface="+mn-ea"/>
              </a:rPr>
              <a:t>6.</a:t>
            </a:r>
            <a:r>
              <a:rPr sz="1600">
                <a:solidFill>
                  <a:srgbClr val="00194C"/>
                </a:solidFill>
                <a:latin typeface="华文楷体" panose="02010600040101010101" pitchFamily="2" charset="-122"/>
                <a:ea typeface="华文楷体" panose="02010600040101010101" pitchFamily="2" charset="-122"/>
                <a:sym typeface="+mn-ea"/>
              </a:rPr>
              <a:t>  按树状打印的二叉树</a:t>
            </a:r>
            <a:endParaRPr lang="zh-CN" altLang="en-US" sz="1600" b="1">
              <a:solidFill>
                <a:srgbClr val="00194C"/>
              </a:solidFill>
              <a:latin typeface="华文楷体" panose="02010600040101010101" pitchFamily="2" charset="-122"/>
              <a:ea typeface="华文楷体" panose="02010600040101010101" pitchFamily="2" charset="-122"/>
            </a:endParaRPr>
          </a:p>
          <a:p>
            <a:r>
              <a:rPr sz="1600">
                <a:solidFill>
                  <a:srgbClr val="00194C"/>
                </a:solidFill>
                <a:latin typeface="华文楷体" panose="02010600040101010101" pitchFamily="2" charset="-122"/>
                <a:ea typeface="华文楷体" panose="02010600040101010101" pitchFamily="2" charset="-122"/>
                <a:sym typeface="+mn-ea"/>
              </a:rPr>
              <a:t>    </a:t>
            </a:r>
            <a:endParaRPr sz="1600">
              <a:solidFill>
                <a:srgbClr val="00194C"/>
              </a:solidFill>
              <a:latin typeface="华文楷体" panose="02010600040101010101" pitchFamily="2" charset="-122"/>
              <a:ea typeface="华文楷体" panose="02010600040101010101" pitchFamily="2" charset="-122"/>
              <a:sym typeface="+mn-ea"/>
            </a:endParaRPr>
          </a:p>
          <a:p>
            <a:pPr marL="0" lvl="0" indent="0" algn="just" eaLnBrk="1" hangingPunct="1">
              <a:lnSpc>
                <a:spcPct val="135000"/>
              </a:lnSpc>
              <a:spcBef>
                <a:spcPct val="50000"/>
              </a:spcBef>
              <a:buNone/>
            </a:pPr>
            <a:endParaRPr sz="1600">
              <a:solidFill>
                <a:srgbClr val="00194C"/>
              </a:solidFill>
              <a:latin typeface="华文楷体" panose="02010600040101010101" pitchFamily="2" charset="-122"/>
              <a:ea typeface="华文楷体" panose="02010600040101010101" pitchFamily="2" charset="-122"/>
              <a:sym typeface="+mn-ea"/>
            </a:endParaRPr>
          </a:p>
          <a:p>
            <a:pPr marL="0" lvl="0" indent="0" algn="just" eaLnBrk="1" hangingPunct="1">
              <a:lnSpc>
                <a:spcPct val="135000"/>
              </a:lnSpc>
              <a:spcBef>
                <a:spcPct val="50000"/>
              </a:spcBef>
              <a:buNone/>
            </a:pPr>
            <a:endParaRPr sz="1600">
              <a:solidFill>
                <a:srgbClr val="00194C"/>
              </a:solidFill>
              <a:latin typeface="华文楷体" panose="02010600040101010101" pitchFamily="2" charset="-122"/>
              <a:ea typeface="华文楷体" panose="02010600040101010101" pitchFamily="2" charset="-122"/>
              <a:sym typeface="+mn-ea"/>
            </a:endParaRPr>
          </a:p>
          <a:p>
            <a:pPr marL="0" lvl="0" indent="0" algn="just" eaLnBrk="1" hangingPunct="1">
              <a:lnSpc>
                <a:spcPct val="135000"/>
              </a:lnSpc>
              <a:spcBef>
                <a:spcPct val="50000"/>
              </a:spcBef>
              <a:buNone/>
            </a:pPr>
            <a:endParaRPr sz="1600">
              <a:solidFill>
                <a:srgbClr val="00194C"/>
              </a:solidFill>
              <a:latin typeface="华文楷体" panose="02010600040101010101" pitchFamily="2" charset="-122"/>
              <a:ea typeface="华文楷体" panose="02010600040101010101" pitchFamily="2" charset="-122"/>
              <a:sym typeface="+mn-ea"/>
            </a:endParaRPr>
          </a:p>
          <a:p>
            <a:pPr marL="0" lvl="0" algn="just">
              <a:lnSpc>
                <a:spcPts val="3000"/>
              </a:lnSpc>
              <a:spcBef>
                <a:spcPts val="600"/>
              </a:spcBef>
              <a:buNone/>
            </a:pPr>
            <a:r>
              <a:rPr sz="1600">
                <a:solidFill>
                  <a:srgbClr val="00194C"/>
                </a:solidFill>
                <a:latin typeface="华文楷体" panose="02010600040101010101" pitchFamily="2" charset="-122"/>
                <a:ea typeface="华文楷体" panose="02010600040101010101" pitchFamily="2" charset="-122"/>
                <a:sym typeface="+mn-ea"/>
              </a:rPr>
              <a:t> 这实际是一个二叉树的横向显示问题：</a:t>
            </a:r>
            <a:endParaRPr sz="1600">
              <a:solidFill>
                <a:srgbClr val="00194C"/>
              </a:solidFill>
              <a:latin typeface="华文楷体" panose="02010600040101010101" pitchFamily="2" charset="-122"/>
              <a:ea typeface="华文楷体" panose="02010600040101010101" pitchFamily="2" charset="-122"/>
              <a:sym typeface="+mn-ea"/>
            </a:endParaRPr>
          </a:p>
          <a:p>
            <a:pPr marL="0" lvl="0" algn="just">
              <a:lnSpc>
                <a:spcPts val="3000"/>
              </a:lnSpc>
              <a:spcBef>
                <a:spcPts val="600"/>
              </a:spcBef>
              <a:buNone/>
            </a:pPr>
            <a:r>
              <a:rPr sz="1600">
                <a:solidFill>
                  <a:srgbClr val="00194C"/>
                </a:solidFill>
                <a:latin typeface="华文楷体" panose="02010600040101010101" pitchFamily="2" charset="-122"/>
                <a:ea typeface="华文楷体" panose="02010600040101010101" pitchFamily="2" charset="-122"/>
                <a:sym typeface="+mn-ea"/>
              </a:rPr>
              <a:t>        因为二叉树的横向显示应是二叉树竖向显示的90°旋转，又由于二叉树的横向显示算法一定是中序遍历算法，所以把横向显示的二叉树算法改为</a:t>
            </a:r>
            <a:r>
              <a:rPr sz="1600">
                <a:solidFill>
                  <a:srgbClr val="FF0000"/>
                </a:solidFill>
                <a:latin typeface="华文楷体" panose="02010600040101010101" pitchFamily="2" charset="-122"/>
                <a:ea typeface="华文楷体" panose="02010600040101010101" pitchFamily="2" charset="-122"/>
                <a:sym typeface="+mn-ea"/>
              </a:rPr>
              <a:t>先右子树再根结点再左子树的RDL结构</a:t>
            </a:r>
            <a:r>
              <a:rPr sz="1600">
                <a:solidFill>
                  <a:srgbClr val="00194C"/>
                </a:solidFill>
                <a:latin typeface="华文楷体" panose="02010600040101010101" pitchFamily="2" charset="-122"/>
                <a:ea typeface="华文楷体" panose="02010600040101010101" pitchFamily="2" charset="-122"/>
                <a:sym typeface="+mn-ea"/>
              </a:rPr>
              <a:t>， 实现算法如下：</a:t>
            </a:r>
            <a:endParaRPr lang="zh-CN" altLang="en-US" sz="160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pic>
        <p:nvPicPr>
          <p:cNvPr id="45059" name="Picture 5"/>
          <p:cNvPicPr>
            <a:picLocks noChangeAspect="1"/>
          </p:cNvPicPr>
          <p:nvPr/>
        </p:nvPicPr>
        <p:blipFill>
          <a:blip r:embed="rId1"/>
          <a:stretch>
            <a:fillRect/>
          </a:stretch>
        </p:blipFill>
        <p:spPr>
          <a:xfrm>
            <a:off x="746125" y="1050290"/>
            <a:ext cx="4286885" cy="1915795"/>
          </a:xfrm>
          <a:prstGeom prst="rect">
            <a:avLst/>
          </a:prstGeom>
          <a:noFill/>
          <a:ln w="9525">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320" y="593090"/>
            <a:ext cx="8094345" cy="4179570"/>
          </a:xfrm>
        </p:spPr>
        <p:txBody>
          <a:bodyPr/>
          <a:lstStyle/>
          <a:p>
            <a:pPr marL="0" lvl="0" indent="0" eaLnBrk="1" hangingPunct="1">
              <a:lnSpc>
                <a:spcPct val="180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void PrintTree(Bitree T, int nLayer)   /* 按竖向树状打印的二叉树 */</a:t>
            </a:r>
            <a:endParaRPr sz="1600">
              <a:solidFill>
                <a:srgbClr val="00194C"/>
              </a:solidFill>
              <a:latin typeface="华文楷体" panose="02010600040101010101" pitchFamily="2" charset="-122"/>
              <a:ea typeface="华文楷体" panose="02010600040101010101" pitchFamily="2" charset="-122"/>
            </a:endParaRPr>
          </a:p>
          <a:p>
            <a:pPr marL="0" lvl="0" indent="0" eaLnBrk="1" hangingPunct="1">
              <a:lnSpc>
                <a:spcPct val="180000"/>
              </a:lnSpc>
              <a:spcBef>
                <a:spcPct val="0"/>
              </a:spcBef>
              <a:buNone/>
            </a:pPr>
            <a:r>
              <a:rPr lang="en-US" altLang="zh-CN" sz="1600">
                <a:solidFill>
                  <a:srgbClr val="00194C"/>
                </a:solidFill>
                <a:latin typeface="华文楷体" panose="02010600040101010101" pitchFamily="2" charset="-122"/>
                <a:ea typeface="华文楷体" panose="02010600040101010101" pitchFamily="2" charset="-122"/>
                <a:sym typeface="+mn-ea"/>
              </a:rPr>
              <a:t>{</a:t>
            </a:r>
            <a:endParaRPr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FF0000"/>
                </a:solidFill>
                <a:latin typeface="华文楷体" panose="02010600040101010101" pitchFamily="2" charset="-122"/>
                <a:ea typeface="华文楷体" panose="02010600040101010101" pitchFamily="2" charset="-122"/>
                <a:sym typeface="+mn-ea"/>
              </a:rPr>
              <a:t>1：</a:t>
            </a:r>
            <a:r>
              <a:rPr lang="zh-CN" altLang="en-US" sz="1600">
                <a:solidFill>
                  <a:srgbClr val="00194C"/>
                </a:solidFill>
                <a:latin typeface="华文楷体" panose="02010600040101010101" pitchFamily="2" charset="-122"/>
                <a:ea typeface="华文楷体" panose="02010600040101010101" pitchFamily="2" charset="-122"/>
                <a:sym typeface="+mn-ea"/>
              </a:rPr>
              <a:t>   if(T ==NULL)  return; </a:t>
            </a:r>
            <a:endParaRPr lang="zh-CN" altLang="en-US"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lang="zh-CN" altLang="en-US"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FF0000"/>
                </a:solidFill>
                <a:latin typeface="华文楷体" panose="02010600040101010101" pitchFamily="2" charset="-122"/>
                <a:ea typeface="华文楷体" panose="02010600040101010101" pitchFamily="2" charset="-122"/>
                <a:sym typeface="+mn-ea"/>
              </a:rPr>
              <a:t> 2：</a:t>
            </a:r>
            <a:r>
              <a:rPr lang="zh-CN" altLang="en-US" sz="1600">
                <a:solidFill>
                  <a:srgbClr val="00194C"/>
                </a:solidFill>
                <a:latin typeface="华文楷体" panose="02010600040101010101" pitchFamily="2" charset="-122"/>
                <a:ea typeface="华文楷体" panose="02010600040101010101" pitchFamily="2" charset="-122"/>
                <a:sym typeface="+mn-ea"/>
              </a:rPr>
              <a:t>   PrintTree(T-&gt;rchild, nLayer+1); </a:t>
            </a:r>
            <a:endParaRPr lang="zh-CN" altLang="en-US"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lang="zh-CN" altLang="en-US"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FF0000"/>
                </a:solidFill>
                <a:latin typeface="华文楷体" panose="02010600040101010101" pitchFamily="2" charset="-122"/>
                <a:ea typeface="华文楷体" panose="02010600040101010101" pitchFamily="2" charset="-122"/>
                <a:sym typeface="+mn-ea"/>
              </a:rPr>
              <a:t>3：</a:t>
            </a:r>
            <a:r>
              <a:rPr lang="zh-CN" altLang="en-US" sz="1600">
                <a:solidFill>
                  <a:srgbClr val="00194C"/>
                </a:solidFill>
                <a:latin typeface="华文楷体" panose="02010600040101010101" pitchFamily="2" charset="-122"/>
                <a:ea typeface="华文楷体" panose="02010600040101010101" pitchFamily="2" charset="-122"/>
                <a:sym typeface="+mn-ea"/>
              </a:rPr>
              <a:t>   for(int i=0; i&lt;nLayer; i++)</a:t>
            </a:r>
            <a:endParaRPr lang="zh-CN" altLang="en-US"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lang="zh-CN" altLang="en-US"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FF0000"/>
                </a:solidFill>
                <a:latin typeface="华文楷体" panose="02010600040101010101" pitchFamily="2" charset="-122"/>
                <a:ea typeface="华文楷体" panose="02010600040101010101" pitchFamily="2" charset="-122"/>
                <a:sym typeface="+mn-ea"/>
              </a:rPr>
              <a:t>4：</a:t>
            </a:r>
            <a:r>
              <a:rPr lang="zh-CN" altLang="en-US" sz="1600">
                <a:solidFill>
                  <a:srgbClr val="00194C"/>
                </a:solidFill>
                <a:latin typeface="华文楷体" panose="02010600040101010101" pitchFamily="2" charset="-122"/>
                <a:ea typeface="华文楷体" panose="02010600040101010101" pitchFamily="2" charset="-122"/>
                <a:sym typeface="+mn-ea"/>
              </a:rPr>
              <a:t>        printf</a:t>
            </a:r>
            <a:r>
              <a:rPr lang="en-US" altLang="zh-CN"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00194C"/>
                </a:solidFill>
                <a:latin typeface="华文楷体" panose="02010600040101010101" pitchFamily="2" charset="-122"/>
                <a:ea typeface="华文楷体" panose="02010600040101010101" pitchFamily="2" charset="-122"/>
                <a:sym typeface="+mn-ea"/>
              </a:rPr>
              <a:t>; </a:t>
            </a:r>
            <a:endParaRPr lang="zh-CN" altLang="en-US"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lang="zh-CN" altLang="en-US"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FF0000"/>
                </a:solidFill>
                <a:latin typeface="华文楷体" panose="02010600040101010101" pitchFamily="2" charset="-122"/>
                <a:ea typeface="华文楷体" panose="02010600040101010101" pitchFamily="2" charset="-122"/>
                <a:sym typeface="+mn-ea"/>
              </a:rPr>
              <a:t>5：    </a:t>
            </a:r>
            <a:r>
              <a:rPr lang="zh-CN" altLang="en-US" sz="1600">
                <a:solidFill>
                  <a:srgbClr val="00194C"/>
                </a:solidFill>
                <a:latin typeface="华文楷体" panose="02010600040101010101" pitchFamily="2" charset="-122"/>
                <a:ea typeface="华文楷体" panose="02010600040101010101" pitchFamily="2" charset="-122"/>
                <a:sym typeface="+mn-ea"/>
              </a:rPr>
              <a:t>printf(</a:t>
            </a:r>
            <a:r>
              <a:rPr lang="en-US" altLang="zh-CN" sz="1600">
                <a:solidFill>
                  <a:srgbClr val="00194C"/>
                </a:solidFill>
                <a:latin typeface="华文楷体" panose="02010600040101010101" pitchFamily="2" charset="-122"/>
                <a:ea typeface="华文楷体" panose="02010600040101010101" pitchFamily="2" charset="-122"/>
                <a:sym typeface="+mn-ea"/>
              </a:rPr>
              <a:t>“</a:t>
            </a:r>
            <a:r>
              <a:rPr lang="zh-CN" altLang="en-US" sz="1600">
                <a:solidFill>
                  <a:srgbClr val="00194C"/>
                </a:solidFill>
                <a:latin typeface="华文楷体" panose="02010600040101010101" pitchFamily="2" charset="-122"/>
                <a:ea typeface="华文楷体" panose="02010600040101010101" pitchFamily="2" charset="-122"/>
                <a:sym typeface="+mn-ea"/>
              </a:rPr>
              <a:t>%c\n</a:t>
            </a:r>
            <a:r>
              <a:rPr lang="en-US" altLang="zh-CN" sz="1600">
                <a:solidFill>
                  <a:srgbClr val="00194C"/>
                </a:solidFill>
                <a:latin typeface="华文楷体" panose="02010600040101010101" pitchFamily="2" charset="-122"/>
                <a:ea typeface="华文楷体" panose="02010600040101010101" pitchFamily="2" charset="-122"/>
                <a:sym typeface="+mn-ea"/>
              </a:rPr>
              <a:t>”</a:t>
            </a:r>
            <a:r>
              <a:rPr lang="zh-CN" altLang="en-US" sz="1600">
                <a:solidFill>
                  <a:srgbClr val="00194C"/>
                </a:solidFill>
                <a:latin typeface="华文楷体" panose="02010600040101010101" pitchFamily="2" charset="-122"/>
                <a:ea typeface="华文楷体" panose="02010600040101010101" pitchFamily="2" charset="-122"/>
                <a:sym typeface="+mn-ea"/>
              </a:rPr>
              <a:t>, T-&gt;data); </a:t>
            </a:r>
            <a:endParaRPr lang="zh-CN" altLang="en-US"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lang="zh-CN" altLang="en-US" sz="1600">
                <a:solidFill>
                  <a:srgbClr val="00194C"/>
                </a:solidFill>
                <a:latin typeface="华文楷体" panose="02010600040101010101" pitchFamily="2" charset="-122"/>
                <a:ea typeface="华文楷体" panose="02010600040101010101" pitchFamily="2" charset="-122"/>
                <a:sym typeface="+mn-ea"/>
              </a:rPr>
              <a:t>    </a:t>
            </a:r>
            <a:r>
              <a:rPr lang="zh-CN" altLang="en-US" sz="1600">
                <a:solidFill>
                  <a:srgbClr val="FF0000"/>
                </a:solidFill>
                <a:latin typeface="华文楷体" panose="02010600040101010101" pitchFamily="2" charset="-122"/>
                <a:ea typeface="华文楷体" panose="02010600040101010101" pitchFamily="2" charset="-122"/>
                <a:sym typeface="+mn-ea"/>
              </a:rPr>
              <a:t>6：</a:t>
            </a:r>
            <a:r>
              <a:rPr lang="zh-CN" altLang="en-US" sz="1600">
                <a:solidFill>
                  <a:srgbClr val="00194C"/>
                </a:solidFill>
                <a:latin typeface="华文楷体" panose="02010600040101010101" pitchFamily="2" charset="-122"/>
                <a:ea typeface="华文楷体" panose="02010600040101010101" pitchFamily="2" charset="-122"/>
                <a:sym typeface="+mn-ea"/>
              </a:rPr>
              <a:t>    PrintTree(T-&gt;lchild, nLayer+1); </a:t>
            </a:r>
            <a:endParaRPr lang="zh-CN" altLang="en-US" sz="1600">
              <a:solidFill>
                <a:srgbClr val="00194C"/>
              </a:solidFill>
              <a:latin typeface="华文楷体" panose="02010600040101010101" pitchFamily="2" charset="-122"/>
              <a:ea typeface="华文楷体" panose="02010600040101010101" pitchFamily="2" charset="-122"/>
              <a:sym typeface="+mn-ea"/>
            </a:endParaRPr>
          </a:p>
          <a:p>
            <a:pPr marL="0" lvl="0" indent="0" eaLnBrk="1" hangingPunct="1">
              <a:lnSpc>
                <a:spcPct val="180000"/>
              </a:lnSpc>
              <a:spcBef>
                <a:spcPct val="0"/>
              </a:spcBef>
              <a:buNone/>
            </a:pPr>
            <a:r>
              <a:rPr sz="1600">
                <a:solidFill>
                  <a:srgbClr val="00194C"/>
                </a:solidFill>
                <a:latin typeface="华文楷体" panose="02010600040101010101" pitchFamily="2" charset="-122"/>
                <a:ea typeface="华文楷体" panose="02010600040101010101" pitchFamily="2" charset="-122"/>
                <a:sym typeface="+mn-ea"/>
              </a:rPr>
              <a:t>} </a:t>
            </a:r>
            <a:endParaRPr lang="zh-CN" altLang="en-US" sz="1600">
              <a:solidFill>
                <a:srgbClr val="00194C"/>
              </a:solidFill>
              <a:latin typeface="华文楷体" panose="02010600040101010101" pitchFamily="2" charset="-122"/>
              <a:ea typeface="华文楷体" panose="02010600040101010101" pitchFamily="2" charset="-122"/>
              <a:sym typeface="+mn-ea"/>
            </a:endParaRPr>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gn="just"/>
            <a:r>
              <a:rPr lang="zh-CN" altLang="en-US" dirty="0"/>
              <a:t>7. 由两种遍历序列确定二叉树</a:t>
            </a:r>
            <a:endParaRPr lang="zh-CN" altLang="en-US" dirty="0"/>
          </a:p>
          <a:p>
            <a:pPr lvl="2"/>
            <a:r>
              <a:rPr lang="zh-CN" altLang="en-US" dirty="0"/>
              <a:t>问题：已知三种遍历中的任意两种遍历序列， 能否唯一确定一棵二叉树呢？</a:t>
            </a:r>
            <a:endParaRPr lang="zh-CN" altLang="en-US" dirty="0"/>
          </a:p>
          <a:p>
            <a:pPr lvl="2"/>
            <a:endParaRPr lang="en-US" altLang="zh-CN" dirty="0"/>
          </a:p>
          <a:p>
            <a:pPr lvl="2"/>
            <a:r>
              <a:rPr lang="zh-CN" altLang="en-US" dirty="0"/>
              <a:t>答案是： </a:t>
            </a:r>
            <a:r>
              <a:rPr lang="zh-CN" altLang="en-US" dirty="0">
                <a:solidFill>
                  <a:srgbClr val="FF0000"/>
                </a:solidFill>
              </a:rPr>
              <a:t>必须要有中序遍历序列才行 ！</a:t>
            </a:r>
            <a:endParaRPr lang="en-US" altLang="zh-CN" dirty="0">
              <a:solidFill>
                <a:srgbClr val="FF0000"/>
              </a:solidFill>
            </a:endParaRPr>
          </a:p>
          <a:p>
            <a:pPr lvl="2"/>
            <a:endParaRPr lang="en-US" altLang="zh-CN" dirty="0">
              <a:solidFill>
                <a:srgbClr val="FF0000"/>
              </a:solidFill>
            </a:endParaRPr>
          </a:p>
          <a:p>
            <a:pPr lvl="2"/>
            <a:r>
              <a:rPr lang="zh-CN" altLang="en-US" dirty="0"/>
              <a:t>如果没有中序遍历序列：</a:t>
            </a:r>
            <a:endParaRPr lang="zh-CN" altLang="en-US" dirty="0"/>
          </a:p>
          <a:p>
            <a:pPr lvl="2"/>
            <a:r>
              <a:rPr lang="zh-CN" altLang="en-US" dirty="0"/>
              <a:t> 先序遍历序列：</a:t>
            </a:r>
            <a:r>
              <a:rPr lang="en-US" altLang="zh-CN" dirty="0"/>
              <a:t>A B </a:t>
            </a:r>
            <a:endParaRPr lang="en-US" altLang="zh-CN" dirty="0"/>
          </a:p>
          <a:p>
            <a:pPr lvl="2"/>
            <a:r>
              <a:rPr lang="zh-CN" altLang="en-US" dirty="0"/>
              <a:t> 后序遍历序列：</a:t>
            </a:r>
            <a:r>
              <a:rPr lang="en-US" altLang="zh-CN" dirty="0"/>
              <a:t>B A </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
        <p:nvSpPr>
          <p:cNvPr id="4" name="TextBox 5"/>
          <p:cNvSpPr txBox="1">
            <a:spLocks noChangeArrowheads="1"/>
          </p:cNvSpPr>
          <p:nvPr/>
        </p:nvSpPr>
        <p:spPr bwMode="auto">
          <a:xfrm>
            <a:off x="5043638" y="3205739"/>
            <a:ext cx="226215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t>二叉树会是什么样？</a:t>
            </a:r>
            <a:endParaRPr lang="zh-CN" altLang="en-US" sz="1800" dirty="0"/>
          </a:p>
        </p:txBody>
      </p:sp>
      <p:pic>
        <p:nvPicPr>
          <p:cNvPr id="5"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990061" y="3634364"/>
            <a:ext cx="842963" cy="807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83093" y="3634365"/>
            <a:ext cx="885825" cy="785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3732" y="3741520"/>
            <a:ext cx="521494" cy="642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dissolv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dissolv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sz="2000" dirty="0"/>
              <a:t>例：根据先序和中序遍历序列来确定一棵二叉树</a:t>
            </a:r>
            <a:endParaRPr lang="en-US" altLang="zh-CN" sz="2000" dirty="0"/>
          </a:p>
          <a:p>
            <a:pPr lvl="2">
              <a:lnSpc>
                <a:spcPts val="2800"/>
              </a:lnSpc>
              <a:spcBef>
                <a:spcPct val="0"/>
              </a:spcBef>
            </a:pPr>
            <a:r>
              <a:rPr lang="zh-CN" altLang="en-US" sz="1600" dirty="0"/>
              <a:t>分析：</a:t>
            </a:r>
            <a:endParaRPr lang="en-US" altLang="zh-CN" sz="1600" dirty="0"/>
          </a:p>
          <a:p>
            <a:pPr lvl="2">
              <a:lnSpc>
                <a:spcPct val="100000"/>
              </a:lnSpc>
              <a:spcBef>
                <a:spcPct val="0"/>
              </a:spcBef>
              <a:buClr>
                <a:schemeClr val="accent1"/>
              </a:buClr>
              <a:buFont typeface="Wingdings" panose="05000000000000000000" pitchFamily="2" charset="2"/>
              <a:buChar char="Ø"/>
            </a:pPr>
            <a:r>
              <a:rPr lang="zh-CN" altLang="en-US" sz="1600" dirty="0"/>
              <a:t> 先序遍历的访问顺序是</a:t>
            </a:r>
            <a:r>
              <a:rPr lang="en-US" altLang="zh-CN" sz="1600" dirty="0"/>
              <a:t>DLR</a:t>
            </a:r>
            <a:r>
              <a:rPr lang="zh-CN" altLang="en-US" sz="1600" dirty="0"/>
              <a:t>，</a:t>
            </a:r>
            <a:r>
              <a:rPr lang="zh-CN" altLang="en-US" sz="1600" dirty="0">
                <a:solidFill>
                  <a:srgbClr val="FF0000"/>
                </a:solidFill>
              </a:rPr>
              <a:t>第一个被访问的结点必是根</a:t>
            </a:r>
            <a:r>
              <a:rPr lang="en-US" altLang="zh-CN" sz="1600" dirty="0">
                <a:solidFill>
                  <a:srgbClr val="FF0000"/>
                </a:solidFill>
              </a:rPr>
              <a:t>D</a:t>
            </a:r>
            <a:r>
              <a:rPr lang="zh-CN" altLang="en-US" sz="1600" dirty="0">
                <a:solidFill>
                  <a:srgbClr val="FF0000"/>
                </a:solidFill>
              </a:rPr>
              <a:t>；</a:t>
            </a:r>
            <a:endParaRPr lang="en-US" altLang="zh-CN" sz="1600" dirty="0">
              <a:solidFill>
                <a:srgbClr val="FF0000"/>
              </a:solidFill>
            </a:endParaRPr>
          </a:p>
          <a:p>
            <a:pPr lvl="2">
              <a:lnSpc>
                <a:spcPct val="100000"/>
              </a:lnSpc>
              <a:spcBef>
                <a:spcPct val="0"/>
              </a:spcBef>
              <a:buClr>
                <a:schemeClr val="accent1"/>
              </a:buClr>
              <a:buFont typeface="Wingdings" panose="05000000000000000000" pitchFamily="2" charset="2"/>
              <a:buChar char="Ø"/>
            </a:pPr>
            <a:r>
              <a:rPr lang="zh-CN" altLang="en-US" sz="1600" dirty="0"/>
              <a:t> 中序遍历是</a:t>
            </a:r>
            <a:r>
              <a:rPr lang="en-US" altLang="zh-CN" sz="1600" dirty="0"/>
              <a:t>LDR</a:t>
            </a:r>
            <a:r>
              <a:rPr lang="zh-CN" altLang="en-US" sz="1600" dirty="0"/>
              <a:t>，则</a:t>
            </a:r>
            <a:r>
              <a:rPr lang="zh-CN" altLang="en-US" sz="1600" dirty="0">
                <a:solidFill>
                  <a:srgbClr val="FF0000"/>
                </a:solidFill>
              </a:rPr>
              <a:t>根结点</a:t>
            </a:r>
            <a:r>
              <a:rPr lang="en-US" altLang="zh-CN" sz="1600" dirty="0">
                <a:solidFill>
                  <a:srgbClr val="FF0000"/>
                </a:solidFill>
              </a:rPr>
              <a:t>D</a:t>
            </a:r>
            <a:r>
              <a:rPr lang="zh-CN" altLang="en-US" sz="1600" dirty="0">
                <a:solidFill>
                  <a:srgbClr val="FF0000"/>
                </a:solidFill>
              </a:rPr>
              <a:t>将中序序列分割成两部分</a:t>
            </a:r>
            <a:r>
              <a:rPr lang="zh-CN" altLang="en-US" sz="1600" dirty="0"/>
              <a:t>：在</a:t>
            </a:r>
            <a:r>
              <a:rPr lang="en-US" altLang="zh-CN" sz="1600" dirty="0"/>
              <a:t>D</a:t>
            </a:r>
            <a:r>
              <a:rPr lang="zh-CN" altLang="en-US" sz="1600" dirty="0"/>
              <a:t>之前是左子树结点的中序序列，在</a:t>
            </a:r>
            <a:r>
              <a:rPr lang="en-US" altLang="zh-CN" sz="1600" dirty="0"/>
              <a:t>D</a:t>
            </a:r>
            <a:r>
              <a:rPr lang="zh-CN" altLang="en-US" sz="1600" dirty="0"/>
              <a:t>之后是右子树结点的中序序列。</a:t>
            </a:r>
            <a:endParaRPr lang="en-US" altLang="zh-CN" sz="1600" dirty="0"/>
          </a:p>
          <a:p>
            <a:pPr lvl="2">
              <a:lnSpc>
                <a:spcPct val="100000"/>
              </a:lnSpc>
              <a:spcBef>
                <a:spcPct val="0"/>
              </a:spcBef>
              <a:buClr>
                <a:schemeClr val="accent1"/>
              </a:buClr>
              <a:buFont typeface="Wingdings" panose="05000000000000000000" pitchFamily="2" charset="2"/>
              <a:buChar char="Ø"/>
            </a:pPr>
            <a:r>
              <a:rPr lang="zh-CN" altLang="en-US" sz="1600" dirty="0"/>
              <a:t> 根据左子树的中序序列中结点个数，又可将前序序列除根以外分成左子树的前序序列和右子树的前序序列两个部分。</a:t>
            </a:r>
            <a:endParaRPr lang="en-US" altLang="zh-CN" sz="1600" dirty="0"/>
          </a:p>
          <a:p>
            <a:pPr lvl="2">
              <a:lnSpc>
                <a:spcPct val="100000"/>
              </a:lnSpc>
              <a:spcBef>
                <a:spcPct val="0"/>
              </a:spcBef>
            </a:pPr>
            <a:r>
              <a:rPr lang="zh-CN" altLang="en-US" sz="1600" dirty="0"/>
              <a:t>    依此类推，便可递归得到整棵二叉树。 </a:t>
            </a:r>
            <a:endParaRPr lang="zh-CN" altLang="en-US" sz="16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pSp>
        <p:nvGrpSpPr>
          <p:cNvPr id="4" name="Group 2"/>
          <p:cNvGrpSpPr/>
          <p:nvPr/>
        </p:nvGrpSpPr>
        <p:grpSpPr bwMode="auto">
          <a:xfrm>
            <a:off x="1537394" y="3058862"/>
            <a:ext cx="6310365" cy="1812941"/>
            <a:chOff x="2340" y="2844"/>
            <a:chExt cx="7020" cy="2496"/>
          </a:xfrm>
        </p:grpSpPr>
        <p:sp>
          <p:nvSpPr>
            <p:cNvPr id="5" name="Text Box 3"/>
            <p:cNvSpPr txBox="1">
              <a:spLocks noChangeArrowheads="1"/>
            </p:cNvSpPr>
            <p:nvPr/>
          </p:nvSpPr>
          <p:spPr bwMode="auto">
            <a:xfrm>
              <a:off x="3240" y="2844"/>
              <a:ext cx="1440" cy="468"/>
            </a:xfrm>
            <a:prstGeom prst="rect">
              <a:avLst/>
            </a:prstGeom>
            <a:noFill/>
            <a:ln w="9525">
              <a:noFill/>
              <a:miter lim="800000"/>
            </a:ln>
          </p:spPr>
          <p:txBody>
            <a:bodyPr vert="horz" wrap="square" lIns="91440" tIns="45720" rIns="91440" bIns="45720" numCol="1" anchor="t" anchorCtr="0" compatLnSpc="1"/>
            <a:lstStyle/>
            <a:p>
              <a:pPr algn="ctr"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先序序列</a:t>
              </a:r>
              <a:endParaRPr lang="zh-CN" altLang="en-US" sz="1400" b="1">
                <a:latin typeface="Arial" panose="020B0604020202020204" pitchFamily="34" charset="0"/>
                <a:ea typeface="宋体" panose="02010600030101010101" pitchFamily="2" charset="-122"/>
              </a:endParaRPr>
            </a:p>
          </p:txBody>
        </p:sp>
        <p:sp>
          <p:nvSpPr>
            <p:cNvPr id="6" name="Text Box 4"/>
            <p:cNvSpPr txBox="1">
              <a:spLocks noChangeArrowheads="1"/>
            </p:cNvSpPr>
            <p:nvPr/>
          </p:nvSpPr>
          <p:spPr bwMode="auto">
            <a:xfrm>
              <a:off x="7200" y="2844"/>
              <a:ext cx="1440" cy="468"/>
            </a:xfrm>
            <a:prstGeom prst="rect">
              <a:avLst/>
            </a:prstGeom>
            <a:noFill/>
            <a:ln w="9525">
              <a:noFill/>
              <a:miter lim="800000"/>
            </a:ln>
          </p:spPr>
          <p:txBody>
            <a:bodyPr vert="horz" wrap="square" lIns="91440" tIns="45720" rIns="91440" bIns="45720" numCol="1" anchor="t" anchorCtr="0" compatLnSpc="1"/>
            <a:lstStyle/>
            <a:p>
              <a:pPr algn="ctr" defTabSz="914400" fontAlgn="base">
                <a:spcBef>
                  <a:spcPct val="0"/>
                </a:spcBef>
                <a:spcAft>
                  <a:spcPct val="0"/>
                </a:spcAft>
              </a:pPr>
              <a:r>
                <a:rPr lang="zh-CN" altLang="en-US" sz="1400" b="1" dirty="0">
                  <a:latin typeface="Calibri" panose="020F0502020204030204" pitchFamily="34" charset="0"/>
                  <a:ea typeface="宋体" panose="02010600030101010101" pitchFamily="2" charset="-122"/>
                </a:rPr>
                <a:t>中序序列</a:t>
              </a:r>
              <a:endParaRPr lang="zh-CN" altLang="en-US" sz="1400" b="1" dirty="0">
                <a:latin typeface="Arial" panose="020B0604020202020204" pitchFamily="34" charset="0"/>
                <a:ea typeface="宋体" panose="02010600030101010101" pitchFamily="2" charset="-122"/>
              </a:endParaRPr>
            </a:p>
          </p:txBody>
        </p:sp>
        <p:sp>
          <p:nvSpPr>
            <p:cNvPr id="7" name="Rectangle 5"/>
            <p:cNvSpPr>
              <a:spLocks noChangeArrowheads="1"/>
            </p:cNvSpPr>
            <p:nvPr/>
          </p:nvSpPr>
          <p:spPr bwMode="auto">
            <a:xfrm>
              <a:off x="2697" y="3468"/>
              <a:ext cx="180" cy="156"/>
            </a:xfrm>
            <a:prstGeom prst="rect">
              <a:avLst/>
            </a:prstGeom>
            <a:solidFill>
              <a:srgbClr val="000000"/>
            </a:solidFill>
            <a:ln w="9525">
              <a:solidFill>
                <a:srgbClr val="000000"/>
              </a:solidFill>
              <a:miter lim="800000"/>
            </a:ln>
          </p:spPr>
          <p:txBody>
            <a:bodyPr vert="horz" wrap="square" lIns="91440" tIns="45720" rIns="91440" bIns="45720" numCol="1" anchor="t" anchorCtr="0" compatLnSpc="1"/>
            <a:lstStyle/>
            <a:p>
              <a:endParaRPr lang="zh-CN" altLang="en-US" sz="1400" b="1"/>
            </a:p>
          </p:txBody>
        </p:sp>
        <p:sp>
          <p:nvSpPr>
            <p:cNvPr id="8" name="Rectangle 6" descr="10%"/>
            <p:cNvSpPr>
              <a:spLocks noChangeArrowheads="1"/>
            </p:cNvSpPr>
            <p:nvPr/>
          </p:nvSpPr>
          <p:spPr bwMode="auto">
            <a:xfrm>
              <a:off x="2880" y="3468"/>
              <a:ext cx="900" cy="156"/>
            </a:xfrm>
            <a:prstGeom prst="rect">
              <a:avLst/>
            </a:prstGeom>
            <a:pattFill prst="pct10">
              <a:fgClr>
                <a:srgbClr val="000000"/>
              </a:fgClr>
              <a:bgClr>
                <a:srgbClr val="FFFFFF"/>
              </a:bgClr>
            </a:pattFill>
            <a:ln w="9525">
              <a:solidFill>
                <a:srgbClr val="000000"/>
              </a:solidFill>
              <a:miter lim="800000"/>
            </a:ln>
          </p:spPr>
          <p:txBody>
            <a:bodyPr vert="horz" wrap="square" lIns="91440" tIns="45720" rIns="91440" bIns="45720" numCol="1" anchor="t" anchorCtr="0" compatLnSpc="1"/>
            <a:lstStyle/>
            <a:p>
              <a:endParaRPr lang="zh-CN" altLang="en-US" sz="1400" b="1"/>
            </a:p>
          </p:txBody>
        </p:sp>
        <p:sp>
          <p:nvSpPr>
            <p:cNvPr id="9" name="Rectangle 7" descr="浅色下对角线"/>
            <p:cNvSpPr>
              <a:spLocks noChangeArrowheads="1"/>
            </p:cNvSpPr>
            <p:nvPr/>
          </p:nvSpPr>
          <p:spPr bwMode="auto">
            <a:xfrm>
              <a:off x="3780" y="3468"/>
              <a:ext cx="1620" cy="156"/>
            </a:xfrm>
            <a:prstGeom prst="rect">
              <a:avLst/>
            </a:prstGeom>
            <a:pattFill prst="ltDnDiag">
              <a:fgClr>
                <a:srgbClr val="000000"/>
              </a:fgClr>
              <a:bgClr>
                <a:srgbClr val="FFFFFF"/>
              </a:bgClr>
            </a:pattFill>
            <a:ln w="9525">
              <a:solidFill>
                <a:srgbClr val="000000"/>
              </a:solidFill>
              <a:miter lim="800000"/>
            </a:ln>
          </p:spPr>
          <p:txBody>
            <a:bodyPr vert="horz" wrap="square" lIns="91440" tIns="45720" rIns="91440" bIns="45720" numCol="1" anchor="t" anchorCtr="0" compatLnSpc="1"/>
            <a:lstStyle/>
            <a:p>
              <a:endParaRPr lang="zh-CN" altLang="en-US" sz="1400" b="1"/>
            </a:p>
          </p:txBody>
        </p:sp>
        <p:sp>
          <p:nvSpPr>
            <p:cNvPr id="10" name="Line 8"/>
            <p:cNvSpPr>
              <a:spLocks noChangeShapeType="1"/>
            </p:cNvSpPr>
            <p:nvPr/>
          </p:nvSpPr>
          <p:spPr bwMode="auto">
            <a:xfrm flipV="1">
              <a:off x="2697" y="3627"/>
              <a:ext cx="113" cy="62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b="1"/>
            </a:p>
          </p:txBody>
        </p:sp>
        <p:sp>
          <p:nvSpPr>
            <p:cNvPr id="11" name="Text Box 9"/>
            <p:cNvSpPr txBox="1">
              <a:spLocks noChangeArrowheads="1"/>
            </p:cNvSpPr>
            <p:nvPr/>
          </p:nvSpPr>
          <p:spPr bwMode="auto">
            <a:xfrm>
              <a:off x="2340" y="4248"/>
              <a:ext cx="540" cy="1092"/>
            </a:xfrm>
            <a:prstGeom prst="rect">
              <a:avLst/>
            </a:prstGeom>
            <a:noFill/>
            <a:ln w="9525">
              <a:noFill/>
              <a:miter lim="800000"/>
            </a:ln>
          </p:spPr>
          <p:txBody>
            <a:bodyPr vert="horz" wrap="square" lIns="91440" tIns="45720" rIns="91440" bIns="45720" numCol="1" anchor="t" anchorCtr="0" compatLnSpc="1"/>
            <a:lstStyle/>
            <a:p>
              <a:pPr algn="just"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根结点</a:t>
              </a:r>
              <a:endParaRPr lang="zh-CN" altLang="en-US" sz="1400" b="1">
                <a:latin typeface="Arial" panose="020B0604020202020204" pitchFamily="34" charset="0"/>
                <a:ea typeface="宋体" panose="02010600030101010101" pitchFamily="2" charset="-122"/>
              </a:endParaRPr>
            </a:p>
          </p:txBody>
        </p:sp>
        <p:sp>
          <p:nvSpPr>
            <p:cNvPr id="12" name="Line 10"/>
            <p:cNvSpPr>
              <a:spLocks noChangeShapeType="1"/>
            </p:cNvSpPr>
            <p:nvPr/>
          </p:nvSpPr>
          <p:spPr bwMode="auto">
            <a:xfrm flipH="1" flipV="1">
              <a:off x="3240" y="3624"/>
              <a:ext cx="360" cy="62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b="1"/>
            </a:p>
          </p:txBody>
        </p:sp>
        <p:sp>
          <p:nvSpPr>
            <p:cNvPr id="13" name="Line 11"/>
            <p:cNvSpPr>
              <a:spLocks noChangeShapeType="1"/>
            </p:cNvSpPr>
            <p:nvPr/>
          </p:nvSpPr>
          <p:spPr bwMode="auto">
            <a:xfrm flipV="1">
              <a:off x="4680" y="3624"/>
              <a:ext cx="0" cy="62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b="1"/>
            </a:p>
          </p:txBody>
        </p:sp>
        <p:sp>
          <p:nvSpPr>
            <p:cNvPr id="14" name="Text Box 12"/>
            <p:cNvSpPr txBox="1">
              <a:spLocks noChangeArrowheads="1"/>
            </p:cNvSpPr>
            <p:nvPr/>
          </p:nvSpPr>
          <p:spPr bwMode="auto">
            <a:xfrm>
              <a:off x="3420" y="4248"/>
              <a:ext cx="540" cy="1092"/>
            </a:xfrm>
            <a:prstGeom prst="rect">
              <a:avLst/>
            </a:prstGeom>
            <a:noFill/>
            <a:ln w="9525">
              <a:noFill/>
              <a:miter lim="800000"/>
            </a:ln>
          </p:spPr>
          <p:txBody>
            <a:bodyPr vert="horz" wrap="square" lIns="91440" tIns="45720" rIns="91440" bIns="45720" numCol="1" anchor="t" anchorCtr="0" compatLnSpc="1"/>
            <a:lstStyle/>
            <a:p>
              <a:pPr algn="just"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左子树</a:t>
              </a:r>
              <a:endParaRPr lang="zh-CN" altLang="en-US" sz="1400" b="1">
                <a:latin typeface="Arial" panose="020B0604020202020204" pitchFamily="34" charset="0"/>
                <a:ea typeface="宋体" panose="02010600030101010101" pitchFamily="2" charset="-122"/>
              </a:endParaRPr>
            </a:p>
          </p:txBody>
        </p:sp>
        <p:sp>
          <p:nvSpPr>
            <p:cNvPr id="15" name="Text Box 13"/>
            <p:cNvSpPr txBox="1">
              <a:spLocks noChangeArrowheads="1"/>
            </p:cNvSpPr>
            <p:nvPr/>
          </p:nvSpPr>
          <p:spPr bwMode="auto">
            <a:xfrm>
              <a:off x="4500" y="4248"/>
              <a:ext cx="540" cy="1092"/>
            </a:xfrm>
            <a:prstGeom prst="rect">
              <a:avLst/>
            </a:prstGeom>
            <a:noFill/>
            <a:ln w="9525">
              <a:noFill/>
              <a:miter lim="800000"/>
            </a:ln>
          </p:spPr>
          <p:txBody>
            <a:bodyPr vert="horz" wrap="square" lIns="91440" tIns="45720" rIns="91440" bIns="45720" numCol="1" anchor="t" anchorCtr="0" compatLnSpc="1"/>
            <a:lstStyle/>
            <a:p>
              <a:pPr algn="just"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右子树</a:t>
              </a:r>
              <a:endParaRPr lang="zh-CN" altLang="en-US" sz="1400" b="1">
                <a:latin typeface="Arial" panose="020B0604020202020204" pitchFamily="34" charset="0"/>
                <a:ea typeface="宋体" panose="02010600030101010101" pitchFamily="2" charset="-122"/>
              </a:endParaRPr>
            </a:p>
          </p:txBody>
        </p:sp>
        <p:sp>
          <p:nvSpPr>
            <p:cNvPr id="16" name="Rectangle 14"/>
            <p:cNvSpPr>
              <a:spLocks noChangeArrowheads="1"/>
            </p:cNvSpPr>
            <p:nvPr/>
          </p:nvSpPr>
          <p:spPr bwMode="auto">
            <a:xfrm>
              <a:off x="7560" y="3468"/>
              <a:ext cx="180" cy="156"/>
            </a:xfrm>
            <a:prstGeom prst="rect">
              <a:avLst/>
            </a:prstGeom>
            <a:solidFill>
              <a:srgbClr val="000000"/>
            </a:solidFill>
            <a:ln w="9525">
              <a:solidFill>
                <a:srgbClr val="000000"/>
              </a:solidFill>
              <a:miter lim="800000"/>
            </a:ln>
          </p:spPr>
          <p:txBody>
            <a:bodyPr vert="horz" wrap="square" lIns="91440" tIns="45720" rIns="91440" bIns="45720" numCol="1" anchor="t" anchorCtr="0" compatLnSpc="1"/>
            <a:lstStyle/>
            <a:p>
              <a:endParaRPr lang="zh-CN" altLang="en-US" sz="1400" b="1"/>
            </a:p>
          </p:txBody>
        </p:sp>
        <p:sp>
          <p:nvSpPr>
            <p:cNvPr id="17" name="Rectangle 15" descr="10%"/>
            <p:cNvSpPr>
              <a:spLocks noChangeArrowheads="1"/>
            </p:cNvSpPr>
            <p:nvPr/>
          </p:nvSpPr>
          <p:spPr bwMode="auto">
            <a:xfrm>
              <a:off x="6660" y="3468"/>
              <a:ext cx="900" cy="156"/>
            </a:xfrm>
            <a:prstGeom prst="rect">
              <a:avLst/>
            </a:prstGeom>
            <a:pattFill prst="pct10">
              <a:fgClr>
                <a:srgbClr val="000000"/>
              </a:fgClr>
              <a:bgClr>
                <a:srgbClr val="FFFFFF"/>
              </a:bgClr>
            </a:pattFill>
            <a:ln w="9525">
              <a:solidFill>
                <a:srgbClr val="000000"/>
              </a:solidFill>
              <a:miter lim="800000"/>
            </a:ln>
          </p:spPr>
          <p:txBody>
            <a:bodyPr vert="horz" wrap="square" lIns="91440" tIns="45720" rIns="91440" bIns="45720" numCol="1" anchor="t" anchorCtr="0" compatLnSpc="1"/>
            <a:lstStyle/>
            <a:p>
              <a:endParaRPr lang="zh-CN" altLang="en-US" sz="1400" b="1"/>
            </a:p>
          </p:txBody>
        </p:sp>
        <p:sp>
          <p:nvSpPr>
            <p:cNvPr id="18" name="Rectangle 16" descr="浅色下对角线"/>
            <p:cNvSpPr>
              <a:spLocks noChangeArrowheads="1"/>
            </p:cNvSpPr>
            <p:nvPr/>
          </p:nvSpPr>
          <p:spPr bwMode="auto">
            <a:xfrm>
              <a:off x="7740" y="3468"/>
              <a:ext cx="1620" cy="156"/>
            </a:xfrm>
            <a:prstGeom prst="rect">
              <a:avLst/>
            </a:prstGeom>
            <a:pattFill prst="ltDnDiag">
              <a:fgClr>
                <a:srgbClr val="000000"/>
              </a:fgClr>
              <a:bgClr>
                <a:srgbClr val="FFFFFF"/>
              </a:bgClr>
            </a:pattFill>
            <a:ln w="9525">
              <a:solidFill>
                <a:srgbClr val="000000"/>
              </a:solidFill>
              <a:miter lim="800000"/>
            </a:ln>
          </p:spPr>
          <p:txBody>
            <a:bodyPr vert="horz" wrap="square" lIns="91440" tIns="45720" rIns="91440" bIns="45720" numCol="1" anchor="t" anchorCtr="0" compatLnSpc="1"/>
            <a:lstStyle/>
            <a:p>
              <a:endParaRPr lang="zh-CN" altLang="en-US" sz="1400" b="1"/>
            </a:p>
          </p:txBody>
        </p:sp>
        <p:sp>
          <p:nvSpPr>
            <p:cNvPr id="19" name="Line 17"/>
            <p:cNvSpPr>
              <a:spLocks noChangeShapeType="1"/>
            </p:cNvSpPr>
            <p:nvPr/>
          </p:nvSpPr>
          <p:spPr bwMode="auto">
            <a:xfrm flipV="1">
              <a:off x="7560" y="3624"/>
              <a:ext cx="113" cy="62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b="1"/>
            </a:p>
          </p:txBody>
        </p:sp>
        <p:sp>
          <p:nvSpPr>
            <p:cNvPr id="20" name="Text Box 18"/>
            <p:cNvSpPr txBox="1">
              <a:spLocks noChangeArrowheads="1"/>
            </p:cNvSpPr>
            <p:nvPr/>
          </p:nvSpPr>
          <p:spPr bwMode="auto">
            <a:xfrm>
              <a:off x="7200" y="4248"/>
              <a:ext cx="540" cy="1092"/>
            </a:xfrm>
            <a:prstGeom prst="rect">
              <a:avLst/>
            </a:prstGeom>
            <a:noFill/>
            <a:ln w="9525">
              <a:noFill/>
              <a:miter lim="800000"/>
            </a:ln>
          </p:spPr>
          <p:txBody>
            <a:bodyPr vert="horz" wrap="square" lIns="91440" tIns="45720" rIns="91440" bIns="45720" numCol="1" anchor="t" anchorCtr="0" compatLnSpc="1"/>
            <a:lstStyle/>
            <a:p>
              <a:pPr algn="just"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根结点</a:t>
              </a:r>
              <a:endParaRPr lang="zh-CN" altLang="en-US" sz="1400" b="1">
                <a:latin typeface="Arial" panose="020B0604020202020204" pitchFamily="34" charset="0"/>
                <a:ea typeface="宋体" panose="02010600030101010101" pitchFamily="2" charset="-122"/>
              </a:endParaRPr>
            </a:p>
          </p:txBody>
        </p:sp>
        <p:sp>
          <p:nvSpPr>
            <p:cNvPr id="21" name="Line 19"/>
            <p:cNvSpPr>
              <a:spLocks noChangeShapeType="1"/>
            </p:cNvSpPr>
            <p:nvPr/>
          </p:nvSpPr>
          <p:spPr bwMode="auto">
            <a:xfrm flipV="1">
              <a:off x="7020" y="3624"/>
              <a:ext cx="180" cy="62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b="1"/>
            </a:p>
          </p:txBody>
        </p:sp>
        <p:sp>
          <p:nvSpPr>
            <p:cNvPr id="22" name="Line 20"/>
            <p:cNvSpPr>
              <a:spLocks noChangeShapeType="1"/>
            </p:cNvSpPr>
            <p:nvPr/>
          </p:nvSpPr>
          <p:spPr bwMode="auto">
            <a:xfrm flipV="1">
              <a:off x="8640" y="3624"/>
              <a:ext cx="0" cy="62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b="1"/>
            </a:p>
          </p:txBody>
        </p:sp>
        <p:sp>
          <p:nvSpPr>
            <p:cNvPr id="23" name="Text Box 21"/>
            <p:cNvSpPr txBox="1">
              <a:spLocks noChangeArrowheads="1"/>
            </p:cNvSpPr>
            <p:nvPr/>
          </p:nvSpPr>
          <p:spPr bwMode="auto">
            <a:xfrm>
              <a:off x="6660" y="4248"/>
              <a:ext cx="540" cy="1092"/>
            </a:xfrm>
            <a:prstGeom prst="rect">
              <a:avLst/>
            </a:prstGeom>
            <a:noFill/>
            <a:ln w="9525">
              <a:noFill/>
              <a:miter lim="800000"/>
            </a:ln>
          </p:spPr>
          <p:txBody>
            <a:bodyPr vert="horz" wrap="square" lIns="91440" tIns="45720" rIns="91440" bIns="45720" numCol="1" anchor="t" anchorCtr="0" compatLnSpc="1"/>
            <a:lstStyle/>
            <a:p>
              <a:pPr algn="just"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左子树</a:t>
              </a:r>
              <a:endParaRPr lang="zh-CN" altLang="en-US" sz="1400" b="1">
                <a:latin typeface="Arial" panose="020B0604020202020204" pitchFamily="34" charset="0"/>
                <a:ea typeface="宋体" panose="02010600030101010101" pitchFamily="2" charset="-122"/>
              </a:endParaRPr>
            </a:p>
          </p:txBody>
        </p:sp>
        <p:sp>
          <p:nvSpPr>
            <p:cNvPr id="24" name="Text Box 22"/>
            <p:cNvSpPr txBox="1">
              <a:spLocks noChangeArrowheads="1"/>
            </p:cNvSpPr>
            <p:nvPr/>
          </p:nvSpPr>
          <p:spPr bwMode="auto">
            <a:xfrm>
              <a:off x="8460" y="4248"/>
              <a:ext cx="540" cy="1092"/>
            </a:xfrm>
            <a:prstGeom prst="rect">
              <a:avLst/>
            </a:prstGeom>
            <a:noFill/>
            <a:ln w="9525">
              <a:noFill/>
              <a:miter lim="800000"/>
            </a:ln>
          </p:spPr>
          <p:txBody>
            <a:bodyPr vert="horz" wrap="square" lIns="91440" tIns="45720" rIns="91440" bIns="45720" numCol="1" anchor="t" anchorCtr="0" compatLnSpc="1"/>
            <a:lstStyle/>
            <a:p>
              <a:pPr algn="just" defTabSz="914400" fontAlgn="base">
                <a:spcBef>
                  <a:spcPct val="0"/>
                </a:spcBef>
                <a:spcAft>
                  <a:spcPct val="0"/>
                </a:spcAft>
              </a:pPr>
              <a:r>
                <a:rPr lang="zh-CN" altLang="en-US" sz="1400" b="1">
                  <a:latin typeface="Calibri" panose="020F0502020204030204" pitchFamily="34" charset="0"/>
                  <a:ea typeface="宋体" panose="02010600030101010101" pitchFamily="2" charset="-122"/>
                </a:rPr>
                <a:t>右子树</a:t>
              </a:r>
              <a:endParaRPr lang="zh-CN" altLang="en-US" sz="1400" b="1">
                <a:latin typeface="Arial" panose="020B0604020202020204" pitchFamily="34" charset="0"/>
                <a:ea typeface="宋体" panose="02010600030101010101"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700"/>
              </a:lnSpc>
            </a:pPr>
            <a:r>
              <a:rPr lang="zh-CN" altLang="en-US" sz="1800" dirty="0"/>
              <a:t>例：已知先序序列和中序序列分别为 </a:t>
            </a:r>
            <a:endParaRPr lang="zh-CN" altLang="en-US" sz="1800" dirty="0"/>
          </a:p>
          <a:p>
            <a:pPr lvl="2">
              <a:lnSpc>
                <a:spcPts val="2700"/>
              </a:lnSpc>
            </a:pPr>
            <a:r>
              <a:rPr lang="zh-CN" altLang="en-US" sz="1800" dirty="0"/>
              <a:t>       先序序列：</a:t>
            </a:r>
            <a:r>
              <a:rPr lang="en-US" altLang="zh-CN" sz="1800" dirty="0"/>
              <a:t>18    14    7    3    11    22     35      27</a:t>
            </a:r>
            <a:endParaRPr lang="en-US" altLang="zh-CN" sz="1800" dirty="0"/>
          </a:p>
          <a:p>
            <a:pPr lvl="2">
              <a:lnSpc>
                <a:spcPts val="2700"/>
              </a:lnSpc>
            </a:pPr>
            <a:r>
              <a:rPr lang="en-US" altLang="zh-CN" sz="1800" dirty="0"/>
              <a:t>       </a:t>
            </a:r>
            <a:r>
              <a:rPr lang="zh-CN" altLang="en-US" sz="1800" dirty="0"/>
              <a:t>中序序列： </a:t>
            </a:r>
            <a:r>
              <a:rPr lang="en-US" altLang="zh-CN" sz="1800" dirty="0"/>
              <a:t>3    7    11    14    18    22     27      35</a:t>
            </a:r>
            <a:endParaRPr lang="en-US" altLang="zh-CN" sz="1800" dirty="0"/>
          </a:p>
          <a:p>
            <a:pPr lvl="2">
              <a:lnSpc>
                <a:spcPts val="2700"/>
              </a:lnSpc>
            </a:pPr>
            <a:r>
              <a:rPr lang="zh-CN" altLang="en-US" sz="1800" dirty="0"/>
              <a:t>求解过程：</a:t>
            </a:r>
            <a:endParaRPr lang="zh-CN" altLang="en-US" sz="1800" dirty="0"/>
          </a:p>
          <a:p>
            <a:pPr marL="421005" lvl="2" indent="-285750">
              <a:lnSpc>
                <a:spcPts val="2700"/>
              </a:lnSpc>
              <a:buFont typeface="Wingdings" panose="05000000000000000000" pitchFamily="2" charset="2"/>
              <a:buChar char="Ø"/>
            </a:pPr>
            <a:r>
              <a:rPr lang="zh-CN" altLang="en-US" sz="1800" dirty="0"/>
              <a:t>由先序序列知二叉树的根为</a:t>
            </a:r>
            <a:r>
              <a:rPr lang="en-US" altLang="zh-CN" sz="1800" dirty="0"/>
              <a:t>18</a:t>
            </a:r>
            <a:r>
              <a:rPr lang="zh-CN" altLang="en-US" sz="1800" dirty="0"/>
              <a:t>，则其左子树的中序序列为（</a:t>
            </a:r>
            <a:r>
              <a:rPr lang="en-US" altLang="zh-CN" sz="1800" dirty="0"/>
              <a:t>3</a:t>
            </a:r>
            <a:r>
              <a:rPr lang="zh-CN" altLang="en-US" sz="1800" dirty="0"/>
              <a:t>，</a:t>
            </a:r>
            <a:r>
              <a:rPr lang="en-US" altLang="zh-CN" sz="1800" dirty="0"/>
              <a:t>7</a:t>
            </a:r>
            <a:r>
              <a:rPr lang="zh-CN" altLang="en-US" sz="1800" dirty="0"/>
              <a:t>，</a:t>
            </a:r>
            <a:r>
              <a:rPr lang="en-US" altLang="zh-CN" sz="1800" dirty="0"/>
              <a:t>11</a:t>
            </a:r>
            <a:r>
              <a:rPr lang="zh-CN" altLang="en-US" sz="1800" dirty="0"/>
              <a:t>，</a:t>
            </a:r>
            <a:r>
              <a:rPr lang="en-US" altLang="zh-CN" sz="1800" dirty="0"/>
              <a:t>14</a:t>
            </a:r>
            <a:r>
              <a:rPr lang="zh-CN" altLang="en-US" sz="1800" dirty="0"/>
              <a:t>）</a:t>
            </a:r>
            <a:r>
              <a:rPr lang="en-US" altLang="zh-CN" sz="1800" dirty="0"/>
              <a:t>, </a:t>
            </a:r>
            <a:r>
              <a:rPr lang="zh-CN" altLang="en-US" sz="1800" dirty="0"/>
              <a:t>右子树的中序序列为（</a:t>
            </a:r>
            <a:r>
              <a:rPr lang="en-US" altLang="zh-CN" sz="1800" dirty="0"/>
              <a:t>22</a:t>
            </a:r>
            <a:r>
              <a:rPr lang="zh-CN" altLang="en-US" sz="1800" dirty="0"/>
              <a:t>，</a:t>
            </a:r>
            <a:r>
              <a:rPr lang="en-US" altLang="zh-CN" sz="1800" dirty="0"/>
              <a:t>27</a:t>
            </a:r>
            <a:r>
              <a:rPr lang="zh-CN" altLang="en-US" sz="1800" dirty="0"/>
              <a:t>，</a:t>
            </a:r>
            <a:r>
              <a:rPr lang="en-US" altLang="zh-CN" sz="1800" dirty="0"/>
              <a:t>35</a:t>
            </a:r>
            <a:r>
              <a:rPr lang="zh-CN" altLang="en-US" sz="1800" dirty="0"/>
              <a:t>）。</a:t>
            </a:r>
            <a:endParaRPr lang="en-US" altLang="zh-CN" sz="1800" dirty="0"/>
          </a:p>
          <a:p>
            <a:pPr marL="421005" lvl="2" indent="-285750">
              <a:lnSpc>
                <a:spcPts val="2700"/>
              </a:lnSpc>
              <a:buFont typeface="Wingdings" panose="05000000000000000000" pitchFamily="2" charset="2"/>
              <a:buChar char="Ø"/>
            </a:pPr>
            <a:r>
              <a:rPr lang="zh-CN" altLang="en-US" sz="1800" dirty="0"/>
              <a:t>反过来得知其左子树的先序序列必为（</a:t>
            </a:r>
            <a:r>
              <a:rPr lang="en-US" altLang="zh-CN" sz="1800" dirty="0"/>
              <a:t>14</a:t>
            </a:r>
            <a:r>
              <a:rPr lang="zh-CN" altLang="en-US" sz="1800" dirty="0"/>
              <a:t>，</a:t>
            </a:r>
            <a:r>
              <a:rPr lang="en-US" altLang="zh-CN" sz="1800" dirty="0"/>
              <a:t>7</a:t>
            </a:r>
            <a:r>
              <a:rPr lang="zh-CN" altLang="en-US" sz="1800" dirty="0"/>
              <a:t>，</a:t>
            </a:r>
            <a:r>
              <a:rPr lang="en-US" altLang="zh-CN" sz="1800" dirty="0"/>
              <a:t>3</a:t>
            </a:r>
            <a:r>
              <a:rPr lang="zh-CN" altLang="en-US" sz="1800" dirty="0"/>
              <a:t>，</a:t>
            </a:r>
            <a:r>
              <a:rPr lang="en-US" altLang="zh-CN" sz="1800" dirty="0"/>
              <a:t>11</a:t>
            </a:r>
            <a:r>
              <a:rPr lang="zh-CN" altLang="en-US" sz="1800" dirty="0"/>
              <a:t>），右子树的先序序列为（</a:t>
            </a:r>
            <a:r>
              <a:rPr lang="en-US" altLang="zh-CN" sz="1800" dirty="0"/>
              <a:t>22</a:t>
            </a:r>
            <a:r>
              <a:rPr lang="zh-CN" altLang="en-US" sz="1800" dirty="0"/>
              <a:t>，</a:t>
            </a:r>
            <a:r>
              <a:rPr lang="en-US" altLang="zh-CN" sz="1800" dirty="0"/>
              <a:t>35</a:t>
            </a:r>
            <a:r>
              <a:rPr lang="zh-CN" altLang="en-US" sz="1800" dirty="0"/>
              <a:t>，</a:t>
            </a:r>
            <a:r>
              <a:rPr lang="en-US" altLang="zh-CN" sz="1800" dirty="0"/>
              <a:t>27</a:t>
            </a:r>
            <a:r>
              <a:rPr lang="zh-CN" altLang="en-US" sz="1800" dirty="0"/>
              <a:t>）。</a:t>
            </a:r>
            <a:endParaRPr lang="en-US" altLang="zh-CN" sz="1800" dirty="0"/>
          </a:p>
          <a:p>
            <a:pPr marL="421005" lvl="2" indent="-285750">
              <a:lnSpc>
                <a:spcPts val="2700"/>
              </a:lnSpc>
              <a:buFont typeface="Wingdings" panose="05000000000000000000" pitchFamily="2" charset="2"/>
              <a:buChar char="Ø"/>
            </a:pPr>
            <a:r>
              <a:rPr lang="zh-CN" altLang="en-US" sz="1800" dirty="0"/>
              <a:t>可由左子树的先序序列和中序序列构造得</a:t>
            </a:r>
            <a:r>
              <a:rPr lang="en-US" altLang="zh-CN" sz="1800" dirty="0"/>
              <a:t>18</a:t>
            </a:r>
            <a:r>
              <a:rPr lang="zh-CN" altLang="en-US" sz="1800" dirty="0"/>
              <a:t>的左子树，由右子树的先序序列和中序序列构造得</a:t>
            </a:r>
            <a:r>
              <a:rPr lang="en-US" altLang="zh-CN" sz="1800" dirty="0"/>
              <a:t>18</a:t>
            </a:r>
            <a:r>
              <a:rPr lang="zh-CN" altLang="en-US" sz="1800" dirty="0"/>
              <a:t>的右子树。 </a:t>
            </a:r>
            <a:endParaRPr lang="zh-CN" altLang="en-US" sz="18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700"/>
              </a:lnSpc>
            </a:pPr>
            <a:r>
              <a:rPr lang="zh-CN" altLang="en-US" sz="1800" dirty="0"/>
              <a:t>       先序序列：</a:t>
            </a:r>
            <a:r>
              <a:rPr lang="en-US" altLang="zh-CN" sz="1800" dirty="0"/>
              <a:t>18    14    7    3    11    22     35      27</a:t>
            </a:r>
            <a:endParaRPr lang="en-US" altLang="zh-CN" sz="1800" dirty="0"/>
          </a:p>
          <a:p>
            <a:pPr lvl="2">
              <a:lnSpc>
                <a:spcPts val="2700"/>
              </a:lnSpc>
            </a:pPr>
            <a:r>
              <a:rPr lang="en-US" altLang="zh-CN" sz="1800" dirty="0"/>
              <a:t>       </a:t>
            </a:r>
            <a:r>
              <a:rPr lang="zh-CN" altLang="en-US" sz="1800" dirty="0"/>
              <a:t>中序序列： </a:t>
            </a:r>
            <a:r>
              <a:rPr lang="en-US" altLang="zh-CN" sz="1800" dirty="0"/>
              <a:t>3    7    11    14    18    22     27      35</a:t>
            </a:r>
            <a:endParaRPr lang="en-US" altLang="zh-CN" sz="1800"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4" name="Object 3"/>
          <p:cNvGraphicFramePr>
            <a:graphicFrameLocks noChangeAspect="1"/>
          </p:cNvGraphicFramePr>
          <p:nvPr/>
        </p:nvGraphicFramePr>
        <p:xfrm>
          <a:off x="136782" y="1468201"/>
          <a:ext cx="4095925" cy="2778270"/>
        </p:xfrm>
        <a:graphic>
          <a:graphicData uri="http://schemas.openxmlformats.org/presentationml/2006/ole">
            <mc:AlternateContent xmlns:mc="http://schemas.openxmlformats.org/markup-compatibility/2006">
              <mc:Choice xmlns:v="urn:schemas-microsoft-com:vml" Requires="v">
                <p:oleObj spid="_x0000_s28695" name="" r:id="rId1" imgW="1691640" imgH="1143000" progId="Visio.Drawing.4">
                  <p:embed/>
                </p:oleObj>
              </mc:Choice>
              <mc:Fallback>
                <p:oleObj name="" r:id="rId1" imgW="1691640" imgH="1143000" progId="Visio.Drawing.4">
                  <p:embed/>
                  <p:pic>
                    <p:nvPicPr>
                      <p:cNvPr id="0" name="Object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82" y="1468201"/>
                        <a:ext cx="4095925" cy="2778270"/>
                      </a:xfrm>
                      <a:prstGeom prst="rect">
                        <a:avLst/>
                      </a:prstGeom>
                      <a:noFill/>
                      <a:ln>
                        <a:noFill/>
                      </a:ln>
                      <a:effectLst/>
                    </p:spPr>
                  </p:pic>
                </p:oleObj>
              </mc:Fallback>
            </mc:AlternateContent>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6.3.2 </a:t>
            </a:r>
            <a:r>
              <a:rPr lang="zh-CN" altLang="en-US" dirty="0"/>
              <a:t>线索二叉树</a:t>
            </a:r>
            <a:endParaRPr lang="en-US" altLang="zh-CN" dirty="0"/>
          </a:p>
          <a:p>
            <a:pPr marL="478155" lvl="2" indent="-342900">
              <a:buFont typeface="Wingdings" panose="05000000000000000000" pitchFamily="2" charset="2"/>
              <a:buChar char="Ø"/>
            </a:pPr>
            <a:r>
              <a:rPr lang="zh-CN" altLang="en-US" dirty="0"/>
              <a:t>二叉树的遍历是将二叉树中结点按一定规律线性化的过程。</a:t>
            </a:r>
            <a:endParaRPr lang="en-US" altLang="zh-CN" dirty="0"/>
          </a:p>
          <a:p>
            <a:pPr marL="478155" lvl="2" indent="-342900">
              <a:buFont typeface="Wingdings" panose="05000000000000000000" pitchFamily="2" charset="2"/>
              <a:buChar char="Ø"/>
            </a:pPr>
            <a:r>
              <a:rPr lang="en-US" altLang="zh-CN" dirty="0"/>
              <a:t>n</a:t>
            </a:r>
            <a:r>
              <a:rPr lang="zh-CN" altLang="en-US" dirty="0"/>
              <a:t>个结点的二叉链表中共有</a:t>
            </a:r>
            <a:r>
              <a:rPr lang="en-US" altLang="zh-CN" dirty="0"/>
              <a:t>2n</a:t>
            </a:r>
            <a:r>
              <a:rPr lang="zh-CN" altLang="en-US" dirty="0"/>
              <a:t>个链域，但只有</a:t>
            </a:r>
            <a:r>
              <a:rPr lang="en-US" altLang="zh-CN" dirty="0"/>
              <a:t>n-1</a:t>
            </a:r>
            <a:r>
              <a:rPr lang="zh-CN" altLang="en-US" dirty="0"/>
              <a:t>个有用的非空链域，其余</a:t>
            </a:r>
            <a:r>
              <a:rPr lang="en-US" altLang="zh-CN" dirty="0">
                <a:solidFill>
                  <a:srgbClr val="FF0000"/>
                </a:solidFill>
              </a:rPr>
              <a:t>n+1</a:t>
            </a:r>
            <a:r>
              <a:rPr lang="zh-CN" altLang="en-US" dirty="0"/>
              <a:t>个链域是空的。</a:t>
            </a:r>
            <a:endParaRPr lang="en-US" altLang="zh-CN" dirty="0"/>
          </a:p>
          <a:p>
            <a:pPr marL="478155" lvl="2" indent="-342900">
              <a:buFont typeface="Wingdings" panose="05000000000000000000" pitchFamily="2" charset="2"/>
              <a:buChar char="Ø"/>
            </a:pPr>
            <a:r>
              <a:rPr lang="zh-CN" altLang="en-US" dirty="0"/>
              <a:t>可以利用二叉链表中的空链域，将遍历过程中结点的前驱、后继信息保存下来。</a:t>
            </a:r>
            <a:endParaRPr lang="en-US" altLang="zh-CN"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6.3.2 </a:t>
            </a:r>
            <a:r>
              <a:rPr lang="zh-CN" altLang="en-US" dirty="0"/>
              <a:t>线索二叉树</a:t>
            </a:r>
            <a:endParaRPr lang="en-US" altLang="zh-CN" dirty="0"/>
          </a:p>
          <a:p>
            <a:pPr marL="478155" lvl="2" indent="-342900">
              <a:buFont typeface="Wingdings" panose="05000000000000000000" pitchFamily="2" charset="2"/>
              <a:buChar char="Ø"/>
            </a:pPr>
            <a:r>
              <a:rPr lang="zh-CN" altLang="en-US" dirty="0"/>
              <a:t>若结点有左子树，则</a:t>
            </a:r>
            <a:r>
              <a:rPr lang="zh-CN" altLang="en-US" dirty="0" smtClean="0"/>
              <a:t>其</a:t>
            </a:r>
            <a:r>
              <a:rPr lang="en-US" altLang="zh-CN" dirty="0" err="1" smtClean="0"/>
              <a:t>lchild</a:t>
            </a:r>
            <a:r>
              <a:rPr lang="zh-CN" altLang="en-US" dirty="0"/>
              <a:t>域指向其左孩子，</a:t>
            </a:r>
            <a:r>
              <a:rPr lang="zh-CN" altLang="en-US" dirty="0" smtClean="0"/>
              <a:t>否则</a:t>
            </a:r>
            <a:r>
              <a:rPr lang="en-US" altLang="zh-CN" dirty="0" err="1" smtClean="0">
                <a:solidFill>
                  <a:srgbClr val="FF0000"/>
                </a:solidFill>
              </a:rPr>
              <a:t>lchild</a:t>
            </a:r>
            <a:r>
              <a:rPr lang="zh-CN" altLang="en-US" dirty="0">
                <a:solidFill>
                  <a:srgbClr val="FF0000"/>
                </a:solidFill>
              </a:rPr>
              <a:t>域</a:t>
            </a:r>
            <a:r>
              <a:rPr lang="zh-CN" altLang="en-US" dirty="0"/>
              <a:t>指向其</a:t>
            </a:r>
            <a:r>
              <a:rPr lang="zh-CN" altLang="en-US" dirty="0">
                <a:solidFill>
                  <a:srgbClr val="FF0000"/>
                </a:solidFill>
              </a:rPr>
              <a:t>前驱</a:t>
            </a:r>
            <a:r>
              <a:rPr lang="zh-CN" altLang="en-US" dirty="0"/>
              <a:t>结点；</a:t>
            </a:r>
            <a:endParaRPr lang="en-US" altLang="zh-CN" dirty="0"/>
          </a:p>
          <a:p>
            <a:pPr marL="478155" lvl="2" indent="-342900">
              <a:buFont typeface="Wingdings" panose="05000000000000000000" pitchFamily="2" charset="2"/>
              <a:buChar char="Ø"/>
            </a:pPr>
            <a:r>
              <a:rPr lang="zh-CN" altLang="en-US" dirty="0"/>
              <a:t>若结点有右子树，则</a:t>
            </a:r>
            <a:r>
              <a:rPr lang="zh-CN" altLang="en-US" dirty="0" smtClean="0"/>
              <a:t>其</a:t>
            </a:r>
            <a:r>
              <a:rPr lang="en-US" altLang="zh-CN" dirty="0" err="1" smtClean="0"/>
              <a:t>rchild</a:t>
            </a:r>
            <a:r>
              <a:rPr lang="zh-CN" altLang="en-US" dirty="0"/>
              <a:t>域指向其右孩子，</a:t>
            </a:r>
            <a:r>
              <a:rPr lang="zh-CN" altLang="en-US" dirty="0" smtClean="0"/>
              <a:t>否则</a:t>
            </a:r>
            <a:r>
              <a:rPr lang="en-US" altLang="zh-CN" dirty="0" err="1" smtClean="0">
                <a:solidFill>
                  <a:srgbClr val="FF0000"/>
                </a:solidFill>
              </a:rPr>
              <a:t>rchild</a:t>
            </a:r>
            <a:r>
              <a:rPr lang="zh-CN" altLang="en-US" dirty="0">
                <a:solidFill>
                  <a:srgbClr val="FF0000"/>
                </a:solidFill>
              </a:rPr>
              <a:t>域</a:t>
            </a:r>
            <a:r>
              <a:rPr lang="zh-CN" altLang="en-US" dirty="0"/>
              <a:t>指向其</a:t>
            </a:r>
            <a:r>
              <a:rPr lang="zh-CN" altLang="en-US" dirty="0">
                <a:solidFill>
                  <a:srgbClr val="FF0000"/>
                </a:solidFill>
              </a:rPr>
              <a:t>后继</a:t>
            </a:r>
            <a:r>
              <a:rPr lang="zh-CN" altLang="en-US" dirty="0"/>
              <a:t>结点。</a:t>
            </a:r>
            <a:endParaRPr lang="en-US" altLang="zh-CN" dirty="0"/>
          </a:p>
          <a:p>
            <a:pPr marL="478155" lvl="2" indent="-342900">
              <a:buFont typeface="Wingdings" panose="05000000000000000000" pitchFamily="2" charset="2"/>
              <a:buChar char="Ø"/>
            </a:pPr>
            <a:r>
              <a:rPr lang="zh-CN" altLang="en-US" dirty="0"/>
              <a:t>为了区分孩子结点和前驱、后继结点，为结点结构增设两个</a:t>
            </a:r>
            <a:r>
              <a:rPr lang="zh-CN" altLang="en-US" dirty="0">
                <a:solidFill>
                  <a:srgbClr val="FF0000"/>
                </a:solidFill>
              </a:rPr>
              <a:t>标志域</a:t>
            </a:r>
            <a:r>
              <a:rPr lang="zh-CN" altLang="en-US" dirty="0"/>
              <a:t>，如下所示：</a:t>
            </a:r>
            <a:endParaRPr lang="en-US" altLang="zh-CN" dirty="0"/>
          </a:p>
          <a:p>
            <a:pPr lvl="2"/>
            <a:r>
              <a:rPr lang="zh-CN" altLang="en-US" dirty="0"/>
              <a:t> </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4" name="Group 3"/>
          <p:cNvGraphicFramePr>
            <a:graphicFrameLocks noGrp="1"/>
          </p:cNvGraphicFramePr>
          <p:nvPr/>
        </p:nvGraphicFramePr>
        <p:xfrm>
          <a:off x="2288377" y="3715356"/>
          <a:ext cx="4572000" cy="511167"/>
        </p:xfrm>
        <a:graphic>
          <a:graphicData uri="http://schemas.openxmlformats.org/drawingml/2006/table">
            <a:tbl>
              <a:tblPr/>
              <a:tblGrid>
                <a:gridCol w="914400"/>
                <a:gridCol w="914400"/>
                <a:gridCol w="914400"/>
                <a:gridCol w="914400"/>
                <a:gridCol w="914400"/>
              </a:tblGrid>
              <a:tr h="511167">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lchild</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Ltag</a:t>
                      </a:r>
                      <a:endPar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Data</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Rtag</a:t>
                      </a:r>
                      <a:endPar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rchild</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6.3.2 </a:t>
            </a:r>
            <a:r>
              <a:rPr lang="zh-CN" altLang="en-US" dirty="0"/>
              <a:t>线索二叉树</a:t>
            </a:r>
            <a:endParaRPr lang="en-US" altLang="zh-CN" dirty="0"/>
          </a:p>
          <a:p>
            <a:endParaRPr lang="en-US" altLang="zh-CN" dirty="0"/>
          </a:p>
          <a:p>
            <a:endParaRPr lang="en-US" altLang="zh-CN" dirty="0"/>
          </a:p>
          <a:p>
            <a:pPr marL="478155" lvl="2" indent="-342900">
              <a:buFont typeface="Wingdings" panose="05000000000000000000" pitchFamily="2" charset="2"/>
              <a:buChar char="Ø"/>
            </a:pPr>
            <a:r>
              <a:rPr lang="zh-CN" altLang="en-US" dirty="0">
                <a:solidFill>
                  <a:srgbClr val="FF0000"/>
                </a:solidFill>
              </a:rPr>
              <a:t>线索</a:t>
            </a:r>
            <a:r>
              <a:rPr lang="zh-CN" altLang="en-US" dirty="0"/>
              <a:t>：指向前驱和后继结点的指针。</a:t>
            </a:r>
            <a:endParaRPr lang="en-US" altLang="zh-CN" dirty="0"/>
          </a:p>
          <a:p>
            <a:pPr marL="478155" lvl="2" indent="-342900">
              <a:buFont typeface="Wingdings" panose="05000000000000000000" pitchFamily="2" charset="2"/>
              <a:buChar char="Ø"/>
            </a:pPr>
            <a:r>
              <a:rPr lang="zh-CN" altLang="en-US" dirty="0">
                <a:solidFill>
                  <a:srgbClr val="FF0000"/>
                </a:solidFill>
              </a:rPr>
              <a:t>线索链表</a:t>
            </a:r>
            <a:r>
              <a:rPr lang="zh-CN" altLang="en-US" dirty="0"/>
              <a:t>：包含线索指针的二叉链表。</a:t>
            </a:r>
            <a:endParaRPr lang="en-US" altLang="zh-CN" dirty="0"/>
          </a:p>
          <a:p>
            <a:pPr marL="478155" lvl="2" indent="-342900">
              <a:buFont typeface="Wingdings" panose="05000000000000000000" pitchFamily="2" charset="2"/>
              <a:buChar char="Ø"/>
            </a:pPr>
            <a:r>
              <a:rPr lang="zh-CN" altLang="en-US" dirty="0">
                <a:solidFill>
                  <a:srgbClr val="FF0000"/>
                </a:solidFill>
              </a:rPr>
              <a:t>线索化</a:t>
            </a:r>
            <a:r>
              <a:rPr lang="zh-CN" altLang="en-US" dirty="0"/>
              <a:t>：对二叉树以某种次序进行遍历并且加上线索的过程。</a:t>
            </a:r>
            <a:endParaRPr lang="en-US" altLang="zh-CN" dirty="0"/>
          </a:p>
          <a:p>
            <a:pPr marL="478155" lvl="2" indent="-342900">
              <a:buFont typeface="Wingdings" panose="05000000000000000000" pitchFamily="2" charset="2"/>
              <a:buChar char="Ø"/>
            </a:pPr>
            <a:r>
              <a:rPr lang="zh-CN" altLang="en-US" dirty="0">
                <a:solidFill>
                  <a:srgbClr val="FF0000"/>
                </a:solidFill>
              </a:rPr>
              <a:t>线索二叉树</a:t>
            </a:r>
            <a:r>
              <a:rPr lang="zh-CN" altLang="en-US" dirty="0"/>
              <a:t>：线索化了的二叉树。 </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4" name="Group 3"/>
          <p:cNvGraphicFramePr>
            <a:graphicFrameLocks noGrp="1"/>
          </p:cNvGraphicFramePr>
          <p:nvPr/>
        </p:nvGraphicFramePr>
        <p:xfrm>
          <a:off x="2066996" y="1174287"/>
          <a:ext cx="4572000" cy="511167"/>
        </p:xfrm>
        <a:graphic>
          <a:graphicData uri="http://schemas.openxmlformats.org/drawingml/2006/table">
            <a:tbl>
              <a:tblPr/>
              <a:tblGrid>
                <a:gridCol w="914400"/>
                <a:gridCol w="914400"/>
                <a:gridCol w="914400"/>
                <a:gridCol w="914400"/>
                <a:gridCol w="914400"/>
              </a:tblGrid>
              <a:tr h="511167">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lchild</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Ltag</a:t>
                      </a:r>
                      <a:endPar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Data</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Rtag</a:t>
                      </a:r>
                      <a:endParaRPr kumimoji="0" lang="en-US" sz="1500" b="0"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rchild</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6.3.2 </a:t>
            </a:r>
            <a:r>
              <a:rPr lang="zh-CN" altLang="en-US" dirty="0"/>
              <a:t>线索二叉树</a:t>
            </a:r>
            <a:endParaRPr lang="en-US" altLang="zh-CN" dirty="0"/>
          </a:p>
          <a:p>
            <a:endParaRPr lang="en-US" altLang="zh-CN"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4" name="Group 3"/>
          <p:cNvGraphicFramePr>
            <a:graphicFrameLocks noGrp="1"/>
          </p:cNvGraphicFramePr>
          <p:nvPr/>
        </p:nvGraphicFramePr>
        <p:xfrm>
          <a:off x="2066996" y="1174287"/>
          <a:ext cx="4572000" cy="511167"/>
        </p:xfrm>
        <a:graphic>
          <a:graphicData uri="http://schemas.openxmlformats.org/drawingml/2006/table">
            <a:tbl>
              <a:tblPr/>
              <a:tblGrid>
                <a:gridCol w="914400"/>
                <a:gridCol w="914400"/>
                <a:gridCol w="914400"/>
                <a:gridCol w="914400"/>
                <a:gridCol w="914400"/>
              </a:tblGrid>
              <a:tr h="511167">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lchild</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a:ln>
                            <a:noFill/>
                          </a:ln>
                          <a:solidFill>
                            <a:srgbClr val="FF0000"/>
                          </a:solidFill>
                          <a:effectLst/>
                          <a:latin typeface="Times New Roman" panose="02020603050405020304" pitchFamily="18" charset="0"/>
                          <a:ea typeface="宋体" panose="02010600030101010101" pitchFamily="2" charset="-122"/>
                        </a:rPr>
                        <a:t>Ltag</a:t>
                      </a:r>
                      <a:endParaRPr kumimoji="0" lang="en-US" sz="1500" b="0" i="0" u="none" strike="noStrike" cap="none" normalizeH="0" baseline="0" dirty="0">
                        <a:ln>
                          <a:noFill/>
                        </a:ln>
                        <a:solidFill>
                          <a:srgbClr val="FF0000"/>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Data</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a:ln>
                            <a:noFill/>
                          </a:ln>
                          <a:solidFill>
                            <a:srgbClr val="FF0000"/>
                          </a:solidFill>
                          <a:effectLst/>
                          <a:latin typeface="Times New Roman" panose="02020603050405020304" pitchFamily="18" charset="0"/>
                          <a:ea typeface="宋体" panose="02010600030101010101" pitchFamily="2" charset="-122"/>
                        </a:rPr>
                        <a:t>Rtag</a:t>
                      </a:r>
                      <a:endParaRPr kumimoji="0" lang="en-US" sz="1500" b="0" i="0" u="none" strike="noStrike" cap="none" normalizeH="0" baseline="0" dirty="0">
                        <a:ln>
                          <a:noFill/>
                        </a:ln>
                        <a:solidFill>
                          <a:srgbClr val="FF0000"/>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0" lang="en-US" sz="15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rchild</a:t>
                      </a:r>
                      <a:endParaRPr kumimoji="0" lang="en-US" sz="1500" b="0"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5" name="Text Box 4"/>
          <p:cNvSpPr txBox="1">
            <a:spLocks noChangeArrowheads="1"/>
          </p:cNvSpPr>
          <p:nvPr/>
        </p:nvSpPr>
        <p:spPr bwMode="auto">
          <a:xfrm>
            <a:off x="1641239" y="1837889"/>
            <a:ext cx="85151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600" dirty="0"/>
              <a:t>其中： </a:t>
            </a:r>
            <a:endParaRPr lang="zh-CN" altLang="en-US" sz="1600" dirty="0"/>
          </a:p>
        </p:txBody>
      </p:sp>
      <p:sp>
        <p:nvSpPr>
          <p:cNvPr id="10" name="Text Box 14"/>
          <p:cNvSpPr txBox="1">
            <a:spLocks noChangeArrowheads="1"/>
          </p:cNvSpPr>
          <p:nvPr/>
        </p:nvSpPr>
        <p:spPr bwMode="auto">
          <a:xfrm>
            <a:off x="1730832" y="2284641"/>
            <a:ext cx="81355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600" dirty="0"/>
              <a:t> </a:t>
            </a:r>
            <a:r>
              <a:rPr lang="en-US" altLang="zh-CN" sz="1600" dirty="0" err="1">
                <a:solidFill>
                  <a:srgbClr val="FF0000"/>
                </a:solidFill>
              </a:rPr>
              <a:t>LTag</a:t>
            </a:r>
            <a:r>
              <a:rPr lang="en-US" altLang="zh-CN" sz="1600" dirty="0"/>
              <a:t>= </a:t>
            </a:r>
            <a:endParaRPr lang="en-US" altLang="zh-CN" sz="1600" dirty="0"/>
          </a:p>
        </p:txBody>
      </p:sp>
      <p:sp>
        <p:nvSpPr>
          <p:cNvPr id="11" name="Text Box 15"/>
          <p:cNvSpPr txBox="1">
            <a:spLocks noChangeArrowheads="1"/>
          </p:cNvSpPr>
          <p:nvPr/>
        </p:nvSpPr>
        <p:spPr bwMode="auto">
          <a:xfrm>
            <a:off x="1707254" y="3630660"/>
            <a:ext cx="83131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600" dirty="0"/>
              <a:t> </a:t>
            </a:r>
            <a:r>
              <a:rPr lang="en-US" altLang="zh-CN" sz="1600" dirty="0" err="1">
                <a:solidFill>
                  <a:srgbClr val="FF0000"/>
                </a:solidFill>
              </a:rPr>
              <a:t>RTag</a:t>
            </a:r>
            <a:r>
              <a:rPr lang="en-US" altLang="zh-CN" sz="1600" dirty="0"/>
              <a:t>= </a:t>
            </a:r>
            <a:endParaRPr lang="en-US" altLang="zh-CN" sz="1600" dirty="0"/>
          </a:p>
        </p:txBody>
      </p:sp>
      <p:sp>
        <p:nvSpPr>
          <p:cNvPr id="13" name="AutoShape 12"/>
          <p:cNvSpPr/>
          <p:nvPr/>
        </p:nvSpPr>
        <p:spPr bwMode="auto">
          <a:xfrm rot="10800000" flipH="1">
            <a:off x="2544390" y="2187047"/>
            <a:ext cx="171087" cy="616433"/>
          </a:xfrm>
          <a:prstGeom prst="leftBrace">
            <a:avLst>
              <a:gd name="adj1" fmla="val 75000"/>
              <a:gd name="adj2" fmla="val 50000"/>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2400"/>
          </a:p>
        </p:txBody>
      </p:sp>
      <p:sp>
        <p:nvSpPr>
          <p:cNvPr id="14" name="AutoShape 12"/>
          <p:cNvSpPr/>
          <p:nvPr/>
        </p:nvSpPr>
        <p:spPr bwMode="auto">
          <a:xfrm rot="10800000" flipH="1">
            <a:off x="2492754" y="3574939"/>
            <a:ext cx="171087" cy="616433"/>
          </a:xfrm>
          <a:prstGeom prst="leftBrace">
            <a:avLst>
              <a:gd name="adj1" fmla="val 75000"/>
              <a:gd name="adj2" fmla="val 50000"/>
            </a:avLst>
          </a:prstGeom>
          <a:noFill/>
          <a:ln w="9525">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2400"/>
          </a:p>
        </p:txBody>
      </p:sp>
      <p:sp>
        <p:nvSpPr>
          <p:cNvPr id="15" name="Text Box 11"/>
          <p:cNvSpPr txBox="1">
            <a:spLocks noChangeArrowheads="1"/>
          </p:cNvSpPr>
          <p:nvPr/>
        </p:nvSpPr>
        <p:spPr bwMode="auto">
          <a:xfrm>
            <a:off x="2866981" y="2025947"/>
            <a:ext cx="3052439" cy="22344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457200" indent="-457200">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lnSpc>
                <a:spcPct val="145000"/>
              </a:lnSpc>
              <a:spcBef>
                <a:spcPct val="0"/>
              </a:spcBef>
              <a:buFontTx/>
              <a:buNone/>
            </a:pPr>
            <a:r>
              <a:rPr lang="en-US" altLang="zh-CN" sz="1600" dirty="0"/>
              <a:t>0    </a:t>
            </a:r>
            <a:r>
              <a:rPr lang="en-US" altLang="zh-CN" sz="1600" dirty="0" err="1" smtClean="0"/>
              <a:t>lchild</a:t>
            </a:r>
            <a:r>
              <a:rPr lang="zh-CN" altLang="en-US" sz="1600" dirty="0"/>
              <a:t>域指示结点的左</a:t>
            </a:r>
            <a:r>
              <a:rPr lang="zh-CN" altLang="en-US" sz="1600" dirty="0" smtClean="0"/>
              <a:t>孩子</a:t>
            </a:r>
            <a:endParaRPr lang="zh-CN" altLang="en-US" sz="1600" dirty="0"/>
          </a:p>
          <a:p>
            <a:pPr marL="0" indent="0" eaLnBrk="1" hangingPunct="1">
              <a:lnSpc>
                <a:spcPct val="145000"/>
              </a:lnSpc>
              <a:spcBef>
                <a:spcPct val="0"/>
              </a:spcBef>
              <a:buNone/>
            </a:pPr>
            <a:r>
              <a:rPr lang="en-US" altLang="zh-CN" sz="1600" dirty="0" smtClean="0"/>
              <a:t>1    </a:t>
            </a:r>
            <a:r>
              <a:rPr lang="en-US" altLang="zh-CN" sz="1600" dirty="0" err="1" smtClean="0"/>
              <a:t>lchild</a:t>
            </a:r>
            <a:r>
              <a:rPr lang="zh-CN" altLang="en-US" sz="1600" dirty="0"/>
              <a:t>域指示结点的遍历前驱</a:t>
            </a:r>
            <a:endParaRPr lang="zh-CN" altLang="en-US" sz="1600" dirty="0"/>
          </a:p>
          <a:p>
            <a:pPr marL="0" indent="0" eaLnBrk="1" hangingPunct="1">
              <a:lnSpc>
                <a:spcPct val="145000"/>
              </a:lnSpc>
              <a:spcBef>
                <a:spcPct val="0"/>
              </a:spcBef>
              <a:buFontTx/>
              <a:buNone/>
            </a:pPr>
            <a:endParaRPr lang="zh-CN" altLang="en-US" sz="1600" dirty="0"/>
          </a:p>
          <a:p>
            <a:pPr eaLnBrk="1" hangingPunct="1">
              <a:lnSpc>
                <a:spcPct val="145000"/>
              </a:lnSpc>
              <a:spcBef>
                <a:spcPct val="0"/>
              </a:spcBef>
              <a:buFontTx/>
              <a:buNone/>
            </a:pPr>
            <a:endParaRPr lang="zh-CN" altLang="en-US" sz="1600" dirty="0"/>
          </a:p>
          <a:p>
            <a:pPr>
              <a:lnSpc>
                <a:spcPct val="145000"/>
              </a:lnSpc>
              <a:spcBef>
                <a:spcPts val="0"/>
              </a:spcBef>
              <a:buNone/>
            </a:pPr>
            <a:r>
              <a:rPr lang="en-US" altLang="zh-CN" sz="1600" dirty="0"/>
              <a:t>0    </a:t>
            </a:r>
            <a:r>
              <a:rPr lang="en-US" altLang="zh-CN" sz="1600" dirty="0" err="1" smtClean="0"/>
              <a:t>rchild</a:t>
            </a:r>
            <a:r>
              <a:rPr lang="zh-CN" altLang="en-US" sz="1600" dirty="0"/>
              <a:t>域指示结点的</a:t>
            </a:r>
            <a:r>
              <a:rPr lang="zh-CN" altLang="en-US" sz="1600"/>
              <a:t>右</a:t>
            </a:r>
            <a:r>
              <a:rPr lang="zh-CN" altLang="en-US" sz="1600" smtClean="0"/>
              <a:t>孩子</a:t>
            </a:r>
            <a:endParaRPr lang="zh-CN" altLang="en-US" sz="1600" dirty="0"/>
          </a:p>
          <a:p>
            <a:pPr>
              <a:lnSpc>
                <a:spcPct val="145000"/>
              </a:lnSpc>
              <a:spcBef>
                <a:spcPts val="0"/>
              </a:spcBef>
              <a:buNone/>
            </a:pPr>
            <a:r>
              <a:rPr lang="en-US" altLang="zh-CN" sz="1600" dirty="0"/>
              <a:t>1    </a:t>
            </a:r>
            <a:r>
              <a:rPr lang="en-US" altLang="zh-CN" sz="1600" dirty="0" err="1" smtClean="0"/>
              <a:t>rchild</a:t>
            </a:r>
            <a:r>
              <a:rPr lang="zh-CN" altLang="en-US" sz="1600" dirty="0"/>
              <a:t>域指示结点的遍历后继 </a:t>
            </a:r>
            <a:endParaRPr lang="zh-CN" altLang="en-US" sz="16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6.3.2 </a:t>
            </a:r>
            <a:r>
              <a:rPr lang="zh-CN" altLang="en-US" dirty="0"/>
              <a:t>线索二叉树</a:t>
            </a:r>
            <a:endParaRPr lang="zh-CN" altLang="en-US" dirty="0"/>
          </a:p>
        </p:txBody>
      </p:sp>
      <p:sp>
        <p:nvSpPr>
          <p:cNvPr id="3" name="标题 2"/>
          <p:cNvSpPr>
            <a:spLocks noGrp="1"/>
          </p:cNvSpPr>
          <p:nvPr>
            <p:ph type="title"/>
          </p:nvPr>
        </p:nvSpPr>
        <p:spPr/>
        <p:txBody>
          <a:bodyPr/>
          <a:lstStyle/>
          <a:p>
            <a:r>
              <a:rPr lang="en-US" altLang="zh-CN" dirty="0"/>
              <a:t>6.3 </a:t>
            </a:r>
            <a:r>
              <a:rPr lang="zh-CN" altLang="en-US" dirty="0"/>
              <a:t>二叉树的遍历与线索化</a:t>
            </a:r>
            <a:endParaRPr lang="zh-CN" altLang="en-US" dirty="0"/>
          </a:p>
        </p:txBody>
      </p:sp>
      <p:graphicFrame>
        <p:nvGraphicFramePr>
          <p:cNvPr id="5" name="Object 6"/>
          <p:cNvGraphicFramePr>
            <a:graphicFrameLocks noChangeAspect="1"/>
          </p:cNvGraphicFramePr>
          <p:nvPr/>
        </p:nvGraphicFramePr>
        <p:xfrm>
          <a:off x="1356689" y="1122968"/>
          <a:ext cx="4304297" cy="3728802"/>
        </p:xfrm>
        <a:graphic>
          <a:graphicData uri="http://schemas.openxmlformats.org/presentationml/2006/ole">
            <mc:AlternateContent xmlns:mc="http://schemas.openxmlformats.org/markup-compatibility/2006">
              <mc:Choice xmlns:v="urn:schemas-microsoft-com:vml" Requires="v">
                <p:oleObj spid="_x0000_s21540" name="" r:id="rId1" imgW="3520440" imgH="3055620" progId="Visio.Drawing.4">
                  <p:embed/>
                </p:oleObj>
              </mc:Choice>
              <mc:Fallback>
                <p:oleObj name="" r:id="rId1" imgW="3520440" imgH="3055620" progId="Visio.Drawing.4">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6689" y="1122968"/>
                        <a:ext cx="4304297" cy="3728802"/>
                      </a:xfrm>
                      <a:prstGeom prst="rect">
                        <a:avLst/>
                      </a:prstGeom>
                      <a:noFill/>
                      <a:ln>
                        <a:noFill/>
                      </a:ln>
                      <a:effectLst/>
                    </p:spPr>
                  </p:pic>
                </p:oleObj>
              </mc:Fallback>
            </mc:AlternateContent>
          </a:graphicData>
        </a:graphic>
      </p:graphicFrame>
      <p:sp>
        <p:nvSpPr>
          <p:cNvPr id="6" name="矩形 5"/>
          <p:cNvSpPr/>
          <p:nvPr/>
        </p:nvSpPr>
        <p:spPr>
          <a:xfrm>
            <a:off x="5443857" y="758542"/>
            <a:ext cx="2165846" cy="1569660"/>
          </a:xfrm>
          <a:prstGeom prst="rect">
            <a:avLst/>
          </a:prstGeom>
        </p:spPr>
        <p:txBody>
          <a:bodyPr wrap="square">
            <a:spAutoFit/>
          </a:bodyPr>
          <a:lstStyle/>
          <a:p>
            <a:r>
              <a:rPr lang="zh-CN" altLang="en-US" sz="2400" b="1" dirty="0">
                <a:solidFill>
                  <a:srgbClr val="FF0000"/>
                </a:solidFill>
                <a:latin typeface="华文楷体" panose="02010600040101010101" pitchFamily="2" charset="-122"/>
                <a:ea typeface="华文楷体" panose="02010600040101010101" pitchFamily="2" charset="-122"/>
              </a:rPr>
              <a:t>若经常找前驱、后继，应采用线索链表做为存储结构</a:t>
            </a:r>
            <a:endParaRPr lang="zh-CN" altLang="en-US" sz="2400" b="1" dirty="0">
              <a:solidFill>
                <a:srgbClr val="FF0000"/>
              </a:solidFill>
              <a:latin typeface="华文楷体" panose="02010600040101010101" pitchFamily="2" charset="-122"/>
              <a:ea typeface="华文楷体" panose="02010600040101010101" pitchFamily="2" charset="-122"/>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6.4.1 </a:t>
            </a:r>
            <a:r>
              <a:rPr lang="zh-CN" altLang="en-US" dirty="0"/>
              <a:t>树的存储结构</a:t>
            </a:r>
            <a:endParaRPr lang="en-US" altLang="zh-CN" dirty="0"/>
          </a:p>
          <a:p>
            <a:r>
              <a:rPr lang="en-US" altLang="zh-CN" dirty="0"/>
              <a:t>1. </a:t>
            </a:r>
            <a:r>
              <a:rPr lang="zh-CN" altLang="en-US" dirty="0"/>
              <a:t>双亲表示法</a:t>
            </a:r>
            <a:endParaRPr lang="en-US" altLang="zh-CN" dirty="0"/>
          </a:p>
          <a:p>
            <a:pPr lvl="2"/>
            <a:r>
              <a:rPr lang="zh-CN" altLang="en-US" dirty="0"/>
              <a:t>用一组连续的空间来存储树中的结点，在保存每个结点的同时附设一个指示器指示其双亲结点在表中的位置。</a:t>
            </a:r>
            <a:endParaRPr lang="en-US" altLang="zh-CN" dirty="0"/>
          </a:p>
          <a:p>
            <a:pPr eaLnBrk="1" hangingPunct="1">
              <a:lnSpc>
                <a:spcPct val="140000"/>
              </a:lnSpc>
              <a:spcBef>
                <a:spcPct val="0"/>
              </a:spcBef>
            </a:pPr>
            <a:r>
              <a:rPr lang="en-US" altLang="zh-CN" sz="1575" dirty="0" err="1">
                <a:solidFill>
                  <a:schemeClr val="tx1"/>
                </a:solidFill>
                <a:latin typeface="华文楷体" panose="02010600040101010101" pitchFamily="2" charset="-122"/>
                <a:ea typeface="华文楷体" panose="02010600040101010101" pitchFamily="2" charset="-122"/>
              </a:rPr>
              <a:t>typedef</a:t>
            </a:r>
            <a:r>
              <a:rPr lang="en-US" altLang="zh-CN" sz="1575" dirty="0">
                <a:solidFill>
                  <a:schemeClr val="tx1"/>
                </a:solidFill>
                <a:latin typeface="华文楷体" panose="02010600040101010101" pitchFamily="2" charset="-122"/>
                <a:ea typeface="华文楷体" panose="02010600040101010101" pitchFamily="2" charset="-122"/>
              </a:rPr>
              <a:t> </a:t>
            </a:r>
            <a:r>
              <a:rPr lang="en-US" altLang="zh-CN" sz="1575" dirty="0" err="1">
                <a:solidFill>
                  <a:schemeClr val="tx1"/>
                </a:solidFill>
                <a:latin typeface="华文楷体" panose="02010600040101010101" pitchFamily="2" charset="-122"/>
                <a:ea typeface="华文楷体" panose="02010600040101010101" pitchFamily="2" charset="-122"/>
              </a:rPr>
              <a:t>struct</a:t>
            </a:r>
            <a:r>
              <a:rPr lang="en-US" altLang="zh-CN" sz="1575" dirty="0">
                <a:solidFill>
                  <a:schemeClr val="tx1"/>
                </a:solidFill>
                <a:latin typeface="华文楷体" panose="02010600040101010101" pitchFamily="2" charset="-122"/>
                <a:ea typeface="华文楷体" panose="02010600040101010101" pitchFamily="2" charset="-122"/>
              </a:rPr>
              <a:t> </a:t>
            </a:r>
            <a:r>
              <a:rPr lang="en-US" altLang="zh-CN" sz="1575" dirty="0" err="1">
                <a:solidFill>
                  <a:schemeClr val="tx1"/>
                </a:solidFill>
                <a:latin typeface="华文楷体" panose="02010600040101010101" pitchFamily="2" charset="-122"/>
                <a:ea typeface="华文楷体" panose="02010600040101010101" pitchFamily="2" charset="-122"/>
              </a:rPr>
              <a:t>PTNode</a:t>
            </a:r>
            <a:r>
              <a:rPr lang="en-US" altLang="zh-CN" sz="1575" dirty="0">
                <a:solidFill>
                  <a:schemeClr val="tx1"/>
                </a:solidFill>
                <a:latin typeface="华文楷体" panose="02010600040101010101" pitchFamily="2" charset="-122"/>
                <a:ea typeface="华文楷体" panose="02010600040101010101" pitchFamily="2" charset="-122"/>
              </a:rPr>
              <a:t> {</a:t>
            </a:r>
            <a:endParaRPr lang="en-US" altLang="zh-CN" sz="1575" dirty="0">
              <a:solidFill>
                <a:schemeClr val="tx1"/>
              </a:solidFill>
              <a:latin typeface="华文楷体" panose="02010600040101010101" pitchFamily="2" charset="-122"/>
              <a:ea typeface="华文楷体" panose="02010600040101010101" pitchFamily="2" charset="-122"/>
            </a:endParaRPr>
          </a:p>
          <a:p>
            <a:pPr eaLnBrk="1" hangingPunct="1">
              <a:lnSpc>
                <a:spcPct val="140000"/>
              </a:lnSpc>
              <a:spcBef>
                <a:spcPct val="0"/>
              </a:spcBef>
            </a:pPr>
            <a:r>
              <a:rPr lang="en-US" altLang="zh-CN" sz="1575" dirty="0">
                <a:solidFill>
                  <a:schemeClr val="tx1"/>
                </a:solidFill>
                <a:latin typeface="华文楷体" panose="02010600040101010101" pitchFamily="2" charset="-122"/>
                <a:ea typeface="华文楷体" panose="02010600040101010101" pitchFamily="2" charset="-122"/>
              </a:rPr>
              <a:t>        </a:t>
            </a:r>
            <a:r>
              <a:rPr lang="en-US" altLang="zh-CN" sz="1575" dirty="0" err="1">
                <a:solidFill>
                  <a:schemeClr val="tx1"/>
                </a:solidFill>
                <a:latin typeface="华文楷体" panose="02010600040101010101" pitchFamily="2" charset="-122"/>
                <a:ea typeface="华文楷体" panose="02010600040101010101" pitchFamily="2" charset="-122"/>
              </a:rPr>
              <a:t>TelemType</a:t>
            </a:r>
            <a:r>
              <a:rPr lang="en-US" altLang="zh-CN" sz="1575" dirty="0">
                <a:solidFill>
                  <a:schemeClr val="tx1"/>
                </a:solidFill>
                <a:latin typeface="华文楷体" panose="02010600040101010101" pitchFamily="2" charset="-122"/>
                <a:ea typeface="华文楷体" panose="02010600040101010101" pitchFamily="2" charset="-122"/>
              </a:rPr>
              <a:t>    data; </a:t>
            </a:r>
            <a:endParaRPr lang="en-US" altLang="zh-CN" sz="1575" dirty="0">
              <a:solidFill>
                <a:schemeClr val="tx1"/>
              </a:solidFill>
              <a:latin typeface="华文楷体" panose="02010600040101010101" pitchFamily="2" charset="-122"/>
              <a:ea typeface="华文楷体" panose="02010600040101010101" pitchFamily="2" charset="-122"/>
            </a:endParaRPr>
          </a:p>
          <a:p>
            <a:pPr eaLnBrk="1" hangingPunct="1">
              <a:lnSpc>
                <a:spcPct val="140000"/>
              </a:lnSpc>
              <a:spcBef>
                <a:spcPct val="0"/>
              </a:spcBef>
            </a:pPr>
            <a:r>
              <a:rPr lang="en-US" altLang="zh-CN" sz="1575" dirty="0">
                <a:solidFill>
                  <a:schemeClr val="tx1"/>
                </a:solidFill>
                <a:latin typeface="华文楷体" panose="02010600040101010101" pitchFamily="2" charset="-122"/>
                <a:ea typeface="华文楷体" panose="02010600040101010101" pitchFamily="2" charset="-122"/>
              </a:rPr>
              <a:t>        </a:t>
            </a:r>
            <a:r>
              <a:rPr lang="en-US" altLang="zh-CN" sz="1575" dirty="0" err="1">
                <a:solidFill>
                  <a:schemeClr val="tx1"/>
                </a:solidFill>
                <a:latin typeface="华文楷体" panose="02010600040101010101" pitchFamily="2" charset="-122"/>
                <a:ea typeface="华文楷体" panose="02010600040101010101" pitchFamily="2" charset="-122"/>
              </a:rPr>
              <a:t>int</a:t>
            </a:r>
            <a:r>
              <a:rPr lang="en-US" altLang="zh-CN" sz="1575" dirty="0">
                <a:solidFill>
                  <a:schemeClr val="tx1"/>
                </a:solidFill>
                <a:latin typeface="华文楷体" panose="02010600040101010101" pitchFamily="2" charset="-122"/>
                <a:ea typeface="华文楷体" panose="02010600040101010101" pitchFamily="2" charset="-122"/>
              </a:rPr>
              <a:t>                parent;</a:t>
            </a:r>
            <a:endParaRPr lang="en-US" altLang="zh-CN" sz="1575" dirty="0">
              <a:solidFill>
                <a:schemeClr val="tx1"/>
              </a:solidFill>
              <a:latin typeface="华文楷体" panose="02010600040101010101" pitchFamily="2" charset="-122"/>
              <a:ea typeface="华文楷体" panose="02010600040101010101" pitchFamily="2" charset="-122"/>
            </a:endParaRPr>
          </a:p>
          <a:p>
            <a:pPr eaLnBrk="1" hangingPunct="1">
              <a:lnSpc>
                <a:spcPct val="140000"/>
              </a:lnSpc>
              <a:spcBef>
                <a:spcPct val="0"/>
              </a:spcBef>
            </a:pPr>
            <a:r>
              <a:rPr lang="en-US" altLang="zh-CN" sz="1575" dirty="0">
                <a:solidFill>
                  <a:schemeClr val="tx1"/>
                </a:solidFill>
                <a:latin typeface="华文楷体" panose="02010600040101010101" pitchFamily="2" charset="-122"/>
                <a:ea typeface="华文楷体" panose="02010600040101010101" pitchFamily="2" charset="-122"/>
              </a:rPr>
              <a:t>}</a:t>
            </a:r>
            <a:r>
              <a:rPr lang="en-US" altLang="zh-CN" sz="1575" dirty="0" err="1">
                <a:solidFill>
                  <a:schemeClr val="tx1"/>
                </a:solidFill>
                <a:latin typeface="华文楷体" panose="02010600040101010101" pitchFamily="2" charset="-122"/>
                <a:ea typeface="华文楷体" panose="02010600040101010101" pitchFamily="2" charset="-122"/>
              </a:rPr>
              <a:t>PTNode</a:t>
            </a:r>
            <a:r>
              <a:rPr lang="en-US" altLang="zh-CN" sz="1575" dirty="0">
                <a:solidFill>
                  <a:schemeClr val="tx1"/>
                </a:solidFill>
                <a:latin typeface="华文楷体" panose="02010600040101010101" pitchFamily="2" charset="-122"/>
                <a:ea typeface="华文楷体" panose="02010600040101010101" pitchFamily="2" charset="-122"/>
              </a:rPr>
              <a:t>;                 </a:t>
            </a:r>
            <a:endParaRPr lang="zh-CN" altLang="en-US" dirty="0"/>
          </a:p>
          <a:p>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cxnSp>
        <p:nvCxnSpPr>
          <p:cNvPr id="5" name="直接连接符 4"/>
          <p:cNvCxnSpPr/>
          <p:nvPr/>
        </p:nvCxnSpPr>
        <p:spPr>
          <a:xfrm>
            <a:off x="3917575" y="2378090"/>
            <a:ext cx="21657" cy="1588169"/>
          </a:xfrm>
          <a:prstGeom prst="line">
            <a:avLst/>
          </a:prstGeom>
          <a:ln w="19050">
            <a:solidFill>
              <a:srgbClr val="00194C"/>
            </a:solidFill>
          </a:ln>
        </p:spPr>
        <p:style>
          <a:lnRef idx="1">
            <a:schemeClr val="accent1"/>
          </a:lnRef>
          <a:fillRef idx="0">
            <a:schemeClr val="accent1"/>
          </a:fillRef>
          <a:effectRef idx="0">
            <a:schemeClr val="accent1"/>
          </a:effectRef>
          <a:fontRef idx="minor">
            <a:schemeClr val="tx1"/>
          </a:fontRef>
        </p:style>
      </p:cxnSp>
      <p:sp>
        <p:nvSpPr>
          <p:cNvPr id="6" name="文本框 5"/>
          <p:cNvSpPr txBox="1"/>
          <p:nvPr/>
        </p:nvSpPr>
        <p:spPr>
          <a:xfrm>
            <a:off x="4114692" y="2378089"/>
            <a:ext cx="3701654" cy="1605504"/>
          </a:xfrm>
          <a:prstGeom prst="rect">
            <a:avLst/>
          </a:prstGeom>
          <a:noFill/>
        </p:spPr>
        <p:txBody>
          <a:bodyPr wrap="none" rtlCol="0">
            <a:spAutoFit/>
          </a:bodyPr>
          <a:lstStyle/>
          <a:p>
            <a:pPr algn="just" fontAlgn="base">
              <a:lnSpc>
                <a:spcPct val="140000"/>
              </a:lnSpc>
              <a:spcBef>
                <a:spcPct val="0"/>
              </a:spcBef>
              <a:spcAft>
                <a:spcPct val="0"/>
              </a:spcAft>
            </a:pPr>
            <a:r>
              <a:rPr lang="en-US" altLang="zh-CN" sz="1575" b="1" dirty="0" err="1">
                <a:latin typeface="华文楷体" panose="02010600040101010101" pitchFamily="2" charset="-122"/>
                <a:ea typeface="华文楷体" panose="02010600040101010101" pitchFamily="2" charset="-122"/>
              </a:rPr>
              <a:t>typedef</a:t>
            </a: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struct</a:t>
            </a:r>
            <a:r>
              <a:rPr lang="en-US" altLang="zh-CN" sz="1575" b="1" dirty="0">
                <a:latin typeface="华文楷体" panose="02010600040101010101" pitchFamily="2" charset="-122"/>
                <a:ea typeface="华文楷体" panose="02010600040101010101" pitchFamily="2" charset="-122"/>
              </a:rPr>
              <a:t>{</a:t>
            </a:r>
            <a:endParaRPr lang="en-US" altLang="zh-CN" sz="1575" b="1" dirty="0">
              <a:latin typeface="华文楷体" panose="02010600040101010101" pitchFamily="2" charset="-122"/>
              <a:ea typeface="华文楷体" panose="02010600040101010101" pitchFamily="2" charset="-122"/>
            </a:endParaRPr>
          </a:p>
          <a:p>
            <a:pPr algn="just" fontAlgn="base">
              <a:lnSpc>
                <a:spcPct val="140000"/>
              </a:lnSpc>
              <a:spcBef>
                <a:spcPct val="0"/>
              </a:spcBef>
              <a:spcAft>
                <a:spcPct val="0"/>
              </a:spcAft>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PTNode</a:t>
            </a:r>
            <a:r>
              <a:rPr lang="en-US" altLang="zh-CN" sz="1575" b="1" dirty="0">
                <a:latin typeface="华文楷体" panose="02010600040101010101" pitchFamily="2" charset="-122"/>
                <a:ea typeface="华文楷体" panose="02010600040101010101" pitchFamily="2" charset="-122"/>
              </a:rPr>
              <a:t>  nodes[ MAX_TREE_SIZE ];</a:t>
            </a:r>
            <a:endParaRPr lang="en-US" altLang="zh-CN" sz="1575" b="1" dirty="0">
              <a:latin typeface="华文楷体" panose="02010600040101010101" pitchFamily="2" charset="-122"/>
              <a:ea typeface="华文楷体" panose="02010600040101010101" pitchFamily="2" charset="-122"/>
            </a:endParaRPr>
          </a:p>
          <a:p>
            <a:pPr algn="just" fontAlgn="base">
              <a:lnSpc>
                <a:spcPct val="140000"/>
              </a:lnSpc>
              <a:spcBef>
                <a:spcPct val="0"/>
              </a:spcBef>
              <a:spcAft>
                <a:spcPct val="0"/>
              </a:spcAft>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int</a:t>
            </a:r>
            <a:r>
              <a:rPr lang="en-US" altLang="zh-CN" sz="1575" b="1" dirty="0">
                <a:latin typeface="华文楷体" panose="02010600040101010101" pitchFamily="2" charset="-122"/>
                <a:ea typeface="华文楷体" panose="02010600040101010101" pitchFamily="2" charset="-122"/>
              </a:rPr>
              <a:t>   r, n;</a:t>
            </a:r>
            <a:endParaRPr lang="en-US" altLang="zh-CN" sz="1575" b="1" dirty="0">
              <a:latin typeface="华文楷体" panose="02010600040101010101" pitchFamily="2" charset="-122"/>
              <a:ea typeface="华文楷体" panose="02010600040101010101" pitchFamily="2" charset="-122"/>
            </a:endParaRPr>
          </a:p>
          <a:p>
            <a:pPr algn="just" fontAlgn="base">
              <a:lnSpc>
                <a:spcPct val="140000"/>
              </a:lnSpc>
              <a:spcBef>
                <a:spcPct val="0"/>
              </a:spcBef>
              <a:spcAft>
                <a:spcPct val="0"/>
              </a:spcAft>
            </a:pPr>
            <a:r>
              <a:rPr lang="en-US" altLang="zh-CN" sz="1575" b="1" dirty="0">
                <a:latin typeface="华文楷体" panose="02010600040101010101" pitchFamily="2" charset="-122"/>
                <a:ea typeface="华文楷体" panose="02010600040101010101" pitchFamily="2" charset="-122"/>
              </a:rPr>
              <a:t>}</a:t>
            </a:r>
            <a:r>
              <a:rPr lang="en-US" altLang="zh-CN" sz="1575" b="1" dirty="0" err="1">
                <a:latin typeface="华文楷体" panose="02010600040101010101" pitchFamily="2" charset="-122"/>
                <a:ea typeface="华文楷体" panose="02010600040101010101" pitchFamily="2" charset="-122"/>
              </a:rPr>
              <a:t>Ptree</a:t>
            </a:r>
            <a:r>
              <a:rPr lang="en-US" altLang="zh-CN" sz="1575" b="1" dirty="0">
                <a:latin typeface="华文楷体" panose="02010600040101010101" pitchFamily="2" charset="-122"/>
                <a:ea typeface="华文楷体" panose="02010600040101010101" pitchFamily="2" charset="-122"/>
              </a:rPr>
              <a:t>; </a:t>
            </a:r>
            <a:endParaRPr lang="en-US" altLang="zh-CN" sz="1575" b="1" dirty="0">
              <a:latin typeface="华文楷体" panose="02010600040101010101" pitchFamily="2" charset="-122"/>
              <a:ea typeface="华文楷体" panose="02010600040101010101" pitchFamily="2" charset="-122"/>
            </a:endParaRPr>
          </a:p>
          <a:p>
            <a:endParaRPr lang="zh-CN" altLang="en-US" sz="1015"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1. </a:t>
            </a:r>
            <a:r>
              <a:rPr lang="zh-CN" altLang="en-US" dirty="0"/>
              <a:t>双亲表示法</a:t>
            </a:r>
            <a:endParaRPr lang="en-US" altLang="zh-CN" dirty="0"/>
          </a:p>
          <a:p>
            <a:pPr lvl="2"/>
            <a:r>
              <a:rPr lang="en-US" altLang="zh-CN" dirty="0"/>
              <a:t>r: 0;    n:7</a:t>
            </a:r>
            <a:endParaRPr lang="en-US" altLang="zh-CN" dirty="0"/>
          </a:p>
          <a:p>
            <a:endParaRPr lang="en-US" altLang="zh-CN" dirty="0"/>
          </a:p>
          <a:p>
            <a:endParaRPr lang="en-US" altLang="zh-CN" dirty="0"/>
          </a:p>
          <a:p>
            <a:endParaRPr lang="en-US" altLang="zh-CN" dirty="0"/>
          </a:p>
          <a:p>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7" name="表格 6"/>
          <p:cNvGraphicFramePr>
            <a:graphicFrameLocks noGrp="1"/>
          </p:cNvGraphicFramePr>
          <p:nvPr>
            <p:custDataLst>
              <p:tags r:id="rId1"/>
            </p:custDataLst>
          </p:nvPr>
        </p:nvGraphicFramePr>
        <p:xfrm>
          <a:off x="2705244" y="1782124"/>
          <a:ext cx="1419961" cy="2303145"/>
        </p:xfrm>
        <a:graphic>
          <a:graphicData uri="http://schemas.openxmlformats.org/drawingml/2006/table">
            <a:tbl>
              <a:tblPr firstRow="1" bandRow="1">
                <a:tableStyleId>{5C22544A-7EE6-4342-B048-85BDC9FD1C3A}</a:tableStyleId>
              </a:tblPr>
              <a:tblGrid>
                <a:gridCol w="416293"/>
                <a:gridCol w="462013"/>
                <a:gridCol w="541655"/>
              </a:tblGrid>
              <a:tr h="222885">
                <a:tc>
                  <a:txBody>
                    <a:bodyPr/>
                    <a:lstStyle/>
                    <a:p>
                      <a:pPr algn="ctr"/>
                      <a:r>
                        <a:rPr lang="zh-CN" altLang="en-US" sz="1000" b="1" dirty="0">
                          <a:solidFill>
                            <a:schemeClr val="tx1"/>
                          </a:solidFill>
                        </a:rPr>
                        <a:t>下标</a:t>
                      </a:r>
                      <a:endParaRPr lang="zh-CN" altLang="en-US" sz="1000" b="1" dirty="0">
                        <a:solidFill>
                          <a:schemeClr val="tx1"/>
                        </a:solidFill>
                      </a:endParaRPr>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1" dirty="0">
                          <a:solidFill>
                            <a:schemeClr val="tx1"/>
                          </a:solidFill>
                        </a:rPr>
                        <a:t>Data</a:t>
                      </a:r>
                      <a:endParaRPr lang="zh-CN" altLang="en-US" sz="10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000" b="1" dirty="0">
                          <a:solidFill>
                            <a:schemeClr val="tx1"/>
                          </a:solidFill>
                        </a:rPr>
                        <a:t>Parent</a:t>
                      </a:r>
                      <a:endParaRPr lang="zh-CN" altLang="en-US" sz="10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0</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A</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b="1" dirty="0">
                          <a:solidFill>
                            <a:srgbClr val="FF0000"/>
                          </a:solidFill>
                        </a:rPr>
                        <a:t>-1</a:t>
                      </a:r>
                      <a:endParaRPr lang="zh-CN" altLang="en-US" sz="1500" b="1" dirty="0">
                        <a:solidFill>
                          <a:srgbClr val="FF0000"/>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1</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B</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b="1" dirty="0"/>
                        <a:t>0</a:t>
                      </a:r>
                      <a:endParaRPr lang="zh-CN" altLang="en-US"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2</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C</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b="1" dirty="0"/>
                        <a:t>0</a:t>
                      </a:r>
                      <a:endParaRPr lang="zh-CN" altLang="en-US"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3</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D</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b="1" dirty="0"/>
                        <a:t>1</a:t>
                      </a:r>
                      <a:endParaRPr lang="zh-CN" altLang="en-US"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4</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E</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500" b="1" dirty="0"/>
                        <a:t>1</a:t>
                      </a:r>
                      <a:endParaRPr lang="zh-CN" altLang="en-US"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p>
                      <a:pPr algn="ctr">
                        <a:buNone/>
                      </a:pPr>
                      <a:r>
                        <a:rPr lang="en-US" altLang="zh-CN" sz="1500" b="1" dirty="0"/>
                        <a:t>5</a:t>
                      </a:r>
                      <a:endParaRPr lang="en-US" altLang="zh-CN"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p>
                      <a:pPr algn="ctr">
                        <a:buNone/>
                      </a:pPr>
                      <a:r>
                        <a:rPr lang="en-US" altLang="zh-CN" sz="1500" b="1" dirty="0"/>
                        <a:t>F</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p>
                      <a:pPr algn="ctr">
                        <a:buNone/>
                      </a:pPr>
                      <a:r>
                        <a:rPr lang="en-US" altLang="zh-CN" sz="1500" b="1" dirty="0"/>
                        <a:t>1</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p>
                      <a:pPr algn="ctr">
                        <a:buNone/>
                      </a:pPr>
                      <a:r>
                        <a:rPr lang="en-US" altLang="zh-CN" sz="1500" b="1" dirty="0"/>
                        <a:t>6</a:t>
                      </a:r>
                      <a:endParaRPr lang="en-US" altLang="zh-CN"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p>
                      <a:pPr algn="ctr">
                        <a:buNone/>
                      </a:pPr>
                      <a:r>
                        <a:rPr lang="en-US" altLang="zh-CN" sz="1500" b="1" dirty="0"/>
                        <a:t>G</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p>
                      <a:pPr algn="ctr">
                        <a:buNone/>
                      </a:pPr>
                      <a:r>
                        <a:rPr lang="en-US" altLang="zh-CN" sz="1500" b="1" dirty="0"/>
                        <a:t>2</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4" name="对象 3"/>
          <p:cNvGraphicFramePr/>
          <p:nvPr/>
        </p:nvGraphicFramePr>
        <p:xfrm>
          <a:off x="356870" y="1677035"/>
          <a:ext cx="2139315" cy="1640840"/>
        </p:xfrm>
        <a:graphic>
          <a:graphicData uri="http://schemas.openxmlformats.org/presentationml/2006/ole">
            <mc:AlternateContent xmlns:mc="http://schemas.openxmlformats.org/markup-compatibility/2006">
              <mc:Choice xmlns:v="urn:schemas-microsoft-com:vml" Requires="v">
                <p:oleObj spid="_x0000_s5" name="" r:id="rId2" imgW="2981325" imgH="2238375" progId="Paint.Picture">
                  <p:embed/>
                </p:oleObj>
              </mc:Choice>
              <mc:Fallback>
                <p:oleObj name="" r:id="rId2" imgW="2981325" imgH="2238375" progId="Paint.Picture">
                  <p:embed/>
                  <p:pic>
                    <p:nvPicPr>
                      <p:cNvPr id="0" name="图片 4"/>
                      <p:cNvPicPr/>
                      <p:nvPr/>
                    </p:nvPicPr>
                    <p:blipFill>
                      <a:blip r:embed="rId3"/>
                      <a:stretch>
                        <a:fillRect/>
                      </a:stretch>
                    </p:blipFill>
                    <p:spPr>
                      <a:xfrm>
                        <a:off x="356870" y="1677035"/>
                        <a:ext cx="2139315" cy="1640840"/>
                      </a:xfrm>
                      <a:prstGeom prst="rect">
                        <a:avLst/>
                      </a:prstGeom>
                    </p:spPr>
                  </p:pic>
                </p:oleObj>
              </mc:Fallback>
            </mc:AlternateContent>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孩子表示法</a:t>
            </a:r>
            <a:endParaRPr lang="en-US" altLang="zh-CN" dirty="0"/>
          </a:p>
          <a:p>
            <a:pPr lvl="2">
              <a:lnSpc>
                <a:spcPts val="3000"/>
              </a:lnSpc>
            </a:pPr>
            <a:r>
              <a:rPr lang="zh-CN" altLang="en-US" sz="2000" dirty="0"/>
              <a:t>把每个结点的孩子排列起来，构成一个单链表，称为孩子链表。</a:t>
            </a:r>
            <a:r>
              <a:rPr lang="en-US" altLang="zh-CN" sz="2000" dirty="0"/>
              <a:t>n</a:t>
            </a:r>
            <a:r>
              <a:rPr lang="zh-CN" altLang="en-US" sz="2000" dirty="0"/>
              <a:t>个结点共有</a:t>
            </a:r>
            <a:r>
              <a:rPr lang="en-US" altLang="zh-CN" sz="2000" dirty="0"/>
              <a:t>n</a:t>
            </a:r>
            <a:r>
              <a:rPr lang="zh-CN" altLang="en-US" sz="2000" dirty="0"/>
              <a:t>个孩子链表（叶子结点的孩子链表为空表），</a:t>
            </a:r>
            <a:r>
              <a:rPr lang="en-US" altLang="zh-CN" sz="2000" dirty="0"/>
              <a:t>n</a:t>
            </a:r>
            <a:r>
              <a:rPr lang="zh-CN" altLang="en-US" sz="2000" dirty="0"/>
              <a:t>个结点的数据和</a:t>
            </a:r>
            <a:r>
              <a:rPr lang="en-US" altLang="zh-CN" sz="2000" dirty="0"/>
              <a:t>n</a:t>
            </a:r>
            <a:r>
              <a:rPr lang="zh-CN" altLang="en-US" sz="2000" dirty="0"/>
              <a:t>个孩子链表的头指针组成一个顺序表。</a:t>
            </a:r>
            <a:endParaRPr lang="en-US" altLang="zh-CN" sz="2000" dirty="0"/>
          </a:p>
          <a:p>
            <a:pPr lvl="2">
              <a:lnSpc>
                <a:spcPts val="3000"/>
              </a:lnSpc>
            </a:pPr>
            <a:r>
              <a:rPr lang="zh-CN" altLang="en-US" sz="2000" dirty="0"/>
              <a:t> </a:t>
            </a:r>
            <a:endParaRPr lang="en-US" altLang="zh-CN" sz="2000" dirty="0"/>
          </a:p>
          <a:p>
            <a:pPr marL="100965" lvl="2">
              <a:lnSpc>
                <a:spcPts val="1875"/>
              </a:lnSpc>
            </a:pPr>
            <a:r>
              <a:rPr lang="en-US" altLang="zh-CN" sz="1800" dirty="0">
                <a:solidFill>
                  <a:schemeClr val="tx1"/>
                </a:solidFill>
              </a:rPr>
              <a:t>/*</a:t>
            </a:r>
            <a:r>
              <a:rPr lang="zh-CN" altLang="en-US" sz="1800" dirty="0">
                <a:solidFill>
                  <a:schemeClr val="tx1"/>
                </a:solidFill>
              </a:rPr>
              <a:t>孩子链表结构体</a:t>
            </a:r>
            <a:r>
              <a:rPr lang="en-US" altLang="zh-CN" sz="1800" dirty="0">
                <a:solidFill>
                  <a:schemeClr val="tx1"/>
                </a:solidFill>
              </a:rPr>
              <a:t>*/</a:t>
            </a:r>
            <a:endParaRPr lang="en-US" altLang="zh-CN" sz="1800" dirty="0">
              <a:solidFill>
                <a:schemeClr val="tx1"/>
              </a:solidFill>
            </a:endParaRPr>
          </a:p>
          <a:p>
            <a:pPr marL="100965" lvl="2">
              <a:lnSpc>
                <a:spcPts val="1875"/>
              </a:lnSpc>
            </a:pPr>
            <a:r>
              <a:rPr lang="en-US" altLang="zh-CN" sz="1800" dirty="0" err="1">
                <a:solidFill>
                  <a:schemeClr val="tx1"/>
                </a:solidFill>
              </a:rPr>
              <a:t>typedef</a:t>
            </a:r>
            <a:r>
              <a:rPr lang="en-US" altLang="zh-CN" sz="1800" dirty="0">
                <a:solidFill>
                  <a:schemeClr val="tx1"/>
                </a:solidFill>
              </a:rPr>
              <a:t>  </a:t>
            </a:r>
            <a:r>
              <a:rPr lang="en-US" altLang="zh-CN" sz="1800" dirty="0" err="1">
                <a:solidFill>
                  <a:schemeClr val="tx1"/>
                </a:solidFill>
              </a:rPr>
              <a:t>struct</a:t>
            </a:r>
            <a:r>
              <a:rPr lang="en-US" altLang="zh-CN" sz="1800" dirty="0">
                <a:solidFill>
                  <a:schemeClr val="tx1"/>
                </a:solidFill>
              </a:rPr>
              <a:t>  </a:t>
            </a:r>
            <a:r>
              <a:rPr lang="en-US" altLang="zh-CN" sz="1800" dirty="0" err="1">
                <a:solidFill>
                  <a:schemeClr val="tx1"/>
                </a:solidFill>
              </a:rPr>
              <a:t>CTNode</a:t>
            </a:r>
            <a:r>
              <a:rPr lang="en-US" altLang="zh-CN" sz="1800" dirty="0">
                <a:solidFill>
                  <a:schemeClr val="tx1"/>
                </a:solidFill>
              </a:rPr>
              <a:t> {</a:t>
            </a:r>
            <a:endParaRPr lang="en-US" altLang="zh-CN" sz="1800" dirty="0">
              <a:solidFill>
                <a:schemeClr val="tx1"/>
              </a:solidFill>
            </a:endParaRPr>
          </a:p>
          <a:p>
            <a:pPr marL="100965" lvl="2">
              <a:lnSpc>
                <a:spcPts val="1875"/>
              </a:lnSpc>
            </a:pPr>
            <a:r>
              <a:rPr lang="en-US" altLang="zh-CN" sz="1800" dirty="0">
                <a:solidFill>
                  <a:schemeClr val="tx1"/>
                </a:solidFill>
              </a:rPr>
              <a:t>     </a:t>
            </a:r>
            <a:r>
              <a:rPr lang="en-US" altLang="zh-CN" sz="1800" dirty="0" err="1">
                <a:solidFill>
                  <a:schemeClr val="tx1"/>
                </a:solidFill>
              </a:rPr>
              <a:t>int</a:t>
            </a:r>
            <a:r>
              <a:rPr lang="en-US" altLang="zh-CN" sz="1800" dirty="0">
                <a:solidFill>
                  <a:schemeClr val="tx1"/>
                </a:solidFill>
              </a:rPr>
              <a:t>      child;</a:t>
            </a:r>
            <a:endParaRPr lang="en-US" altLang="zh-CN" sz="1800" dirty="0">
              <a:solidFill>
                <a:schemeClr val="tx1"/>
              </a:solidFill>
            </a:endParaRPr>
          </a:p>
          <a:p>
            <a:pPr marL="100965" lvl="2">
              <a:lnSpc>
                <a:spcPts val="1875"/>
              </a:lnSpc>
            </a:pPr>
            <a:r>
              <a:rPr lang="en-US" altLang="zh-CN" sz="1800" dirty="0">
                <a:solidFill>
                  <a:schemeClr val="tx1"/>
                </a:solidFill>
              </a:rPr>
              <a:t>     </a:t>
            </a:r>
            <a:r>
              <a:rPr lang="en-US" altLang="zh-CN" sz="1800" dirty="0" err="1">
                <a:solidFill>
                  <a:schemeClr val="tx1"/>
                </a:solidFill>
              </a:rPr>
              <a:t>struct</a:t>
            </a:r>
            <a:r>
              <a:rPr lang="en-US" altLang="zh-CN" sz="1800" dirty="0">
                <a:solidFill>
                  <a:schemeClr val="tx1"/>
                </a:solidFill>
              </a:rPr>
              <a:t>   </a:t>
            </a:r>
            <a:r>
              <a:rPr lang="en-US" altLang="zh-CN" sz="1800" dirty="0" err="1">
                <a:solidFill>
                  <a:schemeClr val="tx1"/>
                </a:solidFill>
              </a:rPr>
              <a:t>CTNode</a:t>
            </a:r>
            <a:r>
              <a:rPr lang="en-US" altLang="zh-CN" sz="1800" dirty="0">
                <a:solidFill>
                  <a:schemeClr val="tx1"/>
                </a:solidFill>
              </a:rPr>
              <a:t>  *next;</a:t>
            </a:r>
            <a:endParaRPr lang="en-US" altLang="zh-CN" sz="1800" dirty="0">
              <a:solidFill>
                <a:schemeClr val="tx1"/>
              </a:solidFill>
            </a:endParaRPr>
          </a:p>
          <a:p>
            <a:pPr marL="100965" lvl="2">
              <a:lnSpc>
                <a:spcPts val="1875"/>
              </a:lnSpc>
            </a:pPr>
            <a:r>
              <a:rPr lang="en-US" altLang="zh-CN" sz="1800" dirty="0">
                <a:solidFill>
                  <a:schemeClr val="tx1"/>
                </a:solidFill>
              </a:rPr>
              <a:t>}*</a:t>
            </a:r>
            <a:r>
              <a:rPr lang="en-US" altLang="zh-CN" sz="1800" dirty="0" err="1">
                <a:solidFill>
                  <a:schemeClr val="tx1"/>
                </a:solidFill>
              </a:rPr>
              <a:t>ChildPtr</a:t>
            </a:r>
            <a:r>
              <a:rPr lang="en-US" altLang="zh-CN" sz="1800" dirty="0">
                <a:solidFill>
                  <a:schemeClr val="tx1"/>
                </a:solidFill>
              </a:rPr>
              <a:t>; </a:t>
            </a:r>
            <a:endParaRPr lang="zh-CN" altLang="en-US" sz="1800" dirty="0">
              <a:solidFill>
                <a:schemeClr val="tx1"/>
              </a:solidFill>
            </a:endParaRPr>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
        <p:nvSpPr>
          <p:cNvPr id="6" name="Text Box 4"/>
          <p:cNvSpPr txBox="1">
            <a:spLocks noChangeArrowheads="1"/>
          </p:cNvSpPr>
          <p:nvPr/>
        </p:nvSpPr>
        <p:spPr bwMode="auto">
          <a:xfrm>
            <a:off x="4330761" y="2380204"/>
            <a:ext cx="3848489" cy="20415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typedef</a:t>
            </a: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struct</a:t>
            </a:r>
            <a:r>
              <a:rPr lang="en-US" altLang="zh-CN" sz="1575" b="1" dirty="0">
                <a:latin typeface="华文楷体" panose="02010600040101010101" pitchFamily="2" charset="-122"/>
                <a:ea typeface="华文楷体" panose="02010600040101010101" pitchFamily="2" charset="-122"/>
              </a:rPr>
              <a:t> {</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TelemType</a:t>
            </a:r>
            <a:r>
              <a:rPr lang="en-US" altLang="zh-CN" sz="1575" b="1" dirty="0">
                <a:latin typeface="华文楷体" panose="02010600040101010101" pitchFamily="2" charset="-122"/>
                <a:ea typeface="华文楷体" panose="02010600040101010101" pitchFamily="2" charset="-122"/>
              </a:rPr>
              <a:t>  data;</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ChildPtr</a:t>
            </a: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firstchild</a:t>
            </a:r>
            <a:r>
              <a:rPr lang="en-US" altLang="zh-CN" sz="1575" b="1" dirty="0">
                <a:latin typeface="华文楷体" panose="02010600040101010101" pitchFamily="2" charset="-122"/>
                <a:ea typeface="华文楷体" panose="02010600040101010101" pitchFamily="2" charset="-122"/>
              </a:rPr>
              <a:t>;</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CTBox</a:t>
            </a:r>
            <a:r>
              <a:rPr lang="en-US" altLang="zh-CN" sz="1575" b="1" dirty="0">
                <a:latin typeface="华文楷体" panose="02010600040101010101" pitchFamily="2" charset="-122"/>
                <a:ea typeface="华文楷体" panose="02010600040101010101" pitchFamily="2" charset="-122"/>
              </a:rPr>
              <a:t>;     /*</a:t>
            </a:r>
            <a:r>
              <a:rPr lang="zh-CN" altLang="en-US" sz="1575" b="1" dirty="0">
                <a:latin typeface="华文楷体" panose="02010600040101010101" pitchFamily="2" charset="-122"/>
                <a:ea typeface="华文楷体" panose="02010600040101010101" pitchFamily="2" charset="-122"/>
              </a:rPr>
              <a:t>结构数组类型</a:t>
            </a:r>
            <a:r>
              <a:rPr lang="en-US" altLang="zh-CN" sz="1575" b="1" dirty="0">
                <a:latin typeface="华文楷体" panose="02010600040101010101" pitchFamily="2" charset="-122"/>
                <a:ea typeface="华文楷体" panose="02010600040101010101" pitchFamily="2" charset="-122"/>
              </a:rPr>
              <a:t>*/</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typedef</a:t>
            </a: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struct</a:t>
            </a:r>
            <a:r>
              <a:rPr lang="en-US" altLang="zh-CN" sz="1575" b="1" dirty="0">
                <a:latin typeface="华文楷体" panose="02010600040101010101" pitchFamily="2" charset="-122"/>
                <a:ea typeface="华文楷体" panose="02010600040101010101" pitchFamily="2" charset="-122"/>
              </a:rPr>
              <a:t> {</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CTBox</a:t>
            </a:r>
            <a:r>
              <a:rPr lang="en-US" altLang="zh-CN" sz="1575" b="1" dirty="0">
                <a:latin typeface="华文楷体" panose="02010600040101010101" pitchFamily="2" charset="-122"/>
                <a:ea typeface="华文楷体" panose="02010600040101010101" pitchFamily="2" charset="-122"/>
              </a:rPr>
              <a:t>   nodes [  MAX_TREE_SIZE  ];</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int</a:t>
            </a:r>
            <a:r>
              <a:rPr lang="en-US" altLang="zh-CN" sz="1575" b="1" dirty="0">
                <a:latin typeface="华文楷体" panose="02010600040101010101" pitchFamily="2" charset="-122"/>
                <a:ea typeface="华文楷体" panose="02010600040101010101" pitchFamily="2" charset="-122"/>
              </a:rPr>
              <a:t>      n, r;</a:t>
            </a:r>
            <a:endParaRPr lang="en-US" altLang="zh-CN" sz="1575" b="1" dirty="0">
              <a:latin typeface="华文楷体" panose="02010600040101010101" pitchFamily="2" charset="-122"/>
              <a:ea typeface="华文楷体" panose="02010600040101010101" pitchFamily="2" charset="-122"/>
            </a:endParaRPr>
          </a:p>
          <a:p>
            <a:pPr marL="100965" lvl="2" indent="0" algn="just">
              <a:lnSpc>
                <a:spcPts val="1875"/>
              </a:lnSpc>
              <a:spcBef>
                <a:spcPts val="0"/>
              </a:spcBef>
              <a:buClr>
                <a:srgbClr val="800000"/>
              </a:buClr>
              <a:buSzPct val="70000"/>
              <a:buNone/>
            </a:pPr>
            <a:r>
              <a:rPr lang="en-US" altLang="zh-CN" sz="1575" b="1" dirty="0">
                <a:latin typeface="华文楷体" panose="02010600040101010101" pitchFamily="2" charset="-122"/>
                <a:ea typeface="华文楷体" panose="02010600040101010101" pitchFamily="2" charset="-122"/>
              </a:rPr>
              <a:t>  }</a:t>
            </a:r>
            <a:r>
              <a:rPr lang="en-US" altLang="zh-CN" sz="1575" b="1" dirty="0" err="1">
                <a:latin typeface="华文楷体" panose="02010600040101010101" pitchFamily="2" charset="-122"/>
                <a:ea typeface="华文楷体" panose="02010600040101010101" pitchFamily="2" charset="-122"/>
              </a:rPr>
              <a:t>Ctree</a:t>
            </a:r>
            <a:r>
              <a:rPr lang="en-US" altLang="zh-CN" sz="1575" b="1" dirty="0">
                <a:latin typeface="华文楷体" panose="02010600040101010101" pitchFamily="2" charset="-122"/>
                <a:ea typeface="华文楷体" panose="02010600040101010101" pitchFamily="2" charset="-122"/>
              </a:rPr>
              <a:t>;     /*</a:t>
            </a:r>
            <a:r>
              <a:rPr lang="zh-CN" altLang="en-US" sz="1575" b="1" dirty="0">
                <a:latin typeface="华文楷体" panose="02010600040101010101" pitchFamily="2" charset="-122"/>
                <a:ea typeface="华文楷体" panose="02010600040101010101" pitchFamily="2" charset="-122"/>
              </a:rPr>
              <a:t>孩子表示法</a:t>
            </a:r>
            <a:r>
              <a:rPr lang="en-US" altLang="zh-CN" sz="1575" b="1" dirty="0">
                <a:latin typeface="华文楷体" panose="02010600040101010101" pitchFamily="2" charset="-122"/>
                <a:ea typeface="华文楷体" panose="02010600040101010101" pitchFamily="2" charset="-122"/>
              </a:rPr>
              <a:t>*/</a:t>
            </a:r>
            <a:endParaRPr lang="en-US" altLang="zh-CN" sz="1575" b="1" dirty="0">
              <a:latin typeface="华文楷体" panose="02010600040101010101" pitchFamily="2" charset="-122"/>
              <a:ea typeface="华文楷体" panose="02010600040101010101" pitchFamily="2" charset="-122"/>
            </a:endParaRPr>
          </a:p>
        </p:txBody>
      </p:sp>
      <p:cxnSp>
        <p:nvCxnSpPr>
          <p:cNvPr id="9" name="直接连接符 8"/>
          <p:cNvCxnSpPr/>
          <p:nvPr/>
        </p:nvCxnSpPr>
        <p:spPr>
          <a:xfrm flipH="1">
            <a:off x="4323542" y="2481914"/>
            <a:ext cx="7219" cy="1838162"/>
          </a:xfrm>
          <a:prstGeom prst="line">
            <a:avLst/>
          </a:prstGeom>
          <a:ln w="19050"/>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Effect transition="in" filter="fade">
                                      <p:cBhvr>
                                        <p:cTn id="13" dur="500"/>
                                        <p:tgtEl>
                                          <p:spTgt spid="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3" end="3"/>
                                            </p:txEl>
                                          </p:spTgt>
                                        </p:tgtEl>
                                        <p:attrNameLst>
                                          <p:attrName>style.visibility</p:attrName>
                                        </p:attrNameLst>
                                      </p:cBhvr>
                                      <p:to>
                                        <p:strVal val="visible"/>
                                      </p:to>
                                    </p:set>
                                    <p:animEffect transition="in" filter="fade">
                                      <p:cBhvr>
                                        <p:cTn id="16" dur="500"/>
                                        <p:tgtEl>
                                          <p:spTgt spid="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animEffect transition="in" filter="fade">
                                      <p:cBhvr>
                                        <p:cTn id="19" dur="500"/>
                                        <p:tgtEl>
                                          <p:spTgt spid="6">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5" end="5"/>
                                            </p:txEl>
                                          </p:spTgt>
                                        </p:tgtEl>
                                        <p:attrNameLst>
                                          <p:attrName>style.visibility</p:attrName>
                                        </p:attrNameLst>
                                      </p:cBhvr>
                                      <p:to>
                                        <p:strVal val="visible"/>
                                      </p:to>
                                    </p:set>
                                    <p:animEffect transition="in" filter="fade">
                                      <p:cBhvr>
                                        <p:cTn id="22" dur="500"/>
                                        <p:tgtEl>
                                          <p:spTgt spid="6">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animEffect transition="in" filter="fade">
                                      <p:cBhvr>
                                        <p:cTn id="25" dur="500"/>
                                        <p:tgtEl>
                                          <p:spTgt spid="6">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xEl>
                                              <p:pRg st="7" end="7"/>
                                            </p:txEl>
                                          </p:spTgt>
                                        </p:tgtEl>
                                        <p:attrNameLst>
                                          <p:attrName>style.visibility</p:attrName>
                                        </p:attrNameLst>
                                      </p:cBhvr>
                                      <p:to>
                                        <p:strVal val="visible"/>
                                      </p:to>
                                    </p:set>
                                    <p:animEffect transition="in" filter="fade">
                                      <p:cBhvr>
                                        <p:cTn id="28" dur="500"/>
                                        <p:tgtEl>
                                          <p:spTgt spid="6">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孩子表示法</a:t>
            </a:r>
            <a:endParaRPr lang="en-US" altLang="zh-CN" dirty="0"/>
          </a:p>
          <a:p>
            <a:pPr lvl="2"/>
            <a:r>
              <a:rPr lang="en-US" altLang="zh-CN" dirty="0"/>
              <a:t>r: 0;    n:7</a:t>
            </a:r>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7" name="表格 6"/>
          <p:cNvGraphicFramePr>
            <a:graphicFrameLocks noGrp="1"/>
          </p:cNvGraphicFramePr>
          <p:nvPr>
            <p:custDataLst>
              <p:tags r:id="rId1"/>
            </p:custDataLst>
          </p:nvPr>
        </p:nvGraphicFramePr>
        <p:xfrm>
          <a:off x="2730206" y="1808794"/>
          <a:ext cx="1557020" cy="2303145"/>
        </p:xfrm>
        <a:graphic>
          <a:graphicData uri="http://schemas.openxmlformats.org/drawingml/2006/table">
            <a:tbl>
              <a:tblPr firstRow="1" bandRow="1">
                <a:tableStyleId>{5C22544A-7EE6-4342-B048-85BDC9FD1C3A}</a:tableStyleId>
              </a:tblPr>
              <a:tblGrid>
                <a:gridCol w="416293"/>
                <a:gridCol w="462013"/>
                <a:gridCol w="678440"/>
              </a:tblGrid>
              <a:tr h="222885">
                <a:tc>
                  <a:txBody>
                    <a:bodyPr/>
                    <a:lstStyle/>
                    <a:p>
                      <a:pPr algn="ctr"/>
                      <a:r>
                        <a:rPr lang="zh-CN" altLang="en-US" sz="1000" b="1" dirty="0">
                          <a:solidFill>
                            <a:schemeClr val="tx1"/>
                          </a:solidFill>
                        </a:rPr>
                        <a:t>下标</a:t>
                      </a:r>
                      <a:endParaRPr lang="zh-CN" altLang="en-US" sz="1000" b="1" dirty="0">
                        <a:solidFill>
                          <a:schemeClr val="tx1"/>
                        </a:solidFill>
                      </a:endParaRPr>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1" dirty="0">
                          <a:solidFill>
                            <a:schemeClr val="tx1"/>
                          </a:solidFill>
                        </a:rPr>
                        <a:t>Data</a:t>
                      </a:r>
                      <a:endParaRPr lang="zh-CN" altLang="en-US" sz="10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r>
                        <a:rPr lang="en-US" altLang="zh-CN" sz="1000" b="1" dirty="0" err="1">
                          <a:solidFill>
                            <a:schemeClr val="tx1"/>
                          </a:solidFill>
                        </a:rPr>
                        <a:t>Firstchild</a:t>
                      </a:r>
                      <a:endParaRPr lang="zh-CN" altLang="en-US" sz="10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0</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A</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1</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B</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2</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C</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endParaRPr lang="zh-CN" altLang="en-US" sz="1500" b="1" dirty="0">
                        <a:solidFill>
                          <a:srgbClr val="FF0000"/>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3</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D</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rgbClr val="FF0000"/>
                          </a:solidFill>
                        </a:rPr>
                        <a:t>˄</a:t>
                      </a:r>
                      <a:endParaRPr lang="zh-CN" altLang="en-US" sz="1500" b="1" dirty="0">
                        <a:solidFill>
                          <a:srgbClr val="FF0000"/>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lstStyle/>
                    <a:p>
                      <a:pPr algn="ctr"/>
                      <a:r>
                        <a:rPr lang="en-US" altLang="zh-CN" sz="1500" b="1" dirty="0"/>
                        <a:t>4</a:t>
                      </a:r>
                      <a:endParaRPr lang="zh-CN" altLang="en-US"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dirty="0"/>
                        <a:t>E</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rgbClr val="FF0000"/>
                          </a:solidFill>
                        </a:rPr>
                        <a:t>˄</a:t>
                      </a:r>
                      <a:endParaRPr lang="zh-CN" altLang="en-US" sz="1500" b="1" dirty="0">
                        <a:solidFill>
                          <a:srgbClr val="FF0000"/>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p>
                      <a:pPr algn="ctr">
                        <a:buNone/>
                      </a:pPr>
                      <a:r>
                        <a:rPr lang="en-US" altLang="zh-CN" sz="1500" b="1" dirty="0"/>
                        <a:t>5</a:t>
                      </a:r>
                      <a:endParaRPr lang="en-US" altLang="zh-CN"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p>
                      <a:pPr algn="ctr">
                        <a:buNone/>
                      </a:pPr>
                      <a:r>
                        <a:rPr lang="en-US" altLang="zh-CN" sz="1500" b="1" dirty="0"/>
                        <a:t>F</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rgbClr val="FF0000"/>
                          </a:solidFill>
                          <a:sym typeface="+mn-ea"/>
                        </a:rPr>
                        <a:t>˄</a:t>
                      </a:r>
                      <a:endParaRPr lang="zh-CN" altLang="en-US" sz="1500" b="1" dirty="0">
                        <a:solidFill>
                          <a:srgbClr val="FF0000"/>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r h="297180">
                <a:tc>
                  <a:txBody>
                    <a:bodyPr/>
                    <a:p>
                      <a:pPr algn="ctr">
                        <a:buNone/>
                      </a:pPr>
                      <a:r>
                        <a:rPr lang="en-US" altLang="zh-CN" sz="1500" b="1" dirty="0"/>
                        <a:t>6</a:t>
                      </a:r>
                      <a:endParaRPr lang="en-US" altLang="zh-CN" sz="1500" b="1" dirty="0"/>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p>
                      <a:pPr algn="ctr">
                        <a:buNone/>
                      </a:pPr>
                      <a:r>
                        <a:rPr lang="en-US" altLang="zh-CN" sz="1500" b="1" dirty="0"/>
                        <a:t>G</a:t>
                      </a:r>
                      <a:endParaRPr lang="en-US" altLang="zh-CN" sz="1500" b="1" dirty="0"/>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rgbClr val="FF0000"/>
                          </a:solidFill>
                          <a:sym typeface="+mn-ea"/>
                        </a:rPr>
                        <a:t>˄</a:t>
                      </a:r>
                      <a:endParaRPr lang="zh-CN" altLang="en-US" sz="1500" b="1" dirty="0">
                        <a:solidFill>
                          <a:srgbClr val="FF0000"/>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graphicFrame>
        <p:nvGraphicFramePr>
          <p:cNvPr id="8" name="表格 7"/>
          <p:cNvGraphicFramePr>
            <a:graphicFrameLocks noGrp="1"/>
          </p:cNvGraphicFramePr>
          <p:nvPr/>
        </p:nvGraphicFramePr>
        <p:xfrm>
          <a:off x="4172672" y="2000840"/>
          <a:ext cx="1671024" cy="297180"/>
        </p:xfrm>
        <a:graphic>
          <a:graphicData uri="http://schemas.openxmlformats.org/drawingml/2006/table">
            <a:tbl>
              <a:tblPr firstRow="1" bandRow="1">
                <a:tableStyleId>{5C22544A-7EE6-4342-B048-85BDC9FD1C3A}</a:tableStyleId>
              </a:tblPr>
              <a:tblGrid>
                <a:gridCol w="324302"/>
                <a:gridCol w="313267"/>
                <a:gridCol w="203200"/>
                <a:gridCol w="304800"/>
                <a:gridCol w="296333"/>
                <a:gridCol w="229122"/>
              </a:tblGrid>
              <a:tr h="297180">
                <a:tc>
                  <a:txBody>
                    <a:bodyPr/>
                    <a:lstStyle/>
                    <a:p>
                      <a:pPr algn="ctr"/>
                      <a:endParaRPr lang="zh-CN" altLang="en-US" sz="1500" dirty="0">
                        <a:solidFill>
                          <a:schemeClr val="tx1"/>
                        </a:solidFill>
                      </a:endParaRPr>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baseline="0" dirty="0">
                          <a:solidFill>
                            <a:schemeClr val="tx1"/>
                          </a:solidFill>
                        </a:rPr>
                        <a:t>1</a:t>
                      </a:r>
                      <a:endParaRPr lang="zh-CN" altLang="en-US" sz="1500" b="1" baseline="-250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baseline="0" dirty="0">
                          <a:solidFill>
                            <a:schemeClr val="tx1"/>
                          </a:solidFill>
                        </a:rPr>
                        <a:t>2</a:t>
                      </a:r>
                      <a:endParaRPr lang="zh-CN" altLang="en-US" sz="1500" b="1" baseline="-250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chemeClr val="tx1"/>
                          </a:solidFill>
                        </a:rPr>
                        <a:t>˄</a:t>
                      </a: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cxnSp>
        <p:nvCxnSpPr>
          <p:cNvPr id="10" name="直接箭头连接符 9"/>
          <p:cNvCxnSpPr/>
          <p:nvPr/>
        </p:nvCxnSpPr>
        <p:spPr>
          <a:xfrm>
            <a:off x="4087984" y="2163868"/>
            <a:ext cx="39793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p:nvPr/>
        </p:nvCxnSpPr>
        <p:spPr>
          <a:xfrm>
            <a:off x="4912710" y="2145256"/>
            <a:ext cx="39793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2" name="表格 11"/>
          <p:cNvGraphicFramePr>
            <a:graphicFrameLocks noGrp="1"/>
          </p:cNvGraphicFramePr>
          <p:nvPr/>
        </p:nvGraphicFramePr>
        <p:xfrm>
          <a:off x="4172672" y="2368303"/>
          <a:ext cx="1671024" cy="297180"/>
        </p:xfrm>
        <a:graphic>
          <a:graphicData uri="http://schemas.openxmlformats.org/drawingml/2006/table">
            <a:tbl>
              <a:tblPr firstRow="1" bandRow="1">
                <a:tableStyleId>{5C22544A-7EE6-4342-B048-85BDC9FD1C3A}</a:tableStyleId>
              </a:tblPr>
              <a:tblGrid>
                <a:gridCol w="324302"/>
                <a:gridCol w="313267"/>
                <a:gridCol w="203200"/>
                <a:gridCol w="304800"/>
                <a:gridCol w="296333"/>
                <a:gridCol w="229122"/>
              </a:tblGrid>
              <a:tr h="297180">
                <a:tc>
                  <a:txBody>
                    <a:bodyPr/>
                    <a:lstStyle/>
                    <a:p>
                      <a:pPr algn="ctr"/>
                      <a:endParaRPr lang="zh-CN" altLang="en-US" sz="1500" dirty="0">
                        <a:solidFill>
                          <a:schemeClr val="tx1"/>
                        </a:solidFill>
                      </a:endParaRPr>
                    </a:p>
                  </a:txBody>
                  <a:tcPr marL="68580" marR="68580" marT="34290" marB="34290">
                    <a:lnL w="1270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baseline="0" dirty="0">
                          <a:solidFill>
                            <a:schemeClr val="tx1"/>
                          </a:solidFill>
                        </a:rPr>
                        <a:t>3</a:t>
                      </a:r>
                      <a:endParaRPr lang="zh-CN" altLang="en-US" sz="1500" b="1" baseline="-250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500" b="1" baseline="0" dirty="0">
                          <a:solidFill>
                            <a:schemeClr val="tx1"/>
                          </a:solidFill>
                        </a:rPr>
                        <a:t>4</a:t>
                      </a:r>
                      <a:endParaRPr lang="zh-CN" altLang="en-US" sz="1500" b="1" baseline="-25000"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cxnSp>
        <p:nvCxnSpPr>
          <p:cNvPr id="13" name="直接箭头连接符 12"/>
          <p:cNvCxnSpPr/>
          <p:nvPr/>
        </p:nvCxnSpPr>
        <p:spPr>
          <a:xfrm>
            <a:off x="4087984" y="2524112"/>
            <a:ext cx="397934" cy="0"/>
          </a:xfrm>
          <a:prstGeom prst="straightConnector1">
            <a:avLst/>
          </a:prstGeom>
          <a:ln w="19050">
            <a:solidFill>
              <a:srgbClr val="00194C"/>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p:nvPr/>
        </p:nvCxnSpPr>
        <p:spPr>
          <a:xfrm>
            <a:off x="4912710" y="2512718"/>
            <a:ext cx="39793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 name="对象 3"/>
          <p:cNvGraphicFramePr/>
          <p:nvPr/>
        </p:nvGraphicFramePr>
        <p:xfrm>
          <a:off x="280670" y="1808480"/>
          <a:ext cx="2139315" cy="1640840"/>
        </p:xfrm>
        <a:graphic>
          <a:graphicData uri="http://schemas.openxmlformats.org/presentationml/2006/ole">
            <mc:AlternateContent xmlns:mc="http://schemas.openxmlformats.org/markup-compatibility/2006">
              <mc:Choice xmlns:v="urn:schemas-microsoft-com:vml" Requires="v">
                <p:oleObj spid="_x0000_s5" name="" r:id="rId2" imgW="2981325" imgH="2238375" progId="Paint.Picture">
                  <p:embed/>
                </p:oleObj>
              </mc:Choice>
              <mc:Fallback>
                <p:oleObj name="" r:id="rId2" imgW="2981325" imgH="2238375" progId="Paint.Picture">
                  <p:embed/>
                  <p:pic>
                    <p:nvPicPr>
                      <p:cNvPr id="0" name="图片 4"/>
                      <p:cNvPicPr/>
                      <p:nvPr/>
                    </p:nvPicPr>
                    <p:blipFill>
                      <a:blip r:embed="rId3"/>
                      <a:stretch>
                        <a:fillRect/>
                      </a:stretch>
                    </p:blipFill>
                    <p:spPr>
                      <a:xfrm>
                        <a:off x="280670" y="1808480"/>
                        <a:ext cx="2139315" cy="1640840"/>
                      </a:xfrm>
                      <a:prstGeom prst="rect">
                        <a:avLst/>
                      </a:prstGeom>
                    </p:spPr>
                  </p:pic>
                </p:oleObj>
              </mc:Fallback>
            </mc:AlternateContent>
          </a:graphicData>
        </a:graphic>
      </p:graphicFrame>
      <p:cxnSp>
        <p:nvCxnSpPr>
          <p:cNvPr id="6" name="直接箭头连接符 5"/>
          <p:cNvCxnSpPr/>
          <p:nvPr/>
        </p:nvCxnSpPr>
        <p:spPr>
          <a:xfrm>
            <a:off x="5754085" y="2517163"/>
            <a:ext cx="39793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6" name="表格 15"/>
          <p:cNvGraphicFramePr>
            <a:graphicFrameLocks noGrp="1"/>
          </p:cNvGraphicFramePr>
          <p:nvPr/>
        </p:nvGraphicFramePr>
        <p:xfrm>
          <a:off x="6152602" y="2375490"/>
          <a:ext cx="1671024" cy="297180"/>
        </p:xfrm>
        <a:graphic>
          <a:graphicData uri="http://schemas.openxmlformats.org/drawingml/2006/table">
            <a:tbl>
              <a:tblPr firstRow="1" bandRow="1">
                <a:tableStyleId>{5C22544A-7EE6-4342-B048-85BDC9FD1C3A}</a:tableStyleId>
              </a:tblPr>
              <a:tblGrid>
                <a:gridCol w="295910"/>
                <a:gridCol w="229545"/>
              </a:tblGrid>
              <a:tr h="297180">
                <a:tc>
                  <a:txBody>
                    <a:bodyPr/>
                    <a:p>
                      <a:pPr algn="ctr">
                        <a:buClrTx/>
                        <a:buSzTx/>
                        <a:buFontTx/>
                      </a:pPr>
                      <a:r>
                        <a:rPr lang="en-US" altLang="zh-CN" sz="1500" b="1" dirty="0">
                          <a:solidFill>
                            <a:schemeClr val="tx1"/>
                          </a:solidFill>
                        </a:rPr>
                        <a:t>5</a:t>
                      </a:r>
                      <a:endParaRPr lang="en-US" altLang="zh-CN"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chemeClr val="tx1"/>
                          </a:solidFill>
                        </a:rPr>
                        <a:t>˄</a:t>
                      </a: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cxnSp>
        <p:nvCxnSpPr>
          <p:cNvPr id="17" name="直接箭头连接符 16"/>
          <p:cNvCxnSpPr/>
          <p:nvPr/>
        </p:nvCxnSpPr>
        <p:spPr>
          <a:xfrm>
            <a:off x="4090385" y="2853713"/>
            <a:ext cx="39793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8" name="表格 17"/>
          <p:cNvGraphicFramePr>
            <a:graphicFrameLocks noGrp="1"/>
          </p:cNvGraphicFramePr>
          <p:nvPr/>
        </p:nvGraphicFramePr>
        <p:xfrm>
          <a:off x="4488902" y="2712040"/>
          <a:ext cx="1671024" cy="297180"/>
        </p:xfrm>
        <a:graphic>
          <a:graphicData uri="http://schemas.openxmlformats.org/drawingml/2006/table">
            <a:tbl>
              <a:tblPr firstRow="1" bandRow="1">
                <a:tableStyleId>{5C22544A-7EE6-4342-B048-85BDC9FD1C3A}</a:tableStyleId>
              </a:tblPr>
              <a:tblGrid>
                <a:gridCol w="295910"/>
                <a:gridCol w="229545"/>
              </a:tblGrid>
              <a:tr h="297180">
                <a:tc>
                  <a:txBody>
                    <a:bodyPr/>
                    <a:p>
                      <a:pPr algn="ctr">
                        <a:buClrTx/>
                        <a:buSzTx/>
                        <a:buFontTx/>
                      </a:pPr>
                      <a:r>
                        <a:rPr lang="en-US" altLang="zh-CN" sz="1500" b="1" dirty="0">
                          <a:solidFill>
                            <a:schemeClr val="tx1"/>
                          </a:solidFill>
                        </a:rPr>
                        <a:t>6</a:t>
                      </a:r>
                      <a:endParaRPr lang="en-US" altLang="zh-CN"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500" b="1" dirty="0">
                          <a:solidFill>
                            <a:schemeClr val="tx1"/>
                          </a:solidFill>
                        </a:rPr>
                        <a:t>˄</a:t>
                      </a:r>
                      <a:endParaRPr lang="zh-CN" altLang="en-US" sz="1500" b="1" dirty="0">
                        <a:solidFill>
                          <a:schemeClr val="tx1"/>
                        </a:solidFill>
                      </a:endParaRPr>
                    </a:p>
                  </a:txBody>
                  <a:tcPr marL="68580" marR="68580" marT="34290" marB="3429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3. </a:t>
            </a:r>
            <a:r>
              <a:rPr lang="zh-CN" altLang="en-US" dirty="0"/>
              <a:t>孩子</a:t>
            </a:r>
            <a:r>
              <a:rPr lang="en-US" altLang="zh-CN" dirty="0"/>
              <a:t>-</a:t>
            </a:r>
            <a:r>
              <a:rPr lang="zh-CN" altLang="en-US" dirty="0"/>
              <a:t>兄弟表示法</a:t>
            </a:r>
            <a:endParaRPr lang="en-US" altLang="zh-CN" dirty="0"/>
          </a:p>
          <a:p>
            <a:pPr lvl="2"/>
            <a:r>
              <a:rPr lang="zh-CN" altLang="en-US" dirty="0"/>
              <a:t>链表中结点的两个链域分别指向该结点的第一个孩子和下一个兄弟，分别命名为</a:t>
            </a:r>
            <a:r>
              <a:rPr lang="en-US" altLang="zh-CN" dirty="0" err="1"/>
              <a:t>firstchild</a:t>
            </a:r>
            <a:r>
              <a:rPr lang="zh-CN" altLang="en-US" dirty="0"/>
              <a:t>域和</a:t>
            </a:r>
            <a:r>
              <a:rPr lang="en-US" altLang="zh-CN" dirty="0" err="1"/>
              <a:t>nextsibling</a:t>
            </a:r>
            <a:r>
              <a:rPr lang="zh-CN" altLang="en-US" dirty="0"/>
              <a:t>域 。</a:t>
            </a:r>
            <a:endParaRPr lang="zh-CN" altLang="en-US" dirty="0"/>
          </a:p>
          <a:p>
            <a:pPr lvl="2"/>
            <a:r>
              <a:rPr lang="en-US" altLang="zh-CN" dirty="0" err="1"/>
              <a:t>typedef</a:t>
            </a:r>
            <a:r>
              <a:rPr lang="en-US" altLang="zh-CN" dirty="0"/>
              <a:t>  </a:t>
            </a:r>
            <a:r>
              <a:rPr lang="en-US" altLang="zh-CN" dirty="0" err="1"/>
              <a:t>struct</a:t>
            </a:r>
            <a:r>
              <a:rPr lang="en-US" altLang="zh-CN" dirty="0"/>
              <a:t> </a:t>
            </a:r>
            <a:r>
              <a:rPr lang="en-US" altLang="zh-CN" dirty="0" err="1"/>
              <a:t>CSNode</a:t>
            </a:r>
            <a:r>
              <a:rPr lang="en-US" altLang="zh-CN" dirty="0"/>
              <a:t> {</a:t>
            </a:r>
            <a:endParaRPr lang="en-US" altLang="zh-CN" dirty="0"/>
          </a:p>
          <a:p>
            <a:pPr lvl="2"/>
            <a:r>
              <a:rPr lang="en-US" altLang="zh-CN" dirty="0"/>
              <a:t>     </a:t>
            </a:r>
            <a:r>
              <a:rPr lang="en-US" altLang="zh-CN" dirty="0" err="1"/>
              <a:t>ElemType</a:t>
            </a:r>
            <a:r>
              <a:rPr lang="en-US" altLang="zh-CN" dirty="0"/>
              <a:t>   data;</a:t>
            </a:r>
            <a:endParaRPr lang="en-US" altLang="zh-CN" dirty="0"/>
          </a:p>
          <a:p>
            <a:pPr lvl="2"/>
            <a:r>
              <a:rPr lang="en-US" altLang="zh-CN" dirty="0"/>
              <a:t>     </a:t>
            </a:r>
            <a:r>
              <a:rPr lang="en-US" altLang="zh-CN" dirty="0" err="1"/>
              <a:t>struct</a:t>
            </a:r>
            <a:r>
              <a:rPr lang="en-US" altLang="zh-CN" dirty="0"/>
              <a:t>  </a:t>
            </a:r>
            <a:r>
              <a:rPr lang="en-US" altLang="zh-CN" dirty="0" err="1"/>
              <a:t>CSNode</a:t>
            </a:r>
            <a:r>
              <a:rPr lang="en-US" altLang="zh-CN" dirty="0"/>
              <a:t>  *</a:t>
            </a:r>
            <a:r>
              <a:rPr lang="en-US" altLang="zh-CN" dirty="0" err="1"/>
              <a:t>firstchild</a:t>
            </a:r>
            <a:r>
              <a:rPr lang="en-US" altLang="zh-CN" dirty="0"/>
              <a:t>, *</a:t>
            </a:r>
            <a:r>
              <a:rPr lang="en-US" altLang="zh-CN" dirty="0" err="1"/>
              <a:t>nextsibling</a:t>
            </a:r>
            <a:r>
              <a:rPr lang="en-US" altLang="zh-CN" dirty="0"/>
              <a:t>;</a:t>
            </a:r>
            <a:endParaRPr lang="en-US" altLang="zh-CN" dirty="0"/>
          </a:p>
          <a:p>
            <a:pPr lvl="2"/>
            <a:r>
              <a:rPr lang="en-US" altLang="zh-CN" dirty="0"/>
              <a:t>}</a:t>
            </a:r>
            <a:r>
              <a:rPr lang="en-US" altLang="zh-CN" dirty="0" err="1"/>
              <a:t>CSNode</a:t>
            </a:r>
            <a:r>
              <a:rPr lang="en-US" altLang="zh-CN" dirty="0"/>
              <a:t>, *</a:t>
            </a:r>
            <a:r>
              <a:rPr lang="en-US" altLang="zh-CN" dirty="0" err="1"/>
              <a:t>CSTree</a:t>
            </a:r>
            <a:r>
              <a:rPr lang="en-US" altLang="zh-CN" dirty="0"/>
              <a:t>; </a:t>
            </a:r>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en-US" altLang="zh-CN" dirty="0"/>
              <a:t>1.给定一棵树，你能画出它的孩子兄弟表示法吗？</a:t>
            </a:r>
            <a:endParaRPr lang="en-US" altLang="zh-CN" dirty="0"/>
          </a:p>
          <a:p>
            <a:pPr lvl="2"/>
            <a:r>
              <a:rPr lang="en-US" altLang="zh-CN" dirty="0"/>
              <a:t>2.给定一个森林，你能转换成一棵二叉树吗？</a:t>
            </a:r>
            <a:endParaRPr lang="en-US" altLang="zh-CN" dirty="0"/>
          </a:p>
          <a:p>
            <a:pPr lvl="2"/>
            <a:r>
              <a:rPr lang="en-US" altLang="zh-CN" dirty="0"/>
              <a:t>3. 请尝试把一棵二叉树还原成森林。</a:t>
            </a:r>
            <a:endParaRPr lang="en-US" altLang="zh-CN" dirty="0"/>
          </a:p>
          <a:p>
            <a:pPr lvl="2"/>
            <a:r>
              <a:rPr lang="en-US" altLang="zh-CN" dirty="0"/>
              <a:t>4. 树的遍历算法是什么？</a:t>
            </a:r>
            <a:endParaRPr lang="en-US" altLang="zh-CN" dirty="0"/>
          </a:p>
          <a:p>
            <a:pPr lvl="2"/>
            <a:r>
              <a:rPr lang="en-US" altLang="zh-CN" dirty="0"/>
              <a:t>5. 森林的遍历算法是什么？</a:t>
            </a:r>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3. </a:t>
            </a:r>
            <a:r>
              <a:rPr lang="zh-CN" altLang="en-US" dirty="0"/>
              <a:t>孩子</a:t>
            </a:r>
            <a:r>
              <a:rPr lang="en-US" altLang="zh-CN" dirty="0"/>
              <a:t>-</a:t>
            </a:r>
            <a:r>
              <a:rPr lang="zh-CN" altLang="en-US" dirty="0"/>
              <a:t>兄弟表示法</a:t>
            </a:r>
            <a:endParaRPr lang="en-US" altLang="zh-CN" dirty="0"/>
          </a:p>
          <a:p>
            <a:pPr lvl="2"/>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14" name="Object 5"/>
          <p:cNvGraphicFramePr>
            <a:graphicFrameLocks noChangeAspect="1"/>
          </p:cNvGraphicFramePr>
          <p:nvPr/>
        </p:nvGraphicFramePr>
        <p:xfrm>
          <a:off x="223520" y="1263650"/>
          <a:ext cx="6620510" cy="3164205"/>
        </p:xfrm>
        <a:graphic>
          <a:graphicData uri="http://schemas.openxmlformats.org/presentationml/2006/ole">
            <mc:AlternateContent xmlns:mc="http://schemas.openxmlformats.org/markup-compatibility/2006">
              <mc:Choice xmlns:v="urn:schemas-microsoft-com:vml" Requires="v">
                <p:oleObj spid="_x0000_s15" name="" r:id="rId1" imgW="5593080" imgH="2674620" progId="Visio.Drawing.4">
                  <p:embed/>
                </p:oleObj>
              </mc:Choice>
              <mc:Fallback>
                <p:oleObj name="" r:id="rId1" imgW="5593080" imgH="2674620" progId="Visio.Drawing.4">
                  <p:embed/>
                  <p:pic>
                    <p:nvPicPr>
                      <p:cNvPr id="0" name="图片 3086"/>
                      <p:cNvPicPr/>
                      <p:nvPr/>
                    </p:nvPicPr>
                    <p:blipFill>
                      <a:blip r:embed="rId2"/>
                      <a:stretch>
                        <a:fillRect/>
                      </a:stretch>
                    </p:blipFill>
                    <p:spPr>
                      <a:xfrm>
                        <a:off x="223520" y="1263650"/>
                        <a:ext cx="6620510" cy="3164205"/>
                      </a:xfrm>
                      <a:prstGeom prst="rect">
                        <a:avLst/>
                      </a:prstGeom>
                      <a:noFill/>
                      <a:ln w="38100">
                        <a:noFill/>
                        <a:miter/>
                      </a:ln>
                    </p:spPr>
                  </p:pic>
                </p:oleObj>
              </mc:Fallback>
            </mc:AlternateContent>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6.4.2 </a:t>
            </a:r>
            <a:r>
              <a:rPr lang="zh-CN" altLang="en-US" dirty="0"/>
              <a:t>森林与二叉树的转换</a:t>
            </a:r>
            <a:endParaRPr lang="en-US" altLang="zh-CN" dirty="0"/>
          </a:p>
          <a:p>
            <a:r>
              <a:rPr lang="en-US" altLang="zh-CN" dirty="0"/>
              <a:t>1. </a:t>
            </a:r>
            <a:r>
              <a:rPr lang="zh-CN" altLang="en-US" dirty="0"/>
              <a:t>树转换为二叉树</a:t>
            </a:r>
            <a:endParaRPr lang="en-US" altLang="zh-CN" dirty="0"/>
          </a:p>
          <a:p>
            <a:pPr marL="0" lvl="2"/>
            <a:r>
              <a:rPr lang="zh-CN" altLang="en-US" dirty="0"/>
              <a:t>    </a:t>
            </a:r>
            <a:r>
              <a:rPr lang="en-US" altLang="zh-CN" dirty="0"/>
              <a:t>(1)</a:t>
            </a:r>
            <a:r>
              <a:rPr lang="zh-CN" altLang="en-US" dirty="0"/>
              <a:t>树中所有相邻兄弟之间加一条连线。 </a:t>
            </a:r>
            <a:endParaRPr lang="zh-CN" altLang="en-US" dirty="0"/>
          </a:p>
          <a:p>
            <a:pPr marL="0" lvl="2"/>
            <a:r>
              <a:rPr lang="zh-CN" altLang="en-US" dirty="0"/>
              <a:t>    </a:t>
            </a:r>
            <a:r>
              <a:rPr lang="en-US" altLang="zh-CN" dirty="0"/>
              <a:t>(2)</a:t>
            </a:r>
            <a:r>
              <a:rPr lang="zh-CN" altLang="en-US" dirty="0"/>
              <a:t>对树中的每个结点，只保留其与第一个孩子结点之间的连线，删去其与其它孩子结点之间的连线。  </a:t>
            </a:r>
            <a:endParaRPr lang="zh-CN" altLang="en-US" dirty="0"/>
          </a:p>
          <a:p>
            <a:pPr marL="0" lvl="2"/>
            <a:r>
              <a:rPr lang="zh-CN" altLang="en-US" dirty="0"/>
              <a:t>    </a:t>
            </a:r>
            <a:r>
              <a:rPr lang="en-US" altLang="zh-CN" dirty="0"/>
              <a:t>(3)</a:t>
            </a:r>
            <a:r>
              <a:rPr lang="zh-CN" altLang="en-US" dirty="0"/>
              <a:t>以树的根结点为轴心，将整棵树顺时针旋转一定的角度，使之结构层次分明。 </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6.4.2 </a:t>
            </a:r>
            <a:r>
              <a:rPr lang="zh-CN" altLang="en-US" dirty="0"/>
              <a:t>森林与二叉树的转换</a:t>
            </a:r>
            <a:endParaRPr lang="en-US" altLang="zh-CN" dirty="0"/>
          </a:p>
          <a:p>
            <a:pPr marL="457200" indent="-457200">
              <a:buAutoNum type="arabicPeriod"/>
            </a:pPr>
            <a:r>
              <a:rPr lang="zh-CN" altLang="en-US" dirty="0"/>
              <a:t>树转换为二叉树</a:t>
            </a:r>
            <a:endParaRPr lang="en-US" altLang="zh-CN"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4" name="Object 5"/>
          <p:cNvGraphicFramePr>
            <a:graphicFrameLocks noChangeAspect="1"/>
          </p:cNvGraphicFramePr>
          <p:nvPr/>
        </p:nvGraphicFramePr>
        <p:xfrm>
          <a:off x="1181500" y="1682617"/>
          <a:ext cx="6752122" cy="2744391"/>
        </p:xfrm>
        <a:graphic>
          <a:graphicData uri="http://schemas.openxmlformats.org/presentationml/2006/ole">
            <mc:AlternateContent xmlns:mc="http://schemas.openxmlformats.org/markup-compatibility/2006">
              <mc:Choice xmlns:v="urn:schemas-microsoft-com:vml" Requires="v">
                <p:oleObj spid="_x0000_s23584" name="" r:id="rId1" imgW="3764280" imgH="1508760" progId="Visio.Drawing.4">
                  <p:embed/>
                </p:oleObj>
              </mc:Choice>
              <mc:Fallback>
                <p:oleObj name="" r:id="rId1" imgW="3764280" imgH="150876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1500" y="1682617"/>
                        <a:ext cx="6752122" cy="2744391"/>
                      </a:xfrm>
                      <a:prstGeom prst="rect">
                        <a:avLst/>
                      </a:prstGeom>
                      <a:noFill/>
                      <a:ln>
                        <a:noFill/>
                      </a:ln>
                      <a:effectLst/>
                    </p:spPr>
                  </p:pic>
                </p:oleObj>
              </mc:Fallback>
            </mc:AlternateContent>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6.4.2 </a:t>
            </a:r>
            <a:r>
              <a:rPr lang="zh-CN" altLang="en-US" dirty="0"/>
              <a:t>森林与二叉树的转换</a:t>
            </a:r>
            <a:endParaRPr lang="en-US" altLang="zh-CN" dirty="0"/>
          </a:p>
          <a:p>
            <a:r>
              <a:rPr lang="en-US" altLang="zh-CN" dirty="0"/>
              <a:t>2. </a:t>
            </a:r>
            <a:r>
              <a:rPr lang="zh-CN" altLang="en-US" dirty="0"/>
              <a:t>森林转换为二叉树</a:t>
            </a:r>
            <a:endParaRPr lang="en-US" altLang="zh-CN" dirty="0"/>
          </a:p>
          <a:p>
            <a:pPr lvl="2"/>
            <a:r>
              <a:rPr lang="zh-CN" altLang="en-US" sz="2200" dirty="0"/>
              <a:t>（</a:t>
            </a:r>
            <a:r>
              <a:rPr lang="en-US" altLang="zh-CN" sz="2200" dirty="0"/>
              <a:t>1</a:t>
            </a:r>
            <a:r>
              <a:rPr lang="zh-CN" altLang="en-US" sz="2200" dirty="0"/>
              <a:t>）将森林中的每棵树转换成相应的二叉树。 </a:t>
            </a:r>
            <a:endParaRPr lang="zh-CN" altLang="en-US" sz="2200" dirty="0"/>
          </a:p>
          <a:p>
            <a:pPr lvl="2"/>
            <a:r>
              <a:rPr lang="zh-CN" altLang="en-US" sz="2200" dirty="0"/>
              <a:t>（</a:t>
            </a:r>
            <a:r>
              <a:rPr lang="en-US" altLang="zh-CN" sz="2200" dirty="0"/>
              <a:t>2</a:t>
            </a:r>
            <a:r>
              <a:rPr lang="zh-CN" altLang="en-US" sz="2200" dirty="0"/>
              <a:t>）第一棵二叉树不动，从第二棵二叉树开始，依次把后一棵二叉树的根结点作为前一棵二叉树根结点的右孩子。</a:t>
            </a:r>
            <a:endParaRPr lang="en-US" altLang="zh-CN" sz="2200" dirty="0"/>
          </a:p>
          <a:p>
            <a:pPr lvl="2"/>
            <a:r>
              <a:rPr lang="zh-CN" altLang="en-US" sz="2200" dirty="0"/>
              <a:t>当所有二叉树连在一起后，所得到的二叉树就是由森林转换得到的二叉树。</a:t>
            </a:r>
            <a:r>
              <a:rPr lang="zh-CN" altLang="en-US" dirty="0"/>
              <a:t> </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森林转换为二叉树</a:t>
            </a:r>
            <a:endParaRPr lang="en-US" altLang="zh-CN" dirty="0"/>
          </a:p>
          <a:p>
            <a:pPr lvl="2"/>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88067" name="Object 5"/>
          <p:cNvGraphicFramePr>
            <a:graphicFrameLocks noChangeAspect="1"/>
          </p:cNvGraphicFramePr>
          <p:nvPr/>
        </p:nvGraphicFramePr>
        <p:xfrm>
          <a:off x="438150" y="1036955"/>
          <a:ext cx="5906135" cy="3881120"/>
        </p:xfrm>
        <a:graphic>
          <a:graphicData uri="http://schemas.openxmlformats.org/presentationml/2006/ole">
            <mc:AlternateContent xmlns:mc="http://schemas.openxmlformats.org/markup-compatibility/2006">
              <mc:Choice xmlns:v="urn:schemas-microsoft-com:vml" Requires="v">
                <p:oleObj spid="_x0000_s3089" name="" r:id="rId1" imgW="3931920" imgH="2583180" progId="Visio.Drawing.4">
                  <p:embed/>
                </p:oleObj>
              </mc:Choice>
              <mc:Fallback>
                <p:oleObj name="" r:id="rId1" imgW="3931920" imgH="2583180" progId="Visio.Drawing.4">
                  <p:embed/>
                  <p:pic>
                    <p:nvPicPr>
                      <p:cNvPr id="0" name="图片 3088"/>
                      <p:cNvPicPr/>
                      <p:nvPr/>
                    </p:nvPicPr>
                    <p:blipFill>
                      <a:blip r:embed="rId2"/>
                      <a:stretch>
                        <a:fillRect/>
                      </a:stretch>
                    </p:blipFill>
                    <p:spPr>
                      <a:xfrm>
                        <a:off x="438150" y="1036955"/>
                        <a:ext cx="5906135" cy="3881120"/>
                      </a:xfrm>
                      <a:prstGeom prst="rect">
                        <a:avLst/>
                      </a:prstGeom>
                      <a:noFill/>
                      <a:ln w="38100">
                        <a:noFill/>
                        <a:miter/>
                      </a:ln>
                    </p:spPr>
                  </p:pic>
                </p:oleObj>
              </mc:Fallback>
            </mc:AlternateContent>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30000"/>
              </a:lnSpc>
              <a:spcBef>
                <a:spcPct val="50000"/>
              </a:spcBef>
            </a:pPr>
            <a:r>
              <a:rPr lang="en-US" altLang="zh-CN" dirty="0"/>
              <a:t>3. </a:t>
            </a:r>
            <a:r>
              <a:rPr lang="zh-CN" altLang="en-US" dirty="0"/>
              <a:t>二叉树还原为树或森林</a:t>
            </a:r>
            <a:endParaRPr lang="en-US" altLang="zh-CN" dirty="0"/>
          </a:p>
          <a:p>
            <a:pPr lvl="2"/>
            <a:r>
              <a:rPr lang="zh-CN" altLang="en-US" dirty="0"/>
              <a:t>（</a:t>
            </a:r>
            <a:r>
              <a:rPr lang="en-US" altLang="zh-CN" dirty="0"/>
              <a:t>1</a:t>
            </a:r>
            <a:r>
              <a:rPr lang="zh-CN" altLang="en-US" dirty="0"/>
              <a:t>）若某结点是其双亲的左孩子，则把该结点的右孩子、右孩子的右孩子</a:t>
            </a:r>
            <a:r>
              <a:rPr lang="en-US" altLang="zh-CN" dirty="0"/>
              <a:t>……</a:t>
            </a:r>
            <a:r>
              <a:rPr lang="zh-CN" altLang="en-US" dirty="0"/>
              <a:t>都与该结点的双亲结点用线连起来。 </a:t>
            </a:r>
            <a:endParaRPr lang="zh-CN" altLang="en-US" dirty="0"/>
          </a:p>
          <a:p>
            <a:pPr lvl="2"/>
            <a:r>
              <a:rPr lang="zh-CN" altLang="en-US" dirty="0"/>
              <a:t>（</a:t>
            </a:r>
            <a:r>
              <a:rPr lang="en-US" altLang="zh-CN" dirty="0"/>
              <a:t>2</a:t>
            </a:r>
            <a:r>
              <a:rPr lang="zh-CN" altLang="en-US" dirty="0"/>
              <a:t>）删掉原二叉树中所有双亲结点与右孩子结点的连线。 </a:t>
            </a:r>
            <a:endParaRPr lang="zh-CN" altLang="en-US" dirty="0"/>
          </a:p>
          <a:p>
            <a:pPr lvl="2"/>
            <a:r>
              <a:rPr lang="zh-CN" altLang="en-US" dirty="0"/>
              <a:t>（</a:t>
            </a:r>
            <a:r>
              <a:rPr lang="en-US" altLang="zh-CN" dirty="0"/>
              <a:t>3</a:t>
            </a:r>
            <a:r>
              <a:rPr lang="zh-CN" altLang="en-US" dirty="0"/>
              <a:t>）整理由（</a:t>
            </a:r>
            <a:r>
              <a:rPr lang="en-US" altLang="zh-CN" dirty="0"/>
              <a:t>1</a:t>
            </a:r>
            <a:r>
              <a:rPr lang="zh-CN" altLang="en-US" dirty="0"/>
              <a:t>）、（</a:t>
            </a:r>
            <a:r>
              <a:rPr lang="en-US" altLang="zh-CN" dirty="0"/>
              <a:t>2</a:t>
            </a:r>
            <a:r>
              <a:rPr lang="zh-CN" altLang="en-US" dirty="0"/>
              <a:t>）两步所得到的树或森林，使之结构层次分明。 </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3. </a:t>
            </a:r>
            <a:r>
              <a:rPr lang="zh-CN" altLang="en-US" dirty="0"/>
              <a:t>二叉树还原为树或森林</a:t>
            </a:r>
            <a:endParaRPr lang="en-US" altLang="zh-CN" dirty="0"/>
          </a:p>
          <a:p>
            <a:pPr marL="0" lvl="2"/>
            <a:r>
              <a:rPr lang="zh-CN" altLang="en-US" dirty="0"/>
              <a:t>    </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4" name="Object 5"/>
          <p:cNvGraphicFramePr>
            <a:graphicFrameLocks noChangeAspect="1"/>
          </p:cNvGraphicFramePr>
          <p:nvPr/>
        </p:nvGraphicFramePr>
        <p:xfrm>
          <a:off x="1145377" y="1201353"/>
          <a:ext cx="6858000" cy="2481263"/>
        </p:xfrm>
        <a:graphic>
          <a:graphicData uri="http://schemas.openxmlformats.org/presentationml/2006/ole">
            <mc:AlternateContent xmlns:mc="http://schemas.openxmlformats.org/markup-compatibility/2006">
              <mc:Choice xmlns:v="urn:schemas-microsoft-com:vml" Requires="v">
                <p:oleObj spid="_x0000_s26655" name="" r:id="rId1" imgW="5158740" imgH="1866900" progId="Visio.Drawing.4">
                  <p:embed/>
                </p:oleObj>
              </mc:Choice>
              <mc:Fallback>
                <p:oleObj name="" r:id="rId1" imgW="5158740" imgH="186690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5377" y="1201353"/>
                        <a:ext cx="6858000" cy="2481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6.4.3 </a:t>
            </a:r>
            <a:r>
              <a:rPr lang="zh-CN" altLang="en-US" dirty="0"/>
              <a:t>树的遍历</a:t>
            </a:r>
            <a:endParaRPr lang="en-US" altLang="zh-CN" dirty="0"/>
          </a:p>
          <a:p>
            <a:pPr>
              <a:lnSpc>
                <a:spcPts val="2800"/>
              </a:lnSpc>
            </a:pPr>
            <a:r>
              <a:rPr lang="en-US" altLang="zh-CN" dirty="0"/>
              <a:t> 1. </a:t>
            </a:r>
            <a:r>
              <a:rPr lang="zh-CN" altLang="en-US" dirty="0"/>
              <a:t>树的遍历</a:t>
            </a:r>
            <a:endParaRPr lang="en-US" altLang="zh-CN" dirty="0"/>
          </a:p>
          <a:p>
            <a:pPr marL="478155" lvl="2" indent="-342900">
              <a:lnSpc>
                <a:spcPts val="2800"/>
              </a:lnSpc>
              <a:buFont typeface="Wingdings" panose="05000000000000000000" pitchFamily="2" charset="2"/>
              <a:buChar char="Ø"/>
            </a:pPr>
            <a:r>
              <a:rPr lang="zh-CN" altLang="en-US" dirty="0"/>
              <a:t>先根遍历</a:t>
            </a:r>
            <a:endParaRPr lang="zh-CN" altLang="en-US" dirty="0"/>
          </a:p>
          <a:p>
            <a:pPr lvl="2">
              <a:lnSpc>
                <a:spcPts val="2800"/>
              </a:lnSpc>
            </a:pPr>
            <a:r>
              <a:rPr lang="zh-CN" altLang="en-US" dirty="0"/>
              <a:t>     若树非空，则： </a:t>
            </a:r>
            <a:endParaRPr lang="zh-CN" altLang="en-US" dirty="0"/>
          </a:p>
          <a:p>
            <a:pPr lvl="2">
              <a:lnSpc>
                <a:spcPts val="2800"/>
              </a:lnSpc>
            </a:pPr>
            <a:r>
              <a:rPr lang="zh-CN" altLang="en-US" sz="1800" dirty="0"/>
              <a:t>       </a:t>
            </a:r>
            <a:r>
              <a:rPr lang="en-US" altLang="zh-CN" sz="1800" dirty="0"/>
              <a:t>(1) </a:t>
            </a:r>
            <a:r>
              <a:rPr lang="zh-CN" altLang="en-US" sz="1800" dirty="0"/>
              <a:t>访问根结点。 </a:t>
            </a:r>
            <a:endParaRPr lang="zh-CN" altLang="en-US" sz="1800" dirty="0"/>
          </a:p>
          <a:p>
            <a:pPr lvl="2">
              <a:lnSpc>
                <a:spcPts val="2800"/>
              </a:lnSpc>
            </a:pPr>
            <a:r>
              <a:rPr lang="zh-CN" altLang="en-US" sz="1800" dirty="0"/>
              <a:t>       </a:t>
            </a:r>
            <a:r>
              <a:rPr lang="en-US" altLang="zh-CN" sz="1800" dirty="0"/>
              <a:t>(2) </a:t>
            </a:r>
            <a:r>
              <a:rPr lang="zh-CN" altLang="en-US" sz="1800" dirty="0"/>
              <a:t>从左到右，依次先根遍历根结点的每一棵子树。</a:t>
            </a:r>
            <a:endParaRPr lang="en-US" altLang="zh-CN" sz="1800" dirty="0"/>
          </a:p>
          <a:p>
            <a:pPr marL="478155" lvl="2" indent="-342900">
              <a:lnSpc>
                <a:spcPts val="2800"/>
              </a:lnSpc>
              <a:buFont typeface="Wingdings" panose="05000000000000000000" pitchFamily="2" charset="2"/>
              <a:buChar char="Ø"/>
            </a:pPr>
            <a:r>
              <a:rPr lang="zh-CN" altLang="en-US" dirty="0"/>
              <a:t>后根遍历</a:t>
            </a:r>
            <a:endParaRPr lang="zh-CN" altLang="en-US" dirty="0"/>
          </a:p>
          <a:p>
            <a:pPr lvl="2">
              <a:lnSpc>
                <a:spcPts val="2800"/>
              </a:lnSpc>
            </a:pPr>
            <a:r>
              <a:rPr lang="zh-CN" altLang="en-US" dirty="0"/>
              <a:t>      若树非空，则： </a:t>
            </a:r>
            <a:endParaRPr lang="zh-CN" altLang="en-US" dirty="0"/>
          </a:p>
          <a:p>
            <a:pPr lvl="2">
              <a:lnSpc>
                <a:spcPts val="2800"/>
              </a:lnSpc>
            </a:pPr>
            <a:r>
              <a:rPr lang="zh-CN" altLang="en-US" dirty="0"/>
              <a:t>    </a:t>
            </a:r>
            <a:r>
              <a:rPr lang="zh-CN" altLang="en-US" sz="1800" dirty="0"/>
              <a:t>（</a:t>
            </a:r>
            <a:r>
              <a:rPr lang="en-US" altLang="zh-CN" sz="1800" dirty="0"/>
              <a:t>1</a:t>
            </a:r>
            <a:r>
              <a:rPr lang="zh-CN" altLang="en-US" sz="1800" dirty="0"/>
              <a:t>）从左到右，依次后根遍历根结点的每一棵子树。</a:t>
            </a:r>
            <a:endParaRPr lang="zh-CN" altLang="en-US" sz="1800" dirty="0"/>
          </a:p>
          <a:p>
            <a:pPr lvl="2">
              <a:lnSpc>
                <a:spcPts val="2800"/>
              </a:lnSpc>
            </a:pPr>
            <a:r>
              <a:rPr lang="zh-CN" altLang="en-US" sz="1800" dirty="0"/>
              <a:t>    （</a:t>
            </a:r>
            <a:r>
              <a:rPr lang="en-US" altLang="zh-CN" sz="1800" dirty="0"/>
              <a:t>2</a:t>
            </a:r>
            <a:r>
              <a:rPr lang="zh-CN" altLang="en-US" sz="1800" dirty="0"/>
              <a:t>）访问根结点。 </a:t>
            </a:r>
            <a:endParaRPr lang="zh-CN" altLang="en-US" sz="1800"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1. </a:t>
            </a:r>
            <a:r>
              <a:rPr lang="zh-CN" altLang="en-US" dirty="0"/>
              <a:t>树的遍历</a:t>
            </a:r>
            <a:endParaRPr lang="en-US" altLang="zh-CN" dirty="0"/>
          </a:p>
          <a:p>
            <a:pPr lvl="2">
              <a:lnSpc>
                <a:spcPts val="2800"/>
              </a:lnSpc>
            </a:pPr>
            <a:r>
              <a:rPr lang="zh-CN" altLang="en-US" dirty="0"/>
              <a:t>先根遍历序列：</a:t>
            </a:r>
            <a:r>
              <a:rPr lang="en-US" altLang="zh-CN" dirty="0"/>
              <a:t>ABECFHGD</a:t>
            </a:r>
            <a:r>
              <a:rPr lang="zh-CN" altLang="en-US" dirty="0"/>
              <a:t>      </a:t>
            </a:r>
            <a:endParaRPr lang="en-US" altLang="zh-CN" dirty="0"/>
          </a:p>
          <a:p>
            <a:pPr lvl="2">
              <a:lnSpc>
                <a:spcPts val="2800"/>
              </a:lnSpc>
            </a:pPr>
            <a:r>
              <a:rPr lang="zh-CN" altLang="en-US" dirty="0"/>
              <a:t>后根遍历序列：</a:t>
            </a:r>
            <a:r>
              <a:rPr lang="en-US" altLang="zh-CN" dirty="0"/>
              <a:t>EBHFGCDA</a:t>
            </a:r>
            <a:r>
              <a:rPr lang="zh-CN" altLang="en-US" dirty="0"/>
              <a:t>       </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graphicFrame>
        <p:nvGraphicFramePr>
          <p:cNvPr id="4" name="Object 7"/>
          <p:cNvGraphicFramePr>
            <a:graphicFrameLocks noChangeAspect="1"/>
          </p:cNvGraphicFramePr>
          <p:nvPr/>
        </p:nvGraphicFramePr>
        <p:xfrm>
          <a:off x="4768717" y="593324"/>
          <a:ext cx="2914650" cy="2883694"/>
        </p:xfrm>
        <a:graphic>
          <a:graphicData uri="http://schemas.openxmlformats.org/presentationml/2006/ole">
            <mc:AlternateContent xmlns:mc="http://schemas.openxmlformats.org/markup-compatibility/2006">
              <mc:Choice xmlns:v="urn:schemas-microsoft-com:vml" Requires="v">
                <p:oleObj spid="_x0000_s27680" name="" r:id="rId1" imgW="1341120" imgH="1325880" progId="Visio.Drawing.4">
                  <p:embed/>
                </p:oleObj>
              </mc:Choice>
              <mc:Fallback>
                <p:oleObj name="" r:id="rId1" imgW="1341120" imgH="1325880" progId="Visio.Drawing.4">
                  <p:embed/>
                  <p:pic>
                    <p:nvPicPr>
                      <p:cNvPr id="0" name="Object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8717" y="593324"/>
                        <a:ext cx="2914650" cy="28836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森林的遍历</a:t>
            </a:r>
            <a:endParaRPr lang="en-US" altLang="zh-CN" dirty="0"/>
          </a:p>
          <a:p>
            <a:pPr marL="478155" lvl="2" indent="-342900">
              <a:lnSpc>
                <a:spcPts val="2800"/>
              </a:lnSpc>
              <a:buFont typeface="Wingdings" panose="05000000000000000000" pitchFamily="2" charset="2"/>
              <a:buChar char="Ø"/>
            </a:pPr>
            <a:r>
              <a:rPr lang="zh-CN" altLang="en-US" dirty="0"/>
              <a:t>先序遍历：若森林非空，则 </a:t>
            </a:r>
            <a:endParaRPr lang="zh-CN" altLang="en-US" dirty="0"/>
          </a:p>
          <a:p>
            <a:pPr lvl="2">
              <a:lnSpc>
                <a:spcPts val="2800"/>
              </a:lnSpc>
            </a:pPr>
            <a:r>
              <a:rPr lang="zh-CN" altLang="en-US" sz="1800" dirty="0"/>
              <a:t>       </a:t>
            </a:r>
            <a:r>
              <a:rPr lang="en-US" altLang="zh-CN" sz="1800" dirty="0"/>
              <a:t>(1) </a:t>
            </a:r>
            <a:r>
              <a:rPr lang="zh-CN" altLang="en-US" sz="1800" dirty="0"/>
              <a:t>访问森林中第一棵树的根结点。</a:t>
            </a:r>
            <a:endParaRPr lang="zh-CN" altLang="en-US" sz="1800" dirty="0"/>
          </a:p>
          <a:p>
            <a:pPr lvl="2">
              <a:lnSpc>
                <a:spcPts val="2800"/>
              </a:lnSpc>
            </a:pPr>
            <a:r>
              <a:rPr lang="zh-CN" altLang="en-US" sz="1800" dirty="0"/>
              <a:t>       </a:t>
            </a:r>
            <a:r>
              <a:rPr lang="en-US" altLang="zh-CN" sz="1800" dirty="0"/>
              <a:t>(2) </a:t>
            </a:r>
            <a:r>
              <a:rPr lang="zh-CN" altLang="en-US" sz="1800" dirty="0"/>
              <a:t>先序遍历第一棵树的根结点的子树森林。</a:t>
            </a:r>
            <a:endParaRPr lang="zh-CN" altLang="en-US" sz="1800" dirty="0"/>
          </a:p>
          <a:p>
            <a:pPr lvl="2">
              <a:lnSpc>
                <a:spcPts val="2800"/>
              </a:lnSpc>
            </a:pPr>
            <a:r>
              <a:rPr lang="zh-CN" altLang="en-US" sz="1800" dirty="0"/>
              <a:t>       </a:t>
            </a:r>
            <a:r>
              <a:rPr lang="en-US" altLang="zh-CN" sz="1800" dirty="0"/>
              <a:t>(3) </a:t>
            </a:r>
            <a:r>
              <a:rPr lang="zh-CN" altLang="en-US" sz="1800" dirty="0"/>
              <a:t>先序遍历除去第一棵树之后剩余的树构成的森林。 </a:t>
            </a:r>
            <a:endParaRPr lang="zh-CN" altLang="en-US" sz="1800" dirty="0"/>
          </a:p>
          <a:p>
            <a:pPr marL="478155" lvl="2" indent="-342900">
              <a:lnSpc>
                <a:spcPts val="2800"/>
              </a:lnSpc>
              <a:buFont typeface="Wingdings" panose="05000000000000000000" pitchFamily="2" charset="2"/>
              <a:buChar char="Ø"/>
            </a:pPr>
            <a:r>
              <a:rPr lang="zh-CN" altLang="en-US" dirty="0"/>
              <a:t>中序遍历：若森林非空，则 </a:t>
            </a:r>
            <a:endParaRPr lang="zh-CN" altLang="en-US" dirty="0"/>
          </a:p>
          <a:p>
            <a:pPr lvl="2">
              <a:lnSpc>
                <a:spcPts val="2800"/>
              </a:lnSpc>
            </a:pPr>
            <a:r>
              <a:rPr lang="en-US" altLang="zh-CN" dirty="0"/>
              <a:t>      </a:t>
            </a:r>
            <a:r>
              <a:rPr lang="en-US" altLang="zh-CN" sz="1800" dirty="0"/>
              <a:t>(1) </a:t>
            </a:r>
            <a:r>
              <a:rPr lang="zh-CN" altLang="en-US" sz="1800" dirty="0"/>
              <a:t>中序遍历森林中第一棵树的根结点的子树森林。</a:t>
            </a:r>
            <a:endParaRPr lang="zh-CN" altLang="en-US" sz="1800" dirty="0"/>
          </a:p>
          <a:p>
            <a:pPr lvl="2">
              <a:lnSpc>
                <a:spcPts val="2800"/>
              </a:lnSpc>
            </a:pPr>
            <a:r>
              <a:rPr lang="en-US" altLang="zh-CN" sz="1800" dirty="0"/>
              <a:t>       (2) </a:t>
            </a:r>
            <a:r>
              <a:rPr lang="zh-CN" altLang="en-US" sz="1800" dirty="0"/>
              <a:t>访问第一棵树的根结点。</a:t>
            </a:r>
            <a:endParaRPr lang="zh-CN" altLang="en-US" sz="1800" dirty="0"/>
          </a:p>
          <a:p>
            <a:pPr lvl="2">
              <a:lnSpc>
                <a:spcPts val="2800"/>
              </a:lnSpc>
            </a:pPr>
            <a:r>
              <a:rPr lang="en-US" altLang="zh-CN" sz="1800" dirty="0"/>
              <a:t>       (3) </a:t>
            </a:r>
            <a:r>
              <a:rPr lang="zh-CN" altLang="en-US" sz="1800" dirty="0"/>
              <a:t>中序遍历除去第一棵树之后剩余的树构成的森林。</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a:t>2. </a:t>
            </a:r>
            <a:r>
              <a:rPr lang="zh-CN" altLang="en-US" dirty="0"/>
              <a:t>森林的遍历</a:t>
            </a:r>
            <a:endParaRPr lang="en-US" altLang="zh-CN" dirty="0"/>
          </a:p>
          <a:p>
            <a:pPr lvl="2">
              <a:lnSpc>
                <a:spcPts val="2800"/>
              </a:lnSpc>
            </a:pPr>
            <a:endParaRPr lang="en-US" altLang="zh-CN" dirty="0"/>
          </a:p>
          <a:p>
            <a:pPr lvl="2">
              <a:lnSpc>
                <a:spcPts val="2800"/>
              </a:lnSpc>
            </a:pPr>
            <a:endParaRPr lang="en-US" altLang="zh-CN" dirty="0"/>
          </a:p>
          <a:p>
            <a:pPr lvl="2">
              <a:lnSpc>
                <a:spcPts val="2800"/>
              </a:lnSpc>
            </a:pPr>
            <a:endParaRPr lang="en-US" altLang="zh-CN" dirty="0"/>
          </a:p>
          <a:p>
            <a:pPr lvl="2">
              <a:lnSpc>
                <a:spcPts val="2800"/>
              </a:lnSpc>
            </a:pPr>
            <a:endParaRPr lang="en-US" altLang="zh-CN" dirty="0"/>
          </a:p>
          <a:p>
            <a:pPr lvl="2">
              <a:lnSpc>
                <a:spcPts val="2800"/>
              </a:lnSpc>
            </a:pPr>
            <a:endParaRPr lang="en-US" altLang="zh-CN" dirty="0"/>
          </a:p>
          <a:p>
            <a:pPr lvl="2">
              <a:lnSpc>
                <a:spcPts val="2800"/>
              </a:lnSpc>
            </a:pPr>
            <a:r>
              <a:rPr lang="zh-CN" altLang="en-US" dirty="0"/>
              <a:t>先序遍历序列：</a:t>
            </a:r>
            <a:r>
              <a:rPr lang="en-US" altLang="zh-CN" dirty="0"/>
              <a:t>ABCDEFGHIJ</a:t>
            </a:r>
            <a:r>
              <a:rPr lang="zh-CN" altLang="en-US" dirty="0"/>
              <a:t>     </a:t>
            </a:r>
            <a:endParaRPr lang="en-US" altLang="zh-CN" dirty="0"/>
          </a:p>
          <a:p>
            <a:pPr lvl="2">
              <a:lnSpc>
                <a:spcPts val="2800"/>
              </a:lnSpc>
            </a:pPr>
            <a:r>
              <a:rPr lang="zh-CN" altLang="en-US" dirty="0"/>
              <a:t>中序遍历序列：</a:t>
            </a:r>
            <a:r>
              <a:rPr lang="en-US" altLang="zh-CN" dirty="0"/>
              <a:t>BCDAFEHJIG</a:t>
            </a:r>
            <a:r>
              <a:rPr lang="zh-CN" altLang="en-US" dirty="0"/>
              <a:t> </a:t>
            </a:r>
            <a:endParaRPr lang="zh-CN" altLang="en-US" dirty="0"/>
          </a:p>
        </p:txBody>
      </p:sp>
      <p:sp>
        <p:nvSpPr>
          <p:cNvPr id="3" name="标题 2"/>
          <p:cNvSpPr>
            <a:spLocks noGrp="1"/>
          </p:cNvSpPr>
          <p:nvPr>
            <p:ph type="title"/>
          </p:nvPr>
        </p:nvSpPr>
        <p:spPr/>
        <p:txBody>
          <a:bodyPr/>
          <a:lstStyle/>
          <a:p>
            <a:r>
              <a:rPr lang="en-US" altLang="zh-CN" dirty="0"/>
              <a:t>6.4 </a:t>
            </a:r>
            <a:r>
              <a:rPr lang="zh-CN" altLang="en-US" dirty="0"/>
              <a:t>树和森林</a:t>
            </a:r>
            <a:endParaRPr lang="zh-CN"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068569" y="1212107"/>
            <a:ext cx="4193381" cy="12215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a:sym typeface="+mn-ea"/>
              </a:rPr>
              <a:t>1.什么叫最优二叉树？</a:t>
            </a:r>
            <a:endParaRPr lang="en-US" altLang="zh-CN" dirty="0"/>
          </a:p>
          <a:p>
            <a:pPr lvl="2"/>
            <a:r>
              <a:rPr>
                <a:sym typeface="+mn-ea"/>
              </a:rPr>
              <a:t>2.什么叫前缀编码？</a:t>
            </a:r>
            <a:endParaRPr lang="en-US" altLang="zh-CN" dirty="0"/>
          </a:p>
          <a:p>
            <a:pPr lvl="2"/>
            <a:r>
              <a:rPr>
                <a:sym typeface="+mn-ea"/>
              </a:rPr>
              <a:t>3.如何构建Huffman树？</a:t>
            </a:r>
            <a:endParaRPr lang="en-US" altLang="zh-CN" dirty="0"/>
          </a:p>
          <a:p>
            <a:pPr lvl="2"/>
            <a:r>
              <a:rPr>
                <a:sym typeface="+mn-ea"/>
              </a:rPr>
              <a:t>4. 如何求Huffman编码？</a:t>
            </a:r>
            <a:endParaRPr lang="en-US" altLang="zh-CN" dirty="0"/>
          </a:p>
          <a:p>
            <a:pPr lvl="2"/>
            <a:r>
              <a:rPr>
                <a:sym typeface="+mn-ea"/>
              </a:rPr>
              <a:t>5. Huffman编码是无损编码吗？</a:t>
            </a:r>
            <a:endParaRPr lang="zh-CN" altLang="en-US" dirty="0">
              <a:solidFill>
                <a:srgbClr val="FF0000"/>
              </a:solidFill>
            </a:endParaRPr>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最优二叉树（赫夫曼树）</a:t>
            </a:r>
            <a:endParaRPr lang="en-US" altLang="zh-CN" dirty="0"/>
          </a:p>
          <a:p>
            <a:pPr marL="478155" lvl="2" indent="-342900">
              <a:buFont typeface="Wingdings" panose="05000000000000000000" pitchFamily="2" charset="2"/>
              <a:buChar char="Ø"/>
            </a:pPr>
            <a:r>
              <a:rPr lang="zh-CN" altLang="en-US" dirty="0">
                <a:solidFill>
                  <a:srgbClr val="FF0000"/>
                </a:solidFill>
              </a:rPr>
              <a:t>带权路径长度</a:t>
            </a:r>
            <a:r>
              <a:rPr lang="en-US" altLang="zh-CN" dirty="0">
                <a:solidFill>
                  <a:srgbClr val="FF0000"/>
                </a:solidFill>
              </a:rPr>
              <a:t>(WPL)</a:t>
            </a:r>
            <a:r>
              <a:rPr lang="zh-CN" altLang="en-US" dirty="0"/>
              <a:t>：设二叉树有</a:t>
            </a:r>
            <a:r>
              <a:rPr lang="en-US" altLang="zh-CN" dirty="0"/>
              <a:t>n</a:t>
            </a:r>
            <a:r>
              <a:rPr lang="zh-CN" altLang="en-US" dirty="0"/>
              <a:t>个叶子结点，每个叶子结点带有权值</a:t>
            </a:r>
            <a:r>
              <a:rPr lang="en-US" altLang="zh-CN" dirty="0" err="1">
                <a:solidFill>
                  <a:srgbClr val="FF0000"/>
                </a:solidFill>
              </a:rPr>
              <a:t>w</a:t>
            </a:r>
            <a:r>
              <a:rPr lang="en-US" altLang="zh-CN" baseline="-25000" dirty="0" err="1">
                <a:solidFill>
                  <a:srgbClr val="FF0000"/>
                </a:solidFill>
              </a:rPr>
              <a:t>i</a:t>
            </a:r>
            <a:r>
              <a:rPr lang="zh-CN" altLang="en-US" dirty="0"/>
              <a:t>，从根结点到每个叶子结点的路径长度为</a:t>
            </a:r>
            <a:r>
              <a:rPr lang="en-US" altLang="zh-CN" dirty="0">
                <a:solidFill>
                  <a:srgbClr val="FF0000"/>
                </a:solidFill>
              </a:rPr>
              <a:t>l</a:t>
            </a:r>
            <a:r>
              <a:rPr lang="en-US" altLang="zh-CN" baseline="-25000" dirty="0">
                <a:solidFill>
                  <a:srgbClr val="FF0000"/>
                </a:solidFill>
              </a:rPr>
              <a:t>i</a:t>
            </a:r>
            <a:r>
              <a:rPr lang="zh-CN" altLang="en-US" dirty="0"/>
              <a:t>，则叶子结点的带权路径长度之和就是：</a:t>
            </a:r>
            <a:endParaRPr lang="en-US" altLang="zh-CN" dirty="0"/>
          </a:p>
          <a:p>
            <a:pPr lvl="2"/>
            <a:endParaRPr lang="en-US" altLang="zh-CN" dirty="0"/>
          </a:p>
          <a:p>
            <a:pPr marL="478155" lvl="2" indent="-342900">
              <a:buFont typeface="Wingdings" panose="05000000000000000000" pitchFamily="2" charset="2"/>
              <a:buChar char="Ø"/>
            </a:pPr>
            <a:r>
              <a:rPr lang="zh-CN" altLang="en-US" dirty="0"/>
              <a:t>最优二叉树：</a:t>
            </a:r>
            <a:r>
              <a:rPr lang="en-US" altLang="zh-CN" dirty="0"/>
              <a:t> </a:t>
            </a:r>
            <a:r>
              <a:rPr lang="en-US" altLang="zh-CN" dirty="0">
                <a:solidFill>
                  <a:srgbClr val="FF0000"/>
                </a:solidFill>
              </a:rPr>
              <a:t>WPL</a:t>
            </a:r>
            <a:r>
              <a:rPr lang="zh-CN" altLang="en-US" dirty="0">
                <a:solidFill>
                  <a:srgbClr val="FF0000"/>
                </a:solidFill>
              </a:rPr>
              <a:t>最小的二叉树 </a:t>
            </a:r>
            <a:endParaRPr lang="zh-CN" altLang="en-US" dirty="0">
              <a:solidFill>
                <a:srgbClr val="FF0000"/>
              </a:solidFill>
            </a:endParaRPr>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graphicFrame>
        <p:nvGraphicFramePr>
          <p:cNvPr id="4" name="Object 3"/>
          <p:cNvGraphicFramePr>
            <a:graphicFrameLocks noChangeAspect="1"/>
          </p:cNvGraphicFramePr>
          <p:nvPr/>
        </p:nvGraphicFramePr>
        <p:xfrm>
          <a:off x="4765708" y="1892003"/>
          <a:ext cx="1771650" cy="744141"/>
        </p:xfrm>
        <a:graphic>
          <a:graphicData uri="http://schemas.openxmlformats.org/presentationml/2006/ole">
            <mc:AlternateContent xmlns:mc="http://schemas.openxmlformats.org/markup-compatibility/2006">
              <mc:Choice xmlns:v="urn:schemas-microsoft-com:vml" Requires="v">
                <p:oleObj spid="_x0000_s17460" name="Microsoft 公式 3.0" r:id="rId1" imgW="1028700" imgH="431800" progId="Equation.3">
                  <p:embed/>
                </p:oleObj>
              </mc:Choice>
              <mc:Fallback>
                <p:oleObj name="Microsoft 公式 3.0" r:id="rId1" imgW="1028700" imgH="431800" progId="Equation.3">
                  <p:embed/>
                  <p:pic>
                    <p:nvPicPr>
                      <p:cNvPr id="0" name="Object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5708" y="1892003"/>
                        <a:ext cx="1771650" cy="74414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sz="2200" dirty="0"/>
              <a:t>例：给定一个权值序列</a:t>
            </a:r>
            <a:r>
              <a:rPr lang="en-US" altLang="zh-CN" sz="2200" dirty="0"/>
              <a:t>{2, 3, 4, 7}</a:t>
            </a:r>
            <a:r>
              <a:rPr lang="zh-CN" altLang="en-US" sz="2200" dirty="0"/>
              <a:t>，可构造出多种二叉树的形态。</a:t>
            </a:r>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graphicFrame>
        <p:nvGraphicFramePr>
          <p:cNvPr id="5" name="Object 7"/>
          <p:cNvGraphicFramePr>
            <a:graphicFrameLocks noChangeAspect="1"/>
          </p:cNvGraphicFramePr>
          <p:nvPr/>
        </p:nvGraphicFramePr>
        <p:xfrm>
          <a:off x="1143000" y="1372637"/>
          <a:ext cx="6617368" cy="3476416"/>
        </p:xfrm>
        <a:graphic>
          <a:graphicData uri="http://schemas.openxmlformats.org/presentationml/2006/ole">
            <mc:AlternateContent xmlns:mc="http://schemas.openxmlformats.org/markup-compatibility/2006">
              <mc:Choice xmlns:v="urn:schemas-microsoft-com:vml" Requires="v">
                <p:oleObj spid="_x0000_s18484" name="" r:id="rId1" imgW="4130040" imgH="2171700" progId="Visio.Drawing.4">
                  <p:embed/>
                </p:oleObj>
              </mc:Choice>
              <mc:Fallback>
                <p:oleObj name="" r:id="rId1" imgW="4130040" imgH="2171700" progId="Visio.Drawing.4">
                  <p:embed/>
                  <p:pic>
                    <p:nvPicPr>
                      <p:cNvPr id="0" name="Object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1372637"/>
                        <a:ext cx="6617368" cy="3476416"/>
                      </a:xfrm>
                      <a:prstGeom prst="rect">
                        <a:avLst/>
                      </a:prstGeom>
                      <a:noFill/>
                      <a:ln>
                        <a:noFill/>
                      </a:ln>
                      <a:effectLst/>
                    </p:spPr>
                  </p:pic>
                </p:oleObj>
              </mc:Fallback>
            </mc:AlternateContent>
          </a:graphicData>
        </a:graphic>
      </p:graphicFrame>
      <p:sp>
        <p:nvSpPr>
          <p:cNvPr id="6" name="圆角矩形标注 5"/>
          <p:cNvSpPr>
            <a:spLocks noChangeArrowheads="1"/>
          </p:cNvSpPr>
          <p:nvPr/>
        </p:nvSpPr>
        <p:spPr bwMode="auto">
          <a:xfrm>
            <a:off x="1419225" y="3564890"/>
            <a:ext cx="1504950" cy="459740"/>
          </a:xfrm>
          <a:prstGeom prst="wedgeRoundRectCallout">
            <a:avLst>
              <a:gd name="adj1" fmla="val 130970"/>
              <a:gd name="adj2" fmla="val -123066"/>
              <a:gd name="adj3" fmla="val 16667"/>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t>最优二叉树</a:t>
            </a:r>
            <a:endParaRPr lang="zh-CN" alt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ldLvl="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构造赫夫曼树的步骤（赫夫曼算法）</a:t>
            </a:r>
            <a:endParaRPr lang="en-US" altLang="zh-CN" dirty="0"/>
          </a:p>
          <a:p>
            <a:pPr lvl="2">
              <a:lnSpc>
                <a:spcPts val="2500"/>
              </a:lnSpc>
            </a:pPr>
            <a:r>
              <a:rPr lang="zh-CN" altLang="en-US" sz="1800" dirty="0"/>
              <a:t>（</a:t>
            </a:r>
            <a:r>
              <a:rPr lang="en-US" altLang="zh-CN" sz="1800" dirty="0"/>
              <a:t>1</a:t>
            </a:r>
            <a:r>
              <a:rPr lang="zh-CN" altLang="en-US" sz="1800" dirty="0"/>
              <a:t>）用给定的</a:t>
            </a:r>
            <a:r>
              <a:rPr lang="en-US" altLang="zh-CN" sz="1800" dirty="0"/>
              <a:t>n</a:t>
            </a:r>
            <a:r>
              <a:rPr lang="zh-CN" altLang="en-US" sz="1800" dirty="0"/>
              <a:t>个权值</a:t>
            </a:r>
            <a:r>
              <a:rPr lang="en-US" altLang="zh-CN" sz="1800" dirty="0"/>
              <a:t>{w1, w2,  …, </a:t>
            </a:r>
            <a:r>
              <a:rPr lang="en-US" altLang="zh-CN" sz="1800" dirty="0" err="1"/>
              <a:t>wn</a:t>
            </a:r>
            <a:r>
              <a:rPr lang="en-US" altLang="zh-CN" sz="1800" dirty="0"/>
              <a:t>}</a:t>
            </a:r>
            <a:r>
              <a:rPr lang="zh-CN" altLang="en-US" sz="1800" dirty="0"/>
              <a:t>对应的</a:t>
            </a:r>
            <a:r>
              <a:rPr lang="en-US" altLang="zh-CN" sz="1800" dirty="0"/>
              <a:t>n</a:t>
            </a:r>
            <a:r>
              <a:rPr lang="zh-CN" altLang="en-US" sz="1800" dirty="0"/>
              <a:t>个结点构成</a:t>
            </a:r>
            <a:r>
              <a:rPr lang="en-US" altLang="zh-CN" sz="1800" dirty="0">
                <a:solidFill>
                  <a:srgbClr val="FF0000"/>
                </a:solidFill>
              </a:rPr>
              <a:t>n</a:t>
            </a:r>
            <a:r>
              <a:rPr lang="zh-CN" altLang="en-US" sz="1800" dirty="0">
                <a:solidFill>
                  <a:srgbClr val="FF0000"/>
                </a:solidFill>
              </a:rPr>
              <a:t>棵二叉树的森林</a:t>
            </a:r>
            <a:r>
              <a:rPr lang="en-US" altLang="zh-CN" sz="1800" dirty="0">
                <a:solidFill>
                  <a:srgbClr val="FF0000"/>
                </a:solidFill>
              </a:rPr>
              <a:t>F={T1, T2,  …, </a:t>
            </a:r>
            <a:r>
              <a:rPr lang="en-US" altLang="zh-CN" sz="1800" dirty="0" err="1">
                <a:solidFill>
                  <a:srgbClr val="FF0000"/>
                </a:solidFill>
              </a:rPr>
              <a:t>Tn</a:t>
            </a:r>
            <a:r>
              <a:rPr lang="en-US" altLang="zh-CN" sz="1800" dirty="0">
                <a:solidFill>
                  <a:srgbClr val="FF0000"/>
                </a:solidFill>
              </a:rPr>
              <a:t>}</a:t>
            </a:r>
            <a:r>
              <a:rPr lang="zh-CN" altLang="en-US" sz="1800" dirty="0"/>
              <a:t>，其中每一棵二叉树</a:t>
            </a:r>
            <a:r>
              <a:rPr lang="en-US" altLang="zh-CN" sz="1800" dirty="0" err="1"/>
              <a:t>Ti</a:t>
            </a:r>
            <a:r>
              <a:rPr lang="en-US" altLang="zh-CN" sz="1800" dirty="0"/>
              <a:t> (1≤i≤n)</a:t>
            </a:r>
            <a:r>
              <a:rPr lang="zh-CN" altLang="en-US" sz="1800" dirty="0"/>
              <a:t>都只有一个权值为</a:t>
            </a:r>
            <a:r>
              <a:rPr lang="en-US" altLang="zh-CN" sz="1800" dirty="0" err="1"/>
              <a:t>wi</a:t>
            </a:r>
            <a:r>
              <a:rPr lang="zh-CN" altLang="en-US" sz="1800" dirty="0"/>
              <a:t>的根结点，其左、右子树为空。</a:t>
            </a:r>
            <a:endParaRPr lang="en-US" altLang="zh-CN" sz="1800" dirty="0"/>
          </a:p>
          <a:p>
            <a:pPr lvl="2">
              <a:lnSpc>
                <a:spcPts val="2500"/>
              </a:lnSpc>
            </a:pPr>
            <a:r>
              <a:rPr lang="zh-CN" altLang="en-US" sz="1800" dirty="0"/>
              <a:t>（</a:t>
            </a:r>
            <a:r>
              <a:rPr lang="en-US" altLang="zh-CN" sz="1800" dirty="0"/>
              <a:t>2</a:t>
            </a:r>
            <a:r>
              <a:rPr lang="zh-CN" altLang="en-US" sz="1800" dirty="0"/>
              <a:t>）</a:t>
            </a:r>
            <a:r>
              <a:rPr lang="zh-CN" altLang="en-US" sz="1800" dirty="0">
                <a:solidFill>
                  <a:srgbClr val="FF0000"/>
                </a:solidFill>
              </a:rPr>
              <a:t>在森林</a:t>
            </a:r>
            <a:r>
              <a:rPr lang="en-US" altLang="zh-CN" sz="1800" dirty="0">
                <a:solidFill>
                  <a:srgbClr val="FF0000"/>
                </a:solidFill>
              </a:rPr>
              <a:t>F</a:t>
            </a:r>
            <a:r>
              <a:rPr lang="zh-CN" altLang="en-US" sz="1800" dirty="0">
                <a:solidFill>
                  <a:srgbClr val="FF0000"/>
                </a:solidFill>
              </a:rPr>
              <a:t>中选择两棵根结点权值最小的二叉树</a:t>
            </a:r>
            <a:r>
              <a:rPr lang="zh-CN" altLang="en-US" sz="1800" dirty="0"/>
              <a:t>，作为一棵</a:t>
            </a:r>
            <a:r>
              <a:rPr lang="zh-CN" altLang="en-US" sz="1800" dirty="0">
                <a:solidFill>
                  <a:srgbClr val="FF0000"/>
                </a:solidFill>
              </a:rPr>
              <a:t>新二叉树</a:t>
            </a:r>
            <a:r>
              <a:rPr lang="zh-CN" altLang="en-US" sz="1800" dirty="0"/>
              <a:t>的左、右子树，标记新二叉树的根结点权值为其左右子树的根结点权值之和。</a:t>
            </a:r>
            <a:endParaRPr lang="en-US" altLang="zh-CN" sz="1800" dirty="0"/>
          </a:p>
          <a:p>
            <a:pPr lvl="2">
              <a:lnSpc>
                <a:spcPts val="2500"/>
              </a:lnSpc>
            </a:pPr>
            <a:r>
              <a:rPr lang="zh-CN" altLang="en-US" sz="1800" dirty="0"/>
              <a:t>（</a:t>
            </a:r>
            <a:r>
              <a:rPr lang="en-US" altLang="zh-CN" sz="1800" dirty="0"/>
              <a:t>3</a:t>
            </a:r>
            <a:r>
              <a:rPr lang="zh-CN" altLang="en-US" sz="1800" dirty="0"/>
              <a:t>）从</a:t>
            </a:r>
            <a:r>
              <a:rPr lang="en-US" altLang="zh-CN" sz="1800" dirty="0"/>
              <a:t>F</a:t>
            </a:r>
            <a:r>
              <a:rPr lang="zh-CN" altLang="en-US" sz="1800" dirty="0"/>
              <a:t>中</a:t>
            </a:r>
            <a:r>
              <a:rPr lang="zh-CN" altLang="en-US" sz="1800" dirty="0">
                <a:solidFill>
                  <a:srgbClr val="FF0000"/>
                </a:solidFill>
              </a:rPr>
              <a:t>删除</a:t>
            </a:r>
            <a:r>
              <a:rPr lang="zh-CN" altLang="en-US" sz="1800" dirty="0"/>
              <a:t>被选中的那两棵二叉树，同时把新构成的二叉树</a:t>
            </a:r>
            <a:r>
              <a:rPr lang="zh-CN" altLang="en-US" sz="1800" dirty="0">
                <a:solidFill>
                  <a:srgbClr val="FF0000"/>
                </a:solidFill>
              </a:rPr>
              <a:t>加入</a:t>
            </a:r>
            <a:r>
              <a:rPr lang="zh-CN" altLang="en-US" sz="1800" dirty="0"/>
              <a:t>到森林</a:t>
            </a:r>
            <a:r>
              <a:rPr lang="en-US" altLang="zh-CN" sz="1800" dirty="0"/>
              <a:t>F</a:t>
            </a:r>
            <a:r>
              <a:rPr lang="zh-CN" altLang="en-US" sz="1800" dirty="0"/>
              <a:t>中。</a:t>
            </a:r>
            <a:endParaRPr lang="en-US" altLang="zh-CN" sz="1800" dirty="0"/>
          </a:p>
          <a:p>
            <a:pPr lvl="2">
              <a:lnSpc>
                <a:spcPts val="2500"/>
              </a:lnSpc>
            </a:pPr>
            <a:r>
              <a:rPr lang="zh-CN" altLang="en-US" sz="1800" dirty="0"/>
              <a:t>（</a:t>
            </a:r>
            <a:r>
              <a:rPr lang="en-US" altLang="zh-CN" sz="1800" dirty="0"/>
              <a:t>4</a:t>
            </a:r>
            <a:r>
              <a:rPr lang="zh-CN" altLang="en-US" sz="1800" dirty="0"/>
              <a:t>） 重复（</a:t>
            </a:r>
            <a:r>
              <a:rPr lang="en-US" altLang="zh-CN" sz="1800" dirty="0"/>
              <a:t>2</a:t>
            </a:r>
            <a:r>
              <a:rPr lang="zh-CN" altLang="en-US" sz="1800" dirty="0"/>
              <a:t>）、（</a:t>
            </a:r>
            <a:r>
              <a:rPr lang="en-US" altLang="zh-CN" sz="1800" dirty="0"/>
              <a:t>3</a:t>
            </a:r>
            <a:r>
              <a:rPr lang="zh-CN" altLang="en-US" sz="1800" dirty="0"/>
              <a:t>）操作， 直到森林中</a:t>
            </a:r>
            <a:r>
              <a:rPr lang="zh-CN" altLang="en-US" sz="1800" dirty="0">
                <a:solidFill>
                  <a:srgbClr val="FF0000"/>
                </a:solidFill>
              </a:rPr>
              <a:t>只含有一棵二叉树</a:t>
            </a:r>
            <a:r>
              <a:rPr lang="zh-CN" altLang="en-US" sz="1800" dirty="0"/>
              <a:t>为止，此时得到的这棵二叉树就是</a:t>
            </a:r>
            <a:r>
              <a:rPr lang="zh-CN" altLang="en-US" sz="1800" dirty="0">
                <a:solidFill>
                  <a:srgbClr val="FF0000"/>
                </a:solidFill>
              </a:rPr>
              <a:t>赫夫曼树</a:t>
            </a:r>
            <a:r>
              <a:rPr lang="zh-CN" altLang="en-US" sz="1800" dirty="0"/>
              <a:t>。</a:t>
            </a:r>
            <a:endParaRPr lang="zh-CN" altLang="en-US"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sz="2400" dirty="0"/>
              <a:t> </a:t>
            </a:r>
            <a:r>
              <a:rPr lang="zh-CN" altLang="en-US" dirty="0"/>
              <a:t>例：给定一个权值序列</a:t>
            </a:r>
            <a:r>
              <a:rPr lang="en-US" altLang="zh-CN" dirty="0"/>
              <a:t>{2, 3, 5, 7, 8}</a:t>
            </a:r>
            <a:r>
              <a:rPr lang="zh-CN" altLang="en-US" dirty="0"/>
              <a:t>，构造赫夫曼树。</a:t>
            </a:r>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
        <p:nvSpPr>
          <p:cNvPr id="4" name="TextBox 4"/>
          <p:cNvSpPr txBox="1">
            <a:spLocks noChangeArrowheads="1"/>
          </p:cNvSpPr>
          <p:nvPr/>
        </p:nvSpPr>
        <p:spPr bwMode="auto">
          <a:xfrm>
            <a:off x="1972654" y="1426117"/>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2</a:t>
            </a:r>
            <a:endParaRPr lang="zh-CN" altLang="en-US" sz="1800"/>
          </a:p>
        </p:txBody>
      </p:sp>
      <p:sp>
        <p:nvSpPr>
          <p:cNvPr id="5" name="TextBox 5"/>
          <p:cNvSpPr txBox="1">
            <a:spLocks noChangeArrowheads="1"/>
          </p:cNvSpPr>
          <p:nvPr/>
        </p:nvSpPr>
        <p:spPr bwMode="auto">
          <a:xfrm>
            <a:off x="2454858" y="1426117"/>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3</a:t>
            </a:r>
            <a:endParaRPr lang="zh-CN" altLang="en-US" sz="1800"/>
          </a:p>
        </p:txBody>
      </p:sp>
      <p:sp>
        <p:nvSpPr>
          <p:cNvPr id="6" name="TextBox 6"/>
          <p:cNvSpPr txBox="1">
            <a:spLocks noChangeArrowheads="1"/>
          </p:cNvSpPr>
          <p:nvPr/>
        </p:nvSpPr>
        <p:spPr bwMode="auto">
          <a:xfrm>
            <a:off x="2883483" y="1426117"/>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sp>
        <p:nvSpPr>
          <p:cNvPr id="7" name="TextBox 7"/>
          <p:cNvSpPr txBox="1">
            <a:spLocks noChangeArrowheads="1"/>
          </p:cNvSpPr>
          <p:nvPr/>
        </p:nvSpPr>
        <p:spPr bwMode="auto">
          <a:xfrm>
            <a:off x="3312108" y="1426117"/>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7</a:t>
            </a:r>
            <a:endParaRPr lang="zh-CN" altLang="en-US" sz="1800"/>
          </a:p>
        </p:txBody>
      </p:sp>
      <p:sp>
        <p:nvSpPr>
          <p:cNvPr id="8" name="TextBox 8"/>
          <p:cNvSpPr txBox="1">
            <a:spLocks noChangeArrowheads="1"/>
          </p:cNvSpPr>
          <p:nvPr/>
        </p:nvSpPr>
        <p:spPr bwMode="auto">
          <a:xfrm>
            <a:off x="3740733" y="1426117"/>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8</a:t>
            </a:r>
            <a:endParaRPr lang="zh-CN" altLang="en-US" sz="1800"/>
          </a:p>
        </p:txBody>
      </p:sp>
      <p:sp>
        <p:nvSpPr>
          <p:cNvPr id="9" name="TextBox 9"/>
          <p:cNvSpPr txBox="1">
            <a:spLocks noChangeArrowheads="1"/>
          </p:cNvSpPr>
          <p:nvPr/>
        </p:nvSpPr>
        <p:spPr bwMode="auto">
          <a:xfrm>
            <a:off x="1919076" y="2926305"/>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2</a:t>
            </a:r>
            <a:endParaRPr lang="zh-CN" altLang="en-US" sz="1800"/>
          </a:p>
        </p:txBody>
      </p:sp>
      <p:sp>
        <p:nvSpPr>
          <p:cNvPr id="10" name="TextBox 10"/>
          <p:cNvSpPr txBox="1">
            <a:spLocks noChangeArrowheads="1"/>
          </p:cNvSpPr>
          <p:nvPr/>
        </p:nvSpPr>
        <p:spPr bwMode="auto">
          <a:xfrm>
            <a:off x="2401279" y="2926305"/>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3</a:t>
            </a:r>
            <a:endParaRPr lang="zh-CN" altLang="en-US" sz="1800"/>
          </a:p>
        </p:txBody>
      </p:sp>
      <p:grpSp>
        <p:nvGrpSpPr>
          <p:cNvPr id="11" name="组合 15"/>
          <p:cNvGrpSpPr/>
          <p:nvPr/>
        </p:nvGrpSpPr>
        <p:grpSpPr bwMode="auto">
          <a:xfrm>
            <a:off x="2069118" y="2201214"/>
            <a:ext cx="482202" cy="734717"/>
            <a:chOff x="1413889" y="2071678"/>
            <a:chExt cx="642941" cy="979936"/>
          </a:xfrm>
        </p:grpSpPr>
        <p:sp>
          <p:nvSpPr>
            <p:cNvPr id="12" name="椭圆 2"/>
            <p:cNvSpPr>
              <a:spLocks noChangeArrowheads="1"/>
            </p:cNvSpPr>
            <p:nvPr/>
          </p:nvSpPr>
          <p:spPr bwMode="auto">
            <a:xfrm>
              <a:off x="1428728" y="2071678"/>
              <a:ext cx="571504"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cxnSp>
          <p:nvCxnSpPr>
            <p:cNvPr id="13" name="直接连接符 12"/>
            <p:cNvCxnSpPr>
              <a:cxnSpLocks noChangeShapeType="1"/>
              <a:stCxn id="12" idx="3"/>
              <a:endCxn id="9" idx="0"/>
            </p:cNvCxnSpPr>
            <p:nvPr/>
          </p:nvCxnSpPr>
          <p:spPr bwMode="auto">
            <a:xfrm flipH="1">
              <a:off x="1413889" y="2559487"/>
              <a:ext cx="98534" cy="492127"/>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14" name="直接连接符 14"/>
            <p:cNvCxnSpPr>
              <a:cxnSpLocks noChangeShapeType="1"/>
              <a:stCxn id="12" idx="5"/>
              <a:endCxn id="10" idx="0"/>
            </p:cNvCxnSpPr>
            <p:nvPr/>
          </p:nvCxnSpPr>
          <p:spPr bwMode="auto">
            <a:xfrm>
              <a:off x="1916537" y="2559487"/>
              <a:ext cx="140293" cy="492127"/>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15" name="组合 25"/>
          <p:cNvGrpSpPr/>
          <p:nvPr/>
        </p:nvGrpSpPr>
        <p:grpSpPr bwMode="auto">
          <a:xfrm>
            <a:off x="2897772" y="2736998"/>
            <a:ext cx="782081" cy="1041070"/>
            <a:chOff x="2518934" y="2643182"/>
            <a:chExt cx="1043222" cy="1388103"/>
          </a:xfrm>
        </p:grpSpPr>
        <p:sp>
          <p:nvSpPr>
            <p:cNvPr id="16" name="TextBox 19"/>
            <p:cNvSpPr txBox="1">
              <a:spLocks noChangeArrowheads="1"/>
            </p:cNvSpPr>
            <p:nvPr/>
          </p:nvSpPr>
          <p:spPr bwMode="auto">
            <a:xfrm>
              <a:off x="2518934" y="3538839"/>
              <a:ext cx="400281"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2</a:t>
              </a:r>
              <a:endParaRPr lang="zh-CN" altLang="en-US" sz="1800"/>
            </a:p>
          </p:txBody>
        </p:sp>
        <p:sp>
          <p:nvSpPr>
            <p:cNvPr id="17" name="TextBox 20"/>
            <p:cNvSpPr txBox="1">
              <a:spLocks noChangeArrowheads="1"/>
            </p:cNvSpPr>
            <p:nvPr/>
          </p:nvSpPr>
          <p:spPr bwMode="auto">
            <a:xfrm>
              <a:off x="3161875" y="3538839"/>
              <a:ext cx="400281"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3</a:t>
              </a:r>
              <a:endParaRPr lang="zh-CN" altLang="en-US" sz="1800"/>
            </a:p>
          </p:txBody>
        </p:sp>
        <p:grpSp>
          <p:nvGrpSpPr>
            <p:cNvPr id="18" name="组合 21"/>
            <p:cNvGrpSpPr/>
            <p:nvPr/>
          </p:nvGrpSpPr>
          <p:grpSpPr bwMode="auto">
            <a:xfrm>
              <a:off x="2688211" y="2643182"/>
              <a:ext cx="642942" cy="895657"/>
              <a:chOff x="1383691" y="2143116"/>
              <a:chExt cx="642942" cy="895657"/>
            </a:xfrm>
          </p:grpSpPr>
          <p:sp>
            <p:nvSpPr>
              <p:cNvPr id="19" name="椭圆 22"/>
              <p:cNvSpPr>
                <a:spLocks noChangeArrowheads="1"/>
              </p:cNvSpPr>
              <p:nvPr/>
            </p:nvSpPr>
            <p:spPr bwMode="auto">
              <a:xfrm>
                <a:off x="1428728" y="2143116"/>
                <a:ext cx="571504"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cxnSp>
            <p:nvCxnSpPr>
              <p:cNvPr id="20" name="直接连接符 23"/>
              <p:cNvCxnSpPr>
                <a:cxnSpLocks noChangeShapeType="1"/>
                <a:stCxn id="19" idx="3"/>
                <a:endCxn id="16" idx="0"/>
              </p:cNvCxnSpPr>
              <p:nvPr/>
            </p:nvCxnSpPr>
            <p:spPr bwMode="auto">
              <a:xfrm rot="5400000">
                <a:off x="1244133" y="2770483"/>
                <a:ext cx="407848" cy="12873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1" name="直接连接符 24"/>
              <p:cNvCxnSpPr>
                <a:cxnSpLocks noChangeShapeType="1"/>
                <a:stCxn id="19" idx="5"/>
                <a:endCxn id="17" idx="0"/>
              </p:cNvCxnSpPr>
              <p:nvPr/>
            </p:nvCxnSpPr>
            <p:spPr bwMode="auto">
              <a:xfrm rot="16200000" flipH="1">
                <a:off x="1767661" y="2779801"/>
                <a:ext cx="407848" cy="110096"/>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sp>
        <p:nvSpPr>
          <p:cNvPr id="22" name="TextBox 28"/>
          <p:cNvSpPr txBox="1">
            <a:spLocks noChangeArrowheads="1"/>
          </p:cNvSpPr>
          <p:nvPr/>
        </p:nvSpPr>
        <p:spPr bwMode="auto">
          <a:xfrm>
            <a:off x="3740733" y="2790574"/>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grpSp>
        <p:nvGrpSpPr>
          <p:cNvPr id="23" name="组合 29"/>
          <p:cNvGrpSpPr/>
          <p:nvPr/>
        </p:nvGrpSpPr>
        <p:grpSpPr bwMode="auto">
          <a:xfrm>
            <a:off x="3365685" y="2040481"/>
            <a:ext cx="559016" cy="725091"/>
            <a:chOff x="1383695" y="2071678"/>
            <a:chExt cx="642938" cy="967095"/>
          </a:xfrm>
        </p:grpSpPr>
        <p:sp>
          <p:nvSpPr>
            <p:cNvPr id="24" name="椭圆 30"/>
            <p:cNvSpPr>
              <a:spLocks noChangeArrowheads="1"/>
            </p:cNvSpPr>
            <p:nvPr/>
          </p:nvSpPr>
          <p:spPr bwMode="auto">
            <a:xfrm>
              <a:off x="1428727" y="2071678"/>
              <a:ext cx="597905" cy="642942"/>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350" dirty="0"/>
                <a:t>10</a:t>
              </a:r>
              <a:endParaRPr lang="zh-CN" altLang="en-US" sz="1350" dirty="0"/>
            </a:p>
          </p:txBody>
        </p:sp>
        <p:cxnSp>
          <p:nvCxnSpPr>
            <p:cNvPr id="25" name="直接连接符 31"/>
            <p:cNvCxnSpPr>
              <a:cxnSpLocks noChangeShapeType="1"/>
              <a:stCxn id="24" idx="3"/>
            </p:cNvCxnSpPr>
            <p:nvPr/>
          </p:nvCxnSpPr>
          <p:spPr bwMode="auto">
            <a:xfrm rot="5400000">
              <a:off x="1240836" y="2763321"/>
              <a:ext cx="418311" cy="132594"/>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6" name="直接连接符 32"/>
            <p:cNvCxnSpPr>
              <a:cxnSpLocks noChangeShapeType="1"/>
              <a:stCxn id="24" idx="5"/>
            </p:cNvCxnSpPr>
            <p:nvPr/>
          </p:nvCxnSpPr>
          <p:spPr bwMode="auto">
            <a:xfrm rot="16200000" flipH="1">
              <a:off x="1773697" y="2785837"/>
              <a:ext cx="418310" cy="8756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sp>
        <p:nvSpPr>
          <p:cNvPr id="27" name="TextBox 37"/>
          <p:cNvSpPr txBox="1">
            <a:spLocks noChangeArrowheads="1"/>
          </p:cNvSpPr>
          <p:nvPr/>
        </p:nvSpPr>
        <p:spPr bwMode="auto">
          <a:xfrm>
            <a:off x="4383670" y="2765571"/>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7</a:t>
            </a:r>
            <a:endParaRPr lang="zh-CN" altLang="en-US" sz="1800"/>
          </a:p>
        </p:txBody>
      </p:sp>
      <p:sp>
        <p:nvSpPr>
          <p:cNvPr id="28" name="TextBox 38"/>
          <p:cNvSpPr txBox="1">
            <a:spLocks noChangeArrowheads="1"/>
          </p:cNvSpPr>
          <p:nvPr/>
        </p:nvSpPr>
        <p:spPr bwMode="auto">
          <a:xfrm>
            <a:off x="4812295" y="2765571"/>
            <a:ext cx="300082" cy="369332"/>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8</a:t>
            </a:r>
            <a:endParaRPr lang="zh-CN" altLang="en-US" sz="1800"/>
          </a:p>
        </p:txBody>
      </p:sp>
      <p:grpSp>
        <p:nvGrpSpPr>
          <p:cNvPr id="29" name="组合 39"/>
          <p:cNvGrpSpPr/>
          <p:nvPr/>
        </p:nvGrpSpPr>
        <p:grpSpPr bwMode="auto">
          <a:xfrm>
            <a:off x="4490827" y="2040481"/>
            <a:ext cx="569655" cy="725091"/>
            <a:chOff x="1383691" y="2071678"/>
            <a:chExt cx="667257" cy="967095"/>
          </a:xfrm>
        </p:grpSpPr>
        <p:sp>
          <p:nvSpPr>
            <p:cNvPr id="30" name="椭圆 40"/>
            <p:cNvSpPr>
              <a:spLocks noChangeArrowheads="1"/>
            </p:cNvSpPr>
            <p:nvPr/>
          </p:nvSpPr>
          <p:spPr bwMode="auto">
            <a:xfrm>
              <a:off x="1428728" y="2071678"/>
              <a:ext cx="622220"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dirty="0"/>
                <a:t>15</a:t>
              </a:r>
              <a:endParaRPr lang="zh-CN" altLang="en-US" sz="1400" dirty="0"/>
            </a:p>
          </p:txBody>
        </p:sp>
        <p:cxnSp>
          <p:nvCxnSpPr>
            <p:cNvPr id="31" name="直接连接符 41"/>
            <p:cNvCxnSpPr>
              <a:cxnSpLocks noChangeShapeType="1"/>
              <a:stCxn id="30" idx="3"/>
            </p:cNvCxnSpPr>
            <p:nvPr/>
          </p:nvCxnSpPr>
          <p:spPr bwMode="auto">
            <a:xfrm flipH="1">
              <a:off x="1383691" y="2559488"/>
              <a:ext cx="136160" cy="4792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32" name="直接连接符 42"/>
            <p:cNvCxnSpPr>
              <a:cxnSpLocks noChangeShapeType="1"/>
              <a:stCxn id="30" idx="5"/>
            </p:cNvCxnSpPr>
            <p:nvPr/>
          </p:nvCxnSpPr>
          <p:spPr bwMode="auto">
            <a:xfrm>
              <a:off x="1959827" y="2559488"/>
              <a:ext cx="66806" cy="4792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33" name="组合 62"/>
          <p:cNvGrpSpPr/>
          <p:nvPr/>
        </p:nvGrpSpPr>
        <p:grpSpPr bwMode="auto">
          <a:xfrm>
            <a:off x="5214728" y="2415527"/>
            <a:ext cx="2292421" cy="1737586"/>
            <a:chOff x="5609404" y="2000240"/>
            <a:chExt cx="3055779" cy="2316797"/>
          </a:xfrm>
        </p:grpSpPr>
        <p:grpSp>
          <p:nvGrpSpPr>
            <p:cNvPr id="34" name="组合 60"/>
            <p:cNvGrpSpPr/>
            <p:nvPr/>
          </p:nvGrpSpPr>
          <p:grpSpPr bwMode="auto">
            <a:xfrm>
              <a:off x="5609404" y="2000240"/>
              <a:ext cx="3055779" cy="2316797"/>
              <a:chOff x="5609404" y="2000240"/>
              <a:chExt cx="3055779" cy="2316797"/>
            </a:xfrm>
          </p:grpSpPr>
          <p:grpSp>
            <p:nvGrpSpPr>
              <p:cNvPr id="36" name="组合 43"/>
              <p:cNvGrpSpPr/>
              <p:nvPr/>
            </p:nvGrpSpPr>
            <p:grpSpPr bwMode="auto">
              <a:xfrm>
                <a:off x="5609404" y="2928934"/>
                <a:ext cx="1042949" cy="1388103"/>
                <a:chOff x="2518934" y="2643182"/>
                <a:chExt cx="1042949" cy="1388103"/>
              </a:xfrm>
            </p:grpSpPr>
            <p:sp>
              <p:nvSpPr>
                <p:cNvPr id="47" name="TextBox 44"/>
                <p:cNvSpPr txBox="1">
                  <a:spLocks noChangeArrowheads="1"/>
                </p:cNvSpPr>
                <p:nvPr/>
              </p:nvSpPr>
              <p:spPr bwMode="auto">
                <a:xfrm>
                  <a:off x="2518934" y="3538839"/>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2</a:t>
                  </a:r>
                  <a:endParaRPr lang="zh-CN" altLang="en-US" sz="1800"/>
                </a:p>
              </p:txBody>
            </p:sp>
            <p:sp>
              <p:nvSpPr>
                <p:cNvPr id="48" name="TextBox 45"/>
                <p:cNvSpPr txBox="1">
                  <a:spLocks noChangeArrowheads="1"/>
                </p:cNvSpPr>
                <p:nvPr/>
              </p:nvSpPr>
              <p:spPr bwMode="auto">
                <a:xfrm>
                  <a:off x="3161876" y="3538839"/>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3</a:t>
                  </a:r>
                  <a:endParaRPr lang="zh-CN" altLang="en-US" sz="1800"/>
                </a:p>
              </p:txBody>
            </p:sp>
            <p:grpSp>
              <p:nvGrpSpPr>
                <p:cNvPr id="49" name="组合 21"/>
                <p:cNvGrpSpPr/>
                <p:nvPr/>
              </p:nvGrpSpPr>
              <p:grpSpPr bwMode="auto">
                <a:xfrm>
                  <a:off x="2688211" y="2643182"/>
                  <a:ext cx="642942" cy="895657"/>
                  <a:chOff x="1383691" y="2143116"/>
                  <a:chExt cx="642942" cy="895657"/>
                </a:xfrm>
              </p:grpSpPr>
              <p:sp>
                <p:nvSpPr>
                  <p:cNvPr id="50" name="椭圆 47"/>
                  <p:cNvSpPr>
                    <a:spLocks noChangeArrowheads="1"/>
                  </p:cNvSpPr>
                  <p:nvPr/>
                </p:nvSpPr>
                <p:spPr bwMode="auto">
                  <a:xfrm>
                    <a:off x="1428728" y="2143116"/>
                    <a:ext cx="571504"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cxnSp>
                <p:nvCxnSpPr>
                  <p:cNvPr id="51" name="直接连接符 48"/>
                  <p:cNvCxnSpPr>
                    <a:cxnSpLocks noChangeShapeType="1"/>
                    <a:stCxn id="50" idx="3"/>
                    <a:endCxn id="47" idx="0"/>
                  </p:cNvCxnSpPr>
                  <p:nvPr/>
                </p:nvCxnSpPr>
                <p:spPr bwMode="auto">
                  <a:xfrm rot="5400000">
                    <a:off x="1244133" y="2770483"/>
                    <a:ext cx="407848" cy="12873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52" name="直接连接符 49"/>
                  <p:cNvCxnSpPr>
                    <a:cxnSpLocks noChangeShapeType="1"/>
                    <a:stCxn id="50" idx="5"/>
                    <a:endCxn id="48" idx="0"/>
                  </p:cNvCxnSpPr>
                  <p:nvPr/>
                </p:nvCxnSpPr>
                <p:spPr bwMode="auto">
                  <a:xfrm rot="16200000" flipH="1">
                    <a:off x="1767661" y="2779801"/>
                    <a:ext cx="407848" cy="110096"/>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nvGrpSpPr>
              <p:cNvPr id="37" name="组合 50"/>
              <p:cNvGrpSpPr/>
              <p:nvPr/>
            </p:nvGrpSpPr>
            <p:grpSpPr bwMode="auto">
              <a:xfrm>
                <a:off x="6233715" y="2000240"/>
                <a:ext cx="746774" cy="967095"/>
                <a:chOff x="1383696" y="2071678"/>
                <a:chExt cx="746774" cy="967095"/>
              </a:xfrm>
            </p:grpSpPr>
            <p:sp>
              <p:nvSpPr>
                <p:cNvPr id="44" name="椭圆 51"/>
                <p:cNvSpPr>
                  <a:spLocks noChangeArrowheads="1"/>
                </p:cNvSpPr>
                <p:nvPr/>
              </p:nvSpPr>
              <p:spPr bwMode="auto">
                <a:xfrm>
                  <a:off x="1428727" y="2071678"/>
                  <a:ext cx="701743" cy="642942"/>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350"/>
                    <a:t>10</a:t>
                  </a:r>
                  <a:endParaRPr lang="zh-CN" altLang="en-US" sz="1350"/>
                </a:p>
              </p:txBody>
            </p:sp>
            <p:cxnSp>
              <p:nvCxnSpPr>
                <p:cNvPr id="45" name="直接连接符 52"/>
                <p:cNvCxnSpPr>
                  <a:cxnSpLocks noChangeShapeType="1"/>
                  <a:stCxn id="44" idx="3"/>
                </p:cNvCxnSpPr>
                <p:nvPr/>
              </p:nvCxnSpPr>
              <p:spPr bwMode="auto">
                <a:xfrm flipH="1">
                  <a:off x="1383696" y="2620463"/>
                  <a:ext cx="147799" cy="418310"/>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46" name="直接连接符 53"/>
                <p:cNvCxnSpPr>
                  <a:cxnSpLocks noChangeShapeType="1"/>
                  <a:stCxn id="44" idx="5"/>
                </p:cNvCxnSpPr>
                <p:nvPr/>
              </p:nvCxnSpPr>
              <p:spPr bwMode="auto">
                <a:xfrm flipH="1">
                  <a:off x="2026633" y="2620463"/>
                  <a:ext cx="1069" cy="418310"/>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sp>
            <p:nvSpPr>
              <p:cNvPr id="38" name="TextBox 54"/>
              <p:cNvSpPr txBox="1">
                <a:spLocks noChangeArrowheads="1"/>
              </p:cNvSpPr>
              <p:nvPr/>
            </p:nvSpPr>
            <p:spPr bwMode="auto">
              <a:xfrm>
                <a:off x="7591032" y="3000372"/>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7</a:t>
                </a:r>
                <a:endParaRPr lang="zh-CN" altLang="en-US" sz="1800"/>
              </a:p>
            </p:txBody>
          </p:sp>
          <p:sp>
            <p:nvSpPr>
              <p:cNvPr id="39" name="TextBox 55"/>
              <p:cNvSpPr txBox="1">
                <a:spLocks noChangeArrowheads="1"/>
              </p:cNvSpPr>
              <p:nvPr/>
            </p:nvSpPr>
            <p:spPr bwMode="auto">
              <a:xfrm>
                <a:off x="8265176" y="3000372"/>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8</a:t>
                </a:r>
                <a:endParaRPr lang="zh-CN" altLang="en-US" sz="1800"/>
              </a:p>
            </p:txBody>
          </p:sp>
          <p:grpSp>
            <p:nvGrpSpPr>
              <p:cNvPr id="40" name="组合 56"/>
              <p:cNvGrpSpPr/>
              <p:nvPr/>
            </p:nvGrpSpPr>
            <p:grpSpPr bwMode="auto">
              <a:xfrm>
                <a:off x="7733909" y="2033277"/>
                <a:ext cx="720505" cy="967095"/>
                <a:chOff x="1383692" y="2071678"/>
                <a:chExt cx="720505" cy="967095"/>
              </a:xfrm>
            </p:grpSpPr>
            <p:sp>
              <p:nvSpPr>
                <p:cNvPr id="41" name="椭圆 57"/>
                <p:cNvSpPr>
                  <a:spLocks noChangeArrowheads="1"/>
                </p:cNvSpPr>
                <p:nvPr/>
              </p:nvSpPr>
              <p:spPr bwMode="auto">
                <a:xfrm>
                  <a:off x="1403811" y="2071678"/>
                  <a:ext cx="700386"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t>15</a:t>
                  </a:r>
                  <a:endParaRPr lang="zh-CN" altLang="en-US" sz="1400"/>
                </a:p>
              </p:txBody>
            </p:sp>
            <p:cxnSp>
              <p:nvCxnSpPr>
                <p:cNvPr id="42" name="直接连接符 58"/>
                <p:cNvCxnSpPr>
                  <a:cxnSpLocks noChangeShapeType="1"/>
                  <a:stCxn id="41" idx="3"/>
                </p:cNvCxnSpPr>
                <p:nvPr/>
              </p:nvCxnSpPr>
              <p:spPr bwMode="auto">
                <a:xfrm flipH="1">
                  <a:off x="1383692" y="2559487"/>
                  <a:ext cx="122689" cy="479286"/>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43" name="直接连接符 59"/>
                <p:cNvCxnSpPr>
                  <a:cxnSpLocks noChangeShapeType="1"/>
                </p:cNvCxnSpPr>
                <p:nvPr/>
              </p:nvCxnSpPr>
              <p:spPr bwMode="auto">
                <a:xfrm>
                  <a:off x="1914959" y="2681582"/>
                  <a:ext cx="111673" cy="357191"/>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sp>
          <p:nvSpPr>
            <p:cNvPr id="35" name="TextBox 61"/>
            <p:cNvSpPr txBox="1">
              <a:spLocks noChangeArrowheads="1"/>
            </p:cNvSpPr>
            <p:nvPr/>
          </p:nvSpPr>
          <p:spPr bwMode="auto">
            <a:xfrm>
              <a:off x="6715140" y="3000372"/>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grpSp>
      <p:grpSp>
        <p:nvGrpSpPr>
          <p:cNvPr id="53" name="组合 63"/>
          <p:cNvGrpSpPr/>
          <p:nvPr/>
        </p:nvGrpSpPr>
        <p:grpSpPr bwMode="auto">
          <a:xfrm>
            <a:off x="6166209" y="1719008"/>
            <a:ext cx="734344" cy="784068"/>
            <a:chOff x="1336179" y="2071678"/>
            <a:chExt cx="881538" cy="1010225"/>
          </a:xfrm>
        </p:grpSpPr>
        <p:sp>
          <p:nvSpPr>
            <p:cNvPr id="54" name="椭圆 64"/>
            <p:cNvSpPr>
              <a:spLocks noChangeArrowheads="1"/>
            </p:cNvSpPr>
            <p:nvPr/>
          </p:nvSpPr>
          <p:spPr bwMode="auto">
            <a:xfrm>
              <a:off x="1428728" y="2071678"/>
              <a:ext cx="571504"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200"/>
                <a:t>25</a:t>
              </a:r>
              <a:endParaRPr lang="zh-CN" altLang="en-US" sz="1200"/>
            </a:p>
          </p:txBody>
        </p:sp>
        <p:cxnSp>
          <p:nvCxnSpPr>
            <p:cNvPr id="55" name="直接连接符 65"/>
            <p:cNvCxnSpPr>
              <a:cxnSpLocks noChangeShapeType="1"/>
              <a:stCxn id="54" idx="3"/>
              <a:endCxn id="44" idx="7"/>
            </p:cNvCxnSpPr>
            <p:nvPr/>
          </p:nvCxnSpPr>
          <p:spPr bwMode="auto">
            <a:xfrm flipH="1">
              <a:off x="1336179" y="2559488"/>
              <a:ext cx="176244" cy="50059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56" name="直接连接符 66"/>
            <p:cNvCxnSpPr>
              <a:cxnSpLocks noChangeShapeType="1"/>
              <a:stCxn id="54" idx="5"/>
              <a:endCxn id="41" idx="1"/>
            </p:cNvCxnSpPr>
            <p:nvPr/>
          </p:nvCxnSpPr>
          <p:spPr bwMode="auto">
            <a:xfrm>
              <a:off x="1916538" y="2559488"/>
              <a:ext cx="301179" cy="52241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sp>
        <p:nvSpPr>
          <p:cNvPr id="57" name="右箭头 56"/>
          <p:cNvSpPr>
            <a:spLocks noChangeArrowheads="1"/>
          </p:cNvSpPr>
          <p:nvPr/>
        </p:nvSpPr>
        <p:spPr bwMode="auto">
          <a:xfrm>
            <a:off x="2776328" y="2522684"/>
            <a:ext cx="321469" cy="107156"/>
          </a:xfrm>
          <a:prstGeom prst="rightArrow">
            <a:avLst>
              <a:gd name="adj1" fmla="val 50000"/>
              <a:gd name="adj2" fmla="val 50000"/>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58" name="右箭头 57"/>
          <p:cNvSpPr>
            <a:spLocks noChangeArrowheads="1"/>
          </p:cNvSpPr>
          <p:nvPr/>
        </p:nvSpPr>
        <p:spPr bwMode="auto">
          <a:xfrm>
            <a:off x="5187343" y="2415528"/>
            <a:ext cx="321469" cy="107156"/>
          </a:xfrm>
          <a:prstGeom prst="rightArrow">
            <a:avLst>
              <a:gd name="adj1" fmla="val 50000"/>
              <a:gd name="adj2" fmla="val 50000"/>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59" name="右箭头 58"/>
          <p:cNvSpPr>
            <a:spLocks noChangeArrowheads="1"/>
          </p:cNvSpPr>
          <p:nvPr/>
        </p:nvSpPr>
        <p:spPr bwMode="auto">
          <a:xfrm>
            <a:off x="4008624" y="2469105"/>
            <a:ext cx="321469" cy="107156"/>
          </a:xfrm>
          <a:prstGeom prst="rightArrow">
            <a:avLst>
              <a:gd name="adj1" fmla="val 50000"/>
              <a:gd name="adj2" fmla="val 50000"/>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par>
                          <p:cTn id="11" fill="hold">
                            <p:stCondLst>
                              <p:cond delay="500"/>
                            </p:stCondLst>
                            <p:childTnLst>
                              <p:par>
                                <p:cTn id="12" presetID="9" presetClass="entr" presetSubtype="0" fill="hold" nodeType="after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dissolve">
                                      <p:cBhvr>
                                        <p:cTn id="14" dur="5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grpId="0" nodeType="clickEffect">
                                  <p:stCondLst>
                                    <p:cond delay="0"/>
                                  </p:stCondLst>
                                  <p:childTnLst>
                                    <p:set>
                                      <p:cBhvr>
                                        <p:cTn id="18" dur="1" fill="hold">
                                          <p:stCondLst>
                                            <p:cond delay="0"/>
                                          </p:stCondLst>
                                        </p:cTn>
                                        <p:tgtEl>
                                          <p:spTgt spid="57"/>
                                        </p:tgtEl>
                                        <p:attrNameLst>
                                          <p:attrName>style.visibility</p:attrName>
                                        </p:attrNameLst>
                                      </p:cBhvr>
                                      <p:to>
                                        <p:strVal val="visible"/>
                                      </p:to>
                                    </p:set>
                                    <p:animEffect transition="in" filter="dissolve">
                                      <p:cBhvr>
                                        <p:cTn id="19" dur="500"/>
                                        <p:tgtEl>
                                          <p:spTgt spid="57"/>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dissolve">
                                      <p:cBhvr>
                                        <p:cTn id="24" dur="500"/>
                                        <p:tgtEl>
                                          <p:spTgt spid="22"/>
                                        </p:tgtEl>
                                      </p:cBhvr>
                                    </p:animEffect>
                                  </p:childTnLst>
                                </p:cTn>
                              </p:par>
                              <p:par>
                                <p:cTn id="25" presetID="9"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dissolve">
                                      <p:cBhvr>
                                        <p:cTn id="27" dur="500"/>
                                        <p:tgtEl>
                                          <p:spTgt spid="15"/>
                                        </p:tgtEl>
                                      </p:cBhvr>
                                    </p:animEffect>
                                  </p:childTnLst>
                                </p:cTn>
                              </p:par>
                            </p:childTnLst>
                          </p:cTn>
                        </p:par>
                        <p:par>
                          <p:cTn id="28" fill="hold">
                            <p:stCondLst>
                              <p:cond delay="500"/>
                            </p:stCondLst>
                            <p:childTnLst>
                              <p:par>
                                <p:cTn id="29" presetID="9" presetClass="entr" presetSubtype="0" fill="hold"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dissolve">
                                      <p:cBhvr>
                                        <p:cTn id="31" dur="500"/>
                                        <p:tgtEl>
                                          <p:spTgt spid="23"/>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59"/>
                                        </p:tgtEl>
                                        <p:attrNameLst>
                                          <p:attrName>style.visibility</p:attrName>
                                        </p:attrNameLst>
                                      </p:cBhvr>
                                      <p:to>
                                        <p:strVal val="visible"/>
                                      </p:to>
                                    </p:set>
                                    <p:animEffect transition="in" filter="dissolve">
                                      <p:cBhvr>
                                        <p:cTn id="36" dur="500"/>
                                        <p:tgtEl>
                                          <p:spTgt spid="59"/>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dissolve">
                                      <p:cBhvr>
                                        <p:cTn id="41" dur="500"/>
                                        <p:tgtEl>
                                          <p:spTgt spid="27"/>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28"/>
                                        </p:tgtEl>
                                        <p:attrNameLst>
                                          <p:attrName>style.visibility</p:attrName>
                                        </p:attrNameLst>
                                      </p:cBhvr>
                                      <p:to>
                                        <p:strVal val="visible"/>
                                      </p:to>
                                    </p:set>
                                    <p:animEffect transition="in" filter="dissolve">
                                      <p:cBhvr>
                                        <p:cTn id="44" dur="500"/>
                                        <p:tgtEl>
                                          <p:spTgt spid="28"/>
                                        </p:tgtEl>
                                      </p:cBhvr>
                                    </p:animEffect>
                                  </p:childTnLst>
                                </p:cTn>
                              </p:par>
                            </p:childTnLst>
                          </p:cTn>
                        </p:par>
                        <p:par>
                          <p:cTn id="45" fill="hold">
                            <p:stCondLst>
                              <p:cond delay="500"/>
                            </p:stCondLst>
                            <p:childTnLst>
                              <p:par>
                                <p:cTn id="46" presetID="9" presetClass="entr" presetSubtype="0" fill="hold" nodeType="after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dissolve">
                                      <p:cBhvr>
                                        <p:cTn id="48" dur="5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9" presetClass="entr" presetSubtype="0" fill="hold" grpId="0" nodeType="click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dissolve">
                                      <p:cBhvr>
                                        <p:cTn id="53" dur="500"/>
                                        <p:tgtEl>
                                          <p:spTgt spid="58"/>
                                        </p:tgtEl>
                                      </p:cBhvr>
                                    </p:animEffec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nodeType="click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dissolve">
                                      <p:cBhvr>
                                        <p:cTn id="58" dur="500"/>
                                        <p:tgtEl>
                                          <p:spTgt spid="33"/>
                                        </p:tgtEl>
                                      </p:cBhvr>
                                    </p:animEffect>
                                  </p:childTnLst>
                                </p:cTn>
                              </p:par>
                            </p:childTnLst>
                          </p:cTn>
                        </p:par>
                        <p:par>
                          <p:cTn id="59" fill="hold">
                            <p:stCondLst>
                              <p:cond delay="500"/>
                            </p:stCondLst>
                            <p:childTnLst>
                              <p:par>
                                <p:cTn id="60" presetID="9" presetClass="entr" presetSubtype="0" fill="hold" nodeType="afterEffect">
                                  <p:stCondLst>
                                    <p:cond delay="0"/>
                                  </p:stCondLst>
                                  <p:childTnLst>
                                    <p:set>
                                      <p:cBhvr>
                                        <p:cTn id="61" dur="1" fill="hold">
                                          <p:stCondLst>
                                            <p:cond delay="0"/>
                                          </p:stCondLst>
                                        </p:cTn>
                                        <p:tgtEl>
                                          <p:spTgt spid="53"/>
                                        </p:tgtEl>
                                        <p:attrNameLst>
                                          <p:attrName>style.visibility</p:attrName>
                                        </p:attrNameLst>
                                      </p:cBhvr>
                                      <p:to>
                                        <p:strVal val="visible"/>
                                      </p:to>
                                    </p:set>
                                    <p:animEffect transition="in" filter="dissolve">
                                      <p:cBhvr>
                                        <p:cTn id="6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7" grpId="0" animBg="1"/>
      <p:bldP spid="28" grpId="0" animBg="1"/>
      <p:bldP spid="57" grpId="0" animBg="1"/>
      <p:bldP spid="58" grpId="0" animBg="1"/>
      <p:bldP spid="5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赫夫曼树的特点</a:t>
            </a:r>
            <a:r>
              <a:rPr lang="en-US" altLang="zh-CN" dirty="0"/>
              <a:t>: </a:t>
            </a:r>
            <a:endParaRPr lang="en-US" altLang="zh-CN" dirty="0"/>
          </a:p>
          <a:p>
            <a:pPr marL="285750" lvl="2" indent="-285750" eaLnBrk="0" fontAlgn="base" hangingPunct="0">
              <a:lnSpc>
                <a:spcPts val="3000"/>
              </a:lnSpc>
              <a:spcBef>
                <a:spcPts val="600"/>
              </a:spcBef>
              <a:spcAft>
                <a:spcPct val="0"/>
              </a:spcAft>
              <a:buFont typeface="Wingdings" panose="05000000000000000000" pitchFamily="2" charset="2"/>
              <a:buChar char="Ø"/>
            </a:pPr>
            <a:r>
              <a:rPr lang="zh-CN" altLang="en-US" sz="2400" dirty="0"/>
              <a:t> 没有度为</a:t>
            </a:r>
            <a:r>
              <a:rPr lang="en-US" altLang="zh-CN" sz="2400" dirty="0"/>
              <a:t>1</a:t>
            </a:r>
            <a:r>
              <a:rPr lang="zh-CN" altLang="en-US" sz="2400" dirty="0"/>
              <a:t>的结点； </a:t>
            </a:r>
            <a:endParaRPr lang="zh-CN" altLang="en-US" sz="2400" dirty="0"/>
          </a:p>
          <a:p>
            <a:pPr marL="285750" lvl="2" indent="-285750" eaLnBrk="0" fontAlgn="base" hangingPunct="0">
              <a:lnSpc>
                <a:spcPts val="3000"/>
              </a:lnSpc>
              <a:spcBef>
                <a:spcPts val="600"/>
              </a:spcBef>
              <a:spcAft>
                <a:spcPct val="0"/>
              </a:spcAft>
              <a:buFont typeface="Wingdings" panose="05000000000000000000" pitchFamily="2" charset="2"/>
              <a:buChar char="Ø"/>
            </a:pPr>
            <a:r>
              <a:rPr lang="zh-CN" altLang="en-US" sz="2400" dirty="0"/>
              <a:t> 赫夫曼树的任意分支</a:t>
            </a:r>
            <a:endParaRPr lang="en-US" altLang="zh-CN" sz="2400" dirty="0"/>
          </a:p>
          <a:p>
            <a:pPr marL="0" lvl="2" eaLnBrk="0" fontAlgn="base" hangingPunct="0">
              <a:lnSpc>
                <a:spcPts val="3000"/>
              </a:lnSpc>
              <a:spcBef>
                <a:spcPts val="600"/>
              </a:spcBef>
              <a:spcAft>
                <a:spcPct val="0"/>
              </a:spcAft>
            </a:pPr>
            <a:r>
              <a:rPr lang="en-US" altLang="zh-CN" sz="2400" dirty="0"/>
              <a:t>     </a:t>
            </a:r>
            <a:r>
              <a:rPr lang="zh-CN" altLang="en-US" sz="2400" dirty="0"/>
              <a:t>结点的左右子树交换</a:t>
            </a:r>
            <a:endParaRPr lang="en-US" altLang="zh-CN" sz="2400" dirty="0"/>
          </a:p>
          <a:p>
            <a:pPr marL="0" lvl="2" eaLnBrk="0" fontAlgn="base" hangingPunct="0">
              <a:lnSpc>
                <a:spcPts val="3000"/>
              </a:lnSpc>
              <a:spcBef>
                <a:spcPts val="600"/>
              </a:spcBef>
              <a:spcAft>
                <a:spcPct val="0"/>
              </a:spcAft>
            </a:pPr>
            <a:r>
              <a:rPr lang="en-US" altLang="zh-CN" sz="2400" dirty="0"/>
              <a:t>     </a:t>
            </a:r>
            <a:r>
              <a:rPr lang="zh-CN" altLang="en-US" sz="2400" dirty="0"/>
              <a:t>后仍是赫夫曼树； </a:t>
            </a:r>
            <a:endParaRPr lang="zh-CN" altLang="en-US" sz="2400" dirty="0"/>
          </a:p>
          <a:p>
            <a:pPr marL="285750" lvl="2" indent="-285750" eaLnBrk="0" fontAlgn="base" hangingPunct="0">
              <a:lnSpc>
                <a:spcPts val="3000"/>
              </a:lnSpc>
              <a:spcBef>
                <a:spcPts val="600"/>
              </a:spcBef>
              <a:spcAft>
                <a:spcPct val="0"/>
              </a:spcAft>
              <a:buFont typeface="Wingdings" panose="05000000000000000000" pitchFamily="2" charset="2"/>
              <a:buChar char="Ø"/>
            </a:pPr>
            <a:r>
              <a:rPr lang="zh-CN" altLang="en-US" sz="2400" dirty="0"/>
              <a:t> </a:t>
            </a:r>
            <a:r>
              <a:rPr lang="en-US" altLang="zh-CN" sz="2400" dirty="0"/>
              <a:t>n</a:t>
            </a:r>
            <a:r>
              <a:rPr lang="zh-CN" altLang="en-US" sz="2400" dirty="0"/>
              <a:t>个叶子结点的赫夫</a:t>
            </a:r>
            <a:endParaRPr lang="en-US" altLang="zh-CN" sz="2400" dirty="0"/>
          </a:p>
          <a:p>
            <a:pPr marL="0" lvl="2" eaLnBrk="0" fontAlgn="base" hangingPunct="0">
              <a:lnSpc>
                <a:spcPts val="3000"/>
              </a:lnSpc>
              <a:spcBef>
                <a:spcPts val="600"/>
              </a:spcBef>
              <a:spcAft>
                <a:spcPct val="0"/>
              </a:spcAft>
            </a:pPr>
            <a:r>
              <a:rPr lang="en-US" altLang="zh-CN" sz="2400" dirty="0"/>
              <a:t>    </a:t>
            </a:r>
            <a:r>
              <a:rPr lang="zh-CN" altLang="en-US" sz="2400" dirty="0"/>
              <a:t>曼树共有</a:t>
            </a:r>
            <a:r>
              <a:rPr lang="en-US" altLang="zh-CN" sz="2400" dirty="0"/>
              <a:t>2n-1</a:t>
            </a:r>
            <a:r>
              <a:rPr lang="zh-CN" altLang="en-US" sz="2400" dirty="0"/>
              <a:t>个结点。</a:t>
            </a:r>
            <a:endParaRPr lang="zh-CN" altLang="en-US" sz="2400" dirty="0"/>
          </a:p>
          <a:p>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grpSp>
        <p:nvGrpSpPr>
          <p:cNvPr id="4" name="组合 3"/>
          <p:cNvGrpSpPr/>
          <p:nvPr/>
        </p:nvGrpSpPr>
        <p:grpSpPr bwMode="auto">
          <a:xfrm>
            <a:off x="5197469" y="878282"/>
            <a:ext cx="2215421" cy="2434101"/>
            <a:chOff x="5608639" y="1714501"/>
            <a:chExt cx="2953894" cy="3245468"/>
          </a:xfrm>
        </p:grpSpPr>
        <p:grpSp>
          <p:nvGrpSpPr>
            <p:cNvPr id="5" name="组合 62"/>
            <p:cNvGrpSpPr/>
            <p:nvPr/>
          </p:nvGrpSpPr>
          <p:grpSpPr bwMode="auto">
            <a:xfrm>
              <a:off x="5608639" y="2643188"/>
              <a:ext cx="2953894" cy="2316781"/>
              <a:chOff x="5609404" y="2000240"/>
              <a:chExt cx="2953139" cy="2316797"/>
            </a:xfrm>
          </p:grpSpPr>
          <p:grpSp>
            <p:nvGrpSpPr>
              <p:cNvPr id="10" name="组合 60"/>
              <p:cNvGrpSpPr/>
              <p:nvPr/>
            </p:nvGrpSpPr>
            <p:grpSpPr bwMode="auto">
              <a:xfrm>
                <a:off x="5609404" y="2000240"/>
                <a:ext cx="2953139" cy="2316797"/>
                <a:chOff x="5609404" y="2000240"/>
                <a:chExt cx="2953139" cy="2316797"/>
              </a:xfrm>
            </p:grpSpPr>
            <p:grpSp>
              <p:nvGrpSpPr>
                <p:cNvPr id="12" name="组合 43"/>
                <p:cNvGrpSpPr/>
                <p:nvPr/>
              </p:nvGrpSpPr>
              <p:grpSpPr bwMode="auto">
                <a:xfrm>
                  <a:off x="5609404" y="2928934"/>
                  <a:ext cx="1042949" cy="1388103"/>
                  <a:chOff x="2518934" y="2643182"/>
                  <a:chExt cx="1042949" cy="1388103"/>
                </a:xfrm>
              </p:grpSpPr>
              <p:sp>
                <p:nvSpPr>
                  <p:cNvPr id="23" name="TextBox 44"/>
                  <p:cNvSpPr txBox="1">
                    <a:spLocks noChangeArrowheads="1"/>
                  </p:cNvSpPr>
                  <p:nvPr/>
                </p:nvSpPr>
                <p:spPr bwMode="auto">
                  <a:xfrm>
                    <a:off x="2518934" y="3538839"/>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2</a:t>
                    </a:r>
                    <a:endParaRPr lang="zh-CN" altLang="en-US" sz="1800"/>
                  </a:p>
                </p:txBody>
              </p:sp>
              <p:sp>
                <p:nvSpPr>
                  <p:cNvPr id="24" name="TextBox 45"/>
                  <p:cNvSpPr txBox="1">
                    <a:spLocks noChangeArrowheads="1"/>
                  </p:cNvSpPr>
                  <p:nvPr/>
                </p:nvSpPr>
                <p:spPr bwMode="auto">
                  <a:xfrm>
                    <a:off x="3161876" y="3538839"/>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3</a:t>
                    </a:r>
                    <a:endParaRPr lang="zh-CN" altLang="en-US" sz="1800"/>
                  </a:p>
                </p:txBody>
              </p:sp>
              <p:grpSp>
                <p:nvGrpSpPr>
                  <p:cNvPr id="25" name="组合 21"/>
                  <p:cNvGrpSpPr/>
                  <p:nvPr/>
                </p:nvGrpSpPr>
                <p:grpSpPr bwMode="auto">
                  <a:xfrm>
                    <a:off x="2688211" y="2643182"/>
                    <a:ext cx="642942" cy="895657"/>
                    <a:chOff x="1383691" y="2143116"/>
                    <a:chExt cx="642942" cy="895657"/>
                  </a:xfrm>
                </p:grpSpPr>
                <p:sp>
                  <p:nvSpPr>
                    <p:cNvPr id="26" name="椭圆 47"/>
                    <p:cNvSpPr>
                      <a:spLocks noChangeArrowheads="1"/>
                    </p:cNvSpPr>
                    <p:nvPr/>
                  </p:nvSpPr>
                  <p:spPr bwMode="auto">
                    <a:xfrm>
                      <a:off x="1428728" y="2143116"/>
                      <a:ext cx="571504"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cxnSp>
                  <p:nvCxnSpPr>
                    <p:cNvPr id="27" name="直接连接符 48"/>
                    <p:cNvCxnSpPr>
                      <a:cxnSpLocks noChangeShapeType="1"/>
                      <a:stCxn id="26" idx="3"/>
                      <a:endCxn id="23" idx="0"/>
                    </p:cNvCxnSpPr>
                    <p:nvPr/>
                  </p:nvCxnSpPr>
                  <p:spPr bwMode="auto">
                    <a:xfrm rot="5400000">
                      <a:off x="1244133" y="2770483"/>
                      <a:ext cx="407848" cy="12873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8" name="直接连接符 49"/>
                    <p:cNvCxnSpPr>
                      <a:cxnSpLocks noChangeShapeType="1"/>
                      <a:stCxn id="26" idx="5"/>
                      <a:endCxn id="24" idx="0"/>
                    </p:cNvCxnSpPr>
                    <p:nvPr/>
                  </p:nvCxnSpPr>
                  <p:spPr bwMode="auto">
                    <a:xfrm rot="16200000" flipH="1">
                      <a:off x="1767661" y="2779801"/>
                      <a:ext cx="407848" cy="110096"/>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nvGrpSpPr>
                <p:cNvPr id="13" name="组合 50"/>
                <p:cNvGrpSpPr/>
                <p:nvPr/>
              </p:nvGrpSpPr>
              <p:grpSpPr bwMode="auto">
                <a:xfrm>
                  <a:off x="6233715" y="2000240"/>
                  <a:ext cx="746769" cy="967095"/>
                  <a:chOff x="1383696" y="2071678"/>
                  <a:chExt cx="746769" cy="967095"/>
                </a:xfrm>
              </p:grpSpPr>
              <p:sp>
                <p:nvSpPr>
                  <p:cNvPr id="20" name="椭圆 51"/>
                  <p:cNvSpPr>
                    <a:spLocks noChangeArrowheads="1"/>
                  </p:cNvSpPr>
                  <p:nvPr/>
                </p:nvSpPr>
                <p:spPr bwMode="auto">
                  <a:xfrm>
                    <a:off x="1428726" y="2071678"/>
                    <a:ext cx="701739" cy="642942"/>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350"/>
                      <a:t>10</a:t>
                    </a:r>
                    <a:endParaRPr lang="zh-CN" altLang="en-US" sz="1350"/>
                  </a:p>
                </p:txBody>
              </p:sp>
              <p:cxnSp>
                <p:nvCxnSpPr>
                  <p:cNvPr id="21" name="直接连接符 52"/>
                  <p:cNvCxnSpPr>
                    <a:cxnSpLocks noChangeShapeType="1"/>
                    <a:stCxn id="20" idx="3"/>
                  </p:cNvCxnSpPr>
                  <p:nvPr/>
                </p:nvCxnSpPr>
                <p:spPr bwMode="auto">
                  <a:xfrm flipH="1">
                    <a:off x="1383696" y="2620463"/>
                    <a:ext cx="147797" cy="418310"/>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2" name="直接连接符 53"/>
                  <p:cNvCxnSpPr>
                    <a:cxnSpLocks noChangeShapeType="1"/>
                    <a:stCxn id="20" idx="5"/>
                  </p:cNvCxnSpPr>
                  <p:nvPr/>
                </p:nvCxnSpPr>
                <p:spPr bwMode="auto">
                  <a:xfrm flipH="1">
                    <a:off x="2026634" y="2620463"/>
                    <a:ext cx="1064" cy="418310"/>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sp>
              <p:nvSpPr>
                <p:cNvPr id="14" name="TextBox 54"/>
                <p:cNvSpPr txBox="1">
                  <a:spLocks noChangeArrowheads="1"/>
                </p:cNvSpPr>
                <p:nvPr/>
              </p:nvSpPr>
              <p:spPr bwMode="auto">
                <a:xfrm>
                  <a:off x="7591032" y="3000372"/>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7</a:t>
                  </a:r>
                  <a:endParaRPr lang="zh-CN" altLang="en-US" sz="1800"/>
                </a:p>
              </p:txBody>
            </p:sp>
            <p:sp>
              <p:nvSpPr>
                <p:cNvPr id="15" name="TextBox 55"/>
                <p:cNvSpPr txBox="1">
                  <a:spLocks noChangeArrowheads="1"/>
                </p:cNvSpPr>
                <p:nvPr/>
              </p:nvSpPr>
              <p:spPr bwMode="auto">
                <a:xfrm>
                  <a:off x="8162536" y="3000372"/>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8</a:t>
                  </a:r>
                  <a:endParaRPr lang="zh-CN" altLang="en-US" sz="1800"/>
                </a:p>
              </p:txBody>
            </p:sp>
            <p:grpSp>
              <p:nvGrpSpPr>
                <p:cNvPr id="16" name="组合 56"/>
                <p:cNvGrpSpPr/>
                <p:nvPr/>
              </p:nvGrpSpPr>
              <p:grpSpPr bwMode="auto">
                <a:xfrm>
                  <a:off x="7672393" y="2033277"/>
                  <a:ext cx="704455" cy="967095"/>
                  <a:chOff x="1322176" y="2071678"/>
                  <a:chExt cx="704455" cy="967095"/>
                </a:xfrm>
              </p:grpSpPr>
              <p:sp>
                <p:nvSpPr>
                  <p:cNvPr id="17" name="椭圆 57"/>
                  <p:cNvSpPr>
                    <a:spLocks noChangeArrowheads="1"/>
                  </p:cNvSpPr>
                  <p:nvPr/>
                </p:nvSpPr>
                <p:spPr bwMode="auto">
                  <a:xfrm>
                    <a:off x="1322176" y="2071678"/>
                    <a:ext cx="678056"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200"/>
                      <a:t>15</a:t>
                    </a:r>
                    <a:endParaRPr lang="zh-CN" altLang="en-US" sz="1200"/>
                  </a:p>
                </p:txBody>
              </p:sp>
              <p:cxnSp>
                <p:nvCxnSpPr>
                  <p:cNvPr id="18" name="直接连接符 58"/>
                  <p:cNvCxnSpPr>
                    <a:cxnSpLocks noChangeShapeType="1"/>
                    <a:stCxn id="17" idx="3"/>
                  </p:cNvCxnSpPr>
                  <p:nvPr/>
                </p:nvCxnSpPr>
                <p:spPr bwMode="auto">
                  <a:xfrm flipH="1">
                    <a:off x="1383692" y="2559487"/>
                    <a:ext cx="37782" cy="479286"/>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19" name="直接连接符 59"/>
                  <p:cNvCxnSpPr>
                    <a:cxnSpLocks noChangeShapeType="1"/>
                    <a:stCxn id="17" idx="5"/>
                  </p:cNvCxnSpPr>
                  <p:nvPr/>
                </p:nvCxnSpPr>
                <p:spPr bwMode="auto">
                  <a:xfrm>
                    <a:off x="1900934" y="2559487"/>
                    <a:ext cx="125697" cy="479286"/>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sp>
            <p:nvSpPr>
              <p:cNvPr id="11" name="TextBox 61"/>
              <p:cNvSpPr txBox="1">
                <a:spLocks noChangeArrowheads="1"/>
              </p:cNvSpPr>
              <p:nvPr/>
            </p:nvSpPr>
            <p:spPr bwMode="auto">
              <a:xfrm>
                <a:off x="6715140" y="3000372"/>
                <a:ext cx="400007" cy="492446"/>
              </a:xfrm>
              <a:prstGeom prst="rect">
                <a:avLst/>
              </a:prstGeom>
              <a:noFill/>
              <a:ln w="9525">
                <a:solidFill>
                  <a:schemeClr val="tx1"/>
                </a:solidFill>
                <a:miter lim="800000"/>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a:t>
                </a:r>
                <a:endParaRPr lang="zh-CN" altLang="en-US" sz="1800"/>
              </a:p>
            </p:txBody>
          </p:sp>
        </p:grpSp>
        <p:grpSp>
          <p:nvGrpSpPr>
            <p:cNvPr id="6" name="组合 63"/>
            <p:cNvGrpSpPr/>
            <p:nvPr/>
          </p:nvGrpSpPr>
          <p:grpSpPr bwMode="auto">
            <a:xfrm>
              <a:off x="6877276" y="1714501"/>
              <a:ext cx="894204" cy="1045418"/>
              <a:chOff x="1336178" y="2071678"/>
              <a:chExt cx="805083" cy="1010218"/>
            </a:xfrm>
          </p:grpSpPr>
          <p:sp>
            <p:nvSpPr>
              <p:cNvPr id="7" name="椭圆 64"/>
              <p:cNvSpPr>
                <a:spLocks noChangeArrowheads="1"/>
              </p:cNvSpPr>
              <p:nvPr/>
            </p:nvSpPr>
            <p:spPr bwMode="auto">
              <a:xfrm>
                <a:off x="1428728" y="2071678"/>
                <a:ext cx="571504" cy="571504"/>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200"/>
                  <a:t>25</a:t>
                </a:r>
                <a:endParaRPr lang="zh-CN" altLang="en-US" sz="1200"/>
              </a:p>
            </p:txBody>
          </p:sp>
          <p:cxnSp>
            <p:nvCxnSpPr>
              <p:cNvPr id="8" name="直接连接符 65"/>
              <p:cNvCxnSpPr>
                <a:cxnSpLocks noChangeShapeType="1"/>
                <a:stCxn id="7" idx="3"/>
                <a:endCxn id="20" idx="7"/>
              </p:cNvCxnSpPr>
              <p:nvPr/>
            </p:nvCxnSpPr>
            <p:spPr bwMode="auto">
              <a:xfrm flipH="1">
                <a:off x="1336178" y="2559488"/>
                <a:ext cx="176245" cy="50059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9" name="直接连接符 66"/>
              <p:cNvCxnSpPr>
                <a:cxnSpLocks noChangeShapeType="1"/>
                <a:stCxn id="7" idx="5"/>
                <a:endCxn id="17" idx="1"/>
              </p:cNvCxnSpPr>
              <p:nvPr/>
            </p:nvCxnSpPr>
            <p:spPr bwMode="auto">
              <a:xfrm>
                <a:off x="1916536" y="2559487"/>
                <a:ext cx="224725" cy="52240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思考：</a:t>
            </a:r>
            <a:endParaRPr lang="en-US" altLang="zh-CN" dirty="0"/>
          </a:p>
          <a:p>
            <a:pPr lvl="2"/>
            <a:r>
              <a:rPr lang="zh-CN" altLang="en-US" dirty="0"/>
              <a:t> 对同一组权值</a:t>
            </a:r>
            <a:r>
              <a:rPr lang="en-US" altLang="zh-CN" dirty="0"/>
              <a:t>{w1 ,w2 , …… , </a:t>
            </a:r>
            <a:r>
              <a:rPr lang="en-US" altLang="zh-CN" dirty="0" err="1"/>
              <a:t>wn</a:t>
            </a:r>
            <a:r>
              <a:rPr lang="en-US" altLang="zh-CN" dirty="0"/>
              <a:t>}</a:t>
            </a:r>
            <a:r>
              <a:rPr lang="zh-CN" altLang="en-US" dirty="0"/>
              <a:t>，是否存在不同构的两棵赫夫曼树呢？ </a:t>
            </a:r>
            <a:endParaRPr lang="zh-CN" altLang="en-US" dirty="0"/>
          </a:p>
          <a:p>
            <a:pPr lvl="2"/>
            <a:r>
              <a:rPr lang="zh-CN" altLang="en-US" dirty="0"/>
              <a:t>例：对一组权值</a:t>
            </a:r>
            <a:r>
              <a:rPr lang="en-US" altLang="zh-CN" dirty="0"/>
              <a:t>{ 1, 2, 3, 3 }</a:t>
            </a:r>
            <a:r>
              <a:rPr lang="zh-CN" altLang="en-US" dirty="0"/>
              <a:t>，赫夫曼树有哪些？ </a:t>
            </a:r>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218737" y="2485299"/>
            <a:ext cx="4536281" cy="1950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问题</a:t>
            </a:r>
            <a:r>
              <a:rPr lang="en-US" altLang="zh-CN" dirty="0"/>
              <a:t>1</a:t>
            </a:r>
            <a:r>
              <a:rPr lang="zh-CN" altLang="en-US" dirty="0"/>
              <a:t>：</a:t>
            </a:r>
            <a:endParaRPr lang="en-US" altLang="zh-CN" dirty="0"/>
          </a:p>
          <a:p>
            <a:pPr lvl="2"/>
            <a:r>
              <a:rPr lang="zh-CN" altLang="en-US" dirty="0"/>
              <a:t>给定一段字符串，如何对字符进行编码，可以使得该字符串的编码存储空间最少？</a:t>
            </a:r>
            <a:endParaRPr lang="en-US" altLang="zh-CN" dirty="0"/>
          </a:p>
          <a:p>
            <a:pPr lvl="2"/>
            <a:r>
              <a:rPr lang="en-US" altLang="zh-CN" dirty="0"/>
              <a:t>【</a:t>
            </a:r>
            <a:r>
              <a:rPr lang="zh-CN" altLang="en-US" dirty="0"/>
              <a:t>例</a:t>
            </a:r>
            <a:r>
              <a:rPr lang="en-US" altLang="zh-CN" dirty="0"/>
              <a:t>】</a:t>
            </a:r>
            <a:r>
              <a:rPr lang="zh-CN" altLang="en-US" dirty="0"/>
              <a:t>假设有一段文本，长度为</a:t>
            </a:r>
            <a:r>
              <a:rPr lang="en-US" altLang="zh-CN" dirty="0"/>
              <a:t>32</a:t>
            </a:r>
            <a:r>
              <a:rPr lang="zh-CN" altLang="en-US" dirty="0"/>
              <a:t>，包含</a:t>
            </a:r>
            <a:r>
              <a:rPr lang="en-US" altLang="zh-CN" dirty="0"/>
              <a:t>state</a:t>
            </a:r>
            <a:r>
              <a:rPr lang="zh-CN" altLang="en-US" dirty="0"/>
              <a:t>、</a:t>
            </a:r>
            <a:r>
              <a:rPr lang="en-US" altLang="zh-CN" dirty="0"/>
              <a:t>seat</a:t>
            </a:r>
            <a:r>
              <a:rPr lang="zh-CN" altLang="en-US" dirty="0"/>
              <a:t>、</a:t>
            </a:r>
            <a:r>
              <a:rPr lang="en-US" altLang="zh-CN" dirty="0"/>
              <a:t>act</a:t>
            </a:r>
            <a:r>
              <a:rPr lang="zh-CN" altLang="en-US" dirty="0"/>
              <a:t>、</a:t>
            </a:r>
            <a:r>
              <a:rPr lang="en-US" altLang="zh-CN" dirty="0"/>
              <a:t>tea</a:t>
            </a:r>
            <a:r>
              <a:rPr lang="zh-CN" altLang="en-US" dirty="0"/>
              <a:t>、</a:t>
            </a:r>
            <a:r>
              <a:rPr lang="en-US" altLang="zh-CN" dirty="0"/>
              <a:t>cat</a:t>
            </a:r>
            <a:r>
              <a:rPr lang="zh-CN" altLang="en-US" dirty="0"/>
              <a:t>、</a:t>
            </a:r>
            <a:r>
              <a:rPr lang="en-US" altLang="zh-CN" dirty="0"/>
              <a:t>set</a:t>
            </a:r>
            <a:r>
              <a:rPr lang="zh-CN" altLang="en-US" dirty="0"/>
              <a:t>、</a:t>
            </a:r>
            <a:r>
              <a:rPr lang="en-US" altLang="zh-CN" dirty="0"/>
              <a:t>a</a:t>
            </a:r>
            <a:r>
              <a:rPr lang="zh-CN" altLang="en-US" dirty="0"/>
              <a:t>、</a:t>
            </a:r>
            <a:r>
              <a:rPr lang="en-US" altLang="zh-CN" dirty="0"/>
              <a:t>eat</a:t>
            </a:r>
            <a:r>
              <a:rPr lang="zh-CN" altLang="en-US" dirty="0"/>
              <a:t>这</a:t>
            </a:r>
            <a:r>
              <a:rPr lang="en-US" altLang="zh-CN" dirty="0"/>
              <a:t>8</a:t>
            </a:r>
            <a:r>
              <a:rPr lang="zh-CN" altLang="en-US" dirty="0"/>
              <a:t>个单词，加上单词之间的空格符，共</a:t>
            </a:r>
            <a:r>
              <a:rPr lang="en-US" altLang="zh-CN" dirty="0"/>
              <a:t>6</a:t>
            </a:r>
            <a:r>
              <a:rPr lang="zh-CN" altLang="en-US" dirty="0"/>
              <a:t>个字符；这</a:t>
            </a:r>
            <a:r>
              <a:rPr lang="en-US" altLang="zh-CN" dirty="0"/>
              <a:t>6</a:t>
            </a:r>
            <a:r>
              <a:rPr lang="zh-CN" altLang="en-US" dirty="0"/>
              <a:t>个字符出现的次数不同。</a:t>
            </a:r>
            <a:r>
              <a:rPr lang="en-US" altLang="zh-CN" dirty="0"/>
              <a:t> </a:t>
            </a:r>
            <a:r>
              <a:rPr lang="zh-CN" altLang="en-US" dirty="0"/>
              <a:t>如何对这</a:t>
            </a:r>
            <a:r>
              <a:rPr lang="en-US" altLang="zh-CN" dirty="0"/>
              <a:t>6</a:t>
            </a:r>
            <a:r>
              <a:rPr lang="zh-CN" altLang="en-US" dirty="0"/>
              <a:t>个字符进行编码，使得总编码空间最少？ </a:t>
            </a:r>
            <a:endParaRPr lang="zh-CN" altLang="en-US"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问题</a:t>
            </a:r>
            <a:r>
              <a:rPr lang="en-US" altLang="zh-CN" dirty="0"/>
              <a:t>1</a:t>
            </a:r>
            <a:r>
              <a:rPr lang="zh-CN" altLang="en-US" dirty="0"/>
              <a:t>：</a:t>
            </a:r>
            <a:endParaRPr lang="en-US" altLang="zh-CN" dirty="0"/>
          </a:p>
          <a:p>
            <a:pPr lvl="2"/>
            <a:r>
              <a:rPr lang="en-US" altLang="zh-CN" dirty="0"/>
              <a:t>【</a:t>
            </a:r>
            <a:r>
              <a:rPr lang="zh-CN" altLang="en-US" dirty="0"/>
              <a:t>分析</a:t>
            </a:r>
            <a:r>
              <a:rPr lang="en-US" altLang="zh-CN" dirty="0"/>
              <a:t>】 </a:t>
            </a:r>
            <a:endParaRPr lang="en-US" altLang="zh-CN" dirty="0"/>
          </a:p>
          <a:p>
            <a:pPr lvl="2"/>
            <a:r>
              <a:rPr lang="zh-CN" altLang="en-US" dirty="0"/>
              <a:t>（</a:t>
            </a:r>
            <a:r>
              <a:rPr lang="en-US" altLang="zh-CN" dirty="0"/>
              <a:t>1</a:t>
            </a:r>
            <a:r>
              <a:rPr lang="zh-CN" altLang="en-US" dirty="0"/>
              <a:t>）用等长</a:t>
            </a:r>
            <a:r>
              <a:rPr lang="en-US" altLang="zh-CN" dirty="0"/>
              <a:t>ASCII</a:t>
            </a:r>
            <a:r>
              <a:rPr lang="zh-CN" altLang="en-US" dirty="0"/>
              <a:t>编码：</a:t>
            </a:r>
            <a:r>
              <a:rPr lang="en-US" altLang="zh-CN" dirty="0">
                <a:solidFill>
                  <a:srgbClr val="FF0000"/>
                </a:solidFill>
              </a:rPr>
              <a:t>32 × 8 = 256</a:t>
            </a:r>
            <a:r>
              <a:rPr lang="zh-CN" altLang="en-US" dirty="0"/>
              <a:t>位； </a:t>
            </a:r>
            <a:endParaRPr lang="zh-CN" altLang="en-US" dirty="0"/>
          </a:p>
          <a:p>
            <a:pPr lvl="2"/>
            <a:r>
              <a:rPr lang="zh-CN" altLang="en-US" dirty="0"/>
              <a:t>（</a:t>
            </a:r>
            <a:r>
              <a:rPr lang="en-US" altLang="zh-CN" dirty="0"/>
              <a:t>2</a:t>
            </a:r>
            <a:r>
              <a:rPr lang="zh-CN" altLang="en-US" dirty="0"/>
              <a:t>）用等长</a:t>
            </a:r>
            <a:r>
              <a:rPr lang="en-US" altLang="zh-CN" dirty="0"/>
              <a:t>3</a:t>
            </a:r>
            <a:r>
              <a:rPr lang="zh-CN" altLang="en-US" dirty="0"/>
              <a:t>位编码：</a:t>
            </a:r>
            <a:r>
              <a:rPr lang="en-US" altLang="zh-CN" dirty="0">
                <a:solidFill>
                  <a:srgbClr val="FF0000"/>
                </a:solidFill>
              </a:rPr>
              <a:t>32 ×3 = 96</a:t>
            </a:r>
            <a:r>
              <a:rPr lang="zh-CN" altLang="en-US" dirty="0"/>
              <a:t>位； </a:t>
            </a:r>
            <a:endParaRPr lang="zh-CN" altLang="en-US" dirty="0"/>
          </a:p>
          <a:p>
            <a:pPr lvl="2"/>
            <a:r>
              <a:rPr lang="zh-CN" altLang="en-US" dirty="0"/>
              <a:t>（</a:t>
            </a:r>
            <a:r>
              <a:rPr lang="en-US" altLang="zh-CN" dirty="0"/>
              <a:t>3</a:t>
            </a:r>
            <a:r>
              <a:rPr lang="zh-CN" altLang="en-US" dirty="0"/>
              <a:t>）不等长编码：</a:t>
            </a:r>
            <a:r>
              <a:rPr lang="zh-CN" altLang="en-US" dirty="0">
                <a:solidFill>
                  <a:srgbClr val="FF0000"/>
                </a:solidFill>
              </a:rPr>
              <a:t>出现频率高的字符用的编码短些，出现频率低的字符则可以编码长些？</a:t>
            </a:r>
            <a:r>
              <a:rPr lang="zh-CN" altLang="en-US" dirty="0"/>
              <a:t> </a:t>
            </a:r>
            <a:endParaRPr lang="zh-CN" altLang="en-US"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问题</a:t>
            </a:r>
            <a:r>
              <a:rPr lang="en-US" altLang="zh-CN" dirty="0"/>
              <a:t>2</a:t>
            </a:r>
            <a:r>
              <a:rPr lang="zh-CN" altLang="en-US" dirty="0"/>
              <a:t>：怎么进行不等长编码？</a:t>
            </a:r>
            <a:endParaRPr lang="en-US" altLang="zh-CN" dirty="0"/>
          </a:p>
          <a:p>
            <a:pPr lvl="2">
              <a:lnSpc>
                <a:spcPts val="2800"/>
              </a:lnSpc>
            </a:pPr>
            <a:r>
              <a:rPr lang="zh-CN" altLang="en-US" sz="1800" dirty="0"/>
              <a:t>例：字符串‘</a:t>
            </a:r>
            <a:r>
              <a:rPr lang="en-US" altLang="zh-CN" sz="1800" dirty="0"/>
              <a:t>ABACCDA</a:t>
            </a:r>
            <a:r>
              <a:rPr lang="zh-CN" altLang="en-US" sz="1800" dirty="0"/>
              <a:t>’</a:t>
            </a:r>
            <a:endParaRPr lang="en-US" altLang="zh-CN" sz="1800" dirty="0"/>
          </a:p>
          <a:p>
            <a:pPr lvl="2">
              <a:lnSpc>
                <a:spcPts val="2800"/>
              </a:lnSpc>
            </a:pPr>
            <a:r>
              <a:rPr lang="zh-CN" altLang="en-US" sz="1800" dirty="0"/>
              <a:t>    假设编码方案为   </a:t>
            </a:r>
            <a:r>
              <a:rPr lang="en-US" altLang="zh-CN" sz="1800" dirty="0"/>
              <a:t>A</a:t>
            </a:r>
            <a:r>
              <a:rPr lang="zh-CN" altLang="en-US" sz="1800" dirty="0"/>
              <a:t>：</a:t>
            </a:r>
            <a:r>
              <a:rPr lang="en-US" altLang="zh-CN" sz="1800" dirty="0"/>
              <a:t>0</a:t>
            </a:r>
            <a:r>
              <a:rPr lang="zh-CN" altLang="en-US" sz="1800" dirty="0"/>
              <a:t>；</a:t>
            </a:r>
            <a:r>
              <a:rPr lang="en-US" altLang="zh-CN" sz="1800" dirty="0"/>
              <a:t>B</a:t>
            </a:r>
            <a:r>
              <a:rPr lang="zh-CN" altLang="en-US" sz="1800" dirty="0"/>
              <a:t>：</a:t>
            </a:r>
            <a:r>
              <a:rPr lang="en-US" altLang="zh-CN" sz="1800" dirty="0"/>
              <a:t>00</a:t>
            </a:r>
            <a:r>
              <a:rPr lang="zh-CN" altLang="en-US" sz="1800" dirty="0"/>
              <a:t>；</a:t>
            </a:r>
            <a:r>
              <a:rPr lang="en-US" altLang="zh-CN" sz="1800" dirty="0"/>
              <a:t>C</a:t>
            </a:r>
            <a:r>
              <a:rPr lang="zh-CN" altLang="en-US" sz="1800" dirty="0"/>
              <a:t>：</a:t>
            </a:r>
            <a:r>
              <a:rPr lang="en-US" altLang="zh-CN" sz="1800" dirty="0"/>
              <a:t>1</a:t>
            </a:r>
            <a:r>
              <a:rPr lang="zh-CN" altLang="en-US" sz="1800" dirty="0"/>
              <a:t>；</a:t>
            </a:r>
            <a:r>
              <a:rPr lang="en-US" altLang="zh-CN" sz="1800" dirty="0"/>
              <a:t>D</a:t>
            </a:r>
            <a:r>
              <a:rPr lang="zh-CN" altLang="en-US" sz="1800" dirty="0"/>
              <a:t>：</a:t>
            </a:r>
            <a:r>
              <a:rPr lang="en-US" altLang="zh-CN" sz="1800" dirty="0"/>
              <a:t>01</a:t>
            </a:r>
            <a:endParaRPr lang="en-US" altLang="zh-CN" sz="1800" dirty="0"/>
          </a:p>
          <a:p>
            <a:pPr lvl="2">
              <a:lnSpc>
                <a:spcPts val="2800"/>
              </a:lnSpc>
            </a:pPr>
            <a:r>
              <a:rPr lang="en-US" altLang="zh-CN" sz="1800" dirty="0"/>
              <a:t>    </a:t>
            </a:r>
            <a:r>
              <a:rPr lang="zh-CN" altLang="en-US" sz="1800" dirty="0"/>
              <a:t>则</a:t>
            </a:r>
            <a:r>
              <a:rPr lang="en-US" altLang="zh-CN" sz="1800" dirty="0"/>
              <a:t>ABACCDA-&gt;000011010</a:t>
            </a:r>
            <a:endParaRPr lang="en-US" altLang="zh-CN" sz="1800" dirty="0"/>
          </a:p>
          <a:p>
            <a:pPr lvl="2">
              <a:lnSpc>
                <a:spcPts val="2800"/>
              </a:lnSpc>
            </a:pPr>
            <a:r>
              <a:rPr lang="en-US" altLang="zh-CN" sz="1800" dirty="0"/>
              <a:t>    </a:t>
            </a:r>
            <a:r>
              <a:rPr lang="zh-CN" altLang="en-US" sz="1800" dirty="0"/>
              <a:t>如何译码？</a:t>
            </a:r>
            <a:endParaRPr lang="en-US" altLang="zh-CN" sz="1800" dirty="0"/>
          </a:p>
          <a:p>
            <a:pPr lvl="2">
              <a:lnSpc>
                <a:spcPts val="2800"/>
              </a:lnSpc>
            </a:pPr>
            <a:r>
              <a:rPr lang="en-US" altLang="zh-CN" sz="1800" dirty="0"/>
              <a:t> </a:t>
            </a:r>
            <a:r>
              <a:rPr lang="zh-CN" altLang="en-US" sz="1800" dirty="0"/>
              <a:t>‘</a:t>
            </a:r>
            <a:r>
              <a:rPr lang="en-US" altLang="zh-CN" sz="1800" dirty="0"/>
              <a:t>0000</a:t>
            </a:r>
            <a:r>
              <a:rPr lang="zh-CN" altLang="en-US" sz="1800" dirty="0"/>
              <a:t>’可有多种译法‘</a:t>
            </a:r>
            <a:r>
              <a:rPr lang="en-US" altLang="zh-CN" sz="1800" dirty="0"/>
              <a:t>AAAA</a:t>
            </a:r>
            <a:r>
              <a:rPr lang="zh-CN" altLang="en-US" sz="1800" dirty="0"/>
              <a:t>’或‘</a:t>
            </a:r>
            <a:r>
              <a:rPr lang="en-US" altLang="zh-CN" sz="1800" dirty="0"/>
              <a:t>ABA</a:t>
            </a:r>
            <a:r>
              <a:rPr lang="zh-CN" altLang="en-US" sz="1800" dirty="0"/>
              <a:t>’、‘</a:t>
            </a:r>
            <a:r>
              <a:rPr lang="en-US" altLang="zh-CN" sz="1800" dirty="0"/>
              <a:t>BB</a:t>
            </a:r>
            <a:r>
              <a:rPr lang="zh-CN" altLang="en-US" sz="1800" dirty="0"/>
              <a:t>’等。</a:t>
            </a:r>
            <a:endParaRPr lang="zh-CN" altLang="en-US" sz="1800" dirty="0"/>
          </a:p>
          <a:p>
            <a:pPr lvl="2">
              <a:lnSpc>
                <a:spcPts val="2800"/>
              </a:lnSpc>
            </a:pPr>
            <a:r>
              <a:rPr lang="zh-CN" altLang="en-US" sz="1800" dirty="0">
                <a:solidFill>
                  <a:srgbClr val="FF0000"/>
                </a:solidFill>
              </a:rPr>
              <a:t>    前缀编码</a:t>
            </a:r>
            <a:r>
              <a:rPr lang="zh-CN" altLang="en-US" sz="1800" dirty="0"/>
              <a:t>：任一个字符的编码都不是另一个字符编码的前缀。 </a:t>
            </a:r>
            <a:endParaRPr lang="en-US" altLang="zh-CN" sz="1800" dirty="0"/>
          </a:p>
          <a:p>
            <a:pPr lvl="2">
              <a:lnSpc>
                <a:spcPts val="2800"/>
              </a:lnSpc>
            </a:pPr>
            <a:r>
              <a:rPr lang="zh-CN" altLang="en-US" sz="1800" dirty="0"/>
              <a:t>    </a:t>
            </a:r>
            <a:r>
              <a:rPr lang="zh-CN" altLang="en-US" sz="1800" dirty="0">
                <a:solidFill>
                  <a:srgbClr val="FF0000"/>
                </a:solidFill>
              </a:rPr>
              <a:t>可利用二叉树设计前缀编码。 </a:t>
            </a:r>
            <a:endParaRPr lang="en-US" altLang="zh-CN" sz="2000" dirty="0">
              <a:solidFill>
                <a:srgbClr val="FF0000"/>
              </a:solidFill>
            </a:endParaRPr>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
        <p:nvSpPr>
          <p:cNvPr id="4" name="矩形 3"/>
          <p:cNvSpPr>
            <a:spLocks noChangeArrowheads="1"/>
          </p:cNvSpPr>
          <p:nvPr/>
        </p:nvSpPr>
        <p:spPr bwMode="auto">
          <a:xfrm>
            <a:off x="4954455" y="2003935"/>
            <a:ext cx="2303860" cy="415498"/>
          </a:xfrm>
          <a:prstGeom prst="rect">
            <a:avLst/>
          </a:prstGeom>
          <a:solidFill>
            <a:srgbClr val="00B0F0"/>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2100" dirty="0"/>
              <a:t>如何避免二义性？ </a:t>
            </a:r>
            <a:endParaRPr lang="zh-CN" altLang="en-US" sz="2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用二叉树进行编码 </a:t>
            </a:r>
            <a:endParaRPr lang="zh-CN" altLang="en-US" dirty="0"/>
          </a:p>
          <a:p>
            <a:pPr lvl="2">
              <a:lnSpc>
                <a:spcPts val="2800"/>
              </a:lnSpc>
            </a:pPr>
            <a:r>
              <a:rPr lang="zh-CN" altLang="en-US" sz="1800" dirty="0"/>
              <a:t>（</a:t>
            </a:r>
            <a:r>
              <a:rPr lang="en-US" altLang="zh-CN" sz="1800" dirty="0"/>
              <a:t>1</a:t>
            </a:r>
            <a:r>
              <a:rPr lang="zh-CN" altLang="en-US" sz="1800" dirty="0"/>
              <a:t>）左右分支：</a:t>
            </a:r>
            <a:r>
              <a:rPr lang="en-US" altLang="zh-CN" sz="1800" dirty="0"/>
              <a:t>0</a:t>
            </a:r>
            <a:r>
              <a:rPr lang="zh-CN" altLang="en-US" sz="1800" dirty="0"/>
              <a:t>、</a:t>
            </a:r>
            <a:r>
              <a:rPr lang="en-US" altLang="zh-CN" sz="1800" dirty="0"/>
              <a:t>1 </a:t>
            </a:r>
            <a:endParaRPr lang="en-US" altLang="zh-CN" sz="1800" dirty="0"/>
          </a:p>
          <a:p>
            <a:pPr lvl="2">
              <a:lnSpc>
                <a:spcPts val="2800"/>
              </a:lnSpc>
            </a:pPr>
            <a:r>
              <a:rPr lang="zh-CN" altLang="en-US" sz="1800" dirty="0"/>
              <a:t>（</a:t>
            </a:r>
            <a:r>
              <a:rPr lang="en-US" altLang="zh-CN" sz="1800" dirty="0"/>
              <a:t>2</a:t>
            </a:r>
            <a:r>
              <a:rPr lang="zh-CN" altLang="en-US" sz="1800" dirty="0"/>
              <a:t>）</a:t>
            </a:r>
            <a:r>
              <a:rPr lang="zh-CN" altLang="en-US" sz="1800" dirty="0">
                <a:solidFill>
                  <a:srgbClr val="FF0000"/>
                </a:solidFill>
              </a:rPr>
              <a:t>字符只在叶子结点上</a:t>
            </a:r>
            <a:endParaRPr lang="en-US" altLang="zh-CN" sz="1800" dirty="0">
              <a:solidFill>
                <a:srgbClr val="FF0000"/>
              </a:solidFill>
            </a:endParaRPr>
          </a:p>
          <a:p>
            <a:pPr lvl="2">
              <a:lnSpc>
                <a:spcPts val="2800"/>
              </a:lnSpc>
            </a:pPr>
            <a:r>
              <a:rPr lang="zh-CN" altLang="en-US" sz="1800" dirty="0"/>
              <a:t>例：字符串‘</a:t>
            </a:r>
            <a:r>
              <a:rPr lang="en-US" altLang="zh-CN" sz="1800" dirty="0"/>
              <a:t>ABACCDA</a:t>
            </a:r>
            <a:r>
              <a:rPr lang="zh-CN" altLang="en-US" sz="1800" dirty="0"/>
              <a:t>’</a:t>
            </a:r>
            <a:endParaRPr lang="en-US" altLang="zh-CN" sz="1800" dirty="0"/>
          </a:p>
          <a:p>
            <a:pPr lvl="2">
              <a:lnSpc>
                <a:spcPts val="2800"/>
              </a:lnSpc>
            </a:pPr>
            <a:r>
              <a:rPr lang="zh-CN" altLang="en-US" sz="1800" dirty="0"/>
              <a:t>字符频率：</a:t>
            </a:r>
            <a:r>
              <a:rPr lang="en-US" altLang="zh-CN" sz="1800" dirty="0"/>
              <a:t>A:3, B:1, C:2, D:1</a:t>
            </a:r>
            <a:endParaRPr lang="en-US" altLang="zh-CN" sz="1800" dirty="0"/>
          </a:p>
          <a:p>
            <a:pPr lvl="2">
              <a:lnSpc>
                <a:spcPts val="2800"/>
              </a:lnSpc>
            </a:pPr>
            <a:r>
              <a:rPr lang="zh-CN" altLang="en-US" sz="1800" dirty="0"/>
              <a:t>如何构造一棵编码代价最小的二叉树？ </a:t>
            </a:r>
            <a:endParaRPr lang="zh-CN" altLang="en-US" sz="1800" dirty="0"/>
          </a:p>
          <a:p>
            <a:pPr lvl="2">
              <a:lnSpc>
                <a:spcPts val="2800"/>
              </a:lnSpc>
            </a:pPr>
            <a:endParaRPr lang="zh-CN" altLang="en-US" dirty="0"/>
          </a:p>
          <a:p>
            <a:pPr lvl="2"/>
            <a:r>
              <a:rPr lang="zh-CN" altLang="en-US" dirty="0">
                <a:solidFill>
                  <a:srgbClr val="FF0000"/>
                </a:solidFill>
              </a:rPr>
              <a:t> </a:t>
            </a:r>
            <a:endParaRPr lang="zh-CN" altLang="en-US" dirty="0">
              <a:solidFill>
                <a:srgbClr val="FF0000"/>
              </a:solidFill>
            </a:endParaRPr>
          </a:p>
          <a:p>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grpSp>
        <p:nvGrpSpPr>
          <p:cNvPr id="4" name="组合 30"/>
          <p:cNvGrpSpPr/>
          <p:nvPr/>
        </p:nvGrpSpPr>
        <p:grpSpPr bwMode="auto">
          <a:xfrm>
            <a:off x="5349470" y="369905"/>
            <a:ext cx="2014582" cy="1553765"/>
            <a:chOff x="5143504" y="857231"/>
            <a:chExt cx="2686128" cy="2071703"/>
          </a:xfrm>
        </p:grpSpPr>
        <p:grpSp>
          <p:nvGrpSpPr>
            <p:cNvPr id="5" name="组合 23"/>
            <p:cNvGrpSpPr/>
            <p:nvPr/>
          </p:nvGrpSpPr>
          <p:grpSpPr bwMode="auto">
            <a:xfrm>
              <a:off x="5143504" y="857231"/>
              <a:ext cx="2643206" cy="2071703"/>
              <a:chOff x="5143504" y="857231"/>
              <a:chExt cx="2643206" cy="2071703"/>
            </a:xfrm>
          </p:grpSpPr>
          <p:sp>
            <p:nvSpPr>
              <p:cNvPr id="12" name="椭圆 5"/>
              <p:cNvSpPr>
                <a:spLocks noChangeArrowheads="1"/>
              </p:cNvSpPr>
              <p:nvPr/>
            </p:nvSpPr>
            <p:spPr bwMode="auto">
              <a:xfrm>
                <a:off x="5143504" y="242886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A</a:t>
                </a:r>
                <a:endParaRPr lang="zh-CN" altLang="en-US" sz="1800"/>
              </a:p>
            </p:txBody>
          </p:sp>
          <p:sp>
            <p:nvSpPr>
              <p:cNvPr id="13" name="椭圆 6"/>
              <p:cNvSpPr>
                <a:spLocks noChangeArrowheads="1"/>
              </p:cNvSpPr>
              <p:nvPr/>
            </p:nvSpPr>
            <p:spPr bwMode="auto">
              <a:xfrm>
                <a:off x="5857884" y="242886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B</a:t>
                </a:r>
                <a:endParaRPr lang="zh-CN" altLang="en-US" sz="1800"/>
              </a:p>
            </p:txBody>
          </p:sp>
          <p:sp>
            <p:nvSpPr>
              <p:cNvPr id="14" name="椭圆 7"/>
              <p:cNvSpPr>
                <a:spLocks noChangeArrowheads="1"/>
              </p:cNvSpPr>
              <p:nvPr/>
            </p:nvSpPr>
            <p:spPr bwMode="auto">
              <a:xfrm>
                <a:off x="6572264" y="242886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C</a:t>
                </a:r>
                <a:endParaRPr lang="zh-CN" altLang="en-US" sz="1800"/>
              </a:p>
            </p:txBody>
          </p:sp>
          <p:sp>
            <p:nvSpPr>
              <p:cNvPr id="15" name="椭圆 8"/>
              <p:cNvSpPr>
                <a:spLocks noChangeArrowheads="1"/>
              </p:cNvSpPr>
              <p:nvPr/>
            </p:nvSpPr>
            <p:spPr bwMode="auto">
              <a:xfrm>
                <a:off x="7286644" y="242886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D</a:t>
                </a:r>
                <a:endParaRPr lang="zh-CN" altLang="en-US" sz="1800"/>
              </a:p>
            </p:txBody>
          </p:sp>
          <p:cxnSp>
            <p:nvCxnSpPr>
              <p:cNvPr id="16" name="直接连接符 10"/>
              <p:cNvCxnSpPr>
                <a:cxnSpLocks noChangeShapeType="1"/>
                <a:stCxn id="12" idx="0"/>
              </p:cNvCxnSpPr>
              <p:nvPr/>
            </p:nvCxnSpPr>
            <p:spPr bwMode="auto">
              <a:xfrm rot="5400000" flipH="1" flipV="1">
                <a:off x="5339958" y="2125257"/>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17" name="直接连接符 12"/>
              <p:cNvCxnSpPr>
                <a:cxnSpLocks noChangeShapeType="1"/>
                <a:stCxn id="13" idx="0"/>
              </p:cNvCxnSpPr>
              <p:nvPr/>
            </p:nvCxnSpPr>
            <p:spPr bwMode="auto">
              <a:xfrm rot="16200000" flipV="1">
                <a:off x="5804306" y="2125256"/>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sp>
            <p:nvSpPr>
              <p:cNvPr id="18" name="椭圆 13"/>
              <p:cNvSpPr>
                <a:spLocks noChangeArrowheads="1"/>
              </p:cNvSpPr>
              <p:nvPr/>
            </p:nvSpPr>
            <p:spPr bwMode="auto">
              <a:xfrm>
                <a:off x="5500694" y="1643050"/>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cxnSp>
            <p:nvCxnSpPr>
              <p:cNvPr id="19" name="直接连接符 14"/>
              <p:cNvCxnSpPr>
                <a:cxnSpLocks noChangeShapeType="1"/>
              </p:cNvCxnSpPr>
              <p:nvPr/>
            </p:nvCxnSpPr>
            <p:spPr bwMode="auto">
              <a:xfrm rot="5400000" flipH="1" flipV="1">
                <a:off x="6804436" y="2125256"/>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0" name="直接连接符 15"/>
              <p:cNvCxnSpPr>
                <a:cxnSpLocks noChangeShapeType="1"/>
              </p:cNvCxnSpPr>
              <p:nvPr/>
            </p:nvCxnSpPr>
            <p:spPr bwMode="auto">
              <a:xfrm rot="16200000" flipV="1">
                <a:off x="7268784" y="2125255"/>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sp>
            <p:nvSpPr>
              <p:cNvPr id="21" name="椭圆 16"/>
              <p:cNvSpPr>
                <a:spLocks noChangeArrowheads="1"/>
              </p:cNvSpPr>
              <p:nvPr/>
            </p:nvSpPr>
            <p:spPr bwMode="auto">
              <a:xfrm>
                <a:off x="6965172" y="1643049"/>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cxnSp>
            <p:nvCxnSpPr>
              <p:cNvPr id="22" name="直接连接符 17"/>
              <p:cNvCxnSpPr>
                <a:cxnSpLocks noChangeShapeType="1"/>
                <a:stCxn id="18" idx="7"/>
              </p:cNvCxnSpPr>
              <p:nvPr/>
            </p:nvCxnSpPr>
            <p:spPr bwMode="auto">
              <a:xfrm rot="5400000" flipH="1" flipV="1">
                <a:off x="5945386" y="1268002"/>
                <a:ext cx="430423" cy="466140"/>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3" name="直接连接符 18"/>
              <p:cNvCxnSpPr>
                <a:cxnSpLocks noChangeShapeType="1"/>
                <a:stCxn id="21" idx="1"/>
              </p:cNvCxnSpPr>
              <p:nvPr/>
            </p:nvCxnSpPr>
            <p:spPr bwMode="auto">
              <a:xfrm rot="16200000" flipV="1">
                <a:off x="6607983" y="1285860"/>
                <a:ext cx="430423" cy="43042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sp>
            <p:nvSpPr>
              <p:cNvPr id="24" name="椭圆 19"/>
              <p:cNvSpPr>
                <a:spLocks noChangeArrowheads="1"/>
              </p:cNvSpPr>
              <p:nvPr/>
            </p:nvSpPr>
            <p:spPr bwMode="auto">
              <a:xfrm>
                <a:off x="6250792" y="857231"/>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grpSp>
        <p:sp>
          <p:nvSpPr>
            <p:cNvPr id="6" name="矩形 24"/>
            <p:cNvSpPr>
              <a:spLocks noChangeArrowheads="1"/>
            </p:cNvSpPr>
            <p:nvPr/>
          </p:nvSpPr>
          <p:spPr bwMode="auto">
            <a:xfrm>
              <a:off x="5876520" y="1142984"/>
              <a:ext cx="400112" cy="492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FF0000"/>
                  </a:solidFill>
                </a:rPr>
                <a:t>0</a:t>
              </a:r>
              <a:endParaRPr lang="zh-CN" altLang="en-US" sz="1800">
                <a:solidFill>
                  <a:srgbClr val="FF0000"/>
                </a:solidFill>
              </a:endParaRPr>
            </a:p>
          </p:txBody>
        </p:sp>
        <p:sp>
          <p:nvSpPr>
            <p:cNvPr id="7" name="矩形 25"/>
            <p:cNvSpPr>
              <a:spLocks noChangeArrowheads="1"/>
            </p:cNvSpPr>
            <p:nvPr/>
          </p:nvSpPr>
          <p:spPr bwMode="auto">
            <a:xfrm>
              <a:off x="5214942" y="1895765"/>
              <a:ext cx="400112" cy="492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FF0000"/>
                  </a:solidFill>
                </a:rPr>
                <a:t>0</a:t>
              </a:r>
              <a:endParaRPr lang="zh-CN" altLang="en-US" sz="1800">
                <a:solidFill>
                  <a:srgbClr val="FF0000"/>
                </a:solidFill>
              </a:endParaRPr>
            </a:p>
          </p:txBody>
        </p:sp>
        <p:sp>
          <p:nvSpPr>
            <p:cNvPr id="8" name="矩形 26"/>
            <p:cNvSpPr>
              <a:spLocks noChangeArrowheads="1"/>
            </p:cNvSpPr>
            <p:nvPr/>
          </p:nvSpPr>
          <p:spPr bwMode="auto">
            <a:xfrm>
              <a:off x="6662338" y="1967202"/>
              <a:ext cx="400112" cy="492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FF0000"/>
                  </a:solidFill>
                </a:rPr>
                <a:t>0</a:t>
              </a:r>
              <a:endParaRPr lang="zh-CN" altLang="en-US" sz="1800">
                <a:solidFill>
                  <a:srgbClr val="FF0000"/>
                </a:solidFill>
              </a:endParaRPr>
            </a:p>
          </p:txBody>
        </p:sp>
        <p:sp>
          <p:nvSpPr>
            <p:cNvPr id="9" name="矩形 27"/>
            <p:cNvSpPr>
              <a:spLocks noChangeArrowheads="1"/>
            </p:cNvSpPr>
            <p:nvPr/>
          </p:nvSpPr>
          <p:spPr bwMode="auto">
            <a:xfrm>
              <a:off x="6786578" y="1142984"/>
              <a:ext cx="400112" cy="492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00B0F0"/>
                  </a:solidFill>
                </a:rPr>
                <a:t>1</a:t>
              </a:r>
              <a:endParaRPr lang="zh-CN" altLang="en-US" sz="1800">
                <a:solidFill>
                  <a:srgbClr val="00B0F0"/>
                </a:solidFill>
              </a:endParaRPr>
            </a:p>
          </p:txBody>
        </p:sp>
        <p:sp>
          <p:nvSpPr>
            <p:cNvPr id="10" name="矩形 28"/>
            <p:cNvSpPr>
              <a:spLocks noChangeArrowheads="1"/>
            </p:cNvSpPr>
            <p:nvPr/>
          </p:nvSpPr>
          <p:spPr bwMode="auto">
            <a:xfrm>
              <a:off x="5929321" y="1967202"/>
              <a:ext cx="400112" cy="492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00B0F0"/>
                  </a:solidFill>
                </a:rPr>
                <a:t>1</a:t>
              </a:r>
              <a:endParaRPr lang="zh-CN" altLang="en-US" sz="1800">
                <a:solidFill>
                  <a:srgbClr val="00B0F0"/>
                </a:solidFill>
              </a:endParaRPr>
            </a:p>
          </p:txBody>
        </p:sp>
        <p:sp>
          <p:nvSpPr>
            <p:cNvPr id="11" name="矩形 29"/>
            <p:cNvSpPr>
              <a:spLocks noChangeArrowheads="1"/>
            </p:cNvSpPr>
            <p:nvPr/>
          </p:nvSpPr>
          <p:spPr bwMode="auto">
            <a:xfrm>
              <a:off x="7429520" y="1967202"/>
              <a:ext cx="400112" cy="492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00B0F0"/>
                  </a:solidFill>
                </a:rPr>
                <a:t>1</a:t>
              </a:r>
              <a:endParaRPr lang="zh-CN" altLang="en-US" sz="1800">
                <a:solidFill>
                  <a:srgbClr val="00B0F0"/>
                </a:solidFill>
              </a:endParaRPr>
            </a:p>
          </p:txBody>
        </p:sp>
      </p:grpSp>
      <p:sp>
        <p:nvSpPr>
          <p:cNvPr id="25" name="TextBox 31"/>
          <p:cNvSpPr txBox="1">
            <a:spLocks noChangeArrowheads="1"/>
          </p:cNvSpPr>
          <p:nvPr/>
        </p:nvSpPr>
        <p:spPr bwMode="auto">
          <a:xfrm>
            <a:off x="4701308" y="2010074"/>
            <a:ext cx="331090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600" dirty="0"/>
              <a:t>Cost(ABACCDA-&gt;00010010101100)</a:t>
            </a:r>
            <a:endParaRPr lang="en-US" altLang="zh-CN" sz="1600" dirty="0"/>
          </a:p>
          <a:p>
            <a:pPr eaLnBrk="1" hangingPunct="1">
              <a:spcBef>
                <a:spcPct val="0"/>
              </a:spcBef>
              <a:buFontTx/>
              <a:buNone/>
            </a:pPr>
            <a:r>
              <a:rPr lang="en-US" altLang="zh-CN" sz="1600" dirty="0"/>
              <a:t>=3*2+1*2+2*2+1*2=14</a:t>
            </a:r>
            <a:endParaRPr lang="zh-CN" altLang="en-US" sz="1600" dirty="0"/>
          </a:p>
        </p:txBody>
      </p:sp>
      <p:grpSp>
        <p:nvGrpSpPr>
          <p:cNvPr id="26" name="组合 67"/>
          <p:cNvGrpSpPr/>
          <p:nvPr/>
        </p:nvGrpSpPr>
        <p:grpSpPr bwMode="auto">
          <a:xfrm>
            <a:off x="2173844" y="2866415"/>
            <a:ext cx="1714500" cy="2035969"/>
            <a:chOff x="642910" y="3857628"/>
            <a:chExt cx="2286016" cy="2714644"/>
          </a:xfrm>
        </p:grpSpPr>
        <p:grpSp>
          <p:nvGrpSpPr>
            <p:cNvPr id="27" name="组合 65"/>
            <p:cNvGrpSpPr/>
            <p:nvPr/>
          </p:nvGrpSpPr>
          <p:grpSpPr bwMode="auto">
            <a:xfrm>
              <a:off x="642910" y="3857628"/>
              <a:ext cx="2286016" cy="2714644"/>
              <a:chOff x="642910" y="3857628"/>
              <a:chExt cx="2286016" cy="2714644"/>
            </a:xfrm>
          </p:grpSpPr>
          <p:sp>
            <p:nvSpPr>
              <p:cNvPr id="35" name="椭圆 40"/>
              <p:cNvSpPr>
                <a:spLocks noChangeArrowheads="1"/>
              </p:cNvSpPr>
              <p:nvPr/>
            </p:nvSpPr>
            <p:spPr bwMode="auto">
              <a:xfrm>
                <a:off x="2428860" y="4500570"/>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A</a:t>
                </a:r>
                <a:endParaRPr lang="zh-CN" altLang="en-US" sz="1800" dirty="0"/>
              </a:p>
            </p:txBody>
          </p:sp>
          <p:sp>
            <p:nvSpPr>
              <p:cNvPr id="36" name="椭圆 41"/>
              <p:cNvSpPr>
                <a:spLocks noChangeArrowheads="1"/>
              </p:cNvSpPr>
              <p:nvPr/>
            </p:nvSpPr>
            <p:spPr bwMode="auto">
              <a:xfrm>
                <a:off x="642910" y="6072206"/>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B</a:t>
                </a:r>
                <a:endParaRPr lang="zh-CN" altLang="en-US" sz="1800"/>
              </a:p>
            </p:txBody>
          </p:sp>
          <p:sp>
            <p:nvSpPr>
              <p:cNvPr id="37" name="椭圆 42"/>
              <p:cNvSpPr>
                <a:spLocks noChangeArrowheads="1"/>
              </p:cNvSpPr>
              <p:nvPr/>
            </p:nvSpPr>
            <p:spPr bwMode="auto">
              <a:xfrm>
                <a:off x="2000232" y="528638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C</a:t>
                </a:r>
                <a:endParaRPr lang="zh-CN" altLang="en-US" sz="1800"/>
              </a:p>
            </p:txBody>
          </p:sp>
          <p:sp>
            <p:nvSpPr>
              <p:cNvPr id="38" name="椭圆 43"/>
              <p:cNvSpPr>
                <a:spLocks noChangeArrowheads="1"/>
              </p:cNvSpPr>
              <p:nvPr/>
            </p:nvSpPr>
            <p:spPr bwMode="auto">
              <a:xfrm>
                <a:off x="1428728" y="6072206"/>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D</a:t>
                </a:r>
                <a:endParaRPr lang="zh-CN" altLang="en-US" sz="1800"/>
              </a:p>
            </p:txBody>
          </p:sp>
          <p:cxnSp>
            <p:nvCxnSpPr>
              <p:cNvPr id="39" name="直接连接符 44"/>
              <p:cNvCxnSpPr>
                <a:cxnSpLocks noChangeShapeType="1"/>
              </p:cNvCxnSpPr>
              <p:nvPr/>
            </p:nvCxnSpPr>
            <p:spPr bwMode="auto">
              <a:xfrm rot="5400000" flipH="1" flipV="1">
                <a:off x="982240" y="5840032"/>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40" name="直接连接符 45"/>
              <p:cNvCxnSpPr>
                <a:cxnSpLocks noChangeShapeType="1"/>
              </p:cNvCxnSpPr>
              <p:nvPr/>
            </p:nvCxnSpPr>
            <p:spPr bwMode="auto">
              <a:xfrm rot="16200000" flipV="1">
                <a:off x="1375150" y="5768594"/>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sp>
            <p:nvSpPr>
              <p:cNvPr id="41" name="椭圆 46"/>
              <p:cNvSpPr>
                <a:spLocks noChangeArrowheads="1"/>
              </p:cNvSpPr>
              <p:nvPr/>
            </p:nvSpPr>
            <p:spPr bwMode="auto">
              <a:xfrm>
                <a:off x="1142976" y="528638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cxnSp>
            <p:nvCxnSpPr>
              <p:cNvPr id="42" name="直接连接符 47"/>
              <p:cNvCxnSpPr>
                <a:cxnSpLocks noChangeShapeType="1"/>
              </p:cNvCxnSpPr>
              <p:nvPr/>
            </p:nvCxnSpPr>
            <p:spPr bwMode="auto">
              <a:xfrm rot="5400000" flipH="1" flipV="1">
                <a:off x="1946654" y="4339834"/>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43" name="直接连接符 48"/>
              <p:cNvCxnSpPr>
                <a:cxnSpLocks noChangeShapeType="1"/>
              </p:cNvCxnSpPr>
              <p:nvPr/>
            </p:nvCxnSpPr>
            <p:spPr bwMode="auto">
              <a:xfrm rot="16200000" flipV="1">
                <a:off x="1946654" y="4982776"/>
                <a:ext cx="357190" cy="250033"/>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sp>
            <p:nvSpPr>
              <p:cNvPr id="44" name="椭圆 49"/>
              <p:cNvSpPr>
                <a:spLocks noChangeArrowheads="1"/>
              </p:cNvSpPr>
              <p:nvPr/>
            </p:nvSpPr>
            <p:spPr bwMode="auto">
              <a:xfrm>
                <a:off x="2143108" y="3857628"/>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cxnSp>
            <p:nvCxnSpPr>
              <p:cNvPr id="45" name="直接连接符 50"/>
              <p:cNvCxnSpPr>
                <a:cxnSpLocks noChangeShapeType="1"/>
                <a:stCxn id="41" idx="7"/>
              </p:cNvCxnSpPr>
              <p:nvPr/>
            </p:nvCxnSpPr>
            <p:spPr bwMode="auto">
              <a:xfrm rot="5400000" flipH="1" flipV="1">
                <a:off x="1498371" y="4929199"/>
                <a:ext cx="501860"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46" name="直接连接符 51"/>
              <p:cNvCxnSpPr>
                <a:cxnSpLocks noChangeShapeType="1"/>
              </p:cNvCxnSpPr>
              <p:nvPr/>
            </p:nvCxnSpPr>
            <p:spPr bwMode="auto">
              <a:xfrm rot="16200000" flipH="1">
                <a:off x="2480643" y="4339835"/>
                <a:ext cx="216109" cy="10895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sp>
            <p:nvSpPr>
              <p:cNvPr id="47" name="椭圆 52"/>
              <p:cNvSpPr>
                <a:spLocks noChangeArrowheads="1"/>
              </p:cNvSpPr>
              <p:nvPr/>
            </p:nvSpPr>
            <p:spPr bwMode="auto">
              <a:xfrm>
                <a:off x="1714480" y="4500569"/>
                <a:ext cx="500066" cy="500066"/>
              </a:xfrm>
              <a:prstGeom prst="ellipse">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grpSp>
        <p:grpSp>
          <p:nvGrpSpPr>
            <p:cNvPr id="28" name="组合 66"/>
            <p:cNvGrpSpPr/>
            <p:nvPr/>
          </p:nvGrpSpPr>
          <p:grpSpPr bwMode="auto">
            <a:xfrm>
              <a:off x="857224" y="4110343"/>
              <a:ext cx="2061823" cy="1992643"/>
              <a:chOff x="857224" y="4110343"/>
              <a:chExt cx="2061823" cy="1992643"/>
            </a:xfrm>
          </p:grpSpPr>
          <p:sp>
            <p:nvSpPr>
              <p:cNvPr id="29" name="矩形 34"/>
              <p:cNvSpPr>
                <a:spLocks noChangeArrowheads="1"/>
              </p:cNvSpPr>
              <p:nvPr/>
            </p:nvSpPr>
            <p:spPr bwMode="auto">
              <a:xfrm>
                <a:off x="1518802" y="4786322"/>
                <a:ext cx="400112"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FF0000"/>
                    </a:solidFill>
                  </a:rPr>
                  <a:t>0</a:t>
                </a:r>
                <a:endParaRPr lang="zh-CN" altLang="en-US" sz="1800">
                  <a:solidFill>
                    <a:srgbClr val="FF0000"/>
                  </a:solidFill>
                </a:endParaRPr>
              </a:p>
            </p:txBody>
          </p:sp>
          <p:sp>
            <p:nvSpPr>
              <p:cNvPr id="30" name="矩形 35"/>
              <p:cNvSpPr>
                <a:spLocks noChangeArrowheads="1"/>
              </p:cNvSpPr>
              <p:nvPr/>
            </p:nvSpPr>
            <p:spPr bwMode="auto">
              <a:xfrm>
                <a:off x="857224" y="5539104"/>
                <a:ext cx="400112"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FF0000"/>
                    </a:solidFill>
                  </a:rPr>
                  <a:t>0</a:t>
                </a:r>
                <a:endParaRPr lang="zh-CN" altLang="en-US" sz="1800">
                  <a:solidFill>
                    <a:srgbClr val="FF0000"/>
                  </a:solidFill>
                </a:endParaRPr>
              </a:p>
            </p:txBody>
          </p:sp>
          <p:sp>
            <p:nvSpPr>
              <p:cNvPr id="31" name="矩形 36"/>
              <p:cNvSpPr>
                <a:spLocks noChangeArrowheads="1"/>
              </p:cNvSpPr>
              <p:nvPr/>
            </p:nvSpPr>
            <p:spPr bwMode="auto">
              <a:xfrm>
                <a:off x="1875993" y="4143381"/>
                <a:ext cx="400112"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FF0000"/>
                    </a:solidFill>
                  </a:rPr>
                  <a:t>0</a:t>
                </a:r>
                <a:endParaRPr lang="zh-CN" altLang="en-US" sz="1800">
                  <a:solidFill>
                    <a:srgbClr val="FF0000"/>
                  </a:solidFill>
                </a:endParaRPr>
              </a:p>
            </p:txBody>
          </p:sp>
          <p:sp>
            <p:nvSpPr>
              <p:cNvPr id="32" name="矩形 37"/>
              <p:cNvSpPr>
                <a:spLocks noChangeArrowheads="1"/>
              </p:cNvSpPr>
              <p:nvPr/>
            </p:nvSpPr>
            <p:spPr bwMode="auto">
              <a:xfrm>
                <a:off x="2143108" y="4857760"/>
                <a:ext cx="400112"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00B0F0"/>
                    </a:solidFill>
                  </a:rPr>
                  <a:t>1</a:t>
                </a:r>
                <a:endParaRPr lang="zh-CN" altLang="en-US" sz="1800">
                  <a:solidFill>
                    <a:srgbClr val="00B0F0"/>
                  </a:solidFill>
                </a:endParaRPr>
              </a:p>
            </p:txBody>
          </p:sp>
          <p:sp>
            <p:nvSpPr>
              <p:cNvPr id="33" name="矩形 38"/>
              <p:cNvSpPr>
                <a:spLocks noChangeArrowheads="1"/>
              </p:cNvSpPr>
              <p:nvPr/>
            </p:nvSpPr>
            <p:spPr bwMode="auto">
              <a:xfrm>
                <a:off x="1571604" y="5610540"/>
                <a:ext cx="400112"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00B0F0"/>
                    </a:solidFill>
                  </a:rPr>
                  <a:t>1</a:t>
                </a:r>
                <a:endParaRPr lang="zh-CN" altLang="en-US" sz="1800">
                  <a:solidFill>
                    <a:srgbClr val="00B0F0"/>
                  </a:solidFill>
                </a:endParaRPr>
              </a:p>
            </p:txBody>
          </p:sp>
          <p:sp>
            <p:nvSpPr>
              <p:cNvPr id="34" name="矩形 39"/>
              <p:cNvSpPr>
                <a:spLocks noChangeArrowheads="1"/>
              </p:cNvSpPr>
              <p:nvPr/>
            </p:nvSpPr>
            <p:spPr bwMode="auto">
              <a:xfrm>
                <a:off x="2518935" y="4110343"/>
                <a:ext cx="400112" cy="492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rgbClr val="00B0F0"/>
                    </a:solidFill>
                  </a:rPr>
                  <a:t>1</a:t>
                </a:r>
                <a:endParaRPr lang="zh-CN" altLang="en-US" sz="1800">
                  <a:solidFill>
                    <a:srgbClr val="00B0F0"/>
                  </a:solidFill>
                </a:endParaRPr>
              </a:p>
            </p:txBody>
          </p:sp>
        </p:grpSp>
      </p:grpSp>
      <p:sp>
        <p:nvSpPr>
          <p:cNvPr id="48" name="TextBox 63"/>
          <p:cNvSpPr txBox="1">
            <a:spLocks noChangeArrowheads="1"/>
          </p:cNvSpPr>
          <p:nvPr/>
        </p:nvSpPr>
        <p:spPr bwMode="auto">
          <a:xfrm>
            <a:off x="4771821" y="2854875"/>
            <a:ext cx="92845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A</a:t>
            </a:r>
            <a:r>
              <a:rPr lang="zh-CN" altLang="en-US" sz="1800" dirty="0"/>
              <a:t>：</a:t>
            </a:r>
            <a:r>
              <a:rPr lang="en-US" altLang="zh-CN" sz="1800" dirty="0"/>
              <a:t>1</a:t>
            </a:r>
            <a:endParaRPr lang="en-US" altLang="zh-CN" sz="1800" dirty="0"/>
          </a:p>
          <a:p>
            <a:pPr eaLnBrk="1" hangingPunct="1">
              <a:spcBef>
                <a:spcPct val="0"/>
              </a:spcBef>
              <a:buFontTx/>
              <a:buNone/>
            </a:pPr>
            <a:r>
              <a:rPr lang="en-US" altLang="zh-CN" sz="1800" dirty="0"/>
              <a:t>B</a:t>
            </a:r>
            <a:r>
              <a:rPr lang="zh-CN" altLang="en-US" sz="1800" dirty="0"/>
              <a:t>：</a:t>
            </a:r>
            <a:r>
              <a:rPr lang="en-US" altLang="zh-CN" sz="1800" dirty="0"/>
              <a:t>000</a:t>
            </a:r>
            <a:endParaRPr lang="en-US" altLang="zh-CN" sz="1800" dirty="0"/>
          </a:p>
          <a:p>
            <a:pPr eaLnBrk="1" hangingPunct="1">
              <a:spcBef>
                <a:spcPct val="0"/>
              </a:spcBef>
              <a:buFontTx/>
              <a:buNone/>
            </a:pPr>
            <a:r>
              <a:rPr lang="en-US" altLang="zh-CN" sz="1800" dirty="0"/>
              <a:t>C</a:t>
            </a:r>
            <a:r>
              <a:rPr lang="zh-CN" altLang="en-US" sz="1800" dirty="0"/>
              <a:t>：</a:t>
            </a:r>
            <a:r>
              <a:rPr lang="en-US" altLang="zh-CN" sz="1800" dirty="0"/>
              <a:t>01</a:t>
            </a:r>
            <a:endParaRPr lang="en-US" altLang="zh-CN" sz="1800" dirty="0"/>
          </a:p>
          <a:p>
            <a:pPr eaLnBrk="1" hangingPunct="1">
              <a:spcBef>
                <a:spcPct val="0"/>
              </a:spcBef>
              <a:buFontTx/>
              <a:buNone/>
            </a:pPr>
            <a:r>
              <a:rPr lang="en-US" altLang="zh-CN" sz="1800" dirty="0"/>
              <a:t>D</a:t>
            </a:r>
            <a:r>
              <a:rPr lang="zh-CN" altLang="en-US" sz="1800" dirty="0"/>
              <a:t>：</a:t>
            </a:r>
            <a:r>
              <a:rPr lang="en-US" altLang="zh-CN" sz="1800" dirty="0"/>
              <a:t>001</a:t>
            </a:r>
            <a:endParaRPr lang="zh-CN" altLang="en-US" sz="1800" dirty="0"/>
          </a:p>
        </p:txBody>
      </p:sp>
      <p:sp>
        <p:nvSpPr>
          <p:cNvPr id="49" name="TextBox 64"/>
          <p:cNvSpPr txBox="1">
            <a:spLocks noChangeArrowheads="1"/>
          </p:cNvSpPr>
          <p:nvPr/>
        </p:nvSpPr>
        <p:spPr bwMode="auto">
          <a:xfrm>
            <a:off x="3986007" y="3989539"/>
            <a:ext cx="358886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Cost(ABACCDA-&gt;1000101010011)</a:t>
            </a:r>
            <a:endParaRPr lang="en-US" altLang="zh-CN" sz="1800"/>
          </a:p>
          <a:p>
            <a:pPr eaLnBrk="1" hangingPunct="1">
              <a:spcBef>
                <a:spcPct val="0"/>
              </a:spcBef>
              <a:buFontTx/>
              <a:buNone/>
            </a:pPr>
            <a:r>
              <a:rPr lang="en-US" altLang="zh-CN" sz="1800"/>
              <a:t>=3*1+1*3+2*2+1*3</a:t>
            </a:r>
            <a:endParaRPr lang="en-US" altLang="zh-CN" sz="1800"/>
          </a:p>
          <a:p>
            <a:pPr eaLnBrk="1" hangingPunct="1">
              <a:spcBef>
                <a:spcPct val="0"/>
              </a:spcBef>
              <a:buFontTx/>
              <a:buNone/>
            </a:pPr>
            <a:r>
              <a:rPr lang="en-US" altLang="zh-CN" sz="1800"/>
              <a:t>=</a:t>
            </a:r>
            <a:r>
              <a:rPr lang="en-US" altLang="zh-CN" sz="1800">
                <a:solidFill>
                  <a:srgbClr val="FF0000"/>
                </a:solidFill>
              </a:rPr>
              <a:t>13</a:t>
            </a:r>
            <a:endParaRPr lang="zh-CN" altLang="en-US" sz="1800">
              <a:solidFill>
                <a:srgbClr val="FF0000"/>
              </a:solidFill>
            </a:endParaRPr>
          </a:p>
        </p:txBody>
      </p:sp>
      <p:sp>
        <p:nvSpPr>
          <p:cNvPr id="50" name="TextBox 54"/>
          <p:cNvSpPr txBox="1">
            <a:spLocks noChangeArrowheads="1"/>
          </p:cNvSpPr>
          <p:nvPr/>
        </p:nvSpPr>
        <p:spPr bwMode="auto">
          <a:xfrm>
            <a:off x="1647199" y="2952495"/>
            <a:ext cx="11079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solidFill>
                  <a:srgbClr val="FF0000"/>
                </a:solidFill>
              </a:rPr>
              <a:t>赫夫曼树</a:t>
            </a:r>
            <a:endParaRPr lang="zh-CN" altLang="en-US" sz="18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dissolve">
                                      <p:cBhvr>
                                        <p:cTn id="12" dur="5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dissolve">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dissolve">
                                      <p:cBhvr>
                                        <p:cTn id="22" dur="5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dissolve">
                                      <p:cBhvr>
                                        <p:cTn id="27" dur="5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2"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 calcmode="lin" valueType="num">
                                      <p:cBhvr additive="base">
                                        <p:cTn id="32" dur="500" fill="hold"/>
                                        <p:tgtEl>
                                          <p:spTgt spid="50"/>
                                        </p:tgtEl>
                                        <p:attrNameLst>
                                          <p:attrName>ppt_x</p:attrName>
                                        </p:attrNameLst>
                                      </p:cBhvr>
                                      <p:tavLst>
                                        <p:tav tm="0">
                                          <p:val>
                                            <p:strVal val="1+#ppt_w/2"/>
                                          </p:val>
                                        </p:tav>
                                        <p:tav tm="100000">
                                          <p:val>
                                            <p:strVal val="#ppt_x"/>
                                          </p:val>
                                        </p:tav>
                                      </p:tavLst>
                                    </p:anim>
                                    <p:anim calcmode="lin" valueType="num">
                                      <p:cBhvr additive="base">
                                        <p:cTn id="33" dur="500" fill="hold"/>
                                        <p:tgtEl>
                                          <p:spTgt spid="5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48" grpId="0"/>
      <p:bldP spid="49" grpId="0"/>
      <p:bldP spid="50"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en-US" altLang="zh-CN" sz="2000" dirty="0"/>
              <a:t> </a:t>
            </a:r>
            <a:r>
              <a:rPr lang="zh-CN" altLang="en-US" dirty="0"/>
              <a:t>例：要传送数据 </a:t>
            </a:r>
            <a:r>
              <a:rPr lang="en-US" altLang="zh-CN" dirty="0"/>
              <a:t>state</a:t>
            </a:r>
            <a:r>
              <a:rPr lang="zh-CN" altLang="en-US" dirty="0"/>
              <a:t>、</a:t>
            </a:r>
            <a:r>
              <a:rPr lang="en-US" altLang="zh-CN" dirty="0"/>
              <a:t>seat</a:t>
            </a:r>
            <a:r>
              <a:rPr lang="zh-CN" altLang="en-US" dirty="0"/>
              <a:t>、</a:t>
            </a:r>
            <a:r>
              <a:rPr lang="en-US" altLang="zh-CN" dirty="0"/>
              <a:t>act</a:t>
            </a:r>
            <a:r>
              <a:rPr lang="zh-CN" altLang="en-US" dirty="0"/>
              <a:t>、</a:t>
            </a:r>
            <a:r>
              <a:rPr lang="en-US" altLang="zh-CN" dirty="0"/>
              <a:t>tea</a:t>
            </a:r>
            <a:r>
              <a:rPr lang="zh-CN" altLang="en-US" dirty="0"/>
              <a:t>、</a:t>
            </a:r>
            <a:r>
              <a:rPr lang="en-US" altLang="zh-CN" dirty="0"/>
              <a:t>cat</a:t>
            </a:r>
            <a:r>
              <a:rPr lang="zh-CN" altLang="en-US" dirty="0"/>
              <a:t>、</a:t>
            </a:r>
            <a:r>
              <a:rPr lang="en-US" altLang="zh-CN" dirty="0"/>
              <a:t>set</a:t>
            </a:r>
            <a:r>
              <a:rPr lang="zh-CN" altLang="en-US" dirty="0"/>
              <a:t>、</a:t>
            </a:r>
            <a:r>
              <a:rPr lang="en-US" altLang="zh-CN" dirty="0"/>
              <a:t>a</a:t>
            </a:r>
            <a:r>
              <a:rPr lang="zh-CN" altLang="en-US" dirty="0"/>
              <a:t>、</a:t>
            </a:r>
            <a:r>
              <a:rPr lang="en-US" altLang="zh-CN" dirty="0"/>
              <a:t>eat</a:t>
            </a:r>
            <a:r>
              <a:rPr lang="zh-CN" altLang="en-US" dirty="0"/>
              <a:t>，如何使传送的长度最短？</a:t>
            </a:r>
            <a:endParaRPr lang="zh-CN" altLang="en-US" dirty="0"/>
          </a:p>
          <a:p>
            <a:pPr lvl="2"/>
            <a:r>
              <a:rPr lang="zh-CN" altLang="en-US" sz="1800" dirty="0"/>
              <a:t>       为了保证长度最短，先看字符出现的次数，然后将出现次数当作权值。为保证传送词间互相区别，则需加入一空白字符，空白字符</a:t>
            </a:r>
            <a:r>
              <a:rPr lang="en-US" altLang="zh-CN" sz="1800" dirty="0"/>
              <a:t>^</a:t>
            </a:r>
            <a:r>
              <a:rPr lang="zh-CN" altLang="en-US" sz="1800" dirty="0"/>
              <a:t>出现次数为</a:t>
            </a:r>
            <a:r>
              <a:rPr lang="en-US" altLang="zh-CN" sz="1800" dirty="0"/>
              <a:t>7</a:t>
            </a:r>
            <a:r>
              <a:rPr lang="zh-CN" altLang="en-US" sz="1800" dirty="0"/>
              <a:t>。 </a:t>
            </a:r>
            <a:endParaRPr lang="en-US" altLang="zh-CN" sz="1800"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grpSp>
        <p:nvGrpSpPr>
          <p:cNvPr id="9" name="组合 8"/>
          <p:cNvGrpSpPr/>
          <p:nvPr/>
        </p:nvGrpSpPr>
        <p:grpSpPr bwMode="auto">
          <a:xfrm>
            <a:off x="2110577" y="3036923"/>
            <a:ext cx="5202022" cy="737100"/>
            <a:chOff x="1519213" y="3595189"/>
            <a:chExt cx="5202039" cy="737100"/>
          </a:xfrm>
        </p:grpSpPr>
        <p:grpSp>
          <p:nvGrpSpPr>
            <p:cNvPr id="10" name="Group 3"/>
            <p:cNvGrpSpPr/>
            <p:nvPr/>
          </p:nvGrpSpPr>
          <p:grpSpPr bwMode="auto">
            <a:xfrm>
              <a:off x="1519213" y="3605214"/>
              <a:ext cx="1800226" cy="727075"/>
              <a:chOff x="282" y="231"/>
              <a:chExt cx="1134" cy="458"/>
            </a:xfrm>
          </p:grpSpPr>
          <p:sp>
            <p:nvSpPr>
              <p:cNvPr id="12" name="Text Box 5"/>
              <p:cNvSpPr txBox="1">
                <a:spLocks noChangeArrowheads="1"/>
              </p:cNvSpPr>
              <p:nvPr/>
            </p:nvSpPr>
            <p:spPr bwMode="auto">
              <a:xfrm>
                <a:off x="959" y="231"/>
                <a:ext cx="40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dirty="0">
                    <a:solidFill>
                      <a:srgbClr val="00194C"/>
                    </a:solidFill>
                    <a:latin typeface="华文楷体" panose="02010600040101010101" pitchFamily="2" charset="-122"/>
                    <a:ea typeface="华文楷体" panose="02010600040101010101" pitchFamily="2" charset="-122"/>
                  </a:rPr>
                  <a:t>字符</a:t>
                </a:r>
                <a:endParaRPr lang="en-US" altLang="zh-CN" sz="1800" b="1" dirty="0">
                  <a:solidFill>
                    <a:srgbClr val="00194C"/>
                  </a:solidFill>
                  <a:latin typeface="华文楷体" panose="02010600040101010101" pitchFamily="2" charset="-122"/>
                  <a:ea typeface="华文楷体" panose="02010600040101010101" pitchFamily="2" charset="-122"/>
                </a:endParaRPr>
              </a:p>
            </p:txBody>
          </p:sp>
          <p:sp>
            <p:nvSpPr>
              <p:cNvPr id="13" name="Text Box 6"/>
              <p:cNvSpPr txBox="1">
                <a:spLocks noChangeArrowheads="1"/>
              </p:cNvSpPr>
              <p:nvPr/>
            </p:nvSpPr>
            <p:spPr bwMode="auto">
              <a:xfrm>
                <a:off x="282" y="456"/>
                <a:ext cx="113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None/>
                </a:pPr>
                <a:r>
                  <a:rPr lang="zh-CN" altLang="en-US" sz="1800" b="1" dirty="0">
                    <a:solidFill>
                      <a:srgbClr val="00194C"/>
                    </a:solidFill>
                    <a:latin typeface="华文楷体" panose="02010600040101010101" pitchFamily="2" charset="-122"/>
                    <a:ea typeface="华文楷体" panose="02010600040101010101" pitchFamily="2" charset="-122"/>
                  </a:rPr>
                  <a:t>字符出现的次数</a:t>
                </a:r>
                <a:endParaRPr lang="en-US" altLang="zh-CN" sz="1800" b="1" dirty="0">
                  <a:solidFill>
                    <a:srgbClr val="00194C"/>
                  </a:solidFill>
                  <a:latin typeface="华文楷体" panose="02010600040101010101" pitchFamily="2" charset="-122"/>
                  <a:ea typeface="华文楷体" panose="02010600040101010101" pitchFamily="2" charset="-122"/>
                </a:endParaRPr>
              </a:p>
            </p:txBody>
          </p:sp>
        </p:grpSp>
        <p:sp>
          <p:nvSpPr>
            <p:cNvPr id="11" name="Text Box 5"/>
            <p:cNvSpPr txBox="1">
              <a:spLocks noChangeArrowheads="1"/>
            </p:cNvSpPr>
            <p:nvPr/>
          </p:nvSpPr>
          <p:spPr bwMode="auto">
            <a:xfrm>
              <a:off x="3327177" y="3595189"/>
              <a:ext cx="3394075" cy="646331"/>
            </a:xfrm>
            <a:prstGeom prst="rect">
              <a:avLst/>
            </a:prstGeom>
            <a:noFill/>
            <a:ln w="9525">
              <a:solidFill>
                <a:schemeClr val="accent1"/>
              </a:solidFill>
              <a:miter lim="800000"/>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c     s       e      a       ^       t</a:t>
              </a:r>
              <a:endParaRPr lang="en-US" altLang="zh-CN" sz="1800" dirty="0"/>
            </a:p>
            <a:p>
              <a:pPr eaLnBrk="1" hangingPunct="1">
                <a:spcBef>
                  <a:spcPct val="0"/>
                </a:spcBef>
                <a:buFontTx/>
                <a:buNone/>
              </a:pPr>
              <a:r>
                <a:rPr lang="en-US" altLang="zh-CN" sz="1800" dirty="0"/>
                <a:t>2     3      5      7       7      8</a:t>
              </a:r>
              <a:endParaRPr lang="en-US" altLang="zh-CN"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grpSp>
        <p:nvGrpSpPr>
          <p:cNvPr id="9" name="组合 91"/>
          <p:cNvGrpSpPr/>
          <p:nvPr/>
        </p:nvGrpSpPr>
        <p:grpSpPr bwMode="auto">
          <a:xfrm>
            <a:off x="1694349" y="1780376"/>
            <a:ext cx="1071563" cy="428625"/>
            <a:chOff x="1571604" y="1857364"/>
            <a:chExt cx="1071570" cy="428628"/>
          </a:xfrm>
        </p:grpSpPr>
        <p:sp>
          <p:nvSpPr>
            <p:cNvPr id="10" name="椭圆 1"/>
            <p:cNvSpPr>
              <a:spLocks noChangeArrowheads="1"/>
            </p:cNvSpPr>
            <p:nvPr/>
          </p:nvSpPr>
          <p:spPr bwMode="auto">
            <a:xfrm>
              <a:off x="1571604" y="18573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solidFill>
                    <a:srgbClr val="FF0000"/>
                  </a:solidFill>
                  <a:latin typeface="+mn-ea"/>
                  <a:ea typeface="+mn-ea"/>
                </a:rPr>
                <a:t>2</a:t>
              </a:r>
              <a:endParaRPr lang="zh-CN" altLang="en-US" sz="1400">
                <a:solidFill>
                  <a:srgbClr val="FF0000"/>
                </a:solidFill>
                <a:latin typeface="+mn-ea"/>
                <a:ea typeface="+mn-ea"/>
              </a:endParaRPr>
            </a:p>
          </p:txBody>
        </p:sp>
        <p:sp>
          <p:nvSpPr>
            <p:cNvPr id="11" name="椭圆 7"/>
            <p:cNvSpPr>
              <a:spLocks noChangeArrowheads="1"/>
            </p:cNvSpPr>
            <p:nvPr/>
          </p:nvSpPr>
          <p:spPr bwMode="auto">
            <a:xfrm>
              <a:off x="2214546" y="18573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3</a:t>
              </a:r>
              <a:endParaRPr lang="zh-CN" altLang="en-US" sz="1400">
                <a:solidFill>
                  <a:srgbClr val="FF0000"/>
                </a:solidFill>
                <a:latin typeface="+mn-ea"/>
                <a:ea typeface="+mn-ea"/>
              </a:endParaRPr>
            </a:p>
          </p:txBody>
        </p:sp>
      </p:grpSp>
      <p:sp>
        <p:nvSpPr>
          <p:cNvPr id="12" name="椭圆 11"/>
          <p:cNvSpPr>
            <a:spLocks noChangeArrowheads="1"/>
          </p:cNvSpPr>
          <p:nvPr/>
        </p:nvSpPr>
        <p:spPr bwMode="auto">
          <a:xfrm>
            <a:off x="2980224" y="1780376"/>
            <a:ext cx="428625" cy="428625"/>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5</a:t>
            </a:r>
            <a:endParaRPr lang="zh-CN" altLang="en-US" sz="1400">
              <a:solidFill>
                <a:srgbClr val="FF0000"/>
              </a:solidFill>
              <a:latin typeface="+mn-ea"/>
              <a:ea typeface="+mn-ea"/>
            </a:endParaRPr>
          </a:p>
        </p:txBody>
      </p:sp>
      <p:grpSp>
        <p:nvGrpSpPr>
          <p:cNvPr id="13" name="组合 67"/>
          <p:cNvGrpSpPr/>
          <p:nvPr/>
        </p:nvGrpSpPr>
        <p:grpSpPr bwMode="auto">
          <a:xfrm>
            <a:off x="3623161" y="1780376"/>
            <a:ext cx="1143000" cy="428625"/>
            <a:chOff x="3500430" y="1857364"/>
            <a:chExt cx="1143008" cy="428628"/>
          </a:xfrm>
        </p:grpSpPr>
        <p:sp>
          <p:nvSpPr>
            <p:cNvPr id="14" name="椭圆 9"/>
            <p:cNvSpPr>
              <a:spLocks noChangeArrowheads="1"/>
            </p:cNvSpPr>
            <p:nvPr/>
          </p:nvSpPr>
          <p:spPr bwMode="auto">
            <a:xfrm>
              <a:off x="3500430" y="18573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7</a:t>
              </a:r>
              <a:endParaRPr lang="zh-CN" altLang="en-US" sz="1400">
                <a:solidFill>
                  <a:srgbClr val="FF0000"/>
                </a:solidFill>
                <a:latin typeface="+mn-ea"/>
                <a:ea typeface="+mn-ea"/>
              </a:endParaRPr>
            </a:p>
          </p:txBody>
        </p:sp>
        <p:sp>
          <p:nvSpPr>
            <p:cNvPr id="15" name="椭圆 10"/>
            <p:cNvSpPr>
              <a:spLocks noChangeArrowheads="1"/>
            </p:cNvSpPr>
            <p:nvPr/>
          </p:nvSpPr>
          <p:spPr bwMode="auto">
            <a:xfrm>
              <a:off x="4214810" y="18573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7</a:t>
              </a:r>
              <a:endParaRPr lang="zh-CN" altLang="en-US" sz="1400">
                <a:solidFill>
                  <a:srgbClr val="FF0000"/>
                </a:solidFill>
                <a:latin typeface="+mn-ea"/>
                <a:ea typeface="+mn-ea"/>
              </a:endParaRPr>
            </a:p>
          </p:txBody>
        </p:sp>
      </p:grpSp>
      <p:sp>
        <p:nvSpPr>
          <p:cNvPr id="16" name="椭圆 15"/>
          <p:cNvSpPr>
            <a:spLocks noChangeArrowheads="1"/>
          </p:cNvSpPr>
          <p:nvPr/>
        </p:nvSpPr>
        <p:spPr bwMode="auto">
          <a:xfrm>
            <a:off x="5051912" y="1780376"/>
            <a:ext cx="428625" cy="428625"/>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8</a:t>
            </a:r>
            <a:endParaRPr lang="zh-CN" altLang="en-US" sz="1400">
              <a:solidFill>
                <a:srgbClr val="FF0000"/>
              </a:solidFill>
              <a:latin typeface="+mn-ea"/>
              <a:ea typeface="+mn-ea"/>
            </a:endParaRPr>
          </a:p>
        </p:txBody>
      </p:sp>
      <p:grpSp>
        <p:nvGrpSpPr>
          <p:cNvPr id="17" name="组合 92"/>
          <p:cNvGrpSpPr/>
          <p:nvPr/>
        </p:nvGrpSpPr>
        <p:grpSpPr bwMode="auto">
          <a:xfrm>
            <a:off x="1694349" y="2566189"/>
            <a:ext cx="1000125" cy="428625"/>
            <a:chOff x="1571604" y="2643182"/>
            <a:chExt cx="1000132" cy="428628"/>
          </a:xfrm>
        </p:grpSpPr>
        <p:sp>
          <p:nvSpPr>
            <p:cNvPr id="18" name="椭圆 21"/>
            <p:cNvSpPr>
              <a:spLocks noChangeArrowheads="1"/>
            </p:cNvSpPr>
            <p:nvPr/>
          </p:nvSpPr>
          <p:spPr bwMode="auto">
            <a:xfrm>
              <a:off x="1571604" y="2643182"/>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solidFill>
                    <a:srgbClr val="FF0000"/>
                  </a:solidFill>
                  <a:latin typeface="+mn-ea"/>
                  <a:ea typeface="+mn-ea"/>
                </a:rPr>
                <a:t>2</a:t>
              </a:r>
              <a:endParaRPr lang="zh-CN" altLang="en-US" sz="1400">
                <a:solidFill>
                  <a:srgbClr val="FF0000"/>
                </a:solidFill>
                <a:latin typeface="+mn-ea"/>
                <a:ea typeface="+mn-ea"/>
              </a:endParaRPr>
            </a:p>
          </p:txBody>
        </p:sp>
        <p:sp>
          <p:nvSpPr>
            <p:cNvPr id="19" name="椭圆 22"/>
            <p:cNvSpPr>
              <a:spLocks noChangeArrowheads="1"/>
            </p:cNvSpPr>
            <p:nvPr/>
          </p:nvSpPr>
          <p:spPr bwMode="auto">
            <a:xfrm>
              <a:off x="2143108" y="2643182"/>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3</a:t>
              </a:r>
              <a:endParaRPr lang="zh-CN" altLang="en-US" sz="1400">
                <a:solidFill>
                  <a:srgbClr val="FF0000"/>
                </a:solidFill>
                <a:latin typeface="+mn-ea"/>
                <a:ea typeface="+mn-ea"/>
              </a:endParaRPr>
            </a:p>
          </p:txBody>
        </p:sp>
      </p:grpSp>
      <p:grpSp>
        <p:nvGrpSpPr>
          <p:cNvPr id="20" name="组合 30"/>
          <p:cNvGrpSpPr/>
          <p:nvPr/>
        </p:nvGrpSpPr>
        <p:grpSpPr bwMode="auto">
          <a:xfrm>
            <a:off x="1908661" y="1780375"/>
            <a:ext cx="571500" cy="776188"/>
            <a:chOff x="1785919" y="1785926"/>
            <a:chExt cx="571503" cy="776193"/>
          </a:xfrm>
        </p:grpSpPr>
        <p:sp>
          <p:nvSpPr>
            <p:cNvPr id="21" name="椭圆 15"/>
            <p:cNvSpPr>
              <a:spLocks noChangeArrowheads="1"/>
            </p:cNvSpPr>
            <p:nvPr/>
          </p:nvSpPr>
          <p:spPr bwMode="auto">
            <a:xfrm>
              <a:off x="1857356" y="1785926"/>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5</a:t>
              </a:r>
              <a:endParaRPr lang="zh-CN" altLang="en-US" sz="1400">
                <a:latin typeface="+mn-ea"/>
                <a:ea typeface="+mn-ea"/>
              </a:endParaRPr>
            </a:p>
          </p:txBody>
        </p:sp>
        <p:cxnSp>
          <p:nvCxnSpPr>
            <p:cNvPr id="22" name="直接连接符 24"/>
            <p:cNvCxnSpPr>
              <a:cxnSpLocks noChangeShapeType="1"/>
              <a:stCxn id="21" idx="3"/>
              <a:endCxn id="18" idx="0"/>
            </p:cNvCxnSpPr>
            <p:nvPr/>
          </p:nvCxnSpPr>
          <p:spPr bwMode="auto">
            <a:xfrm flipH="1">
              <a:off x="1785919" y="2151782"/>
              <a:ext cx="134209" cy="410337"/>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3" name="直接连接符 27"/>
            <p:cNvCxnSpPr>
              <a:cxnSpLocks noChangeShapeType="1"/>
              <a:stCxn id="21" idx="5"/>
              <a:endCxn id="19" idx="0"/>
            </p:cNvCxnSpPr>
            <p:nvPr/>
          </p:nvCxnSpPr>
          <p:spPr bwMode="auto">
            <a:xfrm>
              <a:off x="2223213" y="2151782"/>
              <a:ext cx="134209" cy="410337"/>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24" name="组合 33"/>
          <p:cNvGrpSpPr/>
          <p:nvPr/>
        </p:nvGrpSpPr>
        <p:grpSpPr bwMode="auto">
          <a:xfrm>
            <a:off x="2408726" y="1780375"/>
            <a:ext cx="642936" cy="857250"/>
            <a:chOff x="1785924" y="1785926"/>
            <a:chExt cx="642936" cy="857256"/>
          </a:xfrm>
        </p:grpSpPr>
        <p:sp>
          <p:nvSpPr>
            <p:cNvPr id="25" name="椭圆 34"/>
            <p:cNvSpPr>
              <a:spLocks noChangeArrowheads="1"/>
            </p:cNvSpPr>
            <p:nvPr/>
          </p:nvSpPr>
          <p:spPr bwMode="auto">
            <a:xfrm>
              <a:off x="1857355" y="1785926"/>
              <a:ext cx="53816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10</a:t>
              </a:r>
              <a:endParaRPr lang="zh-CN" altLang="en-US" sz="1400">
                <a:latin typeface="+mn-ea"/>
                <a:ea typeface="+mn-ea"/>
              </a:endParaRPr>
            </a:p>
          </p:txBody>
        </p:sp>
        <p:cxnSp>
          <p:nvCxnSpPr>
            <p:cNvPr id="26" name="直接连接符 35"/>
            <p:cNvCxnSpPr>
              <a:cxnSpLocks noChangeShapeType="1"/>
              <a:stCxn id="25" idx="3"/>
            </p:cNvCxnSpPr>
            <p:nvPr/>
          </p:nvCxnSpPr>
          <p:spPr bwMode="auto">
            <a:xfrm flipH="1">
              <a:off x="1785924" y="2151783"/>
              <a:ext cx="150244" cy="49139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27" name="直接连接符 36"/>
            <p:cNvCxnSpPr>
              <a:cxnSpLocks noChangeShapeType="1"/>
              <a:stCxn id="25" idx="5"/>
            </p:cNvCxnSpPr>
            <p:nvPr/>
          </p:nvCxnSpPr>
          <p:spPr bwMode="auto">
            <a:xfrm>
              <a:off x="2316710" y="2151783"/>
              <a:ext cx="112150" cy="491398"/>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28" name="组合 93"/>
          <p:cNvGrpSpPr/>
          <p:nvPr/>
        </p:nvGrpSpPr>
        <p:grpSpPr bwMode="auto">
          <a:xfrm>
            <a:off x="1837224" y="2566189"/>
            <a:ext cx="1571625" cy="1214437"/>
            <a:chOff x="1571604" y="2643182"/>
            <a:chExt cx="1571636" cy="1214446"/>
          </a:xfrm>
        </p:grpSpPr>
        <p:sp>
          <p:nvSpPr>
            <p:cNvPr id="29" name="椭圆 32"/>
            <p:cNvSpPr>
              <a:spLocks noChangeArrowheads="1"/>
            </p:cNvSpPr>
            <p:nvPr/>
          </p:nvSpPr>
          <p:spPr bwMode="auto">
            <a:xfrm>
              <a:off x="2714612" y="2643182"/>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5</a:t>
              </a:r>
              <a:endParaRPr lang="zh-CN" altLang="en-US" sz="1400">
                <a:solidFill>
                  <a:srgbClr val="FF0000"/>
                </a:solidFill>
                <a:latin typeface="+mn-ea"/>
                <a:ea typeface="+mn-ea"/>
              </a:endParaRPr>
            </a:p>
          </p:txBody>
        </p:sp>
        <p:grpSp>
          <p:nvGrpSpPr>
            <p:cNvPr id="30" name="组合 45"/>
            <p:cNvGrpSpPr/>
            <p:nvPr/>
          </p:nvGrpSpPr>
          <p:grpSpPr bwMode="auto">
            <a:xfrm>
              <a:off x="1571604" y="2643182"/>
              <a:ext cx="1071570" cy="1214446"/>
              <a:chOff x="1785918" y="4643446"/>
              <a:chExt cx="1071570" cy="1214446"/>
            </a:xfrm>
          </p:grpSpPr>
          <p:sp>
            <p:nvSpPr>
              <p:cNvPr id="31" name="椭圆 37"/>
              <p:cNvSpPr>
                <a:spLocks noChangeArrowheads="1"/>
              </p:cNvSpPr>
              <p:nvPr/>
            </p:nvSpPr>
            <p:spPr bwMode="auto">
              <a:xfrm>
                <a:off x="1785918" y="54292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solidFill>
                      <a:srgbClr val="FF0000"/>
                    </a:solidFill>
                    <a:latin typeface="+mn-ea"/>
                    <a:ea typeface="+mn-ea"/>
                  </a:rPr>
                  <a:t>2</a:t>
                </a:r>
                <a:endParaRPr lang="zh-CN" altLang="en-US" sz="1400">
                  <a:solidFill>
                    <a:srgbClr val="FF0000"/>
                  </a:solidFill>
                  <a:latin typeface="+mn-ea"/>
                  <a:ea typeface="+mn-ea"/>
                </a:endParaRPr>
              </a:p>
            </p:txBody>
          </p:sp>
          <p:sp>
            <p:nvSpPr>
              <p:cNvPr id="32" name="椭圆 38"/>
              <p:cNvSpPr>
                <a:spLocks noChangeArrowheads="1"/>
              </p:cNvSpPr>
              <p:nvPr/>
            </p:nvSpPr>
            <p:spPr bwMode="auto">
              <a:xfrm>
                <a:off x="2428860" y="54292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3</a:t>
                </a:r>
                <a:endParaRPr lang="zh-CN" altLang="en-US" sz="1400">
                  <a:solidFill>
                    <a:srgbClr val="FF0000"/>
                  </a:solidFill>
                  <a:latin typeface="+mn-ea"/>
                  <a:ea typeface="+mn-ea"/>
                </a:endParaRPr>
              </a:p>
            </p:txBody>
          </p:sp>
          <p:grpSp>
            <p:nvGrpSpPr>
              <p:cNvPr id="33" name="组合 39"/>
              <p:cNvGrpSpPr/>
              <p:nvPr/>
            </p:nvGrpSpPr>
            <p:grpSpPr bwMode="auto">
              <a:xfrm>
                <a:off x="2000233" y="4643446"/>
                <a:ext cx="642941" cy="785818"/>
                <a:chOff x="1785919" y="1785926"/>
                <a:chExt cx="642941" cy="785818"/>
              </a:xfrm>
            </p:grpSpPr>
            <p:sp>
              <p:nvSpPr>
                <p:cNvPr id="34" name="椭圆 40"/>
                <p:cNvSpPr>
                  <a:spLocks noChangeArrowheads="1"/>
                </p:cNvSpPr>
                <p:nvPr/>
              </p:nvSpPr>
              <p:spPr bwMode="auto">
                <a:xfrm>
                  <a:off x="1857356" y="1785926"/>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5</a:t>
                  </a:r>
                  <a:endParaRPr lang="zh-CN" altLang="en-US" sz="1400">
                    <a:latin typeface="+mn-ea"/>
                    <a:ea typeface="+mn-ea"/>
                  </a:endParaRPr>
                </a:p>
              </p:txBody>
            </p:sp>
            <p:cxnSp>
              <p:nvCxnSpPr>
                <p:cNvPr id="35" name="直接连接符 41"/>
                <p:cNvCxnSpPr>
                  <a:cxnSpLocks noChangeShapeType="1"/>
                  <a:stCxn id="34" idx="3"/>
                  <a:endCxn id="31" idx="0"/>
                </p:cNvCxnSpPr>
                <p:nvPr/>
              </p:nvCxnSpPr>
              <p:spPr bwMode="auto">
                <a:xfrm rot="5400000">
                  <a:off x="1643043" y="2294659"/>
                  <a:ext cx="419961" cy="13420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36" name="直接连接符 42"/>
                <p:cNvCxnSpPr>
                  <a:cxnSpLocks noChangeShapeType="1"/>
                  <a:stCxn id="34" idx="5"/>
                  <a:endCxn id="32" idx="0"/>
                </p:cNvCxnSpPr>
                <p:nvPr/>
              </p:nvCxnSpPr>
              <p:spPr bwMode="auto">
                <a:xfrm rot="16200000" flipH="1">
                  <a:off x="2116056" y="2258939"/>
                  <a:ext cx="419961" cy="205647"/>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grpSp>
        <p:nvGrpSpPr>
          <p:cNvPr id="37" name="组合 84"/>
          <p:cNvGrpSpPr/>
          <p:nvPr/>
        </p:nvGrpSpPr>
        <p:grpSpPr bwMode="auto">
          <a:xfrm>
            <a:off x="3623161" y="1780375"/>
            <a:ext cx="1143000" cy="1214438"/>
            <a:chOff x="4000496" y="3786190"/>
            <a:chExt cx="1143008" cy="1214446"/>
          </a:xfrm>
        </p:grpSpPr>
        <p:grpSp>
          <p:nvGrpSpPr>
            <p:cNvPr id="38" name="组合 77"/>
            <p:cNvGrpSpPr/>
            <p:nvPr/>
          </p:nvGrpSpPr>
          <p:grpSpPr bwMode="auto">
            <a:xfrm>
              <a:off x="4000496" y="4572008"/>
              <a:ext cx="1143008" cy="428628"/>
              <a:chOff x="3500430" y="1857364"/>
              <a:chExt cx="1143008" cy="428628"/>
            </a:xfrm>
          </p:grpSpPr>
          <p:sp>
            <p:nvSpPr>
              <p:cNvPr id="43" name="椭圆 78"/>
              <p:cNvSpPr>
                <a:spLocks noChangeArrowheads="1"/>
              </p:cNvSpPr>
              <p:nvPr/>
            </p:nvSpPr>
            <p:spPr bwMode="auto">
              <a:xfrm>
                <a:off x="3500430" y="18573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7</a:t>
                </a:r>
                <a:endParaRPr lang="zh-CN" altLang="en-US" sz="1400">
                  <a:solidFill>
                    <a:srgbClr val="FF0000"/>
                  </a:solidFill>
                  <a:latin typeface="+mn-ea"/>
                  <a:ea typeface="+mn-ea"/>
                </a:endParaRPr>
              </a:p>
            </p:txBody>
          </p:sp>
          <p:sp>
            <p:nvSpPr>
              <p:cNvPr id="44" name="椭圆 79"/>
              <p:cNvSpPr>
                <a:spLocks noChangeArrowheads="1"/>
              </p:cNvSpPr>
              <p:nvPr/>
            </p:nvSpPr>
            <p:spPr bwMode="auto">
              <a:xfrm>
                <a:off x="4214810" y="18573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7</a:t>
                </a:r>
                <a:endParaRPr lang="zh-CN" altLang="en-US" sz="1400">
                  <a:solidFill>
                    <a:srgbClr val="FF0000"/>
                  </a:solidFill>
                  <a:latin typeface="+mn-ea"/>
                  <a:ea typeface="+mn-ea"/>
                </a:endParaRPr>
              </a:p>
            </p:txBody>
          </p:sp>
        </p:grpSp>
        <p:grpSp>
          <p:nvGrpSpPr>
            <p:cNvPr id="39" name="组合 80"/>
            <p:cNvGrpSpPr/>
            <p:nvPr/>
          </p:nvGrpSpPr>
          <p:grpSpPr bwMode="auto">
            <a:xfrm>
              <a:off x="4214816" y="3786190"/>
              <a:ext cx="642935" cy="785818"/>
              <a:chOff x="1785924" y="1785926"/>
              <a:chExt cx="642935" cy="785818"/>
            </a:xfrm>
          </p:grpSpPr>
          <p:sp>
            <p:nvSpPr>
              <p:cNvPr id="40" name="椭圆 81"/>
              <p:cNvSpPr>
                <a:spLocks noChangeArrowheads="1"/>
              </p:cNvSpPr>
              <p:nvPr/>
            </p:nvSpPr>
            <p:spPr bwMode="auto">
              <a:xfrm>
                <a:off x="1805572" y="1785926"/>
                <a:ext cx="551851" cy="500066"/>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14</a:t>
                </a:r>
                <a:endParaRPr lang="zh-CN" altLang="en-US" sz="1400">
                  <a:latin typeface="+mn-ea"/>
                  <a:ea typeface="+mn-ea"/>
                </a:endParaRPr>
              </a:p>
            </p:txBody>
          </p:sp>
          <p:cxnSp>
            <p:nvCxnSpPr>
              <p:cNvPr id="41" name="直接连接符 82"/>
              <p:cNvCxnSpPr>
                <a:cxnSpLocks noChangeShapeType="1"/>
                <a:stCxn id="40" idx="3"/>
              </p:cNvCxnSpPr>
              <p:nvPr/>
            </p:nvCxnSpPr>
            <p:spPr bwMode="auto">
              <a:xfrm flipH="1">
                <a:off x="1785924" y="2212759"/>
                <a:ext cx="100465"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42" name="直接连接符 83"/>
              <p:cNvCxnSpPr>
                <a:cxnSpLocks noChangeShapeType="1"/>
                <a:stCxn id="40" idx="5"/>
              </p:cNvCxnSpPr>
              <p:nvPr/>
            </p:nvCxnSpPr>
            <p:spPr bwMode="auto">
              <a:xfrm>
                <a:off x="2276607" y="2212759"/>
                <a:ext cx="152252"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nvGrpSpPr>
          <p:cNvPr id="45" name="组合 95"/>
          <p:cNvGrpSpPr/>
          <p:nvPr/>
        </p:nvGrpSpPr>
        <p:grpSpPr bwMode="auto">
          <a:xfrm>
            <a:off x="5051912" y="1780375"/>
            <a:ext cx="1500187" cy="2857500"/>
            <a:chOff x="4929190" y="1857364"/>
            <a:chExt cx="1500198" cy="2857520"/>
          </a:xfrm>
        </p:grpSpPr>
        <p:sp>
          <p:nvSpPr>
            <p:cNvPr id="46" name="椭圆 20"/>
            <p:cNvSpPr>
              <a:spLocks noChangeArrowheads="1"/>
            </p:cNvSpPr>
            <p:nvPr/>
          </p:nvSpPr>
          <p:spPr bwMode="auto">
            <a:xfrm>
              <a:off x="4929190" y="2643182"/>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8</a:t>
              </a:r>
              <a:endParaRPr lang="zh-CN" altLang="en-US" sz="1400">
                <a:solidFill>
                  <a:srgbClr val="FF0000"/>
                </a:solidFill>
                <a:latin typeface="+mn-ea"/>
                <a:ea typeface="+mn-ea"/>
              </a:endParaRPr>
            </a:p>
          </p:txBody>
        </p:sp>
        <p:grpSp>
          <p:nvGrpSpPr>
            <p:cNvPr id="47" name="组合 60"/>
            <p:cNvGrpSpPr/>
            <p:nvPr/>
          </p:nvGrpSpPr>
          <p:grpSpPr bwMode="auto">
            <a:xfrm>
              <a:off x="5000628" y="2643182"/>
              <a:ext cx="1428760" cy="2071702"/>
              <a:chOff x="2081194" y="4071942"/>
              <a:chExt cx="1428760" cy="2071702"/>
            </a:xfrm>
          </p:grpSpPr>
          <p:sp>
            <p:nvSpPr>
              <p:cNvPr id="52" name="椭圆 48"/>
              <p:cNvSpPr>
                <a:spLocks noChangeArrowheads="1"/>
              </p:cNvSpPr>
              <p:nvPr/>
            </p:nvSpPr>
            <p:spPr bwMode="auto">
              <a:xfrm>
                <a:off x="3081326" y="4929198"/>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5</a:t>
                </a:r>
                <a:endParaRPr lang="zh-CN" altLang="en-US" sz="1400">
                  <a:solidFill>
                    <a:srgbClr val="FF0000"/>
                  </a:solidFill>
                  <a:latin typeface="+mn-ea"/>
                  <a:ea typeface="+mn-ea"/>
                </a:endParaRPr>
              </a:p>
            </p:txBody>
          </p:sp>
          <p:grpSp>
            <p:nvGrpSpPr>
              <p:cNvPr id="53" name="组合 49"/>
              <p:cNvGrpSpPr/>
              <p:nvPr/>
            </p:nvGrpSpPr>
            <p:grpSpPr bwMode="auto">
              <a:xfrm>
                <a:off x="2652701" y="4071942"/>
                <a:ext cx="655261" cy="857255"/>
                <a:chOff x="1785922" y="1785926"/>
                <a:chExt cx="655261" cy="857255"/>
              </a:xfrm>
            </p:grpSpPr>
            <p:sp>
              <p:nvSpPr>
                <p:cNvPr id="61" name="椭圆 50"/>
                <p:cNvSpPr>
                  <a:spLocks noChangeArrowheads="1"/>
                </p:cNvSpPr>
                <p:nvPr/>
              </p:nvSpPr>
              <p:spPr bwMode="auto">
                <a:xfrm>
                  <a:off x="1857355" y="1785926"/>
                  <a:ext cx="5838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10</a:t>
                  </a:r>
                  <a:endParaRPr lang="zh-CN" altLang="en-US" sz="1400">
                    <a:latin typeface="+mn-ea"/>
                    <a:ea typeface="+mn-ea"/>
                  </a:endParaRPr>
                </a:p>
              </p:txBody>
            </p:sp>
            <p:cxnSp>
              <p:nvCxnSpPr>
                <p:cNvPr id="62" name="直接连接符 51"/>
                <p:cNvCxnSpPr>
                  <a:cxnSpLocks noChangeShapeType="1"/>
                  <a:stCxn id="61" idx="3"/>
                </p:cNvCxnSpPr>
                <p:nvPr/>
              </p:nvCxnSpPr>
              <p:spPr bwMode="auto">
                <a:xfrm flipH="1">
                  <a:off x="1785922" y="2151783"/>
                  <a:ext cx="156933" cy="491398"/>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63" name="直接连接符 52"/>
                <p:cNvCxnSpPr>
                  <a:cxnSpLocks noChangeShapeType="1"/>
                  <a:stCxn id="61" idx="5"/>
                </p:cNvCxnSpPr>
                <p:nvPr/>
              </p:nvCxnSpPr>
              <p:spPr bwMode="auto">
                <a:xfrm>
                  <a:off x="2355684" y="2151783"/>
                  <a:ext cx="73175" cy="491398"/>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54" name="组合 53"/>
              <p:cNvGrpSpPr/>
              <p:nvPr/>
            </p:nvGrpSpPr>
            <p:grpSpPr bwMode="auto">
              <a:xfrm>
                <a:off x="2081194" y="4929198"/>
                <a:ext cx="1071570" cy="1214446"/>
                <a:chOff x="1785918" y="4643446"/>
                <a:chExt cx="1071570" cy="1214446"/>
              </a:xfrm>
            </p:grpSpPr>
            <p:sp>
              <p:nvSpPr>
                <p:cNvPr id="55" name="椭圆 54"/>
                <p:cNvSpPr>
                  <a:spLocks noChangeArrowheads="1"/>
                </p:cNvSpPr>
                <p:nvPr/>
              </p:nvSpPr>
              <p:spPr bwMode="auto">
                <a:xfrm>
                  <a:off x="1785918" y="54292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solidFill>
                        <a:srgbClr val="FF0000"/>
                      </a:solidFill>
                      <a:latin typeface="+mn-ea"/>
                      <a:ea typeface="+mn-ea"/>
                    </a:rPr>
                    <a:t>2</a:t>
                  </a:r>
                  <a:endParaRPr lang="zh-CN" altLang="en-US" sz="1400">
                    <a:solidFill>
                      <a:srgbClr val="FF0000"/>
                    </a:solidFill>
                    <a:latin typeface="+mn-ea"/>
                    <a:ea typeface="+mn-ea"/>
                  </a:endParaRPr>
                </a:p>
              </p:txBody>
            </p:sp>
            <p:sp>
              <p:nvSpPr>
                <p:cNvPr id="56" name="椭圆 55"/>
                <p:cNvSpPr>
                  <a:spLocks noChangeArrowheads="1"/>
                </p:cNvSpPr>
                <p:nvPr/>
              </p:nvSpPr>
              <p:spPr bwMode="auto">
                <a:xfrm>
                  <a:off x="2428860" y="54292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1400">
                      <a:solidFill>
                        <a:srgbClr val="FF0000"/>
                      </a:solidFill>
                      <a:latin typeface="+mn-ea"/>
                      <a:ea typeface="+mn-ea"/>
                    </a:rPr>
                    <a:t>3</a:t>
                  </a:r>
                  <a:endParaRPr lang="zh-CN" altLang="en-US" sz="1400">
                    <a:solidFill>
                      <a:srgbClr val="FF0000"/>
                    </a:solidFill>
                    <a:latin typeface="+mn-ea"/>
                    <a:ea typeface="+mn-ea"/>
                  </a:endParaRPr>
                </a:p>
              </p:txBody>
            </p:sp>
            <p:grpSp>
              <p:nvGrpSpPr>
                <p:cNvPr id="57" name="组合 39"/>
                <p:cNvGrpSpPr/>
                <p:nvPr/>
              </p:nvGrpSpPr>
              <p:grpSpPr bwMode="auto">
                <a:xfrm>
                  <a:off x="2000233" y="4643446"/>
                  <a:ext cx="634273" cy="785818"/>
                  <a:chOff x="1785919" y="1785926"/>
                  <a:chExt cx="634273" cy="785818"/>
                </a:xfrm>
              </p:grpSpPr>
              <p:sp>
                <p:nvSpPr>
                  <p:cNvPr id="58" name="椭圆 57"/>
                  <p:cNvSpPr>
                    <a:spLocks noChangeArrowheads="1"/>
                  </p:cNvSpPr>
                  <p:nvPr/>
                </p:nvSpPr>
                <p:spPr bwMode="auto">
                  <a:xfrm>
                    <a:off x="1857356" y="1785926"/>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5</a:t>
                    </a:r>
                    <a:endParaRPr lang="zh-CN" altLang="en-US" sz="1400">
                      <a:latin typeface="+mn-ea"/>
                      <a:ea typeface="+mn-ea"/>
                    </a:endParaRPr>
                  </a:p>
                </p:txBody>
              </p:sp>
              <p:cxnSp>
                <p:nvCxnSpPr>
                  <p:cNvPr id="59" name="直接连接符 58"/>
                  <p:cNvCxnSpPr>
                    <a:cxnSpLocks noChangeShapeType="1"/>
                    <a:stCxn id="58" idx="3"/>
                    <a:endCxn id="55" idx="0"/>
                  </p:cNvCxnSpPr>
                  <p:nvPr/>
                </p:nvCxnSpPr>
                <p:spPr bwMode="auto">
                  <a:xfrm rot="5400000">
                    <a:off x="1643043" y="2294659"/>
                    <a:ext cx="419961" cy="13420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60" name="直接连接符 59"/>
                  <p:cNvCxnSpPr>
                    <a:cxnSpLocks noChangeShapeType="1"/>
                    <a:stCxn id="58" idx="5"/>
                  </p:cNvCxnSpPr>
                  <p:nvPr/>
                </p:nvCxnSpPr>
                <p:spPr bwMode="auto">
                  <a:xfrm rot="16200000" flipH="1">
                    <a:off x="2111723" y="2263272"/>
                    <a:ext cx="419959" cy="19697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grpSp>
          <p:nvGrpSpPr>
            <p:cNvPr id="48" name="组合 85"/>
            <p:cNvGrpSpPr/>
            <p:nvPr/>
          </p:nvGrpSpPr>
          <p:grpSpPr bwMode="auto">
            <a:xfrm>
              <a:off x="5214943" y="1857364"/>
              <a:ext cx="642935" cy="785818"/>
              <a:chOff x="1785924" y="1785926"/>
              <a:chExt cx="642935" cy="785818"/>
            </a:xfrm>
          </p:grpSpPr>
          <p:sp>
            <p:nvSpPr>
              <p:cNvPr id="49" name="椭圆 86"/>
              <p:cNvSpPr>
                <a:spLocks noChangeArrowheads="1"/>
              </p:cNvSpPr>
              <p:nvPr/>
            </p:nvSpPr>
            <p:spPr bwMode="auto">
              <a:xfrm>
                <a:off x="1857356" y="1785926"/>
                <a:ext cx="533408" cy="500066"/>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18</a:t>
                </a:r>
                <a:endParaRPr lang="zh-CN" altLang="en-US" sz="1400">
                  <a:latin typeface="+mn-ea"/>
                  <a:ea typeface="+mn-ea"/>
                </a:endParaRPr>
              </a:p>
            </p:txBody>
          </p:sp>
          <p:cxnSp>
            <p:nvCxnSpPr>
              <p:cNvPr id="50" name="直接连接符 87"/>
              <p:cNvCxnSpPr>
                <a:cxnSpLocks noChangeShapeType="1"/>
                <a:stCxn id="49" idx="3"/>
              </p:cNvCxnSpPr>
              <p:nvPr/>
            </p:nvCxnSpPr>
            <p:spPr bwMode="auto">
              <a:xfrm flipH="1">
                <a:off x="1785924" y="2212759"/>
                <a:ext cx="149547"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51" name="直接连接符 88"/>
              <p:cNvCxnSpPr>
                <a:cxnSpLocks noChangeShapeType="1"/>
                <a:stCxn id="49" idx="5"/>
              </p:cNvCxnSpPr>
              <p:nvPr/>
            </p:nvCxnSpPr>
            <p:spPr bwMode="auto">
              <a:xfrm>
                <a:off x="2312648" y="2212759"/>
                <a:ext cx="116211"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nvGrpSpPr>
          <p:cNvPr id="64" name="组合 128"/>
          <p:cNvGrpSpPr/>
          <p:nvPr/>
        </p:nvGrpSpPr>
        <p:grpSpPr bwMode="auto">
          <a:xfrm>
            <a:off x="2899728" y="1237301"/>
            <a:ext cx="2928938" cy="3643313"/>
            <a:chOff x="3143240" y="1857364"/>
            <a:chExt cx="2928958" cy="3643338"/>
          </a:xfrm>
        </p:grpSpPr>
        <p:grpSp>
          <p:nvGrpSpPr>
            <p:cNvPr id="65" name="组合 71"/>
            <p:cNvGrpSpPr/>
            <p:nvPr/>
          </p:nvGrpSpPr>
          <p:grpSpPr bwMode="auto">
            <a:xfrm>
              <a:off x="3894042" y="1857364"/>
              <a:ext cx="1106585" cy="859051"/>
              <a:chOff x="1613419" y="1785926"/>
              <a:chExt cx="936334" cy="859050"/>
            </a:xfrm>
          </p:grpSpPr>
          <p:sp>
            <p:nvSpPr>
              <p:cNvPr id="94" name="椭圆 72"/>
              <p:cNvSpPr>
                <a:spLocks noChangeArrowheads="1"/>
              </p:cNvSpPr>
              <p:nvPr/>
            </p:nvSpPr>
            <p:spPr bwMode="auto">
              <a:xfrm>
                <a:off x="1857356" y="1785926"/>
                <a:ext cx="500066" cy="500066"/>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32</a:t>
                </a:r>
                <a:endParaRPr lang="zh-CN" altLang="en-US" sz="1400">
                  <a:latin typeface="+mn-ea"/>
                  <a:ea typeface="+mn-ea"/>
                </a:endParaRPr>
              </a:p>
            </p:txBody>
          </p:sp>
          <p:cxnSp>
            <p:nvCxnSpPr>
              <p:cNvPr id="95" name="直接连接符 73"/>
              <p:cNvCxnSpPr>
                <a:cxnSpLocks noChangeShapeType="1"/>
                <a:stCxn id="94" idx="3"/>
                <a:endCxn id="89" idx="7"/>
              </p:cNvCxnSpPr>
              <p:nvPr/>
            </p:nvCxnSpPr>
            <p:spPr bwMode="auto">
              <a:xfrm flipH="1">
                <a:off x="1613419" y="2212758"/>
                <a:ext cx="317170" cy="432218"/>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96" name="直接连接符 74"/>
              <p:cNvCxnSpPr>
                <a:cxnSpLocks noChangeShapeType="1"/>
                <a:stCxn id="94" idx="5"/>
              </p:cNvCxnSpPr>
              <p:nvPr/>
            </p:nvCxnSpPr>
            <p:spPr bwMode="auto">
              <a:xfrm rot="16200000" flipH="1">
                <a:off x="2237478" y="2259470"/>
                <a:ext cx="358986" cy="265564"/>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66" name="组合 123"/>
            <p:cNvGrpSpPr/>
            <p:nvPr/>
          </p:nvGrpSpPr>
          <p:grpSpPr bwMode="auto">
            <a:xfrm>
              <a:off x="3143240" y="2643182"/>
              <a:ext cx="2928958" cy="2857520"/>
              <a:chOff x="2786050" y="3357562"/>
              <a:chExt cx="2928958" cy="2857520"/>
            </a:xfrm>
          </p:grpSpPr>
          <p:grpSp>
            <p:nvGrpSpPr>
              <p:cNvPr id="67" name="组合 96"/>
              <p:cNvGrpSpPr/>
              <p:nvPr/>
            </p:nvGrpSpPr>
            <p:grpSpPr bwMode="auto">
              <a:xfrm>
                <a:off x="2786050" y="3357562"/>
                <a:ext cx="1143008" cy="1214447"/>
                <a:chOff x="4000496" y="3786190"/>
                <a:chExt cx="1143008" cy="1214447"/>
              </a:xfrm>
            </p:grpSpPr>
            <p:grpSp>
              <p:nvGrpSpPr>
                <p:cNvPr id="87" name="组合 77"/>
                <p:cNvGrpSpPr/>
                <p:nvPr/>
              </p:nvGrpSpPr>
              <p:grpSpPr bwMode="auto">
                <a:xfrm>
                  <a:off x="4000496" y="4552763"/>
                  <a:ext cx="1143008" cy="447874"/>
                  <a:chOff x="3500430" y="1838119"/>
                  <a:chExt cx="1143008" cy="447874"/>
                </a:xfrm>
              </p:grpSpPr>
              <p:sp>
                <p:nvSpPr>
                  <p:cNvPr id="92" name="椭圆 102"/>
                  <p:cNvSpPr>
                    <a:spLocks noChangeArrowheads="1"/>
                  </p:cNvSpPr>
                  <p:nvPr/>
                </p:nvSpPr>
                <p:spPr bwMode="auto">
                  <a:xfrm>
                    <a:off x="3500430" y="1838119"/>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nSpc>
                        <a:spcPts val="1500"/>
                      </a:lnSpc>
                      <a:spcBef>
                        <a:spcPct val="0"/>
                      </a:spcBef>
                      <a:buNone/>
                    </a:pPr>
                    <a:r>
                      <a:rPr lang="en-US" altLang="zh-CN" sz="1400" dirty="0">
                        <a:solidFill>
                          <a:srgbClr val="FF0000"/>
                        </a:solidFill>
                        <a:latin typeface="+mn-ea"/>
                        <a:ea typeface="+mn-ea"/>
                      </a:rPr>
                      <a:t>7</a:t>
                    </a:r>
                    <a:endParaRPr lang="zh-CN" altLang="en-US" sz="1400" dirty="0">
                      <a:solidFill>
                        <a:srgbClr val="FF0000"/>
                      </a:solidFill>
                      <a:latin typeface="+mn-ea"/>
                      <a:ea typeface="+mn-ea"/>
                    </a:endParaRPr>
                  </a:p>
                </p:txBody>
              </p:sp>
              <p:sp>
                <p:nvSpPr>
                  <p:cNvPr id="93" name="椭圆 103"/>
                  <p:cNvSpPr>
                    <a:spLocks noChangeArrowheads="1"/>
                  </p:cNvSpPr>
                  <p:nvPr/>
                </p:nvSpPr>
                <p:spPr bwMode="auto">
                  <a:xfrm>
                    <a:off x="4214810" y="1857365"/>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a:lnSpc>
                        <a:spcPts val="1500"/>
                      </a:lnSpc>
                      <a:spcBef>
                        <a:spcPct val="0"/>
                      </a:spcBef>
                      <a:buNone/>
                    </a:pPr>
                    <a:r>
                      <a:rPr lang="en-US" altLang="zh-CN" sz="1400" dirty="0">
                        <a:solidFill>
                          <a:srgbClr val="FF0000"/>
                        </a:solidFill>
                        <a:latin typeface="+mn-ea"/>
                        <a:ea typeface="+mn-ea"/>
                      </a:rPr>
                      <a:t>7</a:t>
                    </a:r>
                    <a:endParaRPr lang="zh-CN" altLang="en-US" sz="1400" dirty="0">
                      <a:solidFill>
                        <a:srgbClr val="FF0000"/>
                      </a:solidFill>
                      <a:latin typeface="+mn-ea"/>
                      <a:ea typeface="+mn-ea"/>
                    </a:endParaRPr>
                  </a:p>
                </p:txBody>
              </p:sp>
            </p:grpSp>
            <p:grpSp>
              <p:nvGrpSpPr>
                <p:cNvPr id="88" name="组合 80"/>
                <p:cNvGrpSpPr/>
                <p:nvPr/>
              </p:nvGrpSpPr>
              <p:grpSpPr bwMode="auto">
                <a:xfrm>
                  <a:off x="4214816" y="3786190"/>
                  <a:ext cx="642935" cy="785818"/>
                  <a:chOff x="1785924" y="1785926"/>
                  <a:chExt cx="642935" cy="785818"/>
                </a:xfrm>
              </p:grpSpPr>
              <p:sp>
                <p:nvSpPr>
                  <p:cNvPr id="89" name="椭圆 99"/>
                  <p:cNvSpPr>
                    <a:spLocks noChangeArrowheads="1"/>
                  </p:cNvSpPr>
                  <p:nvPr/>
                </p:nvSpPr>
                <p:spPr bwMode="auto">
                  <a:xfrm>
                    <a:off x="1857356" y="1785926"/>
                    <a:ext cx="544840" cy="500066"/>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14</a:t>
                    </a:r>
                    <a:endParaRPr lang="zh-CN" altLang="en-US" sz="1400">
                      <a:latin typeface="+mn-ea"/>
                      <a:ea typeface="+mn-ea"/>
                    </a:endParaRPr>
                  </a:p>
                </p:txBody>
              </p:sp>
              <p:cxnSp>
                <p:nvCxnSpPr>
                  <p:cNvPr id="90" name="直接连接符 100"/>
                  <p:cNvCxnSpPr>
                    <a:cxnSpLocks noChangeShapeType="1"/>
                    <a:stCxn id="89" idx="3"/>
                  </p:cNvCxnSpPr>
                  <p:nvPr/>
                </p:nvCxnSpPr>
                <p:spPr bwMode="auto">
                  <a:xfrm flipH="1">
                    <a:off x="1785924" y="2212759"/>
                    <a:ext cx="151223"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91" name="直接连接符 101"/>
                  <p:cNvCxnSpPr>
                    <a:cxnSpLocks noChangeShapeType="1"/>
                    <a:stCxn id="89" idx="5"/>
                  </p:cNvCxnSpPr>
                  <p:nvPr/>
                </p:nvCxnSpPr>
                <p:spPr bwMode="auto">
                  <a:xfrm>
                    <a:off x="2322406" y="2212759"/>
                    <a:ext cx="106453" cy="358984"/>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nvGrpSpPr>
              <p:cNvPr id="68" name="组合 104"/>
              <p:cNvGrpSpPr/>
              <p:nvPr/>
            </p:nvGrpSpPr>
            <p:grpSpPr bwMode="auto">
              <a:xfrm>
                <a:off x="4214810" y="3357562"/>
                <a:ext cx="1500198" cy="2857520"/>
                <a:chOff x="4929190" y="1857364"/>
                <a:chExt cx="1500198" cy="2857520"/>
              </a:xfrm>
            </p:grpSpPr>
            <p:sp>
              <p:nvSpPr>
                <p:cNvPr id="69" name="椭圆 105"/>
                <p:cNvSpPr>
                  <a:spLocks noChangeArrowheads="1"/>
                </p:cNvSpPr>
                <p:nvPr/>
              </p:nvSpPr>
              <p:spPr bwMode="auto">
                <a:xfrm>
                  <a:off x="4929190" y="2643181"/>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a:lnSpc>
                      <a:spcPts val="1500"/>
                    </a:lnSpc>
                    <a:spcBef>
                      <a:spcPct val="0"/>
                    </a:spcBef>
                    <a:buNone/>
                  </a:pPr>
                  <a:r>
                    <a:rPr lang="en-US" altLang="zh-CN" sz="1400" dirty="0">
                      <a:solidFill>
                        <a:srgbClr val="FF0000"/>
                      </a:solidFill>
                      <a:latin typeface="+mn-ea"/>
                      <a:ea typeface="+mn-ea"/>
                    </a:rPr>
                    <a:t>8</a:t>
                  </a:r>
                  <a:endParaRPr lang="zh-CN" altLang="en-US" sz="1400" dirty="0">
                    <a:solidFill>
                      <a:srgbClr val="FF0000"/>
                    </a:solidFill>
                    <a:latin typeface="+mn-ea"/>
                    <a:ea typeface="+mn-ea"/>
                  </a:endParaRPr>
                </a:p>
              </p:txBody>
            </p:sp>
            <p:grpSp>
              <p:nvGrpSpPr>
                <p:cNvPr id="70" name="组合 60"/>
                <p:cNvGrpSpPr/>
                <p:nvPr/>
              </p:nvGrpSpPr>
              <p:grpSpPr bwMode="auto">
                <a:xfrm>
                  <a:off x="5000628" y="2643182"/>
                  <a:ext cx="1428760" cy="2071702"/>
                  <a:chOff x="2081194" y="4071942"/>
                  <a:chExt cx="1428760" cy="2071702"/>
                </a:xfrm>
              </p:grpSpPr>
              <p:sp>
                <p:nvSpPr>
                  <p:cNvPr id="75" name="椭圆 111"/>
                  <p:cNvSpPr>
                    <a:spLocks noChangeArrowheads="1"/>
                  </p:cNvSpPr>
                  <p:nvPr/>
                </p:nvSpPr>
                <p:spPr bwMode="auto">
                  <a:xfrm>
                    <a:off x="3081326" y="4929198"/>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a:lnSpc>
                        <a:spcPts val="1500"/>
                      </a:lnSpc>
                      <a:spcBef>
                        <a:spcPct val="0"/>
                      </a:spcBef>
                      <a:buNone/>
                    </a:pPr>
                    <a:r>
                      <a:rPr lang="en-US" altLang="zh-CN" sz="1400" dirty="0">
                        <a:solidFill>
                          <a:srgbClr val="FF0000"/>
                        </a:solidFill>
                        <a:latin typeface="+mn-ea"/>
                        <a:ea typeface="+mn-ea"/>
                      </a:rPr>
                      <a:t>5</a:t>
                    </a:r>
                    <a:endParaRPr lang="zh-CN" altLang="en-US" sz="1400" dirty="0">
                      <a:solidFill>
                        <a:srgbClr val="FF0000"/>
                      </a:solidFill>
                      <a:latin typeface="+mn-ea"/>
                      <a:ea typeface="+mn-ea"/>
                    </a:endParaRPr>
                  </a:p>
                </p:txBody>
              </p:sp>
              <p:grpSp>
                <p:nvGrpSpPr>
                  <p:cNvPr id="76" name="组合 49"/>
                  <p:cNvGrpSpPr/>
                  <p:nvPr/>
                </p:nvGrpSpPr>
                <p:grpSpPr bwMode="auto">
                  <a:xfrm>
                    <a:off x="2652701" y="4071942"/>
                    <a:ext cx="642937" cy="857255"/>
                    <a:chOff x="1785922" y="1785926"/>
                    <a:chExt cx="642937" cy="857255"/>
                  </a:xfrm>
                </p:grpSpPr>
                <p:sp>
                  <p:nvSpPr>
                    <p:cNvPr id="84" name="椭圆 120"/>
                    <p:cNvSpPr>
                      <a:spLocks noChangeArrowheads="1"/>
                    </p:cNvSpPr>
                    <p:nvPr/>
                  </p:nvSpPr>
                  <p:spPr bwMode="auto">
                    <a:xfrm>
                      <a:off x="1857354" y="1785926"/>
                      <a:ext cx="52031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10</a:t>
                      </a:r>
                      <a:endParaRPr lang="zh-CN" altLang="en-US" sz="1400">
                        <a:latin typeface="+mn-ea"/>
                        <a:ea typeface="+mn-ea"/>
                      </a:endParaRPr>
                    </a:p>
                  </p:txBody>
                </p:sp>
                <p:cxnSp>
                  <p:nvCxnSpPr>
                    <p:cNvPr id="85" name="直接连接符 121"/>
                    <p:cNvCxnSpPr>
                      <a:cxnSpLocks noChangeShapeType="1"/>
                      <a:stCxn id="84" idx="3"/>
                    </p:cNvCxnSpPr>
                    <p:nvPr/>
                  </p:nvCxnSpPr>
                  <p:spPr bwMode="auto">
                    <a:xfrm flipH="1">
                      <a:off x="1785922" y="2151783"/>
                      <a:ext cx="147631" cy="491398"/>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86" name="直接连接符 122"/>
                    <p:cNvCxnSpPr>
                      <a:cxnSpLocks noChangeShapeType="1"/>
                      <a:stCxn id="84" idx="5"/>
                    </p:cNvCxnSpPr>
                    <p:nvPr/>
                  </p:nvCxnSpPr>
                  <p:spPr bwMode="auto">
                    <a:xfrm>
                      <a:off x="2301474" y="2151783"/>
                      <a:ext cx="127385" cy="491398"/>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nvGrpSpPr>
                  <p:cNvPr id="77" name="组合 53"/>
                  <p:cNvGrpSpPr/>
                  <p:nvPr/>
                </p:nvGrpSpPr>
                <p:grpSpPr bwMode="auto">
                  <a:xfrm>
                    <a:off x="2081194" y="4929198"/>
                    <a:ext cx="1071570" cy="1214446"/>
                    <a:chOff x="1785918" y="4643446"/>
                    <a:chExt cx="1071570" cy="1214446"/>
                  </a:xfrm>
                </p:grpSpPr>
                <p:sp>
                  <p:nvSpPr>
                    <p:cNvPr id="78" name="椭圆 114"/>
                    <p:cNvSpPr>
                      <a:spLocks noChangeArrowheads="1"/>
                    </p:cNvSpPr>
                    <p:nvPr/>
                  </p:nvSpPr>
                  <p:spPr bwMode="auto">
                    <a:xfrm>
                      <a:off x="1785918" y="54292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nSpc>
                          <a:spcPts val="1500"/>
                        </a:lnSpc>
                        <a:spcBef>
                          <a:spcPct val="0"/>
                        </a:spcBef>
                        <a:buNone/>
                      </a:pPr>
                      <a:r>
                        <a:rPr lang="en-US" altLang="zh-CN" sz="1400" dirty="0">
                          <a:solidFill>
                            <a:srgbClr val="FF0000"/>
                          </a:solidFill>
                          <a:latin typeface="+mn-ea"/>
                          <a:ea typeface="+mn-ea"/>
                        </a:rPr>
                        <a:t>2</a:t>
                      </a:r>
                      <a:endParaRPr lang="zh-CN" altLang="en-US" sz="1400" dirty="0">
                        <a:solidFill>
                          <a:srgbClr val="FF0000"/>
                        </a:solidFill>
                        <a:latin typeface="+mn-ea"/>
                        <a:ea typeface="+mn-ea"/>
                      </a:endParaRPr>
                    </a:p>
                  </p:txBody>
                </p:sp>
                <p:sp>
                  <p:nvSpPr>
                    <p:cNvPr id="79" name="椭圆 115"/>
                    <p:cNvSpPr>
                      <a:spLocks noChangeArrowheads="1"/>
                    </p:cNvSpPr>
                    <p:nvPr/>
                  </p:nvSpPr>
                  <p:spPr bwMode="auto">
                    <a:xfrm>
                      <a:off x="2428860" y="5429264"/>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lgn="ctr">
                        <a:lnSpc>
                          <a:spcPts val="1500"/>
                        </a:lnSpc>
                        <a:spcBef>
                          <a:spcPct val="0"/>
                        </a:spcBef>
                        <a:buNone/>
                      </a:pPr>
                      <a:r>
                        <a:rPr lang="en-US" altLang="zh-CN" sz="1400" dirty="0">
                          <a:solidFill>
                            <a:srgbClr val="FF0000"/>
                          </a:solidFill>
                          <a:latin typeface="+mn-ea"/>
                          <a:ea typeface="+mn-ea"/>
                        </a:rPr>
                        <a:t>3</a:t>
                      </a:r>
                      <a:endParaRPr lang="zh-CN" altLang="en-US" sz="1400" dirty="0">
                        <a:solidFill>
                          <a:srgbClr val="FF0000"/>
                        </a:solidFill>
                        <a:latin typeface="+mn-ea"/>
                        <a:ea typeface="+mn-ea"/>
                      </a:endParaRPr>
                    </a:p>
                  </p:txBody>
                </p:sp>
                <p:grpSp>
                  <p:nvGrpSpPr>
                    <p:cNvPr id="80" name="组合 39"/>
                    <p:cNvGrpSpPr/>
                    <p:nvPr/>
                  </p:nvGrpSpPr>
                  <p:grpSpPr bwMode="auto">
                    <a:xfrm>
                      <a:off x="2000233" y="4643446"/>
                      <a:ext cx="634273" cy="785818"/>
                      <a:chOff x="1785919" y="1785926"/>
                      <a:chExt cx="634273" cy="785818"/>
                    </a:xfrm>
                  </p:grpSpPr>
                  <p:sp>
                    <p:nvSpPr>
                      <p:cNvPr id="81" name="椭圆 117"/>
                      <p:cNvSpPr>
                        <a:spLocks noChangeArrowheads="1"/>
                      </p:cNvSpPr>
                      <p:nvPr/>
                    </p:nvSpPr>
                    <p:spPr bwMode="auto">
                      <a:xfrm>
                        <a:off x="1857356" y="1785926"/>
                        <a:ext cx="428628" cy="428628"/>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a:latin typeface="+mn-ea"/>
                            <a:ea typeface="+mn-ea"/>
                          </a:rPr>
                          <a:t>5</a:t>
                        </a:r>
                        <a:endParaRPr lang="zh-CN" altLang="en-US" sz="1400">
                          <a:latin typeface="+mn-ea"/>
                          <a:ea typeface="+mn-ea"/>
                        </a:endParaRPr>
                      </a:p>
                    </p:txBody>
                  </p:sp>
                  <p:cxnSp>
                    <p:nvCxnSpPr>
                      <p:cNvPr id="82" name="直接连接符 118"/>
                      <p:cNvCxnSpPr>
                        <a:cxnSpLocks noChangeShapeType="1"/>
                        <a:stCxn id="81" idx="3"/>
                        <a:endCxn id="78" idx="0"/>
                      </p:cNvCxnSpPr>
                      <p:nvPr/>
                    </p:nvCxnSpPr>
                    <p:spPr bwMode="auto">
                      <a:xfrm rot="5400000">
                        <a:off x="1643043" y="2294659"/>
                        <a:ext cx="419961" cy="13420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83" name="直接连接符 119"/>
                      <p:cNvCxnSpPr>
                        <a:cxnSpLocks noChangeShapeType="1"/>
                        <a:stCxn id="81" idx="5"/>
                      </p:cNvCxnSpPr>
                      <p:nvPr/>
                    </p:nvCxnSpPr>
                    <p:spPr bwMode="auto">
                      <a:xfrm rot="16200000" flipH="1">
                        <a:off x="2111723" y="2263272"/>
                        <a:ext cx="419959" cy="196979"/>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grpSp>
              <p:nvGrpSpPr>
                <p:cNvPr id="71" name="组合 85"/>
                <p:cNvGrpSpPr/>
                <p:nvPr/>
              </p:nvGrpSpPr>
              <p:grpSpPr bwMode="auto">
                <a:xfrm>
                  <a:off x="5214944" y="1857364"/>
                  <a:ext cx="642934" cy="785818"/>
                  <a:chOff x="1785925" y="1785926"/>
                  <a:chExt cx="642934" cy="785818"/>
                </a:xfrm>
              </p:grpSpPr>
              <p:sp>
                <p:nvSpPr>
                  <p:cNvPr id="72" name="椭圆 108"/>
                  <p:cNvSpPr>
                    <a:spLocks noChangeArrowheads="1"/>
                  </p:cNvSpPr>
                  <p:nvPr/>
                </p:nvSpPr>
                <p:spPr bwMode="auto">
                  <a:xfrm>
                    <a:off x="1857356" y="1785926"/>
                    <a:ext cx="545491" cy="500066"/>
                  </a:xfrm>
                  <a:prstGeom prst="ellipse">
                    <a:avLst/>
                  </a:prstGeom>
                  <a:solidFill>
                    <a:schemeClr val="bg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400" dirty="0">
                        <a:latin typeface="+mn-ea"/>
                        <a:ea typeface="+mn-ea"/>
                      </a:rPr>
                      <a:t>18</a:t>
                    </a:r>
                    <a:endParaRPr lang="zh-CN" altLang="en-US" sz="1400" dirty="0">
                      <a:latin typeface="+mn-ea"/>
                      <a:ea typeface="+mn-ea"/>
                    </a:endParaRPr>
                  </a:p>
                </p:txBody>
              </p:sp>
              <p:cxnSp>
                <p:nvCxnSpPr>
                  <p:cNvPr id="73" name="直接连接符 109"/>
                  <p:cNvCxnSpPr>
                    <a:cxnSpLocks noChangeShapeType="1"/>
                    <a:stCxn id="72" idx="3"/>
                  </p:cNvCxnSpPr>
                  <p:nvPr/>
                </p:nvCxnSpPr>
                <p:spPr bwMode="auto">
                  <a:xfrm flipH="1">
                    <a:off x="1785925" y="2212759"/>
                    <a:ext cx="151317"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cxnSp>
                <p:nvCxnSpPr>
                  <p:cNvPr id="74" name="直接连接符 110"/>
                  <p:cNvCxnSpPr>
                    <a:cxnSpLocks noChangeShapeType="1"/>
                    <a:stCxn id="72" idx="5"/>
                  </p:cNvCxnSpPr>
                  <p:nvPr/>
                </p:nvCxnSpPr>
                <p:spPr bwMode="auto">
                  <a:xfrm>
                    <a:off x="2322962" y="2212759"/>
                    <a:ext cx="105897" cy="358985"/>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grpSp>
        </p:grpSp>
      </p:grpSp>
      <p:sp>
        <p:nvSpPr>
          <p:cNvPr id="97" name="TextBox 129"/>
          <p:cNvSpPr txBox="1">
            <a:spLocks noChangeArrowheads="1"/>
          </p:cNvSpPr>
          <p:nvPr/>
        </p:nvSpPr>
        <p:spPr bwMode="auto">
          <a:xfrm>
            <a:off x="6890632" y="395880"/>
            <a:ext cx="914033"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600" b="1" dirty="0">
                <a:solidFill>
                  <a:srgbClr val="FF0000"/>
                </a:solidFill>
                <a:latin typeface="+mn-ea"/>
                <a:ea typeface="+mn-ea"/>
              </a:rPr>
              <a:t>c: 1100</a:t>
            </a:r>
            <a:endParaRPr lang="en-US" altLang="zh-CN" sz="1600" b="1" dirty="0">
              <a:solidFill>
                <a:srgbClr val="FF0000"/>
              </a:solidFill>
              <a:latin typeface="+mn-ea"/>
              <a:ea typeface="+mn-ea"/>
            </a:endParaRPr>
          </a:p>
          <a:p>
            <a:pPr eaLnBrk="1" hangingPunct="1">
              <a:spcBef>
                <a:spcPct val="0"/>
              </a:spcBef>
              <a:buFontTx/>
              <a:buNone/>
            </a:pPr>
            <a:r>
              <a:rPr lang="en-US" altLang="zh-CN" sz="1600" b="1" dirty="0">
                <a:solidFill>
                  <a:srgbClr val="FF0000"/>
                </a:solidFill>
                <a:latin typeface="+mn-ea"/>
                <a:ea typeface="+mn-ea"/>
              </a:rPr>
              <a:t>s: 1101</a:t>
            </a:r>
            <a:endParaRPr lang="en-US" altLang="zh-CN" sz="1600" b="1" dirty="0">
              <a:solidFill>
                <a:srgbClr val="FF0000"/>
              </a:solidFill>
              <a:latin typeface="+mn-ea"/>
              <a:ea typeface="+mn-ea"/>
            </a:endParaRPr>
          </a:p>
          <a:p>
            <a:pPr eaLnBrk="1" hangingPunct="1">
              <a:spcBef>
                <a:spcPct val="0"/>
              </a:spcBef>
              <a:buFontTx/>
              <a:buNone/>
            </a:pPr>
            <a:r>
              <a:rPr lang="en-US" altLang="zh-CN" sz="1600" b="1" dirty="0">
                <a:solidFill>
                  <a:srgbClr val="FF0000"/>
                </a:solidFill>
                <a:latin typeface="+mn-ea"/>
                <a:ea typeface="+mn-ea"/>
              </a:rPr>
              <a:t>e: 111</a:t>
            </a:r>
            <a:endParaRPr lang="en-US" altLang="zh-CN" sz="1600" b="1" dirty="0">
              <a:solidFill>
                <a:srgbClr val="FF0000"/>
              </a:solidFill>
              <a:latin typeface="+mn-ea"/>
              <a:ea typeface="+mn-ea"/>
            </a:endParaRPr>
          </a:p>
          <a:p>
            <a:pPr eaLnBrk="1" hangingPunct="1">
              <a:spcBef>
                <a:spcPct val="0"/>
              </a:spcBef>
              <a:buFontTx/>
              <a:buNone/>
            </a:pPr>
            <a:r>
              <a:rPr lang="en-US" altLang="zh-CN" sz="1600" b="1" dirty="0">
                <a:solidFill>
                  <a:srgbClr val="FF0000"/>
                </a:solidFill>
                <a:latin typeface="+mn-ea"/>
                <a:ea typeface="+mn-ea"/>
              </a:rPr>
              <a:t>a: 00</a:t>
            </a:r>
            <a:endParaRPr lang="en-US" altLang="zh-CN" sz="1600" b="1" dirty="0">
              <a:solidFill>
                <a:srgbClr val="FF0000"/>
              </a:solidFill>
              <a:latin typeface="+mn-ea"/>
              <a:ea typeface="+mn-ea"/>
            </a:endParaRPr>
          </a:p>
          <a:p>
            <a:pPr eaLnBrk="1" hangingPunct="1">
              <a:spcBef>
                <a:spcPct val="0"/>
              </a:spcBef>
              <a:buFontTx/>
              <a:buNone/>
            </a:pPr>
            <a:r>
              <a:rPr lang="en-US" altLang="zh-CN" sz="1600" b="1" dirty="0">
                <a:solidFill>
                  <a:srgbClr val="FF0000"/>
                </a:solidFill>
                <a:latin typeface="+mn-ea"/>
                <a:ea typeface="+mn-ea"/>
              </a:rPr>
              <a:t>t: 10</a:t>
            </a:r>
            <a:endParaRPr lang="en-US" altLang="zh-CN" sz="1600" b="1" dirty="0">
              <a:solidFill>
                <a:srgbClr val="FF0000"/>
              </a:solidFill>
              <a:latin typeface="+mn-ea"/>
              <a:ea typeface="+mn-ea"/>
            </a:endParaRPr>
          </a:p>
          <a:p>
            <a:pPr eaLnBrk="1" hangingPunct="1">
              <a:spcBef>
                <a:spcPct val="0"/>
              </a:spcBef>
              <a:buFontTx/>
              <a:buNone/>
            </a:pPr>
            <a:r>
              <a:rPr lang="en-US" altLang="zh-CN" sz="1600" b="1" dirty="0">
                <a:solidFill>
                  <a:srgbClr val="FF0000"/>
                </a:solidFill>
                <a:latin typeface="+mn-ea"/>
                <a:ea typeface="+mn-ea"/>
              </a:rPr>
              <a:t>^: 01</a:t>
            </a:r>
            <a:endParaRPr lang="zh-CN" altLang="en-US" sz="1600" b="1" dirty="0">
              <a:solidFill>
                <a:srgbClr val="FF0000"/>
              </a:solidFill>
              <a:latin typeface="+mn-ea"/>
              <a:ea typeface="+mn-ea"/>
            </a:endParaRPr>
          </a:p>
        </p:txBody>
      </p:sp>
      <p:grpSp>
        <p:nvGrpSpPr>
          <p:cNvPr id="98" name="组合 97"/>
          <p:cNvGrpSpPr/>
          <p:nvPr/>
        </p:nvGrpSpPr>
        <p:grpSpPr bwMode="auto">
          <a:xfrm>
            <a:off x="2885037" y="1618941"/>
            <a:ext cx="2982323" cy="2785958"/>
            <a:chOff x="2762165" y="1696370"/>
            <a:chExt cx="2982585" cy="2784929"/>
          </a:xfrm>
        </p:grpSpPr>
        <p:sp>
          <p:nvSpPr>
            <p:cNvPr id="99" name="文本框 1"/>
            <p:cNvSpPr txBox="1">
              <a:spLocks noChangeArrowheads="1"/>
            </p:cNvSpPr>
            <p:nvPr/>
          </p:nvSpPr>
          <p:spPr bwMode="auto">
            <a:xfrm>
              <a:off x="3442606" y="1783593"/>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0</a:t>
              </a:r>
              <a:endParaRPr lang="zh-CN" altLang="en-US" sz="1400">
                <a:solidFill>
                  <a:srgbClr val="0070C0"/>
                </a:solidFill>
                <a:latin typeface="+mn-ea"/>
                <a:ea typeface="+mn-ea"/>
              </a:endParaRPr>
            </a:p>
          </p:txBody>
        </p:sp>
        <p:sp>
          <p:nvSpPr>
            <p:cNvPr id="100" name="文本框 96"/>
            <p:cNvSpPr txBox="1">
              <a:spLocks noChangeArrowheads="1"/>
            </p:cNvSpPr>
            <p:nvPr/>
          </p:nvSpPr>
          <p:spPr bwMode="auto">
            <a:xfrm>
              <a:off x="2762165" y="2549962"/>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0</a:t>
              </a:r>
              <a:endParaRPr lang="zh-CN" altLang="en-US" sz="1400">
                <a:solidFill>
                  <a:srgbClr val="0070C0"/>
                </a:solidFill>
                <a:latin typeface="+mn-ea"/>
                <a:ea typeface="+mn-ea"/>
              </a:endParaRPr>
            </a:p>
          </p:txBody>
        </p:sp>
        <p:sp>
          <p:nvSpPr>
            <p:cNvPr id="101" name="文本框 97"/>
            <p:cNvSpPr txBox="1">
              <a:spLocks noChangeArrowheads="1"/>
            </p:cNvSpPr>
            <p:nvPr/>
          </p:nvSpPr>
          <p:spPr bwMode="auto">
            <a:xfrm>
              <a:off x="4305601" y="2549962"/>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0</a:t>
              </a:r>
              <a:endParaRPr lang="zh-CN" altLang="en-US" sz="1400">
                <a:solidFill>
                  <a:srgbClr val="0070C0"/>
                </a:solidFill>
                <a:latin typeface="+mn-ea"/>
                <a:ea typeface="+mn-ea"/>
              </a:endParaRPr>
            </a:p>
          </p:txBody>
        </p:sp>
        <p:sp>
          <p:nvSpPr>
            <p:cNvPr id="102" name="文本框 98"/>
            <p:cNvSpPr txBox="1">
              <a:spLocks noChangeArrowheads="1"/>
            </p:cNvSpPr>
            <p:nvPr/>
          </p:nvSpPr>
          <p:spPr bwMode="auto">
            <a:xfrm>
              <a:off x="4591625" y="3355921"/>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0</a:t>
              </a:r>
              <a:endParaRPr lang="zh-CN" altLang="en-US" sz="1400">
                <a:solidFill>
                  <a:srgbClr val="0070C0"/>
                </a:solidFill>
                <a:latin typeface="+mn-ea"/>
                <a:ea typeface="+mn-ea"/>
              </a:endParaRPr>
            </a:p>
          </p:txBody>
        </p:sp>
        <p:sp>
          <p:nvSpPr>
            <p:cNvPr id="103" name="文本框 99"/>
            <p:cNvSpPr txBox="1">
              <a:spLocks noChangeArrowheads="1"/>
            </p:cNvSpPr>
            <p:nvPr/>
          </p:nvSpPr>
          <p:spPr bwMode="auto">
            <a:xfrm>
              <a:off x="4250380" y="4173636"/>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0</a:t>
              </a:r>
              <a:endParaRPr lang="zh-CN" altLang="en-US" sz="1400">
                <a:solidFill>
                  <a:srgbClr val="0070C0"/>
                </a:solidFill>
                <a:latin typeface="+mn-ea"/>
                <a:ea typeface="+mn-ea"/>
              </a:endParaRPr>
            </a:p>
          </p:txBody>
        </p:sp>
        <p:sp>
          <p:nvSpPr>
            <p:cNvPr id="104" name="文本框 100"/>
            <p:cNvSpPr txBox="1">
              <a:spLocks noChangeArrowheads="1"/>
            </p:cNvSpPr>
            <p:nvPr/>
          </p:nvSpPr>
          <p:spPr bwMode="auto">
            <a:xfrm>
              <a:off x="3611833" y="2568329"/>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1</a:t>
              </a:r>
              <a:endParaRPr lang="zh-CN" altLang="en-US" sz="1400">
                <a:solidFill>
                  <a:srgbClr val="0070C0"/>
                </a:solidFill>
                <a:latin typeface="+mn-ea"/>
                <a:ea typeface="+mn-ea"/>
              </a:endParaRPr>
            </a:p>
          </p:txBody>
        </p:sp>
        <p:sp>
          <p:nvSpPr>
            <p:cNvPr id="105" name="文本框 102"/>
            <p:cNvSpPr txBox="1">
              <a:spLocks noChangeArrowheads="1"/>
            </p:cNvSpPr>
            <p:nvPr/>
          </p:nvSpPr>
          <p:spPr bwMode="auto">
            <a:xfrm>
              <a:off x="4514254" y="1696370"/>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1</a:t>
              </a:r>
              <a:endParaRPr lang="zh-CN" altLang="en-US" sz="1400">
                <a:solidFill>
                  <a:srgbClr val="0070C0"/>
                </a:solidFill>
                <a:latin typeface="+mn-ea"/>
                <a:ea typeface="+mn-ea"/>
              </a:endParaRPr>
            </a:p>
          </p:txBody>
        </p:sp>
        <p:sp>
          <p:nvSpPr>
            <p:cNvPr id="106" name="文本框 103"/>
            <p:cNvSpPr txBox="1">
              <a:spLocks noChangeArrowheads="1"/>
            </p:cNvSpPr>
            <p:nvPr/>
          </p:nvSpPr>
          <p:spPr bwMode="auto">
            <a:xfrm>
              <a:off x="5073102" y="2557852"/>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a:solidFill>
                    <a:srgbClr val="0070C0"/>
                  </a:solidFill>
                  <a:latin typeface="+mn-ea"/>
                  <a:ea typeface="+mn-ea"/>
                </a:rPr>
                <a:t>1</a:t>
              </a:r>
              <a:endParaRPr lang="zh-CN" altLang="en-US" sz="1400">
                <a:solidFill>
                  <a:srgbClr val="0070C0"/>
                </a:solidFill>
                <a:latin typeface="+mn-ea"/>
                <a:ea typeface="+mn-ea"/>
              </a:endParaRPr>
            </a:p>
          </p:txBody>
        </p:sp>
        <p:sp>
          <p:nvSpPr>
            <p:cNvPr id="107" name="文本框 104"/>
            <p:cNvSpPr txBox="1">
              <a:spLocks noChangeArrowheads="1"/>
            </p:cNvSpPr>
            <p:nvPr/>
          </p:nvSpPr>
          <p:spPr bwMode="auto">
            <a:xfrm>
              <a:off x="5470292" y="3318953"/>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dirty="0">
                  <a:solidFill>
                    <a:srgbClr val="0070C0"/>
                  </a:solidFill>
                  <a:latin typeface="+mn-ea"/>
                  <a:ea typeface="+mn-ea"/>
                </a:rPr>
                <a:t>1</a:t>
              </a:r>
              <a:endParaRPr lang="zh-CN" altLang="en-US" sz="1400" dirty="0">
                <a:solidFill>
                  <a:srgbClr val="0070C0"/>
                </a:solidFill>
                <a:latin typeface="+mn-ea"/>
                <a:ea typeface="+mn-ea"/>
              </a:endParaRPr>
            </a:p>
          </p:txBody>
        </p:sp>
        <p:sp>
          <p:nvSpPr>
            <p:cNvPr id="108" name="文本框 105"/>
            <p:cNvSpPr txBox="1">
              <a:spLocks noChangeArrowheads="1"/>
            </p:cNvSpPr>
            <p:nvPr/>
          </p:nvSpPr>
          <p:spPr bwMode="auto">
            <a:xfrm>
              <a:off x="5059582" y="4138143"/>
              <a:ext cx="274458" cy="30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400" dirty="0">
                  <a:solidFill>
                    <a:srgbClr val="0070C0"/>
                  </a:solidFill>
                  <a:latin typeface="+mn-ea"/>
                  <a:ea typeface="+mn-ea"/>
                </a:rPr>
                <a:t>1</a:t>
              </a:r>
              <a:endParaRPr lang="zh-CN" altLang="en-US" sz="1400" dirty="0">
                <a:solidFill>
                  <a:srgbClr val="0070C0"/>
                </a:solidFill>
                <a:latin typeface="+mn-ea"/>
                <a:ea typeface="+mn-ea"/>
              </a:endParaRPr>
            </a:p>
          </p:txBody>
        </p:sp>
      </p:grpSp>
      <p:sp>
        <p:nvSpPr>
          <p:cNvPr id="109" name="矩形 108"/>
          <p:cNvSpPr>
            <a:spLocks noChangeArrowheads="1"/>
          </p:cNvSpPr>
          <p:nvPr/>
        </p:nvSpPr>
        <p:spPr bwMode="auto">
          <a:xfrm>
            <a:off x="6552098" y="2032474"/>
            <a:ext cx="1283184"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FontTx/>
              <a:buNone/>
            </a:pPr>
            <a:r>
              <a:rPr lang="en-US" altLang="zh-CN" sz="1600" b="1" dirty="0">
                <a:latin typeface="+mn-ea"/>
                <a:ea typeface="+mn-ea"/>
              </a:rPr>
              <a:t>WPL</a:t>
            </a:r>
            <a:r>
              <a:rPr lang="zh-CN" altLang="en-US" sz="1600" b="1" dirty="0">
                <a:latin typeface="+mn-ea"/>
                <a:ea typeface="+mn-ea"/>
              </a:rPr>
              <a:t>：</a:t>
            </a:r>
            <a:r>
              <a:rPr lang="en-US" altLang="zh-CN" sz="1600" b="1" dirty="0">
                <a:latin typeface="+mn-ea"/>
                <a:ea typeface="+mn-ea"/>
              </a:rPr>
              <a:t>2</a:t>
            </a:r>
            <a:r>
              <a:rPr lang="zh-CN" altLang="en-US" sz="1600" b="1" dirty="0">
                <a:latin typeface="+mn-ea"/>
                <a:ea typeface="+mn-ea"/>
              </a:rPr>
              <a:t>*</a:t>
            </a:r>
            <a:r>
              <a:rPr lang="en-US" altLang="zh-CN" sz="1600" b="1" dirty="0">
                <a:latin typeface="+mn-ea"/>
                <a:ea typeface="+mn-ea"/>
              </a:rPr>
              <a:t>4+3</a:t>
            </a:r>
            <a:r>
              <a:rPr lang="zh-CN" altLang="en-US" sz="1600" b="1" dirty="0">
                <a:latin typeface="+mn-ea"/>
                <a:ea typeface="+mn-ea"/>
              </a:rPr>
              <a:t>*</a:t>
            </a:r>
            <a:r>
              <a:rPr lang="en-US" altLang="zh-CN" sz="1600" b="1" dirty="0">
                <a:latin typeface="+mn-ea"/>
                <a:ea typeface="+mn-ea"/>
              </a:rPr>
              <a:t>4+5</a:t>
            </a:r>
            <a:r>
              <a:rPr lang="zh-CN" altLang="en-US" sz="1600" b="1" dirty="0">
                <a:latin typeface="+mn-ea"/>
                <a:ea typeface="+mn-ea"/>
              </a:rPr>
              <a:t>*</a:t>
            </a:r>
            <a:r>
              <a:rPr lang="en-US" altLang="zh-CN" sz="1600" b="1" dirty="0">
                <a:latin typeface="+mn-ea"/>
                <a:ea typeface="+mn-ea"/>
              </a:rPr>
              <a:t>3+7</a:t>
            </a:r>
            <a:r>
              <a:rPr lang="zh-CN" altLang="en-US" sz="1600" b="1" dirty="0">
                <a:latin typeface="+mn-ea"/>
                <a:ea typeface="+mn-ea"/>
              </a:rPr>
              <a:t>*</a:t>
            </a:r>
            <a:r>
              <a:rPr lang="en-US" altLang="zh-CN" sz="1600" b="1" dirty="0">
                <a:latin typeface="+mn-ea"/>
                <a:ea typeface="+mn-ea"/>
              </a:rPr>
              <a:t>2+7</a:t>
            </a:r>
            <a:r>
              <a:rPr lang="zh-CN" altLang="en-US" sz="1600" b="1" dirty="0">
                <a:latin typeface="+mn-ea"/>
                <a:ea typeface="+mn-ea"/>
              </a:rPr>
              <a:t>*</a:t>
            </a:r>
            <a:r>
              <a:rPr lang="en-US" altLang="zh-CN" sz="1600" b="1" dirty="0">
                <a:latin typeface="+mn-ea"/>
                <a:ea typeface="+mn-ea"/>
              </a:rPr>
              <a:t>2+8</a:t>
            </a:r>
            <a:r>
              <a:rPr lang="zh-CN" altLang="en-US" sz="1600" b="1" dirty="0">
                <a:latin typeface="+mn-ea"/>
                <a:ea typeface="+mn-ea"/>
              </a:rPr>
              <a:t>*</a:t>
            </a:r>
            <a:r>
              <a:rPr lang="en-US" altLang="zh-CN" sz="1600" b="1" dirty="0">
                <a:latin typeface="+mn-ea"/>
                <a:ea typeface="+mn-ea"/>
              </a:rPr>
              <a:t>2 = </a:t>
            </a:r>
            <a:r>
              <a:rPr lang="en-US" altLang="zh-CN" sz="1600" b="1" dirty="0">
                <a:solidFill>
                  <a:srgbClr val="FF0000"/>
                </a:solidFill>
                <a:latin typeface="+mn-ea"/>
                <a:ea typeface="+mn-ea"/>
              </a:rPr>
              <a:t>79</a:t>
            </a:r>
            <a:endParaRPr lang="zh-CN" altLang="en-US" sz="1600" b="1" dirty="0">
              <a:solidFill>
                <a:srgbClr val="FF0000"/>
              </a:solidFill>
              <a:latin typeface="+mn-ea"/>
              <a:ea typeface="+mn-ea"/>
            </a:endParaRPr>
          </a:p>
        </p:txBody>
      </p:sp>
      <p:grpSp>
        <p:nvGrpSpPr>
          <p:cNvPr id="110" name="组合 109"/>
          <p:cNvGrpSpPr/>
          <p:nvPr/>
        </p:nvGrpSpPr>
        <p:grpSpPr bwMode="auto">
          <a:xfrm>
            <a:off x="1532040" y="526319"/>
            <a:ext cx="5202022" cy="737100"/>
            <a:chOff x="1519213" y="3595189"/>
            <a:chExt cx="5202039" cy="737100"/>
          </a:xfrm>
        </p:grpSpPr>
        <p:grpSp>
          <p:nvGrpSpPr>
            <p:cNvPr id="111" name="Group 3"/>
            <p:cNvGrpSpPr/>
            <p:nvPr/>
          </p:nvGrpSpPr>
          <p:grpSpPr bwMode="auto">
            <a:xfrm>
              <a:off x="1519213" y="3605214"/>
              <a:ext cx="1800226" cy="727075"/>
              <a:chOff x="282" y="231"/>
              <a:chExt cx="1134" cy="458"/>
            </a:xfrm>
          </p:grpSpPr>
          <p:sp>
            <p:nvSpPr>
              <p:cNvPr id="113" name="Text Box 5"/>
              <p:cNvSpPr txBox="1">
                <a:spLocks noChangeArrowheads="1"/>
              </p:cNvSpPr>
              <p:nvPr/>
            </p:nvSpPr>
            <p:spPr bwMode="auto">
              <a:xfrm>
                <a:off x="959" y="231"/>
                <a:ext cx="40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dirty="0">
                    <a:solidFill>
                      <a:srgbClr val="00194C"/>
                    </a:solidFill>
                    <a:latin typeface="华文楷体" panose="02010600040101010101" pitchFamily="2" charset="-122"/>
                    <a:ea typeface="华文楷体" panose="02010600040101010101" pitchFamily="2" charset="-122"/>
                  </a:rPr>
                  <a:t>字符</a:t>
                </a:r>
                <a:endParaRPr lang="en-US" altLang="zh-CN" sz="1800" b="1" dirty="0">
                  <a:solidFill>
                    <a:srgbClr val="00194C"/>
                  </a:solidFill>
                  <a:latin typeface="华文楷体" panose="02010600040101010101" pitchFamily="2" charset="-122"/>
                  <a:ea typeface="华文楷体" panose="02010600040101010101" pitchFamily="2" charset="-122"/>
                </a:endParaRPr>
              </a:p>
            </p:txBody>
          </p:sp>
          <p:sp>
            <p:nvSpPr>
              <p:cNvPr id="114" name="Text Box 6"/>
              <p:cNvSpPr txBox="1">
                <a:spLocks noChangeArrowheads="1"/>
              </p:cNvSpPr>
              <p:nvPr/>
            </p:nvSpPr>
            <p:spPr bwMode="auto">
              <a:xfrm>
                <a:off x="282" y="456"/>
                <a:ext cx="113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a:spcBef>
                    <a:spcPct val="0"/>
                  </a:spcBef>
                  <a:buNone/>
                </a:pPr>
                <a:r>
                  <a:rPr lang="zh-CN" altLang="en-US" sz="1800" b="1" dirty="0">
                    <a:solidFill>
                      <a:srgbClr val="00194C"/>
                    </a:solidFill>
                    <a:latin typeface="华文楷体" panose="02010600040101010101" pitchFamily="2" charset="-122"/>
                    <a:ea typeface="华文楷体" panose="02010600040101010101" pitchFamily="2" charset="-122"/>
                  </a:rPr>
                  <a:t>字符出现的次数</a:t>
                </a:r>
                <a:endParaRPr lang="en-US" altLang="zh-CN" sz="1800" b="1" dirty="0">
                  <a:solidFill>
                    <a:srgbClr val="00194C"/>
                  </a:solidFill>
                  <a:latin typeface="华文楷体" panose="02010600040101010101" pitchFamily="2" charset="-122"/>
                  <a:ea typeface="华文楷体" panose="02010600040101010101" pitchFamily="2" charset="-122"/>
                </a:endParaRPr>
              </a:p>
            </p:txBody>
          </p:sp>
        </p:grpSp>
        <p:sp>
          <p:nvSpPr>
            <p:cNvPr id="112" name="Text Box 5"/>
            <p:cNvSpPr txBox="1">
              <a:spLocks noChangeArrowheads="1"/>
            </p:cNvSpPr>
            <p:nvPr/>
          </p:nvSpPr>
          <p:spPr bwMode="auto">
            <a:xfrm>
              <a:off x="3327177" y="3595189"/>
              <a:ext cx="3394075" cy="646331"/>
            </a:xfrm>
            <a:prstGeom prst="rect">
              <a:avLst/>
            </a:prstGeom>
            <a:noFill/>
            <a:ln w="9525">
              <a:solidFill>
                <a:schemeClr val="accent1"/>
              </a:solidFill>
              <a:miter lim="800000"/>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c     s       e      a       ^       t</a:t>
              </a:r>
              <a:endParaRPr lang="en-US" altLang="zh-CN" sz="1800" dirty="0"/>
            </a:p>
            <a:p>
              <a:pPr eaLnBrk="1" hangingPunct="1">
                <a:spcBef>
                  <a:spcPct val="0"/>
                </a:spcBef>
                <a:buFontTx/>
                <a:buNone/>
              </a:pPr>
              <a:r>
                <a:rPr lang="en-US" altLang="zh-CN" sz="1800" dirty="0"/>
                <a:t>2     3      5      7       7      8</a:t>
              </a:r>
              <a:endParaRPr lang="en-US" altLang="zh-CN"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nodeType="clickEffect">
                                  <p:stCondLst>
                                    <p:cond delay="0"/>
                                  </p:stCondLst>
                                  <p:childTnLst>
                                    <p:animEffect transition="out" filter="dissolve">
                                      <p:cBhvr>
                                        <p:cTn id="6" dur="500"/>
                                        <p:tgtEl>
                                          <p:spTgt spid="9"/>
                                        </p:tgtEl>
                                      </p:cBhvr>
                                    </p:animEffect>
                                    <p:set>
                                      <p:cBhvr>
                                        <p:cTn id="7" dur="1" fill="hold">
                                          <p:stCondLst>
                                            <p:cond delay="499"/>
                                          </p:stCondLst>
                                        </p:cTn>
                                        <p:tgtEl>
                                          <p:spTgt spid="9"/>
                                        </p:tgtEl>
                                        <p:attrNameLst>
                                          <p:attrName>style.visibility</p:attrName>
                                        </p:attrNameLst>
                                      </p:cBhvr>
                                      <p:to>
                                        <p:strVal val="hidden"/>
                                      </p:to>
                                    </p:se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dissolve">
                                      <p:cBhvr>
                                        <p:cTn id="11" dur="500"/>
                                        <p:tgtEl>
                                          <p:spTgt spid="17"/>
                                        </p:tgtEl>
                                      </p:cBhvr>
                                    </p:animEffect>
                                  </p:childTnLst>
                                </p:cTn>
                              </p:par>
                            </p:childTnLst>
                          </p:cTn>
                        </p:par>
                        <p:par>
                          <p:cTn id="12" fill="hold">
                            <p:stCondLst>
                              <p:cond delay="1000"/>
                            </p:stCondLst>
                            <p:childTnLst>
                              <p:par>
                                <p:cTn id="13" presetID="9" presetClass="entr" presetSubtype="0" fill="hold"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xit" presetSubtype="0" fill="hold" nodeType="clickEffect">
                                  <p:stCondLst>
                                    <p:cond delay="0"/>
                                  </p:stCondLst>
                                  <p:childTnLst>
                                    <p:animEffect transition="out" filter="dissolve">
                                      <p:cBhvr>
                                        <p:cTn id="19" dur="500"/>
                                        <p:tgtEl>
                                          <p:spTgt spid="17"/>
                                        </p:tgtEl>
                                      </p:cBhvr>
                                    </p:animEffect>
                                    <p:set>
                                      <p:cBhvr>
                                        <p:cTn id="20" dur="1" fill="hold">
                                          <p:stCondLst>
                                            <p:cond delay="499"/>
                                          </p:stCondLst>
                                        </p:cTn>
                                        <p:tgtEl>
                                          <p:spTgt spid="17"/>
                                        </p:tgtEl>
                                        <p:attrNameLst>
                                          <p:attrName>style.visibility</p:attrName>
                                        </p:attrNameLst>
                                      </p:cBhvr>
                                      <p:to>
                                        <p:strVal val="hidden"/>
                                      </p:to>
                                    </p:set>
                                  </p:childTnLst>
                                </p:cTn>
                              </p:par>
                              <p:par>
                                <p:cTn id="21" presetID="9" presetClass="exit" presetSubtype="0" fill="hold" nodeType="withEffect">
                                  <p:stCondLst>
                                    <p:cond delay="0"/>
                                  </p:stCondLst>
                                  <p:childTnLst>
                                    <p:animEffect transition="out" filter="dissolve">
                                      <p:cBhvr>
                                        <p:cTn id="22" dur="500"/>
                                        <p:tgtEl>
                                          <p:spTgt spid="20"/>
                                        </p:tgtEl>
                                      </p:cBhvr>
                                    </p:animEffect>
                                    <p:set>
                                      <p:cBhvr>
                                        <p:cTn id="23" dur="1" fill="hold">
                                          <p:stCondLst>
                                            <p:cond delay="499"/>
                                          </p:stCondLst>
                                        </p:cTn>
                                        <p:tgtEl>
                                          <p:spTgt spid="20"/>
                                        </p:tgtEl>
                                        <p:attrNameLst>
                                          <p:attrName>style.visibility</p:attrName>
                                        </p:attrNameLst>
                                      </p:cBhvr>
                                      <p:to>
                                        <p:strVal val="hidden"/>
                                      </p:to>
                                    </p:set>
                                  </p:childTnLst>
                                </p:cTn>
                              </p:par>
                            </p:childTnLst>
                          </p:cTn>
                        </p:par>
                        <p:par>
                          <p:cTn id="24" fill="hold">
                            <p:stCondLst>
                              <p:cond delay="500"/>
                            </p:stCondLst>
                            <p:childTnLst>
                              <p:par>
                                <p:cTn id="25" presetID="9" presetClass="exit" presetSubtype="0" fill="hold" grpId="0" nodeType="afterEffect">
                                  <p:stCondLst>
                                    <p:cond delay="0"/>
                                  </p:stCondLst>
                                  <p:childTnLst>
                                    <p:animEffect transition="out" filter="dissolve">
                                      <p:cBhvr>
                                        <p:cTn id="26" dur="500"/>
                                        <p:tgtEl>
                                          <p:spTgt spid="12"/>
                                        </p:tgtEl>
                                      </p:cBhvr>
                                    </p:animEffect>
                                    <p:set>
                                      <p:cBhvr>
                                        <p:cTn id="27" dur="1" fill="hold">
                                          <p:stCondLst>
                                            <p:cond delay="499"/>
                                          </p:stCondLst>
                                        </p:cTn>
                                        <p:tgtEl>
                                          <p:spTgt spid="12"/>
                                        </p:tgtEl>
                                        <p:attrNameLst>
                                          <p:attrName>style.visibility</p:attrName>
                                        </p:attrNameLst>
                                      </p:cBhvr>
                                      <p:to>
                                        <p:strVal val="hidden"/>
                                      </p:to>
                                    </p:set>
                                  </p:childTnLst>
                                </p:cTn>
                              </p:par>
                            </p:childTnLst>
                          </p:cTn>
                        </p:par>
                        <p:par>
                          <p:cTn id="28" fill="hold">
                            <p:stCondLst>
                              <p:cond delay="1000"/>
                            </p:stCondLst>
                            <p:childTnLst>
                              <p:par>
                                <p:cTn id="29" presetID="9" presetClass="entr" presetSubtype="0" fill="hold"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dissolve">
                                      <p:cBhvr>
                                        <p:cTn id="31" dur="500"/>
                                        <p:tgtEl>
                                          <p:spTgt spid="28"/>
                                        </p:tgtEl>
                                      </p:cBhvr>
                                    </p:animEffect>
                                  </p:childTnLst>
                                </p:cTn>
                              </p:par>
                            </p:childTnLst>
                          </p:cTn>
                        </p:par>
                        <p:par>
                          <p:cTn id="32" fill="hold">
                            <p:stCondLst>
                              <p:cond delay="1500"/>
                            </p:stCondLst>
                            <p:childTnLst>
                              <p:par>
                                <p:cTn id="33" presetID="9" presetClass="entr" presetSubtype="0" fill="hold"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dissolve">
                                      <p:cBhvr>
                                        <p:cTn id="35" dur="500"/>
                                        <p:tgtEl>
                                          <p:spTgt spid="24"/>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xit" presetSubtype="0" fill="hold" nodeType="clickEffect">
                                  <p:stCondLst>
                                    <p:cond delay="0"/>
                                  </p:stCondLst>
                                  <p:childTnLst>
                                    <p:animEffect transition="out" filter="dissolve">
                                      <p:cBhvr>
                                        <p:cTn id="39" dur="500"/>
                                        <p:tgtEl>
                                          <p:spTgt spid="13"/>
                                        </p:tgtEl>
                                      </p:cBhvr>
                                    </p:animEffect>
                                    <p:set>
                                      <p:cBhvr>
                                        <p:cTn id="40" dur="1" fill="hold">
                                          <p:stCondLst>
                                            <p:cond delay="499"/>
                                          </p:stCondLst>
                                        </p:cTn>
                                        <p:tgtEl>
                                          <p:spTgt spid="13"/>
                                        </p:tgtEl>
                                        <p:attrNameLst>
                                          <p:attrName>style.visibility</p:attrName>
                                        </p:attrNameLst>
                                      </p:cBhvr>
                                      <p:to>
                                        <p:strVal val="hidden"/>
                                      </p:to>
                                    </p:set>
                                  </p:childTnLst>
                                </p:cTn>
                              </p:par>
                            </p:childTnLst>
                          </p:cTn>
                        </p:par>
                        <p:par>
                          <p:cTn id="41" fill="hold">
                            <p:stCondLst>
                              <p:cond delay="500"/>
                            </p:stCondLst>
                            <p:childTnLst>
                              <p:par>
                                <p:cTn id="42" presetID="9" presetClass="entr" presetSubtype="0" fill="hold" nodeType="afterEffect">
                                  <p:stCondLst>
                                    <p:cond delay="0"/>
                                  </p:stCondLst>
                                  <p:childTnLst>
                                    <p:set>
                                      <p:cBhvr>
                                        <p:cTn id="43" dur="1" fill="hold">
                                          <p:stCondLst>
                                            <p:cond delay="0"/>
                                          </p:stCondLst>
                                        </p:cTn>
                                        <p:tgtEl>
                                          <p:spTgt spid="37"/>
                                        </p:tgtEl>
                                        <p:attrNameLst>
                                          <p:attrName>style.visibility</p:attrName>
                                        </p:attrNameLst>
                                      </p:cBhvr>
                                      <p:to>
                                        <p:strVal val="visible"/>
                                      </p:to>
                                    </p:set>
                                    <p:animEffect transition="in" filter="dissolve">
                                      <p:cBhvr>
                                        <p:cTn id="44" dur="500"/>
                                        <p:tgtEl>
                                          <p:spTgt spid="37"/>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xit" presetSubtype="0" fill="hold" nodeType="clickEffect">
                                  <p:stCondLst>
                                    <p:cond delay="0"/>
                                  </p:stCondLst>
                                  <p:childTnLst>
                                    <p:animEffect transition="out" filter="dissolve">
                                      <p:cBhvr>
                                        <p:cTn id="48" dur="500"/>
                                        <p:tgtEl>
                                          <p:spTgt spid="28"/>
                                        </p:tgtEl>
                                      </p:cBhvr>
                                    </p:animEffect>
                                    <p:set>
                                      <p:cBhvr>
                                        <p:cTn id="49" dur="1" fill="hold">
                                          <p:stCondLst>
                                            <p:cond delay="499"/>
                                          </p:stCondLst>
                                        </p:cTn>
                                        <p:tgtEl>
                                          <p:spTgt spid="28"/>
                                        </p:tgtEl>
                                        <p:attrNameLst>
                                          <p:attrName>style.visibility</p:attrName>
                                        </p:attrNameLst>
                                      </p:cBhvr>
                                      <p:to>
                                        <p:strVal val="hidden"/>
                                      </p:to>
                                    </p:set>
                                  </p:childTnLst>
                                </p:cTn>
                              </p:par>
                              <p:par>
                                <p:cTn id="50" presetID="9" presetClass="exit" presetSubtype="0" fill="hold" nodeType="withEffect">
                                  <p:stCondLst>
                                    <p:cond delay="0"/>
                                  </p:stCondLst>
                                  <p:childTnLst>
                                    <p:animEffect transition="out" filter="dissolve">
                                      <p:cBhvr>
                                        <p:cTn id="51" dur="500"/>
                                        <p:tgtEl>
                                          <p:spTgt spid="24"/>
                                        </p:tgtEl>
                                      </p:cBhvr>
                                    </p:animEffect>
                                    <p:set>
                                      <p:cBhvr>
                                        <p:cTn id="52" dur="1" fill="hold">
                                          <p:stCondLst>
                                            <p:cond delay="499"/>
                                          </p:stCondLst>
                                        </p:cTn>
                                        <p:tgtEl>
                                          <p:spTgt spid="24"/>
                                        </p:tgtEl>
                                        <p:attrNameLst>
                                          <p:attrName>style.visibility</p:attrName>
                                        </p:attrNameLst>
                                      </p:cBhvr>
                                      <p:to>
                                        <p:strVal val="hidden"/>
                                      </p:to>
                                    </p:set>
                                  </p:childTnLst>
                                </p:cTn>
                              </p:par>
                            </p:childTnLst>
                          </p:cTn>
                        </p:par>
                        <p:par>
                          <p:cTn id="53" fill="hold">
                            <p:stCondLst>
                              <p:cond delay="500"/>
                            </p:stCondLst>
                            <p:childTnLst>
                              <p:par>
                                <p:cTn id="54" presetID="9" presetClass="exit" presetSubtype="0" fill="hold" grpId="0" nodeType="afterEffect">
                                  <p:stCondLst>
                                    <p:cond delay="0"/>
                                  </p:stCondLst>
                                  <p:childTnLst>
                                    <p:animEffect transition="out" filter="dissolve">
                                      <p:cBhvr>
                                        <p:cTn id="55" dur="500"/>
                                        <p:tgtEl>
                                          <p:spTgt spid="16"/>
                                        </p:tgtEl>
                                      </p:cBhvr>
                                    </p:animEffect>
                                    <p:set>
                                      <p:cBhvr>
                                        <p:cTn id="56" dur="1" fill="hold">
                                          <p:stCondLst>
                                            <p:cond delay="499"/>
                                          </p:stCondLst>
                                        </p:cTn>
                                        <p:tgtEl>
                                          <p:spTgt spid="16"/>
                                        </p:tgtEl>
                                        <p:attrNameLst>
                                          <p:attrName>style.visibility</p:attrName>
                                        </p:attrNameLst>
                                      </p:cBhvr>
                                      <p:to>
                                        <p:strVal val="hidden"/>
                                      </p:to>
                                    </p:set>
                                  </p:childTnLst>
                                </p:cTn>
                              </p:par>
                            </p:childTnLst>
                          </p:cTn>
                        </p:par>
                        <p:par>
                          <p:cTn id="57" fill="hold">
                            <p:stCondLst>
                              <p:cond delay="1000"/>
                            </p:stCondLst>
                            <p:childTnLst>
                              <p:par>
                                <p:cTn id="58" presetID="9" presetClass="entr" presetSubtype="0" fill="hold" nodeType="afterEffect">
                                  <p:stCondLst>
                                    <p:cond delay="0"/>
                                  </p:stCondLst>
                                  <p:childTnLst>
                                    <p:set>
                                      <p:cBhvr>
                                        <p:cTn id="59" dur="1" fill="hold">
                                          <p:stCondLst>
                                            <p:cond delay="0"/>
                                          </p:stCondLst>
                                        </p:cTn>
                                        <p:tgtEl>
                                          <p:spTgt spid="45"/>
                                        </p:tgtEl>
                                        <p:attrNameLst>
                                          <p:attrName>style.visibility</p:attrName>
                                        </p:attrNameLst>
                                      </p:cBhvr>
                                      <p:to>
                                        <p:strVal val="visible"/>
                                      </p:to>
                                    </p:set>
                                    <p:animEffect transition="in" filter="dissolve">
                                      <p:cBhvr>
                                        <p:cTn id="60" dur="500"/>
                                        <p:tgtEl>
                                          <p:spTgt spid="45"/>
                                        </p:tgtEl>
                                      </p:cBhvr>
                                    </p:animEffect>
                                  </p:childTnLst>
                                </p:cTn>
                              </p:par>
                            </p:childTnLst>
                          </p:cTn>
                        </p:par>
                      </p:childTnLst>
                    </p:cTn>
                  </p:par>
                  <p:par>
                    <p:cTn id="61" fill="hold">
                      <p:stCondLst>
                        <p:cond delay="indefinite"/>
                      </p:stCondLst>
                      <p:childTnLst>
                        <p:par>
                          <p:cTn id="62" fill="hold">
                            <p:stCondLst>
                              <p:cond delay="0"/>
                            </p:stCondLst>
                            <p:childTnLst>
                              <p:par>
                                <p:cTn id="63" presetID="9" presetClass="exit" presetSubtype="0" fill="hold" nodeType="clickEffect">
                                  <p:stCondLst>
                                    <p:cond delay="0"/>
                                  </p:stCondLst>
                                  <p:childTnLst>
                                    <p:animEffect transition="out" filter="dissolve">
                                      <p:cBhvr>
                                        <p:cTn id="64" dur="500"/>
                                        <p:tgtEl>
                                          <p:spTgt spid="37"/>
                                        </p:tgtEl>
                                      </p:cBhvr>
                                    </p:animEffect>
                                    <p:set>
                                      <p:cBhvr>
                                        <p:cTn id="65" dur="1" fill="hold">
                                          <p:stCondLst>
                                            <p:cond delay="499"/>
                                          </p:stCondLst>
                                        </p:cTn>
                                        <p:tgtEl>
                                          <p:spTgt spid="37"/>
                                        </p:tgtEl>
                                        <p:attrNameLst>
                                          <p:attrName>style.visibility</p:attrName>
                                        </p:attrNameLst>
                                      </p:cBhvr>
                                      <p:to>
                                        <p:strVal val="hidden"/>
                                      </p:to>
                                    </p:set>
                                  </p:childTnLst>
                                </p:cTn>
                              </p:par>
                              <p:par>
                                <p:cTn id="66" presetID="9" presetClass="exit" presetSubtype="0" fill="hold" nodeType="withEffect">
                                  <p:stCondLst>
                                    <p:cond delay="0"/>
                                  </p:stCondLst>
                                  <p:childTnLst>
                                    <p:animEffect transition="out" filter="dissolve">
                                      <p:cBhvr>
                                        <p:cTn id="67" dur="500"/>
                                        <p:tgtEl>
                                          <p:spTgt spid="45"/>
                                        </p:tgtEl>
                                      </p:cBhvr>
                                    </p:animEffect>
                                    <p:set>
                                      <p:cBhvr>
                                        <p:cTn id="68" dur="1" fill="hold">
                                          <p:stCondLst>
                                            <p:cond delay="499"/>
                                          </p:stCondLst>
                                        </p:cTn>
                                        <p:tgtEl>
                                          <p:spTgt spid="45"/>
                                        </p:tgtEl>
                                        <p:attrNameLst>
                                          <p:attrName>style.visibility</p:attrName>
                                        </p:attrNameLst>
                                      </p:cBhvr>
                                      <p:to>
                                        <p:strVal val="hidden"/>
                                      </p:to>
                                    </p:set>
                                  </p:childTnLst>
                                </p:cTn>
                              </p:par>
                            </p:childTnLst>
                          </p:cTn>
                        </p:par>
                        <p:par>
                          <p:cTn id="69" fill="hold">
                            <p:stCondLst>
                              <p:cond delay="500"/>
                            </p:stCondLst>
                            <p:childTnLst>
                              <p:par>
                                <p:cTn id="70" presetID="9" presetClass="entr" presetSubtype="0" fill="hold" nodeType="afterEffect">
                                  <p:stCondLst>
                                    <p:cond delay="0"/>
                                  </p:stCondLst>
                                  <p:childTnLst>
                                    <p:set>
                                      <p:cBhvr>
                                        <p:cTn id="71" dur="1" fill="hold">
                                          <p:stCondLst>
                                            <p:cond delay="0"/>
                                          </p:stCondLst>
                                        </p:cTn>
                                        <p:tgtEl>
                                          <p:spTgt spid="64"/>
                                        </p:tgtEl>
                                        <p:attrNameLst>
                                          <p:attrName>style.visibility</p:attrName>
                                        </p:attrNameLst>
                                      </p:cBhvr>
                                      <p:to>
                                        <p:strVal val="visible"/>
                                      </p:to>
                                    </p:set>
                                    <p:animEffect transition="in" filter="dissolve">
                                      <p:cBhvr>
                                        <p:cTn id="72" dur="500"/>
                                        <p:tgtEl>
                                          <p:spTgt spid="6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98"/>
                                        </p:tgtEl>
                                        <p:attrNameLst>
                                          <p:attrName>style.visibility</p:attrName>
                                        </p:attrNameLst>
                                      </p:cBhvr>
                                      <p:to>
                                        <p:strVal val="visible"/>
                                      </p:to>
                                    </p:set>
                                    <p:animEffect transition="in" filter="fade">
                                      <p:cBhvr>
                                        <p:cTn id="77" dur="500"/>
                                        <p:tgtEl>
                                          <p:spTgt spid="98"/>
                                        </p:tgtEl>
                                      </p:cBhvr>
                                    </p:animEffect>
                                  </p:childTnLst>
                                </p:cTn>
                              </p:par>
                            </p:childTnLst>
                          </p:cTn>
                        </p:par>
                      </p:childTnLst>
                    </p:cTn>
                  </p:par>
                  <p:par>
                    <p:cTn id="78" fill="hold">
                      <p:stCondLst>
                        <p:cond delay="indefinite"/>
                      </p:stCondLst>
                      <p:childTnLst>
                        <p:par>
                          <p:cTn id="79" fill="hold">
                            <p:stCondLst>
                              <p:cond delay="0"/>
                            </p:stCondLst>
                            <p:childTnLst>
                              <p:par>
                                <p:cTn id="80" presetID="9" presetClass="entr" presetSubtype="0" fill="hold" grpId="0" nodeType="click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dissolve">
                                      <p:cBhvr>
                                        <p:cTn id="82" dur="500"/>
                                        <p:tgtEl>
                                          <p:spTgt spid="9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109"/>
                                        </p:tgtEl>
                                        <p:attrNameLst>
                                          <p:attrName>style.visibility</p:attrName>
                                        </p:attrNameLst>
                                      </p:cBhvr>
                                      <p:to>
                                        <p:strVal val="visible"/>
                                      </p:to>
                                    </p:set>
                                    <p:animEffect transition="in" filter="fade">
                                      <p:cBhvr>
                                        <p:cTn id="87"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97" grpId="0"/>
      <p:bldP spid="109"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ct val="150000"/>
              </a:lnSpc>
              <a:defRPr/>
            </a:pPr>
            <a:r>
              <a:rPr lang="zh-CN" altLang="en-US" dirty="0"/>
              <a:t>赫夫曼编码的常见应用：</a:t>
            </a:r>
            <a:endParaRPr lang="en-US" altLang="zh-CN" dirty="0"/>
          </a:p>
          <a:p>
            <a:pPr marL="342900" indent="-342900">
              <a:lnSpc>
                <a:spcPct val="150000"/>
              </a:lnSpc>
              <a:buFontTx/>
              <a:buAutoNum type="arabicPeriod"/>
              <a:defRPr/>
            </a:pPr>
            <a:r>
              <a:rPr lang="zh-CN" altLang="en-US" dirty="0"/>
              <a:t>变长指令编码</a:t>
            </a:r>
            <a:endParaRPr lang="en-US" altLang="zh-CN" dirty="0"/>
          </a:p>
          <a:p>
            <a:pPr marL="0" lvl="2">
              <a:lnSpc>
                <a:spcPct val="150000"/>
              </a:lnSpc>
              <a:defRPr/>
            </a:pPr>
            <a:r>
              <a:rPr lang="en-US" altLang="zh-CN" dirty="0"/>
              <a:t>    </a:t>
            </a:r>
            <a:r>
              <a:rPr lang="zh-CN" altLang="zh-CN" dirty="0"/>
              <a:t>出现概率大的</a:t>
            </a:r>
            <a:r>
              <a:rPr lang="zh-CN" altLang="en-US" dirty="0"/>
              <a:t>指令信息</a:t>
            </a:r>
            <a:r>
              <a:rPr lang="zh-CN" altLang="zh-CN" dirty="0"/>
              <a:t>编以短字长的码</a:t>
            </a:r>
            <a:r>
              <a:rPr lang="zh-CN" altLang="en-US" dirty="0"/>
              <a:t>；</a:t>
            </a:r>
            <a:endParaRPr lang="en-US" altLang="zh-CN" dirty="0"/>
          </a:p>
          <a:p>
            <a:pPr marL="0" lvl="2">
              <a:lnSpc>
                <a:spcPct val="150000"/>
              </a:lnSpc>
              <a:defRPr/>
            </a:pPr>
            <a:r>
              <a:rPr lang="en-US" altLang="zh-CN" dirty="0"/>
              <a:t>    </a:t>
            </a:r>
            <a:r>
              <a:rPr lang="zh-CN" altLang="zh-CN" dirty="0"/>
              <a:t>出现概率小的</a:t>
            </a:r>
            <a:r>
              <a:rPr lang="zh-CN" altLang="en-US" dirty="0"/>
              <a:t>指令信息</a:t>
            </a:r>
            <a:r>
              <a:rPr lang="zh-CN" altLang="zh-CN" dirty="0"/>
              <a:t>编以长字长的码</a:t>
            </a:r>
            <a:r>
              <a:rPr lang="zh-CN" altLang="en-US" dirty="0"/>
              <a:t>；</a:t>
            </a:r>
            <a:endParaRPr lang="en-US" altLang="zh-CN" dirty="0"/>
          </a:p>
          <a:p>
            <a:pPr marL="0" lvl="2">
              <a:lnSpc>
                <a:spcPct val="150000"/>
              </a:lnSpc>
              <a:defRPr/>
            </a:pPr>
            <a:r>
              <a:rPr lang="en-US" altLang="zh-CN" dirty="0"/>
              <a:t>    </a:t>
            </a:r>
            <a:r>
              <a:rPr lang="zh-CN" altLang="zh-CN" dirty="0"/>
              <a:t>如果</a:t>
            </a:r>
            <a:r>
              <a:rPr lang="zh-CN" altLang="en-US" dirty="0"/>
              <a:t>编码</a:t>
            </a:r>
            <a:r>
              <a:rPr lang="zh-CN" altLang="zh-CN" dirty="0"/>
              <a:t>长度严格按照</a:t>
            </a:r>
            <a:r>
              <a:rPr lang="zh-CN" altLang="en-US" dirty="0"/>
              <a:t>指令</a:t>
            </a:r>
            <a:r>
              <a:rPr lang="zh-CN" altLang="zh-CN" dirty="0"/>
              <a:t>概率大小的相反顺序排列，则平均</a:t>
            </a:r>
            <a:r>
              <a:rPr lang="zh-CN" altLang="en-US" dirty="0"/>
              <a:t>编码</a:t>
            </a:r>
            <a:r>
              <a:rPr lang="zh-CN" altLang="zh-CN" dirty="0"/>
              <a:t>长度一定小于按任何其他顺序排列方式得到的</a:t>
            </a:r>
            <a:r>
              <a:rPr lang="zh-CN" altLang="en-US" dirty="0"/>
              <a:t>编码</a:t>
            </a:r>
            <a:r>
              <a:rPr lang="zh-CN" altLang="zh-CN" dirty="0"/>
              <a:t>长度。 </a:t>
            </a:r>
            <a:endParaRPr lang="zh-CN" altLang="zh-CN" dirty="0"/>
          </a:p>
          <a:p>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ct val="150000"/>
              </a:lnSpc>
              <a:spcBef>
                <a:spcPct val="0"/>
              </a:spcBef>
            </a:pPr>
            <a:r>
              <a:rPr lang="en-US" altLang="zh-CN" dirty="0"/>
              <a:t>2. </a:t>
            </a:r>
            <a:r>
              <a:rPr lang="zh-CN" altLang="en-US" dirty="0"/>
              <a:t>图像数据的无损压缩</a:t>
            </a:r>
            <a:endParaRPr lang="en-US" altLang="zh-CN" dirty="0"/>
          </a:p>
          <a:p>
            <a:pPr lvl="2">
              <a:lnSpc>
                <a:spcPct val="150000"/>
              </a:lnSpc>
              <a:spcBef>
                <a:spcPct val="0"/>
              </a:spcBef>
            </a:pPr>
            <a:r>
              <a:rPr lang="en-US" altLang="zh-CN" sz="2200" dirty="0"/>
              <a:t>    </a:t>
            </a:r>
            <a:r>
              <a:rPr lang="zh-CN" altLang="en-US" sz="1800" dirty="0"/>
              <a:t>在图像处理中，无损压缩去掉的是图像数据中冗余的数据，经解码重建的图像和原始图像没有任何失真。</a:t>
            </a:r>
            <a:endParaRPr lang="en-US" altLang="zh-CN" sz="1800" dirty="0"/>
          </a:p>
          <a:p>
            <a:pPr lvl="2">
              <a:lnSpc>
                <a:spcPct val="150000"/>
              </a:lnSpc>
              <a:spcBef>
                <a:spcPct val="0"/>
              </a:spcBef>
            </a:pPr>
            <a:r>
              <a:rPr lang="en-US" altLang="zh-CN" sz="1800" dirty="0"/>
              <a:t>    </a:t>
            </a:r>
            <a:r>
              <a:rPr lang="zh-CN" altLang="en-US" sz="1800" dirty="0"/>
              <a:t>图像压缩算法思想：</a:t>
            </a:r>
            <a:endParaRPr lang="en-US" altLang="zh-CN" sz="1800" dirty="0"/>
          </a:p>
          <a:p>
            <a:pPr lvl="2">
              <a:lnSpc>
                <a:spcPct val="150000"/>
              </a:lnSpc>
              <a:spcBef>
                <a:spcPct val="0"/>
              </a:spcBef>
            </a:pPr>
            <a:r>
              <a:rPr lang="zh-CN" altLang="en-US" sz="1800" dirty="0"/>
              <a:t>（</a:t>
            </a:r>
            <a:r>
              <a:rPr lang="en-US" altLang="zh-CN" sz="1800" dirty="0"/>
              <a:t>1</a:t>
            </a:r>
            <a:r>
              <a:rPr lang="zh-CN" altLang="en-US" sz="1800" dirty="0"/>
              <a:t>）扫描图像所有像素点；</a:t>
            </a:r>
            <a:endParaRPr lang="en-US" altLang="zh-CN" sz="1800" dirty="0"/>
          </a:p>
          <a:p>
            <a:pPr lvl="2">
              <a:lnSpc>
                <a:spcPct val="150000"/>
              </a:lnSpc>
              <a:spcBef>
                <a:spcPct val="0"/>
              </a:spcBef>
            </a:pPr>
            <a:r>
              <a:rPr lang="zh-CN" altLang="en-US" sz="1800" dirty="0"/>
              <a:t>（</a:t>
            </a:r>
            <a:r>
              <a:rPr lang="en-US" altLang="zh-CN" sz="1800" dirty="0"/>
              <a:t>2</a:t>
            </a:r>
            <a:r>
              <a:rPr lang="zh-CN" altLang="en-US" sz="1800" dirty="0"/>
              <a:t>）统计像素出现的概率并按大小排列；</a:t>
            </a:r>
            <a:endParaRPr lang="en-US" altLang="zh-CN" sz="1800" dirty="0"/>
          </a:p>
          <a:p>
            <a:pPr lvl="2">
              <a:lnSpc>
                <a:spcPct val="150000"/>
              </a:lnSpc>
              <a:spcBef>
                <a:spcPct val="0"/>
              </a:spcBef>
            </a:pPr>
            <a:r>
              <a:rPr lang="zh-CN" altLang="en-US" sz="1800" dirty="0"/>
              <a:t>（</a:t>
            </a:r>
            <a:r>
              <a:rPr lang="en-US" altLang="zh-CN" sz="1800" dirty="0"/>
              <a:t>3</a:t>
            </a:r>
            <a:r>
              <a:rPr lang="zh-CN" altLang="en-US" sz="1800" dirty="0"/>
              <a:t>）建立赫夫曼树；</a:t>
            </a:r>
            <a:endParaRPr lang="en-US" altLang="zh-CN" sz="1800" dirty="0"/>
          </a:p>
          <a:p>
            <a:pPr lvl="2">
              <a:lnSpc>
                <a:spcPct val="150000"/>
              </a:lnSpc>
              <a:spcBef>
                <a:spcPct val="0"/>
              </a:spcBef>
            </a:pPr>
            <a:r>
              <a:rPr lang="zh-CN" altLang="en-US" sz="1800" dirty="0"/>
              <a:t>（</a:t>
            </a:r>
            <a:r>
              <a:rPr lang="en-US" altLang="zh-CN" sz="1800" dirty="0"/>
              <a:t>4</a:t>
            </a:r>
            <a:r>
              <a:rPr lang="zh-CN" altLang="en-US" sz="1800" dirty="0"/>
              <a:t>）进行赫夫曼编码；</a:t>
            </a:r>
            <a:endParaRPr lang="en-US" altLang="zh-CN" sz="1800" dirty="0"/>
          </a:p>
          <a:p>
            <a:pPr lvl="2">
              <a:lnSpc>
                <a:spcPct val="150000"/>
              </a:lnSpc>
              <a:spcBef>
                <a:spcPct val="0"/>
              </a:spcBef>
            </a:pPr>
            <a:r>
              <a:rPr lang="zh-CN" altLang="en-US" sz="1800" dirty="0"/>
              <a:t>（</a:t>
            </a:r>
            <a:r>
              <a:rPr lang="en-US" altLang="zh-CN" sz="1800" dirty="0"/>
              <a:t>5</a:t>
            </a:r>
            <a:r>
              <a:rPr lang="zh-CN" altLang="en-US" sz="1800" dirty="0"/>
              <a:t>）按位存储编码后的二进制位。</a:t>
            </a:r>
            <a:endParaRPr lang="zh-CN" altLang="en-US" sz="2200"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ts val="2800"/>
              </a:lnSpc>
              <a:spcBef>
                <a:spcPts val="0"/>
              </a:spcBef>
              <a:spcAft>
                <a:spcPts val="0"/>
              </a:spcAft>
              <a:defRPr/>
            </a:pPr>
            <a:r>
              <a:rPr lang="zh-CN" altLang="en-US" sz="2000" dirty="0"/>
              <a:t>赫夫曼编码思想的扩展：五笔字型</a:t>
            </a:r>
            <a:endParaRPr lang="en-US" altLang="zh-CN" sz="2000"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pic>
        <p:nvPicPr>
          <p:cNvPr id="4" name="图片 3"/>
          <p:cNvPicPr>
            <a:picLocks noChangeAspect="1"/>
          </p:cNvPicPr>
          <p:nvPr/>
        </p:nvPicPr>
        <p:blipFill rotWithShape="1">
          <a:blip r:embed="rId1">
            <a:extLst>
              <a:ext uri="{28A0092B-C50C-407E-A947-70E740481C1C}">
                <a14:useLocalDpi xmlns:a14="http://schemas.microsoft.com/office/drawing/2010/main" val="0"/>
              </a:ext>
            </a:extLst>
          </a:blip>
          <a:srcRect t="3642" b="9808"/>
          <a:stretch>
            <a:fillRect/>
          </a:stretch>
        </p:blipFill>
        <p:spPr>
          <a:xfrm>
            <a:off x="1181501" y="997686"/>
            <a:ext cx="6778439" cy="4145815"/>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ts val="2800"/>
              </a:lnSpc>
              <a:spcBef>
                <a:spcPts val="0"/>
              </a:spcBef>
              <a:spcAft>
                <a:spcPts val="0"/>
              </a:spcAft>
              <a:defRPr/>
            </a:pPr>
            <a:r>
              <a:rPr lang="zh-CN" altLang="en-US" sz="2000" dirty="0"/>
              <a:t>赫夫曼编码思想的扩展：五笔字型</a:t>
            </a:r>
            <a:endParaRPr lang="en-US" altLang="zh-CN" sz="2000" dirty="0"/>
          </a:p>
          <a:p>
            <a:pPr marL="478155" lvl="2" indent="-342900">
              <a:lnSpc>
                <a:spcPts val="2800"/>
              </a:lnSpc>
              <a:buFont typeface="Wingdings" panose="05000000000000000000" pitchFamily="2" charset="2"/>
              <a:buChar char="Ø"/>
              <a:defRPr/>
            </a:pPr>
            <a:r>
              <a:rPr lang="zh-CN" altLang="en-US" sz="2000" dirty="0"/>
              <a:t>一级简码：最常用的</a:t>
            </a:r>
            <a:r>
              <a:rPr lang="en-US" altLang="zh-CN" sz="2000" dirty="0"/>
              <a:t>25</a:t>
            </a:r>
            <a:r>
              <a:rPr lang="zh-CN" altLang="en-US" sz="2000" dirty="0"/>
              <a:t>个汉字定为一级简码，打一个字母键再加一个空格键就可打出来。</a:t>
            </a:r>
            <a:endParaRPr lang="en-US" altLang="zh-CN" sz="2000" dirty="0"/>
          </a:p>
          <a:p>
            <a:pPr marL="478155" lvl="2" indent="-342900">
              <a:lnSpc>
                <a:spcPts val="2800"/>
              </a:lnSpc>
              <a:buFont typeface="Wingdings" panose="05000000000000000000" pitchFamily="2" charset="2"/>
              <a:buChar char="Ø"/>
              <a:defRPr/>
            </a:pPr>
            <a:r>
              <a:rPr lang="zh-CN" altLang="en-US" sz="2000" dirty="0"/>
              <a:t>二级简码：日常生活中最常用的</a:t>
            </a:r>
            <a:r>
              <a:rPr lang="en-US" altLang="zh-CN" sz="2000" dirty="0"/>
              <a:t>606</a:t>
            </a:r>
            <a:r>
              <a:rPr lang="zh-CN" altLang="en-US" sz="2000" dirty="0"/>
              <a:t>个汉字使用二级简码。输入时打第一和第二个字根代码，再加一个空格键即可。</a:t>
            </a:r>
            <a:endParaRPr lang="zh-CN" altLang="en-US" sz="2000" dirty="0"/>
          </a:p>
          <a:p>
            <a:pPr marL="478155" lvl="2" indent="-342900">
              <a:lnSpc>
                <a:spcPts val="2800"/>
              </a:lnSpc>
              <a:buFont typeface="Wingdings" panose="05000000000000000000" pitchFamily="2" charset="2"/>
              <a:buChar char="Ø"/>
              <a:defRPr/>
            </a:pPr>
            <a:r>
              <a:rPr lang="zh-CN" altLang="en-US" sz="2000" dirty="0"/>
              <a:t>三级简码：比较常用的字设置为三级简码，输入时敲前三个字根再加一个空格键完成。</a:t>
            </a:r>
            <a:endParaRPr lang="en-US" altLang="zh-CN" sz="2000" dirty="0"/>
          </a:p>
          <a:p>
            <a:pPr lvl="2">
              <a:lnSpc>
                <a:spcPts val="2800"/>
              </a:lnSpc>
              <a:defRPr/>
            </a:pPr>
            <a:r>
              <a:rPr lang="zh-CN" altLang="en-US" sz="2000" dirty="0"/>
              <a:t>采用五笔输入法，单字录入一篇文章，平均每个字码长只有</a:t>
            </a:r>
            <a:r>
              <a:rPr lang="en-US" altLang="zh-CN" sz="2000" dirty="0"/>
              <a:t>2.6</a:t>
            </a:r>
            <a:r>
              <a:rPr lang="zh-CN" altLang="en-US" sz="2000" dirty="0"/>
              <a:t>，意味着每输入两个字，只需要敲</a:t>
            </a:r>
            <a:r>
              <a:rPr lang="en-US" altLang="zh-CN" sz="2000" dirty="0"/>
              <a:t>5</a:t>
            </a:r>
            <a:r>
              <a:rPr lang="zh-CN" altLang="en-US" sz="2000" dirty="0"/>
              <a:t>下键即可。只有很少的一些字才需要把四个码敲全。</a:t>
            </a:r>
            <a:endParaRPr lang="en-US" altLang="zh-CN" sz="2000"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sz="2000" dirty="0"/>
              <a:t>赫夫曼树的存储：</a:t>
            </a:r>
            <a:endParaRPr lang="en-US" altLang="zh-CN" sz="2000" dirty="0"/>
          </a:p>
          <a:p>
            <a:pPr lvl="2"/>
            <a:r>
              <a:rPr lang="zh-CN" altLang="en-US" sz="2000" dirty="0"/>
              <a:t>一棵含有</a:t>
            </a:r>
            <a:r>
              <a:rPr lang="en-US" altLang="zh-CN" sz="2000" dirty="0"/>
              <a:t>n</a:t>
            </a:r>
            <a:r>
              <a:rPr lang="zh-CN" altLang="en-US" sz="2000" dirty="0"/>
              <a:t>个叶子结点的赫夫曼树共有</a:t>
            </a:r>
            <a:r>
              <a:rPr lang="en-US" altLang="zh-CN" sz="2000" dirty="0">
                <a:solidFill>
                  <a:srgbClr val="FF0000"/>
                </a:solidFill>
              </a:rPr>
              <a:t>2n-1</a:t>
            </a:r>
            <a:r>
              <a:rPr lang="zh-CN" altLang="en-US" sz="2000" dirty="0"/>
              <a:t>个结点，用一个</a:t>
            </a:r>
            <a:r>
              <a:rPr lang="zh-CN" altLang="en-US" sz="2000" dirty="0">
                <a:solidFill>
                  <a:srgbClr val="FF0000"/>
                </a:solidFill>
              </a:rPr>
              <a:t>静态三叉链表</a:t>
            </a:r>
            <a:r>
              <a:rPr lang="zh-CN" altLang="en-US" sz="2000" dirty="0"/>
              <a:t>存储。</a:t>
            </a:r>
            <a:endParaRPr lang="en-US" altLang="zh-CN" sz="2000" dirty="0"/>
          </a:p>
          <a:p>
            <a:pPr>
              <a:lnSpc>
                <a:spcPct val="130000"/>
              </a:lnSpc>
            </a:pPr>
            <a:r>
              <a:rPr lang="en-US" altLang="zh-CN" sz="1600" dirty="0" err="1">
                <a:solidFill>
                  <a:srgbClr val="00194C"/>
                </a:solidFill>
                <a:latin typeface="华文楷体" panose="02010600040101010101" pitchFamily="2" charset="-122"/>
                <a:ea typeface="华文楷体" panose="02010600040101010101" pitchFamily="2" charset="-122"/>
              </a:rPr>
              <a:t>typedef</a:t>
            </a:r>
            <a:r>
              <a:rPr lang="en-US" altLang="zh-CN" sz="1600" dirty="0">
                <a:solidFill>
                  <a:srgbClr val="00194C"/>
                </a:solidFill>
                <a:latin typeface="华文楷体" panose="02010600040101010101" pitchFamily="2" charset="-122"/>
                <a:ea typeface="华文楷体" panose="02010600040101010101" pitchFamily="2" charset="-122"/>
              </a:rPr>
              <a:t> </a:t>
            </a:r>
            <a:r>
              <a:rPr lang="en-US" altLang="zh-CN" sz="1600" dirty="0" err="1">
                <a:solidFill>
                  <a:srgbClr val="00194C"/>
                </a:solidFill>
                <a:latin typeface="华文楷体" panose="02010600040101010101" pitchFamily="2" charset="-122"/>
                <a:ea typeface="华文楷体" panose="02010600040101010101" pitchFamily="2" charset="-122"/>
              </a:rPr>
              <a:t>struct</a:t>
            </a:r>
            <a:r>
              <a:rPr lang="en-US" altLang="zh-CN" sz="1600" dirty="0">
                <a:solidFill>
                  <a:srgbClr val="00194C"/>
                </a:solidFill>
                <a:latin typeface="华文楷体" panose="02010600040101010101" pitchFamily="2" charset="-122"/>
                <a:ea typeface="华文楷体" panose="02010600040101010101" pitchFamily="2" charset="-122"/>
              </a:rPr>
              <a:t> {</a:t>
            </a:r>
            <a:endParaRPr lang="en-US" altLang="zh-CN" sz="1600" dirty="0">
              <a:solidFill>
                <a:srgbClr val="00194C"/>
              </a:solidFill>
              <a:latin typeface="华文楷体" panose="02010600040101010101" pitchFamily="2" charset="-122"/>
              <a:ea typeface="华文楷体" panose="02010600040101010101" pitchFamily="2" charset="-122"/>
            </a:endParaRPr>
          </a:p>
          <a:p>
            <a:pPr>
              <a:lnSpc>
                <a:spcPct val="130000"/>
              </a:lnSpc>
            </a:pPr>
            <a:r>
              <a:rPr lang="en-US" altLang="zh-CN" sz="1600" dirty="0">
                <a:solidFill>
                  <a:srgbClr val="00194C"/>
                </a:solidFill>
                <a:latin typeface="华文楷体" panose="02010600040101010101" pitchFamily="2" charset="-122"/>
                <a:ea typeface="华文楷体" panose="02010600040101010101" pitchFamily="2" charset="-122"/>
              </a:rPr>
              <a:t>        unsigned </a:t>
            </a:r>
            <a:r>
              <a:rPr lang="en-US" altLang="zh-CN" sz="1600" dirty="0" err="1">
                <a:solidFill>
                  <a:srgbClr val="00194C"/>
                </a:solidFill>
                <a:latin typeface="华文楷体" panose="02010600040101010101" pitchFamily="2" charset="-122"/>
                <a:ea typeface="华文楷体" panose="02010600040101010101" pitchFamily="2" charset="-122"/>
              </a:rPr>
              <a:t>int</a:t>
            </a:r>
            <a:r>
              <a:rPr lang="en-US" altLang="zh-CN" sz="1600" dirty="0">
                <a:solidFill>
                  <a:srgbClr val="00194C"/>
                </a:solidFill>
                <a:latin typeface="华文楷体" panose="02010600040101010101" pitchFamily="2" charset="-122"/>
                <a:ea typeface="华文楷体" panose="02010600040101010101" pitchFamily="2" charset="-122"/>
              </a:rPr>
              <a:t> weight ;   /* </a:t>
            </a:r>
            <a:r>
              <a:rPr lang="zh-CN" altLang="en-US" sz="1600" dirty="0">
                <a:solidFill>
                  <a:srgbClr val="00194C"/>
                </a:solidFill>
                <a:latin typeface="华文楷体" panose="02010600040101010101" pitchFamily="2" charset="-122"/>
                <a:ea typeface="华文楷体" panose="02010600040101010101" pitchFamily="2" charset="-122"/>
              </a:rPr>
              <a:t>用来存放结点的权值*</a:t>
            </a:r>
            <a:r>
              <a:rPr lang="en-US" altLang="zh-CN" sz="1600" dirty="0">
                <a:solidFill>
                  <a:srgbClr val="00194C"/>
                </a:solidFill>
                <a:latin typeface="华文楷体" panose="02010600040101010101" pitchFamily="2" charset="-122"/>
                <a:ea typeface="华文楷体" panose="02010600040101010101" pitchFamily="2" charset="-122"/>
              </a:rPr>
              <a:t>/</a:t>
            </a:r>
            <a:endParaRPr lang="en-US" altLang="zh-CN" sz="1600" dirty="0">
              <a:solidFill>
                <a:srgbClr val="00194C"/>
              </a:solidFill>
              <a:latin typeface="华文楷体" panose="02010600040101010101" pitchFamily="2" charset="-122"/>
              <a:ea typeface="华文楷体" panose="02010600040101010101" pitchFamily="2" charset="-122"/>
            </a:endParaRPr>
          </a:p>
          <a:p>
            <a:pPr>
              <a:lnSpc>
                <a:spcPct val="130000"/>
              </a:lnSpc>
            </a:pPr>
            <a:r>
              <a:rPr lang="en-US" altLang="zh-CN" sz="1600" dirty="0">
                <a:solidFill>
                  <a:srgbClr val="00194C"/>
                </a:solidFill>
                <a:latin typeface="华文楷体" panose="02010600040101010101" pitchFamily="2" charset="-122"/>
                <a:ea typeface="华文楷体" panose="02010600040101010101" pitchFamily="2" charset="-122"/>
              </a:rPr>
              <a:t>        unsigned </a:t>
            </a:r>
            <a:r>
              <a:rPr lang="en-US" altLang="zh-CN" sz="1600" dirty="0" err="1">
                <a:solidFill>
                  <a:srgbClr val="00194C"/>
                </a:solidFill>
                <a:latin typeface="华文楷体" panose="02010600040101010101" pitchFamily="2" charset="-122"/>
                <a:ea typeface="华文楷体" panose="02010600040101010101" pitchFamily="2" charset="-122"/>
              </a:rPr>
              <a:t>int</a:t>
            </a:r>
            <a:r>
              <a:rPr lang="en-US" altLang="zh-CN" sz="1600" dirty="0">
                <a:solidFill>
                  <a:srgbClr val="00194C"/>
                </a:solidFill>
                <a:latin typeface="华文楷体" panose="02010600040101010101" pitchFamily="2" charset="-122"/>
                <a:ea typeface="华文楷体" panose="02010600040101010101" pitchFamily="2" charset="-122"/>
              </a:rPr>
              <a:t> parent,  </a:t>
            </a:r>
            <a:r>
              <a:rPr lang="en-US" altLang="zh-CN" sz="1600" dirty="0" err="1">
                <a:solidFill>
                  <a:srgbClr val="00194C"/>
                </a:solidFill>
                <a:latin typeface="华文楷体" panose="02010600040101010101" pitchFamily="2" charset="-122"/>
                <a:ea typeface="华文楷体" panose="02010600040101010101" pitchFamily="2" charset="-122"/>
              </a:rPr>
              <a:t>LChild</a:t>
            </a:r>
            <a:r>
              <a:rPr lang="en-US" altLang="zh-CN" sz="1600" dirty="0">
                <a:solidFill>
                  <a:srgbClr val="00194C"/>
                </a:solidFill>
                <a:latin typeface="华文楷体" panose="02010600040101010101" pitchFamily="2" charset="-122"/>
                <a:ea typeface="华文楷体" panose="02010600040101010101" pitchFamily="2" charset="-122"/>
              </a:rPr>
              <a:t>, </a:t>
            </a:r>
            <a:r>
              <a:rPr lang="en-US" altLang="zh-CN" sz="1600" dirty="0" err="1">
                <a:solidFill>
                  <a:srgbClr val="00194C"/>
                </a:solidFill>
                <a:latin typeface="华文楷体" panose="02010600040101010101" pitchFamily="2" charset="-122"/>
                <a:ea typeface="华文楷体" panose="02010600040101010101" pitchFamily="2" charset="-122"/>
              </a:rPr>
              <a:t>RChild</a:t>
            </a:r>
            <a:r>
              <a:rPr lang="en-US" altLang="zh-CN" sz="1600" dirty="0">
                <a:solidFill>
                  <a:srgbClr val="00194C"/>
                </a:solidFill>
                <a:latin typeface="华文楷体" panose="02010600040101010101" pitchFamily="2" charset="-122"/>
                <a:ea typeface="华文楷体" panose="02010600040101010101" pitchFamily="2" charset="-122"/>
              </a:rPr>
              <a:t> ; /*</a:t>
            </a:r>
            <a:r>
              <a:rPr lang="zh-CN" altLang="en-US" sz="1600" dirty="0">
                <a:solidFill>
                  <a:srgbClr val="00194C"/>
                </a:solidFill>
                <a:latin typeface="华文楷体" panose="02010600040101010101" pitchFamily="2" charset="-122"/>
                <a:ea typeface="华文楷体" panose="02010600040101010101" pitchFamily="2" charset="-122"/>
              </a:rPr>
              <a:t>指向双亲、 孩子结点*</a:t>
            </a:r>
            <a:r>
              <a:rPr lang="en-US" altLang="zh-CN" sz="1600" dirty="0">
                <a:solidFill>
                  <a:srgbClr val="00194C"/>
                </a:solidFill>
                <a:latin typeface="华文楷体" panose="02010600040101010101" pitchFamily="2" charset="-122"/>
                <a:ea typeface="华文楷体" panose="02010600040101010101" pitchFamily="2" charset="-122"/>
              </a:rPr>
              <a:t>/</a:t>
            </a:r>
            <a:endParaRPr lang="en-US" altLang="zh-CN" sz="1600" dirty="0">
              <a:solidFill>
                <a:srgbClr val="00194C"/>
              </a:solidFill>
              <a:latin typeface="华文楷体" panose="02010600040101010101" pitchFamily="2" charset="-122"/>
              <a:ea typeface="华文楷体" panose="02010600040101010101" pitchFamily="2" charset="-122"/>
            </a:endParaRPr>
          </a:p>
          <a:p>
            <a:pPr>
              <a:lnSpc>
                <a:spcPct val="130000"/>
              </a:lnSpc>
            </a:pPr>
            <a:r>
              <a:rPr lang="en-US" altLang="zh-CN" sz="1600" dirty="0">
                <a:solidFill>
                  <a:srgbClr val="00194C"/>
                </a:solidFill>
                <a:latin typeface="华文楷体" panose="02010600040101010101" pitchFamily="2" charset="-122"/>
                <a:ea typeface="华文楷体" panose="02010600040101010101" pitchFamily="2" charset="-122"/>
              </a:rPr>
              <a:t>}</a:t>
            </a:r>
            <a:r>
              <a:rPr lang="en-US" altLang="zh-CN" sz="1600" dirty="0" err="1">
                <a:solidFill>
                  <a:srgbClr val="00194C"/>
                </a:solidFill>
                <a:latin typeface="华文楷体" panose="02010600040101010101" pitchFamily="2" charset="-122"/>
                <a:ea typeface="华文楷体" panose="02010600040101010101" pitchFamily="2" charset="-122"/>
              </a:rPr>
              <a:t>HTNode</a:t>
            </a:r>
            <a:r>
              <a:rPr lang="en-US" altLang="zh-CN" sz="1600" dirty="0">
                <a:solidFill>
                  <a:srgbClr val="00194C"/>
                </a:solidFill>
                <a:latin typeface="华文楷体" panose="02010600040101010101" pitchFamily="2" charset="-122"/>
                <a:ea typeface="华文楷体" panose="02010600040101010101" pitchFamily="2" charset="-122"/>
              </a:rPr>
              <a:t>,  * </a:t>
            </a:r>
            <a:r>
              <a:rPr lang="en-US" altLang="zh-CN" sz="1600" dirty="0" err="1">
                <a:solidFill>
                  <a:srgbClr val="00194C"/>
                </a:solidFill>
                <a:latin typeface="华文楷体" panose="02010600040101010101" pitchFamily="2" charset="-122"/>
                <a:ea typeface="华文楷体" panose="02010600040101010101" pitchFamily="2" charset="-122"/>
              </a:rPr>
              <a:t>HuffmanTree</a:t>
            </a:r>
            <a:r>
              <a:rPr lang="en-US" altLang="zh-CN" sz="1600" dirty="0">
                <a:solidFill>
                  <a:srgbClr val="00194C"/>
                </a:solidFill>
                <a:latin typeface="华文楷体" panose="02010600040101010101" pitchFamily="2" charset="-122"/>
                <a:ea typeface="华文楷体" panose="02010600040101010101" pitchFamily="2" charset="-122"/>
              </a:rPr>
              <a:t>;   /*</a:t>
            </a:r>
            <a:r>
              <a:rPr lang="zh-CN" altLang="en-US" sz="1600" dirty="0">
                <a:solidFill>
                  <a:srgbClr val="00194C"/>
                </a:solidFill>
                <a:latin typeface="华文楷体" panose="02010600040101010101" pitchFamily="2" charset="-122"/>
                <a:ea typeface="华文楷体" panose="02010600040101010101" pitchFamily="2" charset="-122"/>
              </a:rPr>
              <a:t>动态分配数组， 存储赫夫曼树*</a:t>
            </a:r>
            <a:r>
              <a:rPr lang="en-US" altLang="zh-CN" sz="1600" dirty="0">
                <a:solidFill>
                  <a:srgbClr val="00194C"/>
                </a:solidFill>
                <a:latin typeface="华文楷体" panose="02010600040101010101" pitchFamily="2" charset="-122"/>
                <a:ea typeface="华文楷体" panose="02010600040101010101" pitchFamily="2" charset="-122"/>
              </a:rPr>
              <a:t>/</a:t>
            </a:r>
            <a:endParaRPr lang="en-US" altLang="zh-CN" sz="1600" dirty="0">
              <a:solidFill>
                <a:srgbClr val="00194C"/>
              </a:solidFill>
              <a:latin typeface="华文楷体" panose="02010600040101010101" pitchFamily="2" charset="-122"/>
              <a:ea typeface="华文楷体" panose="02010600040101010101" pitchFamily="2" charset="-122"/>
            </a:endParaRPr>
          </a:p>
          <a:p>
            <a:pPr>
              <a:lnSpc>
                <a:spcPct val="130000"/>
              </a:lnSpc>
            </a:pPr>
            <a:r>
              <a:rPr lang="en-US" altLang="zh-CN" sz="1600" dirty="0" err="1">
                <a:solidFill>
                  <a:srgbClr val="00194C"/>
                </a:solidFill>
                <a:latin typeface="华文楷体" panose="02010600040101010101" pitchFamily="2" charset="-122"/>
                <a:ea typeface="华文楷体" panose="02010600040101010101" pitchFamily="2" charset="-122"/>
              </a:rPr>
              <a:t>typedef</a:t>
            </a:r>
            <a:r>
              <a:rPr lang="en-US" altLang="zh-CN" sz="1600" dirty="0">
                <a:solidFill>
                  <a:srgbClr val="00194C"/>
                </a:solidFill>
                <a:latin typeface="华文楷体" panose="02010600040101010101" pitchFamily="2" charset="-122"/>
                <a:ea typeface="华文楷体" panose="02010600040101010101" pitchFamily="2" charset="-122"/>
              </a:rPr>
              <a:t>  char  * *</a:t>
            </a:r>
            <a:r>
              <a:rPr lang="en-US" altLang="zh-CN" sz="1600" dirty="0" err="1">
                <a:solidFill>
                  <a:srgbClr val="00194C"/>
                </a:solidFill>
                <a:latin typeface="华文楷体" panose="02010600040101010101" pitchFamily="2" charset="-122"/>
                <a:ea typeface="华文楷体" panose="02010600040101010101" pitchFamily="2" charset="-122"/>
              </a:rPr>
              <a:t>HuffmanCode</a:t>
            </a:r>
            <a:r>
              <a:rPr lang="en-US" altLang="zh-CN" sz="1600" dirty="0">
                <a:solidFill>
                  <a:srgbClr val="00194C"/>
                </a:solidFill>
                <a:latin typeface="华文楷体" panose="02010600040101010101" pitchFamily="2" charset="-122"/>
                <a:ea typeface="华文楷体" panose="02010600040101010101" pitchFamily="2" charset="-122"/>
              </a:rPr>
              <a:t> ; /*</a:t>
            </a:r>
            <a:r>
              <a:rPr lang="zh-CN" altLang="en-US" sz="1600" dirty="0">
                <a:solidFill>
                  <a:srgbClr val="00194C"/>
                </a:solidFill>
                <a:latin typeface="华文楷体" panose="02010600040101010101" pitchFamily="2" charset="-122"/>
                <a:ea typeface="华文楷体" panose="02010600040101010101" pitchFamily="2" charset="-122"/>
              </a:rPr>
              <a:t>动态分配数组 存储赫夫曼编码*</a:t>
            </a:r>
            <a:r>
              <a:rPr lang="en-US" altLang="zh-CN" sz="1600" dirty="0">
                <a:solidFill>
                  <a:srgbClr val="00194C"/>
                </a:solidFill>
                <a:latin typeface="华文楷体" panose="02010600040101010101" pitchFamily="2" charset="-122"/>
                <a:ea typeface="华文楷体" panose="02010600040101010101" pitchFamily="2" charset="-122"/>
              </a:rPr>
              <a:t>/ </a:t>
            </a:r>
            <a:endParaRPr lang="en-US" altLang="zh-CN" sz="16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算法实现：</a:t>
            </a:r>
            <a:endParaRPr lang="en-US" altLang="zh-CN" dirty="0"/>
          </a:p>
          <a:p>
            <a:pPr lvl="2">
              <a:lnSpc>
                <a:spcPts val="2800"/>
              </a:lnSpc>
            </a:pPr>
            <a:r>
              <a:rPr lang="en-US" altLang="zh-CN" sz="1400" dirty="0"/>
              <a:t>void  </a:t>
            </a:r>
            <a:r>
              <a:rPr lang="en-US" altLang="zh-CN" sz="1400" dirty="0" err="1"/>
              <a:t>CrtHuffmanTree</a:t>
            </a:r>
            <a:r>
              <a:rPr lang="en-US" altLang="zh-CN" sz="1400" dirty="0"/>
              <a:t>(</a:t>
            </a:r>
            <a:r>
              <a:rPr lang="en-US" altLang="zh-CN" sz="1400" dirty="0" err="1"/>
              <a:t>HuffmanTree</a:t>
            </a:r>
            <a:r>
              <a:rPr lang="en-US" altLang="zh-CN" sz="1400" dirty="0"/>
              <a:t> &amp;</a:t>
            </a:r>
            <a:r>
              <a:rPr lang="en-US" altLang="zh-CN" sz="1400" dirty="0" err="1"/>
              <a:t>ht</a:t>
            </a:r>
            <a:r>
              <a:rPr lang="en-US" altLang="zh-CN" sz="1400" dirty="0"/>
              <a:t> ,  </a:t>
            </a:r>
            <a:r>
              <a:rPr lang="en-US" altLang="zh-CN" sz="1400" dirty="0" err="1"/>
              <a:t>HuffmanCode</a:t>
            </a:r>
            <a:r>
              <a:rPr lang="en-US" altLang="zh-CN" sz="1400" dirty="0"/>
              <a:t>  &amp;</a:t>
            </a:r>
            <a:r>
              <a:rPr lang="en-US" altLang="zh-CN" sz="1400" dirty="0" err="1"/>
              <a:t>hc</a:t>
            </a:r>
            <a:r>
              <a:rPr lang="en-US" altLang="zh-CN" sz="1400" dirty="0"/>
              <a:t>, </a:t>
            </a:r>
            <a:r>
              <a:rPr lang="en-US" altLang="zh-CN" sz="1400" dirty="0" err="1"/>
              <a:t>int</a:t>
            </a:r>
            <a:r>
              <a:rPr lang="en-US" altLang="zh-CN" sz="1400" dirty="0"/>
              <a:t> * w,  </a:t>
            </a:r>
            <a:r>
              <a:rPr lang="en-US" altLang="zh-CN" sz="1400" dirty="0" err="1"/>
              <a:t>int</a:t>
            </a:r>
            <a:r>
              <a:rPr lang="en-US" altLang="zh-CN" sz="1400" dirty="0"/>
              <a:t> n)</a:t>
            </a:r>
            <a:endParaRPr lang="en-US" altLang="zh-CN" sz="1400" dirty="0"/>
          </a:p>
          <a:p>
            <a:pPr lvl="2">
              <a:lnSpc>
                <a:spcPts val="2800"/>
              </a:lnSpc>
            </a:pPr>
            <a:r>
              <a:rPr lang="en-US" altLang="zh-CN" sz="1400" dirty="0"/>
              <a:t>{</a:t>
            </a:r>
            <a:endParaRPr lang="en-US" altLang="zh-CN" sz="1400" dirty="0"/>
          </a:p>
          <a:p>
            <a:pPr lvl="2">
              <a:lnSpc>
                <a:spcPts val="2800"/>
              </a:lnSpc>
            </a:pPr>
            <a:r>
              <a:rPr lang="en-US" altLang="zh-CN" sz="1400" dirty="0"/>
              <a:t>        if (n&lt;=1) </a:t>
            </a:r>
            <a:endParaRPr lang="en-US" altLang="zh-CN" sz="1400" dirty="0"/>
          </a:p>
          <a:p>
            <a:pPr lvl="2">
              <a:lnSpc>
                <a:spcPts val="2800"/>
              </a:lnSpc>
            </a:pPr>
            <a:r>
              <a:rPr lang="en-US" altLang="zh-CN" sz="1400" dirty="0"/>
              <a:t>                return ;</a:t>
            </a:r>
            <a:endParaRPr lang="en-US" altLang="zh-CN" sz="1400" dirty="0"/>
          </a:p>
          <a:p>
            <a:pPr lvl="2">
              <a:lnSpc>
                <a:spcPts val="2800"/>
              </a:lnSpc>
            </a:pPr>
            <a:r>
              <a:rPr lang="en-US" altLang="zh-CN" sz="1400" dirty="0"/>
              <a:t>        m=2*n-1; </a:t>
            </a:r>
            <a:endParaRPr lang="en-US" altLang="zh-CN" sz="1400" dirty="0"/>
          </a:p>
          <a:p>
            <a:pPr lvl="2">
              <a:lnSpc>
                <a:spcPts val="2800"/>
              </a:lnSpc>
            </a:pPr>
            <a:r>
              <a:rPr lang="en-US" altLang="zh-CN" sz="1400" dirty="0"/>
              <a:t>        </a:t>
            </a:r>
            <a:r>
              <a:rPr lang="en-US" altLang="zh-CN" sz="1400" dirty="0" err="1"/>
              <a:t>ht</a:t>
            </a:r>
            <a:r>
              <a:rPr lang="en-US" altLang="zh-CN" sz="1400" dirty="0"/>
              <a:t>=(</a:t>
            </a:r>
            <a:r>
              <a:rPr lang="en-US" altLang="zh-CN" sz="1400" dirty="0" err="1"/>
              <a:t>HuffmanTree</a:t>
            </a:r>
            <a:r>
              <a:rPr lang="en-US" altLang="zh-CN" sz="1400" dirty="0"/>
              <a:t>)</a:t>
            </a:r>
            <a:r>
              <a:rPr lang="en-US" altLang="zh-CN" sz="1400" dirty="0" err="1"/>
              <a:t>malloc</a:t>
            </a:r>
            <a:r>
              <a:rPr lang="en-US" altLang="zh-CN" sz="1400" dirty="0"/>
              <a:t>((m+1)*</a:t>
            </a:r>
            <a:r>
              <a:rPr lang="en-US" altLang="zh-CN" sz="1400" dirty="0" err="1"/>
              <a:t>sizeof</a:t>
            </a:r>
            <a:r>
              <a:rPr lang="en-US" altLang="zh-CN" sz="1400" dirty="0"/>
              <a:t>(</a:t>
            </a:r>
            <a:r>
              <a:rPr lang="en-US" altLang="zh-CN" sz="1400" dirty="0" err="1"/>
              <a:t>HTNode</a:t>
            </a:r>
            <a:r>
              <a:rPr lang="en-US" altLang="zh-CN" sz="1400" dirty="0"/>
              <a:t>)); //0</a:t>
            </a:r>
            <a:r>
              <a:rPr lang="zh-CN" altLang="en-US" sz="1400" dirty="0"/>
              <a:t>号单元未使用</a:t>
            </a:r>
            <a:endParaRPr lang="en-US" altLang="zh-CN" sz="1400" dirty="0"/>
          </a:p>
          <a:p>
            <a:pPr lvl="2">
              <a:lnSpc>
                <a:spcPts val="2800"/>
              </a:lnSpc>
            </a:pPr>
            <a:r>
              <a:rPr lang="en-US" altLang="zh-CN" sz="1400" dirty="0"/>
              <a:t>        for(</a:t>
            </a:r>
            <a:r>
              <a:rPr lang="en-US" altLang="zh-CN" sz="1400" dirty="0" err="1"/>
              <a:t>i</a:t>
            </a:r>
            <a:r>
              <a:rPr lang="en-US" altLang="zh-CN" sz="1400" dirty="0"/>
              <a:t>=1; </a:t>
            </a:r>
            <a:r>
              <a:rPr lang="en-US" altLang="zh-CN" sz="1400" dirty="0" err="1"/>
              <a:t>i</a:t>
            </a:r>
            <a:r>
              <a:rPr lang="en-US" altLang="zh-CN" sz="1400" dirty="0"/>
              <a:t>&lt;=n; ++</a:t>
            </a:r>
            <a:r>
              <a:rPr lang="en-US" altLang="zh-CN" sz="1400" dirty="0" err="1"/>
              <a:t>i</a:t>
            </a:r>
            <a:r>
              <a:rPr lang="en-US" altLang="zh-CN" sz="1400" dirty="0"/>
              <a:t>) </a:t>
            </a:r>
            <a:r>
              <a:rPr lang="en-US" altLang="zh-CN" sz="1400" dirty="0" err="1"/>
              <a:t>ht</a:t>
            </a:r>
            <a:r>
              <a:rPr lang="en-US" altLang="zh-CN" sz="1400" dirty="0"/>
              <a:t>[</a:t>
            </a:r>
            <a:r>
              <a:rPr lang="en-US" altLang="zh-CN" sz="1400" dirty="0" err="1"/>
              <a:t>i</a:t>
            </a:r>
            <a:r>
              <a:rPr lang="en-US" altLang="zh-CN" sz="1400" dirty="0"/>
              <a:t>]={w[</a:t>
            </a:r>
            <a:r>
              <a:rPr lang="en-US" altLang="zh-CN" sz="1400" dirty="0" err="1"/>
              <a:t>i</a:t>
            </a:r>
            <a:r>
              <a:rPr lang="en-US" altLang="zh-CN" sz="1400" dirty="0"/>
              <a:t>], 0, 0, 0};  //</a:t>
            </a:r>
            <a:r>
              <a:rPr lang="zh-CN" altLang="en-US" sz="1400" dirty="0"/>
              <a:t>叶子结点初始化</a:t>
            </a:r>
            <a:endParaRPr lang="en-US" altLang="zh-CN" sz="1400" dirty="0"/>
          </a:p>
          <a:p>
            <a:pPr lvl="2">
              <a:lnSpc>
                <a:spcPts val="2800"/>
              </a:lnSpc>
            </a:pPr>
            <a:r>
              <a:rPr lang="en-US" altLang="zh-CN" sz="1400" dirty="0"/>
              <a:t>        for(</a:t>
            </a:r>
            <a:r>
              <a:rPr lang="en-US" altLang="zh-CN" sz="1400" dirty="0" err="1"/>
              <a:t>i</a:t>
            </a:r>
            <a:r>
              <a:rPr lang="en-US" altLang="zh-CN" sz="1400" dirty="0"/>
              <a:t>=n+1; </a:t>
            </a:r>
            <a:r>
              <a:rPr lang="en-US" altLang="zh-CN" sz="1400" dirty="0" err="1"/>
              <a:t>i</a:t>
            </a:r>
            <a:r>
              <a:rPr lang="en-US" altLang="zh-CN" sz="1400" dirty="0"/>
              <a:t>&lt;=m; </a:t>
            </a:r>
            <a:r>
              <a:rPr lang="en-US" altLang="zh-CN" sz="1400" dirty="0" err="1"/>
              <a:t>i</a:t>
            </a:r>
            <a:r>
              <a:rPr lang="en-US" altLang="zh-CN" sz="1400" dirty="0"/>
              <a:t>++) </a:t>
            </a:r>
            <a:r>
              <a:rPr lang="en-US" altLang="zh-CN" sz="1400" dirty="0" err="1"/>
              <a:t>ht</a:t>
            </a:r>
            <a:r>
              <a:rPr lang="en-US" altLang="zh-CN" sz="1400" dirty="0"/>
              <a:t>[</a:t>
            </a:r>
            <a:r>
              <a:rPr lang="en-US" altLang="zh-CN" sz="1400" dirty="0" err="1"/>
              <a:t>i</a:t>
            </a:r>
            <a:r>
              <a:rPr lang="en-US" altLang="zh-CN" sz="1400" dirty="0"/>
              <a:t>]</a:t>
            </a:r>
            <a:r>
              <a:rPr lang="zh-CN" altLang="en-US" sz="1400" dirty="0"/>
              <a:t> </a:t>
            </a:r>
            <a:r>
              <a:rPr lang="en-US" altLang="zh-CN" sz="1400" dirty="0"/>
              <a:t>={0, 0, 0, 0}; //</a:t>
            </a:r>
            <a:r>
              <a:rPr lang="zh-CN" altLang="en-US" sz="1400" dirty="0"/>
              <a:t>非叶子结点初始化</a:t>
            </a:r>
            <a:endParaRPr lang="en-US" altLang="zh-CN" sz="1400"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en-US" altLang="zh-CN" dirty="0">
                <a:solidFill>
                  <a:srgbClr val="FF0000"/>
                </a:solidFill>
              </a:rPr>
              <a:t>//</a:t>
            </a:r>
            <a:r>
              <a:rPr lang="zh-CN" altLang="en-US" dirty="0">
                <a:solidFill>
                  <a:srgbClr val="FF0000"/>
                </a:solidFill>
              </a:rPr>
              <a:t>创建非叶子结点</a:t>
            </a:r>
            <a:r>
              <a:rPr lang="en-US" altLang="zh-CN" dirty="0">
                <a:solidFill>
                  <a:srgbClr val="FF0000"/>
                </a:solidFill>
              </a:rPr>
              <a:t>, </a:t>
            </a:r>
            <a:r>
              <a:rPr lang="zh-CN" altLang="en-US" dirty="0">
                <a:solidFill>
                  <a:srgbClr val="FF0000"/>
                </a:solidFill>
              </a:rPr>
              <a:t>构建赫夫曼树</a:t>
            </a:r>
            <a:endParaRPr lang="en-US" altLang="zh-CN" dirty="0">
              <a:solidFill>
                <a:srgbClr val="FF0000"/>
              </a:solidFill>
            </a:endParaRPr>
          </a:p>
          <a:p>
            <a:pPr lvl="2"/>
            <a:r>
              <a:rPr lang="en-US" altLang="zh-CN" dirty="0"/>
              <a:t>for(</a:t>
            </a:r>
            <a:r>
              <a:rPr lang="en-US" altLang="zh-CN" dirty="0" err="1"/>
              <a:t>i</a:t>
            </a:r>
            <a:r>
              <a:rPr lang="en-US" altLang="zh-CN" dirty="0"/>
              <a:t>=n+1; </a:t>
            </a:r>
            <a:r>
              <a:rPr lang="en-US" altLang="zh-CN" dirty="0" err="1"/>
              <a:t>i</a:t>
            </a:r>
            <a:r>
              <a:rPr lang="en-US" altLang="zh-CN" dirty="0"/>
              <a:t>&lt;=m; </a:t>
            </a:r>
            <a:r>
              <a:rPr lang="en-US" altLang="zh-CN" dirty="0" err="1"/>
              <a:t>i</a:t>
            </a:r>
            <a:r>
              <a:rPr lang="en-US" altLang="zh-CN" dirty="0"/>
              <a:t>++) </a:t>
            </a:r>
            <a:endParaRPr lang="en-US" altLang="zh-CN" dirty="0"/>
          </a:p>
          <a:p>
            <a:pPr lvl="2"/>
            <a:r>
              <a:rPr lang="en-US" altLang="zh-CN" dirty="0"/>
              <a:t>{     </a:t>
            </a:r>
            <a:endParaRPr lang="en-US" altLang="zh-CN" dirty="0"/>
          </a:p>
          <a:p>
            <a:pPr lvl="2"/>
            <a:r>
              <a:rPr lang="en-US" altLang="zh-CN" dirty="0"/>
              <a:t>      select(</a:t>
            </a:r>
            <a:r>
              <a:rPr lang="en-US" altLang="zh-CN" dirty="0" err="1"/>
              <a:t>ht</a:t>
            </a:r>
            <a:r>
              <a:rPr lang="en-US" altLang="zh-CN" dirty="0"/>
              <a:t>, i-1, s1, s2);  </a:t>
            </a:r>
            <a:endParaRPr lang="en-US" altLang="zh-CN" dirty="0"/>
          </a:p>
          <a:p>
            <a:pPr lvl="2"/>
            <a:r>
              <a:rPr lang="en-US" altLang="zh-CN" dirty="0"/>
              <a:t>      </a:t>
            </a:r>
            <a:r>
              <a:rPr lang="en-US" altLang="zh-CN" dirty="0" err="1"/>
              <a:t>ht</a:t>
            </a:r>
            <a:r>
              <a:rPr lang="en-US" altLang="zh-CN" dirty="0"/>
              <a:t>[s1].parent=</a:t>
            </a:r>
            <a:r>
              <a:rPr lang="en-US" altLang="zh-CN" dirty="0" err="1"/>
              <a:t>i</a:t>
            </a:r>
            <a:r>
              <a:rPr lang="en-US" altLang="zh-CN" dirty="0"/>
              <a:t>; </a:t>
            </a:r>
            <a:r>
              <a:rPr lang="zh-CN" altLang="en-US" dirty="0"/>
              <a:t>　</a:t>
            </a:r>
            <a:r>
              <a:rPr lang="en-US" altLang="zh-CN" dirty="0" err="1"/>
              <a:t>ht</a:t>
            </a:r>
            <a:r>
              <a:rPr lang="en-US" altLang="zh-CN" dirty="0"/>
              <a:t>[s2].parent=</a:t>
            </a:r>
            <a:r>
              <a:rPr lang="en-US" altLang="zh-CN" dirty="0" err="1"/>
              <a:t>i</a:t>
            </a:r>
            <a:r>
              <a:rPr lang="en-US" altLang="zh-CN" dirty="0"/>
              <a:t>; </a:t>
            </a:r>
            <a:endParaRPr lang="en-US" altLang="zh-CN" dirty="0"/>
          </a:p>
          <a:p>
            <a:pPr lvl="2"/>
            <a:r>
              <a:rPr lang="en-US" altLang="zh-CN" dirty="0"/>
              <a:t>      </a:t>
            </a:r>
            <a:r>
              <a:rPr lang="en-US" altLang="zh-CN" dirty="0" err="1"/>
              <a:t>ht</a:t>
            </a:r>
            <a:r>
              <a:rPr lang="en-US" altLang="zh-CN" dirty="0"/>
              <a:t>[</a:t>
            </a:r>
            <a:r>
              <a:rPr lang="en-US" altLang="zh-CN" dirty="0" err="1"/>
              <a:t>i</a:t>
            </a:r>
            <a:r>
              <a:rPr lang="en-US" altLang="zh-CN" dirty="0"/>
              <a:t>].</a:t>
            </a:r>
            <a:r>
              <a:rPr lang="en-US" altLang="zh-CN" dirty="0" err="1"/>
              <a:t>LChild</a:t>
            </a:r>
            <a:r>
              <a:rPr lang="en-US" altLang="zh-CN" dirty="0"/>
              <a:t>=s1; </a:t>
            </a:r>
            <a:r>
              <a:rPr lang="zh-CN" altLang="en-US" dirty="0"/>
              <a:t>　</a:t>
            </a:r>
            <a:r>
              <a:rPr lang="en-US" altLang="zh-CN" dirty="0" err="1"/>
              <a:t>ht</a:t>
            </a:r>
            <a:r>
              <a:rPr lang="en-US" altLang="zh-CN" dirty="0"/>
              <a:t>[</a:t>
            </a:r>
            <a:r>
              <a:rPr lang="en-US" altLang="zh-CN" dirty="0" err="1"/>
              <a:t>i</a:t>
            </a:r>
            <a:r>
              <a:rPr lang="en-US" altLang="zh-CN" dirty="0"/>
              <a:t>].</a:t>
            </a:r>
            <a:r>
              <a:rPr lang="en-US" altLang="zh-CN" dirty="0" err="1"/>
              <a:t>RChild</a:t>
            </a:r>
            <a:r>
              <a:rPr lang="en-US" altLang="zh-CN" dirty="0"/>
              <a:t>=s2; </a:t>
            </a:r>
            <a:endParaRPr lang="en-US" altLang="zh-CN" dirty="0"/>
          </a:p>
          <a:p>
            <a:pPr lvl="2"/>
            <a:r>
              <a:rPr lang="en-US" altLang="zh-CN" dirty="0"/>
              <a:t>      </a:t>
            </a:r>
            <a:r>
              <a:rPr lang="en-US" altLang="zh-CN" dirty="0" err="1"/>
              <a:t>ht</a:t>
            </a:r>
            <a:r>
              <a:rPr lang="en-US" altLang="zh-CN" dirty="0"/>
              <a:t>[</a:t>
            </a:r>
            <a:r>
              <a:rPr lang="en-US" altLang="zh-CN" dirty="0" err="1"/>
              <a:t>i</a:t>
            </a:r>
            <a:r>
              <a:rPr lang="en-US" altLang="zh-CN" dirty="0"/>
              <a:t>].weight=</a:t>
            </a:r>
            <a:r>
              <a:rPr lang="en-US" altLang="zh-CN" dirty="0" err="1"/>
              <a:t>ht</a:t>
            </a:r>
            <a:r>
              <a:rPr lang="en-US" altLang="zh-CN" dirty="0"/>
              <a:t>[s1].</a:t>
            </a:r>
            <a:r>
              <a:rPr lang="en-US" altLang="zh-CN" dirty="0" err="1"/>
              <a:t>weight+ht</a:t>
            </a:r>
            <a:r>
              <a:rPr lang="en-US" altLang="zh-CN" dirty="0"/>
              <a:t>[s2].weight;</a:t>
            </a:r>
            <a:endParaRPr lang="en-US" altLang="zh-CN" dirty="0"/>
          </a:p>
          <a:p>
            <a:pPr lvl="2"/>
            <a:r>
              <a:rPr lang="en-US" altLang="zh-CN" dirty="0"/>
              <a:t>  }  /*</a:t>
            </a:r>
            <a:r>
              <a:rPr lang="zh-CN" altLang="en-US" dirty="0"/>
              <a:t>赫夫曼树建立完毕*</a:t>
            </a:r>
            <a:r>
              <a:rPr lang="en-US" altLang="zh-CN" dirty="0"/>
              <a:t>/</a:t>
            </a:r>
            <a:endParaRPr lang="zh-CN" altLang="en-US" dirty="0"/>
          </a:p>
          <a:p>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400"/>
              </a:lnSpc>
            </a:pPr>
            <a:r>
              <a:rPr lang="en-US" altLang="zh-CN" sz="1400" dirty="0"/>
              <a:t>//</a:t>
            </a:r>
            <a:r>
              <a:rPr lang="zh-CN" altLang="en-US" sz="1400" dirty="0"/>
              <a:t>实现从叶子结点到根结点逆向求每个叶子结点的赫夫曼编码</a:t>
            </a:r>
            <a:endParaRPr lang="en-US" altLang="zh-CN" sz="1400" dirty="0"/>
          </a:p>
          <a:p>
            <a:pPr lvl="2">
              <a:lnSpc>
                <a:spcPts val="2400"/>
              </a:lnSpc>
            </a:pPr>
            <a:r>
              <a:rPr lang="en-US" altLang="zh-CN" sz="1400" dirty="0"/>
              <a:t>      </a:t>
            </a:r>
            <a:r>
              <a:rPr lang="en-US" altLang="zh-CN" sz="1400" dirty="0" err="1"/>
              <a:t>hc</a:t>
            </a:r>
            <a:r>
              <a:rPr lang="en-US" altLang="zh-CN" sz="1400" dirty="0"/>
              <a:t>=(</a:t>
            </a:r>
            <a:r>
              <a:rPr lang="en-US" altLang="zh-CN" sz="1400" dirty="0" err="1"/>
              <a:t>HuffmanCode</a:t>
            </a:r>
            <a:r>
              <a:rPr lang="en-US" altLang="zh-CN" sz="1400" dirty="0"/>
              <a:t>)</a:t>
            </a:r>
            <a:r>
              <a:rPr lang="en-US" altLang="zh-CN" sz="1400" dirty="0" err="1"/>
              <a:t>malloc</a:t>
            </a:r>
            <a:r>
              <a:rPr lang="en-US" altLang="zh-CN" sz="1400" dirty="0"/>
              <a:t>((n+1)*</a:t>
            </a:r>
            <a:r>
              <a:rPr lang="en-US" altLang="zh-CN" sz="1400" dirty="0" err="1"/>
              <a:t>sizeof</a:t>
            </a:r>
            <a:r>
              <a:rPr lang="en-US" altLang="zh-CN" sz="1400" dirty="0"/>
              <a:t>(char *)); </a:t>
            </a:r>
            <a:endParaRPr lang="en-US" altLang="zh-CN" sz="1400" dirty="0"/>
          </a:p>
          <a:p>
            <a:pPr lvl="2">
              <a:lnSpc>
                <a:spcPts val="2400"/>
              </a:lnSpc>
            </a:pPr>
            <a:r>
              <a:rPr lang="en-US" altLang="zh-CN" sz="1400" dirty="0"/>
              <a:t>      cd=(char * )</a:t>
            </a:r>
            <a:r>
              <a:rPr lang="en-US" altLang="zh-CN" sz="1400" dirty="0" err="1"/>
              <a:t>malloc</a:t>
            </a:r>
            <a:r>
              <a:rPr lang="en-US" altLang="zh-CN" sz="1400" dirty="0"/>
              <a:t>(n*</a:t>
            </a:r>
            <a:r>
              <a:rPr lang="en-US" altLang="zh-CN" sz="1400" dirty="0" err="1"/>
              <a:t>sizeof</a:t>
            </a:r>
            <a:r>
              <a:rPr lang="en-US" altLang="zh-CN" sz="1400" dirty="0"/>
              <a:t>(char ));</a:t>
            </a:r>
            <a:endParaRPr lang="en-US" altLang="zh-CN" sz="1400" dirty="0"/>
          </a:p>
          <a:p>
            <a:pPr lvl="2">
              <a:lnSpc>
                <a:spcPts val="2400"/>
              </a:lnSpc>
            </a:pPr>
            <a:r>
              <a:rPr lang="en-US" altLang="zh-CN" sz="1400" dirty="0"/>
              <a:t>      cd</a:t>
            </a:r>
            <a:r>
              <a:rPr lang="zh-CN" altLang="en-US" sz="1400" dirty="0"/>
              <a:t>［</a:t>
            </a:r>
            <a:r>
              <a:rPr lang="en-US" altLang="zh-CN" sz="1400" dirty="0"/>
              <a:t>n-1</a:t>
            </a:r>
            <a:r>
              <a:rPr lang="zh-CN" altLang="en-US" sz="1400" dirty="0"/>
              <a:t>］＝</a:t>
            </a:r>
            <a:r>
              <a:rPr lang="en-US" altLang="zh-CN" sz="1400" dirty="0"/>
              <a:t>′\0′</a:t>
            </a:r>
            <a:r>
              <a:rPr lang="zh-CN" altLang="en-US" sz="1400" dirty="0"/>
              <a:t>；</a:t>
            </a:r>
            <a:endParaRPr lang="en-US" altLang="zh-CN" sz="1400" dirty="0"/>
          </a:p>
          <a:p>
            <a:pPr lvl="2" fontAlgn="base">
              <a:lnSpc>
                <a:spcPts val="2400"/>
              </a:lnSpc>
            </a:pPr>
            <a:r>
              <a:rPr lang="en-US" altLang="zh-CN" sz="1400" dirty="0"/>
              <a:t>      for(</a:t>
            </a:r>
            <a:r>
              <a:rPr lang="en-US" altLang="zh-CN" sz="1400" dirty="0" err="1"/>
              <a:t>i</a:t>
            </a:r>
            <a:r>
              <a:rPr lang="en-US" altLang="zh-CN" sz="1400" dirty="0"/>
              <a:t>=1; </a:t>
            </a:r>
            <a:r>
              <a:rPr lang="en-US" altLang="zh-CN" sz="1400" dirty="0" err="1"/>
              <a:t>i</a:t>
            </a:r>
            <a:r>
              <a:rPr lang="en-US" altLang="zh-CN" sz="1400" dirty="0"/>
              <a:t>&lt;=n; </a:t>
            </a:r>
            <a:r>
              <a:rPr lang="en-US" altLang="zh-CN" sz="1400" dirty="0" err="1"/>
              <a:t>i</a:t>
            </a:r>
            <a:r>
              <a:rPr lang="en-US" altLang="zh-CN" sz="1400" dirty="0"/>
              <a:t>++) { </a:t>
            </a:r>
            <a:endParaRPr lang="en-US" altLang="zh-CN" sz="1400" dirty="0"/>
          </a:p>
          <a:p>
            <a:pPr lvl="2">
              <a:lnSpc>
                <a:spcPts val="2400"/>
              </a:lnSpc>
            </a:pPr>
            <a:r>
              <a:rPr lang="en-US" altLang="zh-CN" sz="1800" dirty="0"/>
              <a:t>	</a:t>
            </a:r>
            <a:r>
              <a:rPr lang="en-US" altLang="zh-CN" sz="1400" dirty="0"/>
              <a:t>start =n-1; //</a:t>
            </a:r>
            <a:r>
              <a:rPr lang="zh-CN" altLang="en-US" sz="1400" dirty="0"/>
              <a:t>初始化编码起始下标</a:t>
            </a:r>
            <a:endParaRPr lang="en-US" altLang="zh-CN" sz="1400" dirty="0"/>
          </a:p>
          <a:p>
            <a:pPr lvl="2">
              <a:lnSpc>
                <a:spcPts val="2400"/>
              </a:lnSpc>
            </a:pPr>
            <a:r>
              <a:rPr lang="en-US" altLang="zh-CN" sz="1400" dirty="0"/>
              <a:t>	for(c=</a:t>
            </a:r>
            <a:r>
              <a:rPr lang="en-US" altLang="zh-CN" sz="1400" dirty="0" err="1"/>
              <a:t>i</a:t>
            </a:r>
            <a:r>
              <a:rPr lang="en-US" altLang="zh-CN" sz="1400" dirty="0"/>
              <a:t>, f=</a:t>
            </a:r>
            <a:r>
              <a:rPr lang="en-US" altLang="zh-CN" sz="1400" dirty="0" err="1"/>
              <a:t>ht</a:t>
            </a:r>
            <a:r>
              <a:rPr lang="en-US" altLang="zh-CN" sz="1400" dirty="0"/>
              <a:t>[</a:t>
            </a:r>
            <a:r>
              <a:rPr lang="en-US" altLang="zh-CN" sz="1400" dirty="0" err="1"/>
              <a:t>i</a:t>
            </a:r>
            <a:r>
              <a:rPr lang="en-US" altLang="zh-CN" sz="1400" dirty="0"/>
              <a:t>].parent; f! =0;  c=f, f=</a:t>
            </a:r>
            <a:r>
              <a:rPr lang="en-US" altLang="zh-CN" sz="1400" dirty="0" err="1"/>
              <a:t>ht</a:t>
            </a:r>
            <a:r>
              <a:rPr lang="en-US" altLang="zh-CN" sz="1400" dirty="0"/>
              <a:t>[f].parent) </a:t>
            </a:r>
            <a:endParaRPr lang="en-US" altLang="zh-CN" sz="1400" dirty="0"/>
          </a:p>
          <a:p>
            <a:pPr lvl="2">
              <a:lnSpc>
                <a:spcPts val="2400"/>
              </a:lnSpc>
            </a:pPr>
            <a:r>
              <a:rPr lang="en-US" altLang="zh-CN" sz="1400" dirty="0"/>
              <a:t>	        if(</a:t>
            </a:r>
            <a:r>
              <a:rPr lang="en-US" altLang="zh-CN" sz="1400" dirty="0" err="1"/>
              <a:t>ht</a:t>
            </a:r>
            <a:r>
              <a:rPr lang="en-US" altLang="zh-CN" sz="1400" dirty="0"/>
              <a:t>[f].</a:t>
            </a:r>
            <a:r>
              <a:rPr lang="en-US" altLang="zh-CN" sz="1400" dirty="0" err="1"/>
              <a:t>LChild</a:t>
            </a:r>
            <a:r>
              <a:rPr lang="en-US" altLang="zh-CN" sz="1400" dirty="0"/>
              <a:t>= =c) cd[--start]=′0′; //</a:t>
            </a:r>
            <a:r>
              <a:rPr lang="zh-CN" altLang="en-US" sz="1400" dirty="0"/>
              <a:t>左分支标</a:t>
            </a:r>
            <a:r>
              <a:rPr lang="en-US" altLang="zh-CN" sz="1400" dirty="0"/>
              <a:t>0</a:t>
            </a:r>
            <a:endParaRPr lang="en-US" altLang="zh-CN" sz="1400" dirty="0"/>
          </a:p>
          <a:p>
            <a:pPr lvl="2">
              <a:lnSpc>
                <a:spcPts val="2400"/>
              </a:lnSpc>
            </a:pPr>
            <a:r>
              <a:rPr lang="en-US" altLang="zh-CN" sz="1400" dirty="0"/>
              <a:t>                    else cd[--start]=′1′;   //</a:t>
            </a:r>
            <a:r>
              <a:rPr lang="zh-CN" altLang="en-US" sz="1400" dirty="0"/>
              <a:t>右分支标</a:t>
            </a:r>
            <a:r>
              <a:rPr lang="en-US" altLang="zh-CN" sz="1400" dirty="0"/>
              <a:t>1</a:t>
            </a:r>
            <a:endParaRPr lang="en-US" altLang="zh-CN" sz="1400" dirty="0"/>
          </a:p>
          <a:p>
            <a:pPr lvl="2">
              <a:lnSpc>
                <a:spcPts val="2400"/>
              </a:lnSpc>
            </a:pPr>
            <a:r>
              <a:rPr lang="en-US" altLang="zh-CN" sz="1400" dirty="0"/>
              <a:t>            </a:t>
            </a:r>
            <a:r>
              <a:rPr lang="en-US" altLang="zh-CN" sz="1400" dirty="0" err="1"/>
              <a:t>hc</a:t>
            </a:r>
            <a:r>
              <a:rPr lang="en-US" altLang="zh-CN" sz="1400" dirty="0"/>
              <a:t>[</a:t>
            </a:r>
            <a:r>
              <a:rPr lang="en-US" altLang="zh-CN" sz="1400" dirty="0" err="1"/>
              <a:t>i</a:t>
            </a:r>
            <a:r>
              <a:rPr lang="en-US" altLang="zh-CN" sz="1400" dirty="0"/>
              <a:t>]=(char *)</a:t>
            </a:r>
            <a:r>
              <a:rPr lang="en-US" altLang="zh-CN" sz="1400" dirty="0" err="1"/>
              <a:t>malloc</a:t>
            </a:r>
            <a:r>
              <a:rPr lang="en-US" altLang="zh-CN" sz="1400" dirty="0"/>
              <a:t>((n-start)*</a:t>
            </a:r>
            <a:r>
              <a:rPr lang="en-US" altLang="zh-CN" sz="1400" dirty="0" err="1"/>
              <a:t>sizeof</a:t>
            </a:r>
            <a:r>
              <a:rPr lang="en-US" altLang="zh-CN" sz="1400" dirty="0"/>
              <a:t>(char)); </a:t>
            </a:r>
            <a:endParaRPr lang="en-US" altLang="zh-CN" sz="1400" dirty="0"/>
          </a:p>
          <a:p>
            <a:pPr lvl="2">
              <a:lnSpc>
                <a:spcPts val="2400"/>
              </a:lnSpc>
            </a:pPr>
            <a:r>
              <a:rPr lang="en-US" altLang="zh-CN" sz="1400" dirty="0"/>
              <a:t>                </a:t>
            </a:r>
            <a:r>
              <a:rPr lang="en-US" altLang="zh-CN" sz="1400" dirty="0" err="1"/>
              <a:t>strcpy</a:t>
            </a:r>
            <a:r>
              <a:rPr lang="en-US" altLang="zh-CN" sz="1400" dirty="0"/>
              <a:t>(</a:t>
            </a:r>
            <a:r>
              <a:rPr lang="en-US" altLang="zh-CN" sz="1400" dirty="0" err="1"/>
              <a:t>hc</a:t>
            </a:r>
            <a:r>
              <a:rPr lang="en-US" altLang="zh-CN" sz="1400" dirty="0"/>
              <a:t>[</a:t>
            </a:r>
            <a:r>
              <a:rPr lang="en-US" altLang="zh-CN" sz="1400" dirty="0" err="1"/>
              <a:t>i</a:t>
            </a:r>
            <a:r>
              <a:rPr lang="en-US" altLang="zh-CN" sz="1400" dirty="0"/>
              <a:t>], &amp;cd[start]); </a:t>
            </a:r>
            <a:endParaRPr lang="en-US" altLang="zh-CN" sz="1400" dirty="0"/>
          </a:p>
          <a:p>
            <a:pPr lvl="2">
              <a:lnSpc>
                <a:spcPts val="2400"/>
              </a:lnSpc>
            </a:pPr>
            <a:r>
              <a:rPr lang="en-US" altLang="zh-CN" sz="1400" dirty="0"/>
              <a:t>       } </a:t>
            </a:r>
            <a:endParaRPr lang="en-US" altLang="zh-CN" sz="1400" dirty="0"/>
          </a:p>
          <a:p>
            <a:pPr lvl="2">
              <a:lnSpc>
                <a:spcPts val="2400"/>
              </a:lnSpc>
            </a:pPr>
            <a:r>
              <a:rPr lang="en-US" altLang="zh-CN" sz="1400" dirty="0"/>
              <a:t>       free(cd); </a:t>
            </a:r>
            <a:endParaRPr lang="en-US" altLang="zh-CN" sz="1400" dirty="0"/>
          </a:p>
          <a:p>
            <a:pPr lvl="2">
              <a:lnSpc>
                <a:spcPts val="2400"/>
              </a:lnSpc>
            </a:pPr>
            <a:r>
              <a:rPr lang="en-US" altLang="zh-CN" sz="1400" dirty="0"/>
              <a:t>}</a:t>
            </a:r>
            <a:endParaRPr lang="en-US" altLang="zh-CN" sz="1800"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pic>
        <p:nvPicPr>
          <p:cNvPr id="4" name="内容占位符 3"/>
          <p:cNvPicPr>
            <a:picLocks noChangeAspect="1"/>
          </p:cNvPicPr>
          <p:nvPr>
            <p:ph idx="1"/>
          </p:nvPr>
        </p:nvPicPr>
        <p:blipFill>
          <a:blip r:embed="rId1"/>
          <a:srcRect l="1823" r="1370"/>
          <a:stretch>
            <a:fillRect/>
          </a:stretch>
        </p:blipFill>
        <p:spPr>
          <a:xfrm>
            <a:off x="458470" y="600075"/>
            <a:ext cx="5833745" cy="749300"/>
          </a:xfrm>
          <a:prstGeom prst="rect">
            <a:avLst/>
          </a:prstGeom>
        </p:spPr>
      </p:pic>
      <p:pic>
        <p:nvPicPr>
          <p:cNvPr id="5" name="图片 4"/>
          <p:cNvPicPr>
            <a:picLocks noChangeAspect="1"/>
          </p:cNvPicPr>
          <p:nvPr/>
        </p:nvPicPr>
        <p:blipFill>
          <a:blip r:embed="rId2"/>
          <a:stretch>
            <a:fillRect/>
          </a:stretch>
        </p:blipFill>
        <p:spPr>
          <a:xfrm>
            <a:off x="458470" y="1456690"/>
            <a:ext cx="5189220" cy="3484245"/>
          </a:xfrm>
          <a:prstGeom prst="rect">
            <a:avLst/>
          </a:prstGeom>
        </p:spPr>
      </p:pic>
      <p:pic>
        <p:nvPicPr>
          <p:cNvPr id="6" name="图片 5"/>
          <p:cNvPicPr>
            <a:picLocks noChangeAspect="1"/>
          </p:cNvPicPr>
          <p:nvPr/>
        </p:nvPicPr>
        <p:blipFill>
          <a:blip r:embed="rId3"/>
          <a:stretch>
            <a:fillRect/>
          </a:stretch>
        </p:blipFill>
        <p:spPr>
          <a:xfrm>
            <a:off x="5999480" y="1456690"/>
            <a:ext cx="2333625" cy="2676525"/>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思考题</a:t>
            </a:r>
            <a:endParaRPr lang="en-US" altLang="zh-CN" dirty="0"/>
          </a:p>
          <a:p>
            <a:pPr lvl="2"/>
            <a:r>
              <a:rPr lang="en-US" altLang="zh-CN" dirty="0"/>
              <a:t>    </a:t>
            </a:r>
            <a:r>
              <a:rPr lang="zh-CN" altLang="zh-CN" dirty="0"/>
              <a:t>为五个使用频率不同的字符设计</a:t>
            </a:r>
            <a:r>
              <a:rPr lang="zh-CN" altLang="en-US" dirty="0"/>
              <a:t>赫夫曼</a:t>
            </a:r>
            <a:r>
              <a:rPr lang="zh-CN" altLang="zh-CN" dirty="0"/>
              <a:t>编码，</a:t>
            </a:r>
            <a:r>
              <a:rPr lang="zh-CN" altLang="en-US" dirty="0"/>
              <a:t>某种编码方案</a:t>
            </a:r>
            <a:r>
              <a:rPr lang="en-US" altLang="zh-CN" dirty="0"/>
              <a:t>00</a:t>
            </a:r>
            <a:r>
              <a:rPr lang="zh-CN" altLang="en-US" dirty="0"/>
              <a:t>、</a:t>
            </a:r>
            <a:r>
              <a:rPr lang="en-US" altLang="zh-CN" dirty="0"/>
              <a:t>100</a:t>
            </a:r>
            <a:r>
              <a:rPr lang="zh-CN" altLang="en-US" dirty="0"/>
              <a:t>、</a:t>
            </a:r>
            <a:r>
              <a:rPr lang="en-US" altLang="zh-CN" dirty="0"/>
              <a:t>101</a:t>
            </a:r>
            <a:r>
              <a:rPr lang="zh-CN" altLang="en-US" dirty="0"/>
              <a:t>、</a:t>
            </a:r>
            <a:r>
              <a:rPr lang="en-US" altLang="zh-CN" dirty="0"/>
              <a:t>110</a:t>
            </a:r>
            <a:r>
              <a:rPr lang="zh-CN" altLang="en-US" dirty="0"/>
              <a:t>、</a:t>
            </a:r>
            <a:r>
              <a:rPr lang="en-US" altLang="zh-CN" dirty="0"/>
              <a:t>111</a:t>
            </a:r>
            <a:r>
              <a:rPr lang="zh-CN" altLang="en-US" dirty="0"/>
              <a:t>正确吗？</a:t>
            </a:r>
            <a:endParaRPr lang="en-US" altLang="zh-CN" dirty="0"/>
          </a:p>
          <a:p>
            <a:endParaRPr lang="en-US" altLang="zh-CN" dirty="0"/>
          </a:p>
          <a:p>
            <a:r>
              <a:rPr lang="zh-CN" altLang="en-US" dirty="0"/>
              <a:t>练习题</a:t>
            </a:r>
            <a:endParaRPr lang="en-US" altLang="zh-CN" dirty="0"/>
          </a:p>
          <a:p>
            <a:pPr lvl="2"/>
            <a:r>
              <a:rPr lang="en-US" altLang="zh-CN" dirty="0"/>
              <a:t>    </a:t>
            </a:r>
            <a:r>
              <a:rPr lang="zh-CN" altLang="en-US" dirty="0"/>
              <a:t>一段</a:t>
            </a:r>
            <a:r>
              <a:rPr lang="zh-CN" altLang="zh-CN" dirty="0"/>
              <a:t>文本</a:t>
            </a:r>
            <a:r>
              <a:rPr lang="zh-CN" altLang="en-US" dirty="0"/>
              <a:t>中的字符</a:t>
            </a:r>
            <a:r>
              <a:rPr lang="en-US" altLang="zh-CN" dirty="0"/>
              <a:t>{a</a:t>
            </a:r>
            <a:r>
              <a:rPr lang="zh-CN" altLang="zh-CN" dirty="0"/>
              <a:t>，</a:t>
            </a:r>
            <a:r>
              <a:rPr lang="en-US" altLang="zh-CN" dirty="0"/>
              <a:t>b</a:t>
            </a:r>
            <a:r>
              <a:rPr lang="zh-CN" altLang="zh-CN" dirty="0"/>
              <a:t>，</a:t>
            </a:r>
            <a:r>
              <a:rPr lang="en-US" altLang="zh-CN" dirty="0"/>
              <a:t>c</a:t>
            </a:r>
            <a:r>
              <a:rPr lang="zh-CN" altLang="zh-CN" dirty="0"/>
              <a:t>，</a:t>
            </a:r>
            <a:r>
              <a:rPr lang="en-US" altLang="zh-CN" dirty="0"/>
              <a:t>d</a:t>
            </a:r>
            <a:r>
              <a:rPr lang="zh-CN" altLang="zh-CN" dirty="0"/>
              <a:t>，</a:t>
            </a:r>
            <a:r>
              <a:rPr lang="en-US" altLang="zh-CN" dirty="0"/>
              <a:t>e}</a:t>
            </a:r>
            <a:r>
              <a:rPr lang="zh-CN" altLang="zh-CN" dirty="0"/>
              <a:t>出现次数</a:t>
            </a:r>
            <a:r>
              <a:rPr lang="zh-CN" altLang="en-US" dirty="0"/>
              <a:t>为</a:t>
            </a:r>
            <a:r>
              <a:rPr lang="en-US" altLang="zh-CN" dirty="0"/>
              <a:t>{3,2,4,2,1}</a:t>
            </a:r>
            <a:r>
              <a:rPr lang="zh-CN" altLang="zh-CN" dirty="0"/>
              <a:t>，求</a:t>
            </a:r>
            <a:r>
              <a:rPr lang="zh-CN" altLang="en-US" dirty="0"/>
              <a:t>进行赫夫曼</a:t>
            </a:r>
            <a:r>
              <a:rPr lang="zh-CN" altLang="zh-CN" dirty="0"/>
              <a:t>编码后文本所占总</a:t>
            </a:r>
            <a:r>
              <a:rPr lang="zh-CN" altLang="en-US" dirty="0"/>
              <a:t>长度？</a:t>
            </a:r>
            <a:endParaRPr lang="en-US" altLang="zh-CN" dirty="0"/>
          </a:p>
        </p:txBody>
      </p:sp>
      <p:sp>
        <p:nvSpPr>
          <p:cNvPr id="3" name="标题 2"/>
          <p:cNvSpPr>
            <a:spLocks noGrp="1"/>
          </p:cNvSpPr>
          <p:nvPr>
            <p:ph type="title"/>
          </p:nvPr>
        </p:nvSpPr>
        <p:spPr/>
        <p:txBody>
          <a:bodyPr/>
          <a:lstStyle/>
          <a:p>
            <a:r>
              <a:rPr lang="en-US" altLang="zh-CN" dirty="0"/>
              <a:t>6.5 </a:t>
            </a:r>
            <a:r>
              <a:rPr lang="zh-CN" altLang="en-US" dirty="0"/>
              <a:t>赫夫曼树及其应用</a:t>
            </a:r>
            <a:endParaRPr lang="zh-CN" alt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等价关系与等价类</a:t>
            </a:r>
            <a:endParaRPr lang="en-US" altLang="zh-CN" dirty="0"/>
          </a:p>
          <a:p>
            <a:pPr marL="478155" lvl="2" indent="-342900">
              <a:buFont typeface="Wingdings" panose="05000000000000000000" pitchFamily="2" charset="2"/>
              <a:buChar char="Ø"/>
            </a:pPr>
            <a:r>
              <a:rPr lang="zh-CN" altLang="en-US" dirty="0">
                <a:solidFill>
                  <a:srgbClr val="FF0000"/>
                </a:solidFill>
              </a:rPr>
              <a:t>等价关系</a:t>
            </a:r>
            <a:r>
              <a:rPr lang="zh-CN" altLang="en-US" dirty="0"/>
              <a:t>是集合上的一种特殊的二元关系，它同时具有</a:t>
            </a:r>
            <a:r>
              <a:rPr lang="zh-CN" altLang="en-US" dirty="0">
                <a:solidFill>
                  <a:srgbClr val="FF0000"/>
                </a:solidFill>
              </a:rPr>
              <a:t>自反性、对称性和传递性</a:t>
            </a:r>
            <a:r>
              <a:rPr lang="zh-CN" altLang="en-US" dirty="0"/>
              <a:t>。</a:t>
            </a:r>
            <a:endParaRPr lang="en-US" altLang="zh-CN" dirty="0"/>
          </a:p>
          <a:p>
            <a:pPr marL="478155" lvl="2" indent="-342900">
              <a:buFont typeface="Wingdings" panose="05000000000000000000" pitchFamily="2" charset="2"/>
              <a:buChar char="Ø"/>
            </a:pPr>
            <a:r>
              <a:rPr lang="zh-CN" altLang="en-US" dirty="0"/>
              <a:t>若</a:t>
            </a:r>
            <a:r>
              <a:rPr lang="en-US" altLang="zh-CN" dirty="0"/>
              <a:t>R</a:t>
            </a:r>
            <a:r>
              <a:rPr lang="zh-CN" altLang="en-US" dirty="0"/>
              <a:t>是集合</a:t>
            </a:r>
            <a:r>
              <a:rPr lang="en-US" altLang="zh-CN" dirty="0"/>
              <a:t>S</a:t>
            </a:r>
            <a:r>
              <a:rPr lang="zh-CN" altLang="en-US" dirty="0"/>
              <a:t>上的一个等价关系，则可以按</a:t>
            </a:r>
            <a:r>
              <a:rPr lang="en-US" altLang="zh-CN" dirty="0"/>
              <a:t>R</a:t>
            </a:r>
            <a:r>
              <a:rPr lang="zh-CN" altLang="en-US" dirty="0"/>
              <a:t>将</a:t>
            </a:r>
            <a:r>
              <a:rPr lang="en-US" altLang="zh-CN" dirty="0"/>
              <a:t>S</a:t>
            </a:r>
            <a:r>
              <a:rPr lang="zh-CN" altLang="en-US" dirty="0"/>
              <a:t>划分为若干互不相交的子集</a:t>
            </a:r>
            <a:r>
              <a:rPr lang="en-US" altLang="zh-CN" dirty="0"/>
              <a:t>S</a:t>
            </a:r>
            <a:r>
              <a:rPr lang="en-US" altLang="zh-CN" baseline="-25000" dirty="0"/>
              <a:t>1</a:t>
            </a:r>
            <a:r>
              <a:rPr lang="en-US" altLang="zh-CN" dirty="0"/>
              <a:t>,S</a:t>
            </a:r>
            <a:r>
              <a:rPr lang="en-US" altLang="zh-CN" baseline="-25000" dirty="0"/>
              <a:t>2</a:t>
            </a:r>
            <a:r>
              <a:rPr lang="en-US" altLang="zh-CN" dirty="0"/>
              <a:t>,…</a:t>
            </a:r>
            <a:r>
              <a:rPr lang="zh-CN" altLang="en-US" dirty="0"/>
              <a:t>，这些子集</a:t>
            </a:r>
            <a:r>
              <a:rPr lang="en-US" altLang="zh-CN" dirty="0"/>
              <a:t>S</a:t>
            </a:r>
            <a:r>
              <a:rPr lang="en-US" altLang="zh-CN" baseline="-25000" dirty="0"/>
              <a:t>i</a:t>
            </a:r>
            <a:r>
              <a:rPr lang="zh-CN" altLang="en-US" dirty="0"/>
              <a:t>便称为</a:t>
            </a:r>
            <a:r>
              <a:rPr lang="en-US" altLang="zh-CN" dirty="0"/>
              <a:t>S</a:t>
            </a:r>
            <a:r>
              <a:rPr lang="zh-CN" altLang="en-US" dirty="0"/>
              <a:t>的</a:t>
            </a:r>
            <a:r>
              <a:rPr lang="en-US" altLang="zh-CN" dirty="0">
                <a:solidFill>
                  <a:srgbClr val="FF0000"/>
                </a:solidFill>
              </a:rPr>
              <a:t>R</a:t>
            </a:r>
            <a:r>
              <a:rPr lang="zh-CN" altLang="en-US" dirty="0">
                <a:solidFill>
                  <a:srgbClr val="FF0000"/>
                </a:solidFill>
              </a:rPr>
              <a:t>等价类</a:t>
            </a:r>
            <a:r>
              <a:rPr lang="zh-CN" altLang="en-US" dirty="0"/>
              <a:t>。</a:t>
            </a:r>
            <a:endParaRPr lang="en-US" altLang="zh-CN" dirty="0"/>
          </a:p>
          <a:p>
            <a:pPr marL="478155" lvl="2" indent="-342900">
              <a:buFont typeface="Wingdings" panose="05000000000000000000" pitchFamily="2" charset="2"/>
              <a:buChar char="Ø"/>
            </a:pPr>
            <a:r>
              <a:rPr lang="zh-CN" altLang="en-US" dirty="0"/>
              <a:t>常用等价关系来划分某集合为等价类，选取每类的代表元素来降低问题的复杂度，如软件测试时，可利用等价类来选择测试用例。</a:t>
            </a:r>
            <a:endParaRPr lang="zh-CN" altLang="en-US"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并查集</a:t>
            </a:r>
            <a:endParaRPr lang="en-US" altLang="zh-CN" dirty="0"/>
          </a:p>
          <a:p>
            <a:pPr marL="478155" lvl="2" indent="-342900">
              <a:buFont typeface="Wingdings" panose="05000000000000000000" pitchFamily="2" charset="2"/>
              <a:buChar char="Ø"/>
              <a:defRPr/>
            </a:pPr>
            <a:r>
              <a:rPr lang="zh-CN" altLang="en-US" dirty="0"/>
              <a:t>为确定元素</a:t>
            </a:r>
            <a:r>
              <a:rPr lang="en-US" altLang="zh-CN" dirty="0"/>
              <a:t>a</a:t>
            </a:r>
            <a:r>
              <a:rPr lang="zh-CN" altLang="en-US" dirty="0"/>
              <a:t>和</a:t>
            </a:r>
            <a:r>
              <a:rPr lang="en-US" altLang="zh-CN" dirty="0"/>
              <a:t>b</a:t>
            </a:r>
            <a:r>
              <a:rPr lang="zh-CN" altLang="en-US" dirty="0"/>
              <a:t>是否具有等价关系，只需验证</a:t>
            </a:r>
            <a:r>
              <a:rPr lang="en-US" altLang="zh-CN" dirty="0"/>
              <a:t>a</a:t>
            </a:r>
            <a:r>
              <a:rPr lang="zh-CN" altLang="en-US" dirty="0"/>
              <a:t>和</a:t>
            </a:r>
            <a:r>
              <a:rPr lang="en-US" altLang="zh-CN" dirty="0"/>
              <a:t>b</a:t>
            </a:r>
            <a:r>
              <a:rPr lang="zh-CN" altLang="en-US" dirty="0"/>
              <a:t>是否都在一个等价类中。</a:t>
            </a:r>
            <a:endParaRPr lang="en-US" altLang="zh-CN" dirty="0"/>
          </a:p>
          <a:p>
            <a:pPr marL="478155" lvl="2" indent="-342900">
              <a:buFont typeface="Wingdings" panose="05000000000000000000" pitchFamily="2" charset="2"/>
              <a:buChar char="Ø"/>
              <a:defRPr/>
            </a:pPr>
            <a:r>
              <a:rPr lang="zh-CN" altLang="en-US" dirty="0"/>
              <a:t> 等价类的划分有两种运算需要进行：</a:t>
            </a:r>
            <a:endParaRPr lang="en-US" altLang="zh-CN" dirty="0"/>
          </a:p>
          <a:p>
            <a:pPr marL="478155" lvl="2" indent="-342900" fontAlgn="base">
              <a:spcAft>
                <a:spcPct val="0"/>
              </a:spcAft>
              <a:buFont typeface="Wingdings" panose="05000000000000000000" pitchFamily="2" charset="2"/>
              <a:buChar char="p"/>
              <a:defRPr/>
            </a:pPr>
            <a:r>
              <a:rPr lang="zh-CN" altLang="en-US" sz="2300" dirty="0">
                <a:solidFill>
                  <a:srgbClr val="800000"/>
                </a:solidFill>
              </a:rPr>
              <a:t> </a:t>
            </a:r>
            <a:r>
              <a:rPr lang="en-US" altLang="zh-CN" dirty="0"/>
              <a:t>Find</a:t>
            </a:r>
            <a:r>
              <a:rPr lang="zh-CN" altLang="en-US" dirty="0"/>
              <a:t>，查找给定元素所在的等价类名字；</a:t>
            </a:r>
            <a:endParaRPr lang="en-US" altLang="zh-CN" dirty="0"/>
          </a:p>
          <a:p>
            <a:pPr marL="478155" lvl="2" indent="-342900" fontAlgn="base">
              <a:spcAft>
                <a:spcPct val="0"/>
              </a:spcAft>
              <a:buFont typeface="Wingdings" panose="05000000000000000000" pitchFamily="2" charset="2"/>
              <a:buChar char="p"/>
              <a:defRPr/>
            </a:pPr>
            <a:r>
              <a:rPr lang="zh-CN" altLang="en-US" dirty="0"/>
              <a:t> </a:t>
            </a:r>
            <a:r>
              <a:rPr lang="en-US" altLang="zh-CN" dirty="0"/>
              <a:t>Union</a:t>
            </a:r>
            <a:r>
              <a:rPr lang="zh-CN" altLang="en-US" dirty="0"/>
              <a:t>，如果</a:t>
            </a:r>
            <a:r>
              <a:rPr lang="en-US" altLang="zh-CN" dirty="0"/>
              <a:t>a</a:t>
            </a:r>
            <a:r>
              <a:rPr lang="zh-CN" altLang="en-US" dirty="0"/>
              <a:t>和</a:t>
            </a:r>
            <a:r>
              <a:rPr lang="en-US" altLang="zh-CN" dirty="0"/>
              <a:t>b</a:t>
            </a:r>
            <a:r>
              <a:rPr lang="zh-CN" altLang="en-US" dirty="0"/>
              <a:t>具有等价关系，但是不在一个等价类中，需要用</a:t>
            </a:r>
            <a:r>
              <a:rPr lang="en-US" altLang="zh-CN" dirty="0"/>
              <a:t>Union</a:t>
            </a:r>
            <a:r>
              <a:rPr lang="zh-CN" altLang="en-US" dirty="0"/>
              <a:t>运算把含有</a:t>
            </a:r>
            <a:r>
              <a:rPr lang="en-US" altLang="zh-CN" dirty="0"/>
              <a:t>a</a:t>
            </a:r>
            <a:r>
              <a:rPr lang="zh-CN" altLang="en-US" dirty="0"/>
              <a:t>和</a:t>
            </a:r>
            <a:r>
              <a:rPr lang="en-US" altLang="zh-CN" dirty="0"/>
              <a:t>b</a:t>
            </a:r>
            <a:r>
              <a:rPr lang="zh-CN" altLang="en-US" dirty="0"/>
              <a:t>的两个等价类合并成一个新的等价类。</a:t>
            </a:r>
            <a:endParaRPr lang="en-US" altLang="zh-CN" dirty="0"/>
          </a:p>
          <a:p>
            <a:pPr lvl="2">
              <a:defRPr/>
            </a:pPr>
            <a:r>
              <a:rPr lang="en-US" altLang="zh-CN" dirty="0"/>
              <a:t> </a:t>
            </a:r>
            <a:r>
              <a:rPr lang="zh-CN" altLang="en-US" dirty="0"/>
              <a:t>这意味着我们要做集合的两种运算：查找、合并。</a:t>
            </a:r>
            <a:r>
              <a:rPr lang="en-US" altLang="zh-CN" dirty="0"/>
              <a:t>    </a:t>
            </a:r>
            <a:endParaRPr lang="zh-CN" altLang="en-US"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并查集中集合如何存储</a:t>
            </a:r>
            <a:endParaRPr lang="en-US" altLang="zh-CN" dirty="0"/>
          </a:p>
          <a:p>
            <a:pPr marL="478155" lvl="2" indent="-342900">
              <a:buFont typeface="Wingdings" panose="05000000000000000000" pitchFamily="2" charset="2"/>
              <a:buChar char="p"/>
            </a:pPr>
            <a:r>
              <a:rPr lang="zh-CN" altLang="en-US" dirty="0"/>
              <a:t>可以用</a:t>
            </a:r>
            <a:r>
              <a:rPr lang="zh-CN" altLang="en-US" dirty="0">
                <a:solidFill>
                  <a:srgbClr val="FF0000"/>
                </a:solidFill>
              </a:rPr>
              <a:t>树</a:t>
            </a:r>
            <a:r>
              <a:rPr lang="zh-CN" altLang="en-US" dirty="0"/>
              <a:t>结构表示集合，树的每个结点代表一个集合元素。</a:t>
            </a:r>
            <a:endParaRPr lang="en-US" altLang="zh-CN" dirty="0"/>
          </a:p>
          <a:p>
            <a:pPr marL="478155" lvl="2" indent="-342900">
              <a:buFont typeface="Wingdings" panose="05000000000000000000" pitchFamily="2" charset="2"/>
              <a:buChar char="p"/>
            </a:pPr>
            <a:r>
              <a:rPr lang="zh-CN" altLang="en-US" dirty="0"/>
              <a:t> 树上的每一个元素都有相同的</a:t>
            </a:r>
            <a:r>
              <a:rPr lang="zh-CN" altLang="en-US" dirty="0">
                <a:solidFill>
                  <a:srgbClr val="FF0000"/>
                </a:solidFill>
              </a:rPr>
              <a:t>根</a:t>
            </a:r>
            <a:r>
              <a:rPr lang="zh-CN" altLang="en-US" dirty="0"/>
              <a:t>，用根来表示元素所在集合。 </a:t>
            </a:r>
            <a:endParaRPr lang="en-US" altLang="zh-CN" dirty="0"/>
          </a:p>
          <a:p>
            <a:pPr marL="342900" lvl="3" indent="196850" eaLnBrk="0" fontAlgn="base" hangingPunct="0">
              <a:spcBef>
                <a:spcPts val="600"/>
              </a:spcBef>
              <a:spcAft>
                <a:spcPct val="0"/>
              </a:spcAft>
              <a:buFont typeface="Wingdings" panose="05000000000000000000" pitchFamily="2" charset="2"/>
              <a:buChar char="Ø"/>
            </a:pPr>
            <a:r>
              <a:rPr lang="zh-CN" altLang="en-US" sz="1800" dirty="0">
                <a:solidFill>
                  <a:srgbClr val="00194C"/>
                </a:solidFill>
                <a:latin typeface="华文楷体" panose="02010600040101010101" pitchFamily="2" charset="-122"/>
                <a:ea typeface="华文楷体" panose="02010600040101010101" pitchFamily="2" charset="-122"/>
              </a:rPr>
              <a:t>如果</a:t>
            </a:r>
            <a:r>
              <a:rPr lang="en-US" altLang="zh-CN" sz="1800" dirty="0">
                <a:solidFill>
                  <a:srgbClr val="00194C"/>
                </a:solidFill>
                <a:latin typeface="华文楷体" panose="02010600040101010101" pitchFamily="2" charset="-122"/>
                <a:ea typeface="华文楷体" panose="02010600040101010101" pitchFamily="2" charset="-122"/>
              </a:rPr>
              <a:t>a</a:t>
            </a:r>
            <a:r>
              <a:rPr lang="zh-CN" altLang="en-US" sz="1800" dirty="0">
                <a:solidFill>
                  <a:srgbClr val="00194C"/>
                </a:solidFill>
                <a:latin typeface="华文楷体" panose="02010600040101010101" pitchFamily="2" charset="-122"/>
                <a:ea typeface="华文楷体" panose="02010600040101010101" pitchFamily="2" charset="-122"/>
              </a:rPr>
              <a:t>和</a:t>
            </a:r>
            <a:r>
              <a:rPr lang="en-US" altLang="zh-CN" sz="1800" dirty="0">
                <a:solidFill>
                  <a:srgbClr val="00194C"/>
                </a:solidFill>
                <a:latin typeface="华文楷体" panose="02010600040101010101" pitchFamily="2" charset="-122"/>
                <a:ea typeface="华文楷体" panose="02010600040101010101" pitchFamily="2" charset="-122"/>
              </a:rPr>
              <a:t>b</a:t>
            </a:r>
            <a:r>
              <a:rPr lang="zh-CN" altLang="en-US" sz="1800" dirty="0">
                <a:solidFill>
                  <a:srgbClr val="00194C"/>
                </a:solidFill>
                <a:latin typeface="华文楷体" panose="02010600040101010101" pitchFamily="2" charset="-122"/>
                <a:ea typeface="华文楷体" panose="02010600040101010101" pitchFamily="2" charset="-122"/>
              </a:rPr>
              <a:t>所在树的根相同，说明它们具有等价关系；</a:t>
            </a:r>
            <a:endParaRPr lang="en-US" altLang="zh-CN" sz="1800" dirty="0">
              <a:solidFill>
                <a:srgbClr val="00194C"/>
              </a:solidFill>
              <a:latin typeface="华文楷体" panose="02010600040101010101" pitchFamily="2" charset="-122"/>
              <a:ea typeface="华文楷体" panose="02010600040101010101" pitchFamily="2" charset="-122"/>
            </a:endParaRPr>
          </a:p>
          <a:p>
            <a:pPr marL="342900" lvl="3" indent="196850" eaLnBrk="0" fontAlgn="base" hangingPunct="0">
              <a:spcBef>
                <a:spcPts val="600"/>
              </a:spcBef>
              <a:spcAft>
                <a:spcPct val="0"/>
              </a:spcAft>
              <a:buFont typeface="Wingdings" panose="05000000000000000000" pitchFamily="2" charset="2"/>
              <a:buChar char="Ø"/>
            </a:pPr>
            <a:r>
              <a:rPr lang="zh-CN" altLang="en-US" sz="1800" dirty="0">
                <a:solidFill>
                  <a:srgbClr val="00194C"/>
                </a:solidFill>
                <a:latin typeface="华文楷体" panose="02010600040101010101" pitchFamily="2" charset="-122"/>
                <a:ea typeface="华文楷体" panose="02010600040101010101" pitchFamily="2" charset="-122"/>
              </a:rPr>
              <a:t>如果具有等价关系的</a:t>
            </a:r>
            <a:r>
              <a:rPr lang="en-US" altLang="zh-CN" sz="1800" dirty="0">
                <a:solidFill>
                  <a:srgbClr val="00194C"/>
                </a:solidFill>
                <a:latin typeface="华文楷体" panose="02010600040101010101" pitchFamily="2" charset="-122"/>
                <a:ea typeface="华文楷体" panose="02010600040101010101" pitchFamily="2" charset="-122"/>
              </a:rPr>
              <a:t>a</a:t>
            </a:r>
            <a:r>
              <a:rPr lang="zh-CN" altLang="en-US" sz="1800" dirty="0">
                <a:solidFill>
                  <a:srgbClr val="00194C"/>
                </a:solidFill>
                <a:latin typeface="华文楷体" panose="02010600040101010101" pitchFamily="2" charset="-122"/>
                <a:ea typeface="华文楷体" panose="02010600040101010101" pitchFamily="2" charset="-122"/>
              </a:rPr>
              <a:t>和</a:t>
            </a:r>
            <a:r>
              <a:rPr lang="en-US" altLang="zh-CN" sz="1800" dirty="0">
                <a:solidFill>
                  <a:srgbClr val="00194C"/>
                </a:solidFill>
                <a:latin typeface="华文楷体" panose="02010600040101010101" pitchFamily="2" charset="-122"/>
                <a:ea typeface="华文楷体" panose="02010600040101010101" pitchFamily="2" charset="-122"/>
              </a:rPr>
              <a:t>b</a:t>
            </a:r>
            <a:r>
              <a:rPr lang="zh-CN" altLang="en-US" sz="1800" dirty="0">
                <a:solidFill>
                  <a:srgbClr val="00194C"/>
                </a:solidFill>
                <a:latin typeface="华文楷体" panose="02010600040101010101" pitchFamily="2" charset="-122"/>
                <a:ea typeface="华文楷体" panose="02010600040101010101" pitchFamily="2" charset="-122"/>
              </a:rPr>
              <a:t>不在同一棵树，进行树的合并（使一棵树称为另一棵树的子树），从而完成集合合并的操作。</a:t>
            </a:r>
            <a:endParaRPr lang="en-US" altLang="zh-CN" sz="18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树：采用双亲表示法</a:t>
            </a:r>
            <a:endParaRPr lang="en-US" altLang="zh-CN"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pic>
        <p:nvPicPr>
          <p:cNvPr id="4"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276350" y="1272178"/>
            <a:ext cx="6724650" cy="145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树：采用双亲表示法</a:t>
            </a:r>
            <a:endParaRPr lang="en-US" altLang="zh-CN"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graphicFrame>
        <p:nvGraphicFramePr>
          <p:cNvPr id="5" name="表格 4"/>
          <p:cNvGraphicFramePr>
            <a:graphicFrameLocks noGrp="1"/>
          </p:cNvGraphicFramePr>
          <p:nvPr/>
        </p:nvGraphicFramePr>
        <p:xfrm>
          <a:off x="1674643" y="1132285"/>
          <a:ext cx="2430066" cy="3490916"/>
        </p:xfrm>
        <a:graphic>
          <a:graphicData uri="http://schemas.openxmlformats.org/drawingml/2006/table">
            <a:tbl>
              <a:tblPr firstRow="1" bandRow="1">
                <a:tableStyleId>{F5AB1C69-6EDB-4FF4-983F-18BD219EF322}</a:tableStyleId>
              </a:tblPr>
              <a:tblGrid>
                <a:gridCol w="810022"/>
                <a:gridCol w="810022"/>
                <a:gridCol w="810022"/>
              </a:tblGrid>
              <a:tr h="317356">
                <a:tc>
                  <a:txBody>
                    <a:bodyPr/>
                    <a:lstStyle/>
                    <a:p>
                      <a:pPr algn="r"/>
                      <a:r>
                        <a:rPr lang="zh-CN" altLang="en-US" sz="1400" dirty="0">
                          <a:solidFill>
                            <a:schemeClr val="tx1"/>
                          </a:solidFill>
                        </a:rPr>
                        <a:t>下标</a:t>
                      </a:r>
                      <a:endParaRPr lang="zh-CN" altLang="en-US" sz="1400" dirty="0">
                        <a:solidFill>
                          <a:schemeClr val="tx1"/>
                        </a:solidFill>
                      </a:endParaRPr>
                    </a:p>
                  </a:txBody>
                  <a:tcPr marL="68574" marR="68574" marT="34285" marB="3428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Data</a:t>
                      </a:r>
                      <a:endParaRPr lang="zh-CN" altLang="en-US" sz="1400" dirty="0">
                        <a:solidFill>
                          <a:schemeClr val="tx1"/>
                        </a:solidFill>
                      </a:endParaRPr>
                    </a:p>
                  </a:txBody>
                  <a:tcPr marL="68574" marR="68574" marT="34285" marB="3428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tx1"/>
                          </a:solidFill>
                        </a:rPr>
                        <a:t>Parent</a:t>
                      </a:r>
                      <a:endParaRPr lang="en-US" altLang="zh-CN" sz="1400" dirty="0">
                        <a:solidFill>
                          <a:schemeClr val="tx1"/>
                        </a:solidFill>
                      </a:endParaRPr>
                    </a:p>
                  </a:txBody>
                  <a:tcPr marL="68574" marR="68574" marT="34285" marB="3428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17356">
                <a:tc>
                  <a:txBody>
                    <a:bodyPr/>
                    <a:lstStyle/>
                    <a:p>
                      <a:pPr algn="r"/>
                      <a:r>
                        <a:rPr lang="en-US" altLang="zh-CN" sz="1400" dirty="0">
                          <a:solidFill>
                            <a:schemeClr val="tx1"/>
                          </a:solidFill>
                        </a:rPr>
                        <a:t>1</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rgbClr val="FF0000"/>
                          </a:solidFill>
                        </a:rPr>
                        <a:t>-1</a:t>
                      </a:r>
                      <a:endParaRPr lang="en-US" altLang="zh-CN" sz="1400" dirty="0">
                        <a:solidFill>
                          <a:srgbClr val="FF0000"/>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2</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3</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rgbClr val="FF0000"/>
                          </a:solidFill>
                        </a:rPr>
                        <a:t>-1</a:t>
                      </a:r>
                      <a:endParaRPr lang="zh-CN" altLang="en-US" sz="1400" dirty="0">
                        <a:solidFill>
                          <a:srgbClr val="FF0000"/>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4</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5</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3</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6</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rgbClr val="FF0000"/>
                          </a:solidFill>
                        </a:rPr>
                        <a:t>-1</a:t>
                      </a:r>
                      <a:endParaRPr lang="zh-CN" altLang="en-US" sz="1400" dirty="0">
                        <a:solidFill>
                          <a:srgbClr val="FF0000"/>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7</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8</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8</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3</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9</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17356">
                <a:tc>
                  <a:txBody>
                    <a:bodyPr/>
                    <a:lstStyle/>
                    <a:p>
                      <a:pPr algn="r"/>
                      <a:r>
                        <a:rPr lang="en-US" altLang="zh-CN" sz="1400" dirty="0">
                          <a:solidFill>
                            <a:schemeClr val="tx1"/>
                          </a:solidFill>
                        </a:rPr>
                        <a:t>10</a:t>
                      </a:r>
                      <a:endParaRPr lang="zh-CN" altLang="en-US" sz="1400" dirty="0">
                        <a:solidFill>
                          <a:schemeClr val="tx1"/>
                        </a:solidFill>
                      </a:endParaRPr>
                    </a:p>
                  </a:txBody>
                  <a:tcPr marL="68574" marR="68574" marT="34285" marB="3428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marL="68574" marR="68574" marT="34285" marB="3428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6" name="椭圆形标注 5"/>
          <p:cNvSpPr>
            <a:spLocks noChangeArrowheads="1"/>
          </p:cNvSpPr>
          <p:nvPr/>
        </p:nvSpPr>
        <p:spPr bwMode="auto">
          <a:xfrm>
            <a:off x="4807178" y="1924052"/>
            <a:ext cx="2159794" cy="756047"/>
          </a:xfrm>
          <a:prstGeom prst="wedgeEllipseCallout">
            <a:avLst>
              <a:gd name="adj1" fmla="val -81681"/>
              <a:gd name="adj2" fmla="val -88676"/>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solidFill>
                  <a:srgbClr val="FF0000"/>
                </a:solidFill>
              </a:rPr>
              <a:t>-1</a:t>
            </a:r>
            <a:r>
              <a:rPr lang="zh-CN" altLang="en-US" sz="1800" dirty="0"/>
              <a:t>表示根结点</a:t>
            </a:r>
            <a:endParaRPr lang="zh-CN" altLang="en-US" sz="1800" dirty="0"/>
          </a:p>
        </p:txBody>
      </p:sp>
      <p:sp>
        <p:nvSpPr>
          <p:cNvPr id="7" name="椭圆形标注 6"/>
          <p:cNvSpPr>
            <a:spLocks noChangeArrowheads="1"/>
          </p:cNvSpPr>
          <p:nvPr/>
        </p:nvSpPr>
        <p:spPr bwMode="auto">
          <a:xfrm>
            <a:off x="5076259" y="3165873"/>
            <a:ext cx="2255785" cy="756047"/>
          </a:xfrm>
          <a:prstGeom prst="wedgeEllipseCallout">
            <a:avLst>
              <a:gd name="adj1" fmla="val -96495"/>
              <a:gd name="adj2" fmla="val -131005"/>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solidFill>
                  <a:srgbClr val="FF0000"/>
                </a:solidFill>
              </a:rPr>
              <a:t>非负数</a:t>
            </a:r>
            <a:r>
              <a:rPr lang="zh-CN" altLang="en-US" sz="1800" dirty="0"/>
              <a:t>表示双亲结点下标</a:t>
            </a:r>
            <a:endParaRPr lang="zh-CN" altLang="en-US" sz="1800" dirty="0"/>
          </a:p>
        </p:txBody>
      </p:sp>
      <p:pic>
        <p:nvPicPr>
          <p:cNvPr id="9" name="Picture 3"/>
          <p:cNvPicPr>
            <a:picLocks noChangeAspect="1" noChangeArrowheads="1"/>
          </p:cNvPicPr>
          <p:nvPr/>
        </p:nvPicPr>
        <p:blipFill>
          <a:blip r:embed="rId1">
            <a:extLst>
              <a:ext uri="{28A0092B-C50C-407E-A947-70E740481C1C}">
                <a14:useLocalDpi xmlns:a14="http://schemas.microsoft.com/office/drawing/2010/main" val="0"/>
              </a:ext>
            </a:extLst>
          </a:blip>
          <a:srcRect r="7410"/>
          <a:stretch>
            <a:fillRect/>
          </a:stretch>
        </p:blipFill>
        <p:spPr bwMode="auto">
          <a:xfrm>
            <a:off x="4357548" y="341501"/>
            <a:ext cx="3387747" cy="11295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集合运算</a:t>
            </a:r>
            <a:endParaRPr lang="en-US" altLang="zh-CN" dirty="0"/>
          </a:p>
          <a:p>
            <a:pPr lvl="1"/>
            <a:r>
              <a:rPr lang="zh-CN" altLang="en-US" sz="2000" dirty="0"/>
              <a:t>（</a:t>
            </a:r>
            <a:r>
              <a:rPr lang="en-US" altLang="zh-CN" sz="2000" dirty="0"/>
              <a:t>1</a:t>
            </a:r>
            <a:r>
              <a:rPr lang="zh-CN" altLang="en-US" sz="2000" dirty="0"/>
              <a:t>）查找某个元素所在的集合（用根结点表示）</a:t>
            </a:r>
            <a:endParaRPr lang="en-US" altLang="zh-CN" sz="2000" dirty="0"/>
          </a:p>
          <a:p>
            <a:pPr lvl="2">
              <a:lnSpc>
                <a:spcPct val="130000"/>
              </a:lnSpc>
              <a:spcBef>
                <a:spcPct val="0"/>
              </a:spcBef>
            </a:pPr>
            <a:r>
              <a:rPr lang="en-US" altLang="zh-CN" sz="2000" dirty="0" err="1"/>
              <a:t>typedef</a:t>
            </a:r>
            <a:r>
              <a:rPr lang="en-US" altLang="zh-CN" sz="2000" dirty="0"/>
              <a:t> </a:t>
            </a:r>
            <a:r>
              <a:rPr lang="en-US" altLang="zh-CN" sz="2000" dirty="0" err="1"/>
              <a:t>PTree</a:t>
            </a:r>
            <a:r>
              <a:rPr lang="en-US" altLang="zh-CN" sz="2000" dirty="0"/>
              <a:t> </a:t>
            </a:r>
            <a:r>
              <a:rPr lang="en-US" altLang="zh-CN" sz="2000" dirty="0" err="1"/>
              <a:t>MFSet</a:t>
            </a:r>
            <a:r>
              <a:rPr lang="en-US" altLang="zh-CN" sz="2000" dirty="0"/>
              <a:t>;</a:t>
            </a:r>
            <a:endParaRPr lang="zh-CN" altLang="en-US" sz="2000" dirty="0"/>
          </a:p>
          <a:p>
            <a:pPr lvl="2">
              <a:lnSpc>
                <a:spcPct val="130000"/>
              </a:lnSpc>
              <a:spcBef>
                <a:spcPct val="0"/>
              </a:spcBef>
            </a:pPr>
            <a:r>
              <a:rPr lang="en-US" altLang="zh-CN" sz="2000" dirty="0" err="1"/>
              <a:t>int</a:t>
            </a:r>
            <a:r>
              <a:rPr lang="en-US" altLang="zh-CN" sz="2000" dirty="0"/>
              <a:t> </a:t>
            </a:r>
            <a:r>
              <a:rPr lang="en-US" altLang="zh-CN" sz="2000" dirty="0" err="1"/>
              <a:t>find_mfset</a:t>
            </a:r>
            <a:r>
              <a:rPr lang="en-US" altLang="zh-CN" sz="2000" dirty="0"/>
              <a:t>(</a:t>
            </a:r>
            <a:r>
              <a:rPr lang="en-US" altLang="zh-CN" sz="2000" dirty="0" err="1"/>
              <a:t>MFSet</a:t>
            </a:r>
            <a:r>
              <a:rPr lang="en-US" altLang="zh-CN" sz="2000" dirty="0"/>
              <a:t> S, </a:t>
            </a:r>
            <a:r>
              <a:rPr lang="en-US" altLang="zh-CN" sz="2000" dirty="0" err="1"/>
              <a:t>int</a:t>
            </a:r>
            <a:r>
              <a:rPr lang="en-US" altLang="zh-CN" sz="2000" dirty="0"/>
              <a:t> </a:t>
            </a:r>
            <a:r>
              <a:rPr lang="en-US" altLang="zh-CN" sz="2000" dirty="0" err="1"/>
              <a:t>i</a:t>
            </a:r>
            <a:r>
              <a:rPr lang="en-US" altLang="zh-CN" sz="2000" dirty="0"/>
              <a:t>){</a:t>
            </a:r>
            <a:endParaRPr lang="zh-CN" altLang="en-US" sz="2000" dirty="0"/>
          </a:p>
          <a:p>
            <a:pPr lvl="2">
              <a:lnSpc>
                <a:spcPct val="130000"/>
              </a:lnSpc>
              <a:spcBef>
                <a:spcPct val="0"/>
              </a:spcBef>
            </a:pPr>
            <a:r>
              <a:rPr lang="en-US" altLang="zh-CN" sz="2000" dirty="0"/>
              <a:t>//</a:t>
            </a:r>
            <a:r>
              <a:rPr lang="zh-CN" altLang="en-US" sz="2000" dirty="0"/>
              <a:t>找集合</a:t>
            </a:r>
            <a:r>
              <a:rPr lang="en-US" altLang="zh-CN" sz="2000" dirty="0"/>
              <a:t>S</a:t>
            </a:r>
            <a:r>
              <a:rPr lang="zh-CN" altLang="en-US" sz="2000" dirty="0"/>
              <a:t>中</a:t>
            </a:r>
            <a:r>
              <a:rPr lang="en-US" altLang="zh-CN" sz="2000" dirty="0" err="1"/>
              <a:t>i</a:t>
            </a:r>
            <a:r>
              <a:rPr lang="zh-CN" altLang="en-US" sz="2000" dirty="0"/>
              <a:t>所在子集的根。</a:t>
            </a:r>
            <a:endParaRPr lang="zh-CN" altLang="en-US" sz="2000" dirty="0"/>
          </a:p>
          <a:p>
            <a:pPr lvl="2">
              <a:lnSpc>
                <a:spcPct val="130000"/>
              </a:lnSpc>
              <a:spcBef>
                <a:spcPct val="0"/>
              </a:spcBef>
            </a:pPr>
            <a:r>
              <a:rPr lang="zh-CN" altLang="en-US" sz="2000" dirty="0"/>
              <a:t>	</a:t>
            </a:r>
            <a:r>
              <a:rPr lang="en-US" altLang="zh-CN" sz="2000" dirty="0"/>
              <a:t>if(</a:t>
            </a:r>
            <a:r>
              <a:rPr lang="en-US" altLang="zh-CN" sz="2000" dirty="0" err="1"/>
              <a:t>i</a:t>
            </a:r>
            <a:r>
              <a:rPr lang="en-US" altLang="zh-CN" sz="2000" dirty="0"/>
              <a:t>&lt;1 || </a:t>
            </a:r>
            <a:r>
              <a:rPr lang="en-US" altLang="zh-CN" sz="2000" dirty="0" err="1"/>
              <a:t>i</a:t>
            </a:r>
            <a:r>
              <a:rPr lang="en-US" altLang="zh-CN" sz="2000" dirty="0"/>
              <a:t>&gt;</a:t>
            </a:r>
            <a:r>
              <a:rPr lang="en-US" altLang="zh-CN" sz="2000" dirty="0" err="1"/>
              <a:t>S.n</a:t>
            </a:r>
            <a:r>
              <a:rPr lang="en-US" altLang="zh-CN" sz="2000" dirty="0"/>
              <a:t>) return </a:t>
            </a:r>
            <a:r>
              <a:rPr lang="en-US" altLang="zh-CN" sz="2000" dirty="0">
                <a:solidFill>
                  <a:srgbClr val="FF0000"/>
                </a:solidFill>
              </a:rPr>
              <a:t>-1</a:t>
            </a:r>
            <a:r>
              <a:rPr lang="en-US" altLang="zh-CN" sz="2000" dirty="0"/>
              <a:t>;</a:t>
            </a:r>
            <a:endParaRPr lang="zh-CN" altLang="en-US" sz="2000" dirty="0"/>
          </a:p>
          <a:p>
            <a:pPr lvl="2">
              <a:lnSpc>
                <a:spcPct val="130000"/>
              </a:lnSpc>
              <a:spcBef>
                <a:spcPct val="0"/>
              </a:spcBef>
            </a:pPr>
            <a:r>
              <a:rPr lang="zh-CN" altLang="en-US" sz="2000" dirty="0"/>
              <a:t>	</a:t>
            </a:r>
            <a:r>
              <a:rPr lang="en-US" altLang="zh-CN" sz="2000" dirty="0"/>
              <a:t>for(j=</a:t>
            </a:r>
            <a:r>
              <a:rPr lang="en-US" altLang="zh-CN" sz="2000" dirty="0" err="1"/>
              <a:t>i</a:t>
            </a:r>
            <a:r>
              <a:rPr lang="en-US" altLang="zh-CN" sz="2000" dirty="0"/>
              <a:t>; </a:t>
            </a:r>
            <a:r>
              <a:rPr lang="en-US" altLang="zh-CN" sz="2000" dirty="0" err="1"/>
              <a:t>S.nodes</a:t>
            </a:r>
            <a:r>
              <a:rPr lang="en-US" altLang="zh-CN" sz="2000" dirty="0"/>
              <a:t>[j].parent&gt;0; </a:t>
            </a:r>
            <a:r>
              <a:rPr lang="en-US" altLang="zh-CN" sz="2000" dirty="0">
                <a:solidFill>
                  <a:srgbClr val="FF0000"/>
                </a:solidFill>
              </a:rPr>
              <a:t>j=</a:t>
            </a:r>
            <a:r>
              <a:rPr lang="en-US" altLang="zh-CN" sz="2000" dirty="0" err="1">
                <a:solidFill>
                  <a:srgbClr val="FF0000"/>
                </a:solidFill>
              </a:rPr>
              <a:t>S.nodes</a:t>
            </a:r>
            <a:r>
              <a:rPr lang="en-US" altLang="zh-CN" sz="2000" dirty="0">
                <a:solidFill>
                  <a:srgbClr val="FF0000"/>
                </a:solidFill>
              </a:rPr>
              <a:t>[j].parent</a:t>
            </a:r>
            <a:r>
              <a:rPr lang="en-US" altLang="zh-CN" sz="2000" dirty="0"/>
              <a:t>);</a:t>
            </a:r>
            <a:endParaRPr lang="zh-CN" altLang="en-US" sz="2000" dirty="0"/>
          </a:p>
          <a:p>
            <a:pPr lvl="2">
              <a:lnSpc>
                <a:spcPct val="130000"/>
              </a:lnSpc>
              <a:spcBef>
                <a:spcPct val="0"/>
              </a:spcBef>
            </a:pPr>
            <a:r>
              <a:rPr lang="zh-CN" altLang="en-US" sz="2000" dirty="0"/>
              <a:t>	</a:t>
            </a:r>
            <a:r>
              <a:rPr lang="en-US" altLang="zh-CN" sz="2000" dirty="0"/>
              <a:t>return </a:t>
            </a:r>
            <a:r>
              <a:rPr lang="en-US" altLang="zh-CN" sz="2000" dirty="0">
                <a:solidFill>
                  <a:srgbClr val="FF0000"/>
                </a:solidFill>
              </a:rPr>
              <a:t>j</a:t>
            </a:r>
            <a:r>
              <a:rPr lang="en-US" altLang="zh-CN" sz="2000" dirty="0"/>
              <a:t>;</a:t>
            </a:r>
            <a:endParaRPr lang="zh-CN" altLang="en-US" sz="2000" dirty="0"/>
          </a:p>
          <a:p>
            <a:pPr lvl="2">
              <a:lnSpc>
                <a:spcPct val="130000"/>
              </a:lnSpc>
              <a:spcBef>
                <a:spcPct val="0"/>
              </a:spcBef>
            </a:pPr>
            <a:r>
              <a:rPr lang="en-US" altLang="zh-CN" sz="2000" dirty="0"/>
              <a:t>}</a:t>
            </a:r>
            <a:endParaRPr lang="en-US" altLang="zh-CN" sz="2400"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集合运算</a:t>
            </a:r>
            <a:endParaRPr lang="en-US" altLang="zh-CN" dirty="0"/>
          </a:p>
          <a:p>
            <a:pPr lvl="1"/>
            <a:r>
              <a:rPr lang="zh-CN" altLang="en-US" sz="2000" dirty="0"/>
              <a:t>（</a:t>
            </a:r>
            <a:r>
              <a:rPr lang="en-US" altLang="zh-CN" sz="2000" dirty="0"/>
              <a:t>1</a:t>
            </a:r>
            <a:r>
              <a:rPr lang="zh-CN" altLang="en-US" sz="2000" dirty="0"/>
              <a:t>）查找某个元素所在的集合（用根结点表示）</a:t>
            </a:r>
            <a:endParaRPr lang="en-US" altLang="zh-CN" sz="2000" dirty="0"/>
          </a:p>
          <a:p>
            <a:pPr lvl="2">
              <a:lnSpc>
                <a:spcPct val="130000"/>
              </a:lnSpc>
              <a:spcBef>
                <a:spcPct val="0"/>
              </a:spcBef>
            </a:pPr>
            <a:r>
              <a:rPr lang="en-US" altLang="zh-CN" sz="2000" dirty="0" err="1"/>
              <a:t>typedef</a:t>
            </a:r>
            <a:r>
              <a:rPr lang="en-US" altLang="zh-CN" sz="2000" dirty="0"/>
              <a:t> </a:t>
            </a:r>
            <a:r>
              <a:rPr lang="en-US" altLang="zh-CN" sz="2000" dirty="0" err="1"/>
              <a:t>PTree</a:t>
            </a:r>
            <a:r>
              <a:rPr lang="en-US" altLang="zh-CN" sz="2000" dirty="0"/>
              <a:t> </a:t>
            </a:r>
            <a:r>
              <a:rPr lang="en-US" altLang="zh-CN" sz="2000" dirty="0" err="1"/>
              <a:t>MFSet</a:t>
            </a:r>
            <a:r>
              <a:rPr lang="en-US" altLang="zh-CN" sz="2000" dirty="0"/>
              <a:t>;</a:t>
            </a:r>
            <a:endParaRPr lang="zh-CN" altLang="en-US" sz="2000" dirty="0"/>
          </a:p>
          <a:p>
            <a:pPr lvl="2">
              <a:lnSpc>
                <a:spcPct val="130000"/>
              </a:lnSpc>
              <a:spcBef>
                <a:spcPct val="0"/>
              </a:spcBef>
            </a:pPr>
            <a:r>
              <a:rPr lang="en-US" altLang="zh-CN" sz="2000" dirty="0" err="1"/>
              <a:t>int</a:t>
            </a:r>
            <a:r>
              <a:rPr lang="en-US" altLang="zh-CN" sz="2000" dirty="0"/>
              <a:t> </a:t>
            </a:r>
            <a:r>
              <a:rPr lang="en-US" altLang="zh-CN" sz="2000" dirty="0" err="1"/>
              <a:t>find_mfset</a:t>
            </a:r>
            <a:r>
              <a:rPr lang="en-US" altLang="zh-CN" sz="2000" dirty="0"/>
              <a:t>(</a:t>
            </a:r>
            <a:r>
              <a:rPr lang="en-US" altLang="zh-CN" sz="2000" dirty="0" err="1"/>
              <a:t>MFSet</a:t>
            </a:r>
            <a:r>
              <a:rPr lang="en-US" altLang="zh-CN" sz="2000" dirty="0"/>
              <a:t> S, </a:t>
            </a:r>
            <a:r>
              <a:rPr lang="en-US" altLang="zh-CN" sz="2000" dirty="0" err="1"/>
              <a:t>int</a:t>
            </a:r>
            <a:r>
              <a:rPr lang="en-US" altLang="zh-CN" sz="2000" dirty="0"/>
              <a:t> </a:t>
            </a:r>
            <a:r>
              <a:rPr lang="en-US" altLang="zh-CN" sz="2000" dirty="0" err="1"/>
              <a:t>i</a:t>
            </a:r>
            <a:r>
              <a:rPr lang="en-US" altLang="zh-CN" sz="2000" dirty="0"/>
              <a:t>){</a:t>
            </a:r>
            <a:endParaRPr lang="zh-CN" altLang="en-US" sz="2000" dirty="0"/>
          </a:p>
          <a:p>
            <a:pPr lvl="2">
              <a:lnSpc>
                <a:spcPct val="130000"/>
              </a:lnSpc>
              <a:spcBef>
                <a:spcPct val="0"/>
              </a:spcBef>
            </a:pPr>
            <a:r>
              <a:rPr lang="en-US" altLang="zh-CN" sz="2000" dirty="0"/>
              <a:t>//</a:t>
            </a:r>
            <a:r>
              <a:rPr lang="zh-CN" altLang="en-US" sz="2000" dirty="0"/>
              <a:t>找集合</a:t>
            </a:r>
            <a:r>
              <a:rPr lang="en-US" altLang="zh-CN" sz="2000" dirty="0"/>
              <a:t>S</a:t>
            </a:r>
            <a:r>
              <a:rPr lang="zh-CN" altLang="en-US" sz="2000" dirty="0"/>
              <a:t>中</a:t>
            </a:r>
            <a:r>
              <a:rPr lang="en-US" altLang="zh-CN" sz="2000" dirty="0" err="1"/>
              <a:t>i</a:t>
            </a:r>
            <a:r>
              <a:rPr lang="zh-CN" altLang="en-US" sz="2000" dirty="0"/>
              <a:t>所在子集的根。</a:t>
            </a:r>
            <a:endParaRPr lang="zh-CN" altLang="en-US" sz="2000" dirty="0"/>
          </a:p>
          <a:p>
            <a:pPr lvl="2">
              <a:lnSpc>
                <a:spcPct val="130000"/>
              </a:lnSpc>
              <a:spcBef>
                <a:spcPct val="0"/>
              </a:spcBef>
            </a:pPr>
            <a:r>
              <a:rPr lang="zh-CN" altLang="en-US" sz="2000" dirty="0"/>
              <a:t>	</a:t>
            </a:r>
            <a:r>
              <a:rPr lang="en-US" altLang="zh-CN" sz="2000" dirty="0"/>
              <a:t>if(</a:t>
            </a:r>
            <a:r>
              <a:rPr lang="en-US" altLang="zh-CN" sz="2000" dirty="0" err="1"/>
              <a:t>i</a:t>
            </a:r>
            <a:r>
              <a:rPr lang="en-US" altLang="zh-CN" sz="2000" dirty="0"/>
              <a:t>&lt;1 || </a:t>
            </a:r>
            <a:r>
              <a:rPr lang="en-US" altLang="zh-CN" sz="2000" dirty="0" err="1"/>
              <a:t>i</a:t>
            </a:r>
            <a:r>
              <a:rPr lang="en-US" altLang="zh-CN" sz="2000" dirty="0"/>
              <a:t>&gt;</a:t>
            </a:r>
            <a:r>
              <a:rPr lang="en-US" altLang="zh-CN" sz="2000" dirty="0" err="1"/>
              <a:t>S.n</a:t>
            </a:r>
            <a:r>
              <a:rPr lang="en-US" altLang="zh-CN" sz="2000" dirty="0"/>
              <a:t>) return </a:t>
            </a:r>
            <a:r>
              <a:rPr lang="en-US" altLang="zh-CN" sz="2000" dirty="0">
                <a:solidFill>
                  <a:srgbClr val="FF0000"/>
                </a:solidFill>
              </a:rPr>
              <a:t>-1</a:t>
            </a:r>
            <a:r>
              <a:rPr lang="en-US" altLang="zh-CN" sz="2000" dirty="0"/>
              <a:t>;</a:t>
            </a:r>
            <a:endParaRPr lang="zh-CN" altLang="en-US" sz="2000" dirty="0"/>
          </a:p>
          <a:p>
            <a:pPr lvl="2">
              <a:lnSpc>
                <a:spcPct val="130000"/>
              </a:lnSpc>
              <a:spcBef>
                <a:spcPct val="0"/>
              </a:spcBef>
            </a:pPr>
            <a:r>
              <a:rPr lang="zh-CN" altLang="en-US" sz="2000" dirty="0"/>
              <a:t>	</a:t>
            </a:r>
            <a:r>
              <a:rPr lang="en-US" altLang="zh-CN" sz="2000" dirty="0"/>
              <a:t>for(j=</a:t>
            </a:r>
            <a:r>
              <a:rPr lang="en-US" altLang="zh-CN" sz="2000" dirty="0" err="1"/>
              <a:t>i</a:t>
            </a:r>
            <a:r>
              <a:rPr lang="en-US" altLang="zh-CN" sz="2000" dirty="0"/>
              <a:t>; </a:t>
            </a:r>
            <a:r>
              <a:rPr lang="en-US" altLang="zh-CN" sz="2000" dirty="0" err="1"/>
              <a:t>S.nodes</a:t>
            </a:r>
            <a:r>
              <a:rPr lang="en-US" altLang="zh-CN" sz="2000" dirty="0"/>
              <a:t>[j].parent&gt;0; </a:t>
            </a:r>
            <a:r>
              <a:rPr lang="en-US" altLang="zh-CN" sz="2000" dirty="0">
                <a:solidFill>
                  <a:srgbClr val="FF0000"/>
                </a:solidFill>
              </a:rPr>
              <a:t>j=</a:t>
            </a:r>
            <a:r>
              <a:rPr lang="en-US" altLang="zh-CN" sz="2000" dirty="0" err="1">
                <a:solidFill>
                  <a:srgbClr val="FF0000"/>
                </a:solidFill>
              </a:rPr>
              <a:t>S.nodes</a:t>
            </a:r>
            <a:r>
              <a:rPr lang="en-US" altLang="zh-CN" sz="2000" dirty="0">
                <a:solidFill>
                  <a:srgbClr val="FF0000"/>
                </a:solidFill>
              </a:rPr>
              <a:t>[j].parent</a:t>
            </a:r>
            <a:r>
              <a:rPr lang="en-US" altLang="zh-CN" sz="2000" dirty="0"/>
              <a:t>);</a:t>
            </a:r>
            <a:endParaRPr lang="zh-CN" altLang="en-US" sz="2000" dirty="0"/>
          </a:p>
          <a:p>
            <a:pPr lvl="2">
              <a:lnSpc>
                <a:spcPct val="130000"/>
              </a:lnSpc>
              <a:spcBef>
                <a:spcPct val="0"/>
              </a:spcBef>
            </a:pPr>
            <a:r>
              <a:rPr lang="zh-CN" altLang="en-US" sz="2000" dirty="0"/>
              <a:t>	</a:t>
            </a:r>
            <a:r>
              <a:rPr lang="en-US" altLang="zh-CN" sz="2000" dirty="0"/>
              <a:t>return </a:t>
            </a:r>
            <a:r>
              <a:rPr lang="en-US" altLang="zh-CN" sz="2000" dirty="0">
                <a:solidFill>
                  <a:srgbClr val="FF0000"/>
                </a:solidFill>
              </a:rPr>
              <a:t>j</a:t>
            </a:r>
            <a:r>
              <a:rPr lang="en-US" altLang="zh-CN" sz="2000" dirty="0"/>
              <a:t>;</a:t>
            </a:r>
            <a:endParaRPr lang="zh-CN" altLang="en-US" sz="2000" dirty="0"/>
          </a:p>
          <a:p>
            <a:pPr lvl="2">
              <a:lnSpc>
                <a:spcPct val="130000"/>
              </a:lnSpc>
              <a:spcBef>
                <a:spcPct val="0"/>
              </a:spcBef>
            </a:pPr>
            <a:r>
              <a:rPr lang="en-US" altLang="zh-CN" sz="2000" dirty="0"/>
              <a:t>}</a:t>
            </a:r>
            <a:endParaRPr lang="en-US" altLang="zh-CN" sz="2400"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1">
              <a:lnSpc>
                <a:spcPct val="130000"/>
              </a:lnSpc>
              <a:spcBef>
                <a:spcPct val="0"/>
              </a:spcBef>
            </a:pPr>
            <a:r>
              <a:rPr lang="zh-CN" altLang="en-US" sz="2000" dirty="0"/>
              <a:t>（</a:t>
            </a:r>
            <a:r>
              <a:rPr lang="en-US" altLang="zh-CN" sz="2000" dirty="0"/>
              <a:t>2</a:t>
            </a:r>
            <a:r>
              <a:rPr lang="zh-CN" altLang="en-US" sz="2000" dirty="0"/>
              <a:t>）</a:t>
            </a:r>
            <a:r>
              <a:rPr lang="zh-CN" altLang="en-US" sz="1800" dirty="0"/>
              <a:t>集合的并运算 </a:t>
            </a:r>
            <a:endParaRPr lang="en-US" altLang="zh-CN" sz="1800" dirty="0"/>
          </a:p>
          <a:p>
            <a:pPr lvl="2">
              <a:lnSpc>
                <a:spcPct val="130000"/>
              </a:lnSpc>
              <a:spcBef>
                <a:spcPct val="0"/>
              </a:spcBef>
              <a:buClr>
                <a:schemeClr val="accent2"/>
              </a:buClr>
              <a:buFont typeface="Wingdings" panose="05000000000000000000" pitchFamily="2" charset="2"/>
              <a:buChar char="p"/>
            </a:pPr>
            <a:r>
              <a:rPr lang="zh-CN" altLang="en-US" sz="2000" dirty="0"/>
              <a:t>分别找到</a:t>
            </a:r>
            <a:r>
              <a:rPr lang="en-US" altLang="zh-CN" sz="2000" dirty="0"/>
              <a:t>a</a:t>
            </a:r>
            <a:r>
              <a:rPr lang="zh-CN" altLang="en-US" sz="2000" dirty="0"/>
              <a:t>和</a:t>
            </a:r>
            <a:r>
              <a:rPr lang="en-US" altLang="zh-CN" sz="2000" dirty="0"/>
              <a:t>b</a:t>
            </a:r>
            <a:r>
              <a:rPr lang="zh-CN" altLang="en-US" sz="2000" dirty="0"/>
              <a:t>两个元素所在集合树的根结点 </a:t>
            </a:r>
            <a:r>
              <a:rPr lang="en-US" altLang="zh-CN" sz="2000" dirty="0"/>
              <a:t>;</a:t>
            </a:r>
            <a:endParaRPr lang="zh-CN" altLang="en-US" sz="2000" dirty="0"/>
          </a:p>
          <a:p>
            <a:pPr lvl="2">
              <a:lnSpc>
                <a:spcPct val="130000"/>
              </a:lnSpc>
              <a:spcBef>
                <a:spcPct val="0"/>
              </a:spcBef>
              <a:buClr>
                <a:schemeClr val="accent2"/>
              </a:buClr>
              <a:buFont typeface="Wingdings" panose="05000000000000000000" pitchFamily="2" charset="2"/>
              <a:buChar char="p"/>
            </a:pPr>
            <a:r>
              <a:rPr lang="zh-CN" altLang="en-US" sz="2000" dirty="0"/>
              <a:t> 如果它们不同根，则将其中一个根结点的父结点指针设置成另一个根结点的数组下标。 </a:t>
            </a:r>
            <a:endParaRPr lang="en-US" altLang="zh-CN" sz="2000" dirty="0"/>
          </a:p>
          <a:p>
            <a:pPr lvl="2">
              <a:lnSpc>
                <a:spcPct val="130000"/>
              </a:lnSpc>
              <a:spcBef>
                <a:spcPct val="0"/>
              </a:spcBef>
            </a:pPr>
            <a:r>
              <a:rPr lang="en-US" altLang="zh-CN" sz="2000" dirty="0"/>
              <a:t>Status </a:t>
            </a:r>
            <a:r>
              <a:rPr lang="en-US" altLang="zh-CN" sz="2000" dirty="0" err="1"/>
              <a:t>merge_mfset</a:t>
            </a:r>
            <a:r>
              <a:rPr lang="en-US" altLang="zh-CN" sz="2000" dirty="0"/>
              <a:t>(</a:t>
            </a:r>
            <a:r>
              <a:rPr lang="en-US" altLang="zh-CN" sz="2000" dirty="0" err="1"/>
              <a:t>MFSet</a:t>
            </a:r>
            <a:r>
              <a:rPr lang="en-US" altLang="zh-CN" sz="2000" dirty="0"/>
              <a:t> &amp;S, </a:t>
            </a:r>
            <a:r>
              <a:rPr lang="en-US" altLang="zh-CN" sz="2000" dirty="0" err="1"/>
              <a:t>int</a:t>
            </a:r>
            <a:r>
              <a:rPr lang="en-US" altLang="zh-CN" sz="2000" dirty="0"/>
              <a:t> </a:t>
            </a:r>
            <a:r>
              <a:rPr lang="en-US" altLang="zh-CN" sz="2000" dirty="0" err="1"/>
              <a:t>i</a:t>
            </a:r>
            <a:r>
              <a:rPr lang="en-US" altLang="zh-CN" sz="2000" dirty="0"/>
              <a:t>, </a:t>
            </a:r>
            <a:r>
              <a:rPr lang="en-US" altLang="zh-CN" sz="2000" dirty="0" err="1"/>
              <a:t>int</a:t>
            </a:r>
            <a:r>
              <a:rPr lang="en-US" altLang="zh-CN" sz="2000" dirty="0"/>
              <a:t> j){</a:t>
            </a:r>
            <a:endParaRPr lang="zh-CN" altLang="en-US" sz="2000" dirty="0"/>
          </a:p>
          <a:p>
            <a:pPr lvl="2">
              <a:lnSpc>
                <a:spcPct val="130000"/>
              </a:lnSpc>
              <a:spcBef>
                <a:spcPct val="0"/>
              </a:spcBef>
            </a:pPr>
            <a:r>
              <a:rPr lang="zh-CN" altLang="en-US" sz="2000" dirty="0"/>
              <a:t>	</a:t>
            </a:r>
            <a:r>
              <a:rPr lang="en-US" altLang="zh-CN" sz="2000" dirty="0"/>
              <a:t>if(</a:t>
            </a:r>
            <a:r>
              <a:rPr lang="en-US" altLang="zh-CN" sz="2000" dirty="0" err="1"/>
              <a:t>i</a:t>
            </a:r>
            <a:r>
              <a:rPr lang="en-US" altLang="zh-CN" sz="2000" dirty="0"/>
              <a:t>&lt;1 ||</a:t>
            </a:r>
            <a:r>
              <a:rPr lang="en-US" altLang="zh-CN" sz="2000" dirty="0" err="1"/>
              <a:t>i</a:t>
            </a:r>
            <a:r>
              <a:rPr lang="en-US" altLang="zh-CN" sz="2000" dirty="0"/>
              <a:t>&gt;</a:t>
            </a:r>
            <a:r>
              <a:rPr lang="en-US" altLang="zh-CN" sz="2000" dirty="0" err="1"/>
              <a:t>S.n</a:t>
            </a:r>
            <a:r>
              <a:rPr lang="en-US" altLang="zh-CN" sz="2000" dirty="0"/>
              <a:t> ||j&lt;1 || j&gt;</a:t>
            </a:r>
            <a:r>
              <a:rPr lang="en-US" altLang="zh-CN" sz="2000" dirty="0" err="1"/>
              <a:t>S.n</a:t>
            </a:r>
            <a:r>
              <a:rPr lang="en-US" altLang="zh-CN" sz="2000" dirty="0"/>
              <a:t>) return ERROR;</a:t>
            </a:r>
            <a:endParaRPr lang="zh-CN" altLang="en-US" sz="2000" dirty="0"/>
          </a:p>
          <a:p>
            <a:pPr lvl="2">
              <a:lnSpc>
                <a:spcPct val="130000"/>
              </a:lnSpc>
              <a:spcBef>
                <a:spcPct val="0"/>
              </a:spcBef>
            </a:pPr>
            <a:r>
              <a:rPr lang="zh-CN" altLang="en-US" sz="2000" dirty="0"/>
              <a:t>	</a:t>
            </a:r>
            <a:r>
              <a:rPr lang="en-US" altLang="zh-CN" sz="2000" dirty="0" err="1">
                <a:solidFill>
                  <a:srgbClr val="FF0000"/>
                </a:solidFill>
              </a:rPr>
              <a:t>S.nodes</a:t>
            </a:r>
            <a:r>
              <a:rPr lang="en-US" altLang="zh-CN" sz="2000" dirty="0">
                <a:solidFill>
                  <a:srgbClr val="FF0000"/>
                </a:solidFill>
              </a:rPr>
              <a:t>[</a:t>
            </a:r>
            <a:r>
              <a:rPr lang="en-US" altLang="zh-CN" sz="2000" dirty="0" err="1">
                <a:solidFill>
                  <a:srgbClr val="FF0000"/>
                </a:solidFill>
              </a:rPr>
              <a:t>i</a:t>
            </a:r>
            <a:r>
              <a:rPr lang="en-US" altLang="zh-CN" sz="2000" dirty="0">
                <a:solidFill>
                  <a:srgbClr val="FF0000"/>
                </a:solidFill>
              </a:rPr>
              <a:t>].parent=j;</a:t>
            </a:r>
            <a:endParaRPr lang="zh-CN" altLang="en-US" sz="2000" dirty="0">
              <a:solidFill>
                <a:srgbClr val="FF0000"/>
              </a:solidFill>
            </a:endParaRPr>
          </a:p>
          <a:p>
            <a:pPr lvl="2">
              <a:lnSpc>
                <a:spcPct val="130000"/>
              </a:lnSpc>
              <a:spcBef>
                <a:spcPct val="0"/>
              </a:spcBef>
            </a:pPr>
            <a:r>
              <a:rPr lang="zh-CN" altLang="en-US" sz="2000" dirty="0"/>
              <a:t>	</a:t>
            </a:r>
            <a:r>
              <a:rPr lang="en-US" altLang="zh-CN" sz="2000" dirty="0"/>
              <a:t>return OK;</a:t>
            </a:r>
            <a:endParaRPr lang="zh-CN" altLang="en-US" sz="2000" dirty="0"/>
          </a:p>
          <a:p>
            <a:pPr lvl="2">
              <a:lnSpc>
                <a:spcPct val="130000"/>
              </a:lnSpc>
              <a:spcBef>
                <a:spcPct val="0"/>
              </a:spcBef>
            </a:pPr>
            <a:r>
              <a:rPr lang="en-US" altLang="zh-CN" sz="2000" dirty="0"/>
              <a:t>}</a:t>
            </a:r>
            <a:endParaRPr lang="zh-CN" altLang="en-US" sz="2000"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1">
              <a:lnSpc>
                <a:spcPct val="130000"/>
              </a:lnSpc>
              <a:spcBef>
                <a:spcPct val="0"/>
              </a:spcBef>
            </a:pPr>
            <a:r>
              <a:rPr lang="zh-CN" altLang="en-US" sz="2000" dirty="0"/>
              <a:t>（</a:t>
            </a:r>
            <a:r>
              <a:rPr lang="en-US" altLang="zh-CN" sz="2000" dirty="0"/>
              <a:t>2</a:t>
            </a:r>
            <a:r>
              <a:rPr lang="zh-CN" altLang="en-US" sz="2000" dirty="0"/>
              <a:t>）</a:t>
            </a:r>
            <a:r>
              <a:rPr lang="zh-CN" altLang="en-US" sz="1800" dirty="0"/>
              <a:t>集合并运算的改进算法</a:t>
            </a:r>
            <a:endParaRPr lang="en-US" altLang="zh-CN" sz="1800" dirty="0"/>
          </a:p>
          <a:p>
            <a:pPr lvl="2">
              <a:lnSpc>
                <a:spcPct val="130000"/>
              </a:lnSpc>
              <a:spcBef>
                <a:spcPct val="0"/>
              </a:spcBef>
            </a:pPr>
            <a:r>
              <a:rPr lang="zh-CN" altLang="en-US" sz="1600" dirty="0">
                <a:solidFill>
                  <a:srgbClr val="FF0000"/>
                </a:solidFill>
              </a:rPr>
              <a:t>令含成员少的子集的根结点指向含成员多的子集的根。</a:t>
            </a:r>
            <a:endParaRPr lang="en-US" altLang="zh-CN" sz="1600" dirty="0">
              <a:solidFill>
                <a:srgbClr val="FF0000"/>
              </a:solidFill>
            </a:endParaRPr>
          </a:p>
          <a:p>
            <a:pPr lvl="2">
              <a:lnSpc>
                <a:spcPct val="130000"/>
              </a:lnSpc>
              <a:spcBef>
                <a:spcPct val="0"/>
              </a:spcBef>
            </a:pPr>
            <a:r>
              <a:rPr lang="zh-CN" altLang="en-US" sz="1600" dirty="0"/>
              <a:t>根结点的</a:t>
            </a:r>
            <a:r>
              <a:rPr lang="en-US" altLang="zh-CN" sz="1600" dirty="0"/>
              <a:t>parent</a:t>
            </a:r>
            <a:r>
              <a:rPr lang="zh-CN" altLang="en-US" sz="1600" dirty="0"/>
              <a:t>存树中结点个数的</a:t>
            </a:r>
            <a:r>
              <a:rPr lang="zh-CN" altLang="en-US" sz="1600" dirty="0">
                <a:solidFill>
                  <a:srgbClr val="FF0000"/>
                </a:solidFill>
              </a:rPr>
              <a:t>负数</a:t>
            </a:r>
            <a:r>
              <a:rPr lang="zh-CN" altLang="en-US" sz="1600" dirty="0"/>
              <a:t>。</a:t>
            </a:r>
            <a:endParaRPr lang="en-US" altLang="zh-CN" sz="1600" dirty="0"/>
          </a:p>
          <a:p>
            <a:pPr lvl="2">
              <a:lnSpc>
                <a:spcPct val="130000"/>
              </a:lnSpc>
              <a:spcBef>
                <a:spcPct val="0"/>
              </a:spcBef>
            </a:pPr>
            <a:r>
              <a:rPr lang="en-US" altLang="zh-CN" sz="1600" dirty="0"/>
              <a:t>void </a:t>
            </a:r>
            <a:r>
              <a:rPr lang="en-US" altLang="zh-CN" sz="1600" dirty="0" err="1"/>
              <a:t>mix_mfset</a:t>
            </a:r>
            <a:r>
              <a:rPr lang="en-US" altLang="zh-CN" sz="1600" dirty="0"/>
              <a:t>(</a:t>
            </a:r>
            <a:r>
              <a:rPr lang="en-US" altLang="zh-CN" sz="1600" dirty="0" err="1"/>
              <a:t>MFSet</a:t>
            </a:r>
            <a:r>
              <a:rPr lang="en-US" altLang="zh-CN" sz="1600" dirty="0"/>
              <a:t> &amp;S, </a:t>
            </a:r>
            <a:r>
              <a:rPr lang="en-US" altLang="zh-CN" sz="1600" dirty="0" err="1"/>
              <a:t>int</a:t>
            </a:r>
            <a:r>
              <a:rPr lang="en-US" altLang="zh-CN" sz="1600" dirty="0"/>
              <a:t> </a:t>
            </a:r>
            <a:r>
              <a:rPr lang="en-US" altLang="zh-CN" sz="1600" dirty="0" err="1"/>
              <a:t>i</a:t>
            </a:r>
            <a:r>
              <a:rPr lang="en-US" altLang="zh-CN" sz="1600" dirty="0"/>
              <a:t>, </a:t>
            </a:r>
            <a:r>
              <a:rPr lang="en-US" altLang="zh-CN" sz="1600" dirty="0" err="1"/>
              <a:t>int</a:t>
            </a:r>
            <a:r>
              <a:rPr lang="en-US" altLang="zh-CN" sz="1600" dirty="0"/>
              <a:t> j){</a:t>
            </a:r>
            <a:endParaRPr lang="zh-CN" altLang="en-US" sz="1600" dirty="0"/>
          </a:p>
          <a:p>
            <a:pPr lvl="2">
              <a:lnSpc>
                <a:spcPct val="130000"/>
              </a:lnSpc>
              <a:spcBef>
                <a:spcPct val="0"/>
              </a:spcBef>
            </a:pPr>
            <a:r>
              <a:rPr lang="zh-CN" altLang="en-US" sz="1600" dirty="0"/>
              <a:t>	</a:t>
            </a:r>
            <a:r>
              <a:rPr lang="en-US" altLang="zh-CN" sz="1600" dirty="0"/>
              <a:t>if(</a:t>
            </a:r>
            <a:r>
              <a:rPr lang="en-US" altLang="zh-CN" sz="1600" dirty="0" err="1"/>
              <a:t>i</a:t>
            </a:r>
            <a:r>
              <a:rPr lang="en-US" altLang="zh-CN" sz="1600" dirty="0"/>
              <a:t>&lt;1 ||</a:t>
            </a:r>
            <a:r>
              <a:rPr lang="en-US" altLang="zh-CN" sz="1600" dirty="0" err="1"/>
              <a:t>i</a:t>
            </a:r>
            <a:r>
              <a:rPr lang="en-US" altLang="zh-CN" sz="1600" dirty="0"/>
              <a:t>&gt;</a:t>
            </a:r>
            <a:r>
              <a:rPr lang="en-US" altLang="zh-CN" sz="1600" dirty="0" err="1"/>
              <a:t>S.n</a:t>
            </a:r>
            <a:r>
              <a:rPr lang="en-US" altLang="zh-CN" sz="1600" dirty="0"/>
              <a:t> ||j&lt;1 || j&gt;</a:t>
            </a:r>
            <a:r>
              <a:rPr lang="en-US" altLang="zh-CN" sz="1600" dirty="0" err="1"/>
              <a:t>S.n</a:t>
            </a:r>
            <a:r>
              <a:rPr lang="en-US" altLang="zh-CN" sz="1600" dirty="0"/>
              <a:t>) return ERROR;</a:t>
            </a:r>
            <a:endParaRPr lang="zh-CN" altLang="en-US" sz="1600" dirty="0"/>
          </a:p>
          <a:p>
            <a:pPr lvl="2">
              <a:lnSpc>
                <a:spcPct val="130000"/>
              </a:lnSpc>
              <a:spcBef>
                <a:spcPct val="0"/>
              </a:spcBef>
            </a:pPr>
            <a:r>
              <a:rPr lang="zh-CN" altLang="en-US" sz="1600" dirty="0"/>
              <a:t>	</a:t>
            </a:r>
            <a:r>
              <a:rPr lang="en-US" altLang="zh-CN" sz="1600" dirty="0">
                <a:solidFill>
                  <a:srgbClr val="FF0000"/>
                </a:solidFill>
              </a:rPr>
              <a:t>if(</a:t>
            </a:r>
            <a:r>
              <a:rPr lang="en-US" altLang="zh-CN" sz="1600" dirty="0" err="1">
                <a:solidFill>
                  <a:srgbClr val="FF0000"/>
                </a:solidFill>
              </a:rPr>
              <a:t>S.nodes</a:t>
            </a:r>
            <a:r>
              <a:rPr lang="en-US" altLang="zh-CN" sz="1600" dirty="0">
                <a:solidFill>
                  <a:srgbClr val="FF0000"/>
                </a:solidFill>
              </a:rPr>
              <a:t>[</a:t>
            </a:r>
            <a:r>
              <a:rPr lang="en-US" altLang="zh-CN" sz="1600" dirty="0" err="1">
                <a:solidFill>
                  <a:srgbClr val="FF0000"/>
                </a:solidFill>
              </a:rPr>
              <a:t>i</a:t>
            </a:r>
            <a:r>
              <a:rPr lang="en-US" altLang="zh-CN" sz="1600" dirty="0">
                <a:solidFill>
                  <a:srgbClr val="FF0000"/>
                </a:solidFill>
              </a:rPr>
              <a:t>].parent&gt;</a:t>
            </a:r>
            <a:r>
              <a:rPr lang="en-US" altLang="zh-CN" sz="1600" dirty="0" err="1">
                <a:solidFill>
                  <a:srgbClr val="FF0000"/>
                </a:solidFill>
              </a:rPr>
              <a:t>S.nodes</a:t>
            </a:r>
            <a:r>
              <a:rPr lang="en-US" altLang="zh-CN" sz="1600" dirty="0">
                <a:solidFill>
                  <a:srgbClr val="FF0000"/>
                </a:solidFill>
              </a:rPr>
              <a:t>[j].parent</a:t>
            </a:r>
            <a:r>
              <a:rPr lang="en-US" altLang="zh-CN" sz="1600" dirty="0"/>
              <a:t>){</a:t>
            </a:r>
            <a:endParaRPr lang="zh-CN" altLang="en-US" sz="1600" dirty="0"/>
          </a:p>
          <a:p>
            <a:pPr lvl="2">
              <a:lnSpc>
                <a:spcPct val="130000"/>
              </a:lnSpc>
              <a:spcBef>
                <a:spcPct val="0"/>
              </a:spcBef>
            </a:pPr>
            <a:r>
              <a:rPr lang="zh-CN" altLang="en-US" sz="1600" dirty="0"/>
              <a:t>		</a:t>
            </a:r>
            <a:r>
              <a:rPr lang="en-US" altLang="zh-CN" sz="1600" dirty="0" err="1"/>
              <a:t>S.nodes</a:t>
            </a:r>
            <a:r>
              <a:rPr lang="en-US" altLang="zh-CN" sz="1600" dirty="0"/>
              <a:t>[j].parent+=</a:t>
            </a:r>
            <a:r>
              <a:rPr lang="en-US" altLang="zh-CN" sz="1600" dirty="0" err="1"/>
              <a:t>S.nodes</a:t>
            </a:r>
            <a:r>
              <a:rPr lang="en-US" altLang="zh-CN" sz="1600" dirty="0"/>
              <a:t>[</a:t>
            </a:r>
            <a:r>
              <a:rPr lang="en-US" altLang="zh-CN" sz="1600" dirty="0" err="1"/>
              <a:t>i</a:t>
            </a:r>
            <a:r>
              <a:rPr lang="en-US" altLang="zh-CN" sz="1600" dirty="0"/>
              <a:t>].parent;</a:t>
            </a:r>
            <a:endParaRPr lang="zh-CN" altLang="en-US" sz="1600" dirty="0"/>
          </a:p>
          <a:p>
            <a:pPr lvl="2">
              <a:lnSpc>
                <a:spcPct val="130000"/>
              </a:lnSpc>
              <a:spcBef>
                <a:spcPct val="0"/>
              </a:spcBef>
            </a:pPr>
            <a:r>
              <a:rPr lang="zh-CN" altLang="en-US" sz="1600" dirty="0"/>
              <a:t>		</a:t>
            </a:r>
            <a:r>
              <a:rPr lang="en-US" altLang="zh-CN" sz="1600" dirty="0" err="1"/>
              <a:t>S.nodes</a:t>
            </a:r>
            <a:r>
              <a:rPr lang="en-US" altLang="zh-CN" sz="1600" dirty="0"/>
              <a:t>[</a:t>
            </a:r>
            <a:r>
              <a:rPr lang="en-US" altLang="zh-CN" sz="1600" dirty="0" err="1"/>
              <a:t>i</a:t>
            </a:r>
            <a:r>
              <a:rPr lang="en-US" altLang="zh-CN" sz="1600" dirty="0"/>
              <a:t>].parent=j;</a:t>
            </a:r>
            <a:endParaRPr lang="zh-CN" altLang="en-US" sz="1600" dirty="0"/>
          </a:p>
          <a:p>
            <a:pPr lvl="2">
              <a:lnSpc>
                <a:spcPct val="130000"/>
              </a:lnSpc>
              <a:spcBef>
                <a:spcPct val="0"/>
              </a:spcBef>
            </a:pPr>
            <a:r>
              <a:rPr lang="zh-CN" altLang="en-US" sz="1600" dirty="0"/>
              <a:t>	</a:t>
            </a:r>
            <a:r>
              <a:rPr lang="en-US" altLang="zh-CN" sz="1600" dirty="0"/>
              <a:t>}else{</a:t>
            </a:r>
            <a:endParaRPr lang="zh-CN" altLang="en-US" sz="1600" dirty="0"/>
          </a:p>
          <a:p>
            <a:pPr lvl="2">
              <a:lnSpc>
                <a:spcPct val="130000"/>
              </a:lnSpc>
              <a:spcBef>
                <a:spcPct val="0"/>
              </a:spcBef>
            </a:pPr>
            <a:r>
              <a:rPr lang="zh-CN" altLang="en-US" sz="1600" dirty="0"/>
              <a:t>		</a:t>
            </a:r>
            <a:r>
              <a:rPr lang="en-US" altLang="zh-CN" sz="1600" dirty="0" err="1"/>
              <a:t>S.nodes</a:t>
            </a:r>
            <a:r>
              <a:rPr lang="en-US" altLang="zh-CN" sz="1600" dirty="0"/>
              <a:t>[</a:t>
            </a:r>
            <a:r>
              <a:rPr lang="en-US" altLang="zh-CN" sz="1600" dirty="0" err="1"/>
              <a:t>i</a:t>
            </a:r>
            <a:r>
              <a:rPr lang="en-US" altLang="zh-CN" sz="1600" dirty="0"/>
              <a:t>].parent+=</a:t>
            </a:r>
            <a:r>
              <a:rPr lang="en-US" altLang="zh-CN" sz="1600" dirty="0" err="1"/>
              <a:t>S.nodes</a:t>
            </a:r>
            <a:r>
              <a:rPr lang="en-US" altLang="zh-CN" sz="1600" dirty="0"/>
              <a:t>[j].parent;</a:t>
            </a:r>
            <a:endParaRPr lang="zh-CN" altLang="en-US" sz="1600" dirty="0"/>
          </a:p>
          <a:p>
            <a:pPr lvl="2">
              <a:lnSpc>
                <a:spcPct val="130000"/>
              </a:lnSpc>
              <a:spcBef>
                <a:spcPct val="0"/>
              </a:spcBef>
            </a:pPr>
            <a:r>
              <a:rPr lang="zh-CN" altLang="en-US" sz="1600" dirty="0"/>
              <a:t>		</a:t>
            </a:r>
            <a:r>
              <a:rPr lang="en-US" altLang="zh-CN" sz="1600" dirty="0" err="1"/>
              <a:t>S.nodes</a:t>
            </a:r>
            <a:r>
              <a:rPr lang="en-US" altLang="zh-CN" sz="1600" dirty="0"/>
              <a:t>[j].parent=</a:t>
            </a:r>
            <a:r>
              <a:rPr lang="en-US" altLang="zh-CN" sz="1600" dirty="0" err="1"/>
              <a:t>i</a:t>
            </a:r>
            <a:r>
              <a:rPr lang="en-US" altLang="zh-CN" sz="1600" dirty="0"/>
              <a:t>;</a:t>
            </a:r>
            <a:r>
              <a:rPr lang="zh-CN" altLang="en-US" sz="1600" dirty="0"/>
              <a:t>	</a:t>
            </a:r>
            <a:r>
              <a:rPr lang="en-US" altLang="zh-CN" sz="1600" dirty="0"/>
              <a:t>}</a:t>
            </a:r>
            <a:endParaRPr lang="zh-CN" altLang="en-US" sz="1600" dirty="0"/>
          </a:p>
          <a:p>
            <a:pPr lvl="2">
              <a:lnSpc>
                <a:spcPct val="130000"/>
              </a:lnSpc>
              <a:spcBef>
                <a:spcPct val="0"/>
              </a:spcBef>
            </a:pPr>
            <a:r>
              <a:rPr lang="zh-CN" altLang="en-US" sz="1600" dirty="0"/>
              <a:t>	</a:t>
            </a:r>
            <a:r>
              <a:rPr lang="en-US" altLang="zh-CN" sz="1600" dirty="0"/>
              <a:t>return OK;</a:t>
            </a:r>
            <a:endParaRPr lang="zh-CN" altLang="en-US" sz="1600" dirty="0"/>
          </a:p>
          <a:p>
            <a:pPr lvl="2">
              <a:lnSpc>
                <a:spcPct val="130000"/>
              </a:lnSpc>
              <a:spcBef>
                <a:spcPct val="0"/>
              </a:spcBef>
            </a:pPr>
            <a:r>
              <a:rPr lang="en-US" altLang="zh-CN" sz="1600" dirty="0"/>
              <a:t>}</a:t>
            </a:r>
            <a:endParaRPr lang="en-US" altLang="zh-CN" sz="1600" dirty="0"/>
          </a:p>
          <a:p>
            <a:pPr lvl="1">
              <a:lnSpc>
                <a:spcPct val="130000"/>
              </a:lnSpc>
              <a:spcBef>
                <a:spcPct val="0"/>
              </a:spcBef>
            </a:pPr>
            <a:endParaRPr lang="en-US" altLang="zh-CN" sz="1800"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241260" y="148220"/>
            <a:ext cx="3523477" cy="171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 name="表格 4"/>
          <p:cNvGraphicFramePr>
            <a:graphicFrameLocks noGrp="1"/>
          </p:cNvGraphicFramePr>
          <p:nvPr/>
        </p:nvGraphicFramePr>
        <p:xfrm>
          <a:off x="1439467" y="1132285"/>
          <a:ext cx="2430066" cy="3383754"/>
        </p:xfrm>
        <a:graphic>
          <a:graphicData uri="http://schemas.openxmlformats.org/drawingml/2006/table">
            <a:tbl>
              <a:tblPr firstRow="1" bandRow="1">
                <a:tableStyleId>{F5AB1C69-6EDB-4FF4-983F-18BD219EF322}</a:tableStyleId>
              </a:tblPr>
              <a:tblGrid>
                <a:gridCol w="810022"/>
                <a:gridCol w="810022"/>
                <a:gridCol w="810022"/>
              </a:tblGrid>
              <a:tr h="307614">
                <a:tc>
                  <a:txBody>
                    <a:bodyPr/>
                    <a:lstStyle/>
                    <a:p>
                      <a:pPr algn="r"/>
                      <a:r>
                        <a:rPr lang="zh-CN" altLang="en-US" sz="1400" dirty="0">
                          <a:solidFill>
                            <a:schemeClr val="tx1"/>
                          </a:solidFill>
                        </a:rPr>
                        <a:t>下标</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Data</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tx1"/>
                          </a:solidFill>
                        </a:rPr>
                        <a:t>Parent</a:t>
                      </a:r>
                      <a:endParaRPr lang="en-US" altLang="zh-CN"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7614">
                <a:tc>
                  <a:txBody>
                    <a:bodyPr/>
                    <a:lstStyle/>
                    <a:p>
                      <a:pPr algn="r"/>
                      <a:r>
                        <a:rPr lang="en-US" altLang="zh-CN" sz="1400" dirty="0">
                          <a:solidFill>
                            <a:schemeClr val="tx1"/>
                          </a:solidFill>
                        </a:rPr>
                        <a:t>1</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rgbClr val="FF0000"/>
                          </a:solidFill>
                        </a:rPr>
                        <a:t>-4</a:t>
                      </a:r>
                      <a:endParaRPr lang="en-US" altLang="zh-CN" sz="1400" dirty="0">
                        <a:solidFill>
                          <a:srgbClr val="FF0000"/>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2</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3</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rgbClr val="FF0000"/>
                          </a:solidFill>
                        </a:rPr>
                        <a:t>-3</a:t>
                      </a:r>
                      <a:endParaRPr lang="zh-CN" altLang="en-US" sz="1400" dirty="0">
                        <a:solidFill>
                          <a:srgbClr val="FF0000"/>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4</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5</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3</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6</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rgbClr val="FF0000"/>
                          </a:solidFill>
                        </a:rPr>
                        <a:t>-3</a:t>
                      </a:r>
                      <a:endParaRPr lang="zh-CN" altLang="en-US" sz="1400" dirty="0">
                        <a:solidFill>
                          <a:srgbClr val="FF0000"/>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7</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1</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8</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8</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3</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9</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07614">
                <a:tc>
                  <a:txBody>
                    <a:bodyPr/>
                    <a:lstStyle/>
                    <a:p>
                      <a:pPr algn="r"/>
                      <a:r>
                        <a:rPr lang="en-US" altLang="zh-CN" sz="1400" dirty="0">
                          <a:solidFill>
                            <a:schemeClr val="tx1"/>
                          </a:solidFill>
                        </a:rPr>
                        <a:t>10</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marL="68574" marR="68574" marT="34293" marB="34293">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marL="68574" marR="68574" marT="34293" marB="3429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r="7410"/>
          <a:stretch>
            <a:fillRect/>
          </a:stretch>
        </p:blipFill>
        <p:spPr bwMode="auto">
          <a:xfrm>
            <a:off x="5241259" y="238475"/>
            <a:ext cx="3440654" cy="1146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TextBox 4"/>
          <p:cNvSpPr txBox="1">
            <a:spLocks noChangeArrowheads="1"/>
          </p:cNvSpPr>
          <p:nvPr/>
        </p:nvSpPr>
        <p:spPr bwMode="auto">
          <a:xfrm>
            <a:off x="1547814" y="519114"/>
            <a:ext cx="303159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2400" dirty="0">
                <a:solidFill>
                  <a:srgbClr val="0070C0"/>
                </a:solidFill>
              </a:rPr>
              <a:t>增加等价关系（</a:t>
            </a:r>
            <a:r>
              <a:rPr lang="en-US" altLang="zh-CN" sz="2400" dirty="0">
                <a:solidFill>
                  <a:srgbClr val="0070C0"/>
                </a:solidFill>
              </a:rPr>
              <a:t>1,3</a:t>
            </a:r>
            <a:r>
              <a:rPr lang="zh-CN" altLang="en-US" sz="2400" dirty="0">
                <a:solidFill>
                  <a:srgbClr val="0070C0"/>
                </a:solidFill>
              </a:rPr>
              <a:t>）</a:t>
            </a:r>
            <a:endParaRPr lang="zh-CN" altLang="en-US" sz="2400" dirty="0">
              <a:solidFill>
                <a:srgbClr val="0070C0"/>
              </a:solidFill>
            </a:endParaRPr>
          </a:p>
        </p:txBody>
      </p:sp>
      <p:sp>
        <p:nvSpPr>
          <p:cNvPr id="8" name="TextBox 7"/>
          <p:cNvSpPr txBox="1"/>
          <p:nvPr/>
        </p:nvSpPr>
        <p:spPr>
          <a:xfrm>
            <a:off x="3330179" y="2085976"/>
            <a:ext cx="323850" cy="323165"/>
          </a:xfrm>
          <a:prstGeom prst="rect">
            <a:avLst/>
          </a:prstGeom>
          <a:solidFill>
            <a:schemeClr val="accent3"/>
          </a:solidFill>
        </p:spPr>
        <p:txBody>
          <a:bodyPr>
            <a:spAutoFit/>
          </a:bodyPr>
          <a:lstStyle/>
          <a:p>
            <a:pPr eaLnBrk="1" hangingPunct="1">
              <a:defRPr/>
            </a:pPr>
            <a:r>
              <a:rPr lang="en-US" altLang="zh-CN" sz="1500" dirty="0">
                <a:solidFill>
                  <a:srgbClr val="0070C0"/>
                </a:solidFill>
              </a:rPr>
              <a:t>1</a:t>
            </a:r>
            <a:endParaRPr lang="zh-CN" altLang="en-US" sz="1500" dirty="0">
              <a:solidFill>
                <a:srgbClr val="0070C0"/>
              </a:solidFill>
            </a:endParaRPr>
          </a:p>
        </p:txBody>
      </p:sp>
      <p:sp>
        <p:nvSpPr>
          <p:cNvPr id="9" name="TextBox 8"/>
          <p:cNvSpPr txBox="1">
            <a:spLocks noChangeArrowheads="1"/>
          </p:cNvSpPr>
          <p:nvPr/>
        </p:nvSpPr>
        <p:spPr bwMode="auto">
          <a:xfrm>
            <a:off x="3301603" y="1437086"/>
            <a:ext cx="344966" cy="32316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500">
                <a:solidFill>
                  <a:srgbClr val="0070C0"/>
                </a:solidFill>
              </a:rPr>
              <a:t>-7</a:t>
            </a:r>
            <a:endParaRPr lang="zh-CN" altLang="en-US" sz="1500">
              <a:solidFill>
                <a:srgbClr val="0070C0"/>
              </a:solidFill>
            </a:endParaRPr>
          </a:p>
        </p:txBody>
      </p:sp>
      <p:sp>
        <p:nvSpPr>
          <p:cNvPr id="10" name="椭圆形标注 5"/>
          <p:cNvSpPr>
            <a:spLocks noChangeArrowheads="1"/>
          </p:cNvSpPr>
          <p:nvPr/>
        </p:nvSpPr>
        <p:spPr bwMode="auto">
          <a:xfrm>
            <a:off x="4518423" y="1924052"/>
            <a:ext cx="2159794" cy="756047"/>
          </a:xfrm>
          <a:prstGeom prst="wedgeEllipseCallout">
            <a:avLst>
              <a:gd name="adj1" fmla="val -81681"/>
              <a:gd name="adj2" fmla="val -88676"/>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solidFill>
                  <a:srgbClr val="FF0000"/>
                </a:solidFill>
              </a:rPr>
              <a:t>集合合并，共有</a:t>
            </a:r>
            <a:r>
              <a:rPr lang="en-US" altLang="zh-CN" sz="1800" dirty="0">
                <a:solidFill>
                  <a:srgbClr val="FF0000"/>
                </a:solidFill>
              </a:rPr>
              <a:t>7</a:t>
            </a:r>
            <a:r>
              <a:rPr lang="zh-CN" altLang="en-US" sz="1800" dirty="0">
                <a:solidFill>
                  <a:srgbClr val="FF0000"/>
                </a:solidFill>
              </a:rPr>
              <a:t>个元素</a:t>
            </a:r>
            <a:endParaRPr lang="zh-CN" altLang="en-US" sz="1800" dirty="0"/>
          </a:p>
        </p:txBody>
      </p:sp>
      <p:sp>
        <p:nvSpPr>
          <p:cNvPr id="11" name="椭圆形标注 5"/>
          <p:cNvSpPr>
            <a:spLocks noChangeArrowheads="1"/>
          </p:cNvSpPr>
          <p:nvPr/>
        </p:nvSpPr>
        <p:spPr bwMode="auto">
          <a:xfrm>
            <a:off x="4733925" y="2842023"/>
            <a:ext cx="2159794" cy="756047"/>
          </a:xfrm>
          <a:prstGeom prst="wedgeEllipseCallout">
            <a:avLst>
              <a:gd name="adj1" fmla="val -89088"/>
              <a:gd name="adj2" fmla="val -131009"/>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a:solidFill>
                  <a:srgbClr val="FF0000"/>
                </a:solidFill>
              </a:rPr>
              <a:t>双亲改变</a:t>
            </a:r>
            <a:endParaRPr lang="zh-CN" altLang="en-US" sz="1800">
              <a:solidFill>
                <a:srgbClr val="FF0000"/>
              </a:solidFill>
            </a:endParaRPr>
          </a:p>
        </p:txBody>
      </p:sp>
      <p:sp>
        <p:nvSpPr>
          <p:cNvPr id="12" name="椭圆形标注 5"/>
          <p:cNvSpPr>
            <a:spLocks noChangeArrowheads="1"/>
          </p:cNvSpPr>
          <p:nvPr/>
        </p:nvSpPr>
        <p:spPr bwMode="auto">
          <a:xfrm>
            <a:off x="4895850" y="3813574"/>
            <a:ext cx="2890912" cy="1026319"/>
          </a:xfrm>
          <a:prstGeom prst="wedgeEllipseCallout">
            <a:avLst>
              <a:gd name="adj1" fmla="val -86852"/>
              <a:gd name="adj2" fmla="val -117005"/>
            </a:avLst>
          </a:prstGeom>
          <a:solidFill>
            <a:schemeClr val="accent1"/>
          </a:solidFill>
          <a:ln w="9525" algn="ctr">
            <a:solidFill>
              <a:schemeClr val="tx1"/>
            </a:solidFill>
            <a:round/>
          </a:ln>
        </p:spPr>
        <p:txBody>
          <a:bodyPr/>
          <a:lstStyle>
            <a:lvl1pPr>
              <a:spcBef>
                <a:spcPct val="20000"/>
              </a:spcBef>
              <a:buChar char="•"/>
              <a:defRPr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a:solidFill>
                  <a:srgbClr val="FF0000"/>
                </a:solidFill>
              </a:rPr>
              <a:t>根结点的双亲改为结点个数的负数</a:t>
            </a:r>
            <a:endParaRPr lang="zh-CN" altLang="en-US" sz="180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6"/>
                                        </p:tgtEl>
                                      </p:cBhvr>
                                    </p:animEffect>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dissolv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dissolv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dissolv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P spid="10" grpId="0" animBg="1"/>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800"/>
              </a:lnSpc>
              <a:spcBef>
                <a:spcPct val="0"/>
              </a:spcBef>
            </a:pPr>
            <a:r>
              <a:rPr lang="zh-CN" altLang="en-US" sz="1900" dirty="0"/>
              <a:t>为了进一步减少查找时间，通过“</a:t>
            </a:r>
            <a:r>
              <a:rPr lang="zh-CN" altLang="en-US" sz="1900" dirty="0">
                <a:solidFill>
                  <a:srgbClr val="FF0000"/>
                </a:solidFill>
              </a:rPr>
              <a:t>压缩路径</a:t>
            </a:r>
            <a:r>
              <a:rPr lang="zh-CN" altLang="en-US" sz="1900" dirty="0"/>
              <a:t>”的功能来进一步改进集合的合并算法：</a:t>
            </a:r>
            <a:endParaRPr lang="en-US" altLang="zh-CN" sz="1900" dirty="0"/>
          </a:p>
          <a:p>
            <a:pPr lvl="2">
              <a:lnSpc>
                <a:spcPts val="2800"/>
              </a:lnSpc>
              <a:spcBef>
                <a:spcPct val="0"/>
              </a:spcBef>
            </a:pPr>
            <a:r>
              <a:rPr lang="en-US" altLang="zh-CN" sz="1900" dirty="0" err="1"/>
              <a:t>int</a:t>
            </a:r>
            <a:r>
              <a:rPr lang="en-US" altLang="zh-CN" sz="1900" dirty="0"/>
              <a:t> </a:t>
            </a:r>
            <a:r>
              <a:rPr lang="en-US" altLang="zh-CN" sz="1900" dirty="0" err="1"/>
              <a:t>fix_mfset</a:t>
            </a:r>
            <a:r>
              <a:rPr lang="en-US" altLang="zh-CN" sz="1900" dirty="0"/>
              <a:t>(</a:t>
            </a:r>
            <a:r>
              <a:rPr lang="en-US" altLang="zh-CN" sz="1900" dirty="0" err="1"/>
              <a:t>MFSet</a:t>
            </a:r>
            <a:r>
              <a:rPr lang="en-US" altLang="zh-CN" sz="1900" dirty="0"/>
              <a:t> &amp;S, </a:t>
            </a:r>
            <a:r>
              <a:rPr lang="en-US" altLang="zh-CN" sz="1900" dirty="0" err="1"/>
              <a:t>int</a:t>
            </a:r>
            <a:r>
              <a:rPr lang="en-US" altLang="zh-CN" sz="1900" dirty="0"/>
              <a:t> </a:t>
            </a:r>
            <a:r>
              <a:rPr lang="en-US" altLang="zh-CN" sz="1900" dirty="0" err="1"/>
              <a:t>i</a:t>
            </a:r>
            <a:r>
              <a:rPr lang="en-US" altLang="zh-CN" sz="1900" dirty="0"/>
              <a:t>){</a:t>
            </a:r>
            <a:endParaRPr lang="zh-CN" altLang="en-US" sz="1900" dirty="0"/>
          </a:p>
          <a:p>
            <a:pPr lvl="2">
              <a:lnSpc>
                <a:spcPts val="2800"/>
              </a:lnSpc>
              <a:spcBef>
                <a:spcPct val="0"/>
              </a:spcBef>
            </a:pPr>
            <a:r>
              <a:rPr lang="zh-CN" altLang="en-US" sz="1900" dirty="0"/>
              <a:t>	</a:t>
            </a:r>
            <a:r>
              <a:rPr lang="en-US" altLang="zh-CN" sz="1900" dirty="0"/>
              <a:t>if(</a:t>
            </a:r>
            <a:r>
              <a:rPr lang="en-US" altLang="zh-CN" sz="1900" dirty="0" err="1"/>
              <a:t>i</a:t>
            </a:r>
            <a:r>
              <a:rPr lang="en-US" altLang="zh-CN" sz="1900" dirty="0"/>
              <a:t>&lt;1 ||</a:t>
            </a:r>
            <a:r>
              <a:rPr lang="en-US" altLang="zh-CN" sz="1900" dirty="0" err="1"/>
              <a:t>i</a:t>
            </a:r>
            <a:r>
              <a:rPr lang="en-US" altLang="zh-CN" sz="1900" dirty="0"/>
              <a:t>&gt;</a:t>
            </a:r>
            <a:r>
              <a:rPr lang="en-US" altLang="zh-CN" sz="1900" dirty="0" err="1"/>
              <a:t>S.n</a:t>
            </a:r>
            <a:r>
              <a:rPr lang="en-US" altLang="zh-CN" sz="1900" dirty="0"/>
              <a:t>) return -1;</a:t>
            </a:r>
            <a:endParaRPr lang="zh-CN" altLang="en-US" sz="1900" dirty="0"/>
          </a:p>
          <a:p>
            <a:pPr lvl="2">
              <a:lnSpc>
                <a:spcPts val="2800"/>
              </a:lnSpc>
              <a:spcBef>
                <a:spcPct val="0"/>
              </a:spcBef>
            </a:pPr>
            <a:r>
              <a:rPr lang="zh-CN" altLang="en-US" sz="1900" dirty="0"/>
              <a:t>	</a:t>
            </a:r>
            <a:r>
              <a:rPr lang="en-US" altLang="zh-CN" sz="1900" dirty="0"/>
              <a:t>for(j=</a:t>
            </a:r>
            <a:r>
              <a:rPr lang="en-US" altLang="zh-CN" sz="1900" dirty="0" err="1"/>
              <a:t>i</a:t>
            </a:r>
            <a:r>
              <a:rPr lang="en-US" altLang="zh-CN" sz="1900" dirty="0"/>
              <a:t>; </a:t>
            </a:r>
            <a:r>
              <a:rPr lang="en-US" altLang="zh-CN" sz="1900" dirty="0" err="1"/>
              <a:t>S.nodes</a:t>
            </a:r>
            <a:r>
              <a:rPr lang="en-US" altLang="zh-CN" sz="1900" dirty="0"/>
              <a:t>[j].parent&gt;0; j=</a:t>
            </a:r>
            <a:r>
              <a:rPr lang="en-US" altLang="zh-CN" sz="1900" dirty="0" err="1"/>
              <a:t>S.nodes</a:t>
            </a:r>
            <a:r>
              <a:rPr lang="en-US" altLang="zh-CN" sz="1900" dirty="0"/>
              <a:t>[j].parent);</a:t>
            </a:r>
            <a:endParaRPr lang="zh-CN" altLang="en-US" sz="1900" dirty="0"/>
          </a:p>
          <a:p>
            <a:pPr lvl="2">
              <a:lnSpc>
                <a:spcPts val="2800"/>
              </a:lnSpc>
              <a:spcBef>
                <a:spcPct val="0"/>
              </a:spcBef>
            </a:pPr>
            <a:r>
              <a:rPr lang="zh-CN" altLang="en-US" sz="1900" dirty="0"/>
              <a:t>	</a:t>
            </a:r>
            <a:r>
              <a:rPr lang="en-US" altLang="zh-CN" sz="1900" dirty="0"/>
              <a:t>for(k=</a:t>
            </a:r>
            <a:r>
              <a:rPr lang="en-US" altLang="zh-CN" sz="1900" dirty="0" err="1"/>
              <a:t>i</a:t>
            </a:r>
            <a:r>
              <a:rPr lang="en-US" altLang="zh-CN" sz="1900" dirty="0"/>
              <a:t>; k!=j; k=t){</a:t>
            </a:r>
            <a:endParaRPr lang="zh-CN" altLang="en-US" sz="1900" dirty="0"/>
          </a:p>
          <a:p>
            <a:pPr lvl="2">
              <a:lnSpc>
                <a:spcPts val="2800"/>
              </a:lnSpc>
              <a:spcBef>
                <a:spcPct val="0"/>
              </a:spcBef>
            </a:pPr>
            <a:r>
              <a:rPr lang="zh-CN" altLang="en-US" sz="1900" dirty="0"/>
              <a:t>		</a:t>
            </a:r>
            <a:r>
              <a:rPr lang="en-US" altLang="zh-CN" sz="1900" dirty="0"/>
              <a:t>t=</a:t>
            </a:r>
            <a:r>
              <a:rPr lang="en-US" altLang="zh-CN" sz="1900" dirty="0" err="1"/>
              <a:t>S.nodes</a:t>
            </a:r>
            <a:r>
              <a:rPr lang="en-US" altLang="zh-CN" sz="1900" dirty="0"/>
              <a:t>[k].parent;</a:t>
            </a:r>
            <a:endParaRPr lang="zh-CN" altLang="en-US" sz="1900" dirty="0"/>
          </a:p>
          <a:p>
            <a:pPr lvl="2">
              <a:lnSpc>
                <a:spcPts val="2800"/>
              </a:lnSpc>
              <a:spcBef>
                <a:spcPct val="0"/>
              </a:spcBef>
            </a:pPr>
            <a:r>
              <a:rPr lang="zh-CN" altLang="en-US" sz="1900" dirty="0"/>
              <a:t>		</a:t>
            </a:r>
            <a:r>
              <a:rPr lang="en-US" altLang="zh-CN" sz="1900" dirty="0" err="1"/>
              <a:t>S.nodes</a:t>
            </a:r>
            <a:r>
              <a:rPr lang="en-US" altLang="zh-CN" sz="1900" dirty="0"/>
              <a:t>[k].parent=j;</a:t>
            </a:r>
            <a:endParaRPr lang="zh-CN" altLang="en-US" sz="1900" dirty="0"/>
          </a:p>
          <a:p>
            <a:pPr lvl="2">
              <a:lnSpc>
                <a:spcPts val="2800"/>
              </a:lnSpc>
              <a:spcBef>
                <a:spcPct val="0"/>
              </a:spcBef>
            </a:pPr>
            <a:r>
              <a:rPr lang="zh-CN" altLang="en-US" sz="1900" dirty="0"/>
              <a:t>	</a:t>
            </a:r>
            <a:r>
              <a:rPr lang="en-US" altLang="zh-CN" sz="1900" dirty="0"/>
              <a:t>}</a:t>
            </a:r>
            <a:endParaRPr lang="zh-CN" altLang="en-US" sz="1900" dirty="0"/>
          </a:p>
          <a:p>
            <a:pPr lvl="2">
              <a:lnSpc>
                <a:spcPts val="2800"/>
              </a:lnSpc>
              <a:spcBef>
                <a:spcPct val="0"/>
              </a:spcBef>
            </a:pPr>
            <a:r>
              <a:rPr lang="zh-CN" altLang="en-US" sz="1900" dirty="0"/>
              <a:t>	</a:t>
            </a:r>
            <a:r>
              <a:rPr lang="en-US" altLang="zh-CN" sz="1900" dirty="0"/>
              <a:t>return j;</a:t>
            </a:r>
            <a:endParaRPr lang="zh-CN" altLang="en-US" sz="1900" dirty="0"/>
          </a:p>
          <a:p>
            <a:pPr lvl="2">
              <a:lnSpc>
                <a:spcPts val="2800"/>
              </a:lnSpc>
              <a:spcBef>
                <a:spcPct val="0"/>
              </a:spcBef>
            </a:pPr>
            <a:r>
              <a:rPr lang="en-US" altLang="zh-CN" sz="1900" dirty="0"/>
              <a:t>}</a:t>
            </a:r>
            <a:endParaRPr lang="en-US" altLang="zh-CN" sz="1600" dirty="0"/>
          </a:p>
        </p:txBody>
      </p:sp>
      <p:sp>
        <p:nvSpPr>
          <p:cNvPr id="3" name="标题 2"/>
          <p:cNvSpPr>
            <a:spLocks noGrp="1"/>
          </p:cNvSpPr>
          <p:nvPr>
            <p:ph type="title"/>
          </p:nvPr>
        </p:nvSpPr>
        <p:spPr/>
        <p:txBody>
          <a:bodyPr/>
          <a:lstStyle/>
          <a:p>
            <a:r>
              <a:rPr lang="en-US" altLang="zh-CN" dirty="0"/>
              <a:t>6.6 </a:t>
            </a:r>
            <a:r>
              <a:rPr lang="zh-CN" altLang="en-US" dirty="0"/>
              <a:t>树与等价问题</a:t>
            </a:r>
            <a:endParaRPr lang="zh-CN" altLang="en-US" dirty="0"/>
          </a:p>
        </p:txBody>
      </p:sp>
    </p:spTree>
  </p:cSld>
  <p:clrMapOvr>
    <a:masterClrMapping/>
  </p:clrMapOvr>
</p:sld>
</file>

<file path=ppt/tags/tag1.xml><?xml version="1.0" encoding="utf-8"?>
<p:tagLst xmlns:p="http://schemas.openxmlformats.org/presentationml/2006/main">
  <p:tag name="REFSHAPE" val="691194636"/>
  <p:tag name="KSO_WM_UNIT_PLACING_PICTURE_USER_VIEWPORT" val="{&quot;height&quot;:2578,&quot;width&quot;:6730}"/>
</p:tagLst>
</file>

<file path=ppt/tags/tag2.xml><?xml version="1.0" encoding="utf-8"?>
<p:tagLst xmlns:p="http://schemas.openxmlformats.org/presentationml/2006/main">
  <p:tag name="KSO_WM_UNIT_TABLE_BEAUTIFY" val="smartTable{207e0a6e-a6f8-4169-bc50-cb8f8ac0a0a1}"/>
</p:tagLst>
</file>

<file path=ppt/tags/tag3.xml><?xml version="1.0" encoding="utf-8"?>
<p:tagLst xmlns:p="http://schemas.openxmlformats.org/presentationml/2006/main">
  <p:tag name="KSO_WM_UNIT_TABLE_BEAUTIFY" val="smartTable{ded8569b-a9a2-4904-a6fe-b7d57b16cf23}"/>
</p:tagLst>
</file>

<file path=ppt/tags/tag4.xml><?xml version="1.0" encoding="utf-8"?>
<p:tagLst xmlns:p="http://schemas.openxmlformats.org/presentationml/2006/main">
  <p:tag name="KSO_WPP_MARK_KEY" val="9e9df095-40ed-4f4a-9fab-ff20f7b39b54"/>
  <p:tag name="COMMONDATA" val="eyJoZGlkIjoiY2RkOTFiNGE3ZGMwNWJhNzRjN2YzYTQyNDI1ZmYzMDY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7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8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9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10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11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12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13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14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6.xml><?xml version="1.0" encoding="utf-8"?>
<a:theme xmlns:a="http://schemas.openxmlformats.org/drawingml/2006/main" name="16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7.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幻灯片</Template>
  <TotalTime>0</TotalTime>
  <Words>18498</Words>
  <Application>WPS 演示</Application>
  <PresentationFormat>全屏显示(16:9)</PresentationFormat>
  <Paragraphs>2081</Paragraphs>
  <Slides>107</Slides>
  <Notes>0</Notes>
  <HiddenSlides>0</HiddenSlides>
  <MMClips>0</MMClips>
  <ScaleCrop>false</ScaleCrop>
  <HeadingPairs>
    <vt:vector size="8" baseType="variant">
      <vt:variant>
        <vt:lpstr>已用的字体</vt:lpstr>
      </vt:variant>
      <vt:variant>
        <vt:i4>18</vt:i4>
      </vt:variant>
      <vt:variant>
        <vt:lpstr>主题</vt:lpstr>
      </vt:variant>
      <vt:variant>
        <vt:i4>16</vt:i4>
      </vt:variant>
      <vt:variant>
        <vt:lpstr>嵌入 OLE 服务器</vt:lpstr>
      </vt:variant>
      <vt:variant>
        <vt:i4>15</vt:i4>
      </vt:variant>
      <vt:variant>
        <vt:lpstr>幻灯片标题</vt:lpstr>
      </vt:variant>
      <vt:variant>
        <vt:i4>107</vt:i4>
      </vt:variant>
    </vt:vector>
  </HeadingPairs>
  <TitlesOfParts>
    <vt:vector size="156" baseType="lpstr">
      <vt:lpstr>Arial</vt:lpstr>
      <vt:lpstr>宋体</vt:lpstr>
      <vt:lpstr>Wingdings</vt:lpstr>
      <vt:lpstr>黑体</vt:lpstr>
      <vt:lpstr>华文新魏</vt:lpstr>
      <vt:lpstr>华文彩云</vt:lpstr>
      <vt:lpstr>Times New Roman</vt:lpstr>
      <vt:lpstr>方正隶书简体</vt:lpstr>
      <vt:lpstr>华文楷体</vt:lpstr>
      <vt:lpstr>Courier New</vt:lpstr>
      <vt:lpstr>Calibri</vt:lpstr>
      <vt:lpstr>微软雅黑</vt:lpstr>
      <vt:lpstr>Arial Unicode MS</vt:lpstr>
      <vt:lpstr>等线</vt:lpstr>
      <vt:lpstr>Calibri</vt:lpstr>
      <vt:lpstr>Times New Roman</vt:lpstr>
      <vt:lpstr>Symbol</vt:lpstr>
      <vt:lpstr>楷体</vt:lpstr>
      <vt:lpstr>Office 主题</vt:lpstr>
      <vt:lpstr>1_Office 主题</vt:lpstr>
      <vt:lpstr>2_Office 主题</vt:lpstr>
      <vt:lpstr>3_Office 主题</vt:lpstr>
      <vt:lpstr>4_Office 主题</vt:lpstr>
      <vt:lpstr>5_Office 主题</vt:lpstr>
      <vt:lpstr>6_Office 主题</vt:lpstr>
      <vt:lpstr>7_Office 主题</vt:lpstr>
      <vt:lpstr>8_Office 主题</vt:lpstr>
      <vt:lpstr>9_Office 主题</vt:lpstr>
      <vt:lpstr>10_Office 主题</vt:lpstr>
      <vt:lpstr>11_Office 主题</vt:lpstr>
      <vt:lpstr>12_Office 主题</vt:lpstr>
      <vt:lpstr>13_Office 主题</vt:lpstr>
      <vt:lpstr>14_Office 主题</vt:lpstr>
      <vt:lpstr>16_Office 主题</vt:lpstr>
      <vt:lpstr>Visio.Drawing.4</vt:lpstr>
      <vt:lpstr>Visio.Drawing.4</vt:lpstr>
      <vt:lpstr>Visio.Drawing.4</vt:lpstr>
      <vt:lpstr>Visio.Drawing.4</vt:lpstr>
      <vt:lpstr>Visio.Drawing.4</vt:lpstr>
      <vt:lpstr>Equation.3</vt:lpstr>
      <vt:lpstr>Visio.Drawing.4</vt:lpstr>
      <vt:lpstr>Equation.3</vt:lpstr>
      <vt:lpstr>Visio.Drawing.11</vt:lpstr>
      <vt:lpstr>Visio.Drawing.4</vt:lpstr>
      <vt:lpstr>Visio.Drawing.4</vt:lpstr>
      <vt:lpstr>Visio.Drawing.4</vt:lpstr>
      <vt:lpstr>Paint.Picture</vt:lpstr>
      <vt:lpstr>Paint.Picture</vt:lpstr>
      <vt:lpstr>Visio.Drawing.4</vt:lpstr>
      <vt:lpstr>树和二叉树</vt:lpstr>
      <vt:lpstr>本章目录</vt:lpstr>
      <vt:lpstr>6.1 树的定义和基本术语</vt:lpstr>
      <vt:lpstr>6.1 树的定义和基本术语</vt:lpstr>
      <vt:lpstr>6.1 树的定义和基本术语</vt:lpstr>
      <vt:lpstr>6.1 树的定义和基本术语</vt:lpstr>
      <vt:lpstr>6.1 树的定义和基本术语</vt:lpstr>
      <vt:lpstr>6.1 树的定义和基本术语</vt:lpstr>
      <vt:lpstr>6.1 树的定义和基本术语</vt:lpstr>
      <vt:lpstr>6.2 二叉树</vt:lpstr>
      <vt:lpstr>6.2 二叉树</vt:lpstr>
      <vt:lpstr>6.2 二叉树</vt:lpstr>
      <vt:lpstr>6.2 二叉树</vt:lpstr>
      <vt:lpstr>6.2 二叉树</vt:lpstr>
      <vt:lpstr>6.2 二叉树</vt:lpstr>
      <vt:lpstr>6.2 二叉树</vt:lpstr>
      <vt:lpstr>6.2 二叉树</vt:lpstr>
      <vt:lpstr>6.2 二叉树</vt:lpstr>
      <vt:lpstr>6.2 二叉树</vt:lpstr>
      <vt:lpstr>6.2 二叉树</vt:lpstr>
      <vt:lpstr>6.2 二叉树</vt:lpstr>
      <vt:lpstr>6.2 二叉树</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6.3 二叉树的遍历与线索化</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6.4 树和森林</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6.5 赫夫曼树及其应用</vt:lpstr>
      <vt:lpstr>6.6 树与等价问题</vt:lpstr>
      <vt:lpstr>6.6 树与等价问题</vt:lpstr>
      <vt:lpstr>6.6 树与等价问题</vt:lpstr>
      <vt:lpstr>6.6 树与等价问题</vt:lpstr>
      <vt:lpstr>6.6 树与等价问题</vt:lpstr>
      <vt:lpstr>6.6 树与等价问题</vt:lpstr>
      <vt:lpstr>6.6 树与等价问题</vt:lpstr>
      <vt:lpstr>6.6 树与等价问题</vt:lpstr>
      <vt:lpstr>6.6 树与等价问题</vt:lpstr>
      <vt:lpstr>6.6 树与等价问题</vt:lpstr>
      <vt:lpstr>6.6 树与等价问题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线 性 表</dc:title>
  <dc:creator>PC</dc:creator>
  <cp:lastModifiedBy>Administrator</cp:lastModifiedBy>
  <cp:revision>87</cp:revision>
  <dcterms:created xsi:type="dcterms:W3CDTF">2020-02-02T14:08:00Z</dcterms:created>
  <dcterms:modified xsi:type="dcterms:W3CDTF">2024-04-09T08:23:13Z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2052-12.1.0.16388</vt:lpwstr>
  </property>
  <property fmtid="{D5CDD505-2E9C-101B-9397-08002B2CF9AE}" pid="3" name="ICV">
    <vt:lpwstr>C8E2C8C3862E4195B58041B961545367</vt:lpwstr>
  </property>
</Properties>
</file>