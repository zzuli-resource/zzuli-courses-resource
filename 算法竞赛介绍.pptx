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256" r:id="rId2"/>
    <p:sldId id="380" r:id="rId3"/>
    <p:sldId id="328" r:id="rId4"/>
    <p:sldId id="333" r:id="rId5"/>
    <p:sldId id="427" r:id="rId6"/>
    <p:sldId id="428" r:id="rId7"/>
    <p:sldId id="429" r:id="rId8"/>
    <p:sldId id="383" r:id="rId9"/>
    <p:sldId id="367" r:id="rId10"/>
    <p:sldId id="368" r:id="rId11"/>
    <p:sldId id="430" r:id="rId12"/>
    <p:sldId id="431" r:id="rId13"/>
    <p:sldId id="434" r:id="rId14"/>
    <p:sldId id="432" r:id="rId15"/>
    <p:sldId id="433" r:id="rId16"/>
    <p:sldId id="355" r:id="rId17"/>
    <p:sldId id="396" r:id="rId18"/>
    <p:sldId id="370" r:id="rId19"/>
    <p:sldId id="371" r:id="rId20"/>
    <p:sldId id="435" r:id="rId21"/>
    <p:sldId id="290" r:id="rId22"/>
  </p:sldIdLst>
  <p:sldSz cx="11522075" cy="6480175"/>
  <p:notesSz cx="6858000" cy="9144000"/>
  <p:defaultTextStyle>
    <a:defPPr>
      <a:defRPr lang="zh-CN"/>
    </a:defPPr>
    <a:lvl1pPr marL="0" algn="l" defTabSz="863600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1pPr>
    <a:lvl2pPr marL="431800" algn="l" defTabSz="863600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2pPr>
    <a:lvl3pPr marL="864235" algn="l" defTabSz="863600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3pPr>
    <a:lvl4pPr marL="1296035" algn="l" defTabSz="863600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4pPr>
    <a:lvl5pPr marL="1728470" algn="l" defTabSz="863600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5pPr>
    <a:lvl6pPr marL="2160270" algn="l" defTabSz="863600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6pPr>
    <a:lvl7pPr marL="2592070" algn="l" defTabSz="863600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7pPr>
    <a:lvl8pPr marL="3024505" algn="l" defTabSz="863600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8pPr>
    <a:lvl9pPr marL="3456305" algn="l" defTabSz="863600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10">
          <p15:clr>
            <a:srgbClr val="A4A3A4"/>
          </p15:clr>
        </p15:guide>
        <p15:guide id="2" pos="3404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3F4"/>
    <a:srgbClr val="FFFFFF"/>
    <a:srgbClr val="FFD00F"/>
    <a:srgbClr val="FFA91D"/>
    <a:srgbClr val="E1E930"/>
    <a:srgbClr val="94D859"/>
    <a:srgbClr val="97C20D"/>
    <a:srgbClr val="43BD49"/>
    <a:srgbClr val="1EBA8B"/>
    <a:srgbClr val="2ACEB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542" autoAdjust="0"/>
    <p:restoredTop sz="94153" autoAdjust="0"/>
  </p:normalViewPr>
  <p:slideViewPr>
    <p:cSldViewPr snapToGrid="0">
      <p:cViewPr varScale="1">
        <p:scale>
          <a:sx n="86" d="100"/>
          <a:sy n="86" d="100"/>
        </p:scale>
        <p:origin x="442" y="48"/>
      </p:cViewPr>
      <p:guideLst>
        <p:guide orient="horz" pos="2110"/>
        <p:guide pos="340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F071-983E-4412-B9FC-2E533F3B54F5}" type="datetimeFigureOut">
              <a:rPr lang="zh-CN" altLang="en-US" smtClean="0"/>
              <a:t>2021/11/7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CB4829-8E4E-4E54-8ED3-0EF85175E038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CB4829-8E4E-4E54-8ED3-0EF85175E038}" type="slidenum">
              <a:rPr lang="zh-CN" altLang="en-US" smtClean="0"/>
              <a:t>21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440260" y="1060529"/>
            <a:ext cx="8641556" cy="2256061"/>
          </a:xfrm>
        </p:spPr>
        <p:txBody>
          <a:bodyPr anchor="b"/>
          <a:lstStyle>
            <a:lvl1pPr algn="ctr">
              <a:defRPr sz="57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440260" y="3403592"/>
            <a:ext cx="8641556" cy="1564542"/>
          </a:xfrm>
        </p:spPr>
        <p:txBody>
          <a:bodyPr/>
          <a:lstStyle>
            <a:lvl1pPr marL="0" indent="0" algn="ctr">
              <a:buNone/>
              <a:defRPr sz="2300"/>
            </a:lvl1pPr>
            <a:lvl2pPr marL="431800" indent="0" algn="ctr">
              <a:buNone/>
              <a:defRPr sz="1900"/>
            </a:lvl2pPr>
            <a:lvl3pPr marL="864235" indent="0" algn="ctr">
              <a:buNone/>
              <a:defRPr sz="1700"/>
            </a:lvl3pPr>
            <a:lvl4pPr marL="1296035" indent="0" algn="ctr">
              <a:buNone/>
              <a:defRPr sz="1500"/>
            </a:lvl4pPr>
            <a:lvl5pPr marL="1728470" indent="0" algn="ctr">
              <a:buNone/>
              <a:defRPr sz="1500"/>
            </a:lvl5pPr>
            <a:lvl6pPr marL="2160270" indent="0" algn="ctr">
              <a:buNone/>
              <a:defRPr sz="1500"/>
            </a:lvl6pPr>
            <a:lvl7pPr marL="2592070" indent="0" algn="ctr">
              <a:buNone/>
              <a:defRPr sz="1500"/>
            </a:lvl7pPr>
            <a:lvl8pPr marL="3024505" indent="0" algn="ctr">
              <a:buNone/>
              <a:defRPr sz="1500"/>
            </a:lvl8pPr>
            <a:lvl9pPr marL="3456305" indent="0" algn="ctr">
              <a:buNone/>
              <a:defRPr sz="15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2021/11/7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2021/11/7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86141" y="1615545"/>
            <a:ext cx="9937790" cy="2695572"/>
          </a:xfrm>
        </p:spPr>
        <p:txBody>
          <a:bodyPr anchor="b"/>
          <a:lstStyle>
            <a:lvl1pPr>
              <a:defRPr sz="57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86141" y="4336618"/>
            <a:ext cx="9937790" cy="1417538"/>
          </a:xfrm>
        </p:spPr>
        <p:txBody>
          <a:bodyPr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43180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2pPr>
            <a:lvl3pPr marL="864235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3pPr>
            <a:lvl4pPr marL="1296035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4pPr>
            <a:lvl5pPr marL="172847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5pPr>
            <a:lvl6pPr marL="216027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6pPr>
            <a:lvl7pPr marL="259207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7pPr>
            <a:lvl8pPr marL="3024505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8pPr>
            <a:lvl9pPr marL="3456305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2021/11/7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792143" y="1725046"/>
            <a:ext cx="4896882" cy="411161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833050" y="1725046"/>
            <a:ext cx="4896882" cy="411161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2021/11/7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93643" y="345010"/>
            <a:ext cx="9937790" cy="1252534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93644" y="1588543"/>
            <a:ext cx="4874377" cy="778521"/>
          </a:xfrm>
        </p:spPr>
        <p:txBody>
          <a:bodyPr anchor="b"/>
          <a:lstStyle>
            <a:lvl1pPr marL="0" indent="0">
              <a:buNone/>
              <a:defRPr sz="2300" b="1"/>
            </a:lvl1pPr>
            <a:lvl2pPr marL="431800" indent="0">
              <a:buNone/>
              <a:defRPr sz="1900" b="1"/>
            </a:lvl2pPr>
            <a:lvl3pPr marL="864235" indent="0">
              <a:buNone/>
              <a:defRPr sz="1700" b="1"/>
            </a:lvl3pPr>
            <a:lvl4pPr marL="1296035" indent="0">
              <a:buNone/>
              <a:defRPr sz="1500" b="1"/>
            </a:lvl4pPr>
            <a:lvl5pPr marL="1728470" indent="0">
              <a:buNone/>
              <a:defRPr sz="1500" b="1"/>
            </a:lvl5pPr>
            <a:lvl6pPr marL="2160270" indent="0">
              <a:buNone/>
              <a:defRPr sz="1500" b="1"/>
            </a:lvl6pPr>
            <a:lvl7pPr marL="2592070" indent="0">
              <a:buNone/>
              <a:defRPr sz="1500" b="1"/>
            </a:lvl7pPr>
            <a:lvl8pPr marL="3024505" indent="0">
              <a:buNone/>
              <a:defRPr sz="1500" b="1"/>
            </a:lvl8pPr>
            <a:lvl9pPr marL="3456305" indent="0">
              <a:buNone/>
              <a:defRPr sz="15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793644" y="2367064"/>
            <a:ext cx="4874377" cy="348159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5833050" y="1588543"/>
            <a:ext cx="4898383" cy="778521"/>
          </a:xfrm>
        </p:spPr>
        <p:txBody>
          <a:bodyPr anchor="b"/>
          <a:lstStyle>
            <a:lvl1pPr marL="0" indent="0">
              <a:buNone/>
              <a:defRPr sz="2300" b="1"/>
            </a:lvl1pPr>
            <a:lvl2pPr marL="431800" indent="0">
              <a:buNone/>
              <a:defRPr sz="1900" b="1"/>
            </a:lvl2pPr>
            <a:lvl3pPr marL="864235" indent="0">
              <a:buNone/>
              <a:defRPr sz="1700" b="1"/>
            </a:lvl3pPr>
            <a:lvl4pPr marL="1296035" indent="0">
              <a:buNone/>
              <a:defRPr sz="1500" b="1"/>
            </a:lvl4pPr>
            <a:lvl5pPr marL="1728470" indent="0">
              <a:buNone/>
              <a:defRPr sz="1500" b="1"/>
            </a:lvl5pPr>
            <a:lvl6pPr marL="2160270" indent="0">
              <a:buNone/>
              <a:defRPr sz="1500" b="1"/>
            </a:lvl6pPr>
            <a:lvl7pPr marL="2592070" indent="0">
              <a:buNone/>
              <a:defRPr sz="1500" b="1"/>
            </a:lvl7pPr>
            <a:lvl8pPr marL="3024505" indent="0">
              <a:buNone/>
              <a:defRPr sz="1500" b="1"/>
            </a:lvl8pPr>
            <a:lvl9pPr marL="3456305" indent="0">
              <a:buNone/>
              <a:defRPr sz="15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5833050" y="2367064"/>
            <a:ext cx="4898383" cy="348159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2021/11/7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2021/11/7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2021/11/7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93644" y="432012"/>
            <a:ext cx="3716169" cy="1512041"/>
          </a:xfrm>
        </p:spPr>
        <p:txBody>
          <a:bodyPr anchor="b"/>
          <a:lstStyle>
            <a:lvl1pPr>
              <a:defRPr sz="3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898383" y="933026"/>
            <a:ext cx="5833050" cy="4605124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300"/>
            </a:lvl3pPr>
            <a:lvl4pPr>
              <a:defRPr sz="1900"/>
            </a:lvl4pPr>
            <a:lvl5pPr>
              <a:defRPr sz="1900"/>
            </a:lvl5pPr>
            <a:lvl6pPr>
              <a:defRPr sz="1900"/>
            </a:lvl6pPr>
            <a:lvl7pPr>
              <a:defRPr sz="1900"/>
            </a:lvl7pPr>
            <a:lvl8pPr>
              <a:defRPr sz="1900"/>
            </a:lvl8pPr>
            <a:lvl9pPr>
              <a:defRPr sz="19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93644" y="1944052"/>
            <a:ext cx="3716169" cy="3601598"/>
          </a:xfrm>
        </p:spPr>
        <p:txBody>
          <a:bodyPr/>
          <a:lstStyle>
            <a:lvl1pPr marL="0" indent="0">
              <a:buNone/>
              <a:defRPr sz="1500"/>
            </a:lvl1pPr>
            <a:lvl2pPr marL="431800" indent="0">
              <a:buNone/>
              <a:defRPr sz="1300"/>
            </a:lvl2pPr>
            <a:lvl3pPr marL="864235" indent="0">
              <a:buNone/>
              <a:defRPr sz="1100"/>
            </a:lvl3pPr>
            <a:lvl4pPr marL="1296035" indent="0">
              <a:buNone/>
              <a:defRPr sz="900"/>
            </a:lvl4pPr>
            <a:lvl5pPr marL="1728470" indent="0">
              <a:buNone/>
              <a:defRPr sz="900"/>
            </a:lvl5pPr>
            <a:lvl6pPr marL="2160270" indent="0">
              <a:buNone/>
              <a:defRPr sz="900"/>
            </a:lvl6pPr>
            <a:lvl7pPr marL="2592070" indent="0">
              <a:buNone/>
              <a:defRPr sz="900"/>
            </a:lvl7pPr>
            <a:lvl8pPr marL="3024505" indent="0">
              <a:buNone/>
              <a:defRPr sz="900"/>
            </a:lvl8pPr>
            <a:lvl9pPr marL="3456305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2021/11/7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93644" y="432012"/>
            <a:ext cx="3716169" cy="1512041"/>
          </a:xfrm>
        </p:spPr>
        <p:txBody>
          <a:bodyPr anchor="b"/>
          <a:lstStyle>
            <a:lvl1pPr>
              <a:defRPr sz="3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4898383" y="933026"/>
            <a:ext cx="5833050" cy="4605124"/>
          </a:xfrm>
        </p:spPr>
        <p:txBody>
          <a:bodyPr/>
          <a:lstStyle>
            <a:lvl1pPr marL="0" indent="0">
              <a:buNone/>
              <a:defRPr sz="3000"/>
            </a:lvl1pPr>
            <a:lvl2pPr marL="431800" indent="0">
              <a:buNone/>
              <a:defRPr sz="2600"/>
            </a:lvl2pPr>
            <a:lvl3pPr marL="864235" indent="0">
              <a:buNone/>
              <a:defRPr sz="2300"/>
            </a:lvl3pPr>
            <a:lvl4pPr marL="1296035" indent="0">
              <a:buNone/>
              <a:defRPr sz="1900"/>
            </a:lvl4pPr>
            <a:lvl5pPr marL="1728470" indent="0">
              <a:buNone/>
              <a:defRPr sz="1900"/>
            </a:lvl5pPr>
            <a:lvl6pPr marL="2160270" indent="0">
              <a:buNone/>
              <a:defRPr sz="1900"/>
            </a:lvl6pPr>
            <a:lvl7pPr marL="2592070" indent="0">
              <a:buNone/>
              <a:defRPr sz="1900"/>
            </a:lvl7pPr>
            <a:lvl8pPr marL="3024505" indent="0">
              <a:buNone/>
              <a:defRPr sz="1900"/>
            </a:lvl8pPr>
            <a:lvl9pPr marL="3456305" indent="0">
              <a:buNone/>
              <a:defRPr sz="19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93644" y="1944052"/>
            <a:ext cx="3716169" cy="3601598"/>
          </a:xfrm>
        </p:spPr>
        <p:txBody>
          <a:bodyPr/>
          <a:lstStyle>
            <a:lvl1pPr marL="0" indent="0">
              <a:buNone/>
              <a:defRPr sz="1500"/>
            </a:lvl1pPr>
            <a:lvl2pPr marL="431800" indent="0">
              <a:buNone/>
              <a:defRPr sz="1300"/>
            </a:lvl2pPr>
            <a:lvl3pPr marL="864235" indent="0">
              <a:buNone/>
              <a:defRPr sz="1100"/>
            </a:lvl3pPr>
            <a:lvl4pPr marL="1296035" indent="0">
              <a:buNone/>
              <a:defRPr sz="900"/>
            </a:lvl4pPr>
            <a:lvl5pPr marL="1728470" indent="0">
              <a:buNone/>
              <a:defRPr sz="900"/>
            </a:lvl5pPr>
            <a:lvl6pPr marL="2160270" indent="0">
              <a:buNone/>
              <a:defRPr sz="900"/>
            </a:lvl6pPr>
            <a:lvl7pPr marL="2592070" indent="0">
              <a:buNone/>
              <a:defRPr sz="900"/>
            </a:lvl7pPr>
            <a:lvl8pPr marL="3024505" indent="0">
              <a:buNone/>
              <a:defRPr sz="900"/>
            </a:lvl8pPr>
            <a:lvl9pPr marL="3456305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2021/11/7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2021/11/7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245485" y="345009"/>
            <a:ext cx="2484447" cy="5491649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792143" y="345009"/>
            <a:ext cx="7309316" cy="5491649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2021/11/7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792143" y="345010"/>
            <a:ext cx="9937790" cy="1252534"/>
          </a:xfrm>
          <a:prstGeom prst="rect">
            <a:avLst/>
          </a:prstGeom>
        </p:spPr>
        <p:txBody>
          <a:bodyPr vert="horz" lIns="86411" tIns="43205" rIns="86411" bIns="43205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92143" y="1725046"/>
            <a:ext cx="9937790" cy="4111612"/>
          </a:xfrm>
          <a:prstGeom prst="rect">
            <a:avLst/>
          </a:prstGeom>
        </p:spPr>
        <p:txBody>
          <a:bodyPr vert="horz" lIns="86411" tIns="43205" rIns="86411" bIns="43205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792143" y="6006163"/>
            <a:ext cx="2592467" cy="345009"/>
          </a:xfrm>
          <a:prstGeom prst="rect">
            <a:avLst/>
          </a:prstGeom>
        </p:spPr>
        <p:txBody>
          <a:bodyPr vert="horz" lIns="86411" tIns="43205" rIns="86411" bIns="43205" rtlCol="0" anchor="ctr"/>
          <a:lstStyle>
            <a:lvl1pPr algn="l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2021/11/7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816688" y="6006163"/>
            <a:ext cx="3888700" cy="345009"/>
          </a:xfrm>
          <a:prstGeom prst="rect">
            <a:avLst/>
          </a:prstGeom>
        </p:spPr>
        <p:txBody>
          <a:bodyPr vert="horz" lIns="86411" tIns="43205" rIns="86411" bIns="43205" rtlCol="0" anchor="ctr"/>
          <a:lstStyle>
            <a:lvl1pPr algn="ct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137465" y="6006163"/>
            <a:ext cx="2592467" cy="345009"/>
          </a:xfrm>
          <a:prstGeom prst="rect">
            <a:avLst/>
          </a:prstGeom>
        </p:spPr>
        <p:txBody>
          <a:bodyPr vert="horz" lIns="86411" tIns="43205" rIns="86411" bIns="43205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863600" rtl="0" eaLnBrk="1" latinLnBrk="0" hangingPunct="1">
        <a:lnSpc>
          <a:spcPct val="90000"/>
        </a:lnSpc>
        <a:spcBef>
          <a:spcPct val="0"/>
        </a:spcBef>
        <a:buNone/>
        <a:defRPr sz="4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5900" indent="-215900" algn="l" defTabSz="863600" rtl="0" eaLnBrk="1" latinLnBrk="0" hangingPunct="1">
        <a:lnSpc>
          <a:spcPct val="90000"/>
        </a:lnSpc>
        <a:spcBef>
          <a:spcPts val="945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48335" indent="-215900" algn="l" defTabSz="863600" rtl="0" eaLnBrk="1" latinLnBrk="0" hangingPunct="1">
        <a:lnSpc>
          <a:spcPct val="90000"/>
        </a:lnSpc>
        <a:spcBef>
          <a:spcPts val="47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135" indent="-215900" algn="l" defTabSz="863600" rtl="0" eaLnBrk="1" latinLnBrk="0" hangingPunct="1">
        <a:lnSpc>
          <a:spcPct val="90000"/>
        </a:lnSpc>
        <a:spcBef>
          <a:spcPts val="47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3pPr>
      <a:lvl4pPr marL="1511935" indent="-215900" algn="l" defTabSz="863600" rtl="0" eaLnBrk="1" latinLnBrk="0" hangingPunct="1">
        <a:lnSpc>
          <a:spcPct val="90000"/>
        </a:lnSpc>
        <a:spcBef>
          <a:spcPts val="47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1944370" indent="-215900" algn="l" defTabSz="863600" rtl="0" eaLnBrk="1" latinLnBrk="0" hangingPunct="1">
        <a:lnSpc>
          <a:spcPct val="90000"/>
        </a:lnSpc>
        <a:spcBef>
          <a:spcPts val="47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5pPr>
      <a:lvl6pPr marL="2376170" indent="-215900" algn="l" defTabSz="863600" rtl="0" eaLnBrk="1" latinLnBrk="0" hangingPunct="1">
        <a:lnSpc>
          <a:spcPct val="90000"/>
        </a:lnSpc>
        <a:spcBef>
          <a:spcPts val="47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2808605" indent="-215900" algn="l" defTabSz="863600" rtl="0" eaLnBrk="1" latinLnBrk="0" hangingPunct="1">
        <a:lnSpc>
          <a:spcPct val="90000"/>
        </a:lnSpc>
        <a:spcBef>
          <a:spcPts val="47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3240405" indent="-215900" algn="l" defTabSz="863600" rtl="0" eaLnBrk="1" latinLnBrk="0" hangingPunct="1">
        <a:lnSpc>
          <a:spcPct val="90000"/>
        </a:lnSpc>
        <a:spcBef>
          <a:spcPts val="47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3672205" indent="-215900" algn="l" defTabSz="863600" rtl="0" eaLnBrk="1" latinLnBrk="0" hangingPunct="1">
        <a:lnSpc>
          <a:spcPct val="90000"/>
        </a:lnSpc>
        <a:spcBef>
          <a:spcPts val="47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8636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1pPr>
      <a:lvl2pPr marL="431800" algn="l" defTabSz="8636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864235" algn="l" defTabSz="8636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296035" algn="l" defTabSz="8636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1728470" algn="l" defTabSz="8636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5pPr>
      <a:lvl6pPr marL="2160270" algn="l" defTabSz="8636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2592070" algn="l" defTabSz="8636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3024505" algn="l" defTabSz="8636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3456305" algn="l" defTabSz="8636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jpeg"/><Relationship Id="rId4" Type="http://schemas.openxmlformats.org/officeDocument/2006/relationships/image" Target="../media/image21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0218"/>
            <a:ext cx="11672623" cy="668655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1019810" y="2733040"/>
            <a:ext cx="9632950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6000" b="1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算法竞赛介绍</a:t>
            </a:r>
          </a:p>
        </p:txBody>
      </p:sp>
      <p:pic>
        <p:nvPicPr>
          <p:cNvPr id="4" name="图片 3" descr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280" y="289560"/>
            <a:ext cx="4191000" cy="825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4552704" y="2039207"/>
            <a:ext cx="5789055" cy="6153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200000"/>
              </a:lnSpc>
              <a:spcAft>
                <a:spcPts val="300"/>
              </a:spcAft>
            </a:pPr>
            <a:endParaRPr lang="en-US" altLang="zh-CN" sz="2000" b="1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/>
          <p:cNvSpPr/>
          <p:nvPr/>
        </p:nvSpPr>
        <p:spPr>
          <a:xfrm>
            <a:off x="3825155" y="2107370"/>
            <a:ext cx="711200" cy="711200"/>
          </a:xfrm>
          <a:prstGeom prst="ellipse">
            <a:avLst/>
          </a:prstGeom>
          <a:solidFill>
            <a:srgbClr val="0070C0"/>
          </a:solidFill>
          <a:ln w="12700" cap="flat" cmpd="sng" algn="ctr">
            <a:noFill/>
            <a:prstDash val="solid"/>
            <a:miter lim="800000"/>
          </a:ln>
          <a:effectLst>
            <a:outerShdw blurRad="749300" dist="38100" dir="2700000" algn="tl" rotWithShape="0">
              <a:prstClr val="black">
                <a:alpha val="0"/>
              </a:prstClr>
            </a:outerShdw>
          </a:effectLst>
        </p:spPr>
        <p:txBody>
          <a:bodyPr lIns="0" tIns="0" rIns="0" bIns="90000" rtlCol="0" anchor="ctr" anchorCtr="0"/>
          <a:lstStyle/>
          <a:p>
            <a:pPr algn="ctr"/>
            <a:r>
              <a:rPr lang="en-US" altLang="zh-CN" sz="2800" b="1" kern="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1</a:t>
            </a:r>
            <a:endParaRPr lang="zh-CN" altLang="en-US" sz="2800" b="1" kern="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</a:endParaRPr>
          </a:p>
        </p:txBody>
      </p:sp>
      <p:sp>
        <p:nvSpPr>
          <p:cNvPr id="6" name="矩形: 圆角 28"/>
          <p:cNvSpPr/>
          <p:nvPr/>
        </p:nvSpPr>
        <p:spPr>
          <a:xfrm>
            <a:off x="4861585" y="2107370"/>
            <a:ext cx="4973579" cy="711200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 w="12700" cap="flat" cmpd="sng" algn="ctr">
            <a:noFill/>
            <a:prstDash val="solid"/>
            <a:miter lim="800000"/>
          </a:ln>
          <a:effectLst>
            <a:outerShdw blurRad="749300" dist="38100" dir="2700000" algn="tl" rotWithShape="0">
              <a:prstClr val="black">
                <a:alpha val="0"/>
              </a:prstClr>
            </a:outerShdw>
          </a:effectLst>
        </p:spPr>
        <p:txBody>
          <a:bodyPr lIns="0" tIns="0" rIns="0" bIns="0" rtlCol="0" anchor="ctr" anchorCtr="0"/>
          <a:lstStyle/>
          <a:p>
            <a:pPr algn="ctr"/>
            <a:r>
              <a:rPr lang="zh-CN" altLang="en-US" sz="26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算法竞赛中的三种赛制</a:t>
            </a:r>
          </a:p>
        </p:txBody>
      </p:sp>
      <p:sp>
        <p:nvSpPr>
          <p:cNvPr id="7" name="椭圆 6"/>
          <p:cNvSpPr/>
          <p:nvPr/>
        </p:nvSpPr>
        <p:spPr>
          <a:xfrm>
            <a:off x="3825155" y="3128509"/>
            <a:ext cx="711200" cy="711200"/>
          </a:xfrm>
          <a:prstGeom prst="ellipse">
            <a:avLst/>
          </a:prstGeom>
          <a:solidFill>
            <a:srgbClr val="0070C0"/>
          </a:solidFill>
          <a:ln w="12700" cap="flat" cmpd="sng" algn="ctr">
            <a:noFill/>
            <a:prstDash val="solid"/>
            <a:miter lim="800000"/>
          </a:ln>
          <a:effectLst>
            <a:outerShdw blurRad="749300" dist="38100" dir="2700000" algn="tl" rotWithShape="0">
              <a:prstClr val="black">
                <a:alpha val="0"/>
              </a:prstClr>
            </a:outerShdw>
          </a:effectLst>
        </p:spPr>
        <p:txBody>
          <a:bodyPr lIns="0" tIns="0" rIns="0" bIns="90000" rtlCol="0" anchor="ctr" anchorCtr="0"/>
          <a:lstStyle/>
          <a:p>
            <a:pPr algn="ctr"/>
            <a:r>
              <a:rPr lang="en-US" altLang="zh-CN" sz="2800" b="1" kern="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2</a:t>
            </a:r>
            <a:endParaRPr lang="zh-CN" altLang="en-US" sz="2800" b="1" kern="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</a:endParaRPr>
          </a:p>
        </p:txBody>
      </p:sp>
      <p:sp>
        <p:nvSpPr>
          <p:cNvPr id="8" name="矩形: 圆角 28"/>
          <p:cNvSpPr/>
          <p:nvPr/>
        </p:nvSpPr>
        <p:spPr>
          <a:xfrm>
            <a:off x="4861585" y="3128509"/>
            <a:ext cx="4973579" cy="711200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 w="12700" cap="flat" cmpd="sng" algn="ctr">
            <a:noFill/>
            <a:prstDash val="solid"/>
            <a:miter lim="800000"/>
          </a:ln>
          <a:effectLst>
            <a:outerShdw blurRad="749300" dist="38100" dir="2700000" algn="tl" rotWithShape="0">
              <a:prstClr val="black">
                <a:alpha val="0"/>
              </a:prstClr>
            </a:outerShdw>
          </a:effectLst>
        </p:spPr>
        <p:txBody>
          <a:bodyPr lIns="0" tIns="0" rIns="0" bIns="0" rtlCol="0" anchor="ctr" anchorCtr="0">
            <a:noAutofit/>
          </a:bodyPr>
          <a:lstStyle/>
          <a:p>
            <a:pPr lvl="0" algn="ctr"/>
            <a:r>
              <a:rPr lang="zh-CN" altLang="en-US" sz="26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rPr>
              <a:t>常见竞赛介绍</a:t>
            </a:r>
          </a:p>
        </p:txBody>
      </p:sp>
      <p:sp>
        <p:nvSpPr>
          <p:cNvPr id="9" name="椭圆 8"/>
          <p:cNvSpPr/>
          <p:nvPr/>
        </p:nvSpPr>
        <p:spPr>
          <a:xfrm>
            <a:off x="3825155" y="4149648"/>
            <a:ext cx="711200" cy="711200"/>
          </a:xfrm>
          <a:prstGeom prst="ellipse">
            <a:avLst/>
          </a:prstGeom>
          <a:solidFill>
            <a:srgbClr val="0070C0"/>
          </a:solidFill>
          <a:ln w="12700" cap="flat" cmpd="sng" algn="ctr">
            <a:noFill/>
            <a:prstDash val="solid"/>
            <a:miter lim="800000"/>
          </a:ln>
          <a:effectLst>
            <a:outerShdw blurRad="749300" dist="38100" dir="2700000" algn="tl" rotWithShape="0">
              <a:prstClr val="black">
                <a:alpha val="0"/>
              </a:prstClr>
            </a:outerShdw>
          </a:effectLst>
        </p:spPr>
        <p:txBody>
          <a:bodyPr lIns="0" tIns="0" rIns="0" bIns="90000" rtlCol="0" anchor="ctr" anchorCtr="0"/>
          <a:lstStyle/>
          <a:p>
            <a:pPr algn="ctr"/>
            <a:r>
              <a:rPr lang="en-US" altLang="zh-CN" sz="2800" b="1" kern="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3</a:t>
            </a:r>
            <a:endParaRPr lang="zh-CN" altLang="en-US" sz="2800" b="1" kern="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</a:endParaRPr>
          </a:p>
        </p:txBody>
      </p:sp>
      <p:sp>
        <p:nvSpPr>
          <p:cNvPr id="10" name="矩形: 圆角 28"/>
          <p:cNvSpPr/>
          <p:nvPr/>
        </p:nvSpPr>
        <p:spPr>
          <a:xfrm>
            <a:off x="4861585" y="4149648"/>
            <a:ext cx="4973579" cy="711200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 w="12700" cap="flat" cmpd="sng" algn="ctr">
            <a:noFill/>
            <a:prstDash val="solid"/>
            <a:miter lim="800000"/>
          </a:ln>
          <a:effectLst>
            <a:outerShdw blurRad="749300" dist="38100" dir="2700000" algn="tl" rotWithShape="0">
              <a:prstClr val="black">
                <a:alpha val="0"/>
              </a:prstClr>
            </a:outerShdw>
          </a:effectLst>
        </p:spPr>
        <p:txBody>
          <a:bodyPr lIns="0" tIns="0" rIns="0" bIns="0" rtlCol="0" anchor="ctr" anchorCtr="0"/>
          <a:lstStyle/>
          <a:p>
            <a:pPr algn="ctr">
              <a:lnSpc>
                <a:spcPct val="120000"/>
              </a:lnSpc>
              <a:defRPr/>
            </a:pPr>
            <a:r>
              <a:rPr lang="zh-CN" altLang="en-US" sz="26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其他</a:t>
            </a:r>
          </a:p>
        </p:txBody>
      </p:sp>
      <p:sp>
        <p:nvSpPr>
          <p:cNvPr id="13" name="椭圆 12"/>
          <p:cNvSpPr/>
          <p:nvPr/>
        </p:nvSpPr>
        <p:spPr>
          <a:xfrm>
            <a:off x="914400" y="2551929"/>
            <a:ext cx="1730326" cy="159804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3600" dirty="0"/>
              <a:t>目录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 rotWithShape="1">
          <a:blip r:embed="rId2"/>
          <a:srcRect l="5124" t="28622" r="3501" b="28622"/>
          <a:stretch>
            <a:fillRect/>
          </a:stretch>
        </p:blipFill>
        <p:spPr>
          <a:xfrm>
            <a:off x="0" y="0"/>
            <a:ext cx="3539067" cy="6480176"/>
          </a:xfrm>
          <a:prstGeom prst="rect">
            <a:avLst/>
          </a:prstGeom>
          <a:solidFill>
            <a:srgbClr val="0070C0"/>
          </a:solidFill>
        </p:spPr>
      </p:pic>
      <p:grpSp>
        <p:nvGrpSpPr>
          <p:cNvPr id="5" name="组合 4"/>
          <p:cNvGrpSpPr/>
          <p:nvPr/>
        </p:nvGrpSpPr>
        <p:grpSpPr>
          <a:xfrm>
            <a:off x="916060" y="2148637"/>
            <a:ext cx="1656145" cy="1771021"/>
            <a:chOff x="920750" y="1677086"/>
            <a:chExt cx="2555875" cy="2733160"/>
          </a:xfrm>
        </p:grpSpPr>
        <p:sp>
          <p:nvSpPr>
            <p:cNvPr id="6" name="圆角矩形 5"/>
            <p:cNvSpPr/>
            <p:nvPr/>
          </p:nvSpPr>
          <p:spPr>
            <a:xfrm>
              <a:off x="920750" y="1992801"/>
              <a:ext cx="2555875" cy="2417445"/>
            </a:xfrm>
            <a:prstGeom prst="roundRect">
              <a:avLst>
                <a:gd name="adj" fmla="val 8846"/>
              </a:avLst>
            </a:prstGeom>
            <a:no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1101877" y="1677086"/>
              <a:ext cx="2288817" cy="25174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0000" dirty="0">
                  <a:solidFill>
                    <a:schemeClr val="bg1"/>
                  </a:solidFill>
                  <a:cs typeface="+mn-ea"/>
                  <a:sym typeface="+mn-lt"/>
                </a:rPr>
                <a:t>01</a:t>
              </a:r>
              <a:endParaRPr lang="zh-CN" altLang="en-US" sz="10000" dirty="0">
                <a:solidFill>
                  <a:schemeClr val="bg1"/>
                </a:solidFill>
                <a:cs typeface="+mn-ea"/>
                <a:sym typeface="+mn-lt"/>
              </a:endParaRP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1101877" y="3613208"/>
              <a:ext cx="2294458" cy="7362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>
                  <a:solidFill>
                    <a:schemeClr val="bg1"/>
                  </a:solidFill>
                  <a:cs typeface="+mn-ea"/>
                  <a:sym typeface="+mn-lt"/>
                </a:rPr>
                <a:t>PART ONE</a:t>
              </a:r>
              <a:endParaRPr lang="zh-CN" altLang="en-US" sz="2400" dirty="0">
                <a:solidFill>
                  <a:schemeClr val="bg1"/>
                </a:solidFill>
                <a:cs typeface="+mn-ea"/>
                <a:sym typeface="+mn-lt"/>
              </a:endParaRPr>
            </a:p>
          </p:txBody>
        </p:sp>
      </p:grpSp>
      <p:sp>
        <p:nvSpPr>
          <p:cNvPr id="9" name="标题 1"/>
          <p:cNvSpPr>
            <a:spLocks noGrp="1"/>
          </p:cNvSpPr>
          <p:nvPr>
            <p:ph type="title"/>
          </p:nvPr>
        </p:nvSpPr>
        <p:spPr>
          <a:xfrm>
            <a:off x="4966335" y="2613660"/>
            <a:ext cx="5922645" cy="1252220"/>
          </a:xfrm>
        </p:spPr>
        <p:txBody>
          <a:bodyPr>
            <a:normAutofit/>
          </a:bodyPr>
          <a:lstStyle/>
          <a:p>
            <a:r>
              <a:rPr lang="zh-CN" altLang="en-US" sz="4500" dirty="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算法比赛中的三种赛制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914400" y="1318470"/>
            <a:ext cx="6516483" cy="4152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50000"/>
              </a:lnSpc>
              <a:spcAft>
                <a:spcPts val="600"/>
              </a:spcAft>
            </a:pPr>
            <a:r>
              <a:rPr lang="zh-CN" altLang="en-US" sz="1800" dirty="0">
                <a:latin typeface="Source Han Sans CN Regular" panose="020B0500000000000000" charset="-122"/>
                <a:ea typeface="Source Han Sans CN Regular" panose="020B0500000000000000" charset="-122"/>
                <a:cs typeface="Source Han Sans CN Regular" panose="020B0500000000000000" charset="-122"/>
              </a:rPr>
              <a:t>  </a:t>
            </a:r>
            <a:endParaRPr kumimoji="1" lang="en-US" altLang="zh-CN" sz="1800" dirty="0">
              <a:solidFill>
                <a:schemeClr val="tx1"/>
              </a:solidFill>
              <a:latin typeface="Source Han Sans CN Regular" panose="020B0500000000000000" charset="-122"/>
              <a:ea typeface="Source Han Sans CN Regular" panose="020B0500000000000000" charset="-122"/>
              <a:cs typeface="Source Han Sans CN Regular" panose="020B0500000000000000" charset="-122"/>
            </a:endParaRPr>
          </a:p>
        </p:txBody>
      </p:sp>
      <p:sp>
        <p:nvSpPr>
          <p:cNvPr id="7" name="标题 1"/>
          <p:cNvSpPr txBox="1"/>
          <p:nvPr/>
        </p:nvSpPr>
        <p:spPr>
          <a:xfrm>
            <a:off x="786015" y="415716"/>
            <a:ext cx="7122909" cy="776676"/>
          </a:xfrm>
          <a:prstGeom prst="rect">
            <a:avLst/>
          </a:prstGeom>
        </p:spPr>
        <p:txBody>
          <a:bodyPr vert="horz" lIns="86411" tIns="43205" rIns="86411" bIns="43205" rtlCol="0" anchor="ctr">
            <a:normAutofit/>
          </a:bodyPr>
          <a:lstStyle>
            <a:lvl1pPr algn="l" defTabSz="863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 dirty="0">
                <a:solidFill>
                  <a:schemeClr val="tx1"/>
                </a:solidFill>
                <a:latin typeface="Source Han Sans CN Medium" panose="020B0500000000000000" charset="-122"/>
                <a:ea typeface="Source Han Sans CN Medium" panose="020B0500000000000000" charset="-122"/>
                <a:cs typeface="Source Han Sans CN Medium" panose="020B0500000000000000" charset="-122"/>
              </a:rPr>
              <a:t> </a:t>
            </a:r>
            <a:r>
              <a:rPr lang="en-US" altLang="zh-CN" sz="3600" dirty="0">
                <a:solidFill>
                  <a:schemeClr val="tx1"/>
                </a:solidFill>
                <a:latin typeface="Source Han Sans CN Medium" panose="020B0500000000000000" charset="-122"/>
                <a:ea typeface="Source Han Sans CN Medium" panose="020B0500000000000000" charset="-122"/>
                <a:cs typeface="Source Han Sans CN Medium" panose="020B0500000000000000" charset="-122"/>
              </a:rPr>
              <a:t>ACM</a:t>
            </a:r>
            <a:r>
              <a:rPr lang="zh-CN" altLang="en-US" sz="3600" dirty="0">
                <a:solidFill>
                  <a:schemeClr val="tx1"/>
                </a:solidFill>
                <a:latin typeface="Source Han Sans CN Medium" panose="020B0500000000000000" charset="-122"/>
                <a:ea typeface="Source Han Sans CN Medium" panose="020B0500000000000000" charset="-122"/>
                <a:cs typeface="Source Han Sans CN Medium" panose="020B0500000000000000" charset="-122"/>
              </a:rPr>
              <a:t>赛制</a:t>
            </a:r>
          </a:p>
        </p:txBody>
      </p:sp>
      <p:sp>
        <p:nvSpPr>
          <p:cNvPr id="9" name="圆角矩形 8"/>
          <p:cNvSpPr/>
          <p:nvPr/>
        </p:nvSpPr>
        <p:spPr>
          <a:xfrm>
            <a:off x="786130" y="564048"/>
            <a:ext cx="36000" cy="360000"/>
          </a:xfrm>
          <a:prstGeom prst="roundRect">
            <a:avLst>
              <a:gd name="adj" fmla="val 15874"/>
            </a:avLst>
          </a:prstGeom>
          <a:solidFill>
            <a:srgbClr val="2E7E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1" name="矩形: 圆角 28"/>
          <p:cNvSpPr/>
          <p:nvPr/>
        </p:nvSpPr>
        <p:spPr>
          <a:xfrm>
            <a:off x="562000" y="2273105"/>
            <a:ext cx="4973579" cy="711200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 w="12700" cap="flat" cmpd="sng" algn="ctr">
            <a:noFill/>
            <a:prstDash val="solid"/>
            <a:miter lim="800000"/>
          </a:ln>
          <a:effectLst>
            <a:outerShdw blurRad="749300" dist="38100" dir="2700000" algn="tl" rotWithShape="0">
              <a:prstClr val="black">
                <a:alpha val="0"/>
              </a:prstClr>
            </a:outerShdw>
          </a:effectLst>
        </p:spPr>
        <p:txBody>
          <a:bodyPr lIns="0" tIns="0" rIns="0" bIns="0" rtlCol="0" anchor="ctr" anchorCtr="0"/>
          <a:lstStyle/>
          <a:p>
            <a:pPr algn="ctr"/>
            <a:r>
              <a:rPr lang="zh-CN" altLang="en-US" sz="26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提交代码</a:t>
            </a:r>
            <a:r>
              <a:rPr lang="en-US" altLang="zh-CN" sz="26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 </a:t>
            </a:r>
            <a:r>
              <a:rPr lang="zh-CN" altLang="en-US" sz="2600" b="1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及时反馈</a:t>
            </a:r>
          </a:p>
        </p:txBody>
      </p:sp>
      <p:sp>
        <p:nvSpPr>
          <p:cNvPr id="12" name="矩形: 圆角 28"/>
          <p:cNvSpPr/>
          <p:nvPr/>
        </p:nvSpPr>
        <p:spPr>
          <a:xfrm>
            <a:off x="561999" y="3353818"/>
            <a:ext cx="4973579" cy="711200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 w="12700" cap="flat" cmpd="sng" algn="ctr">
            <a:noFill/>
            <a:prstDash val="solid"/>
            <a:miter lim="800000"/>
          </a:ln>
          <a:effectLst>
            <a:outerShdw blurRad="749300" dist="38100" dir="2700000" algn="tl" rotWithShape="0">
              <a:prstClr val="black">
                <a:alpha val="0"/>
              </a:prstClr>
            </a:outerShdw>
          </a:effectLst>
        </p:spPr>
        <p:txBody>
          <a:bodyPr lIns="0" tIns="0" rIns="0" bIns="0" rtlCol="0" anchor="ctr" anchorCtr="0">
            <a:noAutofit/>
          </a:bodyPr>
          <a:lstStyle/>
          <a:p>
            <a:pPr lvl="0" algn="ctr"/>
            <a:r>
              <a:rPr lang="zh-CN" altLang="en-US" sz="26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rPr>
              <a:t>根据题数与罚时排名</a:t>
            </a:r>
          </a:p>
        </p:txBody>
      </p:sp>
      <p:sp>
        <p:nvSpPr>
          <p:cNvPr id="13" name="矩形: 圆角 28"/>
          <p:cNvSpPr/>
          <p:nvPr/>
        </p:nvSpPr>
        <p:spPr>
          <a:xfrm>
            <a:off x="561999" y="4434531"/>
            <a:ext cx="4973579" cy="711200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 w="12700" cap="flat" cmpd="sng" algn="ctr">
            <a:noFill/>
            <a:prstDash val="solid"/>
            <a:miter lim="800000"/>
          </a:ln>
          <a:effectLst>
            <a:outerShdw blurRad="749300" dist="38100" dir="2700000" algn="tl" rotWithShape="0">
              <a:prstClr val="black">
                <a:alpha val="0"/>
              </a:prstClr>
            </a:outerShdw>
          </a:effectLst>
        </p:spPr>
        <p:txBody>
          <a:bodyPr lIns="0" tIns="0" rIns="0" bIns="0" rtlCol="0" anchor="ctr" anchorCtr="0"/>
          <a:lstStyle/>
          <a:p>
            <a:pPr algn="ctr">
              <a:lnSpc>
                <a:spcPct val="120000"/>
              </a:lnSpc>
              <a:defRPr/>
            </a:pPr>
            <a:r>
              <a:rPr lang="zh-CN" altLang="en-US" sz="26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具有实时排名</a:t>
            </a:r>
          </a:p>
        </p:txBody>
      </p:sp>
      <p:grpSp>
        <p:nvGrpSpPr>
          <p:cNvPr id="14" name="组合 13"/>
          <p:cNvGrpSpPr/>
          <p:nvPr/>
        </p:nvGrpSpPr>
        <p:grpSpPr>
          <a:xfrm>
            <a:off x="6164580" y="923925"/>
            <a:ext cx="5237480" cy="5297170"/>
            <a:chOff x="6269421" y="3586746"/>
            <a:chExt cx="4638415" cy="2464512"/>
          </a:xfrm>
        </p:grpSpPr>
        <p:sp>
          <p:nvSpPr>
            <p:cNvPr id="15" name="圆角矩形 14"/>
            <p:cNvSpPr/>
            <p:nvPr/>
          </p:nvSpPr>
          <p:spPr>
            <a:xfrm>
              <a:off x="6269421" y="3586746"/>
              <a:ext cx="4415155" cy="2464512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/>
            </a:p>
          </p:txBody>
        </p:sp>
        <p:sp>
          <p:nvSpPr>
            <p:cNvPr id="16" name="矩形 15"/>
            <p:cNvSpPr/>
            <p:nvPr/>
          </p:nvSpPr>
          <p:spPr>
            <a:xfrm>
              <a:off x="6269421" y="3665036"/>
              <a:ext cx="4638415" cy="185978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indent="304800" algn="just">
                <a:lnSpc>
                  <a:spcPct val="150000"/>
                </a:lnSpc>
                <a:spcAft>
                  <a:spcPts val="0"/>
                </a:spcAft>
              </a:pPr>
              <a:r>
                <a:rPr lang="en-US" altLang="zh-CN" sz="2800" b="1" kern="100" dirty="0">
                  <a:solidFill>
                    <a:schemeClr val="accent1">
                      <a:lumMod val="50000"/>
                    </a:schemeClr>
                  </a:solidFill>
                  <a:latin typeface="Source Han Sans CN Regular" panose="020B0500000000000000" charset="-122"/>
                  <a:ea typeface="Source Han Sans CN Regular" panose="020B0500000000000000" charset="-122"/>
                  <a:cs typeface="Source Han Sans CN Regular" panose="020B0500000000000000" charset="-122"/>
                </a:rPr>
                <a:t>ACM</a:t>
              </a:r>
              <a:r>
                <a:rPr lang="zh-CN" altLang="en-US" sz="2800" b="1" kern="100" dirty="0">
                  <a:solidFill>
                    <a:schemeClr val="accent1">
                      <a:lumMod val="50000"/>
                    </a:schemeClr>
                  </a:solidFill>
                  <a:latin typeface="Source Han Sans CN Regular" panose="020B0500000000000000" charset="-122"/>
                  <a:ea typeface="Source Han Sans CN Regular" panose="020B0500000000000000" charset="-122"/>
                  <a:cs typeface="Source Han Sans CN Regular" panose="020B0500000000000000" charset="-122"/>
                </a:rPr>
                <a:t>赛制的比赛</a:t>
              </a:r>
            </a:p>
            <a:p>
              <a:pPr indent="304800" algn="just">
                <a:lnSpc>
                  <a:spcPct val="150000"/>
                </a:lnSpc>
                <a:spcAft>
                  <a:spcPts val="0"/>
                </a:spcAft>
              </a:pPr>
              <a:r>
                <a:rPr lang="zh-CN" altLang="en-US" sz="2400" kern="100" dirty="0">
                  <a:solidFill>
                    <a:schemeClr val="accent1">
                      <a:lumMod val="50000"/>
                    </a:schemeClr>
                  </a:solidFill>
                  <a:latin typeface="Source Han Sans CN Regular" panose="020B0500000000000000" charset="-122"/>
                  <a:ea typeface="Source Han Sans CN Regular" panose="020B0500000000000000" charset="-122"/>
                  <a:cs typeface="Source Han Sans CN Regular" panose="020B0500000000000000" charset="-122"/>
                </a:rPr>
                <a:t>ICPC</a:t>
              </a:r>
              <a:r>
                <a:rPr lang="en-US" altLang="zh-CN" sz="2400" kern="100" dirty="0">
                  <a:solidFill>
                    <a:schemeClr val="accent1">
                      <a:lumMod val="50000"/>
                    </a:schemeClr>
                  </a:solidFill>
                  <a:latin typeface="Source Han Sans CN Regular" panose="020B0500000000000000" charset="-122"/>
                  <a:ea typeface="Source Han Sans CN Regular" panose="020B0500000000000000" charset="-122"/>
                  <a:cs typeface="Source Han Sans CN Regular" panose="020B0500000000000000" charset="-122"/>
                </a:rPr>
                <a:t> , </a:t>
              </a:r>
              <a:r>
                <a:rPr lang="zh-CN" altLang="en-US" sz="2400" kern="100" dirty="0">
                  <a:solidFill>
                    <a:schemeClr val="accent1">
                      <a:lumMod val="50000"/>
                    </a:schemeClr>
                  </a:solidFill>
                  <a:latin typeface="Source Han Sans CN Regular" panose="020B0500000000000000" charset="-122"/>
                  <a:ea typeface="Source Han Sans CN Regular" panose="020B0500000000000000" charset="-122"/>
                  <a:cs typeface="Source Han Sans CN Regular" panose="020B0500000000000000" charset="-122"/>
                </a:rPr>
                <a:t>CCPC</a:t>
              </a:r>
            </a:p>
            <a:p>
              <a:pPr indent="304800" algn="just">
                <a:lnSpc>
                  <a:spcPct val="150000"/>
                </a:lnSpc>
                <a:spcAft>
                  <a:spcPts val="0"/>
                </a:spcAft>
              </a:pPr>
              <a:r>
                <a:rPr lang="zh-CN" altLang="en-US" sz="2400" kern="100" dirty="0">
                  <a:solidFill>
                    <a:schemeClr val="accent1">
                      <a:lumMod val="50000"/>
                    </a:schemeClr>
                  </a:solidFill>
                  <a:latin typeface="Source Han Sans CN Regular" panose="020B0500000000000000" charset="-122"/>
                  <a:ea typeface="Source Han Sans CN Regular" panose="020B0500000000000000" charset="-122"/>
                  <a:cs typeface="Source Han Sans CN Regular" panose="020B0500000000000000" charset="-122"/>
                </a:rPr>
                <a:t>codeforces比赛</a:t>
              </a:r>
            </a:p>
            <a:p>
              <a:pPr indent="304800" algn="just">
                <a:lnSpc>
                  <a:spcPct val="150000"/>
                </a:lnSpc>
                <a:spcAft>
                  <a:spcPts val="0"/>
                </a:spcAft>
              </a:pPr>
              <a:r>
                <a:rPr lang="zh-CN" altLang="en-US" sz="2400" kern="100" dirty="0">
                  <a:solidFill>
                    <a:schemeClr val="accent1">
                      <a:lumMod val="50000"/>
                    </a:schemeClr>
                  </a:solidFill>
                  <a:latin typeface="Source Han Sans CN Regular" panose="020B0500000000000000" charset="-122"/>
                  <a:ea typeface="Source Han Sans CN Regular" panose="020B0500000000000000" charset="-122"/>
                  <a:cs typeface="Source Han Sans CN Regular" panose="020B0500000000000000" charset="-122"/>
                </a:rPr>
                <a:t>leetcode周赛及全国编程大赛</a:t>
              </a:r>
            </a:p>
            <a:p>
              <a:pPr indent="304800" algn="just">
                <a:lnSpc>
                  <a:spcPct val="150000"/>
                </a:lnSpc>
                <a:spcAft>
                  <a:spcPts val="0"/>
                </a:spcAft>
              </a:pPr>
              <a:r>
                <a:rPr lang="zh-CN" altLang="en-US" sz="2400" kern="100" dirty="0">
                  <a:solidFill>
                    <a:schemeClr val="accent1">
                      <a:lumMod val="50000"/>
                    </a:schemeClr>
                  </a:solidFill>
                  <a:latin typeface="Source Han Sans CN Regular" panose="020B0500000000000000" charset="-122"/>
                  <a:ea typeface="Source Han Sans CN Regular" panose="020B0500000000000000" charset="-122"/>
                  <a:cs typeface="Source Han Sans CN Regular" panose="020B0500000000000000" charset="-122"/>
                </a:rPr>
                <a:t>牛客小白赛练习赛挑战赛</a:t>
              </a:r>
            </a:p>
            <a:p>
              <a:pPr indent="304800" algn="just">
                <a:lnSpc>
                  <a:spcPct val="150000"/>
                </a:lnSpc>
                <a:spcAft>
                  <a:spcPts val="0"/>
                </a:spcAft>
              </a:pPr>
              <a:r>
                <a:rPr lang="zh-CN" altLang="en-US" sz="2400" kern="100" dirty="0">
                  <a:solidFill>
                    <a:schemeClr val="accent1">
                      <a:lumMod val="50000"/>
                    </a:schemeClr>
                  </a:solidFill>
                  <a:latin typeface="Source Han Sans CN Regular" panose="020B0500000000000000" charset="-122"/>
                  <a:ea typeface="Source Han Sans CN Regular" panose="020B0500000000000000" charset="-122"/>
                  <a:cs typeface="Source Han Sans CN Regular" panose="020B0500000000000000" charset="-122"/>
                </a:rPr>
                <a:t>传智杯</a:t>
              </a:r>
            </a:p>
            <a:p>
              <a:pPr indent="304800" algn="just">
                <a:lnSpc>
                  <a:spcPct val="150000"/>
                </a:lnSpc>
                <a:spcAft>
                  <a:spcPts val="0"/>
                </a:spcAft>
              </a:pPr>
              <a:r>
                <a:rPr lang="zh-CN" altLang="en-US" sz="2400" kern="100" dirty="0">
                  <a:solidFill>
                    <a:schemeClr val="accent1">
                      <a:lumMod val="50000"/>
                    </a:schemeClr>
                  </a:solidFill>
                  <a:latin typeface="Source Han Sans CN Regular" panose="020B0500000000000000" charset="-122"/>
                  <a:ea typeface="Source Han Sans CN Regular" panose="020B0500000000000000" charset="-122"/>
                  <a:cs typeface="Source Han Sans CN Regular" panose="020B0500000000000000" charset="-122"/>
                </a:rPr>
                <a:t>郑轻新生周赛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914400" y="1318470"/>
            <a:ext cx="6516483" cy="4152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50000"/>
              </a:lnSpc>
              <a:spcAft>
                <a:spcPts val="600"/>
              </a:spcAft>
            </a:pPr>
            <a:r>
              <a:rPr lang="zh-CN" altLang="en-US" sz="1800" dirty="0">
                <a:latin typeface="Source Han Sans CN Regular" panose="020B0500000000000000" charset="-122"/>
                <a:ea typeface="Source Han Sans CN Regular" panose="020B0500000000000000" charset="-122"/>
                <a:cs typeface="Source Han Sans CN Regular" panose="020B0500000000000000" charset="-122"/>
              </a:rPr>
              <a:t>  </a:t>
            </a:r>
            <a:endParaRPr kumimoji="1" lang="en-US" altLang="zh-CN" sz="1800" dirty="0">
              <a:solidFill>
                <a:schemeClr val="tx1"/>
              </a:solidFill>
              <a:latin typeface="Source Han Sans CN Regular" panose="020B0500000000000000" charset="-122"/>
              <a:ea typeface="Source Han Sans CN Regular" panose="020B0500000000000000" charset="-122"/>
              <a:cs typeface="Source Han Sans CN Regular" panose="020B0500000000000000" charset="-122"/>
            </a:endParaRPr>
          </a:p>
        </p:txBody>
      </p:sp>
      <p:sp>
        <p:nvSpPr>
          <p:cNvPr id="7" name="标题 1"/>
          <p:cNvSpPr txBox="1"/>
          <p:nvPr/>
        </p:nvSpPr>
        <p:spPr>
          <a:xfrm>
            <a:off x="786015" y="415716"/>
            <a:ext cx="7122909" cy="776676"/>
          </a:xfrm>
          <a:prstGeom prst="rect">
            <a:avLst/>
          </a:prstGeom>
        </p:spPr>
        <p:txBody>
          <a:bodyPr vert="horz" lIns="86411" tIns="43205" rIns="86411" bIns="43205" rtlCol="0" anchor="ctr">
            <a:normAutofit/>
          </a:bodyPr>
          <a:lstStyle>
            <a:lvl1pPr algn="l" defTabSz="863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 dirty="0">
                <a:solidFill>
                  <a:schemeClr val="tx1"/>
                </a:solidFill>
                <a:latin typeface="Source Han Sans CN Medium" panose="020B0500000000000000" charset="-122"/>
                <a:ea typeface="Source Han Sans CN Medium" panose="020B0500000000000000" charset="-122"/>
                <a:cs typeface="Source Han Sans CN Medium" panose="020B0500000000000000" charset="-122"/>
              </a:rPr>
              <a:t> </a:t>
            </a:r>
            <a:r>
              <a:rPr sz="3600" dirty="0">
                <a:solidFill>
                  <a:schemeClr val="tx1"/>
                </a:solidFill>
                <a:latin typeface="Source Han Sans CN Medium" panose="020B0500000000000000" charset="-122"/>
                <a:ea typeface="Source Han Sans CN Medium" panose="020B0500000000000000" charset="-122"/>
                <a:cs typeface="Source Han Sans CN Medium" panose="020B0500000000000000" charset="-122"/>
              </a:rPr>
              <a:t>OI赛制</a:t>
            </a:r>
          </a:p>
        </p:txBody>
      </p:sp>
      <p:sp>
        <p:nvSpPr>
          <p:cNvPr id="9" name="圆角矩形 8"/>
          <p:cNvSpPr/>
          <p:nvPr/>
        </p:nvSpPr>
        <p:spPr>
          <a:xfrm>
            <a:off x="786130" y="564048"/>
            <a:ext cx="36000" cy="360000"/>
          </a:xfrm>
          <a:prstGeom prst="roundRect">
            <a:avLst>
              <a:gd name="adj" fmla="val 15874"/>
            </a:avLst>
          </a:prstGeom>
          <a:solidFill>
            <a:srgbClr val="2E7E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1" name="矩形: 圆角 28"/>
          <p:cNvSpPr/>
          <p:nvPr/>
        </p:nvSpPr>
        <p:spPr>
          <a:xfrm>
            <a:off x="562000" y="2273105"/>
            <a:ext cx="4973579" cy="711200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 w="12700" cap="flat" cmpd="sng" algn="ctr">
            <a:noFill/>
            <a:prstDash val="solid"/>
            <a:miter lim="800000"/>
          </a:ln>
          <a:effectLst>
            <a:outerShdw blurRad="749300" dist="38100" dir="2700000" algn="tl" rotWithShape="0">
              <a:prstClr val="black">
                <a:alpha val="0"/>
              </a:prstClr>
            </a:outerShdw>
          </a:effectLst>
        </p:spPr>
        <p:txBody>
          <a:bodyPr lIns="0" tIns="0" rIns="0" bIns="0" rtlCol="0" anchor="ctr" anchorCtr="0"/>
          <a:lstStyle/>
          <a:p>
            <a:pPr algn="ctr"/>
            <a:r>
              <a:rPr lang="zh-CN" altLang="en-US" sz="26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提交代码</a:t>
            </a:r>
            <a:r>
              <a:rPr lang="en-US" altLang="zh-CN" sz="26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 </a:t>
            </a:r>
            <a:r>
              <a:rPr lang="zh-CN" altLang="en-US" sz="2600" b="1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无反馈</a:t>
            </a:r>
          </a:p>
        </p:txBody>
      </p:sp>
      <p:sp>
        <p:nvSpPr>
          <p:cNvPr id="12" name="矩形: 圆角 28"/>
          <p:cNvSpPr/>
          <p:nvPr/>
        </p:nvSpPr>
        <p:spPr>
          <a:xfrm>
            <a:off x="562000" y="3505699"/>
            <a:ext cx="4973579" cy="711200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 w="12700" cap="flat" cmpd="sng" algn="ctr">
            <a:noFill/>
            <a:prstDash val="solid"/>
            <a:miter lim="800000"/>
          </a:ln>
          <a:effectLst>
            <a:outerShdw blurRad="749300" dist="38100" dir="2700000" algn="tl" rotWithShape="0">
              <a:prstClr val="black">
                <a:alpha val="0"/>
              </a:prstClr>
            </a:outerShdw>
          </a:effectLst>
        </p:spPr>
        <p:txBody>
          <a:bodyPr lIns="0" tIns="0" rIns="0" bIns="0" rtlCol="0" anchor="ctr" anchorCtr="0">
            <a:noAutofit/>
          </a:bodyPr>
          <a:lstStyle/>
          <a:p>
            <a:pPr lvl="0" algn="ctr"/>
            <a:r>
              <a:rPr lang="zh-CN" altLang="en-US" sz="26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rPr>
              <a:t>根据最后提交所过测试点排名</a:t>
            </a:r>
          </a:p>
        </p:txBody>
      </p:sp>
      <p:sp>
        <p:nvSpPr>
          <p:cNvPr id="13" name="矩形: 圆角 28"/>
          <p:cNvSpPr/>
          <p:nvPr/>
        </p:nvSpPr>
        <p:spPr>
          <a:xfrm>
            <a:off x="562000" y="4738293"/>
            <a:ext cx="4973579" cy="711200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 w="12700" cap="flat" cmpd="sng" algn="ctr">
            <a:noFill/>
            <a:prstDash val="solid"/>
            <a:miter lim="800000"/>
          </a:ln>
          <a:effectLst>
            <a:outerShdw blurRad="749300" dist="38100" dir="2700000" algn="tl" rotWithShape="0">
              <a:prstClr val="black">
                <a:alpha val="0"/>
              </a:prstClr>
            </a:outerShdw>
          </a:effectLst>
        </p:spPr>
        <p:txBody>
          <a:bodyPr lIns="0" tIns="0" rIns="0" bIns="0" rtlCol="0" anchor="ctr" anchorCtr="0"/>
          <a:lstStyle/>
          <a:p>
            <a:pPr algn="ctr">
              <a:lnSpc>
                <a:spcPct val="120000"/>
              </a:lnSpc>
              <a:defRPr/>
            </a:pPr>
            <a:r>
              <a:rPr lang="zh-CN" altLang="en-US" sz="26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比赛中不知道排名</a:t>
            </a:r>
          </a:p>
        </p:txBody>
      </p:sp>
      <p:grpSp>
        <p:nvGrpSpPr>
          <p:cNvPr id="14" name="组合 13"/>
          <p:cNvGrpSpPr/>
          <p:nvPr/>
        </p:nvGrpSpPr>
        <p:grpSpPr>
          <a:xfrm>
            <a:off x="6164580" y="923925"/>
            <a:ext cx="5357495" cy="5297170"/>
            <a:chOff x="6269421" y="3586746"/>
            <a:chExt cx="4744703" cy="2464512"/>
          </a:xfrm>
        </p:grpSpPr>
        <p:sp>
          <p:nvSpPr>
            <p:cNvPr id="15" name="圆角矩形 14"/>
            <p:cNvSpPr/>
            <p:nvPr/>
          </p:nvSpPr>
          <p:spPr>
            <a:xfrm>
              <a:off x="6269421" y="3586746"/>
              <a:ext cx="4415155" cy="2464512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/>
            </a:p>
          </p:txBody>
        </p:sp>
        <p:sp>
          <p:nvSpPr>
            <p:cNvPr id="16" name="矩形 15"/>
            <p:cNvSpPr/>
            <p:nvPr/>
          </p:nvSpPr>
          <p:spPr>
            <a:xfrm>
              <a:off x="6375709" y="3802708"/>
              <a:ext cx="4638415" cy="164499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indent="304800" algn="just">
                <a:lnSpc>
                  <a:spcPct val="150000"/>
                </a:lnSpc>
                <a:spcAft>
                  <a:spcPts val="0"/>
                </a:spcAft>
              </a:pPr>
              <a:r>
                <a:rPr lang="en-US" altLang="zh-CN" sz="3200" b="1" kern="100" dirty="0">
                  <a:solidFill>
                    <a:schemeClr val="accent1">
                      <a:lumMod val="50000"/>
                    </a:schemeClr>
                  </a:solidFill>
                  <a:latin typeface="Source Han Sans CN Regular" panose="020B0500000000000000" charset="-122"/>
                  <a:ea typeface="Source Han Sans CN Regular" panose="020B0500000000000000" charset="-122"/>
                  <a:cs typeface="Source Han Sans CN Regular" panose="020B0500000000000000" charset="-122"/>
                </a:rPr>
                <a:t>OI</a:t>
              </a:r>
              <a:r>
                <a:rPr lang="zh-CN" altLang="en-US" sz="3200" b="1" kern="100" dirty="0">
                  <a:solidFill>
                    <a:schemeClr val="accent1">
                      <a:lumMod val="50000"/>
                    </a:schemeClr>
                  </a:solidFill>
                  <a:latin typeface="Source Han Sans CN Regular" panose="020B0500000000000000" charset="-122"/>
                  <a:ea typeface="Source Han Sans CN Regular" panose="020B0500000000000000" charset="-122"/>
                  <a:cs typeface="Source Han Sans CN Regular" panose="020B0500000000000000" charset="-122"/>
                </a:rPr>
                <a:t>赛制的比赛</a:t>
              </a:r>
            </a:p>
            <a:p>
              <a:pPr indent="304800" algn="just">
                <a:lnSpc>
                  <a:spcPct val="150000"/>
                </a:lnSpc>
                <a:spcAft>
                  <a:spcPts val="0"/>
                </a:spcAft>
              </a:pPr>
              <a:r>
                <a:rPr sz="2400" kern="100" dirty="0">
                  <a:solidFill>
                    <a:schemeClr val="accent1">
                      <a:lumMod val="50000"/>
                    </a:schemeClr>
                  </a:solidFill>
                  <a:latin typeface="Source Han Sans CN Regular" panose="020B0500000000000000" charset="-122"/>
                  <a:ea typeface="Source Han Sans CN Regular" panose="020B0500000000000000" charset="-122"/>
                  <a:cs typeface="Source Han Sans CN Regular" panose="020B0500000000000000" charset="-122"/>
                </a:rPr>
                <a:t>蓝桥杯</a:t>
              </a:r>
              <a:endParaRPr lang="zh-CN" sz="2400" kern="100" dirty="0">
                <a:solidFill>
                  <a:schemeClr val="accent1">
                    <a:lumMod val="50000"/>
                  </a:schemeClr>
                </a:solidFill>
                <a:latin typeface="Source Han Sans CN Regular" panose="020B0500000000000000" charset="-122"/>
                <a:ea typeface="Source Han Sans CN Regular" panose="020B0500000000000000" charset="-122"/>
                <a:cs typeface="Source Han Sans CN Regular" panose="020B0500000000000000" charset="-122"/>
              </a:endParaRPr>
            </a:p>
            <a:p>
              <a:pPr indent="304800" algn="just">
                <a:lnSpc>
                  <a:spcPct val="150000"/>
                </a:lnSpc>
                <a:spcAft>
                  <a:spcPts val="0"/>
                </a:spcAft>
              </a:pPr>
              <a:r>
                <a:rPr sz="2400" kern="100" dirty="0">
                  <a:solidFill>
                    <a:schemeClr val="accent1">
                      <a:lumMod val="50000"/>
                    </a:schemeClr>
                  </a:solidFill>
                  <a:latin typeface="Source Han Sans CN Regular" panose="020B0500000000000000" charset="-122"/>
                  <a:ea typeface="Source Han Sans CN Regular" panose="020B0500000000000000" charset="-122"/>
                  <a:cs typeface="Source Han Sans CN Regular" panose="020B0500000000000000" charset="-122"/>
                </a:rPr>
                <a:t>NOI</a:t>
              </a:r>
              <a:r>
                <a:rPr lang="en-US" sz="2400" kern="100" dirty="0">
                  <a:solidFill>
                    <a:schemeClr val="accent1">
                      <a:lumMod val="50000"/>
                    </a:schemeClr>
                  </a:solidFill>
                  <a:latin typeface="Source Han Sans CN Regular" panose="020B0500000000000000" charset="-122"/>
                  <a:ea typeface="Source Han Sans CN Regular" panose="020B0500000000000000" charset="-122"/>
                  <a:cs typeface="Source Han Sans CN Regular" panose="020B0500000000000000" charset="-122"/>
                </a:rPr>
                <a:t> </a:t>
              </a:r>
              <a:r>
                <a:rPr sz="2400" kern="100" dirty="0">
                  <a:solidFill>
                    <a:schemeClr val="accent1">
                      <a:lumMod val="50000"/>
                    </a:schemeClr>
                  </a:solidFill>
                  <a:latin typeface="Source Han Sans CN Regular" panose="020B0500000000000000" charset="-122"/>
                  <a:ea typeface="Source Han Sans CN Regular" panose="020B0500000000000000" charset="-122"/>
                  <a:cs typeface="Source Han Sans CN Regular" panose="020B0500000000000000" charset="-122"/>
                </a:rPr>
                <a:t>信息学奥林匹克竞赛</a:t>
              </a:r>
            </a:p>
            <a:p>
              <a:pPr indent="304800" algn="just">
                <a:lnSpc>
                  <a:spcPct val="150000"/>
                </a:lnSpc>
                <a:spcAft>
                  <a:spcPts val="0"/>
                </a:spcAft>
              </a:pPr>
              <a:r>
                <a:rPr sz="2400" kern="100" dirty="0">
                  <a:solidFill>
                    <a:schemeClr val="accent1">
                      <a:lumMod val="50000"/>
                    </a:schemeClr>
                  </a:solidFill>
                  <a:latin typeface="Source Han Sans CN Regular" panose="020B0500000000000000" charset="-122"/>
                  <a:ea typeface="Source Han Sans CN Regular" panose="020B0500000000000000" charset="-122"/>
                  <a:cs typeface="Source Han Sans CN Regular" panose="020B0500000000000000" charset="-122"/>
                </a:rPr>
                <a:t>CCF CSP</a:t>
              </a:r>
            </a:p>
            <a:p>
              <a:pPr indent="304800" algn="just">
                <a:lnSpc>
                  <a:spcPct val="150000"/>
                </a:lnSpc>
                <a:spcAft>
                  <a:spcPts val="0"/>
                </a:spcAft>
              </a:pPr>
              <a:r>
                <a:rPr sz="2400" kern="100" dirty="0">
                  <a:solidFill>
                    <a:schemeClr val="accent1">
                      <a:lumMod val="50000"/>
                    </a:schemeClr>
                  </a:solidFill>
                  <a:latin typeface="Source Han Sans CN Regular" panose="020B0500000000000000" charset="-122"/>
                  <a:ea typeface="Source Han Sans CN Regular" panose="020B0500000000000000" charset="-122"/>
                  <a:cs typeface="Source Han Sans CN Regular" panose="020B0500000000000000" charset="-122"/>
                </a:rPr>
                <a:t>考研机试、牛客OI赛</a:t>
              </a:r>
            </a:p>
            <a:p>
              <a:pPr indent="304800" algn="just">
                <a:lnSpc>
                  <a:spcPct val="150000"/>
                </a:lnSpc>
                <a:spcAft>
                  <a:spcPts val="0"/>
                </a:spcAft>
              </a:pPr>
              <a:r>
                <a:rPr sz="2400" kern="100" dirty="0">
                  <a:solidFill>
                    <a:schemeClr val="accent1">
                      <a:lumMod val="50000"/>
                    </a:schemeClr>
                  </a:solidFill>
                  <a:latin typeface="Source Han Sans CN Regular" panose="020B0500000000000000" charset="-122"/>
                  <a:ea typeface="Source Han Sans CN Regular" panose="020B0500000000000000" charset="-122"/>
                  <a:cs typeface="Source Han Sans CN Regular" panose="020B0500000000000000" charset="-122"/>
                </a:rPr>
                <a:t>全国高校计算机能力挑战赛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914400" y="1318470"/>
            <a:ext cx="6516483" cy="4152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50000"/>
              </a:lnSpc>
              <a:spcAft>
                <a:spcPts val="600"/>
              </a:spcAft>
            </a:pPr>
            <a:r>
              <a:rPr lang="zh-CN" altLang="en-US" sz="1800" dirty="0">
                <a:latin typeface="Source Han Sans CN Regular" panose="020B0500000000000000" charset="-122"/>
                <a:ea typeface="Source Han Sans CN Regular" panose="020B0500000000000000" charset="-122"/>
                <a:cs typeface="Source Han Sans CN Regular" panose="020B0500000000000000" charset="-122"/>
              </a:rPr>
              <a:t>  </a:t>
            </a:r>
            <a:endParaRPr kumimoji="1" lang="en-US" altLang="zh-CN" sz="1800" dirty="0">
              <a:solidFill>
                <a:schemeClr val="tx1"/>
              </a:solidFill>
              <a:latin typeface="Source Han Sans CN Regular" panose="020B0500000000000000" charset="-122"/>
              <a:ea typeface="Source Han Sans CN Regular" panose="020B0500000000000000" charset="-122"/>
              <a:cs typeface="Source Han Sans CN Regular" panose="020B0500000000000000" charset="-122"/>
            </a:endParaRPr>
          </a:p>
        </p:txBody>
      </p:sp>
      <p:sp>
        <p:nvSpPr>
          <p:cNvPr id="7" name="标题 1"/>
          <p:cNvSpPr txBox="1"/>
          <p:nvPr/>
        </p:nvSpPr>
        <p:spPr>
          <a:xfrm>
            <a:off x="786015" y="415716"/>
            <a:ext cx="7122909" cy="776676"/>
          </a:xfrm>
          <a:prstGeom prst="rect">
            <a:avLst/>
          </a:prstGeom>
        </p:spPr>
        <p:txBody>
          <a:bodyPr vert="horz" lIns="86411" tIns="43205" rIns="86411" bIns="43205" rtlCol="0" anchor="ctr">
            <a:normAutofit/>
          </a:bodyPr>
          <a:lstStyle>
            <a:lvl1pPr algn="l" defTabSz="863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 dirty="0">
                <a:solidFill>
                  <a:schemeClr val="tx1"/>
                </a:solidFill>
                <a:latin typeface="Source Han Sans CN Medium" panose="020B0500000000000000" charset="-122"/>
                <a:ea typeface="Source Han Sans CN Medium" panose="020B0500000000000000" charset="-122"/>
                <a:cs typeface="Source Han Sans CN Medium" panose="020B0500000000000000" charset="-122"/>
              </a:rPr>
              <a:t> </a:t>
            </a:r>
            <a:r>
              <a:rPr lang="en-US" sz="3600" dirty="0">
                <a:solidFill>
                  <a:schemeClr val="tx1"/>
                </a:solidFill>
                <a:latin typeface="Source Han Sans CN Medium" panose="020B0500000000000000" charset="-122"/>
                <a:ea typeface="Source Han Sans CN Medium" panose="020B0500000000000000" charset="-122"/>
                <a:cs typeface="Source Han Sans CN Medium" panose="020B0500000000000000" charset="-122"/>
              </a:rPr>
              <a:t>IO</a:t>
            </a:r>
            <a:r>
              <a:rPr sz="3600" dirty="0">
                <a:solidFill>
                  <a:schemeClr val="tx1"/>
                </a:solidFill>
                <a:latin typeface="Source Han Sans CN Medium" panose="020B0500000000000000" charset="-122"/>
                <a:ea typeface="Source Han Sans CN Medium" panose="020B0500000000000000" charset="-122"/>
                <a:cs typeface="Source Han Sans CN Medium" panose="020B0500000000000000" charset="-122"/>
              </a:rPr>
              <a:t>I赛制</a:t>
            </a:r>
          </a:p>
        </p:txBody>
      </p:sp>
      <p:sp>
        <p:nvSpPr>
          <p:cNvPr id="9" name="圆角矩形 8"/>
          <p:cNvSpPr/>
          <p:nvPr/>
        </p:nvSpPr>
        <p:spPr>
          <a:xfrm>
            <a:off x="786130" y="564048"/>
            <a:ext cx="36000" cy="360000"/>
          </a:xfrm>
          <a:prstGeom prst="roundRect">
            <a:avLst>
              <a:gd name="adj" fmla="val 15874"/>
            </a:avLst>
          </a:prstGeom>
          <a:solidFill>
            <a:srgbClr val="2E7E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1" name="矩形: 圆角 28"/>
          <p:cNvSpPr/>
          <p:nvPr/>
        </p:nvSpPr>
        <p:spPr>
          <a:xfrm>
            <a:off x="562000" y="2273105"/>
            <a:ext cx="4973579" cy="711200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 w="12700" cap="flat" cmpd="sng" algn="ctr">
            <a:noFill/>
            <a:prstDash val="solid"/>
            <a:miter lim="800000"/>
          </a:ln>
          <a:effectLst>
            <a:outerShdw blurRad="749300" dist="38100" dir="2700000" algn="tl" rotWithShape="0">
              <a:prstClr val="black">
                <a:alpha val="0"/>
              </a:prstClr>
            </a:outerShdw>
          </a:effectLst>
        </p:spPr>
        <p:txBody>
          <a:bodyPr lIns="0" tIns="0" rIns="0" bIns="0" rtlCol="0" anchor="ctr" anchorCtr="0"/>
          <a:lstStyle/>
          <a:p>
            <a:pPr algn="ctr"/>
            <a:r>
              <a:rPr lang="zh-CN" altLang="en-US" sz="26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提交代码</a:t>
            </a:r>
            <a:r>
              <a:rPr lang="en-US" altLang="zh-CN" sz="26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 </a:t>
            </a:r>
            <a:r>
              <a:rPr lang="zh-CN" altLang="en-US" sz="2600" b="1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及时反馈</a:t>
            </a:r>
          </a:p>
        </p:txBody>
      </p:sp>
      <p:sp>
        <p:nvSpPr>
          <p:cNvPr id="12" name="矩形: 圆角 28"/>
          <p:cNvSpPr/>
          <p:nvPr/>
        </p:nvSpPr>
        <p:spPr>
          <a:xfrm>
            <a:off x="562000" y="3505699"/>
            <a:ext cx="4973579" cy="711200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 w="12700" cap="flat" cmpd="sng" algn="ctr">
            <a:noFill/>
            <a:prstDash val="solid"/>
            <a:miter lim="800000"/>
          </a:ln>
          <a:effectLst>
            <a:outerShdw blurRad="749300" dist="38100" dir="2700000" algn="tl" rotWithShape="0">
              <a:prstClr val="black">
                <a:alpha val="0"/>
              </a:prstClr>
            </a:outerShdw>
          </a:effectLst>
        </p:spPr>
        <p:txBody>
          <a:bodyPr lIns="0" tIns="0" rIns="0" bIns="0" rtlCol="0" anchor="ctr" anchorCtr="0">
            <a:noAutofit/>
          </a:bodyPr>
          <a:lstStyle/>
          <a:p>
            <a:pPr lvl="0" algn="ctr"/>
            <a:r>
              <a:rPr lang="zh-CN" altLang="en-US" sz="26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rPr>
              <a:t>根据所过测试点数量排名</a:t>
            </a:r>
          </a:p>
        </p:txBody>
      </p:sp>
      <p:sp>
        <p:nvSpPr>
          <p:cNvPr id="13" name="矩形: 圆角 28"/>
          <p:cNvSpPr/>
          <p:nvPr/>
        </p:nvSpPr>
        <p:spPr>
          <a:xfrm>
            <a:off x="562000" y="4738293"/>
            <a:ext cx="4973579" cy="711200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 w="12700" cap="flat" cmpd="sng" algn="ctr">
            <a:noFill/>
            <a:prstDash val="solid"/>
            <a:miter lim="800000"/>
          </a:ln>
          <a:effectLst>
            <a:outerShdw blurRad="749300" dist="38100" dir="2700000" algn="tl" rotWithShape="0">
              <a:prstClr val="black">
                <a:alpha val="0"/>
              </a:prstClr>
            </a:outerShdw>
          </a:effectLst>
        </p:spPr>
        <p:txBody>
          <a:bodyPr lIns="0" tIns="0" rIns="0" bIns="0" rtlCol="0" anchor="ctr" anchorCtr="0"/>
          <a:lstStyle/>
          <a:p>
            <a:pPr algn="ctr">
              <a:lnSpc>
                <a:spcPct val="120000"/>
              </a:lnSpc>
              <a:defRPr/>
            </a:pPr>
            <a:r>
              <a:rPr lang="zh-CN" altLang="en-US" sz="26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比赛中可以看到排名</a:t>
            </a:r>
          </a:p>
        </p:txBody>
      </p:sp>
      <p:grpSp>
        <p:nvGrpSpPr>
          <p:cNvPr id="14" name="组合 13"/>
          <p:cNvGrpSpPr/>
          <p:nvPr/>
        </p:nvGrpSpPr>
        <p:grpSpPr>
          <a:xfrm>
            <a:off x="6165248" y="919744"/>
            <a:ext cx="5356828" cy="5297170"/>
            <a:chOff x="6270012" y="3584801"/>
            <a:chExt cx="4744112" cy="2464512"/>
          </a:xfrm>
        </p:grpSpPr>
        <p:sp>
          <p:nvSpPr>
            <p:cNvPr id="15" name="圆角矩形 14"/>
            <p:cNvSpPr/>
            <p:nvPr/>
          </p:nvSpPr>
          <p:spPr>
            <a:xfrm>
              <a:off x="6270012" y="3584801"/>
              <a:ext cx="4415155" cy="2464512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/>
            </a:p>
          </p:txBody>
        </p:sp>
        <p:sp>
          <p:nvSpPr>
            <p:cNvPr id="16" name="矩形 15"/>
            <p:cNvSpPr/>
            <p:nvPr/>
          </p:nvSpPr>
          <p:spPr>
            <a:xfrm>
              <a:off x="6375709" y="3802708"/>
              <a:ext cx="4638415" cy="138724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indent="304800" algn="just">
                <a:lnSpc>
                  <a:spcPct val="150000"/>
                </a:lnSpc>
                <a:spcAft>
                  <a:spcPts val="0"/>
                </a:spcAft>
              </a:pPr>
              <a:r>
                <a:rPr lang="en-US" altLang="zh-CN" sz="3200" b="1" kern="100" dirty="0">
                  <a:solidFill>
                    <a:schemeClr val="accent1">
                      <a:lumMod val="50000"/>
                    </a:schemeClr>
                  </a:solidFill>
                  <a:latin typeface="Source Han Sans CN Regular" panose="020B0500000000000000" charset="-122"/>
                  <a:ea typeface="Source Han Sans CN Regular" panose="020B0500000000000000" charset="-122"/>
                  <a:cs typeface="Source Han Sans CN Regular" panose="020B0500000000000000" charset="-122"/>
                </a:rPr>
                <a:t>IOI</a:t>
              </a:r>
              <a:r>
                <a:rPr lang="zh-CN" altLang="en-US" sz="3200" b="1" kern="100" dirty="0">
                  <a:solidFill>
                    <a:schemeClr val="accent1">
                      <a:lumMod val="50000"/>
                    </a:schemeClr>
                  </a:solidFill>
                  <a:latin typeface="Source Han Sans CN Regular" panose="020B0500000000000000" charset="-122"/>
                  <a:ea typeface="Source Han Sans CN Regular" panose="020B0500000000000000" charset="-122"/>
                  <a:cs typeface="Source Han Sans CN Regular" panose="020B0500000000000000" charset="-122"/>
                </a:rPr>
                <a:t>赛制的比赛</a:t>
              </a:r>
            </a:p>
            <a:p>
              <a:pPr indent="304800" algn="just">
                <a:lnSpc>
                  <a:spcPct val="150000"/>
                </a:lnSpc>
                <a:spcAft>
                  <a:spcPts val="0"/>
                </a:spcAft>
              </a:pPr>
              <a:r>
                <a:rPr sz="2400" kern="100" dirty="0">
                  <a:solidFill>
                    <a:schemeClr val="accent1">
                      <a:lumMod val="50000"/>
                    </a:schemeClr>
                  </a:solidFill>
                  <a:latin typeface="Source Han Sans CN Regular" panose="020B0500000000000000" charset="-122"/>
                  <a:ea typeface="Source Han Sans CN Regular" panose="020B0500000000000000" charset="-122"/>
                  <a:cs typeface="Source Han Sans CN Regular" panose="020B0500000000000000" charset="-122"/>
                </a:rPr>
                <a:t>PAT考试</a:t>
              </a:r>
            </a:p>
            <a:p>
              <a:pPr indent="304800" algn="just">
                <a:lnSpc>
                  <a:spcPct val="150000"/>
                </a:lnSpc>
                <a:spcAft>
                  <a:spcPts val="0"/>
                </a:spcAft>
              </a:pPr>
              <a:r>
                <a:rPr sz="2400" kern="100" dirty="0">
                  <a:solidFill>
                    <a:schemeClr val="accent1">
                      <a:lumMod val="50000"/>
                    </a:schemeClr>
                  </a:solidFill>
                  <a:latin typeface="Source Han Sans CN Regular" panose="020B0500000000000000" charset="-122"/>
                  <a:ea typeface="Source Han Sans CN Regular" panose="020B0500000000000000" charset="-122"/>
                  <a:cs typeface="Source Han Sans CN Regular" panose="020B0500000000000000" charset="-122"/>
                </a:rPr>
                <a:t>团体程序设计天梯赛</a:t>
              </a:r>
            </a:p>
            <a:p>
              <a:pPr indent="304800" algn="just">
                <a:lnSpc>
                  <a:spcPct val="150000"/>
                </a:lnSpc>
                <a:spcAft>
                  <a:spcPts val="0"/>
                </a:spcAft>
              </a:pPr>
              <a:r>
                <a:rPr sz="2400" kern="100" dirty="0">
                  <a:solidFill>
                    <a:schemeClr val="accent1">
                      <a:lumMod val="50000"/>
                    </a:schemeClr>
                  </a:solidFill>
                  <a:latin typeface="Source Han Sans CN Regular" panose="020B0500000000000000" charset="-122"/>
                  <a:ea typeface="Source Han Sans CN Regular" panose="020B0500000000000000" charset="-122"/>
                  <a:cs typeface="Source Han Sans CN Regular" panose="020B0500000000000000" charset="-122"/>
                </a:rPr>
                <a:t>CCF CCSP</a:t>
              </a:r>
            </a:p>
            <a:p>
              <a:pPr indent="304800" algn="just">
                <a:lnSpc>
                  <a:spcPct val="150000"/>
                </a:lnSpc>
                <a:spcAft>
                  <a:spcPts val="0"/>
                </a:spcAft>
              </a:pPr>
              <a:r>
                <a:rPr sz="2400" kern="100" dirty="0">
                  <a:solidFill>
                    <a:schemeClr val="accent1">
                      <a:lumMod val="50000"/>
                    </a:schemeClr>
                  </a:solidFill>
                  <a:latin typeface="Source Han Sans CN Regular" panose="020B0500000000000000" charset="-122"/>
                  <a:ea typeface="Source Han Sans CN Regular" panose="020B0500000000000000" charset="-122"/>
                  <a:cs typeface="Source Han Sans CN Regular" panose="020B0500000000000000" charset="-122"/>
                </a:rPr>
                <a:t>洛谷月赛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 rotWithShape="1">
          <a:blip r:embed="rId2"/>
          <a:srcRect l="5124" t="28622" r="3501" b="28622"/>
          <a:stretch>
            <a:fillRect/>
          </a:stretch>
        </p:blipFill>
        <p:spPr>
          <a:xfrm>
            <a:off x="0" y="0"/>
            <a:ext cx="3539067" cy="6480176"/>
          </a:xfrm>
          <a:prstGeom prst="rect">
            <a:avLst/>
          </a:prstGeom>
          <a:solidFill>
            <a:srgbClr val="0070C0"/>
          </a:solidFill>
        </p:spPr>
      </p:pic>
      <p:grpSp>
        <p:nvGrpSpPr>
          <p:cNvPr id="5" name="组合 4"/>
          <p:cNvGrpSpPr/>
          <p:nvPr/>
        </p:nvGrpSpPr>
        <p:grpSpPr>
          <a:xfrm>
            <a:off x="916060" y="2148637"/>
            <a:ext cx="1656145" cy="1771021"/>
            <a:chOff x="920750" y="1677086"/>
            <a:chExt cx="2555875" cy="2733160"/>
          </a:xfrm>
        </p:grpSpPr>
        <p:sp>
          <p:nvSpPr>
            <p:cNvPr id="6" name="圆角矩形 5"/>
            <p:cNvSpPr/>
            <p:nvPr/>
          </p:nvSpPr>
          <p:spPr>
            <a:xfrm>
              <a:off x="920750" y="1992801"/>
              <a:ext cx="2555875" cy="2417445"/>
            </a:xfrm>
            <a:prstGeom prst="roundRect">
              <a:avLst>
                <a:gd name="adj" fmla="val 8846"/>
              </a:avLst>
            </a:prstGeom>
            <a:no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1101877" y="1677086"/>
              <a:ext cx="2288817" cy="25174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0000" dirty="0">
                  <a:solidFill>
                    <a:schemeClr val="bg1"/>
                  </a:solidFill>
                  <a:cs typeface="+mn-ea"/>
                  <a:sym typeface="+mn-lt"/>
                </a:rPr>
                <a:t>02</a:t>
              </a:r>
              <a:endParaRPr lang="zh-CN" altLang="en-US" sz="10000" dirty="0">
                <a:solidFill>
                  <a:schemeClr val="bg1"/>
                </a:solidFill>
                <a:cs typeface="+mn-ea"/>
                <a:sym typeface="+mn-lt"/>
              </a:endParaRP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1101877" y="3613208"/>
              <a:ext cx="2325629" cy="7124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>
                  <a:solidFill>
                    <a:schemeClr val="bg1"/>
                  </a:solidFill>
                  <a:cs typeface="+mn-ea"/>
                  <a:sym typeface="+mn-lt"/>
                </a:rPr>
                <a:t>PART TWO</a:t>
              </a:r>
              <a:endParaRPr lang="zh-CN" altLang="en-US" sz="2400" dirty="0">
                <a:solidFill>
                  <a:schemeClr val="bg1"/>
                </a:solidFill>
                <a:cs typeface="+mn-ea"/>
                <a:sym typeface="+mn-lt"/>
              </a:endParaRPr>
            </a:p>
          </p:txBody>
        </p:sp>
      </p:grpSp>
      <p:sp>
        <p:nvSpPr>
          <p:cNvPr id="9" name="标题 1"/>
          <p:cNvSpPr>
            <a:spLocks noGrp="1"/>
          </p:cNvSpPr>
          <p:nvPr>
            <p:ph type="title"/>
          </p:nvPr>
        </p:nvSpPr>
        <p:spPr>
          <a:xfrm>
            <a:off x="4909011" y="2527319"/>
            <a:ext cx="5755213" cy="1252534"/>
          </a:xfrm>
        </p:spPr>
        <p:txBody>
          <a:bodyPr>
            <a:normAutofit/>
          </a:bodyPr>
          <a:lstStyle/>
          <a:p>
            <a:r>
              <a:rPr lang="zh-CN" altLang="en-US" sz="45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rPr>
              <a:t>常见竞赛介绍</a:t>
            </a:r>
            <a:endParaRPr lang="zh-CN" altLang="en-US" sz="4500" dirty="0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组合 37"/>
          <p:cNvGrpSpPr/>
          <p:nvPr/>
        </p:nvGrpSpPr>
        <p:grpSpPr>
          <a:xfrm>
            <a:off x="-55245" y="1925955"/>
            <a:ext cx="11682095" cy="1172210"/>
            <a:chOff x="647400" y="2327963"/>
            <a:chExt cx="10530284" cy="1185876"/>
          </a:xfrm>
        </p:grpSpPr>
        <p:grpSp>
          <p:nvGrpSpPr>
            <p:cNvPr id="39" name="Group 70"/>
            <p:cNvGrpSpPr/>
            <p:nvPr/>
          </p:nvGrpSpPr>
          <p:grpSpPr bwMode="auto">
            <a:xfrm>
              <a:off x="647400" y="2722473"/>
              <a:ext cx="10530284" cy="438012"/>
              <a:chOff x="408863" y="2455860"/>
              <a:chExt cx="8358214" cy="348310"/>
            </a:xfrm>
            <a:solidFill>
              <a:srgbClr val="0070C0"/>
            </a:solidFill>
          </p:grpSpPr>
          <p:cxnSp>
            <p:nvCxnSpPr>
              <p:cNvPr id="69" name="Straight Connector 8"/>
              <p:cNvCxnSpPr>
                <a:endCxn id="70" idx="3"/>
              </p:cNvCxnSpPr>
              <p:nvPr/>
            </p:nvCxnSpPr>
            <p:spPr>
              <a:xfrm flipV="1">
                <a:off x="408863" y="2630015"/>
                <a:ext cx="8058176" cy="13121"/>
              </a:xfrm>
              <a:prstGeom prst="line">
                <a:avLst/>
              </a:prstGeom>
              <a:grpFill/>
              <a:ln w="12700" cap="flat">
                <a:solidFill>
                  <a:srgbClr val="0070C0"/>
                </a:solidFill>
                <a:prstDash val="sysDash"/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0" name="Isosceles Triangle 17"/>
              <p:cNvSpPr/>
              <p:nvPr/>
            </p:nvSpPr>
            <p:spPr>
              <a:xfrm rot="5400000">
                <a:off x="8442903" y="2479996"/>
                <a:ext cx="348310" cy="300038"/>
              </a:xfrm>
              <a:prstGeom prst="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 sz="1605"/>
              </a:p>
            </p:txBody>
          </p:sp>
        </p:grp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918045" y="2327963"/>
              <a:ext cx="184731" cy="325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  <a:lvl2pPr marL="742950" indent="-28575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endParaRPr lang="en-US" altLang="zh-CN" sz="1510">
                <a:solidFill>
                  <a:schemeClr val="bg1"/>
                </a:solidFill>
                <a:latin typeface="Open Sans"/>
                <a:ea typeface="宋体" panose="02010600030101010101" pitchFamily="2" charset="-122"/>
              </a:endParaRPr>
            </a:p>
          </p:txBody>
        </p:sp>
        <p:grpSp>
          <p:nvGrpSpPr>
            <p:cNvPr id="64" name="Group 55"/>
            <p:cNvGrpSpPr/>
            <p:nvPr/>
          </p:nvGrpSpPr>
          <p:grpSpPr bwMode="auto">
            <a:xfrm>
              <a:off x="890899" y="2412895"/>
              <a:ext cx="2009033" cy="1100944"/>
              <a:chOff x="601629" y="2201628"/>
              <a:chExt cx="1594638" cy="873968"/>
            </a:xfrm>
          </p:grpSpPr>
          <p:sp>
            <p:nvSpPr>
              <p:cNvPr id="65" name="Oval 10"/>
              <p:cNvSpPr/>
              <p:nvPr/>
            </p:nvSpPr>
            <p:spPr>
              <a:xfrm>
                <a:off x="601629" y="2201628"/>
                <a:ext cx="1594638" cy="873968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 sz="1605" dirty="0"/>
              </a:p>
            </p:txBody>
          </p:sp>
          <p:grpSp>
            <p:nvGrpSpPr>
              <p:cNvPr id="66" name="Group 53"/>
              <p:cNvGrpSpPr/>
              <p:nvPr/>
            </p:nvGrpSpPr>
            <p:grpSpPr bwMode="auto">
              <a:xfrm>
                <a:off x="1877781" y="2525653"/>
                <a:ext cx="68830" cy="46304"/>
                <a:chOff x="7901611" y="1366899"/>
                <a:chExt cx="68830" cy="46304"/>
              </a:xfrm>
            </p:grpSpPr>
            <p:sp>
              <p:nvSpPr>
                <p:cNvPr id="67" name="AutoShape 70"/>
                <p:cNvSpPr/>
                <p:nvPr/>
              </p:nvSpPr>
              <p:spPr bwMode="auto">
                <a:xfrm>
                  <a:off x="7901427" y="1366768"/>
                  <a:ext cx="69057" cy="11908"/>
                </a:xfrm>
                <a:custGeom>
                  <a:avLst/>
                  <a:gdLst>
                    <a:gd name="T0" fmla="*/ 10800 w 21600"/>
                    <a:gd name="T1" fmla="*/ 10800 h 21600"/>
                    <a:gd name="T2" fmla="*/ 10800 w 21600"/>
                    <a:gd name="T3" fmla="*/ 10800 h 21600"/>
                    <a:gd name="T4" fmla="*/ 10800 w 21600"/>
                    <a:gd name="T5" fmla="*/ 10800 h 21600"/>
                    <a:gd name="T6" fmla="*/ 10800 w 21600"/>
                    <a:gd name="T7" fmla="*/ 10800 h 216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600" h="21600">
                      <a:moveTo>
                        <a:pt x="1800" y="21599"/>
                      </a:moveTo>
                      <a:lnTo>
                        <a:pt x="19800" y="21599"/>
                      </a:lnTo>
                      <a:cubicBezTo>
                        <a:pt x="20791" y="21599"/>
                        <a:pt x="21600" y="16769"/>
                        <a:pt x="21600" y="10800"/>
                      </a:cubicBezTo>
                      <a:cubicBezTo>
                        <a:pt x="21600" y="4830"/>
                        <a:pt x="20791" y="0"/>
                        <a:pt x="19800" y="0"/>
                      </a:cubicBezTo>
                      <a:lnTo>
                        <a:pt x="1800" y="0"/>
                      </a:lnTo>
                      <a:cubicBezTo>
                        <a:pt x="801" y="0"/>
                        <a:pt x="0" y="4830"/>
                        <a:pt x="0" y="10800"/>
                      </a:cubicBezTo>
                      <a:cubicBezTo>
                        <a:pt x="0" y="16769"/>
                        <a:pt x="801" y="21599"/>
                        <a:pt x="1800" y="21599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  <a:effectLst/>
              </p:spPr>
              <p:txBody>
                <a:bodyPr lIns="48001" tIns="48001" rIns="48001" bIns="48001" anchor="ctr"/>
                <a:lstStyle/>
                <a:p>
                  <a:pPr defTabSz="575945">
                    <a:defRPr/>
                  </a:pPr>
                  <a:endParaRPr lang="en-US" sz="3780">
                    <a:solidFill>
                      <a:srgbClr val="FFFFFF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</a:endParaRPr>
                </a:p>
              </p:txBody>
            </p:sp>
            <p:sp>
              <p:nvSpPr>
                <p:cNvPr id="68" name="AutoShape 71"/>
                <p:cNvSpPr/>
                <p:nvPr/>
              </p:nvSpPr>
              <p:spPr bwMode="auto">
                <a:xfrm>
                  <a:off x="7901427" y="1401300"/>
                  <a:ext cx="69057" cy="11908"/>
                </a:xfrm>
                <a:custGeom>
                  <a:avLst/>
                  <a:gdLst>
                    <a:gd name="T0" fmla="*/ 10800 w 21600"/>
                    <a:gd name="T1" fmla="*/ 10800 h 21600"/>
                    <a:gd name="T2" fmla="*/ 10800 w 21600"/>
                    <a:gd name="T3" fmla="*/ 10800 h 21600"/>
                    <a:gd name="T4" fmla="*/ 10800 w 21600"/>
                    <a:gd name="T5" fmla="*/ 10800 h 21600"/>
                    <a:gd name="T6" fmla="*/ 10800 w 21600"/>
                    <a:gd name="T7" fmla="*/ 10800 h 216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600" h="21600">
                      <a:moveTo>
                        <a:pt x="1800" y="21599"/>
                      </a:moveTo>
                      <a:lnTo>
                        <a:pt x="19800" y="21599"/>
                      </a:lnTo>
                      <a:cubicBezTo>
                        <a:pt x="20791" y="21599"/>
                        <a:pt x="21600" y="16769"/>
                        <a:pt x="21600" y="10800"/>
                      </a:cubicBezTo>
                      <a:cubicBezTo>
                        <a:pt x="21600" y="4830"/>
                        <a:pt x="20791" y="0"/>
                        <a:pt x="19800" y="0"/>
                      </a:cubicBezTo>
                      <a:lnTo>
                        <a:pt x="1800" y="0"/>
                      </a:lnTo>
                      <a:cubicBezTo>
                        <a:pt x="801" y="0"/>
                        <a:pt x="0" y="4830"/>
                        <a:pt x="0" y="10800"/>
                      </a:cubicBezTo>
                      <a:cubicBezTo>
                        <a:pt x="0" y="16769"/>
                        <a:pt x="801" y="21599"/>
                        <a:pt x="1800" y="21599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  <a:effectLst/>
              </p:spPr>
              <p:txBody>
                <a:bodyPr lIns="48001" tIns="48001" rIns="48001" bIns="48001" anchor="ctr"/>
                <a:lstStyle/>
                <a:p>
                  <a:pPr defTabSz="575945">
                    <a:defRPr/>
                  </a:pPr>
                  <a:endParaRPr lang="en-US" sz="3780">
                    <a:solidFill>
                      <a:srgbClr val="FFFFFF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</a:endParaRPr>
                </a:p>
              </p:txBody>
            </p:sp>
          </p:grpSp>
        </p:grpSp>
        <p:sp>
          <p:nvSpPr>
            <p:cNvPr id="46" name="Rectangle 36"/>
            <p:cNvSpPr/>
            <p:nvPr/>
          </p:nvSpPr>
          <p:spPr>
            <a:xfrm>
              <a:off x="1086820" y="2701979"/>
              <a:ext cx="1814195" cy="44518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zh-CN" altLang="en-US" sz="227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Open Sans Light" pitchFamily="34" charset="0"/>
                </a:rPr>
                <a:t>蓝桥杯省赛</a:t>
              </a:r>
            </a:p>
          </p:txBody>
        </p:sp>
        <p:sp>
          <p:nvSpPr>
            <p:cNvPr id="47" name="Rectangle 36"/>
            <p:cNvSpPr/>
            <p:nvPr/>
          </p:nvSpPr>
          <p:spPr>
            <a:xfrm>
              <a:off x="5045690" y="2701645"/>
              <a:ext cx="848584" cy="44518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zh-CN" altLang="en-US" sz="227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Open Sans Light" pitchFamily="34" charset="0"/>
                </a:rPr>
                <a:t>省赛</a:t>
              </a:r>
              <a:endParaRPr lang="en-US" altLang="zh-CN" sz="227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Open Sans Light" pitchFamily="34" charset="0"/>
              </a:endParaRPr>
            </a:p>
          </p:txBody>
        </p:sp>
        <p:sp>
          <p:nvSpPr>
            <p:cNvPr id="48" name="Rectangle 36"/>
            <p:cNvSpPr/>
            <p:nvPr/>
          </p:nvSpPr>
          <p:spPr>
            <a:xfrm>
              <a:off x="7894438" y="2713645"/>
              <a:ext cx="1150532" cy="445185"/>
            </a:xfrm>
            <a:prstGeom prst="rect">
              <a:avLst/>
            </a:prstGeom>
          </p:spPr>
          <p:txBody>
            <a:bodyPr>
              <a:spAutoFit/>
            </a:bodyPr>
            <a:lstStyle/>
            <a:p>
              <a:pPr>
                <a:defRPr/>
              </a:pPr>
              <a:r>
                <a:rPr lang="zh-CN" altLang="en-US" sz="227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Open Sans Light" pitchFamily="34" charset="0"/>
                </a:rPr>
                <a:t>决赛</a:t>
              </a:r>
              <a:endParaRPr lang="en-US" altLang="zh-CN" sz="227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Open Sans Light" pitchFamily="34" charset="0"/>
              </a:endParaRPr>
            </a:p>
          </p:txBody>
        </p:sp>
      </p:grpSp>
      <p:sp>
        <p:nvSpPr>
          <p:cNvPr id="71" name="标题 1"/>
          <p:cNvSpPr txBox="1"/>
          <p:nvPr/>
        </p:nvSpPr>
        <p:spPr>
          <a:xfrm>
            <a:off x="715530" y="369361"/>
            <a:ext cx="7122909" cy="776676"/>
          </a:xfrm>
          <a:prstGeom prst="rect">
            <a:avLst/>
          </a:prstGeom>
        </p:spPr>
        <p:txBody>
          <a:bodyPr vert="horz" lIns="86411" tIns="43205" rIns="86411" bIns="43205" rtlCol="0" anchor="ctr">
            <a:normAutofit/>
          </a:bodyPr>
          <a:lstStyle>
            <a:lvl1pPr algn="l" defTabSz="863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dirty="0">
                <a:latin typeface="Source Han Sans CN Medium" panose="020B0500000000000000" charset="-122"/>
                <a:ea typeface="Source Han Sans CN Medium" panose="020B0500000000000000" charset="-122"/>
                <a:cs typeface="Source Han Sans CN Medium" panose="020B0500000000000000" charset="-122"/>
              </a:rPr>
              <a:t>大赛赛制</a:t>
            </a:r>
            <a:endParaRPr lang="zh-CN" altLang="en-US" sz="2800" dirty="0">
              <a:solidFill>
                <a:schemeClr val="tx1"/>
              </a:solidFill>
              <a:latin typeface="Source Han Sans CN Medium" panose="020B0500000000000000" charset="-122"/>
              <a:ea typeface="Source Han Sans CN Medium" panose="020B0500000000000000" charset="-122"/>
              <a:cs typeface="Source Han Sans CN Medium" panose="020B0500000000000000" charset="-122"/>
            </a:endParaRPr>
          </a:p>
        </p:txBody>
      </p:sp>
      <p:sp>
        <p:nvSpPr>
          <p:cNvPr id="72" name="圆角矩形 71"/>
          <p:cNvSpPr/>
          <p:nvPr/>
        </p:nvSpPr>
        <p:spPr>
          <a:xfrm>
            <a:off x="714690" y="521184"/>
            <a:ext cx="36000" cy="360000"/>
          </a:xfrm>
          <a:prstGeom prst="roundRect">
            <a:avLst>
              <a:gd name="adj" fmla="val 15874"/>
            </a:avLst>
          </a:prstGeom>
          <a:solidFill>
            <a:srgbClr val="2E7E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73" name="文本框 72"/>
          <p:cNvSpPr txBox="1"/>
          <p:nvPr/>
        </p:nvSpPr>
        <p:spPr>
          <a:xfrm>
            <a:off x="450215" y="3884930"/>
            <a:ext cx="10775950" cy="181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1.蓝桥杯全国软件和信息技术专业人才大赛（前面已经介绍略过）</a:t>
            </a:r>
          </a:p>
          <a:p>
            <a:pPr algn="ctr"/>
            <a:r>
              <a:rPr lang="zh-CN" altLang="en-US" sz="2800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2.中国高校计算机大赛-团体程序天梯赛</a:t>
            </a:r>
          </a:p>
          <a:p>
            <a:pPr algn="ctr"/>
            <a:r>
              <a:rPr lang="zh-CN" altLang="en-US" sz="2800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3.中国大学生程序设计竞赛（CCPC）</a:t>
            </a:r>
          </a:p>
          <a:p>
            <a:pPr algn="ctr"/>
            <a:r>
              <a:rPr lang="zh-CN" altLang="en-US" sz="2800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4.国际大学生程序设计竞赛（ICPC）</a:t>
            </a:r>
          </a:p>
        </p:txBody>
      </p:sp>
      <p:sp>
        <p:nvSpPr>
          <p:cNvPr id="2" name="Oval 10"/>
          <p:cNvSpPr/>
          <p:nvPr/>
        </p:nvSpPr>
        <p:spPr>
          <a:xfrm>
            <a:off x="2597150" y="2011045"/>
            <a:ext cx="2020570" cy="106807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605"/>
          </a:p>
        </p:txBody>
      </p:sp>
      <p:sp>
        <p:nvSpPr>
          <p:cNvPr id="3" name="Rectangle 36"/>
          <p:cNvSpPr/>
          <p:nvPr/>
        </p:nvSpPr>
        <p:spPr>
          <a:xfrm>
            <a:off x="2846705" y="2319655"/>
            <a:ext cx="1701165" cy="4400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zh-CN" sz="227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Open Sans Light" pitchFamily="34" charset="0"/>
              </a:rPr>
              <a:t> </a:t>
            </a:r>
            <a:r>
              <a:rPr lang="zh-CN" altLang="en-US" sz="227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Open Sans Light" pitchFamily="34" charset="0"/>
              </a:rPr>
              <a:t>XCPC省赛</a:t>
            </a:r>
          </a:p>
        </p:txBody>
      </p:sp>
      <p:sp>
        <p:nvSpPr>
          <p:cNvPr id="4" name="Oval 10"/>
          <p:cNvSpPr/>
          <p:nvPr/>
        </p:nvSpPr>
        <p:spPr>
          <a:xfrm>
            <a:off x="4923790" y="2011680"/>
            <a:ext cx="1987550" cy="110109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605"/>
          </a:p>
        </p:txBody>
      </p:sp>
      <p:sp>
        <p:nvSpPr>
          <p:cNvPr id="5" name="Rectangle 36"/>
          <p:cNvSpPr/>
          <p:nvPr/>
        </p:nvSpPr>
        <p:spPr>
          <a:xfrm>
            <a:off x="5116195" y="2308860"/>
            <a:ext cx="1672590" cy="4400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zh-CN" altLang="en-US" sz="227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Open Sans Light" pitchFamily="34" charset="0"/>
              </a:rPr>
              <a:t>蓝桥杯国赛</a:t>
            </a:r>
          </a:p>
        </p:txBody>
      </p:sp>
      <p:sp>
        <p:nvSpPr>
          <p:cNvPr id="6" name="Oval 10"/>
          <p:cNvSpPr/>
          <p:nvPr/>
        </p:nvSpPr>
        <p:spPr>
          <a:xfrm>
            <a:off x="7116445" y="1989455"/>
            <a:ext cx="1702435" cy="110109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605"/>
          </a:p>
        </p:txBody>
      </p:sp>
      <p:sp>
        <p:nvSpPr>
          <p:cNvPr id="7" name="Rectangle 36"/>
          <p:cNvSpPr/>
          <p:nvPr/>
        </p:nvSpPr>
        <p:spPr>
          <a:xfrm>
            <a:off x="7443430" y="2320510"/>
            <a:ext cx="1814195" cy="4400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zh-CN" altLang="en-US" sz="227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Open Sans Light" pitchFamily="34" charset="0"/>
              </a:rPr>
              <a:t>天梯赛</a:t>
            </a:r>
          </a:p>
        </p:txBody>
      </p:sp>
      <p:sp>
        <p:nvSpPr>
          <p:cNvPr id="9" name="Oval 10"/>
          <p:cNvSpPr/>
          <p:nvPr/>
        </p:nvSpPr>
        <p:spPr>
          <a:xfrm>
            <a:off x="9023985" y="1997075"/>
            <a:ext cx="1941195" cy="110109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605"/>
          </a:p>
        </p:txBody>
      </p:sp>
      <p:sp>
        <p:nvSpPr>
          <p:cNvPr id="10" name="Rectangle 36"/>
          <p:cNvSpPr/>
          <p:nvPr/>
        </p:nvSpPr>
        <p:spPr>
          <a:xfrm>
            <a:off x="9145905" y="2327910"/>
            <a:ext cx="2155190" cy="4400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zh-CN" altLang="en-US" sz="227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Open Sans Light" pitchFamily="34" charset="0"/>
              </a:rPr>
              <a:t>XCPC区域赛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0990D03-D8BB-4AAC-A160-018D6DE349F4}"/>
              </a:ext>
            </a:extLst>
          </p:cNvPr>
          <p:cNvSpPr txBox="1"/>
          <p:nvPr/>
        </p:nvSpPr>
        <p:spPr>
          <a:xfrm>
            <a:off x="883883" y="1227557"/>
            <a:ext cx="222878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/>
              <a:t>难度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对角圆角矩形 11"/>
          <p:cNvSpPr/>
          <p:nvPr/>
        </p:nvSpPr>
        <p:spPr>
          <a:xfrm>
            <a:off x="0" y="2775585"/>
            <a:ext cx="7546340" cy="370459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对角圆角矩形 7"/>
          <p:cNvSpPr/>
          <p:nvPr/>
        </p:nvSpPr>
        <p:spPr>
          <a:xfrm>
            <a:off x="474662" y="1157467"/>
            <a:ext cx="10572750" cy="2371090"/>
          </a:xfrm>
          <a:prstGeom prst="round2DiagRect">
            <a:avLst/>
          </a:prstGeom>
          <a:solidFill>
            <a:srgbClr val="2E7E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标题 1"/>
          <p:cNvSpPr txBox="1"/>
          <p:nvPr/>
        </p:nvSpPr>
        <p:spPr>
          <a:xfrm>
            <a:off x="822210" y="380791"/>
            <a:ext cx="7122909" cy="776676"/>
          </a:xfrm>
          <a:prstGeom prst="rect">
            <a:avLst/>
          </a:prstGeom>
        </p:spPr>
        <p:txBody>
          <a:bodyPr vert="horz" lIns="86411" tIns="43205" rIns="86411" bIns="43205" rtlCol="0" anchor="ctr">
            <a:normAutofit/>
          </a:bodyPr>
          <a:lstStyle>
            <a:lvl1pPr algn="l" defTabSz="863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dirty="0">
                <a:solidFill>
                  <a:schemeClr val="tx1"/>
                </a:solidFill>
                <a:latin typeface="Source Han Sans CN Medium" panose="020B0500000000000000" charset="-122"/>
                <a:ea typeface="Source Han Sans CN Medium" panose="020B0500000000000000" charset="-122"/>
                <a:cs typeface="Source Han Sans CN Medium" panose="020B0500000000000000" charset="-122"/>
              </a:rPr>
              <a:t>天梯赛简介</a:t>
            </a:r>
          </a:p>
        </p:txBody>
      </p:sp>
      <p:sp>
        <p:nvSpPr>
          <p:cNvPr id="3" name="矩形 2"/>
          <p:cNvSpPr/>
          <p:nvPr/>
        </p:nvSpPr>
        <p:spPr>
          <a:xfrm>
            <a:off x="1191145" y="1426928"/>
            <a:ext cx="5099995" cy="17532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lang="zh-CN" altLang="zh-CN" sz="2400" b="1" kern="100" dirty="0">
                <a:solidFill>
                  <a:schemeClr val="bg1"/>
                </a:solidFill>
                <a:latin typeface="Source Han Sans CN Bold" panose="020B0500000000000000" charset="-122"/>
                <a:ea typeface="Source Han Sans CN Bold" panose="020B0500000000000000" charset="-122"/>
                <a:cs typeface="Source Han Sans CN Regular" panose="020B0500000000000000" charset="-122"/>
              </a:rPr>
              <a:t>天梯赛官网：https://gplt.patest.cn/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lang="zh-CN" altLang="zh-CN" sz="2400" b="1" kern="100" dirty="0">
                <a:solidFill>
                  <a:schemeClr val="bg1"/>
                </a:solidFill>
                <a:latin typeface="Source Han Sans CN Bold" panose="020B0500000000000000" charset="-122"/>
                <a:ea typeface="Source Han Sans CN Bold" panose="020B0500000000000000" charset="-122"/>
                <a:cs typeface="Source Han Sans CN Regular" panose="020B0500000000000000" charset="-122"/>
              </a:rPr>
              <a:t>入选全国高校学科竞赛排行榜</a:t>
            </a:r>
            <a:endParaRPr lang="zh-CN" altLang="en-US" sz="2400" kern="100" dirty="0">
              <a:solidFill>
                <a:schemeClr val="bg1"/>
              </a:solidFill>
              <a:effectLst/>
              <a:latin typeface="Source Han Sans CN Regular" panose="020B0500000000000000" charset="-122"/>
              <a:ea typeface="Source Han Sans CN Regular" panose="020B0500000000000000" charset="-122"/>
              <a:cs typeface="Source Han Sans CN Regular" panose="020B0500000000000000" charset="-122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786130" y="521184"/>
            <a:ext cx="36000" cy="360000"/>
          </a:xfrm>
          <a:prstGeom prst="roundRect">
            <a:avLst>
              <a:gd name="adj" fmla="val 15874"/>
            </a:avLst>
          </a:prstGeom>
          <a:solidFill>
            <a:srgbClr val="2E7E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pic>
        <p:nvPicPr>
          <p:cNvPr id="5" name="图片 5"/>
          <p:cNvPicPr>
            <a:picLocks noChangeAspect="1" noChangeArrowheads="1"/>
          </p:cNvPicPr>
          <p:nvPr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343531" y="521184"/>
            <a:ext cx="5442585" cy="577469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489" y="3556096"/>
            <a:ext cx="5680710" cy="26422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714375" y="287655"/>
            <a:ext cx="7122795" cy="1129665"/>
          </a:xfrm>
          <a:prstGeom prst="rect">
            <a:avLst/>
          </a:prstGeom>
        </p:spPr>
        <p:txBody>
          <a:bodyPr vert="horz" lIns="86411" tIns="43205" rIns="86411" bIns="43205" rtlCol="0" anchor="ctr"/>
          <a:lstStyle>
            <a:lvl1pPr algn="l" defTabSz="863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4800" dirty="0">
                <a:latin typeface="Source Han Sans CN Medium" panose="020B0500000000000000" charset="-122"/>
                <a:ea typeface="Source Han Sans CN Medium" panose="020B0500000000000000" charset="-122"/>
                <a:cs typeface="Source Han Sans CN Medium" panose="020B0500000000000000" charset="-122"/>
              </a:rPr>
              <a:t>天梯赛</a:t>
            </a:r>
          </a:p>
        </p:txBody>
      </p:sp>
      <p:sp>
        <p:nvSpPr>
          <p:cNvPr id="36" name="圆角矩形 35"/>
          <p:cNvSpPr/>
          <p:nvPr/>
        </p:nvSpPr>
        <p:spPr>
          <a:xfrm>
            <a:off x="714690" y="521184"/>
            <a:ext cx="36000" cy="360000"/>
          </a:xfrm>
          <a:prstGeom prst="roundRect">
            <a:avLst>
              <a:gd name="adj" fmla="val 15874"/>
            </a:avLst>
          </a:prstGeom>
          <a:solidFill>
            <a:srgbClr val="2E7E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grpSp>
        <p:nvGrpSpPr>
          <p:cNvPr id="8" name="组合 7"/>
          <p:cNvGrpSpPr/>
          <p:nvPr/>
        </p:nvGrpSpPr>
        <p:grpSpPr>
          <a:xfrm>
            <a:off x="6089063" y="1238031"/>
            <a:ext cx="5433012" cy="4861144"/>
            <a:chOff x="8528372" y="3111083"/>
            <a:chExt cx="4530409" cy="3356707"/>
          </a:xfrm>
        </p:grpSpPr>
        <p:sp>
          <p:nvSpPr>
            <p:cNvPr id="7" name="圆角矩形 6"/>
            <p:cNvSpPr/>
            <p:nvPr/>
          </p:nvSpPr>
          <p:spPr>
            <a:xfrm>
              <a:off x="8528372" y="3111083"/>
              <a:ext cx="4363085" cy="3356556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 dirty="0"/>
            </a:p>
          </p:txBody>
        </p:sp>
        <p:sp>
          <p:nvSpPr>
            <p:cNvPr id="6" name="矩形 5"/>
            <p:cNvSpPr/>
            <p:nvPr/>
          </p:nvSpPr>
          <p:spPr>
            <a:xfrm>
              <a:off x="8593461" y="3280487"/>
              <a:ext cx="4465320" cy="318730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457200" indent="-457200" algn="just">
                <a:lnSpc>
                  <a:spcPct val="150000"/>
                </a:lnSpc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zh-CN" altLang="zh-CN" sz="2800" kern="100" dirty="0">
                  <a:solidFill>
                    <a:schemeClr val="accent1">
                      <a:lumMod val="50000"/>
                    </a:schemeClr>
                  </a:solidFill>
                  <a:latin typeface="Source Han Sans CN Regular" panose="020B0500000000000000" charset="-122"/>
                  <a:ea typeface="Source Han Sans CN Regular" panose="020B0500000000000000" charset="-122"/>
                  <a:cs typeface="Source Han Sans CN Regular" panose="020B0500000000000000" charset="-122"/>
                  <a:sym typeface="+mn-ea"/>
                </a:rPr>
                <a:t>在每年4月份举行</a:t>
              </a:r>
            </a:p>
            <a:p>
              <a:pPr indent="304800" algn="just">
                <a:lnSpc>
                  <a:spcPct val="150000"/>
                </a:lnSpc>
                <a:spcAft>
                  <a:spcPts val="0"/>
                </a:spcAft>
              </a:pPr>
              <a:endParaRPr lang="zh-CN" altLang="zh-CN" sz="2800" kern="100" dirty="0">
                <a:solidFill>
                  <a:schemeClr val="accent1">
                    <a:lumMod val="50000"/>
                  </a:schemeClr>
                </a:solidFill>
                <a:latin typeface="Source Han Sans CN Regular" panose="020B0500000000000000" charset="-122"/>
                <a:ea typeface="Source Han Sans CN Regular" panose="020B0500000000000000" charset="-122"/>
                <a:cs typeface="Source Han Sans CN Regular" panose="020B0500000000000000" charset="-122"/>
                <a:sym typeface="+mn-ea"/>
              </a:endParaRPr>
            </a:p>
            <a:p>
              <a:pPr marL="457200" indent="-457200" algn="just">
                <a:lnSpc>
                  <a:spcPct val="150000"/>
                </a:lnSpc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zh-CN" altLang="zh-CN" sz="2800" kern="100" dirty="0">
                  <a:solidFill>
                    <a:schemeClr val="accent1">
                      <a:lumMod val="50000"/>
                    </a:schemeClr>
                  </a:solidFill>
                  <a:latin typeface="Source Han Sans CN Regular" panose="020B0500000000000000" charset="-122"/>
                  <a:ea typeface="Source Han Sans CN Regular" panose="020B0500000000000000" charset="-122"/>
                  <a:cs typeface="Source Han Sans CN Regular" panose="020B0500000000000000" charset="-122"/>
                  <a:sym typeface="+mn-ea"/>
                </a:rPr>
                <a:t>IOI赛制</a:t>
              </a:r>
            </a:p>
            <a:p>
              <a:pPr indent="304800" algn="just">
                <a:lnSpc>
                  <a:spcPct val="150000"/>
                </a:lnSpc>
                <a:spcAft>
                  <a:spcPts val="0"/>
                </a:spcAft>
              </a:pPr>
              <a:endParaRPr lang="zh-CN" altLang="zh-CN" sz="2800" kern="100" dirty="0">
                <a:solidFill>
                  <a:schemeClr val="accent1">
                    <a:lumMod val="50000"/>
                  </a:schemeClr>
                </a:solidFill>
                <a:latin typeface="Source Han Sans CN Regular" panose="020B0500000000000000" charset="-122"/>
                <a:ea typeface="Source Han Sans CN Regular" panose="020B0500000000000000" charset="-122"/>
                <a:cs typeface="Source Han Sans CN Regular" panose="020B0500000000000000" charset="-122"/>
                <a:sym typeface="+mn-ea"/>
              </a:endParaRPr>
            </a:p>
            <a:p>
              <a:pPr marL="457200" indent="-457200" algn="just">
                <a:lnSpc>
                  <a:spcPct val="150000"/>
                </a:lnSpc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zh-CN" altLang="zh-CN" sz="2800" kern="100" dirty="0">
                  <a:solidFill>
                    <a:schemeClr val="accent1">
                      <a:lumMod val="50000"/>
                    </a:schemeClr>
                  </a:solidFill>
                  <a:latin typeface="Source Han Sans CN Regular" panose="020B0500000000000000" charset="-122"/>
                  <a:ea typeface="Source Han Sans CN Regular" panose="020B0500000000000000" charset="-122"/>
                  <a:cs typeface="Source Han Sans CN Regular" panose="020B0500000000000000" charset="-122"/>
                  <a:sym typeface="+mn-ea"/>
                </a:rPr>
                <a:t>每支参赛队由10名队员组成。</a:t>
              </a:r>
            </a:p>
            <a:p>
              <a:pPr indent="304800" algn="just">
                <a:lnSpc>
                  <a:spcPct val="150000"/>
                </a:lnSpc>
                <a:spcAft>
                  <a:spcPts val="0"/>
                </a:spcAft>
              </a:pPr>
              <a:r>
                <a:rPr lang="zh-CN" altLang="zh-CN" sz="2800" kern="100" dirty="0">
                  <a:solidFill>
                    <a:schemeClr val="accent1">
                      <a:lumMod val="50000"/>
                    </a:schemeClr>
                  </a:solidFill>
                  <a:latin typeface="Source Han Sans CN Regular" panose="020B0500000000000000" charset="-122"/>
                  <a:ea typeface="Source Han Sans CN Regular" panose="020B0500000000000000" charset="-122"/>
                  <a:cs typeface="Source Han Sans CN Regular" panose="020B0500000000000000" charset="-122"/>
                  <a:sym typeface="+mn-ea"/>
                </a:rPr>
                <a:t>比赛时间3个小时</a:t>
              </a:r>
            </a:p>
            <a:p>
              <a:pPr indent="304800" algn="just">
                <a:lnSpc>
                  <a:spcPct val="150000"/>
                </a:lnSpc>
                <a:spcAft>
                  <a:spcPts val="0"/>
                </a:spcAft>
              </a:pPr>
              <a:endParaRPr lang="zh-CN" altLang="zh-CN" sz="2800" kern="100" dirty="0">
                <a:solidFill>
                  <a:schemeClr val="accent1">
                    <a:lumMod val="50000"/>
                  </a:schemeClr>
                </a:solidFill>
                <a:latin typeface="Source Han Sans CN Regular" panose="020B0500000000000000" charset="-122"/>
                <a:ea typeface="Source Han Sans CN Regular" panose="020B0500000000000000" charset="-122"/>
                <a:cs typeface="Source Han Sans CN Regular" panose="020B0500000000000000" charset="-122"/>
                <a:sym typeface="+mn-ea"/>
              </a:endParaRPr>
            </a:p>
          </p:txBody>
        </p:sp>
      </p:grp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1" y="1935732"/>
            <a:ext cx="5870622" cy="300912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786130" y="313163"/>
            <a:ext cx="3477245" cy="776676"/>
            <a:chOff x="786130" y="313163"/>
            <a:chExt cx="3477245" cy="776676"/>
          </a:xfrm>
        </p:grpSpPr>
        <p:sp>
          <p:nvSpPr>
            <p:cNvPr id="4" name="标题 1"/>
            <p:cNvSpPr txBox="1"/>
            <p:nvPr/>
          </p:nvSpPr>
          <p:spPr>
            <a:xfrm>
              <a:off x="822210" y="313163"/>
              <a:ext cx="3441165" cy="776676"/>
            </a:xfrm>
            <a:prstGeom prst="rect">
              <a:avLst/>
            </a:prstGeom>
          </p:spPr>
          <p:txBody>
            <a:bodyPr vert="horz" lIns="86411" tIns="43205" rIns="86411" bIns="43205" rtlCol="0" anchor="ctr">
              <a:normAutofit/>
            </a:bodyPr>
            <a:lstStyle>
              <a:lvl1pPr algn="l" defTabSz="863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2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zh-CN" altLang="en-US" sz="3600" dirty="0">
                  <a:latin typeface="Source Han Sans CN Medium" panose="020B0500000000000000" charset="-122"/>
                  <a:ea typeface="Source Han Sans CN Medium" panose="020B0500000000000000" charset="-122"/>
                  <a:cs typeface="Source Han Sans CN Medium" panose="020B0500000000000000" charset="-122"/>
                  <a:sym typeface="+mn-ea"/>
                </a:rPr>
                <a:t>天梯赛</a:t>
              </a:r>
            </a:p>
          </p:txBody>
        </p:sp>
        <p:sp>
          <p:nvSpPr>
            <p:cNvPr id="5" name="圆角矩形 4"/>
            <p:cNvSpPr/>
            <p:nvPr/>
          </p:nvSpPr>
          <p:spPr>
            <a:xfrm>
              <a:off x="786130" y="521184"/>
              <a:ext cx="36000" cy="360000"/>
            </a:xfrm>
            <a:prstGeom prst="roundRect">
              <a:avLst>
                <a:gd name="adj" fmla="val 15874"/>
              </a:avLst>
            </a:prstGeom>
            <a:solidFill>
              <a:srgbClr val="2E7E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accent1">
                    <a:lumMod val="40000"/>
                    <a:lumOff val="60000"/>
                  </a:schemeClr>
                </a:solidFill>
              </a:endParaRPr>
            </a:p>
          </p:txBody>
        </p:sp>
      </p:grpSp>
      <p:sp>
        <p:nvSpPr>
          <p:cNvPr id="6" name="文本框 1"/>
          <p:cNvSpPr txBox="1">
            <a:spLocks noChangeArrowheads="1"/>
          </p:cNvSpPr>
          <p:nvPr/>
        </p:nvSpPr>
        <p:spPr bwMode="auto">
          <a:xfrm>
            <a:off x="487045" y="990600"/>
            <a:ext cx="10407650" cy="4831080"/>
          </a:xfrm>
          <a:prstGeom prst="rect">
            <a:avLst/>
          </a:prstGeom>
          <a:noFill/>
          <a:ln w="9525">
            <a:solidFill>
              <a:schemeClr val="accent1"/>
            </a:solidFill>
            <a:prstDash val="sysDash"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9pPr>
          </a:lstStyle>
          <a:p>
            <a:pPr algn="l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dirty="0">
                <a:latin typeface="Arial" panose="020B0604020202020204" pitchFamily="34" charset="0"/>
                <a:ea typeface="仿宋" panose="02010609060101010101" pitchFamily="49" charset="-122"/>
              </a:rPr>
              <a:t>竞赛题目分 3 个梯级</a:t>
            </a:r>
          </a:p>
          <a:p>
            <a:pPr algn="l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dirty="0">
                <a:latin typeface="Arial" panose="020B0604020202020204" pitchFamily="34" charset="0"/>
                <a:ea typeface="仿宋" panose="02010609060101010101" pitchFamily="49" charset="-122"/>
              </a:rPr>
              <a:t>必须独立按照严格的输入输出要求提交每一题的解题程序</a:t>
            </a:r>
          </a:p>
          <a:p>
            <a:pPr algn="l">
              <a:lnSpc>
                <a:spcPct val="100000"/>
              </a:lnSpc>
              <a:spcBef>
                <a:spcPct val="0"/>
              </a:spcBef>
              <a:buFontTx/>
              <a:buNone/>
            </a:pPr>
            <a:endParaRPr lang="en-US" altLang="zh-CN" dirty="0">
              <a:latin typeface="Arial" panose="020B0604020202020204" pitchFamily="34" charset="0"/>
              <a:ea typeface="仿宋" panose="02010609060101010101" pitchFamily="49" charset="-122"/>
            </a:endParaRPr>
          </a:p>
          <a:p>
            <a:pPr algn="l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b="1" dirty="0">
                <a:latin typeface="Arial" panose="020B0604020202020204" pitchFamily="34" charset="0"/>
                <a:ea typeface="仿宋" panose="02010609060101010101" pitchFamily="49" charset="-122"/>
              </a:rPr>
              <a:t>获奖规则</a:t>
            </a:r>
            <a:r>
              <a:rPr dirty="0">
                <a:latin typeface="Arial" panose="020B0604020202020204" pitchFamily="34" charset="0"/>
                <a:ea typeface="仿宋" panose="02010609060101010101" pitchFamily="49" charset="-122"/>
              </a:rPr>
              <a:t>：</a:t>
            </a:r>
          </a:p>
          <a:p>
            <a:pPr algn="l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i="1" dirty="0">
                <a:latin typeface="Arial" panose="020B0604020202020204" pitchFamily="34" charset="0"/>
                <a:ea typeface="仿宋" panose="02010609060101010101" pitchFamily="49" charset="-122"/>
              </a:rPr>
              <a:t>团队奖</a:t>
            </a:r>
          </a:p>
          <a:p>
            <a:pPr algn="l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dirty="0">
                <a:latin typeface="Arial" panose="020B0604020202020204" pitchFamily="34" charset="0"/>
                <a:ea typeface="仿宋" panose="02010609060101010101" pitchFamily="49" charset="-122"/>
              </a:rPr>
              <a:t>各省前10%、20%、30% 获得省一、二、三等奖。</a:t>
            </a:r>
          </a:p>
          <a:p>
            <a:pPr algn="l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dirty="0">
                <a:latin typeface="Arial" panose="020B0604020202020204" pitchFamily="34" charset="0"/>
                <a:ea typeface="仿宋" panose="02010609060101010101" pitchFamily="49" charset="-122"/>
              </a:rPr>
              <a:t>全国前10%、20%、30% 获得全国一、二、三等奖。</a:t>
            </a:r>
          </a:p>
          <a:p>
            <a:pPr algn="l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i="1" dirty="0">
                <a:latin typeface="Arial" panose="020B0604020202020204" pitchFamily="34" charset="0"/>
                <a:ea typeface="仿宋" panose="02010609060101010101" pitchFamily="49" charset="-122"/>
              </a:rPr>
              <a:t>个人奖</a:t>
            </a:r>
          </a:p>
          <a:p>
            <a:pPr algn="l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dirty="0">
                <a:latin typeface="Arial" panose="020B0604020202020204" pitchFamily="34" charset="0"/>
                <a:ea typeface="仿宋" panose="02010609060101010101" pitchFamily="49" charset="-122"/>
              </a:rPr>
              <a:t>175分-229分 个人全国三等奖</a:t>
            </a:r>
          </a:p>
          <a:p>
            <a:pPr algn="l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dirty="0">
                <a:latin typeface="Arial" panose="020B0604020202020204" pitchFamily="34" charset="0"/>
                <a:ea typeface="仿宋" panose="02010609060101010101" pitchFamily="49" charset="-122"/>
              </a:rPr>
              <a:t>230-260分个人全国二等奖</a:t>
            </a:r>
          </a:p>
          <a:p>
            <a:pPr algn="l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dirty="0">
                <a:latin typeface="Arial" panose="020B0604020202020204" pitchFamily="34" charset="0"/>
                <a:ea typeface="仿宋" panose="02010609060101010101" pitchFamily="49" charset="-122"/>
              </a:rPr>
              <a:t>260分以上个人全国一等奖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对角圆角矩形 11"/>
          <p:cNvSpPr/>
          <p:nvPr/>
        </p:nvSpPr>
        <p:spPr>
          <a:xfrm>
            <a:off x="79899" y="2775585"/>
            <a:ext cx="7546340" cy="370459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对角圆角矩形 7"/>
          <p:cNvSpPr/>
          <p:nvPr/>
        </p:nvSpPr>
        <p:spPr>
          <a:xfrm>
            <a:off x="394763" y="1042551"/>
            <a:ext cx="10572750" cy="2371090"/>
          </a:xfrm>
          <a:prstGeom prst="round2DiagRect">
            <a:avLst/>
          </a:prstGeom>
          <a:solidFill>
            <a:srgbClr val="2E7E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标题 1"/>
          <p:cNvSpPr txBox="1"/>
          <p:nvPr/>
        </p:nvSpPr>
        <p:spPr>
          <a:xfrm>
            <a:off x="822210" y="380791"/>
            <a:ext cx="7122909" cy="776676"/>
          </a:xfrm>
          <a:prstGeom prst="rect">
            <a:avLst/>
          </a:prstGeom>
        </p:spPr>
        <p:txBody>
          <a:bodyPr vert="horz" lIns="86411" tIns="43205" rIns="86411" bIns="43205" rtlCol="0" anchor="ctr">
            <a:normAutofit/>
          </a:bodyPr>
          <a:lstStyle>
            <a:lvl1pPr algn="l" defTabSz="863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600" dirty="0">
                <a:solidFill>
                  <a:schemeClr val="tx1"/>
                </a:solidFill>
                <a:latin typeface="Source Han Sans CN Medium" panose="020B0500000000000000" charset="-122"/>
                <a:ea typeface="Source Han Sans CN Medium" panose="020B0500000000000000" charset="-122"/>
                <a:cs typeface="Source Han Sans CN Medium" panose="020B0500000000000000" charset="-122"/>
              </a:rPr>
              <a:t>CCPC</a:t>
            </a:r>
            <a:r>
              <a:rPr lang="zh-CN" altLang="en-US" sz="3600" dirty="0">
                <a:solidFill>
                  <a:schemeClr val="tx1"/>
                </a:solidFill>
                <a:latin typeface="Source Han Sans CN Medium" panose="020B0500000000000000" charset="-122"/>
                <a:ea typeface="Source Han Sans CN Medium" panose="020B0500000000000000" charset="-122"/>
                <a:cs typeface="Source Han Sans CN Medium" panose="020B0500000000000000" charset="-122"/>
              </a:rPr>
              <a:t>简介</a:t>
            </a:r>
          </a:p>
        </p:txBody>
      </p:sp>
      <p:sp>
        <p:nvSpPr>
          <p:cNvPr id="3" name="矩形 2"/>
          <p:cNvSpPr/>
          <p:nvPr/>
        </p:nvSpPr>
        <p:spPr>
          <a:xfrm>
            <a:off x="995952" y="1339651"/>
            <a:ext cx="9685020" cy="17532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lang="zh-CN" altLang="zh-CN" sz="2400" b="1" kern="100" dirty="0">
                <a:solidFill>
                  <a:schemeClr val="bg1"/>
                </a:solidFill>
                <a:latin typeface="Source Han Sans CN Bold" panose="020B0500000000000000" charset="-122"/>
                <a:ea typeface="Source Han Sans CN Bold" panose="020B0500000000000000" charset="-122"/>
                <a:cs typeface="Source Han Sans CN Regular" panose="020B0500000000000000" charset="-122"/>
              </a:rPr>
              <a:t>中国大学生程序设计竞赛（China Collegiate Programming Contest，简称CCPC）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lang="zh-CN" altLang="zh-CN" sz="2400" b="1" kern="100" dirty="0">
                <a:solidFill>
                  <a:schemeClr val="bg1"/>
                </a:solidFill>
                <a:latin typeface="Source Han Sans CN Bold" panose="020B0500000000000000" charset="-122"/>
                <a:ea typeface="Source Han Sans CN Bold" panose="020B0500000000000000" charset="-122"/>
                <a:cs typeface="Source Han Sans CN Regular" panose="020B0500000000000000" charset="-122"/>
              </a:rPr>
              <a:t>面向全国高校大学生的年度学科竞赛</a:t>
            </a:r>
          </a:p>
        </p:txBody>
      </p:sp>
      <p:sp>
        <p:nvSpPr>
          <p:cNvPr id="36" name="圆角矩形 35"/>
          <p:cNvSpPr/>
          <p:nvPr/>
        </p:nvSpPr>
        <p:spPr>
          <a:xfrm>
            <a:off x="786130" y="521184"/>
            <a:ext cx="36000" cy="360000"/>
          </a:xfrm>
          <a:prstGeom prst="roundRect">
            <a:avLst>
              <a:gd name="adj" fmla="val 15874"/>
            </a:avLst>
          </a:prstGeom>
          <a:solidFill>
            <a:srgbClr val="2E7E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pic>
        <p:nvPicPr>
          <p:cNvPr id="29" name="图片 2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7325" y="3410188"/>
            <a:ext cx="6244750" cy="2956084"/>
          </a:xfrm>
          <a:prstGeom prst="rect">
            <a:avLst/>
          </a:prstGeom>
        </p:spPr>
      </p:pic>
      <p:sp>
        <p:nvSpPr>
          <p:cNvPr id="4" name="矩形 3"/>
          <p:cNvSpPr/>
          <p:nvPr/>
        </p:nvSpPr>
        <p:spPr>
          <a:xfrm>
            <a:off x="195309" y="3528695"/>
            <a:ext cx="5273335" cy="27970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lang="zh-CN" altLang="zh-CN" sz="2400" b="1" kern="100" dirty="0">
                <a:solidFill>
                  <a:schemeClr val="tx1"/>
                </a:solidFill>
                <a:latin typeface="Source Han Sans CN Bold" panose="020B0500000000000000" charset="-122"/>
                <a:ea typeface="Source Han Sans CN Bold" panose="020B0500000000000000" charset="-122"/>
                <a:cs typeface="Source Han Sans CN Regular" panose="020B0500000000000000" charset="-122"/>
              </a:rPr>
              <a:t>省赛：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lang="en-US" altLang="zh-CN" sz="2400" kern="100" dirty="0">
                <a:solidFill>
                  <a:schemeClr val="tx1"/>
                </a:solidFill>
                <a:latin typeface="Source Han Sans CN Bold" panose="020B0500000000000000" charset="-122"/>
                <a:ea typeface="Source Han Sans CN Bold" panose="020B0500000000000000" charset="-122"/>
                <a:cs typeface="Source Han Sans CN Regular" panose="020B0500000000000000" charset="-122"/>
              </a:rPr>
              <a:t>  </a:t>
            </a:r>
            <a:r>
              <a:rPr lang="zh-CN" altLang="zh-CN" sz="2400" kern="100" dirty="0">
                <a:solidFill>
                  <a:schemeClr val="tx1"/>
                </a:solidFill>
                <a:latin typeface="Source Han Sans CN Bold" panose="020B0500000000000000" charset="-122"/>
                <a:ea typeface="Source Han Sans CN Bold" panose="020B0500000000000000" charset="-122"/>
                <a:cs typeface="Source Han Sans CN Regular" panose="020B0500000000000000" charset="-122"/>
              </a:rPr>
              <a:t>8-10个普通名额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lang="zh-CN" altLang="zh-CN" sz="2400" kern="100" dirty="0">
                <a:solidFill>
                  <a:schemeClr val="tx1"/>
                </a:solidFill>
                <a:latin typeface="Source Han Sans CN Bold" panose="020B0500000000000000" charset="-122"/>
                <a:ea typeface="Source Han Sans CN Bold" panose="020B0500000000000000" charset="-122"/>
                <a:cs typeface="Source Han Sans CN Regular" panose="020B0500000000000000" charset="-122"/>
              </a:rPr>
              <a:t> </a:t>
            </a:r>
            <a:r>
              <a:rPr lang="en-US" altLang="zh-CN" sz="2400" kern="100" dirty="0">
                <a:solidFill>
                  <a:schemeClr val="tx1"/>
                </a:solidFill>
                <a:latin typeface="Source Han Sans CN Bold" panose="020B0500000000000000" charset="-122"/>
                <a:ea typeface="Source Han Sans CN Bold" panose="020B0500000000000000" charset="-122"/>
                <a:cs typeface="Source Han Sans CN Regular" panose="020B0500000000000000" charset="-122"/>
              </a:rPr>
              <a:t> </a:t>
            </a:r>
            <a:r>
              <a:rPr lang="zh-CN" altLang="zh-CN" sz="2400" kern="100" dirty="0">
                <a:solidFill>
                  <a:schemeClr val="tx1"/>
                </a:solidFill>
                <a:latin typeface="Source Han Sans CN Bold" panose="020B0500000000000000" charset="-122"/>
                <a:ea typeface="Source Han Sans CN Bold" panose="020B0500000000000000" charset="-122"/>
                <a:cs typeface="Source Han Sans CN Regular" panose="020B0500000000000000" charset="-122"/>
              </a:rPr>
              <a:t>1-2个女生队名额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lang="zh-CN" altLang="zh-CN" sz="2400" b="1" kern="100" dirty="0">
                <a:solidFill>
                  <a:schemeClr val="tx1"/>
                </a:solidFill>
                <a:latin typeface="Source Han Sans CN Bold" panose="020B0500000000000000" charset="-122"/>
                <a:ea typeface="Source Han Sans CN Bold" panose="020B0500000000000000" charset="-122"/>
                <a:cs typeface="Source Han Sans CN Regular" panose="020B0500000000000000" charset="-122"/>
              </a:rPr>
              <a:t>国赛：</a:t>
            </a: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zh-CN" altLang="en-US" sz="2400" kern="100" dirty="0">
                <a:solidFill>
                  <a:schemeClr val="tx1"/>
                </a:solidFill>
                <a:latin typeface="Source Han Sans CN Bold" panose="020B0500000000000000" charset="-122"/>
                <a:ea typeface="Source Han Sans CN Bold" panose="020B0500000000000000" charset="-122"/>
                <a:cs typeface="Source Han Sans CN Regular" panose="020B0500000000000000" charset="-122"/>
              </a:rPr>
              <a:t>通过</a:t>
            </a:r>
            <a:r>
              <a:rPr lang="zh-CN" altLang="zh-CN" sz="2400" kern="100" dirty="0">
                <a:solidFill>
                  <a:schemeClr val="tx1"/>
                </a:solidFill>
                <a:latin typeface="Source Han Sans CN Bold" panose="020B0500000000000000" charset="-122"/>
                <a:ea typeface="Source Han Sans CN Bold" panose="020B0500000000000000" charset="-122"/>
                <a:cs typeface="Source Han Sans CN Regular" panose="020B0500000000000000" charset="-122"/>
              </a:rPr>
              <a:t>网络选拔赛确定分站赛晋级名额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组合 9"/>
          <p:cNvGrpSpPr/>
          <p:nvPr/>
        </p:nvGrpSpPr>
        <p:grpSpPr>
          <a:xfrm>
            <a:off x="786130" y="365233"/>
            <a:ext cx="2559937" cy="776676"/>
            <a:chOff x="786130" y="365233"/>
            <a:chExt cx="2559937" cy="776676"/>
          </a:xfrm>
        </p:grpSpPr>
        <p:sp>
          <p:nvSpPr>
            <p:cNvPr id="11" name="标题 1"/>
            <p:cNvSpPr txBox="1"/>
            <p:nvPr/>
          </p:nvSpPr>
          <p:spPr>
            <a:xfrm>
              <a:off x="822210" y="365233"/>
              <a:ext cx="2523857" cy="776676"/>
            </a:xfrm>
            <a:prstGeom prst="rect">
              <a:avLst/>
            </a:prstGeom>
          </p:spPr>
          <p:txBody>
            <a:bodyPr vert="horz" lIns="86411" tIns="43205" rIns="86411" bIns="43205" rtlCol="0" anchor="ctr">
              <a:normAutofit/>
            </a:bodyPr>
            <a:lstStyle>
              <a:lvl1pPr algn="l" defTabSz="863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2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CN" sz="2800" dirty="0">
                  <a:solidFill>
                    <a:schemeClr val="tx1"/>
                  </a:solidFill>
                  <a:latin typeface="Source Han Sans CN Medium" panose="020B0500000000000000" charset="-122"/>
                  <a:ea typeface="Source Han Sans CN Medium" panose="020B0500000000000000" charset="-122"/>
                  <a:cs typeface="Source Han Sans CN Medium" panose="020B0500000000000000" charset="-122"/>
                </a:rPr>
                <a:t>CCPC</a:t>
              </a:r>
              <a:r>
                <a:rPr lang="zh-CN" altLang="en-US" sz="2800" dirty="0">
                  <a:solidFill>
                    <a:schemeClr val="tx1"/>
                  </a:solidFill>
                  <a:latin typeface="Source Han Sans CN Medium" panose="020B0500000000000000" charset="-122"/>
                  <a:ea typeface="Source Han Sans CN Medium" panose="020B0500000000000000" charset="-122"/>
                  <a:cs typeface="Source Han Sans CN Medium" panose="020B0500000000000000" charset="-122"/>
                </a:rPr>
                <a:t>介绍</a:t>
              </a:r>
            </a:p>
          </p:txBody>
        </p:sp>
        <p:sp>
          <p:nvSpPr>
            <p:cNvPr id="12" name="圆角矩形 11"/>
            <p:cNvSpPr/>
            <p:nvPr/>
          </p:nvSpPr>
          <p:spPr>
            <a:xfrm>
              <a:off x="786130" y="521184"/>
              <a:ext cx="36000" cy="360000"/>
            </a:xfrm>
            <a:prstGeom prst="roundRect">
              <a:avLst>
                <a:gd name="adj" fmla="val 15874"/>
              </a:avLst>
            </a:prstGeom>
            <a:solidFill>
              <a:srgbClr val="2E7E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accent1">
                    <a:lumMod val="40000"/>
                    <a:lumOff val="60000"/>
                  </a:schemeClr>
                </a:solidFill>
              </a:endParaRPr>
            </a:p>
          </p:txBody>
        </p:sp>
      </p:grpSp>
      <p:sp>
        <p:nvSpPr>
          <p:cNvPr id="8" name="矩形 7"/>
          <p:cNvSpPr/>
          <p:nvPr/>
        </p:nvSpPr>
        <p:spPr>
          <a:xfrm>
            <a:off x="6180507" y="1153387"/>
            <a:ext cx="4807533" cy="449353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/>
            </a:pPr>
            <a:endParaRPr kumimoji="1"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  <a:defRPr/>
            </a:pPr>
            <a:r>
              <a:rPr kumimoji="1"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国赛</a:t>
            </a:r>
            <a:r>
              <a:rPr kumimoji="1"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: 一个学年为一个赛季，会在每赛季初（暑期或者暑期刚开学时）将组织一场网络选拔赛</a:t>
            </a:r>
          </a:p>
          <a:p>
            <a:pPr>
              <a:lnSpc>
                <a:spcPct val="150000"/>
              </a:lnSpc>
              <a:defRPr/>
            </a:pPr>
            <a:r>
              <a:rPr kumimoji="1" lang="en-US" altLang="zh-CN" sz="20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通过网络选拔赛确定分站赛晋级名额</a:t>
            </a:r>
            <a:endParaRPr kumimoji="1"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  <a:defRPr/>
            </a:pPr>
            <a:endParaRPr kumimoji="1" lang="en-US" altLang="zh-CN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  <a:defRPr/>
            </a:pPr>
            <a:r>
              <a:rPr kumimoji="1" lang="en-US" altLang="zh-CN" sz="20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随后举行N场全国分站赛</a:t>
            </a:r>
            <a:r>
              <a:rPr kumimoji="1"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kumimoji="1" lang="en-US" altLang="zh-CN" sz="20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一场全国总决赛</a:t>
            </a:r>
            <a:r>
              <a:rPr kumimoji="1"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（获奖比例为金</a:t>
            </a:r>
            <a:r>
              <a:rPr kumimoji="1"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10%</a:t>
            </a:r>
            <a:r>
              <a:rPr kumimoji="1"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，银</a:t>
            </a:r>
            <a:r>
              <a:rPr kumimoji="1"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20%</a:t>
            </a:r>
            <a:r>
              <a:rPr kumimoji="1"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，铜</a:t>
            </a:r>
            <a:r>
              <a:rPr kumimoji="1"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30%</a:t>
            </a:r>
            <a:r>
              <a:rPr kumimoji="1"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kumimoji="1"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defRPr/>
            </a:pPr>
            <a:endParaRPr kumimoji="1"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0">
              <a:buFont typeface="Arial" panose="020B0604020202020204" pitchFamily="34" charset="0"/>
              <a:buNone/>
              <a:defRPr/>
            </a:pPr>
            <a:endParaRPr kumimoji="1"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2" name="图片 1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34035" y="1259840"/>
            <a:ext cx="5067935" cy="492696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对角圆角矩形 11"/>
          <p:cNvSpPr/>
          <p:nvPr/>
        </p:nvSpPr>
        <p:spPr>
          <a:xfrm>
            <a:off x="0" y="2775585"/>
            <a:ext cx="7546340" cy="370459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对角圆角矩形 7"/>
          <p:cNvSpPr/>
          <p:nvPr/>
        </p:nvSpPr>
        <p:spPr>
          <a:xfrm>
            <a:off x="624840" y="1157467"/>
            <a:ext cx="10572750" cy="2371090"/>
          </a:xfrm>
          <a:prstGeom prst="round2DiagRect">
            <a:avLst/>
          </a:prstGeom>
          <a:solidFill>
            <a:srgbClr val="2E7E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标题 1"/>
          <p:cNvSpPr txBox="1"/>
          <p:nvPr/>
        </p:nvSpPr>
        <p:spPr>
          <a:xfrm>
            <a:off x="822210" y="380791"/>
            <a:ext cx="7122909" cy="776676"/>
          </a:xfrm>
          <a:prstGeom prst="rect">
            <a:avLst/>
          </a:prstGeom>
        </p:spPr>
        <p:txBody>
          <a:bodyPr vert="horz" lIns="86411" tIns="43205" rIns="86411" bIns="43205" rtlCol="0" anchor="ctr">
            <a:normAutofit/>
          </a:bodyPr>
          <a:lstStyle>
            <a:lvl1pPr algn="l" defTabSz="863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600" dirty="0">
                <a:latin typeface="Source Han Sans CN Medium" panose="020B0500000000000000" charset="-122"/>
                <a:ea typeface="Source Han Sans CN Medium" panose="020B0500000000000000" charset="-122"/>
                <a:cs typeface="Source Han Sans CN Medium" panose="020B0500000000000000" charset="-122"/>
                <a:sym typeface="+mn-ea"/>
              </a:rPr>
              <a:t>ICPC</a:t>
            </a:r>
            <a:r>
              <a:rPr lang="zh-CN" altLang="en-US" sz="3600" dirty="0">
                <a:solidFill>
                  <a:schemeClr val="tx1"/>
                </a:solidFill>
                <a:latin typeface="Source Han Sans CN Medium" panose="020B0500000000000000" charset="-122"/>
                <a:ea typeface="Source Han Sans CN Medium" panose="020B0500000000000000" charset="-122"/>
                <a:cs typeface="Source Han Sans CN Medium" panose="020B0500000000000000" charset="-122"/>
              </a:rPr>
              <a:t>简介</a:t>
            </a:r>
          </a:p>
        </p:txBody>
      </p:sp>
      <p:sp>
        <p:nvSpPr>
          <p:cNvPr id="3" name="矩形 2"/>
          <p:cNvSpPr/>
          <p:nvPr/>
        </p:nvSpPr>
        <p:spPr>
          <a:xfrm>
            <a:off x="1191260" y="1426845"/>
            <a:ext cx="9685020" cy="17532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lang="zh-CN" altLang="zh-CN" sz="2400" b="1" kern="100" dirty="0">
                <a:solidFill>
                  <a:schemeClr val="bg1"/>
                </a:solidFill>
                <a:latin typeface="Source Han Sans CN Bold" panose="020B0500000000000000" charset="-122"/>
                <a:ea typeface="Source Han Sans CN Bold" panose="020B0500000000000000" charset="-122"/>
                <a:cs typeface="Source Han Sans CN Regular" panose="020B0500000000000000" charset="-122"/>
              </a:rPr>
              <a:t>国际大学生程序设计竞赛（英文全称：International Collegiate Programming Contest（简称ICPC））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lang="zh-CN" altLang="zh-CN" sz="2400" b="1" kern="100" dirty="0">
                <a:solidFill>
                  <a:schemeClr val="bg1"/>
                </a:solidFill>
                <a:latin typeface="Source Han Sans CN Bold" panose="020B0500000000000000" charset="-122"/>
                <a:ea typeface="Source Han Sans CN Bold" panose="020B0500000000000000" charset="-122"/>
                <a:cs typeface="Source Han Sans CN Regular" panose="020B0500000000000000" charset="-122"/>
              </a:rPr>
              <a:t>全球</a:t>
            </a:r>
            <a:r>
              <a:rPr lang="zh-CN" altLang="zh-CN" sz="2400" b="1" u="sng" kern="100" dirty="0">
                <a:solidFill>
                  <a:schemeClr val="bg1"/>
                </a:solidFill>
                <a:latin typeface="Source Han Sans CN Bold" panose="020B0500000000000000" charset="-122"/>
                <a:ea typeface="Source Han Sans CN Bold" panose="020B0500000000000000" charset="-122"/>
                <a:cs typeface="Source Han Sans CN Regular" panose="020B0500000000000000" charset="-122"/>
              </a:rPr>
              <a:t>最具影响力</a:t>
            </a:r>
            <a:r>
              <a:rPr lang="zh-CN" altLang="zh-CN" sz="2400" b="1" kern="100" dirty="0">
                <a:solidFill>
                  <a:schemeClr val="bg1"/>
                </a:solidFill>
                <a:latin typeface="Source Han Sans CN Bold" panose="020B0500000000000000" charset="-122"/>
                <a:ea typeface="Source Han Sans CN Bold" panose="020B0500000000000000" charset="-122"/>
                <a:cs typeface="Source Han Sans CN Regular" panose="020B0500000000000000" charset="-122"/>
              </a:rPr>
              <a:t>的大学生程序设计竞赛</a:t>
            </a:r>
          </a:p>
        </p:txBody>
      </p:sp>
      <p:sp>
        <p:nvSpPr>
          <p:cNvPr id="36" name="圆角矩形 35"/>
          <p:cNvSpPr/>
          <p:nvPr/>
        </p:nvSpPr>
        <p:spPr>
          <a:xfrm>
            <a:off x="786130" y="521184"/>
            <a:ext cx="36000" cy="360000"/>
          </a:xfrm>
          <a:prstGeom prst="roundRect">
            <a:avLst>
              <a:gd name="adj" fmla="val 15874"/>
            </a:avLst>
          </a:prstGeom>
          <a:solidFill>
            <a:srgbClr val="2E7E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" name="矩形 3"/>
          <p:cNvSpPr/>
          <p:nvPr/>
        </p:nvSpPr>
        <p:spPr>
          <a:xfrm>
            <a:off x="324485" y="3449320"/>
            <a:ext cx="5272405" cy="28613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lang="zh-CN" altLang="zh-CN" sz="2400" b="1" kern="100" dirty="0">
                <a:solidFill>
                  <a:schemeClr val="tx1"/>
                </a:solidFill>
                <a:latin typeface="Source Han Sans CN Bold" panose="020B0500000000000000" charset="-122"/>
                <a:ea typeface="Source Han Sans CN Bold" panose="020B0500000000000000" charset="-122"/>
                <a:cs typeface="Source Han Sans CN Regular" panose="020B0500000000000000" charset="-122"/>
              </a:rPr>
              <a:t>省赛</a:t>
            </a:r>
            <a:r>
              <a:rPr lang="zh-CN" altLang="zh-CN" sz="2000" b="1" i="1" kern="100" dirty="0">
                <a:solidFill>
                  <a:schemeClr val="tx1"/>
                </a:solidFill>
                <a:latin typeface="Source Han Sans CN Bold" panose="020B0500000000000000" charset="-122"/>
                <a:ea typeface="Source Han Sans CN Bold" panose="020B0500000000000000" charset="-122"/>
                <a:cs typeface="Source Han Sans CN Regular" panose="020B0500000000000000" charset="-122"/>
              </a:rPr>
              <a:t>（预计明年5月洛阳理工学院举行）</a:t>
            </a:r>
            <a:endParaRPr lang="zh-CN" altLang="zh-CN" sz="2400" b="1" kern="100" dirty="0">
              <a:solidFill>
                <a:schemeClr val="tx1"/>
              </a:solidFill>
              <a:latin typeface="Source Han Sans CN Bold" panose="020B0500000000000000" charset="-122"/>
              <a:ea typeface="Source Han Sans CN Bold" panose="020B0500000000000000" charset="-122"/>
              <a:cs typeface="Source Han Sans CN Regular" panose="020B0500000000000000" charset="-122"/>
            </a:endParaRP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lang="en-US" altLang="zh-CN" sz="2400" b="1" kern="100" dirty="0">
                <a:solidFill>
                  <a:schemeClr val="tx1"/>
                </a:solidFill>
                <a:latin typeface="Source Han Sans CN Bold" panose="020B0500000000000000" charset="-122"/>
                <a:ea typeface="Source Han Sans CN Bold" panose="020B0500000000000000" charset="-122"/>
                <a:cs typeface="Source Han Sans CN Regular" panose="020B0500000000000000" charset="-122"/>
              </a:rPr>
              <a:t>  </a:t>
            </a:r>
            <a:r>
              <a:rPr lang="zh-CN" altLang="zh-CN" sz="2400" b="1" kern="100" dirty="0">
                <a:solidFill>
                  <a:schemeClr val="tx1"/>
                </a:solidFill>
                <a:latin typeface="Source Han Sans CN Bold" panose="020B0500000000000000" charset="-122"/>
                <a:ea typeface="Source Han Sans CN Bold" panose="020B0500000000000000" charset="-122"/>
                <a:cs typeface="Source Han Sans CN Regular" panose="020B0500000000000000" charset="-122"/>
              </a:rPr>
              <a:t>8-10个普通名额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lang="zh-CN" altLang="zh-CN" sz="2400" b="1" kern="100" dirty="0">
                <a:solidFill>
                  <a:schemeClr val="tx1"/>
                </a:solidFill>
                <a:latin typeface="Source Han Sans CN Bold" panose="020B0500000000000000" charset="-122"/>
                <a:ea typeface="Source Han Sans CN Bold" panose="020B0500000000000000" charset="-122"/>
                <a:cs typeface="Source Han Sans CN Regular" panose="020B0500000000000000" charset="-122"/>
              </a:rPr>
              <a:t> </a:t>
            </a:r>
            <a:r>
              <a:rPr lang="en-US" altLang="zh-CN" sz="2400" b="1" kern="100" dirty="0">
                <a:solidFill>
                  <a:schemeClr val="tx1"/>
                </a:solidFill>
                <a:latin typeface="Source Han Sans CN Bold" panose="020B0500000000000000" charset="-122"/>
                <a:ea typeface="Source Han Sans CN Bold" panose="020B0500000000000000" charset="-122"/>
                <a:cs typeface="Source Han Sans CN Regular" panose="020B0500000000000000" charset="-122"/>
              </a:rPr>
              <a:t> </a:t>
            </a:r>
            <a:r>
              <a:rPr lang="zh-CN" altLang="zh-CN" sz="2400" b="1" kern="100" dirty="0">
                <a:solidFill>
                  <a:schemeClr val="tx1"/>
                </a:solidFill>
                <a:latin typeface="Source Han Sans CN Bold" panose="020B0500000000000000" charset="-122"/>
                <a:ea typeface="Source Han Sans CN Bold" panose="020B0500000000000000" charset="-122"/>
                <a:cs typeface="Source Han Sans CN Regular" panose="020B0500000000000000" charset="-122"/>
              </a:rPr>
              <a:t>1-2个女生队名额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lang="zh-CN" altLang="zh-CN" sz="2400" b="1" kern="100" dirty="0">
                <a:solidFill>
                  <a:schemeClr val="tx1"/>
                </a:solidFill>
                <a:latin typeface="Source Han Sans CN Bold" panose="020B0500000000000000" charset="-122"/>
                <a:ea typeface="Source Han Sans CN Bold" panose="020B0500000000000000" charset="-122"/>
                <a:cs typeface="Source Han Sans CN Regular" panose="020B0500000000000000" charset="-122"/>
              </a:rPr>
              <a:t>国赛：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lang="zh-CN" altLang="zh-CN" sz="2400" b="1" kern="100" dirty="0">
                <a:solidFill>
                  <a:schemeClr val="tx1"/>
                </a:solidFill>
                <a:latin typeface="Source Han Sans CN Bold" panose="020B0500000000000000" charset="-122"/>
                <a:ea typeface="Source Han Sans CN Bold" panose="020B0500000000000000" charset="-122"/>
                <a:cs typeface="Source Han Sans CN Regular" panose="020B0500000000000000" charset="-122"/>
              </a:rPr>
              <a:t>网络选拔赛确定亚洲区域赛晋级名额</a:t>
            </a:r>
          </a:p>
        </p:txBody>
      </p:sp>
      <p:pic>
        <p:nvPicPr>
          <p:cNvPr id="24" name="图片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1000" y="3271520"/>
            <a:ext cx="6280150" cy="1046480"/>
          </a:xfrm>
          <a:prstGeom prst="rect">
            <a:avLst/>
          </a:prstGeom>
        </p:spPr>
      </p:pic>
      <p:pic>
        <p:nvPicPr>
          <p:cNvPr id="25" name="图片 25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461000" y="4408805"/>
            <a:ext cx="6212205" cy="20713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组合 9"/>
          <p:cNvGrpSpPr/>
          <p:nvPr/>
        </p:nvGrpSpPr>
        <p:grpSpPr>
          <a:xfrm>
            <a:off x="786130" y="365233"/>
            <a:ext cx="2559937" cy="776676"/>
            <a:chOff x="786130" y="365233"/>
            <a:chExt cx="2559937" cy="776676"/>
          </a:xfrm>
        </p:grpSpPr>
        <p:sp>
          <p:nvSpPr>
            <p:cNvPr id="11" name="标题 1"/>
            <p:cNvSpPr txBox="1"/>
            <p:nvPr/>
          </p:nvSpPr>
          <p:spPr>
            <a:xfrm>
              <a:off x="822210" y="365233"/>
              <a:ext cx="2523857" cy="776676"/>
            </a:xfrm>
            <a:prstGeom prst="rect">
              <a:avLst/>
            </a:prstGeom>
          </p:spPr>
          <p:txBody>
            <a:bodyPr vert="horz" lIns="86411" tIns="43205" rIns="86411" bIns="43205" rtlCol="0" anchor="ctr">
              <a:normAutofit/>
            </a:bodyPr>
            <a:lstStyle>
              <a:lvl1pPr algn="l" defTabSz="863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2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CN" sz="2800" dirty="0">
                  <a:solidFill>
                    <a:schemeClr val="tx1"/>
                  </a:solidFill>
                  <a:latin typeface="Source Han Sans CN Medium" panose="020B0500000000000000" charset="-122"/>
                  <a:ea typeface="Source Han Sans CN Medium" panose="020B0500000000000000" charset="-122"/>
                  <a:cs typeface="Source Han Sans CN Medium" panose="020B0500000000000000" charset="-122"/>
                </a:rPr>
                <a:t>ICPC</a:t>
              </a:r>
              <a:r>
                <a:rPr lang="zh-CN" altLang="en-US" sz="2800" dirty="0">
                  <a:solidFill>
                    <a:schemeClr val="tx1"/>
                  </a:solidFill>
                  <a:latin typeface="Source Han Sans CN Medium" panose="020B0500000000000000" charset="-122"/>
                  <a:ea typeface="Source Han Sans CN Medium" panose="020B0500000000000000" charset="-122"/>
                  <a:cs typeface="Source Han Sans CN Medium" panose="020B0500000000000000" charset="-122"/>
                </a:rPr>
                <a:t>介绍</a:t>
              </a:r>
            </a:p>
          </p:txBody>
        </p:sp>
        <p:sp>
          <p:nvSpPr>
            <p:cNvPr id="12" name="圆角矩形 11"/>
            <p:cNvSpPr/>
            <p:nvPr/>
          </p:nvSpPr>
          <p:spPr>
            <a:xfrm>
              <a:off x="786130" y="521184"/>
              <a:ext cx="36000" cy="360000"/>
            </a:xfrm>
            <a:prstGeom prst="roundRect">
              <a:avLst>
                <a:gd name="adj" fmla="val 15874"/>
              </a:avLst>
            </a:prstGeom>
            <a:solidFill>
              <a:srgbClr val="2E7E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accent1">
                    <a:lumMod val="40000"/>
                    <a:lumOff val="60000"/>
                  </a:schemeClr>
                </a:solidFill>
              </a:endParaRPr>
            </a:p>
          </p:txBody>
        </p:sp>
      </p:grpSp>
      <p:pic>
        <p:nvPicPr>
          <p:cNvPr id="27" name="图片 27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59873" y="1457190"/>
            <a:ext cx="6269301" cy="4187321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矩形 7"/>
          <p:cNvSpPr/>
          <p:nvPr/>
        </p:nvSpPr>
        <p:spPr>
          <a:xfrm>
            <a:off x="7147696" y="874601"/>
            <a:ext cx="4241800" cy="14229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kumimoji="1" lang="en-US" altLang="zh-CN" sz="20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与CCPC不同的是ICPC有全球总决赛</a:t>
            </a:r>
            <a:r>
              <a:rPr kumimoji="1"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</a:p>
          <a:p>
            <a:pPr>
              <a:lnSpc>
                <a:spcPct val="150000"/>
              </a:lnSpc>
              <a:defRPr/>
            </a:pPr>
            <a:r>
              <a:rPr kumimoji="1" lang="en-US" altLang="zh-CN" sz="20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根据亚洲区域总决赛选出参加全球总决赛的学校队伍</a:t>
            </a:r>
            <a:r>
              <a:rPr kumimoji="1"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EA8AA38C-4274-4B48-9971-48CE3B7474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5350" y="2563502"/>
            <a:ext cx="3840480" cy="3625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/>
          <p:cNvSpPr/>
          <p:nvPr/>
        </p:nvSpPr>
        <p:spPr>
          <a:xfrm>
            <a:off x="567690" y="4438332"/>
            <a:ext cx="9516335" cy="1198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en-US" altLang="zh-CN" sz="2400" dirty="0">
                <a:solidFill>
                  <a:srgbClr val="FF360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▶</a:t>
            </a:r>
            <a:r>
              <a:rPr lang="zh-CN" altLang="en-US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德育学分                                            </a:t>
            </a:r>
            <a:r>
              <a:rPr lang="en-US" altLang="zh-CN" sz="2400" dirty="0">
                <a:solidFill>
                  <a:srgbClr val="FF360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▶</a:t>
            </a:r>
            <a:r>
              <a:rPr lang="zh-CN" altLang="en-US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创新学分</a:t>
            </a:r>
          </a:p>
          <a:p>
            <a:pPr>
              <a:lnSpc>
                <a:spcPct val="150000"/>
              </a:lnSpc>
              <a:defRPr/>
            </a:pPr>
            <a:r>
              <a:rPr lang="en-US" altLang="zh-CN" sz="2400" dirty="0">
                <a:solidFill>
                  <a:srgbClr val="FF360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▶</a:t>
            </a:r>
            <a:r>
              <a:rPr lang="zh-CN" altLang="en-US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单项奖学金</a:t>
            </a:r>
            <a:r>
              <a:rPr lang="en-US" altLang="zh-CN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                                  </a:t>
            </a:r>
            <a:r>
              <a:rPr lang="en-US" altLang="zh-CN" sz="2400" dirty="0">
                <a:solidFill>
                  <a:srgbClr val="FF360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▶   </a:t>
            </a:r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创新创业奖学金</a:t>
            </a:r>
            <a:endParaRPr lang="zh-CN" altLang="en-US" sz="2400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文本框 29"/>
          <p:cNvSpPr txBox="1">
            <a:spLocks noChangeArrowheads="1"/>
          </p:cNvSpPr>
          <p:nvPr/>
        </p:nvSpPr>
        <p:spPr bwMode="auto">
          <a:xfrm>
            <a:off x="786130" y="2171151"/>
            <a:ext cx="8310245" cy="11988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zh-CN" altLang="en-US" sz="2000" dirty="0">
                <a:solidFill>
                  <a:srgbClr val="404040"/>
                </a:solidFill>
              </a:rPr>
              <a:t>学院会针对不同比赛举行对应的</a:t>
            </a:r>
            <a:r>
              <a:rPr lang="zh-CN" altLang="en-US" sz="2400" b="1" dirty="0">
                <a:solidFill>
                  <a:srgbClr val="404040"/>
                </a:solidFill>
              </a:rPr>
              <a:t>选拔赛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zh-CN" altLang="en-US" sz="2000" dirty="0">
                <a:solidFill>
                  <a:srgbClr val="404040"/>
                </a:solidFill>
              </a:rPr>
              <a:t>对通过选拔赛的同学，</a:t>
            </a:r>
            <a:r>
              <a:rPr lang="zh-CN" altLang="en-US" sz="2400" b="1" dirty="0">
                <a:solidFill>
                  <a:srgbClr val="404040"/>
                </a:solidFill>
              </a:rPr>
              <a:t>会报销参赛所需的报名费，以及交通费用。</a:t>
            </a:r>
          </a:p>
        </p:txBody>
      </p:sp>
      <p:grpSp>
        <p:nvGrpSpPr>
          <p:cNvPr id="21" name="组合 20"/>
          <p:cNvGrpSpPr/>
          <p:nvPr/>
        </p:nvGrpSpPr>
        <p:grpSpPr>
          <a:xfrm>
            <a:off x="786130" y="365233"/>
            <a:ext cx="7584891" cy="776676"/>
            <a:chOff x="786130" y="365233"/>
            <a:chExt cx="7584891" cy="776676"/>
          </a:xfrm>
        </p:grpSpPr>
        <p:sp>
          <p:nvSpPr>
            <p:cNvPr id="22" name="标题 1"/>
            <p:cNvSpPr txBox="1"/>
            <p:nvPr/>
          </p:nvSpPr>
          <p:spPr>
            <a:xfrm>
              <a:off x="822210" y="365233"/>
              <a:ext cx="7548811" cy="776676"/>
            </a:xfrm>
            <a:prstGeom prst="rect">
              <a:avLst/>
            </a:prstGeom>
          </p:spPr>
          <p:txBody>
            <a:bodyPr vert="horz" lIns="86411" tIns="43205" rIns="86411" bIns="43205" rtlCol="0" anchor="ctr">
              <a:normAutofit/>
            </a:bodyPr>
            <a:lstStyle>
              <a:lvl1pPr algn="l" defTabSz="863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2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zh-CN" altLang="en-US" sz="2800" dirty="0">
                  <a:latin typeface="Source Han Sans CN Medium" panose="020B0500000000000000" charset="-122"/>
                  <a:ea typeface="Source Han Sans CN Medium" panose="020B0500000000000000" charset="-122"/>
                  <a:cs typeface="Source Han Sans CN Medium" panose="020B0500000000000000" charset="-122"/>
                  <a:sym typeface="+mn-ea"/>
                </a:rPr>
                <a:t>学院政策</a:t>
              </a:r>
            </a:p>
          </p:txBody>
        </p:sp>
        <p:sp>
          <p:nvSpPr>
            <p:cNvPr id="23" name="圆角矩形 22"/>
            <p:cNvSpPr/>
            <p:nvPr/>
          </p:nvSpPr>
          <p:spPr>
            <a:xfrm>
              <a:off x="786130" y="521184"/>
              <a:ext cx="36000" cy="360000"/>
            </a:xfrm>
            <a:prstGeom prst="roundRect">
              <a:avLst>
                <a:gd name="adj" fmla="val 15874"/>
              </a:avLst>
            </a:prstGeom>
            <a:solidFill>
              <a:srgbClr val="2E7E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accent1">
                    <a:lumMod val="40000"/>
                    <a:lumOff val="60000"/>
                  </a:schemeClr>
                </a:solidFill>
              </a:endParaRPr>
            </a:p>
          </p:txBody>
        </p:sp>
      </p:grpSp>
      <p:sp>
        <p:nvSpPr>
          <p:cNvPr id="2" name="文本框 37"/>
          <p:cNvSpPr txBox="1">
            <a:spLocks noChangeArrowheads="1"/>
          </p:cNvSpPr>
          <p:nvPr/>
        </p:nvSpPr>
        <p:spPr bwMode="auto">
          <a:xfrm>
            <a:off x="567690" y="1442403"/>
            <a:ext cx="1985010" cy="460375"/>
          </a:xfrm>
          <a:prstGeom prst="rect">
            <a:avLst/>
          </a:prstGeom>
          <a:solidFill>
            <a:srgbClr val="006DD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zh-CN" altLang="en-US" sz="2400" dirty="0">
                <a:solidFill>
                  <a:schemeClr val="bg1"/>
                </a:solidFill>
              </a:rPr>
              <a:t>参加比赛</a:t>
            </a:r>
          </a:p>
        </p:txBody>
      </p:sp>
      <p:sp>
        <p:nvSpPr>
          <p:cNvPr id="3" name="文本框 37"/>
          <p:cNvSpPr txBox="1">
            <a:spLocks noChangeArrowheads="1"/>
          </p:cNvSpPr>
          <p:nvPr/>
        </p:nvSpPr>
        <p:spPr bwMode="auto">
          <a:xfrm>
            <a:off x="567690" y="3747631"/>
            <a:ext cx="1985010" cy="521970"/>
          </a:xfrm>
          <a:prstGeom prst="rect">
            <a:avLst/>
          </a:prstGeom>
          <a:solidFill>
            <a:srgbClr val="006DD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zh-CN" altLang="en-US" dirty="0">
                <a:solidFill>
                  <a:schemeClr val="bg1"/>
                </a:solidFill>
              </a:rPr>
              <a:t>获奖福利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9245" y="270510"/>
            <a:ext cx="2783205" cy="15621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9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圆角矩形 13"/>
          <p:cNvSpPr/>
          <p:nvPr/>
        </p:nvSpPr>
        <p:spPr>
          <a:xfrm>
            <a:off x="786130" y="521335"/>
            <a:ext cx="36195" cy="360045"/>
          </a:xfrm>
          <a:prstGeom prst="roundRect">
            <a:avLst>
              <a:gd name="adj" fmla="val 15874"/>
            </a:avLst>
          </a:prstGeom>
          <a:solidFill>
            <a:srgbClr val="2E7E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pic>
        <p:nvPicPr>
          <p:cNvPr id="2" name="图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442" y="1199515"/>
            <a:ext cx="10283190" cy="4759325"/>
          </a:xfrm>
          <a:prstGeom prst="rect">
            <a:avLst/>
          </a:prstGeom>
        </p:spPr>
      </p:pic>
      <p:sp>
        <p:nvSpPr>
          <p:cNvPr id="5" name="标题 1">
            <a:extLst>
              <a:ext uri="{FF2B5EF4-FFF2-40B4-BE49-F238E27FC236}">
                <a16:creationId xmlns:a16="http://schemas.microsoft.com/office/drawing/2014/main" id="{966D0CCC-B675-426E-A012-504ED00850AF}"/>
              </a:ext>
            </a:extLst>
          </p:cNvPr>
          <p:cNvSpPr txBox="1"/>
          <p:nvPr/>
        </p:nvSpPr>
        <p:spPr>
          <a:xfrm>
            <a:off x="990886" y="313019"/>
            <a:ext cx="7548811" cy="776676"/>
          </a:xfrm>
          <a:prstGeom prst="rect">
            <a:avLst/>
          </a:prstGeom>
        </p:spPr>
        <p:txBody>
          <a:bodyPr vert="horz" lIns="86411" tIns="43205" rIns="86411" bIns="43205" rtlCol="0" anchor="ctr">
            <a:normAutofit/>
          </a:bodyPr>
          <a:lstStyle>
            <a:lvl1pPr algn="l" defTabSz="863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dirty="0">
                <a:latin typeface="Source Han Sans CN Medium" panose="020B0500000000000000" charset="-122"/>
                <a:ea typeface="Source Han Sans CN Medium" panose="020B0500000000000000" charset="-122"/>
                <a:cs typeface="Source Han Sans CN Medium" panose="020B0500000000000000" charset="-122"/>
                <a:sym typeface="+mn-ea"/>
              </a:rPr>
              <a:t>单项奖学金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圆角矩形 35"/>
          <p:cNvSpPr/>
          <p:nvPr/>
        </p:nvSpPr>
        <p:spPr>
          <a:xfrm>
            <a:off x="786130" y="521184"/>
            <a:ext cx="36000" cy="360000"/>
          </a:xfrm>
          <a:prstGeom prst="roundRect">
            <a:avLst>
              <a:gd name="adj" fmla="val 15874"/>
            </a:avLst>
          </a:prstGeom>
          <a:solidFill>
            <a:srgbClr val="2E7E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pic>
        <p:nvPicPr>
          <p:cNvPr id="2" name="图片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6774" y="1580074"/>
            <a:ext cx="5541478" cy="3835305"/>
          </a:xfrm>
          <a:prstGeom prst="rect">
            <a:avLst/>
          </a:prstGeom>
        </p:spPr>
      </p:pic>
      <p:pic>
        <p:nvPicPr>
          <p:cNvPr id="5" name="图片 10">
            <a:extLst>
              <a:ext uri="{FF2B5EF4-FFF2-40B4-BE49-F238E27FC236}">
                <a16:creationId xmlns:a16="http://schemas.microsoft.com/office/drawing/2014/main" id="{E10AD737-C8AA-4270-B91C-EE7FE979AD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40835" y="1580074"/>
            <a:ext cx="5194467" cy="401718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标题 1">
            <a:extLst>
              <a:ext uri="{FF2B5EF4-FFF2-40B4-BE49-F238E27FC236}">
                <a16:creationId xmlns:a16="http://schemas.microsoft.com/office/drawing/2014/main" id="{3DD053A3-4318-4BD4-8C62-23C8F8700D5A}"/>
              </a:ext>
            </a:extLst>
          </p:cNvPr>
          <p:cNvSpPr txBox="1"/>
          <p:nvPr/>
        </p:nvSpPr>
        <p:spPr>
          <a:xfrm>
            <a:off x="999764" y="480586"/>
            <a:ext cx="7548811" cy="776676"/>
          </a:xfrm>
          <a:prstGeom prst="rect">
            <a:avLst/>
          </a:prstGeom>
        </p:spPr>
        <p:txBody>
          <a:bodyPr vert="horz" lIns="86411" tIns="43205" rIns="86411" bIns="43205" rtlCol="0" anchor="ctr">
            <a:normAutofit/>
          </a:bodyPr>
          <a:lstStyle>
            <a:lvl1pPr algn="l" defTabSz="863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dirty="0">
                <a:latin typeface="Source Han Sans CN Medium" panose="020B0500000000000000" charset="-122"/>
                <a:ea typeface="Source Han Sans CN Medium" panose="020B0500000000000000" charset="-122"/>
                <a:cs typeface="Source Han Sans CN Medium" panose="020B0500000000000000" charset="-122"/>
                <a:sym typeface="+mn-ea"/>
              </a:rPr>
              <a:t>创新学分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9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圆角矩形 35"/>
          <p:cNvSpPr/>
          <p:nvPr/>
        </p:nvSpPr>
        <p:spPr>
          <a:xfrm>
            <a:off x="786130" y="492608"/>
            <a:ext cx="36000" cy="360000"/>
          </a:xfrm>
          <a:prstGeom prst="roundRect">
            <a:avLst>
              <a:gd name="adj" fmla="val 15874"/>
            </a:avLst>
          </a:prstGeom>
          <a:solidFill>
            <a:srgbClr val="2E7E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pic>
        <p:nvPicPr>
          <p:cNvPr id="5" name="图片 30">
            <a:extLst>
              <a:ext uri="{FF2B5EF4-FFF2-40B4-BE49-F238E27FC236}">
                <a16:creationId xmlns:a16="http://schemas.microsoft.com/office/drawing/2014/main" id="{69D5DB10-43C6-4A06-9E4A-2BC7CDF2CA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" t="1194" r="-228" b="9959"/>
          <a:stretch/>
        </p:blipFill>
        <p:spPr>
          <a:xfrm>
            <a:off x="484307" y="1727806"/>
            <a:ext cx="5330862" cy="355419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标题 1">
            <a:extLst>
              <a:ext uri="{FF2B5EF4-FFF2-40B4-BE49-F238E27FC236}">
                <a16:creationId xmlns:a16="http://schemas.microsoft.com/office/drawing/2014/main" id="{79EE006D-0033-4C25-A48D-5D6FBF855252}"/>
              </a:ext>
            </a:extLst>
          </p:cNvPr>
          <p:cNvSpPr txBox="1"/>
          <p:nvPr/>
        </p:nvSpPr>
        <p:spPr>
          <a:xfrm>
            <a:off x="990886" y="313019"/>
            <a:ext cx="7548811" cy="776676"/>
          </a:xfrm>
          <a:prstGeom prst="rect">
            <a:avLst/>
          </a:prstGeom>
        </p:spPr>
        <p:txBody>
          <a:bodyPr vert="horz" lIns="86411" tIns="43205" rIns="86411" bIns="43205" rtlCol="0" anchor="ctr">
            <a:normAutofit/>
          </a:bodyPr>
          <a:lstStyle>
            <a:lvl1pPr algn="l" defTabSz="863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dirty="0">
                <a:latin typeface="Source Han Sans CN Medium" panose="020B0500000000000000" charset="-122"/>
                <a:ea typeface="Source Han Sans CN Medium" panose="020B0500000000000000" charset="-122"/>
                <a:cs typeface="Source Han Sans CN Medium" panose="020B0500000000000000" charset="-122"/>
                <a:sym typeface="+mn-ea"/>
              </a:rPr>
              <a:t>竞赛经历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E58C531F-C9AE-4CF3-A0CF-E76CA8EA82F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0055" y="1727806"/>
            <a:ext cx="5331287" cy="355419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9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圆角矩形 35"/>
          <p:cNvSpPr/>
          <p:nvPr/>
        </p:nvSpPr>
        <p:spPr>
          <a:xfrm>
            <a:off x="786130" y="492608"/>
            <a:ext cx="36000" cy="360000"/>
          </a:xfrm>
          <a:prstGeom prst="roundRect">
            <a:avLst>
              <a:gd name="adj" fmla="val 15874"/>
            </a:avLst>
          </a:prstGeom>
          <a:solidFill>
            <a:srgbClr val="2E7E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6" name="标题 1">
            <a:extLst>
              <a:ext uri="{FF2B5EF4-FFF2-40B4-BE49-F238E27FC236}">
                <a16:creationId xmlns:a16="http://schemas.microsoft.com/office/drawing/2014/main" id="{79EE006D-0033-4C25-A48D-5D6FBF855252}"/>
              </a:ext>
            </a:extLst>
          </p:cNvPr>
          <p:cNvSpPr txBox="1"/>
          <p:nvPr/>
        </p:nvSpPr>
        <p:spPr>
          <a:xfrm>
            <a:off x="990886" y="313019"/>
            <a:ext cx="7548811" cy="776676"/>
          </a:xfrm>
          <a:prstGeom prst="rect">
            <a:avLst/>
          </a:prstGeom>
        </p:spPr>
        <p:txBody>
          <a:bodyPr vert="horz" lIns="86411" tIns="43205" rIns="86411" bIns="43205" rtlCol="0" anchor="ctr">
            <a:normAutofit/>
          </a:bodyPr>
          <a:lstStyle>
            <a:lvl1pPr algn="l" defTabSz="863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dirty="0">
                <a:latin typeface="Source Han Sans CN Medium" panose="020B0500000000000000" charset="-122"/>
                <a:ea typeface="Source Han Sans CN Medium" panose="020B0500000000000000" charset="-122"/>
                <a:cs typeface="Source Han Sans CN Medium" panose="020B0500000000000000" charset="-122"/>
                <a:sym typeface="+mn-ea"/>
              </a:rPr>
              <a:t>竞赛经历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03FDE64E-B2BC-43BA-B293-9C41DF557D9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3841"/>
          <a:stretch/>
        </p:blipFill>
        <p:spPr bwMode="auto">
          <a:xfrm>
            <a:off x="1456316" y="1089695"/>
            <a:ext cx="3308975" cy="2137972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A19C20E2-D078-44C6-B16B-B7E852776BB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3421" y="3419371"/>
            <a:ext cx="3394763" cy="2546072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图片 20">
            <a:extLst>
              <a:ext uri="{FF2B5EF4-FFF2-40B4-BE49-F238E27FC236}">
                <a16:creationId xmlns:a16="http://schemas.microsoft.com/office/drawing/2014/main" id="{344E0836-8C99-470F-9951-476E5E0636C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31"/>
          <a:stretch/>
        </p:blipFill>
        <p:spPr>
          <a:xfrm>
            <a:off x="5882368" y="1089695"/>
            <a:ext cx="3308975" cy="2179822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4A31A214-5B41-41A8-8ED0-089DA192960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61037" y="3508528"/>
            <a:ext cx="3551639" cy="236775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11486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9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0" y="0"/>
            <a:ext cx="11762740" cy="7043420"/>
            <a:chOff x="24395" y="0"/>
            <a:chExt cx="11646897" cy="7000882"/>
          </a:xfrm>
        </p:grpSpPr>
        <p:pic>
          <p:nvPicPr>
            <p:cNvPr id="2" name="图片 1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395" y="0"/>
              <a:ext cx="11473284" cy="6480175"/>
            </a:xfrm>
            <a:prstGeom prst="rect">
              <a:avLst/>
            </a:prstGeom>
          </p:spPr>
        </p:pic>
        <p:pic>
          <p:nvPicPr>
            <p:cNvPr id="6" name="图片 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22875" y="3703886"/>
              <a:ext cx="4748417" cy="3296996"/>
            </a:xfrm>
            <a:prstGeom prst="rect">
              <a:avLst/>
            </a:prstGeom>
          </p:spPr>
        </p:pic>
      </p:grpSp>
      <p:sp>
        <p:nvSpPr>
          <p:cNvPr id="9" name="标题 7"/>
          <p:cNvSpPr txBox="1"/>
          <p:nvPr/>
        </p:nvSpPr>
        <p:spPr>
          <a:xfrm>
            <a:off x="3624849" y="1673403"/>
            <a:ext cx="4337702" cy="2598420"/>
          </a:xfrm>
          <a:prstGeom prst="rect">
            <a:avLst/>
          </a:prstGeom>
        </p:spPr>
        <p:txBody>
          <a:bodyPr vert="horz" lIns="86411" tIns="43205" rIns="86411" bIns="43205" rtlCol="0" anchor="ctr">
            <a:normAutofit/>
          </a:bodyPr>
          <a:lstStyle>
            <a:lvl1pPr algn="l" defTabSz="863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CN" altLang="en-US" dirty="0">
                <a:solidFill>
                  <a:schemeClr val="bg1"/>
                </a:solidFill>
                <a:ea typeface="微软雅黑" panose="020B0503020204020204" pitchFamily="34" charset="-122"/>
              </a:rPr>
              <a:t>预祝同学们</a:t>
            </a:r>
            <a:br>
              <a:rPr lang="zh-CN" altLang="en-US" dirty="0">
                <a:solidFill>
                  <a:schemeClr val="bg1"/>
                </a:solidFill>
                <a:ea typeface="微软雅黑" panose="020B0503020204020204" pitchFamily="34" charset="-122"/>
              </a:rPr>
            </a:br>
            <a:br>
              <a:rPr lang="zh-CN" altLang="en-US" dirty="0">
                <a:solidFill>
                  <a:schemeClr val="bg1"/>
                </a:solidFill>
                <a:ea typeface="微软雅黑" panose="020B0503020204020204" pitchFamily="34" charset="-122"/>
              </a:rPr>
            </a:br>
            <a:r>
              <a:rPr lang="zh-CN" altLang="en-US" dirty="0">
                <a:solidFill>
                  <a:schemeClr val="bg1"/>
                </a:solidFill>
                <a:ea typeface="微软雅黑" panose="020B0503020204020204" pitchFamily="34" charset="-122"/>
              </a:rPr>
              <a:t>取得优异的成绩！</a:t>
            </a:r>
          </a:p>
        </p:txBody>
      </p:sp>
      <p:pic>
        <p:nvPicPr>
          <p:cNvPr id="4" name="图片 3" descr="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535" y="345440"/>
            <a:ext cx="3407410" cy="671195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PLACING_PICTURE_USER_VIEWPORT" val="{&quot;height&quot;:6555,&quot;width&quot;:8306}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218</TotalTime>
  <Words>534</Words>
  <Application>Microsoft Office PowerPoint</Application>
  <PresentationFormat>自定义</PresentationFormat>
  <Paragraphs>120</Paragraphs>
  <Slides>21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31" baseType="lpstr">
      <vt:lpstr>Source Han Sans CN Bold</vt:lpstr>
      <vt:lpstr>Source Han Sans CN Medium</vt:lpstr>
      <vt:lpstr>Source Han Sans CN Regular</vt:lpstr>
      <vt:lpstr>黑体</vt:lpstr>
      <vt:lpstr>微软雅黑</vt:lpstr>
      <vt:lpstr>Arial</vt:lpstr>
      <vt:lpstr>Calibri</vt:lpstr>
      <vt:lpstr>Calibri Light</vt:lpstr>
      <vt:lpstr>Open Sans</vt:lpstr>
      <vt:lpstr>Office 主题</vt:lpstr>
      <vt:lpstr>PowerPoint 演示文稿</vt:lpstr>
      <vt:lpstr>PowerPoint 演示文稿</vt:lpstr>
      <vt:lpstr>算法比赛中的三种赛制</vt:lpstr>
      <vt:lpstr>PowerPoint 演示文稿</vt:lpstr>
      <vt:lpstr>PowerPoint 演示文稿</vt:lpstr>
      <vt:lpstr>PowerPoint 演示文稿</vt:lpstr>
      <vt:lpstr>常见竞赛介绍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Administrator</dc:creator>
  <cp:lastModifiedBy>霍 海源</cp:lastModifiedBy>
  <cp:revision>542</cp:revision>
  <cp:lastPrinted>2021-10-18T03:06:00Z</cp:lastPrinted>
  <dcterms:created xsi:type="dcterms:W3CDTF">2021-10-18T03:06:00Z</dcterms:created>
  <dcterms:modified xsi:type="dcterms:W3CDTF">2021-11-07T11:01:18Z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2052-11.1.0.11045</vt:lpwstr>
  </property>
  <property fmtid="{D5CDD505-2E9C-101B-9397-08002B2CF9AE}" pid="3" name="ICV">
    <vt:lpwstr>DDC4873490854B82B9399FB32E10852A</vt:lpwstr>
  </property>
</Properties>
</file>